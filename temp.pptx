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1"/>
  </p:notesMasterIdLst>
  <p:sldIdLst>
    <p:sldId id="2025" r:id="rId2"/>
    <p:sldId id="2034" r:id="rId3"/>
    <p:sldId id="2039" r:id="rId4"/>
    <p:sldId id="2040" r:id="rId5"/>
    <p:sldId id="2041" r:id="rId6"/>
    <p:sldId id="2014" r:id="rId7"/>
    <p:sldId id="2019" r:id="rId8"/>
    <p:sldId id="2017" r:id="rId9"/>
    <p:sldId id="2018" r:id="rId10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B050"/>
    <a:srgbClr val="0057C0"/>
    <a:srgbClr val="FFC00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2" autoAdjust="0"/>
    <p:restoredTop sz="81675" autoAdjust="0"/>
  </p:normalViewPr>
  <p:slideViewPr>
    <p:cSldViewPr snapToGrid="0">
      <p:cViewPr varScale="1">
        <p:scale>
          <a:sx n="78" d="100"/>
          <a:sy n="78" d="100"/>
        </p:scale>
        <p:origin x="1808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altLang="zh-TW" dirty="0"/>
              <a:t>FPGA HDMI RX</a:t>
            </a:r>
            <a:r>
              <a:rPr lang="zh-TW" altLang="en-US" dirty="0"/>
              <a:t>：</a:t>
            </a:r>
            <a:r>
              <a:rPr lang="en-US" altLang="zh-TW" dirty="0"/>
              <a:t>TMDS </a:t>
            </a:r>
            <a:r>
              <a:rPr lang="zh-TW" altLang="en-US" dirty="0"/>
              <a:t>解碼、辨識有效像素、輸出標準像素資料</a:t>
            </a:r>
            <a:r>
              <a:rPr lang="en-US" altLang="zh-TW" dirty="0"/>
              <a:t>(pixel data</a:t>
            </a:r>
            <a:r>
              <a:rPr lang="zh-TW" altLang="en-US" dirty="0"/>
              <a:t>、</a:t>
            </a:r>
            <a:r>
              <a:rPr lang="en-US" altLang="zh-TW" dirty="0"/>
              <a:t>HSYNC</a:t>
            </a:r>
            <a:r>
              <a:rPr lang="zh-TW" altLang="en-US" dirty="0"/>
              <a:t>、</a:t>
            </a:r>
            <a:r>
              <a:rPr lang="en-US" altLang="zh-TW" dirty="0"/>
              <a:t>VSYNC)</a:t>
            </a:r>
          </a:p>
          <a:p>
            <a:pPr marL="0" indent="0"/>
            <a:r>
              <a:rPr lang="en-US" altLang="zh-TW" dirty="0"/>
              <a:t>FIFO</a:t>
            </a:r>
            <a:r>
              <a:rPr lang="zh-TW" altLang="en-US" dirty="0"/>
              <a:t>／</a:t>
            </a:r>
            <a:r>
              <a:rPr lang="en-US" altLang="zh-TW" dirty="0"/>
              <a:t>DDR Frame Buffer</a:t>
            </a:r>
            <a:r>
              <a:rPr lang="zh-TW" altLang="en-US" dirty="0"/>
              <a:t>：跨時脈、影像緩衝</a:t>
            </a:r>
            <a:endParaRPr lang="en-US" altLang="zh-TW" dirty="0"/>
          </a:p>
          <a:p>
            <a:pPr marL="0" indent="0"/>
            <a:r>
              <a:rPr lang="en-US" altLang="zh-TW" dirty="0"/>
              <a:t>PCIe Endpoint</a:t>
            </a:r>
            <a:r>
              <a:rPr lang="zh-TW" altLang="en-US" dirty="0"/>
              <a:t>：讓 </a:t>
            </a:r>
            <a:r>
              <a:rPr lang="en-US" altLang="zh-TW" dirty="0"/>
              <a:t>FPGA </a:t>
            </a:r>
            <a:r>
              <a:rPr lang="zh-TW" altLang="en-US" dirty="0"/>
              <a:t>成為 </a:t>
            </a:r>
            <a:r>
              <a:rPr lang="en-US" altLang="zh-TW" dirty="0"/>
              <a:t>PC </a:t>
            </a:r>
            <a:r>
              <a:rPr lang="zh-TW" altLang="en-US" dirty="0"/>
              <a:t>可以辨識與存取的 </a:t>
            </a:r>
            <a:r>
              <a:rPr lang="en-US" altLang="zh-TW" dirty="0"/>
              <a:t>PCIe </a:t>
            </a:r>
            <a:r>
              <a:rPr lang="zh-TW" altLang="en-US" dirty="0"/>
              <a:t>裝置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5490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0645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158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altLang="zh-TW" dirty="0" err="1"/>
              <a:t>LiteX</a:t>
            </a:r>
            <a:r>
              <a:rPr lang="zh-TW" altLang="en-US" dirty="0"/>
              <a:t>：可利用其提供的互連架構及匯流排機制，整合符合其介面規範的模組。可利用 </a:t>
            </a:r>
            <a:r>
              <a:rPr lang="en-US" altLang="zh-TW" dirty="0"/>
              <a:t>CSR</a:t>
            </a:r>
            <a:r>
              <a:rPr lang="zh-TW" altLang="en-US" dirty="0"/>
              <a:t> 等機制建立控制介面，並整合到系統中。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7558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混用：需要先克服工具鏈與建置流程的不同。</a:t>
            </a:r>
            <a:r>
              <a:rPr lang="en-US" altLang="zh-TW" dirty="0" err="1"/>
              <a:t>LiteX</a:t>
            </a:r>
            <a:r>
              <a:rPr lang="en-US" altLang="zh-TW" dirty="0"/>
              <a:t> </a:t>
            </a:r>
            <a:r>
              <a:rPr lang="zh-TW" altLang="en-US" dirty="0"/>
              <a:t>通常透過 </a:t>
            </a:r>
            <a:r>
              <a:rPr lang="en-US" altLang="zh-TW" dirty="0"/>
              <a:t>Python</a:t>
            </a:r>
            <a:r>
              <a:rPr lang="zh-TW" altLang="en-US" dirty="0"/>
              <a:t>、</a:t>
            </a:r>
            <a:r>
              <a:rPr lang="en-US" altLang="zh-TW" dirty="0" err="1"/>
              <a:t>Migen</a:t>
            </a:r>
            <a:r>
              <a:rPr lang="zh-TW" altLang="en-US" dirty="0"/>
              <a:t>建構硬體；</a:t>
            </a:r>
            <a:r>
              <a:rPr lang="en-US" altLang="zh-TW" dirty="0"/>
              <a:t>Xilinx </a:t>
            </a:r>
            <a:r>
              <a:rPr lang="zh-TW" altLang="en-US" dirty="0"/>
              <a:t>通常依賴 </a:t>
            </a:r>
            <a:r>
              <a:rPr lang="en-US" altLang="zh-TW" dirty="0" err="1"/>
              <a:t>Vivado</a:t>
            </a:r>
            <a:r>
              <a:rPr lang="en-US" altLang="zh-TW" dirty="0"/>
              <a:t> IP</a:t>
            </a:r>
            <a:r>
              <a:rPr lang="zh-TW" altLang="en-US" dirty="0"/>
              <a:t>，當然混用的優勢也很明顯可以選擇各生態系最符合需求的模組，不受單一生態系的模組選擇限制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586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B6D5-993E-26F5-9C44-C5D525DA7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5F2A66-F24A-A462-6F12-218184B02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6FDBCF0-B4E1-DC68-FF31-D0F8D4C04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sz="1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8DA5A3-1BB6-F49D-76B7-392A3D01E5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9280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F0F47-4E0C-C518-B8CA-C9751D907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7A2912A-AAD5-05D7-5039-F4FA56EAF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7563CC0-E200-230A-997F-9174AD9E3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sz="1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17299A-C350-46BE-0DCD-28B41AD997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1766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5465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沒有</a:t>
            </a:r>
            <a:r>
              <a:rPr lang="en-US" altLang="zh-TW" dirty="0" err="1"/>
              <a:t>vcgt</a:t>
            </a:r>
            <a:r>
              <a:rPr lang="zh-TW" altLang="en-US" dirty="0"/>
              <a:t>、</a:t>
            </a:r>
            <a:r>
              <a:rPr lang="en-US" altLang="zh-TW" dirty="0"/>
              <a:t>MS00</a:t>
            </a:r>
            <a:r>
              <a:rPr lang="zh-TW" altLang="en-US" dirty="0"/>
              <a:t>、</a:t>
            </a:r>
            <a:r>
              <a:rPr lang="en-US" altLang="zh-TW" dirty="0"/>
              <a:t>MCH2</a:t>
            </a:r>
            <a:r>
              <a:rPr lang="zh-TW" altLang="en-US" dirty="0"/>
              <a:t>等</a:t>
            </a:r>
            <a:r>
              <a:rPr lang="en-US" altLang="zh-TW" dirty="0"/>
              <a:t>tag</a:t>
            </a:r>
            <a:r>
              <a:rPr lang="zh-TW" altLang="en-US" dirty="0"/>
              <a:t>，所以他這只能生成純粹色彩描述檔的</a:t>
            </a:r>
            <a:r>
              <a:rPr lang="en-US" altLang="zh-TW" dirty="0"/>
              <a:t>ICC Profile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7064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0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oyilmaz/displaycal-py3?utm_source=chatgpt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oyilmaz/displaycal-py3?utm_source=chatgpt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/>
              <a:t>Video Capture Card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033F0CBC-B216-A52F-8C2C-837CAED2E514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研究目的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尋找相關開源專案，了解現有技術與實作成果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調查各專案使用的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、開發板、框架與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比較不同開源生態，作為後續技術選型的依據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目標架構概念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11D2EBC-D008-B0EE-7DBE-BC7E1A013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71" y="3509911"/>
            <a:ext cx="9024257" cy="94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52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LitePCIe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 Writer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資料寫入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主機記憶體</a:t>
            </a: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Endpoint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與傳輸架構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Linux Driver</a:t>
            </a: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擷取卡的幫助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可將研究重點集中在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影像串流與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的整合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可參考既有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Linux Driver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有助於降低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端驅動程式的開發負擔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7EF7B95-B380-F6CA-F173-DA760D763252}"/>
              </a:ext>
            </a:extLst>
          </p:cNvPr>
          <p:cNvSpPr txBox="1"/>
          <p:nvPr/>
        </p:nvSpPr>
        <p:spPr>
          <a:xfrm>
            <a:off x="1787236" y="6384072"/>
            <a:ext cx="5802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https://github.com/enjoy-digital/litepcie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7C9DEB2B-F85F-1C98-F138-BF7DBF812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2" y="4410680"/>
            <a:ext cx="8686796" cy="9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84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Xilinx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DMA_IP_Drivers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定位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AMD/Xilinx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驅動程式與軟體工具集合，主要負責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PCIe DMA 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的溝通，讓主機能操作裝置、管理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傳輸並測試資料收發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提供多種的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驅動程式，使電腦能與相容的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DMA 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溝通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提供相關工具，協助執行資料傳輸、裝置資源存取與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功能測試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擷取卡的幫助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可作為擷取卡的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端驅動程式基礎，協助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將影像資料透過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傳送至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記憶體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6AE91BC-F373-E0EA-784E-FE965295B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07" y="5153297"/>
            <a:ext cx="9040586" cy="96649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B045C83-0B0C-2CBF-81C8-166EB12F11E6}"/>
              </a:ext>
            </a:extLst>
          </p:cNvPr>
          <p:cNvSpPr txBox="1"/>
          <p:nvPr/>
        </p:nvSpPr>
        <p:spPr>
          <a:xfrm>
            <a:off x="1787236" y="6384072"/>
            <a:ext cx="5802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https://github.com/Xilinx/dma_ip_drivers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0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生態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521FBAA4-6E6B-1B82-9C1F-77D9FAD35C41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優勢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的互連與建置基礎，減少建立整套系統的工作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既有框架及 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LiteVideo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LitePCIe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LiteDRAM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等模組可減少重複開發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風險與待評估事項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須確認目標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介面、記憶體及工具鏈的支援情況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LiteVideo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可用性與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NeTV2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是否能提供可重用的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影像端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RTL</a:t>
            </a:r>
          </a:p>
          <a:p>
            <a:pPr lvl="1">
              <a:lnSpc>
                <a:spcPts val="3000"/>
              </a:lnSpc>
            </a:pP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60169C1-DABD-C18E-CA96-E01B44C30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68" y="1593078"/>
            <a:ext cx="9114064" cy="98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5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Xilinx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生態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521FBAA4-6E6B-1B82-9C1F-77D9FAD35C41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優勢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重用既有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接收與影像處理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整合範例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Xilinx DMA 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與配套驅動程式，減少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控制及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Driver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風險與待評估事項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硬體相容性與工具鏈相容性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Vivado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/ Vitis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版本、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授權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確認選定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後，驅動程式與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硬體設定相符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C861312-6738-1E5A-CE4A-7188C92AC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92" y="1632857"/>
            <a:ext cx="9223415" cy="153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7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60790-B8EB-5C9C-6F3D-DB91C8FE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69D4A17-091F-B9B9-0E15-4C16A04E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5268582-08DF-7D9E-8ED6-18BC73EECF65}"/>
              </a:ext>
            </a:extLst>
          </p:cNvPr>
          <p:cNvSpPr txBox="1"/>
          <p:nvPr/>
        </p:nvSpPr>
        <p:spPr>
          <a:xfrm>
            <a:off x="1734818" y="6361271"/>
            <a:ext cx="7980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E. Ö. Yılmaz, “DisplayCAL Python 3 Project,” </a:t>
            </a:r>
            <a:r>
              <a:rPr lang="zh-TW" altLang="zh-TW" sz="12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GitHub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2026. [Online]. Available: 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3"/>
              </a:rPr>
              <a:t>https://github.com/eoyilmaz/displaycal-py3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D09BAD2-DA31-372D-DFF4-D7CC21EBE4FD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</a:p>
          <a:p>
            <a:pPr lvl="1">
              <a:lnSpc>
                <a:spcPct val="150000"/>
              </a:lnSpc>
            </a:pPr>
            <a:r>
              <a:rPr lang="en-US" altLang="zh-TW" sz="16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24">
            <a:extLst>
              <a:ext uri="{FF2B5EF4-FFF2-40B4-BE49-F238E27FC236}">
                <a16:creationId xmlns:a16="http://schemas.microsoft.com/office/drawing/2014/main" id="{E214378B-28D3-B7BC-A356-73CC17329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59531"/>
              </p:ext>
            </p:extLst>
          </p:nvPr>
        </p:nvGraphicFramePr>
        <p:xfrm>
          <a:off x="2308861" y="2085530"/>
          <a:ext cx="5288277" cy="40030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90530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890530">
                  <a:extLst>
                    <a:ext uri="{9D8B030D-6E8A-4147-A177-3AD203B41FA5}">
                      <a16:colId xmlns:a16="http://schemas.microsoft.com/office/drawing/2014/main" val="1964622646"/>
                    </a:ext>
                  </a:extLst>
                </a:gridCol>
                <a:gridCol w="1024717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010079">
                  <a:extLst>
                    <a:ext uri="{9D8B030D-6E8A-4147-A177-3AD203B41FA5}">
                      <a16:colId xmlns:a16="http://schemas.microsoft.com/office/drawing/2014/main" val="3439045141"/>
                    </a:ext>
                  </a:extLst>
                </a:gridCol>
                <a:gridCol w="1472421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Gamma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色溫</a:t>
                      </a:r>
                      <a:endParaRPr lang="zh-TW" altLang="en-US" sz="16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量測色溫</a:t>
                      </a:r>
                      <a:endParaRPr lang="zh-TW" altLang="en-US" sz="16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256</a:t>
                      </a:r>
                      <a:r>
                        <a:rPr lang="zh-TW" altLang="en-US" sz="1600" b="0" i="0" u="none" strike="noStrike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</a:t>
                      </a:r>
                      <a:endParaRPr lang="zh-TW" altLang="en-US" sz="16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時間</a:t>
                      </a:r>
                      <a:endParaRPr lang="zh-TW" altLang="en-US" sz="16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5400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5346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1.82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11:38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6628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1.83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10:31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9300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9090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1.82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10:57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2.0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5400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5374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2.00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10:22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6587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2.00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12:01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90125723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9300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9094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1.98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11:07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9583938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2.2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5400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5381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2.24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12:37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6472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2.19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11:01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9300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9103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2.19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11:08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2.6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5400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5373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2.57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15:07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6500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6608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2.59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12:23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307930"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9300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9103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2.61 </a:t>
                      </a:r>
                    </a:p>
                  </a:txBody>
                  <a:tcPr marL="7017" marR="7017" marT="7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12:19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487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C9CF-A393-1D36-E322-DC4F9AF92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2572336A-60D1-DD70-73B5-1485FE00A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未來方向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C8D5544-9594-45AE-C2B4-BBF9D8F65A2A}"/>
              </a:ext>
            </a:extLst>
          </p:cNvPr>
          <p:cNvSpPr txBox="1"/>
          <p:nvPr/>
        </p:nvSpPr>
        <p:spPr>
          <a:xfrm>
            <a:off x="1734818" y="6361271"/>
            <a:ext cx="7980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E. Ö. Yılmaz, “DisplayCAL Python 3 Project,” </a:t>
            </a:r>
            <a:r>
              <a:rPr lang="zh-TW" altLang="zh-TW" sz="12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GitHub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2026. [Online]. Available: </a:t>
            </a:r>
            <a:r>
              <a:rPr lang="zh-TW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3"/>
              </a:rPr>
              <a:t>https://github.com/eoyilmaz/displaycal-py3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52713C2D-410D-C7DB-1444-59709EF3DCA8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ICC </a:t>
            </a:r>
            <a:r>
              <a:rPr lang="en-US" altLang="zh-TW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Profiole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Gamma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與校正曲線量測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測試項目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1.8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2.0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2.2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2.6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，搭配三組色溫進行測試</a:t>
            </a:r>
            <a:endParaRPr lang="en-US" altLang="zh-TW" sz="12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量測標準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Target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誤差為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± 0.05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、色溫誤差為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± 1000k</a:t>
            </a:r>
          </a:p>
          <a:p>
            <a:pPr lvl="1">
              <a:lnSpc>
                <a:spcPct val="150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957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659FC18-5835-84BA-E507-82D126A8B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52" y="1430866"/>
            <a:ext cx="9046096" cy="462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0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0843149-7062-BFDD-E31E-041AF4BED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611" y="1312692"/>
            <a:ext cx="6862778" cy="501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1220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319295</TotalTime>
  <Words>825</Words>
  <Application>Microsoft Office PowerPoint</Application>
  <PresentationFormat>A4 紙張 (210x297 公釐)</PresentationFormat>
  <Paragraphs>136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Noto Sans Symbols</vt:lpstr>
      <vt:lpstr>標楷體</vt:lpstr>
      <vt:lpstr>Arial</vt:lpstr>
      <vt:lpstr>Times New Roman</vt:lpstr>
      <vt:lpstr>template</vt:lpstr>
      <vt:lpstr>本次進度: Video Capture Card</vt:lpstr>
      <vt:lpstr>本次進度: LitePCIe</vt:lpstr>
      <vt:lpstr>本次進度: Xilinx / DMA_IP_Drivers</vt:lpstr>
      <vt:lpstr>本次進度: LiteX 生態</vt:lpstr>
      <vt:lpstr>本次進度: Xilinx 生態</vt:lpstr>
      <vt:lpstr>0</vt:lpstr>
      <vt:lpstr>未來方向</vt:lpstr>
      <vt:lpstr>本次進度:</vt:lpstr>
      <vt:lpstr>本次進度: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2740</cp:revision>
  <dcterms:created xsi:type="dcterms:W3CDTF">2003-02-17T16:04:03Z</dcterms:created>
  <dcterms:modified xsi:type="dcterms:W3CDTF">2026-10-16T09:41:39Z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