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8" r:id="rId1"/>
  </p:sldMasterIdLst>
  <p:notesMasterIdLst>
    <p:notesMasterId r:id="rId6"/>
  </p:notesMasterIdLst>
  <p:sldIdLst>
    <p:sldId id="2014" r:id="rId2"/>
    <p:sldId id="2019" r:id="rId3"/>
    <p:sldId id="2017" r:id="rId4"/>
    <p:sldId id="2018" r:id="rId5"/>
  </p:sldIdLst>
  <p:sldSz cx="9906000" cy="6858000" type="A4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10902143" initials="m" lastIdx="1" clrIdx="0"/>
  <p:cmAuthor id="2" name="James Kuo" initials="JK" lastIdx="1" clrIdx="1"/>
  <p:cmAuthor id="3" name="昇鴻 李" initials="昇鴻" lastIdx="1" clrIdx="2">
    <p:extLst>
      <p:ext uri="{19B8F6BF-5375-455C-9EA6-DF929625EA0E}">
        <p15:presenceInfo xmlns:p15="http://schemas.microsoft.com/office/powerpoint/2012/main" userId="72a70edeaa250c2c" providerId="Windows Live"/>
      </p:ext>
    </p:extLst>
  </p:cmAuthor>
  <p:cmAuthor id="4" name="宏德 林" initials="宏林" lastIdx="2" clrIdx="3">
    <p:extLst>
      <p:ext uri="{19B8F6BF-5375-455C-9EA6-DF929625EA0E}">
        <p15:presenceInfo xmlns:p15="http://schemas.microsoft.com/office/powerpoint/2012/main" userId="933d0002216be5bd" providerId="Windows Live"/>
      </p:ext>
    </p:extLst>
  </p:cmAuthor>
  <p:cmAuthor id="5" name="LI CHIH HSIANG" initials="LCH" lastIdx="6" clrIdx="4">
    <p:extLst>
      <p:ext uri="{19B8F6BF-5375-455C-9EA6-DF929625EA0E}">
        <p15:presenceInfo xmlns:p15="http://schemas.microsoft.com/office/powerpoint/2012/main" userId="LI CHIH HSIA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000000"/>
    <a:srgbClr val="00B050"/>
    <a:srgbClr val="0057C0"/>
    <a:srgbClr val="FFC000"/>
    <a:srgbClr val="FFFFFF"/>
    <a:srgbClr val="8958B1"/>
    <a:srgbClr val="C58DEF"/>
    <a:srgbClr val="993366"/>
    <a:srgbClr val="5814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D433FD4-3D7A-4217-8E80-1680D7E9CC69}" styleName="Table_0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rgbClr val="E6E6E6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E6E6E6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 i="off"/>
      <a:tcStyle>
        <a:tcBdr>
          <a:top>
            <a:ln w="508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lt1"/>
          </a:solidFill>
        </a:fill>
      </a:tcStyle>
    </a:lastRow>
    <a:se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eCell>
    <a:sw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3E919B74-BC6B-4152-9BDB-477648A112FC}" styleName="Table_1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F6EF"/>
          </a:solidFill>
        </a:fill>
      </a:tcStyle>
    </a:wholeTbl>
    <a:band1H>
      <a:tcStyle>
        <a:tcBdr/>
        <a:fill>
          <a:solidFill>
            <a:srgbClr val="CAECDD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AECDD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75DCB02-9BB8-47FD-8907-85C794F793BA}" styleName="佈景主題樣式 1 - 輔色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8603FDC-E32A-4AB5-989C-0864C3EAD2B8}" styleName="佈景主題樣式 2 - 輔色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E3FDE45-AF77-4B5C-9715-49D594BDF05E}" styleName="淺色樣式 1 - 輔色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中等深淺樣式 1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32" autoAdjust="0"/>
    <p:restoredTop sz="81675" autoAdjust="0"/>
  </p:normalViewPr>
  <p:slideViewPr>
    <p:cSldViewPr snapToGrid="0">
      <p:cViewPr varScale="1">
        <p:scale>
          <a:sx n="64" d="100"/>
          <a:sy n="64" d="100"/>
        </p:scale>
        <p:origin x="1752" y="58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024"/>
        <p:guide pos="230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9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0" name="Google Shape;4;n"/>
          <p:cNvSpPr txBox="1">
            <a:spLocks noGrp="1"/>
          </p:cNvSpPr>
          <p:nvPr>
            <p:ph type="dt" idx="10"/>
          </p:nvPr>
        </p:nvSpPr>
        <p:spPr>
          <a:xfrm>
            <a:off x="4138613" y="0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1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062038" y="735013"/>
            <a:ext cx="5197475" cy="35988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048662" name="Google Shape;6;n"/>
          <p:cNvSpPr txBox="1">
            <a:spLocks noGrp="1"/>
          </p:cNvSpPr>
          <p:nvPr>
            <p:ph type="body" idx="1"/>
          </p:nvPr>
        </p:nvSpPr>
        <p:spPr>
          <a:xfrm>
            <a:off x="962025" y="4567238"/>
            <a:ext cx="5391150" cy="4300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48663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134475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4" name="Google Shape;8;n"/>
          <p:cNvSpPr txBox="1">
            <a:spLocks noGrp="1"/>
          </p:cNvSpPr>
          <p:nvPr>
            <p:ph type="sldNum" idx="12"/>
          </p:nvPr>
        </p:nvSpPr>
        <p:spPr>
          <a:xfrm>
            <a:off x="4138613" y="9134475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AB6D5-993E-26F5-9C44-C5D525DA7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B5F2A66-F24A-A462-6F12-218184B02E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6FDBCF0-B4E1-DC68-FF31-D0F8D4C04A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B8DA5A3-1BB6-F49D-76B7-392A3D01E52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392808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F0F47-4E0C-C518-B8CA-C9751D907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7A2912A-AAD5-05D7-5039-F4FA56EAF9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7563CC0-E200-230A-997F-9174AD9E38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917299A-C350-46BE-0DCD-28B41AD997B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317668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054652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沒有</a:t>
            </a:r>
            <a:r>
              <a:rPr lang="en-US" altLang="zh-TW" dirty="0" err="1"/>
              <a:t>vcgt</a:t>
            </a:r>
            <a:r>
              <a:rPr lang="zh-TW" altLang="en-US" dirty="0"/>
              <a:t>、</a:t>
            </a:r>
            <a:r>
              <a:rPr lang="en-US" altLang="zh-TW" dirty="0"/>
              <a:t>MS00</a:t>
            </a:r>
            <a:r>
              <a:rPr lang="zh-TW" altLang="en-US" dirty="0"/>
              <a:t>、</a:t>
            </a:r>
            <a:r>
              <a:rPr lang="en-US" altLang="zh-TW" dirty="0"/>
              <a:t>MCH2</a:t>
            </a:r>
            <a:r>
              <a:rPr lang="zh-TW" altLang="en-US" dirty="0"/>
              <a:t>等</a:t>
            </a:r>
            <a:r>
              <a:rPr lang="en-US" altLang="zh-TW" dirty="0"/>
              <a:t>tag</a:t>
            </a:r>
            <a:r>
              <a:rPr lang="zh-TW" altLang="en-US" dirty="0"/>
              <a:t>，所以他這只能生成純粹色彩描述檔的</a:t>
            </a:r>
            <a:r>
              <a:rPr lang="en-US" altLang="zh-TW" dirty="0"/>
              <a:t>ICC Profile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170646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6" name="Google Shape;37;p5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7" name="Google Shape;38;p5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48" name="Google Shape;39;p5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  <p:sp>
        <p:nvSpPr>
          <p:cNvPr id="1048649" name="Google Shape;40;p54"/>
          <p:cNvSpPr txBox="1">
            <a:spLocks noGrp="1"/>
          </p:cNvSpPr>
          <p:nvPr>
            <p:ph type="body" idx="3"/>
          </p:nvPr>
        </p:nvSpPr>
        <p:spPr>
          <a:xfrm>
            <a:off x="4645027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50" name="Google Shape;41;p54"/>
          <p:cNvSpPr txBox="1">
            <a:spLocks noGrp="1"/>
          </p:cNvSpPr>
          <p:nvPr>
            <p:ph type="body" idx="4"/>
          </p:nvPr>
        </p:nvSpPr>
        <p:spPr>
          <a:xfrm>
            <a:off x="4645027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3" name="Google Shape;43;p55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4" name="Google Shape;50;p58"/>
          <p:cNvSpPr txBox="1">
            <a:spLocks noGrp="1"/>
          </p:cNvSpPr>
          <p:nvPr>
            <p:ph type="title"/>
          </p:nvPr>
        </p:nvSpPr>
        <p:spPr>
          <a:xfrm>
            <a:off x="1792290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5" name="Google Shape;51;p58"/>
          <p:cNvSpPr>
            <a:spLocks noGrp="1"/>
          </p:cNvSpPr>
          <p:nvPr>
            <p:ph type="pic" idx="2"/>
          </p:nvPr>
        </p:nvSpPr>
        <p:spPr>
          <a:xfrm>
            <a:off x="1792290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accent2"/>
              </a:buClr>
              <a:buSzPts val="3200"/>
              <a:buFont typeface="Noto Sans Symbols"/>
              <a:buNone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rgbClr val="FF5050"/>
              </a:buClr>
              <a:buSzPts val="2800"/>
              <a:buFont typeface="Noto Sans Symbols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rgbClr val="6699FF"/>
              </a:buClr>
              <a:buSzPts val="2400"/>
              <a:buFont typeface="Times New Roman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56" name="Google Shape;52;p58"/>
          <p:cNvSpPr txBox="1">
            <a:spLocks noGrp="1"/>
          </p:cNvSpPr>
          <p:nvPr>
            <p:ph type="body" idx="1"/>
          </p:nvPr>
        </p:nvSpPr>
        <p:spPr>
          <a:xfrm>
            <a:off x="1792290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Font typeface="Times New Roman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Google Shape;54;p59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5" name="Google Shape;55;p59"/>
          <p:cNvSpPr txBox="1">
            <a:spLocks noGrp="1"/>
          </p:cNvSpPr>
          <p:nvPr>
            <p:ph type="body" idx="1"/>
          </p:nvPr>
        </p:nvSpPr>
        <p:spPr>
          <a:xfrm rot="5400000">
            <a:off x="2593975" y="-485775"/>
            <a:ext cx="4800600" cy="866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7" name="Google Shape;57;p60"/>
          <p:cNvSpPr txBox="1">
            <a:spLocks noGrp="1"/>
          </p:cNvSpPr>
          <p:nvPr>
            <p:ph type="title"/>
          </p:nvPr>
        </p:nvSpPr>
        <p:spPr>
          <a:xfrm rot="5400000">
            <a:off x="4857751" y="2419350"/>
            <a:ext cx="5638800" cy="20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8" name="Google Shape;58;p60"/>
          <p:cNvSpPr txBox="1">
            <a:spLocks noGrp="1"/>
          </p:cNvSpPr>
          <p:nvPr>
            <p:ph type="body" idx="1"/>
          </p:nvPr>
        </p:nvSpPr>
        <p:spPr>
          <a:xfrm rot="5400000">
            <a:off x="742951" y="476250"/>
            <a:ext cx="5638800" cy="59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1_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9" name="Title 1"/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en-US" dirty="0"/>
          </a:p>
        </p:txBody>
      </p:sp>
      <p:sp>
        <p:nvSpPr>
          <p:cNvPr id="1048580" name="Chart Placeholder 2"/>
          <p:cNvSpPr>
            <a:spLocks noGrp="1"/>
          </p:cNvSpPr>
          <p:nvPr>
            <p:ph type="chart" idx="1"/>
          </p:nvPr>
        </p:nvSpPr>
        <p:spPr>
          <a:xfrm>
            <a:off x="609600" y="1447800"/>
            <a:ext cx="8001000" cy="4800600"/>
          </a:xfrm>
        </p:spPr>
        <p:txBody>
          <a:bodyPr/>
          <a:lstStyle/>
          <a:p>
            <a:pPr lvl="0"/>
            <a:endParaRPr lang="en-US" noProof="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48652" name="Title 1"/>
          <p:cNvSpPr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altLang="zh-TW" dirty="0"/>
              <a:t>Title of the Slide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Google Shape;10;p48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cxnSp>
        <p:nvCxnSpPr>
          <p:cNvPr id="3145728" name="Google Shape;11;p48"/>
          <p:cNvCxnSpPr>
            <a:cxnSpLocks/>
          </p:cNvCxnSpPr>
          <p:nvPr/>
        </p:nvCxnSpPr>
        <p:spPr>
          <a:xfrm>
            <a:off x="412750" y="533400"/>
            <a:ext cx="899795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29" name="Google Shape;12;p48"/>
          <p:cNvCxnSpPr>
            <a:cxnSpLocks/>
          </p:cNvCxnSpPr>
          <p:nvPr/>
        </p:nvCxnSpPr>
        <p:spPr>
          <a:xfrm>
            <a:off x="577850" y="228600"/>
            <a:ext cx="0" cy="990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30" name="Google Shape;13;p48"/>
          <p:cNvCxnSpPr>
            <a:cxnSpLocks/>
          </p:cNvCxnSpPr>
          <p:nvPr/>
        </p:nvCxnSpPr>
        <p:spPr>
          <a:xfrm>
            <a:off x="495300" y="6400800"/>
            <a:ext cx="8915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8577" name="Google Shape;14;p48"/>
          <p:cNvSpPr txBox="1">
            <a:spLocks noGrp="1"/>
          </p:cNvSpPr>
          <p:nvPr>
            <p:ph type="body" idx="1"/>
          </p:nvPr>
        </p:nvSpPr>
        <p:spPr>
          <a:xfrm>
            <a:off x="660400" y="1447800"/>
            <a:ext cx="8667750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048578" name="Google Shape;15;p48"/>
          <p:cNvSpPr txBox="1"/>
          <p:nvPr/>
        </p:nvSpPr>
        <p:spPr>
          <a:xfrm>
            <a:off x="8510587" y="6502400"/>
            <a:ext cx="817563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52" name="Google Shape;16;p48"/>
          <p:cNvPicPr preferRelativeResize="0">
            <a:picLocks/>
          </p:cNvPicPr>
          <p:nvPr/>
        </p:nvPicPr>
        <p:blipFill rotWithShape="1">
          <a:blip r:embed="rId10">
            <a:alphaModFix/>
          </a:blip>
          <a:srcRect/>
          <a:stretch>
            <a:fillRect/>
          </a:stretch>
        </p:blipFill>
        <p:spPr>
          <a:xfrm>
            <a:off x="57150" y="6446838"/>
            <a:ext cx="1827213" cy="360362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oyilmaz/displaycal-py3?utm_source=chatgpt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oyilmaz/displaycal-py3?utm_source=chatgpt.com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60790-B8EB-5C9C-6F3D-DB91C8FE7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469D4A17-091F-B9B9-0E15-4C16A04E1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95268582-08DF-7D9E-8ED6-18BC73EECF65}"/>
              </a:ext>
            </a:extLst>
          </p:cNvPr>
          <p:cNvSpPr txBox="1"/>
          <p:nvPr/>
        </p:nvSpPr>
        <p:spPr>
          <a:xfrm>
            <a:off x="1734818" y="6361271"/>
            <a:ext cx="79806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E. Ö. Yılmaz, “DisplayCAL Python 3 Project,” </a:t>
            </a:r>
            <a:r>
              <a:rPr lang="zh-TW" altLang="zh-TW" sz="1200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GitHub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2026. [Online]. Available: 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https://github.com/eoyilmaz/displaycal-py3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CD09BAD2-DA31-372D-DFF4-D7CC21EBE4FD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</a:t>
            </a:r>
          </a:p>
          <a:p>
            <a:pPr lvl="1">
              <a:lnSpc>
                <a:spcPct val="1500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25014875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DC9CF-A393-1D36-E322-DC4F9AF92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2572336A-60D1-DD70-73B5-1485FE00A8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未來方向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AC8D5544-9594-45AE-C2B4-BBF9D8F65A2A}"/>
              </a:ext>
            </a:extLst>
          </p:cNvPr>
          <p:cNvSpPr txBox="1"/>
          <p:nvPr/>
        </p:nvSpPr>
        <p:spPr>
          <a:xfrm>
            <a:off x="1734818" y="6361271"/>
            <a:ext cx="79806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E. Ö. Yılmaz, “DisplayCAL Python 3 Project,” </a:t>
            </a:r>
            <a:r>
              <a:rPr lang="zh-TW" altLang="zh-TW" sz="1200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GitHub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2026. [Online]. Available: 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https://github.com/eoyilmaz/displaycal-py3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52713C2D-410D-C7DB-1444-59709EF3DCA8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</a:t>
            </a:r>
            <a:r>
              <a:rPr lang="en-US" altLang="zh-TW" sz="2000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Profiole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Gamma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與校正曲線量測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測試項目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1.8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2.0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2.2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2.6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，搭配三組色溫進行測試</a:t>
            </a:r>
            <a:endParaRPr lang="en-US" altLang="zh-TW" sz="12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量測標準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Target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誤差為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± 0.05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、色溫誤差為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± 1000k</a:t>
            </a:r>
          </a:p>
          <a:p>
            <a:pPr lvl="1">
              <a:lnSpc>
                <a:spcPct val="150000"/>
              </a:lnSpc>
            </a:pP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59571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GUI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設計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F659FC18-5835-84BA-E507-82D126A8BE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952" y="1430866"/>
            <a:ext cx="9046096" cy="4621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0038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GUI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設計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40843149-7062-BFDD-E31E-041AF4BEDB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1611" y="1312692"/>
            <a:ext cx="6862778" cy="5011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612204"/>
      </p:ext>
    </p:extLst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319162</TotalTime>
  <Words>207</Words>
  <Application>Microsoft Office PowerPoint</Application>
  <PresentationFormat>A4 紙張 (210x297 公釐)</PresentationFormat>
  <Paragraphs>16</Paragraphs>
  <Slides>4</Slides>
  <Notes>4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</vt:i4>
      </vt:variant>
    </vt:vector>
  </HeadingPairs>
  <TitlesOfParts>
    <vt:vector size="8" baseType="lpstr">
      <vt:lpstr>Noto Sans Symbols</vt:lpstr>
      <vt:lpstr>Arial</vt:lpstr>
      <vt:lpstr>Times New Roman</vt:lpstr>
      <vt:lpstr>template</vt:lpstr>
      <vt:lpstr>0</vt:lpstr>
      <vt:lpstr>未來方向</vt:lpstr>
      <vt:lpstr>本次進度: GUI 設計</vt:lpstr>
      <vt:lpstr>本次進度: GUI 設計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Embedded CMOS Image Sensor System Design and Implementation</dc:title>
  <dc:creator>mblin</dc:creator>
  <cp:lastModifiedBy>sis ila</cp:lastModifiedBy>
  <cp:revision>2715</cp:revision>
  <dcterms:created xsi:type="dcterms:W3CDTF">2003-02-17T16:04:03Z</dcterms:created>
  <dcterms:modified xsi:type="dcterms:W3CDTF">2026-10-01T13:43:55Z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c323e086d3b141ca89c275423e00507f</vt:lpwstr>
  </property>
</Properties>
</file>