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548" r:id="rId1"/>
  </p:sldMasterIdLst>
  <p:notesMasterIdLst>
    <p:notesMasterId r:id="rId44"/>
  </p:notesMasterIdLst>
  <p:handoutMasterIdLst>
    <p:handoutMasterId r:id="rId45"/>
  </p:handoutMasterIdLst>
  <p:sldIdLst>
    <p:sldId id="422" r:id="rId2"/>
    <p:sldId id="504" r:id="rId3"/>
    <p:sldId id="466" r:id="rId4"/>
    <p:sldId id="467" r:id="rId5"/>
    <p:sldId id="468" r:id="rId6"/>
    <p:sldId id="469" r:id="rId7"/>
    <p:sldId id="470" r:id="rId8"/>
    <p:sldId id="471" r:id="rId9"/>
    <p:sldId id="472" r:id="rId10"/>
    <p:sldId id="473" r:id="rId11"/>
    <p:sldId id="474" r:id="rId12"/>
    <p:sldId id="509" r:id="rId13"/>
    <p:sldId id="507" r:id="rId14"/>
    <p:sldId id="505" r:id="rId15"/>
    <p:sldId id="508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438" r:id="rId43"/>
  </p:sldIdLst>
  <p:sldSz cx="9906000" cy="6858000" type="A4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hen" initials="c" lastIdx="1" clrIdx="0">
    <p:extLst>
      <p:ext uri="{19B8F6BF-5375-455C-9EA6-DF929625EA0E}">
        <p15:presenceInfo xmlns:p15="http://schemas.microsoft.com/office/powerpoint/2012/main" userId="cash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DFFE5"/>
    <a:srgbClr val="E7E7F9"/>
    <a:srgbClr val="FFFFCC"/>
    <a:srgbClr val="DDDDDD"/>
    <a:srgbClr val="DAEFC3"/>
    <a:srgbClr val="FF3300"/>
    <a:srgbClr val="F7FE9A"/>
    <a:srgbClr val="FF99F8"/>
    <a:srgbClr val="C2C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3750" autoAdjust="0"/>
  </p:normalViewPr>
  <p:slideViewPr>
    <p:cSldViewPr>
      <p:cViewPr varScale="1">
        <p:scale>
          <a:sx n="106" d="100"/>
          <a:sy n="106" d="100"/>
        </p:scale>
        <p:origin x="31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E57AC0C5-028A-4FC1-8609-8A575617F4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712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4225" y="784225"/>
            <a:ext cx="553720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868863"/>
            <a:ext cx="5232400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1"/>
            <a:r>
              <a:rPr lang="zh-TW" altLang="en-US" noProof="0"/>
              <a:t>第二層</a:t>
            </a:r>
            <a:endParaRPr lang="en-US" altLang="zh-TW" noProof="0"/>
          </a:p>
          <a:p>
            <a:pPr lvl="2"/>
            <a:r>
              <a:rPr lang="zh-TW" altLang="en-US" noProof="0"/>
              <a:t>第三層</a:t>
            </a:r>
            <a:endParaRPr lang="en-US" altLang="zh-TW" noProof="0"/>
          </a:p>
          <a:p>
            <a:pPr lvl="3"/>
            <a:r>
              <a:rPr lang="zh-TW" altLang="en-US" noProof="0"/>
              <a:t>第四層</a:t>
            </a:r>
            <a:endParaRPr lang="en-US" altLang="zh-TW" noProof="0"/>
          </a:p>
          <a:p>
            <a:pPr lvl="4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272301DA-55B0-479D-8116-E17EDB9067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6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6063" indent="-246063" eaLnBrk="1" hangingPunct="1">
              <a:spcBef>
                <a:spcPct val="0"/>
              </a:spcBef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Time Table:</a:t>
            </a:r>
          </a:p>
          <a:p>
            <a:pPr marL="246063" indent="-246063" eaLnBrk="1" hangingPunct="1">
              <a:spcBef>
                <a:spcPct val="0"/>
              </a:spcBef>
            </a:pPr>
            <a:endParaRPr lang="en-US" altLang="zh-TW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 to 6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7-9 4min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10-12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13 1min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30281A-02FB-4AE7-89D2-78367A514CE1}" type="slidenum">
              <a:rPr lang="en-US" altLang="zh-TW" sz="130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 sz="130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311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81125" y="714375"/>
            <a:ext cx="5041900" cy="349091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7042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DDA088-1672-49C0-BA77-EB437F404150}" type="slidenum">
              <a:rPr lang="en-US" altLang="en-US" sz="1300" smtClean="0"/>
              <a:pPr>
                <a:spcBef>
                  <a:spcPct val="0"/>
                </a:spcBef>
              </a:pPr>
              <a:t>42</a:t>
            </a:fld>
            <a:endParaRPr lang="en-US" altLang="en-US" sz="1300"/>
          </a:p>
        </p:txBody>
      </p:sp>
      <p:sp>
        <p:nvSpPr>
          <p:cNvPr id="9933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8350"/>
            <a:ext cx="5540375" cy="3836988"/>
          </a:xfrm>
          <a:ln/>
        </p:spPr>
      </p:sp>
      <p:sp>
        <p:nvSpPr>
          <p:cNvPr id="9933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ts val="488"/>
              </a:spcBef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0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326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0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 noChangeArrowheads="1"/>
          </p:cNvSpPr>
          <p:nvPr/>
        </p:nvSpPr>
        <p:spPr bwMode="auto">
          <a:xfrm>
            <a:off x="660400" y="1219200"/>
            <a:ext cx="85852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2146301" y="3962400"/>
            <a:ext cx="705458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1" y="1524000"/>
            <a:ext cx="8258440" cy="1752600"/>
          </a:xfrm>
        </p:spPr>
        <p:txBody>
          <a:bodyPr/>
          <a:lstStyle>
            <a:lvl1pPr>
              <a:defRPr sz="405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46300" y="4166684"/>
            <a:ext cx="70993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3384550" y="6243638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594600" y="6370638"/>
            <a:ext cx="23114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2C44808-516D-491F-8EAD-84D2F2B0C8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15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Line 3075"/>
          <p:cNvSpPr>
            <a:spLocks noChangeShapeType="1"/>
          </p:cNvSpPr>
          <p:nvPr/>
        </p:nvSpPr>
        <p:spPr bwMode="auto">
          <a:xfrm>
            <a:off x="412750" y="533400"/>
            <a:ext cx="899795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8" name="Line 3076"/>
          <p:cNvSpPr>
            <a:spLocks noChangeShapeType="1"/>
          </p:cNvSpPr>
          <p:nvPr/>
        </p:nvSpPr>
        <p:spPr bwMode="auto">
          <a:xfrm flipH="1">
            <a:off x="577850" y="228600"/>
            <a:ext cx="0" cy="990600"/>
          </a:xfrm>
          <a:prstGeom prst="line">
            <a:avLst/>
          </a:prstGeom>
          <a:noFill/>
          <a:ln w="25400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9" name="Line 3077"/>
          <p:cNvSpPr>
            <a:spLocks noChangeShapeType="1"/>
          </p:cNvSpPr>
          <p:nvPr/>
        </p:nvSpPr>
        <p:spPr bwMode="auto">
          <a:xfrm flipV="1">
            <a:off x="495300" y="6400800"/>
            <a:ext cx="891540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TW" altLang="en-US" sz="2215"/>
          </a:p>
        </p:txBody>
      </p:sp>
      <p:sp>
        <p:nvSpPr>
          <p:cNvPr id="1030" name="Rectangle 308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  <a:endParaRPr lang="en-US" altLang="zh-TW"/>
          </a:p>
          <a:p>
            <a:pPr lvl="1"/>
            <a:r>
              <a:rPr lang="zh-TW" altLang="en-US"/>
              <a:t>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</p:txBody>
      </p:sp>
      <p:sp>
        <p:nvSpPr>
          <p:cNvPr id="1031" name="Text Box 10"/>
          <p:cNvSpPr txBox="1">
            <a:spLocks noChangeArrowheads="1"/>
          </p:cNvSpPr>
          <p:nvPr userDrawn="1"/>
        </p:nvSpPr>
        <p:spPr bwMode="auto">
          <a:xfrm>
            <a:off x="7159625" y="6508750"/>
            <a:ext cx="817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7346DC2-7719-4AA5-A33E-51FE0027969F}" type="slidenum">
              <a:rPr lang="en-US" altLang="zh-TW" sz="1200"/>
              <a:pPr algn="r" eaLnBrk="1" hangingPunct="1"/>
              <a:t>‹#›</a:t>
            </a:fld>
            <a:endParaRPr lang="en-US" altLang="zh-TW" sz="1200"/>
          </a:p>
        </p:txBody>
      </p:sp>
      <p:pic>
        <p:nvPicPr>
          <p:cNvPr id="1033" name="圖片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圖片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5" y="116465"/>
            <a:ext cx="733425" cy="3746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圖片 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6424613"/>
            <a:ext cx="1971675" cy="41116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8"/>
          <p:cNvSpPr txBox="1">
            <a:spLocks noChangeArrowheads="1"/>
          </p:cNvSpPr>
          <p:nvPr userDrawn="1"/>
        </p:nvSpPr>
        <p:spPr bwMode="auto">
          <a:xfrm>
            <a:off x="5889104" y="104939"/>
            <a:ext cx="368575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1662" b="1" dirty="0">
                <a:solidFill>
                  <a:srgbClr val="3333FF"/>
                </a:solidFill>
                <a:latin typeface="Calibri" panose="020F0502020204030204" pitchFamily="34" charset="0"/>
              </a:rPr>
              <a:t>Digital Circuit Design and Analysis </a:t>
            </a:r>
            <a:r>
              <a:rPr lang="en-US" altLang="zh-TW" sz="1662" baseline="0" dirty="0">
                <a:solidFill>
                  <a:srgbClr val="3333FF"/>
                </a:solidFill>
                <a:latin typeface="Calibri" panose="020F0502020204030204" pitchFamily="34" charset="0"/>
              </a:rPr>
              <a:t>115-1</a:t>
            </a:r>
            <a:endParaRPr lang="en-US" altLang="zh-TW" sz="1662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5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+mn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5pPr>
      <a:lvl6pPr marL="422041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6pPr>
      <a:lvl7pPr marL="844083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7pPr>
      <a:lvl8pPr marL="1266124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8pPr>
      <a:lvl9pPr marL="1688165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9pPr>
    </p:titleStyle>
    <p:bodyStyle>
      <a:lvl1pPr marL="315913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v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Font typeface="Wingdings" panose="05000000000000000000" pitchFamily="2" charset="2"/>
        <a:buChar char="§"/>
        <a:defRPr kumimoji="1" sz="2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hangingPunct="0">
        <a:spcBef>
          <a:spcPct val="20000"/>
        </a:spcBef>
        <a:spcAft>
          <a:spcPct val="0"/>
        </a:spcAft>
        <a:buClr>
          <a:srgbClr val="6699FF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png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4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docs.cloud.google.com/tpu/docs/system-architecture-tpu-v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ChangeArrowheads="1"/>
          </p:cNvSpPr>
          <p:nvPr/>
        </p:nvSpPr>
        <p:spPr bwMode="auto">
          <a:xfrm>
            <a:off x="776536" y="1628800"/>
            <a:ext cx="8856984" cy="1262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altLang="zh-TW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Digital Circuit Design and Analysis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zh-TW" sz="2400" dirty="0">
                <a:latin typeface="Arial Black" panose="020B0A04020102020204" pitchFamily="34" charset="0"/>
                <a:ea typeface="華康中楷體" pitchFamily="49" charset="-120"/>
                <a:cs typeface="Calibri" pitchFamily="34" charset="0"/>
              </a:rPr>
              <a:t>115-1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892820" y="4509120"/>
            <a:ext cx="68595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Chung-An Shen(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沈中安</a:t>
            </a: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)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Department of Electronic and Computer Engineering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National Taiwan University of Science and Technology</a:t>
            </a:r>
          </a:p>
        </p:txBody>
      </p:sp>
      <p:sp>
        <p:nvSpPr>
          <p:cNvPr id="3" name="矩形 2"/>
          <p:cNvSpPr/>
          <p:nvPr/>
        </p:nvSpPr>
        <p:spPr>
          <a:xfrm>
            <a:off x="1692543" y="3140968"/>
            <a:ext cx="70888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0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新細明體"/>
              </a:rPr>
              <a:t>Specialized Computational Architectures</a:t>
            </a:r>
            <a:endParaRPr lang="zh-TW" altLang="en-US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1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0996" y="1340768"/>
            <a:ext cx="9218547" cy="310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charset="2"/>
              <a:buChar char="v"/>
              <a:defRPr/>
            </a:pP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CORDIC Architecture 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compute the rotation of a vector in the Cartesian coordinate system using only simplified shift-and-Add operations.</a:t>
            </a:r>
          </a:p>
          <a:p>
            <a:pPr algn="just" eaLnBrk="1" hangingPunct="1">
              <a:lnSpc>
                <a:spcPct val="150000"/>
              </a:lnSpc>
              <a:buClr>
                <a:srgbClr val="3333CC"/>
              </a:buClr>
              <a:buFont typeface="Wingdings" charset="2"/>
              <a:buChar char="v"/>
              <a:defRPr/>
            </a:pPr>
            <a:r>
              <a:rPr lang="en-US" altLang="zh-TW" sz="20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Systolic Array Architecture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network of processing elements (PEs) that rhythmically compute and pass data through the system</a:t>
            </a: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Usually operate with stationary data flows.</a:t>
            </a:r>
          </a:p>
          <a:p>
            <a:pPr algn="just" eaLnBrk="1" hangingPunct="1">
              <a:lnSpc>
                <a:spcPct val="150000"/>
              </a:lnSpc>
              <a:buClr>
                <a:srgbClr val="3333CC"/>
              </a:buClr>
              <a:buFont typeface="Wingdings" charset="2"/>
              <a:buChar char="v"/>
              <a:defRPr/>
            </a:pPr>
            <a:r>
              <a:rPr lang="en-US" altLang="zh-TW" sz="20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Studies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Decompositions</a:t>
            </a: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endParaRPr lang="en-US" altLang="zh-TW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lnSpc>
                <a:spcPts val="2585"/>
              </a:lnSpc>
              <a:buFont typeface="Wingdings" panose="05000000000000000000" pitchFamily="2" charset="2"/>
              <a:buChar char="n"/>
              <a:defRPr/>
            </a:pPr>
            <a:endParaRPr lang="en-US" altLang="zh-TW" sz="1477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buFont typeface="Wingdings" panose="05000000000000000000" pitchFamily="2" charset="2"/>
              <a:buChar char="n"/>
              <a:defRPr/>
            </a:pPr>
            <a:endParaRPr lang="en-US" altLang="zh-TW" sz="1477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lnSpc>
                <a:spcPts val="2400"/>
              </a:lnSpc>
              <a:buFont typeface="Wingdings" panose="05000000000000000000" pitchFamily="2" charset="2"/>
              <a:buChar char="n"/>
              <a:defRPr/>
            </a:pPr>
            <a:endParaRPr lang="en-US" altLang="zh-TW" sz="1662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1662"/>
              </a:spcBef>
              <a:buClr>
                <a:srgbClr val="3333CC"/>
              </a:buClr>
              <a:buFont typeface="Wingdings" charset="2"/>
              <a:buChar char="v"/>
              <a:defRPr/>
            </a:pPr>
            <a:endParaRPr lang="en-US" altLang="zh-TW" sz="2215" kern="0" dirty="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endParaRPr lang="en-US" altLang="zh-TW" sz="2215" i="1" kern="0" dirty="0">
              <a:latin typeface="+mj-lt"/>
            </a:endParaRPr>
          </a:p>
          <a:p>
            <a:pPr lvl="1" algn="just" eaLnBrk="1" hangingPunct="1">
              <a:lnSpc>
                <a:spcPts val="2585"/>
              </a:lnSpc>
              <a:buFont typeface="Wingdings" charset="2"/>
              <a:buChar char="§"/>
              <a:defRPr/>
            </a:pPr>
            <a:endParaRPr lang="en-US" altLang="zh-TW" sz="2031" kern="0" dirty="0">
              <a:latin typeface="+mj-lt"/>
            </a:endParaRPr>
          </a:p>
          <a:p>
            <a:pPr lvl="1" algn="just" eaLnBrk="1" hangingPunct="1">
              <a:buFont typeface="Wingdings" charset="2"/>
              <a:buNone/>
              <a:defRPr/>
            </a:pPr>
            <a:endParaRPr lang="en-US" altLang="zh-TW" sz="1846" kern="0" dirty="0">
              <a:solidFill>
                <a:srgbClr val="000000"/>
              </a:solidFill>
              <a:latin typeface="Calibri" pitchFamily="34" charset="0"/>
            </a:endParaRPr>
          </a:p>
          <a:p>
            <a:pPr lvl="1" algn="just" eaLnBrk="1" hangingPunct="1">
              <a:buFont typeface="Wingdings" charset="2"/>
              <a:buChar char="§"/>
              <a:defRPr/>
            </a:pPr>
            <a:endParaRPr lang="en-US" altLang="zh-TW" sz="1477" kern="0" dirty="0">
              <a:latin typeface="Calibri" pitchFamily="34" charset="0"/>
            </a:endParaRPr>
          </a:p>
          <a:p>
            <a:pPr algn="just">
              <a:buFont typeface="Wingdings" charset="2"/>
              <a:buNone/>
              <a:defRPr/>
            </a:pPr>
            <a:endParaRPr lang="zh-TW" altLang="en-US" sz="2308" kern="0" dirty="0">
              <a:latin typeface="Calibri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A79B43D-53D4-4E53-B7EC-32390CF10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/>
          <a:p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Specialized Architectures for Signal Processing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9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62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b="1" kern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altLang="zh-TW" sz="2200" kern="0" dirty="0" err="1">
                <a:latin typeface="Arial" panose="020B0604020202020204" pitchFamily="34" charset="0"/>
                <a:cs typeface="Arial" panose="020B0604020202020204" pitchFamily="34" charset="0"/>
              </a:rPr>
              <a:t>ordinate</a:t>
            </a:r>
            <a:r>
              <a:rPr lang="en-US" altLang="zh-TW" sz="2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otation</a:t>
            </a:r>
            <a:r>
              <a:rPr lang="en-US" altLang="zh-TW" sz="2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b="1" kern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en-US" altLang="zh-TW" sz="2200" kern="0" dirty="0" err="1">
                <a:latin typeface="Arial" panose="020B0604020202020204" pitchFamily="34" charset="0"/>
                <a:cs typeface="Arial" panose="020B0604020202020204" pitchFamily="34" charset="0"/>
              </a:rPr>
              <a:t>gital</a:t>
            </a:r>
            <a:r>
              <a:rPr lang="en-US" altLang="zh-TW" sz="2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omputer</a:t>
            </a:r>
            <a:r>
              <a:rPr lang="en-US" altLang="zh-TW" sz="2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TW" sz="22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CORDIC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n"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Originally developed by Jack E. </a:t>
            </a:r>
            <a:r>
              <a:rPr lang="en-US" altLang="zh-TW" sz="2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Volder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1959 for real-time navigation.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n"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</a:t>
            </a:r>
            <a:r>
              <a:rPr lang="en-US" altLang="zh-TW" sz="20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rotation of a vector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Cartesian coordinate system.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n"/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Use much simplified </a:t>
            </a:r>
            <a:r>
              <a:rPr lang="en-US" altLang="zh-TW" sz="2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shift-and-add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 to realize multiplications.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n"/>
            </a:pPr>
            <a:r>
              <a:rPr lang="en-US" altLang="zh-TW" sz="20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Iterative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scheme and could lead to extended latency.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n"/>
            </a:pP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to much extended applications.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560512" y="4100179"/>
            <a:ext cx="5112568" cy="2194974"/>
          </a:xfrm>
        </p:spPr>
        <p:txBody>
          <a:bodyPr/>
          <a:lstStyle/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trigonometric</a:t>
            </a:r>
            <a:r>
              <a:rPr lang="en-US" altLang="zh-TW" dirty="0"/>
              <a:t> </a:t>
            </a:r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hyperbolic and logarithmic functions</a:t>
            </a:r>
            <a:endParaRPr lang="en-US" altLang="zh-TW" dirty="0"/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real and complex multiplications</a:t>
            </a:r>
            <a:endParaRPr lang="en-US" altLang="zh-TW" dirty="0"/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Division</a:t>
            </a:r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square-root</a:t>
            </a:r>
            <a:endParaRPr lang="en-US" altLang="zh-TW" dirty="0"/>
          </a:p>
          <a:p>
            <a:pPr marL="0" lvl="1" indent="0" algn="just" eaLnBrk="1" hangingPunct="1">
              <a:lnSpc>
                <a:spcPts val="2800"/>
              </a:lnSpc>
              <a:spcBef>
                <a:spcPts val="600"/>
              </a:spcBef>
              <a:buClr>
                <a:schemeClr val="tx1"/>
              </a:buClr>
              <a:buNone/>
              <a:defRPr/>
            </a:pPr>
            <a:endParaRPr lang="en-US" altLang="zh-TW" sz="2400" dirty="0">
              <a:solidFill>
                <a:srgbClr val="000000"/>
              </a:solidFill>
            </a:endParaRPr>
          </a:p>
          <a:p>
            <a:pPr eaLnBrk="1" hangingPunct="1">
              <a:buNone/>
              <a:defRPr/>
            </a:pPr>
            <a:endParaRPr lang="en-US" altLang="zh-TW" sz="2400" i="1" dirty="0">
              <a:latin typeface="+mj-lt"/>
            </a:endParaRPr>
          </a:p>
          <a:p>
            <a:pPr lvl="1" algn="just" eaLnBrk="1" hangingPunct="1">
              <a:lnSpc>
                <a:spcPts val="2800"/>
              </a:lnSpc>
              <a:buFont typeface="Wingdings" charset="2"/>
              <a:buChar char="§"/>
              <a:defRPr/>
            </a:pPr>
            <a:endParaRPr lang="en-US" altLang="zh-TW" dirty="0">
              <a:latin typeface="+mj-lt"/>
            </a:endParaRPr>
          </a:p>
          <a:p>
            <a:pPr lvl="1" algn="just" eaLnBrk="1" hangingPunct="1">
              <a:buFont typeface="Wingdings" charset="2"/>
              <a:buNone/>
              <a:defRPr/>
            </a:pPr>
            <a:endParaRPr lang="en-US" altLang="zh-TW" sz="2000" dirty="0">
              <a:solidFill>
                <a:srgbClr val="000000"/>
              </a:solidFill>
              <a:latin typeface="Calibri" pitchFamily="34" charset="0"/>
            </a:endParaRPr>
          </a:p>
          <a:p>
            <a:pPr lvl="1" algn="just" eaLnBrk="1" hangingPunct="1">
              <a:buFont typeface="Wingdings" charset="2"/>
              <a:buChar char="§"/>
              <a:defRPr/>
            </a:pPr>
            <a:endParaRPr lang="en-US" altLang="zh-TW" sz="1600" dirty="0">
              <a:latin typeface="Calibri" pitchFamily="34" charset="0"/>
            </a:endParaRPr>
          </a:p>
          <a:p>
            <a:pPr>
              <a:buFont typeface="Wingdings" charset="2"/>
              <a:buNone/>
              <a:defRPr/>
            </a:pPr>
            <a:endParaRPr lang="zh-TW" altLang="en-US" dirty="0">
              <a:latin typeface="Calibri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673080" y="4097475"/>
            <a:ext cx="4162127" cy="214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kern="0" dirty="0"/>
              <a:t>solution of linear systems</a:t>
            </a:r>
            <a:endParaRPr lang="en-US" altLang="zh-TW" kern="0" dirty="0"/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kern="0" dirty="0"/>
              <a:t>eigenvalue estimation</a:t>
            </a:r>
            <a:endParaRPr lang="en-US" altLang="zh-TW" kern="0" dirty="0"/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kern="0" dirty="0"/>
              <a:t>singular value decomposition</a:t>
            </a:r>
            <a:endParaRPr lang="en-US" altLang="zh-TW" kern="0" dirty="0"/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i="1" kern="0" dirty="0"/>
              <a:t>QR factorization</a:t>
            </a:r>
          </a:p>
          <a:p>
            <a:pPr marL="0" lvl="1" algn="just" eaLnBrk="1" hangingPunct="1">
              <a:lnSpc>
                <a:spcPts val="2800"/>
              </a:lnSpc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TW" kern="0" dirty="0"/>
              <a:t>…</a:t>
            </a:r>
            <a:r>
              <a:rPr lang="en-US" altLang="zh-TW" kern="0" dirty="0" err="1"/>
              <a:t>etc</a:t>
            </a:r>
            <a:endParaRPr lang="en-US" altLang="zh-TW" kern="0" dirty="0"/>
          </a:p>
          <a:p>
            <a:pPr eaLnBrk="1" hangingPunct="1">
              <a:spcBef>
                <a:spcPts val="1800"/>
              </a:spcBef>
              <a:buClr>
                <a:srgbClr val="3333CC"/>
              </a:buClr>
              <a:buFont typeface="Wingdings" charset="2"/>
              <a:buChar char="v"/>
              <a:defRPr/>
            </a:pPr>
            <a:endParaRPr lang="en-US" altLang="zh-TW" sz="2400" kern="0" dirty="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sz="2400" i="1" kern="0" dirty="0">
              <a:latin typeface="+mj-lt"/>
            </a:endParaRPr>
          </a:p>
          <a:p>
            <a:pPr lvl="1" algn="just" eaLnBrk="1" hangingPunct="1">
              <a:lnSpc>
                <a:spcPts val="2800"/>
              </a:lnSpc>
              <a:buFont typeface="Wingdings" charset="2"/>
              <a:buChar char="§"/>
              <a:defRPr/>
            </a:pPr>
            <a:endParaRPr lang="en-US" altLang="zh-TW" kern="0" dirty="0">
              <a:latin typeface="+mj-lt"/>
            </a:endParaRPr>
          </a:p>
          <a:p>
            <a:pPr lvl="1" algn="just" eaLnBrk="1" hangingPunct="1">
              <a:buFont typeface="Wingdings" charset="2"/>
              <a:buNone/>
              <a:defRPr/>
            </a:pPr>
            <a:endParaRPr lang="en-US" altLang="zh-TW" sz="2000" kern="0" dirty="0">
              <a:solidFill>
                <a:srgbClr val="000000"/>
              </a:solidFill>
              <a:latin typeface="Calibri" pitchFamily="34" charset="0"/>
            </a:endParaRPr>
          </a:p>
          <a:p>
            <a:pPr lvl="1" algn="just" eaLnBrk="1" hangingPunct="1">
              <a:buFont typeface="Wingdings" charset="2"/>
              <a:buChar char="§"/>
              <a:defRPr/>
            </a:pPr>
            <a:endParaRPr lang="en-US" altLang="zh-TW" sz="1600" kern="0" dirty="0">
              <a:latin typeface="Calibri" pitchFamily="34" charset="0"/>
            </a:endParaRPr>
          </a:p>
          <a:p>
            <a:pPr>
              <a:buFont typeface="Wingdings" charset="2"/>
              <a:buNone/>
              <a:defRPr/>
            </a:pPr>
            <a:endParaRPr lang="zh-TW" altLang="en-US" kern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27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4617900" y="3332586"/>
            <a:ext cx="3628504" cy="1371600"/>
          </a:xfrm>
          <a:prstGeom prst="rect">
            <a:avLst/>
          </a:prstGeom>
          <a:solidFill>
            <a:srgbClr val="F7FE9A"/>
          </a:solidFill>
          <a:ln w="28575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62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Vector Rotation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grpSp>
        <p:nvGrpSpPr>
          <p:cNvPr id="9" name="Group 26"/>
          <p:cNvGrpSpPr/>
          <p:nvPr/>
        </p:nvGrpSpPr>
        <p:grpSpPr>
          <a:xfrm>
            <a:off x="6433764" y="1143001"/>
            <a:ext cx="2590800" cy="2007587"/>
            <a:chOff x="6248400" y="2971800"/>
            <a:chExt cx="2590800" cy="2286000"/>
          </a:xfrm>
        </p:grpSpPr>
        <p:grpSp>
          <p:nvGrpSpPr>
            <p:cNvPr id="10" name="Group 55"/>
            <p:cNvGrpSpPr>
              <a:grpSpLocks/>
            </p:cNvGrpSpPr>
            <p:nvPr/>
          </p:nvGrpSpPr>
          <p:grpSpPr bwMode="auto">
            <a:xfrm>
              <a:off x="6553200" y="3429000"/>
              <a:ext cx="1600200" cy="1447800"/>
              <a:chOff x="4128" y="2160"/>
              <a:chExt cx="1008" cy="912"/>
            </a:xfrm>
          </p:grpSpPr>
          <p:sp>
            <p:nvSpPr>
              <p:cNvPr id="18" name="Text Box 32"/>
              <p:cNvSpPr txBox="1">
                <a:spLocks noChangeArrowheads="1"/>
              </p:cNvSpPr>
              <p:nvPr/>
            </p:nvSpPr>
            <p:spPr bwMode="auto">
              <a:xfrm>
                <a:off x="4282" y="2698"/>
                <a:ext cx="100" cy="2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>
                    <a:solidFill>
                      <a:schemeClr val="accent2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19" name="Line 40"/>
              <p:cNvSpPr>
                <a:spLocks noChangeShapeType="1"/>
              </p:cNvSpPr>
              <p:nvPr/>
            </p:nvSpPr>
            <p:spPr bwMode="auto">
              <a:xfrm flipV="1">
                <a:off x="4128" y="2304"/>
                <a:ext cx="43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" name="Freeform 43"/>
              <p:cNvSpPr>
                <a:spLocks/>
              </p:cNvSpPr>
              <p:nvPr/>
            </p:nvSpPr>
            <p:spPr bwMode="auto">
              <a:xfrm>
                <a:off x="4337" y="2717"/>
                <a:ext cx="127" cy="163"/>
              </a:xfrm>
              <a:custGeom>
                <a:avLst/>
                <a:gdLst/>
                <a:ahLst/>
                <a:cxnLst>
                  <a:cxn ang="0">
                    <a:pos x="127" y="163"/>
                  </a:cxn>
                  <a:cxn ang="0">
                    <a:pos x="96" y="52"/>
                  </a:cxn>
                  <a:cxn ang="0">
                    <a:pos x="0" y="0"/>
                  </a:cxn>
                </a:cxnLst>
                <a:rect l="0" t="0" r="r" b="b"/>
                <a:pathLst>
                  <a:path w="127" h="163">
                    <a:moveTo>
                      <a:pt x="127" y="163"/>
                    </a:moveTo>
                    <a:cubicBezTo>
                      <a:pt x="122" y="145"/>
                      <a:pt x="117" y="79"/>
                      <a:pt x="96" y="52"/>
                    </a:cubicBezTo>
                    <a:cubicBezTo>
                      <a:pt x="75" y="25"/>
                      <a:pt x="20" y="11"/>
                      <a:pt x="0" y="0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1" name="Text Box 45"/>
              <p:cNvSpPr txBox="1">
                <a:spLocks noChangeArrowheads="1"/>
              </p:cNvSpPr>
              <p:nvPr/>
            </p:nvSpPr>
            <p:spPr bwMode="auto">
              <a:xfrm>
                <a:off x="4611" y="2160"/>
                <a:ext cx="525" cy="2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zh-TW">
                    <a:ea typeface="新細明體" pitchFamily="18" charset="-120"/>
                  </a:rPr>
                  <a:t>(x’,y’)</a:t>
                </a:r>
              </a:p>
            </p:txBody>
          </p:sp>
        </p:grpSp>
        <p:grpSp>
          <p:nvGrpSpPr>
            <p:cNvPr id="11" name="Group 53"/>
            <p:cNvGrpSpPr>
              <a:grpSpLocks/>
            </p:cNvGrpSpPr>
            <p:nvPr/>
          </p:nvGrpSpPr>
          <p:grpSpPr bwMode="auto">
            <a:xfrm>
              <a:off x="6248400" y="2971800"/>
              <a:ext cx="2590800" cy="2286000"/>
              <a:chOff x="3936" y="1872"/>
              <a:chExt cx="1632" cy="1440"/>
            </a:xfrm>
          </p:grpSpPr>
          <p:sp>
            <p:nvSpPr>
              <p:cNvPr id="12" name="Line 27"/>
              <p:cNvSpPr>
                <a:spLocks noChangeShapeType="1"/>
              </p:cNvSpPr>
              <p:nvPr/>
            </p:nvSpPr>
            <p:spPr bwMode="auto">
              <a:xfrm flipV="1">
                <a:off x="3936" y="3072"/>
                <a:ext cx="13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28"/>
              <p:cNvSpPr>
                <a:spLocks noChangeShapeType="1"/>
              </p:cNvSpPr>
              <p:nvPr/>
            </p:nvSpPr>
            <p:spPr bwMode="auto">
              <a:xfrm flipH="1">
                <a:off x="4128" y="2016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Line 29"/>
              <p:cNvSpPr>
                <a:spLocks noChangeShapeType="1"/>
              </p:cNvSpPr>
              <p:nvPr/>
            </p:nvSpPr>
            <p:spPr bwMode="auto">
              <a:xfrm flipV="1">
                <a:off x="4128" y="2640"/>
                <a:ext cx="768" cy="4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5" name="Text Box 37"/>
              <p:cNvSpPr txBox="1">
                <a:spLocks noChangeArrowheads="1"/>
              </p:cNvSpPr>
              <p:nvPr/>
            </p:nvSpPr>
            <p:spPr bwMode="auto">
              <a:xfrm>
                <a:off x="4142" y="1872"/>
                <a:ext cx="236" cy="28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>
                    <a:ea typeface="新細明體" pitchFamily="18" charset="-120"/>
                  </a:rPr>
                  <a:t>Y</a:t>
                </a:r>
              </a:p>
            </p:txBody>
          </p:sp>
          <p:sp>
            <p:nvSpPr>
              <p:cNvPr id="16" name="Text Box 38"/>
              <p:cNvSpPr txBox="1">
                <a:spLocks noChangeArrowheads="1"/>
              </p:cNvSpPr>
              <p:nvPr/>
            </p:nvSpPr>
            <p:spPr bwMode="auto">
              <a:xfrm>
                <a:off x="5332" y="2880"/>
                <a:ext cx="236" cy="28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ea typeface="新細明體" pitchFamily="18" charset="-120"/>
                  </a:rPr>
                  <a:t>X</a:t>
                </a:r>
              </a:p>
            </p:txBody>
          </p:sp>
          <p:sp>
            <p:nvSpPr>
              <p:cNvPr id="17" name="Text Box 44"/>
              <p:cNvSpPr txBox="1">
                <a:spLocks noChangeArrowheads="1"/>
              </p:cNvSpPr>
              <p:nvPr/>
            </p:nvSpPr>
            <p:spPr bwMode="auto">
              <a:xfrm>
                <a:off x="4925" y="2494"/>
                <a:ext cx="403" cy="2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zh-TW">
                    <a:ea typeface="新細明體" pitchFamily="18" charset="-120"/>
                  </a:rPr>
                  <a:t>(x,y)</a:t>
                </a:r>
              </a:p>
            </p:txBody>
          </p:sp>
        </p:grpSp>
      </p:grpSp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825500" y="3490515"/>
          <a:ext cx="33718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name="方程式" r:id="rId3" imgW="45075600" imgH="13804920" progId="Equation.3">
                  <p:embed/>
                </p:oleObj>
              </mc:Choice>
              <mc:Fallback>
                <p:oleObj name="方程式" r:id="rId3" imgW="45075600" imgH="13804920" progId="Equation.3">
                  <p:embed/>
                  <p:pic>
                    <p:nvPicPr>
                      <p:cNvPr id="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3490515"/>
                        <a:ext cx="3371850" cy="1090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4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5300" y="1930388"/>
            <a:ext cx="4274477" cy="960438"/>
          </a:xfrm>
          <a:prstGeom prst="rect">
            <a:avLst/>
          </a:prstGeom>
          <a:noFill/>
        </p:spPr>
      </p:pic>
      <p:graphicFrame>
        <p:nvGraphicFramePr>
          <p:cNvPr id="24" name="Object 7"/>
          <p:cNvGraphicFramePr>
            <a:graphicFrameLocks noChangeAspect="1"/>
          </p:cNvGraphicFramePr>
          <p:nvPr/>
        </p:nvGraphicFramePr>
        <p:xfrm>
          <a:off x="4734172" y="3490504"/>
          <a:ext cx="3395961" cy="103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方程式" r:id="rId6" imgW="1498320" imgH="431640" progId="Equation.3">
                  <p:embed/>
                </p:oleObj>
              </mc:Choice>
              <mc:Fallback>
                <p:oleObj name="方程式" r:id="rId6" imgW="1498320" imgH="431640" progId="Equation.3">
                  <p:embed/>
                  <p:pic>
                    <p:nvPicPr>
                      <p:cNvPr id="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4172" y="3490504"/>
                        <a:ext cx="3395961" cy="10316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"/>
          <p:cNvSpPr>
            <a:spLocks noGrp="1" noChangeArrowheads="1"/>
          </p:cNvSpPr>
          <p:nvPr>
            <p:ph idx="1"/>
          </p:nvPr>
        </p:nvSpPr>
        <p:spPr>
          <a:xfrm>
            <a:off x="272480" y="4789796"/>
            <a:ext cx="5651276" cy="1569362"/>
          </a:xfrm>
        </p:spPr>
        <p:txBody>
          <a:bodyPr/>
          <a:lstStyle/>
          <a:p>
            <a:pPr lvl="1"/>
            <a:r>
              <a:rPr lang="en-US" altLang="zh-TW" sz="2000" b="1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cos(</a:t>
            </a:r>
            <a:r>
              <a:rPr lang="en-US" altLang="zh-TW" sz="2000" b="1" i="1" dirty="0">
                <a:latin typeface="Symbol" pitchFamily="18" charset="2"/>
                <a:ea typeface="新細明體" pitchFamily="18" charset="-120"/>
              </a:rPr>
              <a:t>f</a:t>
            </a:r>
            <a:r>
              <a:rPr lang="en-US" altLang="zh-TW" sz="2000" b="1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en-US" altLang="zh-TW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Reduces the magnitude of the vector</a:t>
            </a:r>
          </a:p>
          <a:p>
            <a:pPr lvl="1"/>
            <a:r>
              <a:rPr lang="en-US" altLang="zh-TW" sz="2000" b="1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tan(</a:t>
            </a:r>
            <a:r>
              <a:rPr lang="en-US" altLang="zh-TW" sz="2000" b="1" i="1" dirty="0">
                <a:latin typeface="Symbol" pitchFamily="18" charset="2"/>
                <a:ea typeface="新細明體" pitchFamily="18" charset="-120"/>
              </a:rPr>
              <a:t>f</a:t>
            </a:r>
            <a:r>
              <a:rPr lang="en-US" altLang="zh-TW" sz="2000" b="1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en-US" altLang="zh-TW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Rotates the vector</a:t>
            </a: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152" y="4692146"/>
            <a:ext cx="3234024" cy="17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9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62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Both of sin(</a:t>
            </a:r>
            <a:r>
              <a:rPr lang="en-US" altLang="zh-TW" sz="2400" i="1" dirty="0">
                <a:latin typeface="Symbol" pitchFamily="18" charset="2"/>
                <a:ea typeface="新細明體" pitchFamily="18" charset="-120"/>
              </a:rPr>
              <a:t>f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) and cos(</a:t>
            </a:r>
            <a:r>
              <a:rPr lang="en-US" altLang="zh-TW" sz="2400" i="1" dirty="0">
                <a:latin typeface="Symbol" pitchFamily="18" charset="2"/>
                <a:ea typeface="新細明體" pitchFamily="18" charset="-120"/>
              </a:rPr>
              <a:t>f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) can be computed using a series of rotations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dirty="0"/>
              <a:t>Break </a:t>
            </a:r>
            <a:r>
              <a:rPr lang="el-GR" altLang="zh-TW" sz="2400" i="1" dirty="0"/>
              <a:t>ϕ</a:t>
            </a:r>
            <a:r>
              <a:rPr lang="en-US" altLang="zh-TW" sz="24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TW" sz="2400" dirty="0"/>
              <a:t>into a series of angles </a:t>
            </a:r>
            <a:r>
              <a:rPr lang="el-GR" altLang="zh-TW" sz="24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400" baseline="30000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TW" sz="2400" baseline="3000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TW" sz="2400" baseline="300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grpSp>
        <p:nvGrpSpPr>
          <p:cNvPr id="28" name="Group 55"/>
          <p:cNvGrpSpPr/>
          <p:nvPr/>
        </p:nvGrpSpPr>
        <p:grpSpPr>
          <a:xfrm>
            <a:off x="776536" y="1614562"/>
            <a:ext cx="8153400" cy="1022350"/>
            <a:chOff x="762000" y="5318125"/>
            <a:chExt cx="8153400" cy="1022350"/>
          </a:xfrm>
        </p:grpSpPr>
        <p:grpSp>
          <p:nvGrpSpPr>
            <p:cNvPr id="29" name="Group 231"/>
            <p:cNvGrpSpPr>
              <a:grpSpLocks/>
            </p:cNvGrpSpPr>
            <p:nvPr/>
          </p:nvGrpSpPr>
          <p:grpSpPr bwMode="auto">
            <a:xfrm>
              <a:off x="3549650" y="5592759"/>
              <a:ext cx="1628643" cy="584199"/>
              <a:chOff x="2064" y="3746"/>
              <a:chExt cx="947" cy="368"/>
            </a:xfrm>
          </p:grpSpPr>
          <p:sp>
            <p:nvSpPr>
              <p:cNvPr id="48" name="Text Box 229"/>
              <p:cNvSpPr txBox="1">
                <a:spLocks noChangeArrowheads="1"/>
              </p:cNvSpPr>
              <p:nvPr/>
            </p:nvSpPr>
            <p:spPr bwMode="auto">
              <a:xfrm>
                <a:off x="2299" y="3746"/>
                <a:ext cx="712" cy="36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3200" b="1" dirty="0">
                    <a:solidFill>
                      <a:schemeClr val="folHlink"/>
                    </a:solidFill>
                    <a:latin typeface="Bradley Hand ITC" pitchFamily="66" charset="0"/>
                    <a:ea typeface="新細明體" pitchFamily="18" charset="-120"/>
                  </a:rPr>
                  <a:t>Shift</a:t>
                </a:r>
              </a:p>
            </p:txBody>
          </p:sp>
          <p:sp>
            <p:nvSpPr>
              <p:cNvPr id="49" name="Line 230"/>
              <p:cNvSpPr>
                <a:spLocks noChangeShapeType="1"/>
              </p:cNvSpPr>
              <p:nvPr/>
            </p:nvSpPr>
            <p:spPr bwMode="auto">
              <a:xfrm flipH="1">
                <a:off x="2064" y="393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30" name="Rectangle 232"/>
            <p:cNvSpPr>
              <a:spLocks noChangeArrowheads="1"/>
            </p:cNvSpPr>
            <p:nvPr/>
          </p:nvSpPr>
          <p:spPr bwMode="auto">
            <a:xfrm>
              <a:off x="3549650" y="5638800"/>
              <a:ext cx="3384550" cy="533400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31" name="Group 31"/>
            <p:cNvGrpSpPr>
              <a:grpSpLocks/>
            </p:cNvGrpSpPr>
            <p:nvPr/>
          </p:nvGrpSpPr>
          <p:grpSpPr bwMode="auto">
            <a:xfrm>
              <a:off x="762000" y="5318125"/>
              <a:ext cx="1371600" cy="1006475"/>
              <a:chOff x="-912" y="2006"/>
              <a:chExt cx="864" cy="634"/>
            </a:xfrm>
          </p:grpSpPr>
          <p:sp>
            <p:nvSpPr>
              <p:cNvPr id="45" name="Text Box 32"/>
              <p:cNvSpPr txBox="1">
                <a:spLocks noChangeArrowheads="1"/>
              </p:cNvSpPr>
              <p:nvPr/>
            </p:nvSpPr>
            <p:spPr bwMode="auto">
              <a:xfrm>
                <a:off x="-732" y="2147"/>
                <a:ext cx="472" cy="4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cos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endParaRPr lang="en-US" altLang="zh-TW" sz="2400" i="1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sin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endParaRPr lang="en-US" altLang="zh-TW" sz="2400" i="1" dirty="0">
                  <a:solidFill>
                    <a:schemeClr val="tx1"/>
                  </a:solidFill>
                  <a:latin typeface="Symbol" pitchFamily="18" charset="2"/>
                  <a:ea typeface="新細明體" pitchFamily="18" charset="-120"/>
                </a:endParaRPr>
              </a:p>
            </p:txBody>
          </p:sp>
          <p:sp>
            <p:nvSpPr>
              <p:cNvPr id="46" name="Text Box 33"/>
              <p:cNvSpPr txBox="1">
                <a:spLocks noChangeArrowheads="1"/>
              </p:cNvSpPr>
              <p:nvPr/>
            </p:nvSpPr>
            <p:spPr bwMode="auto">
              <a:xfrm>
                <a:off x="-912" y="2006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[</a:t>
                </a:r>
                <a:endParaRPr lang="en-US" altLang="zh-TW" sz="6000">
                  <a:latin typeface="Times New Roman" pitchFamily="18" charset="0"/>
                  <a:ea typeface="新細明體" pitchFamily="18" charset="-120"/>
                </a:endParaRPr>
              </a:p>
            </p:txBody>
          </p:sp>
          <p:sp>
            <p:nvSpPr>
              <p:cNvPr id="47" name="Text Box 34"/>
              <p:cNvSpPr txBox="1">
                <a:spLocks noChangeArrowheads="1"/>
              </p:cNvSpPr>
              <p:nvPr/>
            </p:nvSpPr>
            <p:spPr bwMode="auto">
              <a:xfrm>
                <a:off x="-324" y="2006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]</a:t>
                </a:r>
                <a:endParaRPr lang="en-US" altLang="zh-TW" sz="6000">
                  <a:latin typeface="Times New Roman" pitchFamily="18" charset="0"/>
                  <a:ea typeface="新細明體" pitchFamily="18" charset="-120"/>
                </a:endParaRPr>
              </a:p>
            </p:txBody>
          </p:sp>
        </p:grp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8305800" y="5562600"/>
              <a:ext cx="336550" cy="74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TW" sz="2400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1</a:t>
              </a:r>
              <a:endParaRPr lang="en-US" altLang="zh-TW" sz="2400" i="1" dirty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TW" sz="2400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0</a:t>
              </a:r>
              <a:endParaRPr lang="en-US" altLang="zh-TW" sz="2400" i="1" dirty="0">
                <a:solidFill>
                  <a:schemeClr val="tx1"/>
                </a:solidFill>
                <a:latin typeface="Symbol" pitchFamily="18" charset="2"/>
                <a:ea typeface="新細明體" pitchFamily="18" charset="-120"/>
              </a:endParaRP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8020050" y="5334000"/>
              <a:ext cx="43815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60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[</a:t>
              </a:r>
              <a:endParaRPr lang="en-US" altLang="zh-TW" sz="6000">
                <a:latin typeface="Times New Roman" pitchFamily="18" charset="0"/>
                <a:ea typeface="新細明體" pitchFamily="18" charset="-120"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1981200" y="5715000"/>
              <a:ext cx="3286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=</a:t>
              </a:r>
              <a:endParaRPr lang="en-US" altLang="zh-TW" dirty="0">
                <a:latin typeface="Times New Roman" pitchFamily="18" charset="0"/>
                <a:ea typeface="新細明體" pitchFamily="18" charset="-120"/>
              </a:endParaRPr>
            </a:p>
          </p:txBody>
        </p:sp>
        <p:grpSp>
          <p:nvGrpSpPr>
            <p:cNvPr id="35" name="Group 43"/>
            <p:cNvGrpSpPr>
              <a:grpSpLocks/>
            </p:cNvGrpSpPr>
            <p:nvPr/>
          </p:nvGrpSpPr>
          <p:grpSpPr bwMode="auto">
            <a:xfrm>
              <a:off x="5638800" y="5318125"/>
              <a:ext cx="2590800" cy="1006475"/>
              <a:chOff x="-1248" y="2352"/>
              <a:chExt cx="1632" cy="634"/>
            </a:xfrm>
          </p:grpSpPr>
          <p:sp>
            <p:nvSpPr>
              <p:cNvPr id="42" name="Text Box 40"/>
              <p:cNvSpPr txBox="1">
                <a:spLocks noChangeArrowheads="1"/>
              </p:cNvSpPr>
              <p:nvPr/>
            </p:nvSpPr>
            <p:spPr bwMode="auto">
              <a:xfrm>
                <a:off x="-1028" y="2525"/>
                <a:ext cx="1264" cy="4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cos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0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   -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sin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0 </a:t>
                </a:r>
                <a:endParaRPr lang="en-US" altLang="zh-TW" sz="2400" i="1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sin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0 </a:t>
                </a:r>
                <a:r>
                  <a:rPr lang="en-US" altLang="zh-TW" sz="2400" i="1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       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cos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0 </a:t>
                </a:r>
              </a:p>
            </p:txBody>
          </p:sp>
          <p:sp>
            <p:nvSpPr>
              <p:cNvPr id="43" name="Text Box 41"/>
              <p:cNvSpPr txBox="1">
                <a:spLocks noChangeArrowheads="1"/>
              </p:cNvSpPr>
              <p:nvPr/>
            </p:nvSpPr>
            <p:spPr bwMode="auto">
              <a:xfrm>
                <a:off x="-1248" y="2352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[</a:t>
                </a:r>
                <a:endParaRPr lang="en-US" altLang="zh-TW" sz="6000">
                  <a:latin typeface="Times New Roman" pitchFamily="18" charset="0"/>
                  <a:ea typeface="新細明體" pitchFamily="18" charset="-120"/>
                </a:endParaRPr>
              </a:p>
            </p:txBody>
          </p:sp>
          <p:sp>
            <p:nvSpPr>
              <p:cNvPr id="44" name="Text Box 42"/>
              <p:cNvSpPr txBox="1">
                <a:spLocks noChangeArrowheads="1"/>
              </p:cNvSpPr>
              <p:nvPr/>
            </p:nvSpPr>
            <p:spPr bwMode="auto">
              <a:xfrm>
                <a:off x="108" y="2352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]</a:t>
                </a:r>
                <a:endParaRPr lang="en-US" altLang="zh-TW" sz="6000" dirty="0">
                  <a:latin typeface="Times New Roman" pitchFamily="18" charset="0"/>
                  <a:ea typeface="新細明體" pitchFamily="18" charset="-120"/>
                </a:endParaRPr>
              </a:p>
            </p:txBody>
          </p:sp>
        </p:grpSp>
        <p:grpSp>
          <p:nvGrpSpPr>
            <p:cNvPr id="36" name="Group 44"/>
            <p:cNvGrpSpPr>
              <a:grpSpLocks/>
            </p:cNvGrpSpPr>
            <p:nvPr/>
          </p:nvGrpSpPr>
          <p:grpSpPr bwMode="auto">
            <a:xfrm>
              <a:off x="2209800" y="5318125"/>
              <a:ext cx="2590800" cy="1006475"/>
              <a:chOff x="-1248" y="2352"/>
              <a:chExt cx="1632" cy="634"/>
            </a:xfrm>
          </p:grpSpPr>
          <p:sp>
            <p:nvSpPr>
              <p:cNvPr id="39" name="Text Box 45"/>
              <p:cNvSpPr txBox="1">
                <a:spLocks noChangeArrowheads="1"/>
              </p:cNvSpPr>
              <p:nvPr/>
            </p:nvSpPr>
            <p:spPr bwMode="auto">
              <a:xfrm>
                <a:off x="-1068" y="2493"/>
                <a:ext cx="1304" cy="4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cos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m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   - </a:t>
                </a: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sin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m</a:t>
                </a:r>
                <a:endParaRPr lang="en-US" altLang="zh-TW" sz="2400" i="1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sin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m</a:t>
                </a:r>
                <a:r>
                  <a:rPr lang="en-US" altLang="zh-TW" sz="2400" i="1" baseline="-25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         </a:t>
                </a:r>
                <a:r>
                  <a:rPr lang="en-US" altLang="zh-TW" sz="24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cos</a:t>
                </a:r>
                <a:r>
                  <a:rPr lang="en-US" altLang="zh-TW" sz="2400" i="1" dirty="0" err="1">
                    <a:solidFill>
                      <a:schemeClr val="tx1"/>
                    </a:solidFill>
                    <a:latin typeface="Symbol" pitchFamily="18" charset="2"/>
                    <a:ea typeface="新細明體" pitchFamily="18" charset="-120"/>
                  </a:rPr>
                  <a:t>f</a:t>
                </a:r>
                <a:r>
                  <a:rPr lang="en-US" altLang="zh-TW" sz="240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m</a:t>
                </a:r>
                <a:endParaRPr lang="en-US" altLang="zh-TW" sz="2400" i="1" baseline="-25000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endParaRPr>
              </a:p>
            </p:txBody>
          </p:sp>
          <p:sp>
            <p:nvSpPr>
              <p:cNvPr id="40" name="Text Box 46"/>
              <p:cNvSpPr txBox="1">
                <a:spLocks noChangeArrowheads="1"/>
              </p:cNvSpPr>
              <p:nvPr/>
            </p:nvSpPr>
            <p:spPr bwMode="auto">
              <a:xfrm>
                <a:off x="-1248" y="2352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[</a:t>
                </a:r>
                <a:endParaRPr lang="en-US" altLang="zh-TW" sz="6000" dirty="0">
                  <a:latin typeface="Times New Roman" pitchFamily="18" charset="0"/>
                  <a:ea typeface="新細明體" pitchFamily="18" charset="-120"/>
                </a:endParaRPr>
              </a:p>
            </p:txBody>
          </p:sp>
          <p:sp>
            <p:nvSpPr>
              <p:cNvPr id="41" name="Text Box 47"/>
              <p:cNvSpPr txBox="1">
                <a:spLocks noChangeArrowheads="1"/>
              </p:cNvSpPr>
              <p:nvPr/>
            </p:nvSpPr>
            <p:spPr bwMode="auto">
              <a:xfrm>
                <a:off x="108" y="2352"/>
                <a:ext cx="2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sz="6000" dirty="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rPr>
                  <a:t>]</a:t>
                </a:r>
                <a:endParaRPr lang="en-US" altLang="zh-TW" sz="6000" dirty="0">
                  <a:latin typeface="Times New Roman" pitchFamily="18" charset="0"/>
                  <a:ea typeface="新細明體" pitchFamily="18" charset="-120"/>
                </a:endParaRPr>
              </a:p>
            </p:txBody>
          </p:sp>
        </p:grpSp>
        <p:sp>
          <p:nvSpPr>
            <p:cNvPr id="37" name="Text Box 48"/>
            <p:cNvSpPr txBox="1">
              <a:spLocks noChangeArrowheads="1"/>
            </p:cNvSpPr>
            <p:nvPr/>
          </p:nvSpPr>
          <p:spPr bwMode="auto">
            <a:xfrm>
              <a:off x="5029200" y="5715000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>
              <a:off x="8477250" y="5334000"/>
              <a:ext cx="43815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6000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rPr>
                <a:t>]</a:t>
              </a:r>
              <a:endParaRPr lang="en-US" altLang="zh-TW" sz="6000" dirty="0">
                <a:latin typeface="Times New Roman" pitchFamily="18" charset="0"/>
                <a:ea typeface="新細明體" pitchFamily="18" charset="-120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5145261" y="2795166"/>
            <a:ext cx="36663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l-GR" altLang="zh-TW" i="1" dirty="0"/>
              <a:t>ϕ</a:t>
            </a:r>
            <a:r>
              <a:rPr lang="en-US" altLang="zh-TW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 =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a</a:t>
            </a:r>
            <a:r>
              <a:rPr lang="en-US" altLang="zh-TW" sz="900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 </a:t>
            </a:r>
            <a:r>
              <a:rPr lang="en-US" altLang="zh-TW" baseline="30000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(1)</a:t>
            </a:r>
            <a:r>
              <a:rPr lang="en-US" altLang="zh-TW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 +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a</a:t>
            </a:r>
            <a:r>
              <a:rPr lang="en-US" altLang="zh-TW" sz="900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 </a:t>
            </a:r>
            <a:r>
              <a:rPr lang="en-US" altLang="zh-TW" baseline="30000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(2)</a:t>
            </a:r>
            <a:r>
              <a:rPr lang="en-US" altLang="zh-TW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 + . . . +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a</a:t>
            </a:r>
            <a:r>
              <a:rPr lang="en-US" altLang="zh-TW" sz="900" dirty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 </a:t>
            </a:r>
            <a:r>
              <a:rPr lang="en-US" altLang="zh-TW" baseline="30000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(</a:t>
            </a:r>
            <a:r>
              <a:rPr lang="en-US" altLang="zh-TW" i="1" baseline="30000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n</a:t>
            </a:r>
            <a:r>
              <a:rPr lang="en-US" altLang="zh-TW" baseline="30000" dirty="0">
                <a:solidFill>
                  <a:srgbClr val="000000"/>
                </a:solidFill>
                <a:latin typeface="Arial" pitchFamily="34" charset="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752972" y="3509802"/>
            <a:ext cx="5139689" cy="2600199"/>
          </a:xfrm>
          <a:prstGeom prst="rect">
            <a:avLst/>
          </a:prstGeom>
          <a:solidFill>
            <a:srgbClr val="F7FE9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x</a:t>
            </a:r>
            <a:r>
              <a:rPr lang="en-US" altLang="zh-TW" sz="2800" b="1" baseline="300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	= 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cos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l-GR" altLang="zh-TW" sz="28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– 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sin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  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          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= 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cos(</a:t>
            </a:r>
            <a:r>
              <a:rPr lang="el-GR" altLang="zh-TW" sz="2800" b="1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="1" baseline="30000" dirty="0">
                <a:solidFill>
                  <a:srgbClr val="3333FF"/>
                </a:solidFill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)[x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– y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tan </a:t>
            </a:r>
            <a:r>
              <a:rPr lang="el-GR" altLang="zh-TW" sz="2800" b="1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]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="1" baseline="300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= 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cos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+ 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sin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        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= </a:t>
            </a:r>
            <a:r>
              <a:rPr lang="en-US" altLang="zh-TW" sz="2800" b="1" dirty="0">
                <a:solidFill>
                  <a:srgbClr val="3333FF"/>
                </a:solidFill>
                <a:cs typeface="Times New Roman" pitchFamily="18" charset="0"/>
              </a:rPr>
              <a:t>cos(</a:t>
            </a:r>
            <a:r>
              <a:rPr lang="el-GR" altLang="zh-TW" sz="2800" b="1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="1" baseline="30000" dirty="0">
                <a:solidFill>
                  <a:srgbClr val="3333FF"/>
                </a:solidFill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cs typeface="Times New Roman" pitchFamily="18" charset="0"/>
              </a:rPr>
              <a:t>)[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+ x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tan </a:t>
            </a:r>
            <a:r>
              <a:rPr lang="el-GR" altLang="zh-TW" sz="2800" b="1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="1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b="1" dirty="0">
                <a:solidFill>
                  <a:srgbClr val="3333FF"/>
                </a:solidFill>
                <a:cs typeface="Times New Roman" pitchFamily="18" charset="0"/>
              </a:rPr>
              <a:t>]</a:t>
            </a:r>
            <a:endParaRPr lang="en-US" altLang="zh-TW" sz="2800" b="1" dirty="0">
              <a:solidFill>
                <a:srgbClr val="3333FF"/>
              </a:solidFill>
              <a:latin typeface="+mn-lt"/>
              <a:cs typeface="Times New Roman" pitchFamily="18" charset="0"/>
            </a:endParaRPr>
          </a:p>
        </p:txBody>
      </p:sp>
      <p:grpSp>
        <p:nvGrpSpPr>
          <p:cNvPr id="67" name="Group 29"/>
          <p:cNvGrpSpPr>
            <a:grpSpLocks/>
          </p:cNvGrpSpPr>
          <p:nvPr/>
        </p:nvGrpSpPr>
        <p:grpSpPr bwMode="auto">
          <a:xfrm>
            <a:off x="6249144" y="3509802"/>
            <a:ext cx="3406080" cy="2478265"/>
            <a:chOff x="3696" y="2352"/>
            <a:chExt cx="1680" cy="1354"/>
          </a:xfrm>
        </p:grpSpPr>
        <p:sp>
          <p:nvSpPr>
            <p:cNvPr id="68" name="Line 13"/>
            <p:cNvSpPr>
              <a:spLocks noChangeShapeType="1"/>
            </p:cNvSpPr>
            <p:nvPr/>
          </p:nvSpPr>
          <p:spPr bwMode="auto">
            <a:xfrm>
              <a:off x="3696" y="3696"/>
              <a:ext cx="16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9" name="Line 14"/>
            <p:cNvSpPr>
              <a:spLocks noChangeShapeType="1"/>
            </p:cNvSpPr>
            <p:nvPr/>
          </p:nvSpPr>
          <p:spPr bwMode="auto">
            <a:xfrm flipV="1">
              <a:off x="3696" y="2784"/>
              <a:ext cx="1680" cy="9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0" name="Line 15"/>
            <p:cNvSpPr>
              <a:spLocks noChangeShapeType="1"/>
            </p:cNvSpPr>
            <p:nvPr/>
          </p:nvSpPr>
          <p:spPr bwMode="auto">
            <a:xfrm>
              <a:off x="5376" y="278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" name="Line 16"/>
            <p:cNvSpPr>
              <a:spLocks noChangeShapeType="1"/>
            </p:cNvSpPr>
            <p:nvPr/>
          </p:nvSpPr>
          <p:spPr bwMode="auto">
            <a:xfrm flipH="1" flipV="1">
              <a:off x="5088" y="2352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 flipV="1">
              <a:off x="3696" y="2352"/>
              <a:ext cx="1392" cy="13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>
              <a:off x="5088" y="235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4" name="Line 19"/>
            <p:cNvSpPr>
              <a:spLocks noChangeShapeType="1"/>
            </p:cNvSpPr>
            <p:nvPr/>
          </p:nvSpPr>
          <p:spPr bwMode="auto">
            <a:xfrm flipV="1">
              <a:off x="3696" y="2592"/>
              <a:ext cx="1632" cy="1104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5" name="Line 20"/>
            <p:cNvSpPr>
              <a:spLocks noChangeShapeType="1"/>
            </p:cNvSpPr>
            <p:nvPr/>
          </p:nvSpPr>
          <p:spPr bwMode="auto">
            <a:xfrm flipH="1" flipV="1">
              <a:off x="4059" y="3504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6" name="Line 21"/>
            <p:cNvSpPr>
              <a:spLocks noChangeShapeType="1"/>
            </p:cNvSpPr>
            <p:nvPr/>
          </p:nvSpPr>
          <p:spPr bwMode="auto">
            <a:xfrm flipH="1" flipV="1">
              <a:off x="4272" y="312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7" name="Line 22"/>
            <p:cNvSpPr>
              <a:spLocks noChangeShapeType="1"/>
            </p:cNvSpPr>
            <p:nvPr/>
          </p:nvSpPr>
          <p:spPr bwMode="auto">
            <a:xfrm>
              <a:off x="4608" y="283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8" name="Text Box 23"/>
            <p:cNvSpPr txBox="1">
              <a:spLocks noChangeArrowheads="1"/>
            </p:cNvSpPr>
            <p:nvPr/>
          </p:nvSpPr>
          <p:spPr bwMode="auto">
            <a:xfrm>
              <a:off x="4080" y="3456"/>
              <a:ext cx="3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2000">
                  <a:solidFill>
                    <a:srgbClr val="000000"/>
                  </a:solidFill>
                  <a:latin typeface="Symbol" pitchFamily="18" charset="2"/>
                  <a:ea typeface="Times New Roman" pitchFamily="18" charset="0"/>
                  <a:cs typeface="Arial" pitchFamily="34" charset="0"/>
                </a:rPr>
                <a:t>a</a:t>
              </a:r>
              <a:r>
                <a:rPr lang="en-US" altLang="zh-TW" sz="2000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  <a:cs typeface="Times New Roman" pitchFamily="18" charset="0"/>
                </a:rPr>
                <a:t>(1)</a:t>
              </a:r>
              <a:endParaRPr lang="en-US" altLang="zh-TW" sz="20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Times New Roman" pitchFamily="18" charset="0"/>
              </a:endParaRPr>
            </a:p>
          </p:txBody>
        </p:sp>
        <p:sp>
          <p:nvSpPr>
            <p:cNvPr id="79" name="Text Box 24"/>
            <p:cNvSpPr txBox="1">
              <a:spLocks noChangeArrowheads="1"/>
            </p:cNvSpPr>
            <p:nvPr/>
          </p:nvSpPr>
          <p:spPr bwMode="auto">
            <a:xfrm>
              <a:off x="4272" y="2976"/>
              <a:ext cx="3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2000">
                  <a:solidFill>
                    <a:srgbClr val="000000"/>
                  </a:solidFill>
                  <a:latin typeface="Symbol" pitchFamily="18" charset="2"/>
                  <a:ea typeface="Times New Roman" pitchFamily="18" charset="0"/>
                  <a:cs typeface="Arial" pitchFamily="34" charset="0"/>
                </a:rPr>
                <a:t>a</a:t>
              </a:r>
              <a:r>
                <a:rPr lang="en-US" altLang="zh-TW" sz="2000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  <a:cs typeface="Times New Roman" pitchFamily="18" charset="0"/>
                </a:rPr>
                <a:t>(2)</a:t>
              </a:r>
              <a:endParaRPr lang="en-US" altLang="zh-TW" sz="20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Times New Roman" pitchFamily="18" charset="0"/>
              </a:endParaRPr>
            </a:p>
          </p:txBody>
        </p:sp>
        <p:sp>
          <p:nvSpPr>
            <p:cNvPr id="80" name="Text Box 25"/>
            <p:cNvSpPr txBox="1">
              <a:spLocks noChangeArrowheads="1"/>
            </p:cNvSpPr>
            <p:nvPr/>
          </p:nvSpPr>
          <p:spPr bwMode="auto">
            <a:xfrm>
              <a:off x="4608" y="2688"/>
              <a:ext cx="3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2000">
                  <a:solidFill>
                    <a:srgbClr val="000000"/>
                  </a:solidFill>
                  <a:latin typeface="Symbol" pitchFamily="18" charset="2"/>
                  <a:ea typeface="Times New Roman" pitchFamily="18" charset="0"/>
                  <a:cs typeface="Arial" pitchFamily="34" charset="0"/>
                </a:rPr>
                <a:t>a</a:t>
              </a:r>
              <a:r>
                <a:rPr lang="en-US" altLang="zh-TW" sz="2000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  <a:cs typeface="Times New Roman" pitchFamily="18" charset="0"/>
                </a:rPr>
                <a:t>(3)</a:t>
              </a:r>
              <a:endParaRPr lang="en-US" altLang="zh-TW" sz="20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0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How to choose </a:t>
            </a:r>
            <a:r>
              <a:rPr lang="en-US" altLang="zh-TW" sz="2400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a</a:t>
            </a:r>
            <a:r>
              <a:rPr lang="en-US" altLang="zh-TW" sz="900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lang="en-US" altLang="zh-TW" sz="2400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(</a:t>
            </a:r>
            <a:r>
              <a:rPr lang="en-US" altLang="zh-TW" sz="2400" baseline="30000" dirty="0" err="1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i</a:t>
            </a:r>
            <a:r>
              <a:rPr lang="en-US" altLang="zh-TW" sz="2400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)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  ?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dirty="0"/>
              <a:t>How about this….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/>
              <a:t>Choose </a:t>
            </a:r>
            <a:r>
              <a:rPr lang="en-US" altLang="zh-TW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a</a:t>
            </a:r>
            <a:r>
              <a:rPr lang="en-US" altLang="zh-TW" sz="900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lang="en-US" altLang="zh-TW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(</a:t>
            </a:r>
            <a:r>
              <a:rPr lang="en-US" altLang="zh-TW" baseline="30000" dirty="0" err="1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i</a:t>
            </a:r>
            <a:r>
              <a:rPr lang="en-US" altLang="zh-TW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such that</a:t>
            </a:r>
            <a:r>
              <a:rPr lang="en-US" altLang="zh-TW" dirty="0"/>
              <a:t>  </a:t>
            </a:r>
            <a:r>
              <a:rPr lang="en-US" altLang="zh-TW" b="1" dirty="0">
                <a:solidFill>
                  <a:srgbClr val="3333FF"/>
                </a:solidFill>
              </a:rPr>
              <a:t>tan(</a:t>
            </a:r>
            <a:r>
              <a:rPr lang="el-GR" altLang="zh-TW" b="1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b="1" baseline="30000" dirty="0">
                <a:solidFill>
                  <a:srgbClr val="3333FF"/>
                </a:solidFill>
                <a:cs typeface="Times New Roman" pitchFamily="18" charset="0"/>
              </a:rPr>
              <a:t>(</a:t>
            </a:r>
            <a:r>
              <a:rPr lang="en-US" altLang="zh-TW" b="1" baseline="30000" dirty="0" err="1">
                <a:solidFill>
                  <a:srgbClr val="3333FF"/>
                </a:solidFill>
                <a:cs typeface="Times New Roman" pitchFamily="18" charset="0"/>
              </a:rPr>
              <a:t>i</a:t>
            </a:r>
            <a:r>
              <a:rPr lang="en-US" altLang="zh-TW" b="1" baseline="30000" dirty="0">
                <a:solidFill>
                  <a:srgbClr val="3333FF"/>
                </a:solidFill>
                <a:cs typeface="Times New Roman" pitchFamily="18" charset="0"/>
              </a:rPr>
              <a:t>)</a:t>
            </a:r>
            <a:r>
              <a:rPr lang="en-US" altLang="zh-TW" b="1" dirty="0">
                <a:solidFill>
                  <a:srgbClr val="3333FF"/>
                </a:solidFill>
              </a:rPr>
              <a:t>) = 2</a:t>
            </a:r>
            <a:r>
              <a:rPr lang="en-US" altLang="zh-TW" b="1" baseline="30000" dirty="0">
                <a:solidFill>
                  <a:srgbClr val="3333FF"/>
                </a:solidFill>
              </a:rPr>
              <a:t>-i</a:t>
            </a:r>
            <a:r>
              <a:rPr lang="en-US" altLang="zh-TW" b="1" dirty="0">
                <a:solidFill>
                  <a:srgbClr val="3333FF"/>
                </a:solidFill>
              </a:rPr>
              <a:t> </a:t>
            </a:r>
            <a:r>
              <a:rPr lang="en-US" altLang="zh-TW" kern="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en-US" altLang="zh-TW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a</a:t>
            </a:r>
            <a:r>
              <a:rPr lang="en-US" altLang="zh-TW" sz="1000" dirty="0">
                <a:solidFill>
                  <a:srgbClr val="FF0000"/>
                </a:solidFill>
                <a:latin typeface="Symbol" pitchFamily="18" charset="2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lang="en-US" altLang="zh-TW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(</a:t>
            </a:r>
            <a:r>
              <a:rPr lang="en-US" altLang="zh-TW" baseline="30000" dirty="0" err="1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i</a:t>
            </a:r>
            <a:r>
              <a:rPr lang="en-US" altLang="zh-TW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 = tan</a:t>
            </a:r>
            <a:r>
              <a:rPr lang="en-US" altLang="zh-TW" baseline="30000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-1</a:t>
            </a:r>
            <a:r>
              <a:rPr lang="en-US" altLang="zh-TW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(</a:t>
            </a:r>
            <a:r>
              <a:rPr lang="en-US" altLang="zh-TW" b="1" dirty="0">
                <a:solidFill>
                  <a:srgbClr val="FF0000"/>
                </a:solidFill>
              </a:rPr>
              <a:t>2</a:t>
            </a:r>
            <a:r>
              <a:rPr lang="en-US" altLang="zh-TW" b="1" baseline="30000" dirty="0">
                <a:solidFill>
                  <a:srgbClr val="FF0000"/>
                </a:solidFill>
              </a:rPr>
              <a:t>-i</a:t>
            </a:r>
            <a:r>
              <a:rPr lang="en-US" altLang="zh-TW" dirty="0">
                <a:solidFill>
                  <a:srgbClr val="FF0000"/>
                </a:solidFill>
                <a:latin typeface="Arial" pitchFamily="34" charset="0"/>
                <a:ea typeface="新細明體" panose="02020500000000000000" pitchFamily="18" charset="-120"/>
                <a:cs typeface="Times New Roman" pitchFamily="18" charset="0"/>
              </a:rPr>
              <a:t>)</a:t>
            </a:r>
            <a:endParaRPr lang="en-US" altLang="zh-TW" b="1" baseline="30000" dirty="0">
              <a:solidFill>
                <a:srgbClr val="3333FF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Multiplication can be realized by shift-and-add.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752972" y="3509802"/>
            <a:ext cx="5139689" cy="2677656"/>
          </a:xfrm>
          <a:prstGeom prst="rect">
            <a:avLst/>
          </a:prstGeom>
          <a:solidFill>
            <a:srgbClr val="F7FE9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x</a:t>
            </a:r>
            <a:r>
              <a:rPr lang="en-US" altLang="zh-TW" sz="2800" b="1" baseline="300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	= 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cos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l-GR" altLang="zh-TW" sz="28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– 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sin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  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          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= 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cos(</a:t>
            </a:r>
            <a:r>
              <a:rPr lang="el-GR" altLang="zh-TW" sz="2800" dirty="0"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cs typeface="Times New Roman" pitchFamily="18" charset="0"/>
              </a:rPr>
              <a:t>i</a:t>
            </a:r>
            <a:r>
              <a:rPr lang="en-US" altLang="zh-TW" sz="2800" baseline="30000" dirty="0">
                <a:cs typeface="Times New Roman" pitchFamily="18" charset="0"/>
              </a:rPr>
              <a:t>)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)[x</a:t>
            </a:r>
            <a:r>
              <a:rPr lang="en-US" altLang="zh-TW" sz="2800" baseline="30000" dirty="0"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 – </a:t>
            </a:r>
            <a:r>
              <a:rPr lang="en-US" altLang="zh-TW" sz="28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tan </a:t>
            </a:r>
            <a:r>
              <a:rPr lang="el-GR" altLang="zh-TW" sz="2800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] 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="1" baseline="300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= 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cos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+ 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sin </a:t>
            </a:r>
            <a:r>
              <a:rPr lang="el-GR" altLang="zh-TW" sz="28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           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= </a:t>
            </a:r>
            <a:r>
              <a:rPr lang="en-US" altLang="zh-TW" sz="2800" dirty="0">
                <a:cs typeface="Times New Roman" pitchFamily="18" charset="0"/>
              </a:rPr>
              <a:t>cos(</a:t>
            </a:r>
            <a:r>
              <a:rPr lang="el-GR" altLang="zh-TW" sz="2800" dirty="0"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cs typeface="Times New Roman" pitchFamily="18" charset="0"/>
              </a:rPr>
              <a:t>i</a:t>
            </a:r>
            <a:r>
              <a:rPr lang="en-US" altLang="zh-TW" sz="2800" baseline="30000" dirty="0">
                <a:cs typeface="Times New Roman" pitchFamily="18" charset="0"/>
              </a:rPr>
              <a:t>)</a:t>
            </a:r>
            <a:r>
              <a:rPr lang="en-US" altLang="zh-TW" sz="2800" dirty="0">
                <a:cs typeface="Times New Roman" pitchFamily="18" charset="0"/>
              </a:rPr>
              <a:t>)[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y</a:t>
            </a:r>
            <a:r>
              <a:rPr lang="en-US" altLang="zh-TW" sz="2800" baseline="30000" dirty="0"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latin typeface="+mn-lt"/>
                <a:cs typeface="Times New Roman" pitchFamily="18" charset="0"/>
              </a:rPr>
              <a:t> + </a:t>
            </a:r>
            <a:r>
              <a:rPr lang="en-US" altLang="zh-TW" sz="28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x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 tan </a:t>
            </a:r>
            <a:r>
              <a:rPr lang="el-GR" altLang="zh-TW" sz="2800" dirty="0">
                <a:solidFill>
                  <a:srgbClr val="3333FF"/>
                </a:solidFill>
                <a:ea typeface="Times New Roman" pitchFamily="18" charset="0"/>
                <a:cs typeface="Arial" pitchFamily="34" charset="0"/>
              </a:rPr>
              <a:t>α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cs typeface="Times New Roman" pitchFamily="18" charset="0"/>
              </a:rPr>
              <a:t>]</a:t>
            </a:r>
            <a:endParaRPr lang="en-US" altLang="zh-TW" sz="2800" dirty="0">
              <a:latin typeface="+mn-lt"/>
              <a:cs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t="2580" r="16806"/>
          <a:stretch/>
        </p:blipFill>
        <p:spPr>
          <a:xfrm>
            <a:off x="5985993" y="3356992"/>
            <a:ext cx="3770218" cy="29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9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An example of </a:t>
            </a:r>
            <a:r>
              <a:rPr lang="en-US" altLang="zh-TW" sz="2500" i="1" kern="0" dirty="0">
                <a:solidFill>
                  <a:srgbClr val="000000"/>
                </a:solidFill>
                <a:latin typeface="Symbol" pitchFamily="18" charset="2"/>
                <a:ea typeface="新細明體" pitchFamily="18" charset="-120"/>
              </a:rPr>
              <a:t>f</a:t>
            </a:r>
            <a:r>
              <a:rPr lang="en-US" altLang="zh-TW" sz="2500" kern="0" dirty="0">
                <a:solidFill>
                  <a:srgbClr val="000000"/>
                </a:solidFill>
                <a:ea typeface="新細明體" pitchFamily="18" charset="-120"/>
              </a:rPr>
              <a:t>=</a:t>
            </a:r>
            <a:r>
              <a:rPr lang="en-US" altLang="zh-TW" sz="2500" kern="0" dirty="0">
                <a:ea typeface="新細明體" pitchFamily="18" charset="-120"/>
              </a:rPr>
              <a:t>30.0</a:t>
            </a:r>
            <a:r>
              <a:rPr lang="en-US" altLang="zh-TW" sz="2500" kern="0" dirty="0">
                <a:ea typeface="新細明體" pitchFamily="18" charset="-120"/>
                <a:cs typeface="Tahoma" pitchFamily="34" charset="0"/>
              </a:rPr>
              <a:t>°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Start with </a:t>
            </a:r>
            <a:r>
              <a:rPr lang="en-US" altLang="zh-TW" dirty="0">
                <a:latin typeface="Symbol" pitchFamily="18" charset="2"/>
                <a:ea typeface="新細明體" pitchFamily="18" charset="-120"/>
              </a:rPr>
              <a:t>a</a:t>
            </a:r>
            <a:r>
              <a:rPr lang="en-US" altLang="zh-TW" baseline="30000" dirty="0">
                <a:ea typeface="新細明體" pitchFamily="18" charset="-120"/>
              </a:rPr>
              <a:t>(0)</a:t>
            </a:r>
            <a:r>
              <a:rPr lang="en-US" altLang="zh-TW" baseline="-25000" dirty="0"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= </a:t>
            </a:r>
            <a:r>
              <a:rPr lang="en-US" altLang="zh-TW" b="1" dirty="0">
                <a:ea typeface="新細明體" pitchFamily="18" charset="-120"/>
              </a:rPr>
              <a:t>45.0</a:t>
            </a:r>
            <a:r>
              <a:rPr lang="en-US" altLang="zh-TW" dirty="0">
                <a:ea typeface="新細明體" pitchFamily="18" charset="-120"/>
              </a:rPr>
              <a:t>	(</a:t>
            </a:r>
            <a:r>
              <a:rPr lang="en-US" altLang="zh-TW" dirty="0">
                <a:solidFill>
                  <a:schemeClr val="accent2"/>
                </a:solidFill>
                <a:ea typeface="新細明體" pitchFamily="18" charset="-120"/>
              </a:rPr>
              <a:t>&gt;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</a:rPr>
              <a:t>30.0</a:t>
            </a:r>
            <a:r>
              <a:rPr lang="en-US" altLang="zh-TW" dirty="0">
                <a:ea typeface="新細明體" pitchFamily="18" charset="-120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45.0 </a:t>
            </a:r>
            <a:r>
              <a:rPr lang="en-US" altLang="zh-TW" dirty="0">
                <a:solidFill>
                  <a:schemeClr val="accent2"/>
                </a:solidFill>
                <a:ea typeface="新細明體" pitchFamily="18" charset="-120"/>
                <a:sym typeface="Wingdings" pitchFamily="2" charset="2"/>
              </a:rPr>
              <a:t>–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b="1" dirty="0">
                <a:ea typeface="新細明體" pitchFamily="18" charset="-120"/>
                <a:sym typeface="Wingdings" pitchFamily="2" charset="2"/>
              </a:rPr>
              <a:t>26.6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= </a:t>
            </a:r>
            <a:r>
              <a:rPr lang="en-US" altLang="zh-TW" dirty="0">
                <a:solidFill>
                  <a:schemeClr val="accent2"/>
                </a:solidFill>
                <a:ea typeface="新細明體" pitchFamily="18" charset="-120"/>
                <a:sym typeface="Wingdings" pitchFamily="2" charset="2"/>
              </a:rPr>
              <a:t>18.4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	(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  <a:sym typeface="Wingdings" pitchFamily="2" charset="2"/>
              </a:rPr>
              <a:t>&lt;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  <a:sym typeface="Wingdings" pitchFamily="2" charset="2"/>
              </a:rPr>
              <a:t>30.0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18.4 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  <a:sym typeface="Wingdings" pitchFamily="2" charset="2"/>
              </a:rPr>
              <a:t>+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b="1" dirty="0">
                <a:ea typeface="新細明體" pitchFamily="18" charset="-120"/>
                <a:sym typeface="Wingdings" pitchFamily="2" charset="2"/>
              </a:rPr>
              <a:t>14.0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=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  <a:sym typeface="Wingdings" pitchFamily="2" charset="2"/>
              </a:rPr>
              <a:t>32.4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	(</a:t>
            </a:r>
            <a:r>
              <a:rPr lang="en-US" altLang="zh-TW" dirty="0">
                <a:solidFill>
                  <a:schemeClr val="tx2"/>
                </a:solidFill>
                <a:ea typeface="新細明體" pitchFamily="18" charset="-120"/>
                <a:sym typeface="Wingdings" pitchFamily="2" charset="2"/>
              </a:rPr>
              <a:t>&gt;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  <a:sym typeface="Wingdings" pitchFamily="2" charset="2"/>
              </a:rPr>
              <a:t>30.0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32.4 </a:t>
            </a:r>
            <a:r>
              <a:rPr lang="en-US" altLang="zh-TW" dirty="0">
                <a:solidFill>
                  <a:schemeClr val="tx2"/>
                </a:solidFill>
                <a:ea typeface="新細明體" pitchFamily="18" charset="-120"/>
                <a:sym typeface="Wingdings" pitchFamily="2" charset="2"/>
              </a:rPr>
              <a:t>–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b="1" dirty="0">
                <a:ea typeface="新細明體" pitchFamily="18" charset="-120"/>
                <a:sym typeface="Wingdings" pitchFamily="2" charset="2"/>
              </a:rPr>
              <a:t>7.1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= </a:t>
            </a:r>
            <a:r>
              <a:rPr lang="en-US" altLang="zh-TW" dirty="0">
                <a:solidFill>
                  <a:srgbClr val="00B050"/>
                </a:solidFill>
                <a:ea typeface="新細明體" pitchFamily="18" charset="-120"/>
                <a:sym typeface="Wingdings" pitchFamily="2" charset="2"/>
              </a:rPr>
              <a:t>25.3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	(&lt;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  <a:sym typeface="Wingdings" pitchFamily="2" charset="2"/>
              </a:rPr>
              <a:t>30.0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25.3 + </a:t>
            </a:r>
            <a:r>
              <a:rPr lang="en-US" altLang="zh-TW" b="1" dirty="0">
                <a:ea typeface="新細明體" pitchFamily="18" charset="-120"/>
                <a:sym typeface="Wingdings" pitchFamily="2" charset="2"/>
              </a:rPr>
              <a:t>3.6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= 28.9	(</a:t>
            </a:r>
            <a:r>
              <a:rPr lang="en-US" altLang="zh-TW" dirty="0">
                <a:solidFill>
                  <a:schemeClr val="accent2"/>
                </a:solidFill>
                <a:ea typeface="新細明體" pitchFamily="18" charset="-120"/>
                <a:sym typeface="Wingdings" pitchFamily="2" charset="2"/>
              </a:rPr>
              <a:t>&lt;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  <a:sym typeface="Wingdings" pitchFamily="2" charset="2"/>
              </a:rPr>
              <a:t>30.0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28.9 </a:t>
            </a:r>
            <a:r>
              <a:rPr lang="en-US" altLang="zh-TW" dirty="0">
                <a:solidFill>
                  <a:schemeClr val="accent2"/>
                </a:solidFill>
                <a:ea typeface="新細明體" pitchFamily="18" charset="-120"/>
                <a:sym typeface="Wingdings" pitchFamily="2" charset="2"/>
              </a:rPr>
              <a:t>+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b="1" dirty="0">
                <a:ea typeface="新細明體" pitchFamily="18" charset="-120"/>
                <a:sym typeface="Wingdings" pitchFamily="2" charset="2"/>
              </a:rPr>
              <a:t>1.8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= 30.7	(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  <a:sym typeface="Wingdings" pitchFamily="2" charset="2"/>
              </a:rPr>
              <a:t>&gt;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dirty="0">
                <a:solidFill>
                  <a:schemeClr val="bg2"/>
                </a:solidFill>
                <a:ea typeface="新細明體" pitchFamily="18" charset="-120"/>
                <a:sym typeface="Wingdings" pitchFamily="2" charset="2"/>
              </a:rPr>
              <a:t>30.0</a:t>
            </a:r>
            <a:r>
              <a:rPr lang="en-US" altLang="zh-TW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  <a:sym typeface="Wingdings" pitchFamily="2" charset="2"/>
              </a:rPr>
              <a:t> . . .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848544" y="4797152"/>
            <a:ext cx="6112140" cy="15696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algn="l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zh-TW" dirty="0">
                <a:latin typeface="Symbol" pitchFamily="18" charset="2"/>
                <a:ea typeface="新細明體" pitchFamily="18" charset="-120"/>
              </a:rPr>
              <a:t> f</a:t>
            </a:r>
            <a:r>
              <a:rPr lang="en-US" altLang="zh-TW" dirty="0">
                <a:latin typeface="Tahoma" pitchFamily="34" charset="0"/>
                <a:ea typeface="新細明體" pitchFamily="18" charset="-120"/>
              </a:rPr>
              <a:t> = 30.0 </a:t>
            </a:r>
            <a:br>
              <a:rPr lang="en-US" altLang="zh-TW" dirty="0">
                <a:latin typeface="Tahoma" pitchFamily="34" charset="0"/>
                <a:ea typeface="新細明體" pitchFamily="18" charset="-120"/>
              </a:rPr>
            </a:br>
            <a:r>
              <a:rPr lang="en-US" altLang="zh-TW" dirty="0">
                <a:latin typeface="Tahoma" pitchFamily="34" charset="0"/>
                <a:ea typeface="新細明體" pitchFamily="18" charset="-120"/>
              </a:rPr>
              <a:t>     </a:t>
            </a:r>
            <a:r>
              <a:rPr lang="en-US" altLang="zh-TW" dirty="0">
                <a:latin typeface="Tahoma" pitchFamily="34" charset="0"/>
                <a:ea typeface="新細明體" pitchFamily="18" charset="-120"/>
                <a:sym typeface="Symbol" pitchFamily="18" charset="2"/>
              </a:rPr>
              <a:t> </a:t>
            </a:r>
            <a:r>
              <a:rPr lang="en-US" altLang="zh-TW" dirty="0">
                <a:latin typeface="Tahoma" pitchFamily="34" charset="0"/>
                <a:ea typeface="新細明體" pitchFamily="18" charset="-120"/>
              </a:rPr>
              <a:t> 45.0 – 26.6 + 14.0 – 7.1 + 3.6</a:t>
            </a:r>
            <a:br>
              <a:rPr lang="en-US" altLang="zh-TW" dirty="0">
                <a:latin typeface="Tahoma" pitchFamily="34" charset="0"/>
                <a:ea typeface="新細明體" pitchFamily="18" charset="-120"/>
              </a:rPr>
            </a:br>
            <a:r>
              <a:rPr lang="en-US" altLang="zh-TW" dirty="0">
                <a:latin typeface="Tahoma" pitchFamily="34" charset="0"/>
                <a:ea typeface="新細明體" pitchFamily="18" charset="-120"/>
              </a:rPr>
              <a:t>        + 1.8 – 0.9 + 0.4 – 0.2 + 0.1</a:t>
            </a:r>
            <a:br>
              <a:rPr lang="en-US" altLang="zh-TW" dirty="0">
                <a:latin typeface="Tahoma" pitchFamily="34" charset="0"/>
                <a:ea typeface="新細明體" pitchFamily="18" charset="-120"/>
              </a:rPr>
            </a:br>
            <a:r>
              <a:rPr lang="en-US" altLang="zh-TW" dirty="0">
                <a:latin typeface="Tahoma" pitchFamily="34" charset="0"/>
                <a:ea typeface="新細明體" pitchFamily="18" charset="-120"/>
              </a:rPr>
              <a:t>     = 30.1</a:t>
            </a:r>
            <a:endParaRPr lang="en-US" altLang="zh-TW" dirty="0">
              <a:ea typeface="新細明體" pitchFamily="18" charset="-120"/>
            </a:endParaRPr>
          </a:p>
        </p:txBody>
      </p:sp>
      <p:grpSp>
        <p:nvGrpSpPr>
          <p:cNvPr id="15" name="Group 32"/>
          <p:cNvGrpSpPr>
            <a:grpSpLocks/>
          </p:cNvGrpSpPr>
          <p:nvPr/>
        </p:nvGrpSpPr>
        <p:grpSpPr bwMode="auto">
          <a:xfrm>
            <a:off x="5889104" y="1444352"/>
            <a:ext cx="3752585" cy="3352800"/>
            <a:chOff x="3504" y="624"/>
            <a:chExt cx="2182" cy="2112"/>
          </a:xfrm>
        </p:grpSpPr>
        <p:sp>
          <p:nvSpPr>
            <p:cNvPr id="16" name="Line 5"/>
            <p:cNvSpPr>
              <a:spLocks noChangeShapeType="1"/>
            </p:cNvSpPr>
            <p:nvPr/>
          </p:nvSpPr>
          <p:spPr bwMode="auto">
            <a:xfrm flipH="1">
              <a:off x="3792" y="720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3504" y="2448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rot="-1800000">
              <a:off x="3667" y="1974"/>
              <a:ext cx="187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5450" y="2446"/>
              <a:ext cx="236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dirty="0">
                  <a:ea typeface="新細明體" pitchFamily="18" charset="-120"/>
                </a:rPr>
                <a:t>X</a:t>
              </a:r>
            </a:p>
          </p:txBody>
        </p:sp>
        <p:sp>
          <p:nvSpPr>
            <p:cNvPr id="20" name="Text Box 28"/>
            <p:cNvSpPr txBox="1">
              <a:spLocks noChangeArrowheads="1"/>
            </p:cNvSpPr>
            <p:nvPr/>
          </p:nvSpPr>
          <p:spPr bwMode="auto">
            <a:xfrm>
              <a:off x="3818" y="624"/>
              <a:ext cx="236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Y</a:t>
              </a:r>
            </a:p>
          </p:txBody>
        </p:sp>
        <p:sp>
          <p:nvSpPr>
            <p:cNvPr id="21" name="Text Box 30"/>
            <p:cNvSpPr txBox="1">
              <a:spLocks noChangeArrowheads="1"/>
            </p:cNvSpPr>
            <p:nvPr/>
          </p:nvSpPr>
          <p:spPr bwMode="auto">
            <a:xfrm>
              <a:off x="5349" y="1344"/>
              <a:ext cx="330" cy="2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solidFill>
                    <a:schemeClr val="bg2"/>
                  </a:solidFill>
                  <a:ea typeface="新細明體" pitchFamily="18" charset="-120"/>
                </a:rPr>
                <a:t>30</a:t>
              </a:r>
              <a:r>
                <a:rPr lang="en-US" altLang="zh-TW">
                  <a:solidFill>
                    <a:schemeClr val="bg2"/>
                  </a:solidFill>
                  <a:ea typeface="新細明體" pitchFamily="18" charset="-120"/>
                  <a:cs typeface="Lucida Sans Unicode" pitchFamily="34" charset="0"/>
                </a:rPr>
                <a:t>°</a:t>
              </a:r>
              <a:endParaRPr lang="en-US" altLang="zh-TW">
                <a:solidFill>
                  <a:schemeClr val="bg2"/>
                </a:solidFill>
                <a:ea typeface="新細明體" pitchFamily="18" charset="-120"/>
              </a:endParaRPr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5911463" y="3287441"/>
            <a:ext cx="3219449" cy="1049338"/>
            <a:chOff x="3517" y="1785"/>
            <a:chExt cx="1872" cy="661"/>
          </a:xfrm>
        </p:grpSpPr>
        <p:sp>
          <p:nvSpPr>
            <p:cNvPr id="23" name="Line 11"/>
            <p:cNvSpPr>
              <a:spLocks noChangeShapeType="1"/>
            </p:cNvSpPr>
            <p:nvPr/>
          </p:nvSpPr>
          <p:spPr bwMode="auto">
            <a:xfrm rot="-2700000">
              <a:off x="3517" y="1785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4320" y="1920"/>
              <a:ext cx="250" cy="526"/>
            </a:xfrm>
            <a:custGeom>
              <a:avLst/>
              <a:gdLst>
                <a:gd name="T0" fmla="*/ 249 w 250"/>
                <a:gd name="T1" fmla="*/ 526 h 526"/>
                <a:gd name="T2" fmla="*/ 209 w 250"/>
                <a:gd name="T3" fmla="*/ 187 h 526"/>
                <a:gd name="T4" fmla="*/ 0 w 250"/>
                <a:gd name="T5" fmla="*/ 0 h 526"/>
                <a:gd name="T6" fmla="*/ 0 60000 65536"/>
                <a:gd name="T7" fmla="*/ 0 60000 65536"/>
                <a:gd name="T8" fmla="*/ 0 60000 65536"/>
                <a:gd name="T9" fmla="*/ 0 w 250"/>
                <a:gd name="T10" fmla="*/ 0 h 526"/>
                <a:gd name="T11" fmla="*/ 250 w 250"/>
                <a:gd name="T12" fmla="*/ 526 h 5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" h="526">
                  <a:moveTo>
                    <a:pt x="249" y="526"/>
                  </a:moveTo>
                  <a:cubicBezTo>
                    <a:pt x="244" y="470"/>
                    <a:pt x="250" y="275"/>
                    <a:pt x="209" y="187"/>
                  </a:cubicBezTo>
                  <a:cubicBezTo>
                    <a:pt x="168" y="99"/>
                    <a:pt x="44" y="39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8566821" y="1825353"/>
            <a:ext cx="567531" cy="4619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ea typeface="新細明體" pitchFamily="18" charset="-120"/>
              </a:rPr>
              <a:t>45</a:t>
            </a:r>
            <a:r>
              <a:rPr lang="en-US" altLang="zh-TW">
                <a:ea typeface="新細明體" pitchFamily="18" charset="-120"/>
                <a:cs typeface="Lucida Sans Unicode" pitchFamily="34" charset="0"/>
              </a:rPr>
              <a:t>°</a:t>
            </a:r>
            <a:endParaRPr lang="en-US" altLang="zh-TW">
              <a:ea typeface="新細明體" pitchFamily="18" charset="-120"/>
            </a:endParaRPr>
          </a:p>
        </p:txBody>
      </p:sp>
      <p:grpSp>
        <p:nvGrpSpPr>
          <p:cNvPr id="26" name="Group 22"/>
          <p:cNvGrpSpPr>
            <a:grpSpLocks/>
          </p:cNvGrpSpPr>
          <p:nvPr/>
        </p:nvGrpSpPr>
        <p:grpSpPr bwMode="auto">
          <a:xfrm>
            <a:off x="6301855" y="3273152"/>
            <a:ext cx="3219450" cy="609600"/>
            <a:chOff x="3744" y="1776"/>
            <a:chExt cx="1872" cy="384"/>
          </a:xfrm>
        </p:grpSpPr>
        <p:sp>
          <p:nvSpPr>
            <p:cNvPr id="27" name="Line 12"/>
            <p:cNvSpPr>
              <a:spLocks noChangeShapeType="1"/>
            </p:cNvSpPr>
            <p:nvPr/>
          </p:nvSpPr>
          <p:spPr bwMode="auto">
            <a:xfrm rot="-1080000">
              <a:off x="3744" y="2160"/>
              <a:ext cx="187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/>
            </p:cNvSpPr>
            <p:nvPr/>
          </p:nvSpPr>
          <p:spPr bwMode="auto">
            <a:xfrm>
              <a:off x="4464" y="1776"/>
              <a:ext cx="410" cy="326"/>
            </a:xfrm>
            <a:custGeom>
              <a:avLst/>
              <a:gdLst>
                <a:gd name="T0" fmla="*/ 0 w 410"/>
                <a:gd name="T1" fmla="*/ 0 h 326"/>
                <a:gd name="T2" fmla="*/ 305 w 410"/>
                <a:gd name="T3" fmla="*/ 92 h 326"/>
                <a:gd name="T4" fmla="*/ 410 w 410"/>
                <a:gd name="T5" fmla="*/ 326 h 326"/>
                <a:gd name="T6" fmla="*/ 0 60000 65536"/>
                <a:gd name="T7" fmla="*/ 0 60000 65536"/>
                <a:gd name="T8" fmla="*/ 0 60000 65536"/>
                <a:gd name="T9" fmla="*/ 0 w 410"/>
                <a:gd name="T10" fmla="*/ 0 h 326"/>
                <a:gd name="T11" fmla="*/ 410 w 410"/>
                <a:gd name="T12" fmla="*/ 326 h 3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326">
                  <a:moveTo>
                    <a:pt x="0" y="0"/>
                  </a:moveTo>
                  <a:cubicBezTo>
                    <a:pt x="51" y="15"/>
                    <a:pt x="237" y="38"/>
                    <a:pt x="305" y="92"/>
                  </a:cubicBezTo>
                  <a:cubicBezTo>
                    <a:pt x="373" y="146"/>
                    <a:pt x="388" y="277"/>
                    <a:pt x="410" y="326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9" name="Line 13"/>
          <p:cNvSpPr>
            <a:spLocks noChangeShapeType="1"/>
          </p:cNvSpPr>
          <p:nvPr/>
        </p:nvSpPr>
        <p:spPr bwMode="auto">
          <a:xfrm rot="19680000">
            <a:off x="6140195" y="3555727"/>
            <a:ext cx="32194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" name="Freeform 23"/>
          <p:cNvSpPr>
            <a:spLocks/>
          </p:cNvSpPr>
          <p:nvPr/>
        </p:nvSpPr>
        <p:spPr bwMode="auto">
          <a:xfrm>
            <a:off x="8492870" y="3135040"/>
            <a:ext cx="237331" cy="519112"/>
          </a:xfrm>
          <a:custGeom>
            <a:avLst/>
            <a:gdLst>
              <a:gd name="T0" fmla="*/ 118 w 138"/>
              <a:gd name="T1" fmla="*/ 327 h 327"/>
              <a:gd name="T2" fmla="*/ 118 w 138"/>
              <a:gd name="T3" fmla="*/ 135 h 327"/>
              <a:gd name="T4" fmla="*/ 0 w 138"/>
              <a:gd name="T5" fmla="*/ 0 h 327"/>
              <a:gd name="T6" fmla="*/ 0 60000 65536"/>
              <a:gd name="T7" fmla="*/ 0 60000 65536"/>
              <a:gd name="T8" fmla="*/ 0 60000 65536"/>
              <a:gd name="T9" fmla="*/ 0 w 138"/>
              <a:gd name="T10" fmla="*/ 0 h 327"/>
              <a:gd name="T11" fmla="*/ 138 w 138"/>
              <a:gd name="T12" fmla="*/ 327 h 3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327">
                <a:moveTo>
                  <a:pt x="118" y="327"/>
                </a:moveTo>
                <a:cubicBezTo>
                  <a:pt x="128" y="258"/>
                  <a:pt x="138" y="189"/>
                  <a:pt x="118" y="135"/>
                </a:cubicBezTo>
                <a:cubicBezTo>
                  <a:pt x="98" y="81"/>
                  <a:pt x="16" y="24"/>
                  <a:pt x="0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 rot="20100000">
            <a:off x="6227905" y="3711302"/>
            <a:ext cx="321945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" name="Freeform 25"/>
          <p:cNvSpPr>
            <a:spLocks/>
          </p:cNvSpPr>
          <p:nvPr/>
        </p:nvSpPr>
        <p:spPr bwMode="auto">
          <a:xfrm>
            <a:off x="8778356" y="2968352"/>
            <a:ext cx="247650" cy="228600"/>
          </a:xfrm>
          <a:custGeom>
            <a:avLst/>
            <a:gdLst>
              <a:gd name="T0" fmla="*/ 0 w 144"/>
              <a:gd name="T1" fmla="*/ 0 h 144"/>
              <a:gd name="T2" fmla="*/ 96 w 144"/>
              <a:gd name="T3" fmla="*/ 48 h 144"/>
              <a:gd name="T4" fmla="*/ 144 w 144"/>
              <a:gd name="T5" fmla="*/ 144 h 144"/>
              <a:gd name="T6" fmla="*/ 0 60000 65536"/>
              <a:gd name="T7" fmla="*/ 0 60000 65536"/>
              <a:gd name="T8" fmla="*/ 0 60000 65536"/>
              <a:gd name="T9" fmla="*/ 0 w 144"/>
              <a:gd name="T10" fmla="*/ 0 h 144"/>
              <a:gd name="T11" fmla="*/ 144 w 144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144">
                <a:moveTo>
                  <a:pt x="0" y="0"/>
                </a:moveTo>
                <a:cubicBezTo>
                  <a:pt x="36" y="12"/>
                  <a:pt x="72" y="24"/>
                  <a:pt x="96" y="48"/>
                </a:cubicBezTo>
                <a:cubicBezTo>
                  <a:pt x="120" y="72"/>
                  <a:pt x="128" y="120"/>
                  <a:pt x="144" y="144"/>
                </a:cubicBezTo>
              </a:path>
            </a:pathLst>
          </a:custGeom>
          <a:noFill/>
          <a:ln w="2857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04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direction term and the magnitude component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2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2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2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lang="en-US" altLang="zh-TW" kern="0" dirty="0">
                <a:ea typeface="新細明體" pitchFamily="18" charset="-120"/>
                <a:cs typeface="Tahoma" pitchFamily="34" charset="0"/>
              </a:rPr>
              <a:t>                  </a:t>
            </a:r>
            <a:r>
              <a:rPr lang="en-US" altLang="zh-TW" kern="0" dirty="0">
                <a:ea typeface="新細明體" pitchFamily="18" charset="-120"/>
                <a:cs typeface="Tahoma" pitchFamily="34" charset="0"/>
                <a:sym typeface="Wingdings" panose="05000000000000000000" pitchFamily="2" charset="2"/>
              </a:rPr>
              <a:t> </a:t>
            </a:r>
            <a:r>
              <a:rPr lang="en-US" altLang="zh-TW" sz="2200" dirty="0">
                <a:latin typeface="Arial" panose="020B0604020202020204" pitchFamily="34" charset="0"/>
                <a:cs typeface="Arial" panose="020B0604020202020204" pitchFamily="34" charset="0"/>
              </a:rPr>
              <a:t>Multiply this constant ONLY ONCE at the end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Two operating modes of the CORDIC: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Rotation Mode 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(RM): A vector P</a:t>
            </a:r>
            <a:r>
              <a:rPr lang="en-US" altLang="zh-TW" sz="1800" kern="0" baseline="-250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0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is rotated by an angle </a:t>
            </a:r>
            <a:r>
              <a:rPr lang="en-US" altLang="zh-TW" sz="1800" i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ϕ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to obtain a new vector </a:t>
            </a:r>
            <a:r>
              <a:rPr lang="en-US" altLang="zh-TW" sz="1800" kern="0" dirty="0" err="1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P</a:t>
            </a:r>
            <a:r>
              <a:rPr lang="en-US" altLang="zh-TW" sz="1800" kern="0" baseline="-25000" dirty="0" err="1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n</a:t>
            </a:r>
            <a:endParaRPr lang="en-US" altLang="zh-TW" sz="1800" kern="0" baseline="-2500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2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To compute cos(</a:t>
            </a:r>
            <a:r>
              <a:rPr lang="en-US" altLang="zh-TW" sz="1800" i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ϕ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) and sin(</a:t>
            </a:r>
            <a:r>
              <a:rPr lang="en-US" altLang="zh-TW" sz="1800" i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ϕ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)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Vectoring Mode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(VM): </a:t>
            </a:r>
            <a:r>
              <a:rPr lang="en-US" altLang="zh-TW" sz="1800" kern="0" dirty="0">
                <a:latin typeface="Arial" panose="020B0604020202020204" pitchFamily="34" charset="0"/>
                <a:cs typeface="Arial" panose="020B0604020202020204" pitchFamily="34" charset="0"/>
              </a:rPr>
              <a:t>A vector P</a:t>
            </a:r>
            <a:r>
              <a:rPr lang="en-US" altLang="zh-TW" sz="1800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TW" sz="1800" kern="0" dirty="0">
                <a:latin typeface="Arial" panose="020B0604020202020204" pitchFamily="34" charset="0"/>
                <a:cs typeface="Arial" panose="020B0604020202020204" pitchFamily="34" charset="0"/>
              </a:rPr>
              <a:t> is rotated towards the x-axis so that the y component approaches zero</a:t>
            </a: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</a:t>
            </a:r>
          </a:p>
          <a:p>
            <a:pPr lvl="2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To compute the magnitude or the rotated angle.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910187" y="1884229"/>
            <a:ext cx="3930535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	= [x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– </a:t>
            </a:r>
            <a:r>
              <a:rPr lang="en-US" altLang="zh-TW" sz="2800" i="1" dirty="0" err="1">
                <a:solidFill>
                  <a:srgbClr val="FF0000"/>
                </a:solidFill>
                <a:latin typeface="+mn-lt"/>
                <a:cs typeface="Times New Roman" pitchFamily="18" charset="0"/>
              </a:rPr>
              <a:t>d</a:t>
            </a:r>
            <a:r>
              <a:rPr lang="en-US" altLang="zh-TW" sz="2800" i="1" baseline="-25000" dirty="0" err="1">
                <a:solidFill>
                  <a:srgbClr val="FF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2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-i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]</a:t>
            </a:r>
            <a:r>
              <a:rPr lang="en-US" altLang="zh-TW" sz="2800" i="1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K</a:t>
            </a:r>
            <a:r>
              <a:rPr lang="en-US" altLang="zh-TW" sz="2800" i="1" baseline="-25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endParaRPr lang="en-US" altLang="zh-TW" sz="2800" i="1" baseline="-25000" dirty="0">
              <a:solidFill>
                <a:srgbClr val="000000"/>
              </a:solidFill>
              <a:latin typeface="+mn-lt"/>
              <a:cs typeface="Times New Roman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(i+1)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= </a:t>
            </a:r>
            <a:r>
              <a:rPr lang="en-US" altLang="zh-TW" sz="2800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y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+ </a:t>
            </a:r>
            <a:r>
              <a:rPr lang="en-US" altLang="zh-TW" sz="2800" i="1" dirty="0" err="1">
                <a:solidFill>
                  <a:srgbClr val="FF0000"/>
                </a:solidFill>
                <a:latin typeface="+mn-lt"/>
                <a:cs typeface="Times New Roman" pitchFamily="18" charset="0"/>
              </a:rPr>
              <a:t>d</a:t>
            </a:r>
            <a:r>
              <a:rPr lang="en-US" altLang="zh-TW" sz="2800" i="1" baseline="-25000" dirty="0" err="1">
                <a:solidFill>
                  <a:srgbClr val="FF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x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</a:t>
            </a:r>
            <a:r>
              <a:rPr lang="en-US" altLang="zh-TW" sz="2800" baseline="3000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baseline="300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r>
              <a:rPr lang="en-US" altLang="zh-TW" sz="28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altLang="zh-TW" sz="2800" b="1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2</a:t>
            </a:r>
            <a:r>
              <a:rPr lang="en-US" altLang="zh-TW" sz="2800" b="1" baseline="30000" dirty="0">
                <a:solidFill>
                  <a:srgbClr val="3333FF"/>
                </a:solidFill>
                <a:cs typeface="Times New Roman" pitchFamily="18" charset="0"/>
              </a:rPr>
              <a:t>-</a:t>
            </a:r>
            <a:r>
              <a:rPr lang="en-US" altLang="zh-TW" sz="2800" b="1" baseline="30000" dirty="0">
                <a:solidFill>
                  <a:srgbClr val="3333FF"/>
                </a:solidFill>
                <a:latin typeface="+mn-lt"/>
                <a:cs typeface="Times New Roman" pitchFamily="18" charset="0"/>
              </a:rPr>
              <a:t>i</a:t>
            </a:r>
            <a:r>
              <a:rPr lang="en-US" altLang="zh-TW" sz="2800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zh-TW" sz="2800" i="1" dirty="0" err="1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altLang="zh-TW" sz="2800" i="1" baseline="-2500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endParaRPr lang="en-US" altLang="zh-TW" sz="2800" i="1" baseline="-25000" dirty="0">
              <a:solidFill>
                <a:srgbClr val="000000"/>
              </a:solidFill>
              <a:latin typeface="+mn-lt"/>
              <a:cs typeface="Times New Roman" pitchFamily="18" charset="0"/>
            </a:endParaRPr>
          </a:p>
        </p:txBody>
      </p:sp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5026397" y="2346587"/>
          <a:ext cx="43703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方程式" r:id="rId3" imgW="2539800" imgH="431640" progId="Equation.3">
                  <p:embed/>
                </p:oleObj>
              </mc:Choice>
              <mc:Fallback>
                <p:oleObj name="方程式" r:id="rId3" imgW="2539800" imgH="431640" progId="Equation.3">
                  <p:embed/>
                  <p:pic>
                    <p:nvPicPr>
                      <p:cNvPr id="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397" y="2346587"/>
                        <a:ext cx="43703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5"/>
          <a:srcRect l="5319" t="15302" b="17842"/>
          <a:stretch/>
        </p:blipFill>
        <p:spPr>
          <a:xfrm>
            <a:off x="4974412" y="1939539"/>
            <a:ext cx="1097375" cy="432048"/>
          </a:xfrm>
          <a:prstGeom prst="rect">
            <a:avLst/>
          </a:prstGeom>
        </p:spPr>
      </p:pic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817216" y="3058077"/>
          <a:ext cx="1399480" cy="94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" name="Equation" r:id="rId6" imgW="672840" imgH="431640" progId="Equation.3">
                  <p:embed/>
                </p:oleObj>
              </mc:Choice>
              <mc:Fallback>
                <p:oleObj name="Equation" r:id="rId6" imgW="672840" imgH="431640" progId="Equation.3">
                  <p:embed/>
                  <p:pic>
                    <p:nvPicPr>
                      <p:cNvPr id="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16" y="3058077"/>
                        <a:ext cx="1399480" cy="94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841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An example of CORDIC: Fast Fourier Transform (FFT)</a:t>
            </a: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lang="en-US" altLang="zh-TW" sz="22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A 8-point FFT structure: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pic>
        <p:nvPicPr>
          <p:cNvPr id="10" name="Picture 9" descr="C:\Users\User\Desktop\image4-1.png"/>
          <p:cNvPicPr>
            <a:picLocks noChangeAspect="1" noChangeArrowheads="1"/>
          </p:cNvPicPr>
          <p:nvPr/>
        </p:nvPicPr>
        <p:blipFill>
          <a:blip r:embed="rId3"/>
          <a:srcRect l="6616" t="4512" r="6427" b="5251"/>
          <a:stretch>
            <a:fillRect/>
          </a:stretch>
        </p:blipFill>
        <p:spPr bwMode="auto">
          <a:xfrm>
            <a:off x="474142" y="2385774"/>
            <a:ext cx="5775002" cy="3707522"/>
          </a:xfrm>
          <a:prstGeom prst="rect">
            <a:avLst/>
          </a:prstGeom>
          <a:noFill/>
        </p:spPr>
      </p:pic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64028" y="5624667"/>
            <a:ext cx="2448272" cy="467161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 bwMode="auto">
          <a:xfrm>
            <a:off x="978768" y="2385774"/>
            <a:ext cx="1669976" cy="82720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新細明體" charset="-120"/>
              <a:cs typeface="新細明體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801" y="2322755"/>
            <a:ext cx="3402743" cy="161929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637408" y="2138089"/>
            <a:ext cx="2055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butterfly operation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5" name="Object 1"/>
          <p:cNvGraphicFramePr>
            <a:graphicFrameLocks noChangeAspect="1"/>
          </p:cNvGraphicFramePr>
          <p:nvPr/>
        </p:nvGraphicFramePr>
        <p:xfrm>
          <a:off x="6753200" y="4029198"/>
          <a:ext cx="29765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方程式" r:id="rId6" imgW="1130040" imgH="203040" progId="Equation.3">
                  <p:embed/>
                </p:oleObj>
              </mc:Choice>
              <mc:Fallback>
                <p:oleObj name="方程式" r:id="rId6" imgW="1130040" imgH="203040" progId="Equation.3">
                  <p:embed/>
                  <p:pic>
                    <p:nvPicPr>
                      <p:cNvPr id="1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3200" y="4029198"/>
                        <a:ext cx="297656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6769075" y="4867398"/>
          <a:ext cx="29432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方程式" r:id="rId8" imgW="1117440" imgH="203040" progId="Equation.3">
                  <p:embed/>
                </p:oleObj>
              </mc:Choice>
              <mc:Fallback>
                <p:oleObj name="方程式" r:id="rId8" imgW="1117440" imgH="203040" progId="Equation.3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075" y="4867398"/>
                        <a:ext cx="29432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209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An example of CORDIC: Fast Fourier Transform (FFT)</a:t>
            </a: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lang="en-US" altLang="zh-TW" sz="22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The butterfly operation can be realized by using CORDIC processor</a:t>
            </a: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lang="en-US" altLang="zh-TW" sz="22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The Twiddle Factor </a:t>
            </a: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32324" y="2276872"/>
            <a:ext cx="2097236" cy="400179"/>
          </a:xfrm>
          <a:prstGeom prst="rect">
            <a:avLst/>
          </a:prstGeom>
          <a:noFill/>
        </p:spPr>
      </p:pic>
      <p:pic>
        <p:nvPicPr>
          <p:cNvPr id="13" name="Picture 3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14817" y="2214997"/>
            <a:ext cx="922359" cy="465571"/>
          </a:xfrm>
          <a:prstGeom prst="rect">
            <a:avLst/>
          </a:prstGeom>
          <a:noFill/>
        </p:spPr>
      </p:pic>
      <p:pic>
        <p:nvPicPr>
          <p:cNvPr id="14" name="Picture 3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09184" y="2276872"/>
            <a:ext cx="2304256" cy="382767"/>
          </a:xfrm>
          <a:prstGeom prst="rect">
            <a:avLst/>
          </a:prstGeom>
          <a:noFill/>
        </p:spPr>
      </p:pic>
      <p:pic>
        <p:nvPicPr>
          <p:cNvPr id="17" name="Picture 3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43596" y="2803260"/>
            <a:ext cx="943119" cy="409716"/>
          </a:xfrm>
          <a:prstGeom prst="rect">
            <a:avLst/>
          </a:prstGeom>
          <a:noFill/>
        </p:spPr>
      </p:pic>
      <p:pic>
        <p:nvPicPr>
          <p:cNvPr id="18" name="Picture 38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6178" y="2829911"/>
            <a:ext cx="3623382" cy="345743"/>
          </a:xfrm>
          <a:prstGeom prst="rect">
            <a:avLst/>
          </a:prstGeom>
          <a:noFill/>
        </p:spPr>
      </p:pic>
      <p:pic>
        <p:nvPicPr>
          <p:cNvPr id="27" name="Picture 4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75360" y="2690023"/>
            <a:ext cx="3038080" cy="7189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</p:pic>
      <p:sp>
        <p:nvSpPr>
          <p:cNvPr id="28" name="Rectangle 51"/>
          <p:cNvSpPr/>
          <p:nvPr/>
        </p:nvSpPr>
        <p:spPr>
          <a:xfrm>
            <a:off x="5485282" y="2791998"/>
            <a:ext cx="4165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ym typeface="Wingdings"/>
              </a:rPr>
              <a:t></a:t>
            </a:r>
            <a:endParaRPr lang="zh-TW" altLang="zh-TW" dirty="0"/>
          </a:p>
        </p:txBody>
      </p:sp>
      <p:pic>
        <p:nvPicPr>
          <p:cNvPr id="73" name="圖片 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5316" y="3510933"/>
            <a:ext cx="7041490" cy="28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CORDIC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336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architecture of</a:t>
            </a:r>
            <a:r>
              <a:rPr lang="zh-TW" altLang="en-US" sz="22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CORDIC</a:t>
            </a:r>
            <a:r>
              <a:rPr lang="zh-TW" altLang="en-US" sz="22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processor </a:t>
            </a:r>
            <a:endParaRPr lang="en-US" altLang="zh-TW" sz="22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3440832" y="6444768"/>
            <a:ext cx="41044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TW" sz="1000" dirty="0" err="1"/>
              <a:t>Pramod</a:t>
            </a:r>
            <a:r>
              <a:rPr lang="en-US" altLang="zh-TW" sz="1000" dirty="0"/>
              <a:t> K. </a:t>
            </a:r>
            <a:r>
              <a:rPr lang="en-US" altLang="zh-TW" sz="1000" dirty="0" err="1"/>
              <a:t>Meher</a:t>
            </a:r>
            <a:r>
              <a:rPr lang="zh-TW" altLang="en-US" sz="1000" dirty="0"/>
              <a:t> </a:t>
            </a:r>
            <a:r>
              <a:rPr lang="en-US" altLang="zh-TW" sz="1000" dirty="0"/>
              <a:t>et al., “ 50 Years of CORDIC: Algorithms, Architectures, and Applications,“</a:t>
            </a:r>
            <a:r>
              <a:rPr lang="en-US" altLang="zh-TW" sz="1000" i="1" dirty="0"/>
              <a:t> IEEE TCAS- I</a:t>
            </a:r>
            <a:r>
              <a:rPr lang="en-US" altLang="zh-TW" sz="1000" dirty="0"/>
              <a:t> , vol. 56, no. 9, pp.1893-1907, 2009</a:t>
            </a:r>
            <a:endParaRPr lang="zh-TW" altLang="en-US" sz="1000" dirty="0"/>
          </a:p>
        </p:txBody>
      </p:sp>
      <p:sp>
        <p:nvSpPr>
          <p:cNvPr id="15" name="Freeform 2"/>
          <p:cNvSpPr>
            <a:spLocks/>
          </p:cNvSpPr>
          <p:nvPr/>
        </p:nvSpPr>
        <p:spPr bwMode="auto">
          <a:xfrm>
            <a:off x="1437456" y="2234209"/>
            <a:ext cx="992188" cy="534988"/>
          </a:xfrm>
          <a:custGeom>
            <a:avLst/>
            <a:gdLst>
              <a:gd name="T0" fmla="*/ 0 w 625"/>
              <a:gd name="T1" fmla="*/ 0 h 337"/>
              <a:gd name="T2" fmla="*/ 0 w 625"/>
              <a:gd name="T3" fmla="*/ 336 h 337"/>
              <a:gd name="T4" fmla="*/ 624 w 625"/>
              <a:gd name="T5" fmla="*/ 336 h 337"/>
              <a:gd name="T6" fmla="*/ 624 w 625"/>
              <a:gd name="T7" fmla="*/ 0 h 337"/>
              <a:gd name="T8" fmla="*/ 0 w 625"/>
              <a:gd name="T9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337">
                <a:moveTo>
                  <a:pt x="0" y="0"/>
                </a:moveTo>
                <a:lnTo>
                  <a:pt x="0" y="336"/>
                </a:lnTo>
                <a:lnTo>
                  <a:pt x="624" y="336"/>
                </a:lnTo>
                <a:lnTo>
                  <a:pt x="624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Freeform 3"/>
          <p:cNvSpPr>
            <a:spLocks/>
          </p:cNvSpPr>
          <p:nvPr/>
        </p:nvSpPr>
        <p:spPr bwMode="auto">
          <a:xfrm>
            <a:off x="2656656" y="2234209"/>
            <a:ext cx="992188" cy="534988"/>
          </a:xfrm>
          <a:custGeom>
            <a:avLst/>
            <a:gdLst>
              <a:gd name="T0" fmla="*/ 0 w 625"/>
              <a:gd name="T1" fmla="*/ 0 h 337"/>
              <a:gd name="T2" fmla="*/ 0 w 625"/>
              <a:gd name="T3" fmla="*/ 336 h 337"/>
              <a:gd name="T4" fmla="*/ 624 w 625"/>
              <a:gd name="T5" fmla="*/ 336 h 337"/>
              <a:gd name="T6" fmla="*/ 624 w 625"/>
              <a:gd name="T7" fmla="*/ 0 h 337"/>
              <a:gd name="T8" fmla="*/ 0 w 625"/>
              <a:gd name="T9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337">
                <a:moveTo>
                  <a:pt x="0" y="0"/>
                </a:moveTo>
                <a:lnTo>
                  <a:pt x="0" y="336"/>
                </a:lnTo>
                <a:lnTo>
                  <a:pt x="624" y="336"/>
                </a:lnTo>
                <a:lnTo>
                  <a:pt x="624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Freeform 4"/>
          <p:cNvSpPr>
            <a:spLocks/>
          </p:cNvSpPr>
          <p:nvPr/>
        </p:nvSpPr>
        <p:spPr bwMode="auto">
          <a:xfrm>
            <a:off x="3952056" y="2234209"/>
            <a:ext cx="992188" cy="534988"/>
          </a:xfrm>
          <a:custGeom>
            <a:avLst/>
            <a:gdLst>
              <a:gd name="T0" fmla="*/ 0 w 625"/>
              <a:gd name="T1" fmla="*/ 0 h 337"/>
              <a:gd name="T2" fmla="*/ 0 w 625"/>
              <a:gd name="T3" fmla="*/ 336 h 337"/>
              <a:gd name="T4" fmla="*/ 624 w 625"/>
              <a:gd name="T5" fmla="*/ 336 h 337"/>
              <a:gd name="T6" fmla="*/ 624 w 625"/>
              <a:gd name="T7" fmla="*/ 0 h 337"/>
              <a:gd name="T8" fmla="*/ 0 w 625"/>
              <a:gd name="T9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337">
                <a:moveTo>
                  <a:pt x="0" y="0"/>
                </a:moveTo>
                <a:lnTo>
                  <a:pt x="0" y="336"/>
                </a:lnTo>
                <a:lnTo>
                  <a:pt x="624" y="336"/>
                </a:lnTo>
                <a:lnTo>
                  <a:pt x="624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Freeform 5"/>
          <p:cNvSpPr>
            <a:spLocks/>
          </p:cNvSpPr>
          <p:nvPr/>
        </p:nvSpPr>
        <p:spPr bwMode="auto">
          <a:xfrm>
            <a:off x="5171256" y="2234209"/>
            <a:ext cx="992188" cy="534988"/>
          </a:xfrm>
          <a:custGeom>
            <a:avLst/>
            <a:gdLst>
              <a:gd name="T0" fmla="*/ 0 w 625"/>
              <a:gd name="T1" fmla="*/ 0 h 337"/>
              <a:gd name="T2" fmla="*/ 0 w 625"/>
              <a:gd name="T3" fmla="*/ 336 h 337"/>
              <a:gd name="T4" fmla="*/ 624 w 625"/>
              <a:gd name="T5" fmla="*/ 336 h 337"/>
              <a:gd name="T6" fmla="*/ 624 w 625"/>
              <a:gd name="T7" fmla="*/ 0 h 337"/>
              <a:gd name="T8" fmla="*/ 0 w 625"/>
              <a:gd name="T9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337">
                <a:moveTo>
                  <a:pt x="0" y="0"/>
                </a:moveTo>
                <a:lnTo>
                  <a:pt x="0" y="336"/>
                </a:lnTo>
                <a:lnTo>
                  <a:pt x="624" y="336"/>
                </a:lnTo>
                <a:lnTo>
                  <a:pt x="624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Line 6"/>
          <p:cNvSpPr>
            <a:spLocks noChangeShapeType="1"/>
          </p:cNvSpPr>
          <p:nvPr/>
        </p:nvSpPr>
        <p:spPr bwMode="auto">
          <a:xfrm>
            <a:off x="1379984" y="1964173"/>
            <a:ext cx="2208212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>
            <a:off x="3953644" y="1945433"/>
            <a:ext cx="2208212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Freeform 8"/>
          <p:cNvSpPr>
            <a:spLocks/>
          </p:cNvSpPr>
          <p:nvPr/>
        </p:nvSpPr>
        <p:spPr bwMode="auto">
          <a:xfrm>
            <a:off x="2578869" y="3150197"/>
            <a:ext cx="1071562" cy="611187"/>
          </a:xfrm>
          <a:custGeom>
            <a:avLst/>
            <a:gdLst>
              <a:gd name="T0" fmla="*/ 48 w 675"/>
              <a:gd name="T1" fmla="*/ 0 h 385"/>
              <a:gd name="T2" fmla="*/ 30 w 675"/>
              <a:gd name="T3" fmla="*/ 4 h 385"/>
              <a:gd name="T4" fmla="*/ 15 w 675"/>
              <a:gd name="T5" fmla="*/ 15 h 385"/>
              <a:gd name="T6" fmla="*/ 3 w 675"/>
              <a:gd name="T7" fmla="*/ 30 h 385"/>
              <a:gd name="T8" fmla="*/ 0 w 675"/>
              <a:gd name="T9" fmla="*/ 48 h 385"/>
              <a:gd name="T10" fmla="*/ 0 w 675"/>
              <a:gd name="T11" fmla="*/ 336 h 385"/>
              <a:gd name="T12" fmla="*/ 3 w 675"/>
              <a:gd name="T13" fmla="*/ 354 h 385"/>
              <a:gd name="T14" fmla="*/ 15 w 675"/>
              <a:gd name="T15" fmla="*/ 369 h 385"/>
              <a:gd name="T16" fmla="*/ 30 w 675"/>
              <a:gd name="T17" fmla="*/ 380 h 385"/>
              <a:gd name="T18" fmla="*/ 48 w 675"/>
              <a:gd name="T19" fmla="*/ 384 h 385"/>
              <a:gd name="T20" fmla="*/ 626 w 675"/>
              <a:gd name="T21" fmla="*/ 384 h 385"/>
              <a:gd name="T22" fmla="*/ 644 w 675"/>
              <a:gd name="T23" fmla="*/ 380 h 385"/>
              <a:gd name="T24" fmla="*/ 659 w 675"/>
              <a:gd name="T25" fmla="*/ 369 h 385"/>
              <a:gd name="T26" fmla="*/ 671 w 675"/>
              <a:gd name="T27" fmla="*/ 354 h 385"/>
              <a:gd name="T28" fmla="*/ 674 w 675"/>
              <a:gd name="T29" fmla="*/ 336 h 385"/>
              <a:gd name="T30" fmla="*/ 674 w 675"/>
              <a:gd name="T31" fmla="*/ 48 h 385"/>
              <a:gd name="T32" fmla="*/ 671 w 675"/>
              <a:gd name="T33" fmla="*/ 30 h 385"/>
              <a:gd name="T34" fmla="*/ 659 w 675"/>
              <a:gd name="T35" fmla="*/ 15 h 385"/>
              <a:gd name="T36" fmla="*/ 644 w 675"/>
              <a:gd name="T37" fmla="*/ 4 h 385"/>
              <a:gd name="T38" fmla="*/ 626 w 675"/>
              <a:gd name="T39" fmla="*/ 0 h 385"/>
              <a:gd name="T40" fmla="*/ 48 w 675"/>
              <a:gd name="T41" fmla="*/ 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75" h="385">
                <a:moveTo>
                  <a:pt x="48" y="0"/>
                </a:moveTo>
                <a:lnTo>
                  <a:pt x="30" y="4"/>
                </a:lnTo>
                <a:lnTo>
                  <a:pt x="15" y="15"/>
                </a:lnTo>
                <a:lnTo>
                  <a:pt x="3" y="30"/>
                </a:lnTo>
                <a:lnTo>
                  <a:pt x="0" y="48"/>
                </a:lnTo>
                <a:lnTo>
                  <a:pt x="0" y="336"/>
                </a:lnTo>
                <a:lnTo>
                  <a:pt x="3" y="354"/>
                </a:lnTo>
                <a:lnTo>
                  <a:pt x="15" y="369"/>
                </a:lnTo>
                <a:lnTo>
                  <a:pt x="30" y="380"/>
                </a:lnTo>
                <a:lnTo>
                  <a:pt x="48" y="384"/>
                </a:lnTo>
                <a:lnTo>
                  <a:pt x="626" y="384"/>
                </a:lnTo>
                <a:lnTo>
                  <a:pt x="644" y="380"/>
                </a:lnTo>
                <a:lnTo>
                  <a:pt x="659" y="369"/>
                </a:lnTo>
                <a:lnTo>
                  <a:pt x="671" y="354"/>
                </a:lnTo>
                <a:lnTo>
                  <a:pt x="674" y="336"/>
                </a:lnTo>
                <a:lnTo>
                  <a:pt x="674" y="48"/>
                </a:lnTo>
                <a:lnTo>
                  <a:pt x="671" y="30"/>
                </a:lnTo>
                <a:lnTo>
                  <a:pt x="659" y="15"/>
                </a:lnTo>
                <a:lnTo>
                  <a:pt x="644" y="4"/>
                </a:lnTo>
                <a:lnTo>
                  <a:pt x="626" y="0"/>
                </a:lnTo>
                <a:lnTo>
                  <a:pt x="4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Freeform 9"/>
          <p:cNvSpPr>
            <a:spLocks/>
          </p:cNvSpPr>
          <p:nvPr/>
        </p:nvSpPr>
        <p:spPr bwMode="auto">
          <a:xfrm>
            <a:off x="3950469" y="3150197"/>
            <a:ext cx="1071562" cy="611187"/>
          </a:xfrm>
          <a:custGeom>
            <a:avLst/>
            <a:gdLst>
              <a:gd name="T0" fmla="*/ 48 w 675"/>
              <a:gd name="T1" fmla="*/ 0 h 385"/>
              <a:gd name="T2" fmla="*/ 30 w 675"/>
              <a:gd name="T3" fmla="*/ 4 h 385"/>
              <a:gd name="T4" fmla="*/ 13 w 675"/>
              <a:gd name="T5" fmla="*/ 15 h 385"/>
              <a:gd name="T6" fmla="*/ 4 w 675"/>
              <a:gd name="T7" fmla="*/ 30 h 385"/>
              <a:gd name="T8" fmla="*/ 0 w 675"/>
              <a:gd name="T9" fmla="*/ 48 h 385"/>
              <a:gd name="T10" fmla="*/ 0 w 675"/>
              <a:gd name="T11" fmla="*/ 336 h 385"/>
              <a:gd name="T12" fmla="*/ 4 w 675"/>
              <a:gd name="T13" fmla="*/ 354 h 385"/>
              <a:gd name="T14" fmla="*/ 13 w 675"/>
              <a:gd name="T15" fmla="*/ 369 h 385"/>
              <a:gd name="T16" fmla="*/ 30 w 675"/>
              <a:gd name="T17" fmla="*/ 380 h 385"/>
              <a:gd name="T18" fmla="*/ 48 w 675"/>
              <a:gd name="T19" fmla="*/ 384 h 385"/>
              <a:gd name="T20" fmla="*/ 626 w 675"/>
              <a:gd name="T21" fmla="*/ 384 h 385"/>
              <a:gd name="T22" fmla="*/ 643 w 675"/>
              <a:gd name="T23" fmla="*/ 380 h 385"/>
              <a:gd name="T24" fmla="*/ 661 w 675"/>
              <a:gd name="T25" fmla="*/ 369 h 385"/>
              <a:gd name="T26" fmla="*/ 670 w 675"/>
              <a:gd name="T27" fmla="*/ 354 h 385"/>
              <a:gd name="T28" fmla="*/ 674 w 675"/>
              <a:gd name="T29" fmla="*/ 336 h 385"/>
              <a:gd name="T30" fmla="*/ 674 w 675"/>
              <a:gd name="T31" fmla="*/ 48 h 385"/>
              <a:gd name="T32" fmla="*/ 670 w 675"/>
              <a:gd name="T33" fmla="*/ 30 h 385"/>
              <a:gd name="T34" fmla="*/ 661 w 675"/>
              <a:gd name="T35" fmla="*/ 15 h 385"/>
              <a:gd name="T36" fmla="*/ 643 w 675"/>
              <a:gd name="T37" fmla="*/ 4 h 385"/>
              <a:gd name="T38" fmla="*/ 626 w 675"/>
              <a:gd name="T39" fmla="*/ 0 h 385"/>
              <a:gd name="T40" fmla="*/ 48 w 675"/>
              <a:gd name="T41" fmla="*/ 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75" h="385">
                <a:moveTo>
                  <a:pt x="48" y="0"/>
                </a:moveTo>
                <a:lnTo>
                  <a:pt x="30" y="4"/>
                </a:lnTo>
                <a:lnTo>
                  <a:pt x="13" y="15"/>
                </a:lnTo>
                <a:lnTo>
                  <a:pt x="4" y="30"/>
                </a:lnTo>
                <a:lnTo>
                  <a:pt x="0" y="48"/>
                </a:lnTo>
                <a:lnTo>
                  <a:pt x="0" y="336"/>
                </a:lnTo>
                <a:lnTo>
                  <a:pt x="4" y="354"/>
                </a:lnTo>
                <a:lnTo>
                  <a:pt x="13" y="369"/>
                </a:lnTo>
                <a:lnTo>
                  <a:pt x="30" y="380"/>
                </a:lnTo>
                <a:lnTo>
                  <a:pt x="48" y="384"/>
                </a:lnTo>
                <a:lnTo>
                  <a:pt x="626" y="384"/>
                </a:lnTo>
                <a:lnTo>
                  <a:pt x="643" y="380"/>
                </a:lnTo>
                <a:lnTo>
                  <a:pt x="661" y="369"/>
                </a:lnTo>
                <a:lnTo>
                  <a:pt x="670" y="354"/>
                </a:lnTo>
                <a:lnTo>
                  <a:pt x="674" y="336"/>
                </a:lnTo>
                <a:lnTo>
                  <a:pt x="674" y="48"/>
                </a:lnTo>
                <a:lnTo>
                  <a:pt x="670" y="30"/>
                </a:lnTo>
                <a:lnTo>
                  <a:pt x="661" y="15"/>
                </a:lnTo>
                <a:lnTo>
                  <a:pt x="643" y="4"/>
                </a:lnTo>
                <a:lnTo>
                  <a:pt x="626" y="0"/>
                </a:lnTo>
                <a:lnTo>
                  <a:pt x="4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Freeform 10"/>
          <p:cNvSpPr>
            <a:spLocks/>
          </p:cNvSpPr>
          <p:nvPr/>
        </p:nvSpPr>
        <p:spPr bwMode="auto">
          <a:xfrm>
            <a:off x="2809056" y="4215409"/>
            <a:ext cx="687388" cy="458788"/>
          </a:xfrm>
          <a:custGeom>
            <a:avLst/>
            <a:gdLst>
              <a:gd name="T0" fmla="*/ 0 w 433"/>
              <a:gd name="T1" fmla="*/ 0 h 289"/>
              <a:gd name="T2" fmla="*/ 0 w 433"/>
              <a:gd name="T3" fmla="*/ 288 h 289"/>
              <a:gd name="T4" fmla="*/ 432 w 433"/>
              <a:gd name="T5" fmla="*/ 288 h 289"/>
              <a:gd name="T6" fmla="*/ 432 w 433"/>
              <a:gd name="T7" fmla="*/ 0 h 289"/>
              <a:gd name="T8" fmla="*/ 0 w 433"/>
              <a:gd name="T9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289">
                <a:moveTo>
                  <a:pt x="0" y="0"/>
                </a:moveTo>
                <a:lnTo>
                  <a:pt x="0" y="288"/>
                </a:lnTo>
                <a:lnTo>
                  <a:pt x="432" y="288"/>
                </a:ln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Freeform 11"/>
          <p:cNvSpPr>
            <a:spLocks/>
          </p:cNvSpPr>
          <p:nvPr/>
        </p:nvSpPr>
        <p:spPr bwMode="auto">
          <a:xfrm>
            <a:off x="4333056" y="4215409"/>
            <a:ext cx="687388" cy="458788"/>
          </a:xfrm>
          <a:custGeom>
            <a:avLst/>
            <a:gdLst>
              <a:gd name="T0" fmla="*/ 0 w 433"/>
              <a:gd name="T1" fmla="*/ 0 h 289"/>
              <a:gd name="T2" fmla="*/ 0 w 433"/>
              <a:gd name="T3" fmla="*/ 288 h 289"/>
              <a:gd name="T4" fmla="*/ 432 w 433"/>
              <a:gd name="T5" fmla="*/ 288 h 289"/>
              <a:gd name="T6" fmla="*/ 432 w 433"/>
              <a:gd name="T7" fmla="*/ 0 h 289"/>
              <a:gd name="T8" fmla="*/ 0 w 433"/>
              <a:gd name="T9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289">
                <a:moveTo>
                  <a:pt x="0" y="0"/>
                </a:moveTo>
                <a:lnTo>
                  <a:pt x="0" y="288"/>
                </a:lnTo>
                <a:lnTo>
                  <a:pt x="432" y="288"/>
                </a:ln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Freeform 12"/>
          <p:cNvSpPr>
            <a:spLocks/>
          </p:cNvSpPr>
          <p:nvPr/>
        </p:nvSpPr>
        <p:spPr bwMode="auto">
          <a:xfrm>
            <a:off x="1742256" y="4215409"/>
            <a:ext cx="687388" cy="458788"/>
          </a:xfrm>
          <a:custGeom>
            <a:avLst/>
            <a:gdLst>
              <a:gd name="T0" fmla="*/ 0 w 433"/>
              <a:gd name="T1" fmla="*/ 0 h 289"/>
              <a:gd name="T2" fmla="*/ 0 w 433"/>
              <a:gd name="T3" fmla="*/ 288 h 289"/>
              <a:gd name="T4" fmla="*/ 432 w 433"/>
              <a:gd name="T5" fmla="*/ 288 h 289"/>
              <a:gd name="T6" fmla="*/ 432 w 433"/>
              <a:gd name="T7" fmla="*/ 0 h 289"/>
              <a:gd name="T8" fmla="*/ 0 w 433"/>
              <a:gd name="T9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289">
                <a:moveTo>
                  <a:pt x="0" y="0"/>
                </a:moveTo>
                <a:lnTo>
                  <a:pt x="0" y="288"/>
                </a:lnTo>
                <a:lnTo>
                  <a:pt x="432" y="288"/>
                </a:ln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Freeform 13"/>
          <p:cNvSpPr>
            <a:spLocks/>
          </p:cNvSpPr>
          <p:nvPr/>
        </p:nvSpPr>
        <p:spPr bwMode="auto">
          <a:xfrm>
            <a:off x="5247456" y="4215409"/>
            <a:ext cx="687388" cy="458788"/>
          </a:xfrm>
          <a:custGeom>
            <a:avLst/>
            <a:gdLst>
              <a:gd name="T0" fmla="*/ 0 w 433"/>
              <a:gd name="T1" fmla="*/ 0 h 289"/>
              <a:gd name="T2" fmla="*/ 0 w 433"/>
              <a:gd name="T3" fmla="*/ 288 h 289"/>
              <a:gd name="T4" fmla="*/ 432 w 433"/>
              <a:gd name="T5" fmla="*/ 288 h 289"/>
              <a:gd name="T6" fmla="*/ 432 w 433"/>
              <a:gd name="T7" fmla="*/ 0 h 289"/>
              <a:gd name="T8" fmla="*/ 0 w 433"/>
              <a:gd name="T9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289">
                <a:moveTo>
                  <a:pt x="0" y="0"/>
                </a:moveTo>
                <a:lnTo>
                  <a:pt x="0" y="288"/>
                </a:lnTo>
                <a:lnTo>
                  <a:pt x="432" y="288"/>
                </a:ln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AutoShape 14"/>
          <p:cNvSpPr>
            <a:spLocks noChangeArrowheads="1"/>
          </p:cNvSpPr>
          <p:nvPr/>
        </p:nvSpPr>
        <p:spPr bwMode="auto">
          <a:xfrm rot="10800000" flipH="1" flipV="1">
            <a:off x="1820044" y="5131397"/>
            <a:ext cx="1673225" cy="454025"/>
          </a:xfrm>
          <a:custGeom>
            <a:avLst/>
            <a:gdLst>
              <a:gd name="G0" fmla="+- 5398 0 0"/>
              <a:gd name="G1" fmla="+- 21600 0 5398"/>
              <a:gd name="G2" fmla="*/ 5398 1 2"/>
              <a:gd name="G3" fmla="+- 21600 0 G2"/>
              <a:gd name="G4" fmla="+/ 5398 21600 2"/>
              <a:gd name="G5" fmla="+/ G1 0 2"/>
              <a:gd name="G6" fmla="*/ 21600 21600 5398"/>
              <a:gd name="G7" fmla="*/ G6 1 2"/>
              <a:gd name="G8" fmla="+- 21600 0 G7"/>
              <a:gd name="G9" fmla="*/ 21600 1 2"/>
              <a:gd name="G10" fmla="+- 5398 0 G9"/>
              <a:gd name="G11" fmla="?: G10 G8 0"/>
              <a:gd name="G12" fmla="?: G10 G7 21600"/>
              <a:gd name="T0" fmla="*/ 18901 w 21600"/>
              <a:gd name="T1" fmla="*/ 10800 h 21600"/>
              <a:gd name="T2" fmla="*/ 10800 w 21600"/>
              <a:gd name="T3" fmla="*/ 21600 h 21600"/>
              <a:gd name="T4" fmla="*/ 2699 w 21600"/>
              <a:gd name="T5" fmla="*/ 10800 h 21600"/>
              <a:gd name="T6" fmla="*/ 10800 w 21600"/>
              <a:gd name="T7" fmla="*/ 0 h 21600"/>
              <a:gd name="T8" fmla="*/ 4499 w 21600"/>
              <a:gd name="T9" fmla="*/ 4499 h 21600"/>
              <a:gd name="T10" fmla="*/ 17101 w 21600"/>
              <a:gd name="T11" fmla="*/ 17101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8" y="21600"/>
                </a:lnTo>
                <a:lnTo>
                  <a:pt x="16202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AutoShape 15"/>
          <p:cNvSpPr>
            <a:spLocks noChangeArrowheads="1"/>
          </p:cNvSpPr>
          <p:nvPr/>
        </p:nvSpPr>
        <p:spPr bwMode="auto">
          <a:xfrm rot="10800000" flipH="1" flipV="1">
            <a:off x="4258444" y="5131397"/>
            <a:ext cx="1673225" cy="454025"/>
          </a:xfrm>
          <a:custGeom>
            <a:avLst/>
            <a:gdLst>
              <a:gd name="G0" fmla="+- 5398 0 0"/>
              <a:gd name="G1" fmla="+- 21600 0 5398"/>
              <a:gd name="G2" fmla="*/ 5398 1 2"/>
              <a:gd name="G3" fmla="+- 21600 0 G2"/>
              <a:gd name="G4" fmla="+/ 5398 21600 2"/>
              <a:gd name="G5" fmla="+/ G1 0 2"/>
              <a:gd name="G6" fmla="*/ 21600 21600 5398"/>
              <a:gd name="G7" fmla="*/ G6 1 2"/>
              <a:gd name="G8" fmla="+- 21600 0 G7"/>
              <a:gd name="G9" fmla="*/ 21600 1 2"/>
              <a:gd name="G10" fmla="+- 5398 0 G9"/>
              <a:gd name="G11" fmla="?: G10 G8 0"/>
              <a:gd name="G12" fmla="?: G10 G7 21600"/>
              <a:gd name="T0" fmla="*/ 18901 w 21600"/>
              <a:gd name="T1" fmla="*/ 10800 h 21600"/>
              <a:gd name="T2" fmla="*/ 10800 w 21600"/>
              <a:gd name="T3" fmla="*/ 21600 h 21600"/>
              <a:gd name="T4" fmla="*/ 2699 w 21600"/>
              <a:gd name="T5" fmla="*/ 10800 h 21600"/>
              <a:gd name="T6" fmla="*/ 10800 w 21600"/>
              <a:gd name="T7" fmla="*/ 0 h 21600"/>
              <a:gd name="T8" fmla="*/ 4499 w 21600"/>
              <a:gd name="T9" fmla="*/ 4499 h 21600"/>
              <a:gd name="T10" fmla="*/ 17101 w 21600"/>
              <a:gd name="T11" fmla="*/ 17101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8" y="21600"/>
                </a:lnTo>
                <a:lnTo>
                  <a:pt x="16202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1970856" y="1960055"/>
            <a:ext cx="0" cy="27256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3112269" y="1960055"/>
            <a:ext cx="1587" cy="27256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Line 18"/>
          <p:cNvSpPr>
            <a:spLocks noChangeShapeType="1"/>
          </p:cNvSpPr>
          <p:nvPr/>
        </p:nvSpPr>
        <p:spPr bwMode="auto">
          <a:xfrm>
            <a:off x="4561656" y="1960055"/>
            <a:ext cx="0" cy="27415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Line 19"/>
          <p:cNvSpPr>
            <a:spLocks noChangeShapeType="1"/>
          </p:cNvSpPr>
          <p:nvPr/>
        </p:nvSpPr>
        <p:spPr bwMode="auto">
          <a:xfrm>
            <a:off x="5626869" y="2005609"/>
            <a:ext cx="1587" cy="2270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>
            <a:off x="5171256" y="5587009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Line 21"/>
          <p:cNvSpPr>
            <a:spLocks noChangeShapeType="1"/>
          </p:cNvSpPr>
          <p:nvPr/>
        </p:nvSpPr>
        <p:spPr bwMode="auto">
          <a:xfrm>
            <a:off x="2656656" y="5587009"/>
            <a:ext cx="0" cy="455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3113856" y="2767609"/>
            <a:ext cx="0" cy="381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Line 23"/>
          <p:cNvSpPr>
            <a:spLocks noChangeShapeType="1"/>
          </p:cNvSpPr>
          <p:nvPr/>
        </p:nvSpPr>
        <p:spPr bwMode="auto">
          <a:xfrm>
            <a:off x="4409256" y="2767609"/>
            <a:ext cx="0" cy="381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Line 24"/>
          <p:cNvSpPr>
            <a:spLocks noChangeShapeType="1"/>
          </p:cNvSpPr>
          <p:nvPr/>
        </p:nvSpPr>
        <p:spPr bwMode="auto">
          <a:xfrm>
            <a:off x="1970856" y="2769197"/>
            <a:ext cx="0" cy="14462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5628456" y="2767609"/>
            <a:ext cx="0" cy="144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3" name="Line 26"/>
          <p:cNvSpPr>
            <a:spLocks noChangeShapeType="1"/>
          </p:cNvSpPr>
          <p:nvPr/>
        </p:nvSpPr>
        <p:spPr bwMode="auto">
          <a:xfrm>
            <a:off x="3037656" y="3759797"/>
            <a:ext cx="0" cy="4556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Line 27"/>
          <p:cNvSpPr>
            <a:spLocks noChangeShapeType="1"/>
          </p:cNvSpPr>
          <p:nvPr/>
        </p:nvSpPr>
        <p:spPr bwMode="auto">
          <a:xfrm>
            <a:off x="4866456" y="3759797"/>
            <a:ext cx="0" cy="4556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Freeform 28"/>
          <p:cNvSpPr>
            <a:spLocks/>
          </p:cNvSpPr>
          <p:nvPr/>
        </p:nvSpPr>
        <p:spPr bwMode="auto">
          <a:xfrm>
            <a:off x="3037656" y="3748684"/>
            <a:ext cx="1639888" cy="468313"/>
          </a:xfrm>
          <a:custGeom>
            <a:avLst/>
            <a:gdLst>
              <a:gd name="T0" fmla="*/ 0 w 1033"/>
              <a:gd name="T1" fmla="*/ 0 h 295"/>
              <a:gd name="T2" fmla="*/ 0 w 1033"/>
              <a:gd name="T3" fmla="*/ 150 h 295"/>
              <a:gd name="T4" fmla="*/ 1032 w 1033"/>
              <a:gd name="T5" fmla="*/ 150 h 295"/>
              <a:gd name="T6" fmla="*/ 1032 w 1033"/>
              <a:gd name="T7" fmla="*/ 294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3" h="295">
                <a:moveTo>
                  <a:pt x="0" y="0"/>
                </a:moveTo>
                <a:lnTo>
                  <a:pt x="0" y="150"/>
                </a:lnTo>
                <a:lnTo>
                  <a:pt x="1032" y="150"/>
                </a:lnTo>
                <a:lnTo>
                  <a:pt x="1032" y="294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6" name="Freeform 29"/>
          <p:cNvSpPr>
            <a:spLocks/>
          </p:cNvSpPr>
          <p:nvPr/>
        </p:nvSpPr>
        <p:spPr bwMode="auto">
          <a:xfrm>
            <a:off x="3151956" y="3758209"/>
            <a:ext cx="1335088" cy="458788"/>
          </a:xfrm>
          <a:custGeom>
            <a:avLst/>
            <a:gdLst>
              <a:gd name="T0" fmla="*/ 840 w 841"/>
              <a:gd name="T1" fmla="*/ 0 h 289"/>
              <a:gd name="T2" fmla="*/ 0 w 841"/>
              <a:gd name="T3" fmla="*/ 288 h 2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41" h="289">
                <a:moveTo>
                  <a:pt x="840" y="0"/>
                </a:moveTo>
                <a:lnTo>
                  <a:pt x="0" y="288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flipH="1">
            <a:off x="1208856" y="5739409"/>
            <a:ext cx="14462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Line 31"/>
          <p:cNvSpPr>
            <a:spLocks noChangeShapeType="1"/>
          </p:cNvSpPr>
          <p:nvPr/>
        </p:nvSpPr>
        <p:spPr bwMode="auto">
          <a:xfrm flipH="1" flipV="1">
            <a:off x="1204095" y="1729409"/>
            <a:ext cx="4761" cy="4010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9" name="Line 32"/>
          <p:cNvSpPr>
            <a:spLocks noChangeShapeType="1"/>
          </p:cNvSpPr>
          <p:nvPr/>
        </p:nvSpPr>
        <p:spPr bwMode="auto">
          <a:xfrm>
            <a:off x="1210444" y="1729409"/>
            <a:ext cx="12176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Line 33"/>
          <p:cNvSpPr>
            <a:spLocks noChangeShapeType="1"/>
          </p:cNvSpPr>
          <p:nvPr/>
        </p:nvSpPr>
        <p:spPr bwMode="auto">
          <a:xfrm flipH="1">
            <a:off x="2428056" y="1729409"/>
            <a:ext cx="0" cy="20419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Line 34"/>
          <p:cNvSpPr>
            <a:spLocks noChangeShapeType="1"/>
          </p:cNvSpPr>
          <p:nvPr/>
        </p:nvSpPr>
        <p:spPr bwMode="auto">
          <a:xfrm>
            <a:off x="5171256" y="5739409"/>
            <a:ext cx="11414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2" name="Line 35"/>
          <p:cNvSpPr>
            <a:spLocks noChangeShapeType="1"/>
          </p:cNvSpPr>
          <p:nvPr/>
        </p:nvSpPr>
        <p:spPr bwMode="auto">
          <a:xfrm>
            <a:off x="5247456" y="1700809"/>
            <a:ext cx="0" cy="2014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3" name="Line 36"/>
          <p:cNvSpPr>
            <a:spLocks noChangeShapeType="1"/>
          </p:cNvSpPr>
          <p:nvPr/>
        </p:nvSpPr>
        <p:spPr bwMode="auto">
          <a:xfrm flipH="1" flipV="1">
            <a:off x="6309494" y="1700808"/>
            <a:ext cx="4762" cy="40370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4" name="Line 37"/>
          <p:cNvSpPr>
            <a:spLocks noChangeShapeType="1"/>
          </p:cNvSpPr>
          <p:nvPr/>
        </p:nvSpPr>
        <p:spPr bwMode="auto">
          <a:xfrm flipH="1">
            <a:off x="5247456" y="1700809"/>
            <a:ext cx="10652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Line 38"/>
          <p:cNvSpPr>
            <a:spLocks noChangeShapeType="1"/>
          </p:cNvSpPr>
          <p:nvPr/>
        </p:nvSpPr>
        <p:spPr bwMode="auto">
          <a:xfrm>
            <a:off x="3036168" y="1712541"/>
            <a:ext cx="1488" cy="23289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6" name="Line 39"/>
          <p:cNvSpPr>
            <a:spLocks noChangeShapeType="1"/>
          </p:cNvSpPr>
          <p:nvPr/>
        </p:nvSpPr>
        <p:spPr bwMode="auto">
          <a:xfrm>
            <a:off x="4561656" y="1700809"/>
            <a:ext cx="0" cy="20196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Line 40"/>
          <p:cNvSpPr>
            <a:spLocks noChangeShapeType="1"/>
          </p:cNvSpPr>
          <p:nvPr/>
        </p:nvSpPr>
        <p:spPr bwMode="auto">
          <a:xfrm flipH="1">
            <a:off x="2277244" y="2920009"/>
            <a:ext cx="8366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Line 41"/>
          <p:cNvSpPr>
            <a:spLocks noChangeShapeType="1"/>
          </p:cNvSpPr>
          <p:nvPr/>
        </p:nvSpPr>
        <p:spPr bwMode="auto">
          <a:xfrm>
            <a:off x="4410844" y="2920009"/>
            <a:ext cx="9128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9" name="Line 42"/>
          <p:cNvSpPr>
            <a:spLocks noChangeShapeType="1"/>
          </p:cNvSpPr>
          <p:nvPr/>
        </p:nvSpPr>
        <p:spPr bwMode="auto">
          <a:xfrm>
            <a:off x="2275656" y="2921597"/>
            <a:ext cx="0" cy="12938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 flipV="1">
            <a:off x="5323656" y="2921597"/>
            <a:ext cx="0" cy="12938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Line 44"/>
          <p:cNvSpPr>
            <a:spLocks noChangeShapeType="1"/>
          </p:cNvSpPr>
          <p:nvPr/>
        </p:nvSpPr>
        <p:spPr bwMode="auto">
          <a:xfrm>
            <a:off x="5476056" y="4674197"/>
            <a:ext cx="0" cy="455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2" name="Line 45"/>
          <p:cNvSpPr>
            <a:spLocks noChangeShapeType="1"/>
          </p:cNvSpPr>
          <p:nvPr/>
        </p:nvSpPr>
        <p:spPr bwMode="auto">
          <a:xfrm>
            <a:off x="2123256" y="4674197"/>
            <a:ext cx="0" cy="455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3" name="Line 46"/>
          <p:cNvSpPr>
            <a:spLocks noChangeShapeType="1"/>
          </p:cNvSpPr>
          <p:nvPr/>
        </p:nvSpPr>
        <p:spPr bwMode="auto">
          <a:xfrm>
            <a:off x="3113856" y="4674197"/>
            <a:ext cx="0" cy="455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Line 47"/>
          <p:cNvSpPr>
            <a:spLocks noChangeShapeType="1"/>
          </p:cNvSpPr>
          <p:nvPr/>
        </p:nvSpPr>
        <p:spPr bwMode="auto">
          <a:xfrm>
            <a:off x="4714056" y="4674197"/>
            <a:ext cx="0" cy="455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Line 48"/>
          <p:cNvSpPr>
            <a:spLocks noChangeShapeType="1"/>
          </p:cNvSpPr>
          <p:nvPr/>
        </p:nvSpPr>
        <p:spPr bwMode="auto">
          <a:xfrm flipH="1">
            <a:off x="2123256" y="4215409"/>
            <a:ext cx="152400" cy="455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6" name="Line 49"/>
          <p:cNvSpPr>
            <a:spLocks noChangeShapeType="1"/>
          </p:cNvSpPr>
          <p:nvPr/>
        </p:nvSpPr>
        <p:spPr bwMode="auto">
          <a:xfrm flipH="1">
            <a:off x="3113856" y="4215409"/>
            <a:ext cx="76200" cy="455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7" name="Line 50"/>
          <p:cNvSpPr>
            <a:spLocks noChangeShapeType="1"/>
          </p:cNvSpPr>
          <p:nvPr/>
        </p:nvSpPr>
        <p:spPr bwMode="auto">
          <a:xfrm flipH="1">
            <a:off x="5476056" y="4215409"/>
            <a:ext cx="150813" cy="457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8" name="Line 51"/>
          <p:cNvSpPr>
            <a:spLocks noChangeShapeType="1"/>
          </p:cNvSpPr>
          <p:nvPr/>
        </p:nvSpPr>
        <p:spPr bwMode="auto">
          <a:xfrm>
            <a:off x="4637856" y="4215409"/>
            <a:ext cx="76200" cy="457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9" name="Rectangle 54"/>
          <p:cNvSpPr>
            <a:spLocks noChangeArrowheads="1"/>
          </p:cNvSpPr>
          <p:nvPr/>
        </p:nvSpPr>
        <p:spPr bwMode="auto">
          <a:xfrm>
            <a:off x="2732856" y="2310409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X-Reg</a:t>
            </a:r>
          </a:p>
        </p:txBody>
      </p:sp>
      <p:sp>
        <p:nvSpPr>
          <p:cNvPr id="70" name="Rectangle 55"/>
          <p:cNvSpPr>
            <a:spLocks noChangeArrowheads="1"/>
          </p:cNvSpPr>
          <p:nvPr/>
        </p:nvSpPr>
        <p:spPr bwMode="auto">
          <a:xfrm>
            <a:off x="4028256" y="2310409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Y-Reg</a:t>
            </a:r>
          </a:p>
        </p:txBody>
      </p:sp>
      <p:sp>
        <p:nvSpPr>
          <p:cNvPr id="71" name="Rectangle 56"/>
          <p:cNvSpPr>
            <a:spLocks noChangeArrowheads="1"/>
          </p:cNvSpPr>
          <p:nvPr/>
        </p:nvSpPr>
        <p:spPr bwMode="auto">
          <a:xfrm>
            <a:off x="2275656" y="5053609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+/-</a:t>
            </a:r>
          </a:p>
        </p:txBody>
      </p:sp>
      <p:sp>
        <p:nvSpPr>
          <p:cNvPr id="72" name="Rectangle 57"/>
          <p:cNvSpPr>
            <a:spLocks noChangeArrowheads="1"/>
          </p:cNvSpPr>
          <p:nvPr/>
        </p:nvSpPr>
        <p:spPr bwMode="auto">
          <a:xfrm>
            <a:off x="4866456" y="505360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+/-</a:t>
            </a:r>
          </a:p>
        </p:txBody>
      </p:sp>
      <p:sp>
        <p:nvSpPr>
          <p:cNvPr id="74" name="Rectangle 58"/>
          <p:cNvSpPr>
            <a:spLocks noChangeArrowheads="1"/>
          </p:cNvSpPr>
          <p:nvPr/>
        </p:nvSpPr>
        <p:spPr bwMode="auto">
          <a:xfrm>
            <a:off x="2729682" y="3305972"/>
            <a:ext cx="7620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shifter</a:t>
            </a:r>
          </a:p>
        </p:txBody>
      </p:sp>
      <p:sp>
        <p:nvSpPr>
          <p:cNvPr id="75" name="Rectangle 59"/>
          <p:cNvSpPr>
            <a:spLocks noChangeArrowheads="1"/>
          </p:cNvSpPr>
          <p:nvPr/>
        </p:nvSpPr>
        <p:spPr bwMode="auto">
          <a:xfrm>
            <a:off x="4139381" y="3294395"/>
            <a:ext cx="7620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shifter</a:t>
            </a:r>
          </a:p>
        </p:txBody>
      </p:sp>
      <p:sp>
        <p:nvSpPr>
          <p:cNvPr id="76" name="Rectangle 60"/>
          <p:cNvSpPr>
            <a:spLocks noChangeArrowheads="1"/>
          </p:cNvSpPr>
          <p:nvPr/>
        </p:nvSpPr>
        <p:spPr bwMode="auto">
          <a:xfrm>
            <a:off x="2351856" y="6044209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X(i+1)</a:t>
            </a:r>
          </a:p>
        </p:txBody>
      </p:sp>
      <p:sp>
        <p:nvSpPr>
          <p:cNvPr id="77" name="Rectangle 61"/>
          <p:cNvSpPr>
            <a:spLocks noChangeArrowheads="1"/>
          </p:cNvSpPr>
          <p:nvPr/>
        </p:nvSpPr>
        <p:spPr bwMode="auto">
          <a:xfrm>
            <a:off x="4714056" y="6044209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Y(i+1)</a:t>
            </a:r>
          </a:p>
        </p:txBody>
      </p:sp>
      <p:sp>
        <p:nvSpPr>
          <p:cNvPr id="78" name="AutoShape 62"/>
          <p:cNvSpPr>
            <a:spLocks noChangeArrowheads="1"/>
          </p:cNvSpPr>
          <p:nvPr/>
        </p:nvSpPr>
        <p:spPr bwMode="auto">
          <a:xfrm rot="10800000" flipH="1" flipV="1">
            <a:off x="7077844" y="5030788"/>
            <a:ext cx="1749425" cy="377825"/>
          </a:xfrm>
          <a:custGeom>
            <a:avLst/>
            <a:gdLst>
              <a:gd name="G0" fmla="+- 5398 0 0"/>
              <a:gd name="G1" fmla="+- 21600 0 5398"/>
              <a:gd name="G2" fmla="*/ 5398 1 2"/>
              <a:gd name="G3" fmla="+- 21600 0 G2"/>
              <a:gd name="G4" fmla="+/ 5398 21600 2"/>
              <a:gd name="G5" fmla="+/ G1 0 2"/>
              <a:gd name="G6" fmla="*/ 21600 21600 5398"/>
              <a:gd name="G7" fmla="*/ G6 1 2"/>
              <a:gd name="G8" fmla="+- 21600 0 G7"/>
              <a:gd name="G9" fmla="*/ 21600 1 2"/>
              <a:gd name="G10" fmla="+- 5398 0 G9"/>
              <a:gd name="G11" fmla="?: G10 G8 0"/>
              <a:gd name="G12" fmla="?: G10 G7 21600"/>
              <a:gd name="T0" fmla="*/ 18901 w 21600"/>
              <a:gd name="T1" fmla="*/ 10800 h 21600"/>
              <a:gd name="T2" fmla="*/ 10800 w 21600"/>
              <a:gd name="T3" fmla="*/ 21600 h 21600"/>
              <a:gd name="T4" fmla="*/ 2699 w 21600"/>
              <a:gd name="T5" fmla="*/ 10800 h 21600"/>
              <a:gd name="T6" fmla="*/ 10800 w 21600"/>
              <a:gd name="T7" fmla="*/ 0 h 21600"/>
              <a:gd name="T8" fmla="*/ 4499 w 21600"/>
              <a:gd name="T9" fmla="*/ 4499 h 21600"/>
              <a:gd name="T10" fmla="*/ 17101 w 21600"/>
              <a:gd name="T11" fmla="*/ 17101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8" y="21600"/>
                </a:lnTo>
                <a:lnTo>
                  <a:pt x="16202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Rectangle 63"/>
          <p:cNvSpPr>
            <a:spLocks noChangeArrowheads="1"/>
          </p:cNvSpPr>
          <p:nvPr/>
        </p:nvSpPr>
        <p:spPr bwMode="auto">
          <a:xfrm>
            <a:off x="7992244" y="3887788"/>
            <a:ext cx="758825" cy="606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Line 64"/>
          <p:cNvSpPr>
            <a:spLocks noChangeShapeType="1"/>
          </p:cNvSpPr>
          <p:nvPr/>
        </p:nvSpPr>
        <p:spPr bwMode="auto">
          <a:xfrm>
            <a:off x="8371656" y="4573588"/>
            <a:ext cx="0" cy="455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Line 65"/>
          <p:cNvSpPr>
            <a:spLocks noChangeShapeType="1"/>
          </p:cNvSpPr>
          <p:nvPr/>
        </p:nvSpPr>
        <p:spPr bwMode="auto">
          <a:xfrm>
            <a:off x="7990656" y="5411788"/>
            <a:ext cx="0" cy="6080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2" name="Line 66"/>
          <p:cNvSpPr>
            <a:spLocks noChangeShapeType="1"/>
          </p:cNvSpPr>
          <p:nvPr/>
        </p:nvSpPr>
        <p:spPr bwMode="auto">
          <a:xfrm>
            <a:off x="7457256" y="4421188"/>
            <a:ext cx="0" cy="6080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Line 67"/>
          <p:cNvSpPr>
            <a:spLocks noChangeShapeType="1"/>
          </p:cNvSpPr>
          <p:nvPr/>
        </p:nvSpPr>
        <p:spPr bwMode="auto">
          <a:xfrm>
            <a:off x="6696844" y="5257800"/>
            <a:ext cx="60801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ysDot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Line 68"/>
          <p:cNvSpPr>
            <a:spLocks noChangeShapeType="1"/>
          </p:cNvSpPr>
          <p:nvPr/>
        </p:nvSpPr>
        <p:spPr bwMode="auto">
          <a:xfrm>
            <a:off x="8297044" y="3581400"/>
            <a:ext cx="7604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5" name="Line 69"/>
          <p:cNvSpPr>
            <a:spLocks noChangeShapeType="1"/>
          </p:cNvSpPr>
          <p:nvPr/>
        </p:nvSpPr>
        <p:spPr bwMode="auto">
          <a:xfrm>
            <a:off x="9057456" y="3582988"/>
            <a:ext cx="0" cy="1979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6" name="Line 70"/>
          <p:cNvSpPr>
            <a:spLocks noChangeShapeType="1"/>
          </p:cNvSpPr>
          <p:nvPr/>
        </p:nvSpPr>
        <p:spPr bwMode="auto">
          <a:xfrm flipH="1">
            <a:off x="7992244" y="5562600"/>
            <a:ext cx="10652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7" name="Rectangle 71"/>
          <p:cNvSpPr>
            <a:spLocks noChangeArrowheads="1"/>
          </p:cNvSpPr>
          <p:nvPr/>
        </p:nvSpPr>
        <p:spPr bwMode="auto">
          <a:xfrm>
            <a:off x="7076256" y="1981200"/>
            <a:ext cx="914400" cy="233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a(n-1) </a:t>
            </a:r>
            <a:endParaRPr kumimoji="0" lang="en-US" altLang="zh-TW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a(1)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a(0)</a:t>
            </a:r>
          </a:p>
        </p:txBody>
      </p:sp>
      <p:sp>
        <p:nvSpPr>
          <p:cNvPr id="88" name="Rectangle 72"/>
          <p:cNvSpPr>
            <a:spLocks noChangeArrowheads="1"/>
          </p:cNvSpPr>
          <p:nvPr/>
        </p:nvSpPr>
        <p:spPr bwMode="auto">
          <a:xfrm>
            <a:off x="7990656" y="40386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Z-reg</a:t>
            </a:r>
          </a:p>
        </p:txBody>
      </p:sp>
      <p:sp>
        <p:nvSpPr>
          <p:cNvPr id="89" name="Line 73"/>
          <p:cNvSpPr>
            <a:spLocks noChangeShapeType="1"/>
          </p:cNvSpPr>
          <p:nvPr/>
        </p:nvSpPr>
        <p:spPr bwMode="auto">
          <a:xfrm>
            <a:off x="8295456" y="3582988"/>
            <a:ext cx="0" cy="3032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90" name="Object 74"/>
          <p:cNvGraphicFramePr>
            <a:graphicFrameLocks/>
          </p:cNvGraphicFramePr>
          <p:nvPr/>
        </p:nvGraphicFramePr>
        <p:xfrm>
          <a:off x="6542856" y="5181600"/>
          <a:ext cx="482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方程式" r:id="rId3" imgW="482400" imgH="622080" progId="Equation.3">
                  <p:embed/>
                </p:oleObj>
              </mc:Choice>
              <mc:Fallback>
                <p:oleObj name="方程式" r:id="rId3" imgW="482400" imgH="622080" progId="Equation.3">
                  <p:embed/>
                  <p:pic>
                    <p:nvPicPr>
                      <p:cNvPr id="90" name="Object 7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856" y="5181600"/>
                        <a:ext cx="482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Rectangle 75"/>
          <p:cNvSpPr>
            <a:spLocks noChangeArrowheads="1"/>
          </p:cNvSpPr>
          <p:nvPr/>
        </p:nvSpPr>
        <p:spPr bwMode="auto">
          <a:xfrm>
            <a:off x="7609656" y="60198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Z(i+1)</a:t>
            </a:r>
          </a:p>
        </p:txBody>
      </p:sp>
      <p:sp>
        <p:nvSpPr>
          <p:cNvPr id="92" name="Line 76"/>
          <p:cNvSpPr>
            <a:spLocks noChangeShapeType="1"/>
          </p:cNvSpPr>
          <p:nvPr/>
        </p:nvSpPr>
        <p:spPr bwMode="auto">
          <a:xfrm>
            <a:off x="7381056" y="2743200"/>
            <a:ext cx="0" cy="838200"/>
          </a:xfrm>
          <a:prstGeom prst="line">
            <a:avLst/>
          </a:prstGeom>
          <a:noFill/>
          <a:ln w="41275">
            <a:solidFill>
              <a:srgbClr val="00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60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zh-TW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 systolic</a:t>
            </a: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 comes from a 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medical term </a:t>
            </a:r>
            <a:r>
              <a:rPr lang="en-US" altLang="zh-TW" sz="20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systole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A heartbeat pulses blood continuously pumping through the heart.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H. T. Kung (</a:t>
            </a:r>
            <a:r>
              <a:rPr lang="zh-TW" altLang="en-US" sz="1800" dirty="0">
                <a:cs typeface="Arial" panose="020B0604020202020204" pitchFamily="34" charset="0"/>
              </a:rPr>
              <a:t>孔祥重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) and Charles E. </a:t>
            </a:r>
            <a:r>
              <a:rPr lang="en-US" altLang="zh-TW" sz="1800" dirty="0" err="1">
                <a:latin typeface="Arial" panose="020B0604020202020204" pitchFamily="34" charset="0"/>
                <a:cs typeface="Arial" panose="020B0604020202020204" pitchFamily="34" charset="0"/>
              </a:rPr>
              <a:t>Leiserson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first introduced and popularized the concept of </a:t>
            </a:r>
            <a:r>
              <a:rPr lang="en-US" altLang="zh-TW" sz="18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systolic arrays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 in their foundational 1978/1979 report titled </a:t>
            </a:r>
            <a:r>
              <a:rPr lang="en-US" altLang="zh-TW" sz="1800" b="0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"Systolic Arrays (for VLSI)"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TW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3D68AB5-E9B5-4610-B487-5C2C84B23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77" t="7555" r="39096" b="58723"/>
          <a:stretch/>
        </p:blipFill>
        <p:spPr>
          <a:xfrm>
            <a:off x="3800872" y="2162054"/>
            <a:ext cx="2304256" cy="263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9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Synchronized local computation</a:t>
            </a: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data movement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latin typeface="Arial" panose="020B0604020202020204" pitchFamily="34" charset="0"/>
                <a:cs typeface="Arial" panose="020B0604020202020204" pitchFamily="34" charset="0"/>
              </a:rPr>
              <a:t>A network of processing elements (PEs) that rhythmically computes and passes data through the system.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The PEs regularly pump data in and out of the array and multiple PEs to maximize processing per memory access. 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920552" y="3467154"/>
            <a:ext cx="5616624" cy="969958"/>
          </a:xfrm>
        </p:spPr>
        <p:txBody>
          <a:bodyPr/>
          <a:lstStyle/>
          <a:p>
            <a:pPr marL="0" lvl="1" algn="just"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A specialized form of parallel computing. </a:t>
            </a:r>
          </a:p>
          <a:p>
            <a:pPr marL="0" lvl="1" algn="just"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Features modularity and regularity</a:t>
            </a:r>
          </a:p>
          <a:p>
            <a:pPr marL="0" lvl="1" algn="just"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PEs are uniform, fully pipelined, and synchronized.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eaLnBrk="1" hangingPunct="1">
              <a:buNone/>
              <a:defRPr/>
            </a:pPr>
            <a:endParaRPr lang="en-US" altLang="zh-TW" sz="1600" i="1" dirty="0">
              <a:latin typeface="+mj-lt"/>
            </a:endParaRPr>
          </a:p>
          <a:p>
            <a:pPr lvl="1" algn="just" eaLnBrk="1" hangingPunct="1">
              <a:buFont typeface="Wingdings" charset="2"/>
              <a:buChar char="§"/>
              <a:defRPr/>
            </a:pPr>
            <a:endParaRPr lang="en-US" altLang="zh-TW" sz="1600" dirty="0">
              <a:latin typeface="+mj-lt"/>
            </a:endParaRPr>
          </a:p>
          <a:p>
            <a:pPr lvl="1" algn="just" eaLnBrk="1" hangingPunct="1">
              <a:buFont typeface="Wingdings" charset="2"/>
              <a:buNone/>
              <a:defRPr/>
            </a:pPr>
            <a:endParaRPr lang="en-US" altLang="zh-TW" sz="1600" dirty="0">
              <a:solidFill>
                <a:srgbClr val="000000"/>
              </a:solidFill>
              <a:latin typeface="Calibri" pitchFamily="34" charset="0"/>
            </a:endParaRPr>
          </a:p>
          <a:p>
            <a:pPr lvl="1" algn="just" eaLnBrk="1" hangingPunct="1">
              <a:buFont typeface="Wingdings" charset="2"/>
              <a:buChar char="§"/>
              <a:defRPr/>
            </a:pPr>
            <a:endParaRPr lang="en-US" altLang="zh-TW" sz="1600" dirty="0">
              <a:latin typeface="Calibri" pitchFamily="34" charset="0"/>
            </a:endParaRPr>
          </a:p>
          <a:p>
            <a:pPr>
              <a:buFont typeface="Wingdings" charset="2"/>
              <a:buNone/>
              <a:defRPr/>
            </a:pPr>
            <a:endParaRPr lang="zh-TW" altLang="en-US" sz="1600" dirty="0">
              <a:latin typeface="Calibri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B1EBBE-0B18-4441-8F56-883EB53605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8" t="45314" r="44583" b="14572"/>
          <a:stretch/>
        </p:blipFill>
        <p:spPr>
          <a:xfrm>
            <a:off x="5678330" y="4704570"/>
            <a:ext cx="3744416" cy="16047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F727F80-B0A8-4C84-82E3-87A193311A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3" t="8254" r="53307" b="59061"/>
          <a:stretch/>
        </p:blipFill>
        <p:spPr>
          <a:xfrm>
            <a:off x="1136576" y="4821484"/>
            <a:ext cx="3240360" cy="137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8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Systolic Array and PE structures.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>
                <a:latin typeface="Arial" panose="020B0604020202020204" pitchFamily="34" charset="0"/>
                <a:cs typeface="Arial" panose="020B0604020202020204" pitchFamily="34" charset="0"/>
              </a:rPr>
              <a:t>PE usually contains MAC operators and registers.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>
                <a:latin typeface="Arial" panose="020B0604020202020204" pitchFamily="34" charset="0"/>
                <a:cs typeface="Arial" panose="020B0604020202020204" pitchFamily="34" charset="0"/>
              </a:rPr>
              <a:t>Each PE has a space-time representation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>
                <a:latin typeface="Arial" panose="020B0604020202020204" pitchFamily="34" charset="0"/>
                <a:cs typeface="Arial" panose="020B0604020202020204" pitchFamily="34" charset="0"/>
              </a:rPr>
              <a:t>The dataflow within PE is usually very simple.</a:t>
            </a:r>
          </a:p>
          <a:p>
            <a:pPr lvl="2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>
                <a:latin typeface="Arial" panose="020B0604020202020204" pitchFamily="34" charset="0"/>
                <a:cs typeface="Arial" panose="020B0604020202020204" pitchFamily="34" charset="0"/>
              </a:rPr>
              <a:t>receive → compute → register → forward </a:t>
            </a:r>
            <a:r>
              <a:rPr lang="en-US" altLang="zh-TW" sz="16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91" y="3724225"/>
            <a:ext cx="5543814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208584" y="5596433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800" kern="0" dirty="0">
                <a:solidFill>
                  <a:srgbClr val="FF0000"/>
                </a:solidFill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broadcast inputs, move results, weights stay</a:t>
            </a:r>
            <a:endParaRPr lang="zh-TW" alt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BF1BE7-8C26-4733-A5A7-59188852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84" y="1299472"/>
            <a:ext cx="2972578" cy="4916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11348AA-BA22-4E45-826A-B78FA3160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199" y="2362494"/>
            <a:ext cx="3378548" cy="126598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5064E3-5B9A-4B43-9B2D-AB4F6F0AB7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316" b="5962"/>
          <a:stretch/>
        </p:blipFill>
        <p:spPr>
          <a:xfrm>
            <a:off x="6530796" y="3897336"/>
            <a:ext cx="3253951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Architecture:</a:t>
            </a:r>
            <a:r>
              <a:rPr lang="zh-TW" altLang="en-US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Example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Tensor</a:t>
            </a:r>
            <a:r>
              <a:rPr lang="en-US" altLang="zh-TW" sz="20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Processing Unit (TPU) of Google</a:t>
            </a:r>
            <a:endParaRPr lang="en-US" altLang="zh-TW" sz="20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kern="0" dirty="0">
                <a:latin typeface="Arial" panose="020B0604020202020204" pitchFamily="34" charset="0"/>
                <a:cs typeface="Arial" panose="020B0604020202020204" pitchFamily="34" charset="0"/>
              </a:rPr>
              <a:t>TPUs are application specific integrated circuits (ASICs) designed by Google to accelerate machine learning workloads.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kern="0" dirty="0">
                <a:latin typeface="Arial" panose="020B0604020202020204" pitchFamily="34" charset="0"/>
                <a:cs typeface="Arial" panose="020B0604020202020204" pitchFamily="34" charset="0"/>
              </a:rPr>
              <a:t>TPUs are designed to perform matrix operations quickly making them ideal for machine learning workloads.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1800" kern="0" dirty="0">
                <a:latin typeface="Arial" panose="020B0604020202020204" pitchFamily="34" charset="0"/>
                <a:cs typeface="Arial" panose="020B0604020202020204" pitchFamily="34" charset="0"/>
              </a:rPr>
              <a:t>The heart of the TPU: A systolic array.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11DFEA-ED86-4FE4-BBA0-6865D51FEDA1}"/>
              </a:ext>
            </a:extLst>
          </p:cNvPr>
          <p:cNvSpPr txBox="1"/>
          <p:nvPr/>
        </p:nvSpPr>
        <p:spPr>
          <a:xfrm>
            <a:off x="1784648" y="6488668"/>
            <a:ext cx="5832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u="sng" dirty="0"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https://docs.cloud.google.com/tpu/docs/system-architecture-tpu-vm</a:t>
            </a:r>
            <a:endParaRPr lang="en-US" altLang="zh-TW" sz="900" u="sng" dirty="0">
              <a:latin typeface="+mj-lt"/>
              <a:cs typeface="Arial" panose="020B0604020202020204" pitchFamily="34" charset="0"/>
            </a:endParaRPr>
          </a:p>
          <a:p>
            <a:r>
              <a:rPr lang="en-US" altLang="zh-TW" sz="900" u="sng" dirty="0">
                <a:latin typeface="+mj-lt"/>
                <a:cs typeface="Arial" panose="020B0604020202020204" pitchFamily="34" charset="0"/>
              </a:rPr>
              <a:t>https://cloud.google.com/blog/products/ai-machine-learning/an-in-depth-look-at-googles-first-tensor-processing-unit-tpu</a:t>
            </a:r>
            <a:endParaRPr lang="zh-TW" altLang="en-US" sz="900" u="sng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29A3111-03B2-4614-B04A-6E82D2C58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648" y="3645025"/>
            <a:ext cx="7200800" cy="26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9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Example: Matrix Multiplication 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358740" y="1466257"/>
            <a:ext cx="1110699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3   4   2</a:t>
            </a:r>
            <a:r>
              <a:rPr lang="en-US" altLang="zh-TW" sz="1400" b="1" dirty="0">
                <a:solidFill>
                  <a:srgbClr val="3333FF"/>
                </a:solidFill>
                <a:ea typeface="新細明體" charset="-120"/>
              </a:rPr>
              <a:t>      </a:t>
            </a:r>
          </a:p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2   5   3</a:t>
            </a:r>
          </a:p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3   2   5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850713" y="1772988"/>
            <a:ext cx="46679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4400" dirty="0">
                <a:ea typeface="新細明體" charset="-120"/>
              </a:rPr>
              <a:t>*</a:t>
            </a:r>
            <a:endParaRPr lang="en-US" altLang="zh-TW" sz="1050" dirty="0">
              <a:ea typeface="新細明體" charset="-12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358740" y="3301645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>
                <a:ea typeface="新細明體" charset="-120"/>
              </a:rPr>
              <a:t>=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8698782" y="1466257"/>
            <a:ext cx="1151627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3   4   2</a:t>
            </a:r>
            <a:r>
              <a:rPr lang="en-US" altLang="zh-TW" sz="1400" b="1" dirty="0">
                <a:solidFill>
                  <a:srgbClr val="FF0000"/>
                </a:solidFill>
                <a:ea typeface="新細明體" charset="-120"/>
              </a:rPr>
              <a:t>      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2   5   3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3   2   5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874353" y="2932312"/>
            <a:ext cx="1590713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dirty="0">
                <a:ea typeface="新細明體" charset="-120"/>
              </a:rPr>
              <a:t>23   36   28</a:t>
            </a:r>
            <a:r>
              <a:rPr lang="en-US" altLang="zh-TW" sz="1400" dirty="0">
                <a:ea typeface="新細明體" charset="-120"/>
              </a:rPr>
              <a:t>      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25   39   34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28   32   37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5130428" y="56271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P9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222378" y="56271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P8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314328" y="56271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P7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130428" y="47889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P6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222378" y="47889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P5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3314328" y="47889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P4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314328" y="39507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P1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4222378" y="39507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P2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5130428" y="3950733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bg2"/>
                </a:solidFill>
                <a:ea typeface="新細明體" charset="-120"/>
              </a:rPr>
              <a:t>P3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3809628" y="41793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3561978" y="44079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4470028" y="52461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4470028" y="44079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3561978" y="52461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5378078" y="52461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5378078" y="44079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5625728" y="50175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4717678" y="50175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>
            <a:off x="5625728" y="41793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3809628" y="50175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4717678" y="41793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5625728" y="58557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4717678" y="58557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3809628" y="58557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2901578" y="58557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2901578" y="50175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2901578" y="4179333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1580778" y="3950733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3333FF"/>
                </a:solidFill>
                <a:ea typeface="新細明體" charset="-120"/>
              </a:rPr>
              <a:t>2    4    3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1085478" y="4788933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3333FF"/>
                </a:solidFill>
                <a:ea typeface="新細明體" charset="-120"/>
              </a:rPr>
              <a:t>3    5    2</a:t>
            </a:r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>
            <a:off x="3561978" y="35697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" name="Line 40"/>
          <p:cNvSpPr>
            <a:spLocks noChangeShapeType="1"/>
          </p:cNvSpPr>
          <p:nvPr/>
        </p:nvSpPr>
        <p:spPr bwMode="auto">
          <a:xfrm>
            <a:off x="4470028" y="35697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5378078" y="356973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Text Box 42"/>
          <p:cNvSpPr txBox="1">
            <a:spLocks noChangeArrowheads="1"/>
          </p:cNvSpPr>
          <p:nvPr/>
        </p:nvSpPr>
        <p:spPr bwMode="auto">
          <a:xfrm>
            <a:off x="3314328" y="2274333"/>
            <a:ext cx="557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endParaRPr lang="zh-TW" altLang="zh-TW" sz="1400">
              <a:ea typeface="新細明體" charset="-120"/>
            </a:endParaRPr>
          </a:p>
        </p:txBody>
      </p:sp>
      <p:sp>
        <p:nvSpPr>
          <p:cNvPr id="47" name="Text Box 43"/>
          <p:cNvSpPr txBox="1">
            <a:spLocks noChangeArrowheads="1"/>
          </p:cNvSpPr>
          <p:nvPr/>
        </p:nvSpPr>
        <p:spPr bwMode="auto">
          <a:xfrm>
            <a:off x="3396878" y="2350533"/>
            <a:ext cx="338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2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</a:t>
            </a: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507628" y="5627133"/>
            <a:ext cx="13388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3333FF"/>
                </a:solidFill>
                <a:ea typeface="新細明體" charset="-120"/>
              </a:rPr>
              <a:t>5     2    3</a:t>
            </a:r>
          </a:p>
        </p:txBody>
      </p: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5212978" y="1588533"/>
            <a:ext cx="338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5</a:t>
            </a:r>
          </a:p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3</a:t>
            </a:r>
          </a:p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2</a:t>
            </a:r>
          </a:p>
        </p:txBody>
      </p:sp>
      <p:sp>
        <p:nvSpPr>
          <p:cNvPr id="50" name="Text Box 48"/>
          <p:cNvSpPr txBox="1">
            <a:spLocks noChangeArrowheads="1"/>
          </p:cNvSpPr>
          <p:nvPr/>
        </p:nvSpPr>
        <p:spPr bwMode="auto">
          <a:xfrm>
            <a:off x="4304928" y="1969533"/>
            <a:ext cx="338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2</a:t>
            </a:r>
          </a:p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5</a:t>
            </a:r>
          </a:p>
          <a:p>
            <a:pPr eaLnBrk="1" hangingPunct="1"/>
            <a:r>
              <a:rPr lang="en-US" altLang="zh-TW" b="1">
                <a:solidFill>
                  <a:srgbClr val="FF0000"/>
                </a:solidFill>
                <a:ea typeface="新細明體" charset="-12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8551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8856984" cy="648072"/>
          </a:xfrm>
        </p:spPr>
        <p:txBody>
          <a:bodyPr/>
          <a:lstStyle/>
          <a:p>
            <a:pPr algn="just"/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</a:rPr>
              <a:t>Systolic Array Architecture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440978" y="1143001"/>
            <a:ext cx="9408566" cy="2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Example: Matrix Multiplication </a:t>
            </a: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6604001" y="46790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5695951" y="46790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>
            <a:off x="4787901" y="46790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4" name="Rectangle 6"/>
          <p:cNvSpPr>
            <a:spLocks noChangeArrowheads="1"/>
          </p:cNvSpPr>
          <p:nvPr/>
        </p:nvSpPr>
        <p:spPr bwMode="auto">
          <a:xfrm>
            <a:off x="6604001" y="38408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5" name="Rectangle 7"/>
          <p:cNvSpPr>
            <a:spLocks noChangeArrowheads="1"/>
          </p:cNvSpPr>
          <p:nvPr/>
        </p:nvSpPr>
        <p:spPr bwMode="auto">
          <a:xfrm>
            <a:off x="5695951" y="38408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6" name="Rectangle 8"/>
          <p:cNvSpPr>
            <a:spLocks noChangeArrowheads="1"/>
          </p:cNvSpPr>
          <p:nvPr/>
        </p:nvSpPr>
        <p:spPr bwMode="auto">
          <a:xfrm>
            <a:off x="4787901" y="38408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4787901" y="30026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3</a:t>
            </a:r>
            <a:r>
              <a:rPr lang="en-US" altLang="zh-TW" b="1" dirty="0">
                <a:ea typeface="新細明體" charset="-120"/>
              </a:rPr>
              <a:t>*</a:t>
            </a:r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</a:t>
            </a:r>
          </a:p>
        </p:txBody>
      </p:sp>
      <p:sp>
        <p:nvSpPr>
          <p:cNvPr id="58" name="Rectangle 10"/>
          <p:cNvSpPr>
            <a:spLocks noChangeArrowheads="1"/>
          </p:cNvSpPr>
          <p:nvPr/>
        </p:nvSpPr>
        <p:spPr bwMode="auto">
          <a:xfrm>
            <a:off x="5695951" y="30026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59" name="Rectangle 11"/>
          <p:cNvSpPr>
            <a:spLocks noChangeArrowheads="1"/>
          </p:cNvSpPr>
          <p:nvPr/>
        </p:nvSpPr>
        <p:spPr bwMode="auto">
          <a:xfrm>
            <a:off x="6604001" y="3002659"/>
            <a:ext cx="4953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endParaRPr lang="zh-TW" altLang="zh-TW">
              <a:solidFill>
                <a:schemeClr val="bg2"/>
              </a:solidFill>
              <a:ea typeface="新細明體" charset="-120"/>
            </a:endParaRPr>
          </a:p>
        </p:txBody>
      </p:sp>
      <p:sp>
        <p:nvSpPr>
          <p:cNvPr id="60" name="Line 12"/>
          <p:cNvSpPr>
            <a:spLocks noChangeShapeType="1"/>
          </p:cNvSpPr>
          <p:nvPr/>
        </p:nvSpPr>
        <p:spPr bwMode="auto">
          <a:xfrm>
            <a:off x="5283201" y="32312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1" name="Line 13"/>
          <p:cNvSpPr>
            <a:spLocks noChangeShapeType="1"/>
          </p:cNvSpPr>
          <p:nvPr/>
        </p:nvSpPr>
        <p:spPr bwMode="auto">
          <a:xfrm>
            <a:off x="5035551" y="34598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>
            <a:off x="5943601" y="42980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>
            <a:off x="5943601" y="34598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4" name="Line 16"/>
          <p:cNvSpPr>
            <a:spLocks noChangeShapeType="1"/>
          </p:cNvSpPr>
          <p:nvPr/>
        </p:nvSpPr>
        <p:spPr bwMode="auto">
          <a:xfrm>
            <a:off x="5035551" y="42980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5" name="Line 17"/>
          <p:cNvSpPr>
            <a:spLocks noChangeShapeType="1"/>
          </p:cNvSpPr>
          <p:nvPr/>
        </p:nvSpPr>
        <p:spPr bwMode="auto">
          <a:xfrm>
            <a:off x="6851651" y="42980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6" name="Line 18"/>
          <p:cNvSpPr>
            <a:spLocks noChangeShapeType="1"/>
          </p:cNvSpPr>
          <p:nvPr/>
        </p:nvSpPr>
        <p:spPr bwMode="auto">
          <a:xfrm>
            <a:off x="6851651" y="34598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7" name="Line 19"/>
          <p:cNvSpPr>
            <a:spLocks noChangeShapeType="1"/>
          </p:cNvSpPr>
          <p:nvPr/>
        </p:nvSpPr>
        <p:spPr bwMode="auto">
          <a:xfrm>
            <a:off x="7099301" y="40694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8" name="Line 20"/>
          <p:cNvSpPr>
            <a:spLocks noChangeShapeType="1"/>
          </p:cNvSpPr>
          <p:nvPr/>
        </p:nvSpPr>
        <p:spPr bwMode="auto">
          <a:xfrm>
            <a:off x="6191251" y="40694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9" name="Line 21"/>
          <p:cNvSpPr>
            <a:spLocks noChangeShapeType="1"/>
          </p:cNvSpPr>
          <p:nvPr/>
        </p:nvSpPr>
        <p:spPr bwMode="auto">
          <a:xfrm>
            <a:off x="7099301" y="32312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0" name="Line 22"/>
          <p:cNvSpPr>
            <a:spLocks noChangeShapeType="1"/>
          </p:cNvSpPr>
          <p:nvPr/>
        </p:nvSpPr>
        <p:spPr bwMode="auto">
          <a:xfrm>
            <a:off x="5283201" y="40694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1" name="Line 23"/>
          <p:cNvSpPr>
            <a:spLocks noChangeShapeType="1"/>
          </p:cNvSpPr>
          <p:nvPr/>
        </p:nvSpPr>
        <p:spPr bwMode="auto">
          <a:xfrm>
            <a:off x="6191251" y="32312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2" name="Line 24"/>
          <p:cNvSpPr>
            <a:spLocks noChangeShapeType="1"/>
          </p:cNvSpPr>
          <p:nvPr/>
        </p:nvSpPr>
        <p:spPr bwMode="auto">
          <a:xfrm>
            <a:off x="7099301" y="49076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3" name="Line 25"/>
          <p:cNvSpPr>
            <a:spLocks noChangeShapeType="1"/>
          </p:cNvSpPr>
          <p:nvPr/>
        </p:nvSpPr>
        <p:spPr bwMode="auto">
          <a:xfrm>
            <a:off x="6191251" y="49076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4" name="Line 26"/>
          <p:cNvSpPr>
            <a:spLocks noChangeShapeType="1"/>
          </p:cNvSpPr>
          <p:nvPr/>
        </p:nvSpPr>
        <p:spPr bwMode="auto">
          <a:xfrm>
            <a:off x="5283201" y="49076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5" name="Line 27"/>
          <p:cNvSpPr>
            <a:spLocks noChangeShapeType="1"/>
          </p:cNvSpPr>
          <p:nvPr/>
        </p:nvSpPr>
        <p:spPr bwMode="auto">
          <a:xfrm>
            <a:off x="4375151" y="49076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6" name="Line 28"/>
          <p:cNvSpPr>
            <a:spLocks noChangeShapeType="1"/>
          </p:cNvSpPr>
          <p:nvPr/>
        </p:nvSpPr>
        <p:spPr bwMode="auto">
          <a:xfrm>
            <a:off x="4375151" y="40694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7" name="Line 29"/>
          <p:cNvSpPr>
            <a:spLocks noChangeShapeType="1"/>
          </p:cNvSpPr>
          <p:nvPr/>
        </p:nvSpPr>
        <p:spPr bwMode="auto">
          <a:xfrm>
            <a:off x="4375151" y="3231259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8" name="Text Box 30"/>
          <p:cNvSpPr txBox="1">
            <a:spLocks noChangeArrowheads="1"/>
          </p:cNvSpPr>
          <p:nvPr/>
        </p:nvSpPr>
        <p:spPr bwMode="auto">
          <a:xfrm>
            <a:off x="3549651" y="3002659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2    4</a:t>
            </a:r>
          </a:p>
        </p:txBody>
      </p:sp>
      <p:sp>
        <p:nvSpPr>
          <p:cNvPr id="79" name="Text Box 31"/>
          <p:cNvSpPr txBox="1">
            <a:spLocks noChangeArrowheads="1"/>
          </p:cNvSpPr>
          <p:nvPr/>
        </p:nvSpPr>
        <p:spPr bwMode="auto">
          <a:xfrm>
            <a:off x="3054351" y="3840859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3    5    2</a:t>
            </a:r>
          </a:p>
        </p:txBody>
      </p:sp>
      <p:sp>
        <p:nvSpPr>
          <p:cNvPr id="80" name="Line 32"/>
          <p:cNvSpPr>
            <a:spLocks noChangeShapeType="1"/>
          </p:cNvSpPr>
          <p:nvPr/>
        </p:nvSpPr>
        <p:spPr bwMode="auto">
          <a:xfrm>
            <a:off x="5035551" y="26216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1" name="Line 33"/>
          <p:cNvSpPr>
            <a:spLocks noChangeShapeType="1"/>
          </p:cNvSpPr>
          <p:nvPr/>
        </p:nvSpPr>
        <p:spPr bwMode="auto">
          <a:xfrm>
            <a:off x="5943601" y="26216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2" name="Line 34"/>
          <p:cNvSpPr>
            <a:spLocks noChangeShapeType="1"/>
          </p:cNvSpPr>
          <p:nvPr/>
        </p:nvSpPr>
        <p:spPr bwMode="auto">
          <a:xfrm>
            <a:off x="6851651" y="26216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3" name="Text Box 35"/>
          <p:cNvSpPr txBox="1">
            <a:spLocks noChangeArrowheads="1"/>
          </p:cNvSpPr>
          <p:nvPr/>
        </p:nvSpPr>
        <p:spPr bwMode="auto">
          <a:xfrm>
            <a:off x="4787901" y="1326259"/>
            <a:ext cx="557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endParaRPr lang="zh-TW" altLang="zh-TW" sz="1400">
              <a:ea typeface="新細明體" charset="-120"/>
            </a:endParaRPr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4870451" y="1859659"/>
            <a:ext cx="3645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3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2</a:t>
            </a:r>
          </a:p>
          <a:p>
            <a:pPr eaLnBrk="1" hangingPunct="1"/>
            <a:endParaRPr lang="en-US" altLang="zh-TW" b="1" dirty="0">
              <a:solidFill>
                <a:srgbClr val="FF0000"/>
              </a:solidFill>
              <a:ea typeface="新細明體" charset="-120"/>
            </a:endParaRPr>
          </a:p>
        </p:txBody>
      </p:sp>
      <p:sp>
        <p:nvSpPr>
          <p:cNvPr id="85" name="Text Box 37"/>
          <p:cNvSpPr txBox="1">
            <a:spLocks noChangeArrowheads="1"/>
          </p:cNvSpPr>
          <p:nvPr/>
        </p:nvSpPr>
        <p:spPr bwMode="auto">
          <a:xfrm>
            <a:off x="2476501" y="4679059"/>
            <a:ext cx="13388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3333FF"/>
                </a:solidFill>
                <a:ea typeface="新細明體" charset="-120"/>
              </a:rPr>
              <a:t>5     2    3</a:t>
            </a:r>
          </a:p>
        </p:txBody>
      </p:sp>
      <p:sp>
        <p:nvSpPr>
          <p:cNvPr id="86" name="Text Box 39"/>
          <p:cNvSpPr txBox="1">
            <a:spLocks noChangeArrowheads="1"/>
          </p:cNvSpPr>
          <p:nvPr/>
        </p:nvSpPr>
        <p:spPr bwMode="auto">
          <a:xfrm>
            <a:off x="5778501" y="1478659"/>
            <a:ext cx="338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2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5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4</a:t>
            </a:r>
          </a:p>
        </p:txBody>
      </p:sp>
      <p:sp>
        <p:nvSpPr>
          <p:cNvPr id="87" name="Text Box 40"/>
          <p:cNvSpPr txBox="1">
            <a:spLocks noChangeArrowheads="1"/>
          </p:cNvSpPr>
          <p:nvPr/>
        </p:nvSpPr>
        <p:spPr bwMode="auto">
          <a:xfrm>
            <a:off x="7694320" y="1095426"/>
            <a:ext cx="2097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dirty="0">
                <a:ea typeface="新細明體" charset="-120"/>
              </a:rPr>
              <a:t>Clock Cycle: 1</a:t>
            </a:r>
          </a:p>
        </p:txBody>
      </p:sp>
      <p:graphicFrame>
        <p:nvGraphicFramePr>
          <p:cNvPr id="88" name="Group 75"/>
          <p:cNvGraphicFramePr>
            <a:graphicFrameLocks noGrp="1"/>
          </p:cNvGraphicFramePr>
          <p:nvPr/>
        </p:nvGraphicFramePr>
        <p:xfrm>
          <a:off x="128464" y="5843736"/>
          <a:ext cx="9678312" cy="537592"/>
        </p:xfrm>
        <a:graphic>
          <a:graphicData uri="http://schemas.openxmlformats.org/drawingml/2006/table">
            <a:tbl>
              <a:tblPr/>
              <a:tblGrid>
                <a:gridCol w="107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70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3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5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5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" name="Text Box 66"/>
          <p:cNvSpPr txBox="1">
            <a:spLocks noChangeArrowheads="1"/>
          </p:cNvSpPr>
          <p:nvPr/>
        </p:nvSpPr>
        <p:spPr bwMode="auto">
          <a:xfrm>
            <a:off x="33020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P1</a:t>
            </a:r>
          </a:p>
        </p:txBody>
      </p:sp>
      <p:sp>
        <p:nvSpPr>
          <p:cNvPr id="90" name="Text Box 67"/>
          <p:cNvSpPr txBox="1">
            <a:spLocks noChangeArrowheads="1"/>
          </p:cNvSpPr>
          <p:nvPr/>
        </p:nvSpPr>
        <p:spPr bwMode="auto">
          <a:xfrm>
            <a:off x="140335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P2</a:t>
            </a:r>
          </a:p>
        </p:txBody>
      </p:sp>
      <p:sp>
        <p:nvSpPr>
          <p:cNvPr id="91" name="Text Box 68"/>
          <p:cNvSpPr txBox="1">
            <a:spLocks noChangeArrowheads="1"/>
          </p:cNvSpPr>
          <p:nvPr/>
        </p:nvSpPr>
        <p:spPr bwMode="auto">
          <a:xfrm>
            <a:off x="247650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P3</a:t>
            </a:r>
          </a:p>
        </p:txBody>
      </p:sp>
      <p:sp>
        <p:nvSpPr>
          <p:cNvPr id="92" name="Text Box 69"/>
          <p:cNvSpPr txBox="1">
            <a:spLocks noChangeArrowheads="1"/>
          </p:cNvSpPr>
          <p:nvPr/>
        </p:nvSpPr>
        <p:spPr bwMode="auto">
          <a:xfrm>
            <a:off x="354965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P4</a:t>
            </a:r>
          </a:p>
        </p:txBody>
      </p:sp>
      <p:sp>
        <p:nvSpPr>
          <p:cNvPr id="93" name="Text Box 70"/>
          <p:cNvSpPr txBox="1">
            <a:spLocks noChangeArrowheads="1"/>
          </p:cNvSpPr>
          <p:nvPr/>
        </p:nvSpPr>
        <p:spPr bwMode="auto">
          <a:xfrm>
            <a:off x="577850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P6</a:t>
            </a:r>
          </a:p>
        </p:txBody>
      </p:sp>
      <p:sp>
        <p:nvSpPr>
          <p:cNvPr id="94" name="Text Box 71"/>
          <p:cNvSpPr txBox="1">
            <a:spLocks noChangeArrowheads="1"/>
          </p:cNvSpPr>
          <p:nvPr/>
        </p:nvSpPr>
        <p:spPr bwMode="auto">
          <a:xfrm>
            <a:off x="470535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P5</a:t>
            </a:r>
          </a:p>
        </p:txBody>
      </p:sp>
      <p:sp>
        <p:nvSpPr>
          <p:cNvPr id="95" name="Text Box 72"/>
          <p:cNvSpPr txBox="1">
            <a:spLocks noChangeArrowheads="1"/>
          </p:cNvSpPr>
          <p:nvPr/>
        </p:nvSpPr>
        <p:spPr bwMode="auto">
          <a:xfrm>
            <a:off x="685165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P7</a:t>
            </a:r>
          </a:p>
        </p:txBody>
      </p:sp>
      <p:sp>
        <p:nvSpPr>
          <p:cNvPr id="96" name="Text Box 73"/>
          <p:cNvSpPr txBox="1">
            <a:spLocks noChangeArrowheads="1"/>
          </p:cNvSpPr>
          <p:nvPr/>
        </p:nvSpPr>
        <p:spPr bwMode="auto">
          <a:xfrm>
            <a:off x="800735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>
                <a:ea typeface="新細明體" charset="-120"/>
              </a:rPr>
              <a:t>P8</a:t>
            </a:r>
          </a:p>
        </p:txBody>
      </p:sp>
      <p:sp>
        <p:nvSpPr>
          <p:cNvPr id="97" name="Text Box 74"/>
          <p:cNvSpPr txBox="1">
            <a:spLocks noChangeArrowheads="1"/>
          </p:cNvSpPr>
          <p:nvPr/>
        </p:nvSpPr>
        <p:spPr bwMode="auto">
          <a:xfrm>
            <a:off x="9080501" y="5306144"/>
            <a:ext cx="4828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200" dirty="0">
                <a:ea typeface="新細明體" charset="-120"/>
              </a:rPr>
              <a:t>P9</a:t>
            </a:r>
          </a:p>
        </p:txBody>
      </p:sp>
    </p:spTree>
    <p:extLst>
      <p:ext uri="{BB962C8B-B14F-4D97-AF65-F5344CB8AC3E}">
        <p14:creationId xmlns:p14="http://schemas.microsoft.com/office/powerpoint/2010/main" val="16368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Case Study: Matrix Decompositions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83350" y="1052736"/>
            <a:ext cx="9422650" cy="1440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decomposition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plays an important role in signal.</a:t>
            </a:r>
          </a:p>
          <a:p>
            <a:pPr>
              <a:lnSpc>
                <a:spcPct val="20000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High complexity and long processing time.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8306C9D-326E-4271-8418-9177B2AF8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52"/>
          <a:stretch/>
        </p:blipFill>
        <p:spPr>
          <a:xfrm>
            <a:off x="884548" y="2528901"/>
            <a:ext cx="8640960" cy="367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6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DC1D03-083C-464C-9998-E3115C3E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38" y="1052736"/>
            <a:ext cx="8108725" cy="507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6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F8BB96D-797F-4CF9-B5CC-7D5317531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101931"/>
            <a:ext cx="7920880" cy="5216756"/>
          </a:xfrm>
          <a:prstGeom prst="rect">
            <a:avLst/>
          </a:prstGeo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967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C9061D9-E447-4CF1-AA63-5E76E0D0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844824"/>
            <a:ext cx="6104843" cy="43924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E2EC613-E813-4915-AF49-73C2BF00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80" y="2602287"/>
            <a:ext cx="2194750" cy="14387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57660A9-B7C0-4E3A-96E1-70EDD560C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340" y="4437112"/>
            <a:ext cx="2072820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23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314300D-5D1A-417D-8D3A-0EACF595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844824"/>
            <a:ext cx="7756335" cy="42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84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DD723F-15E4-4396-827A-2068B9107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749849"/>
            <a:ext cx="7632848" cy="43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25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F03C909-1B8B-47EE-A88F-9E58F878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772816"/>
            <a:ext cx="6918120" cy="44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65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Architecture design for 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FE58C8-C5FB-4583-A002-583198CD7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60" y="1730330"/>
            <a:ext cx="2885534" cy="226163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C36A61F-2BF1-4B33-B7B8-B7AC09C32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128" y="1802282"/>
            <a:ext cx="1372555" cy="21602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96BE7E3-BDC8-4051-A9CD-654C69706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224" y="4045372"/>
            <a:ext cx="4752528" cy="22616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151A31-6F86-42F1-8DE5-CBF619D0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13" y="3968309"/>
            <a:ext cx="4331484" cy="23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7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7B32DEF4-B855-4FAA-A6EA-489CCD1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t>Givens Rotation for QR Decomposition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Systolic array architecture for 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Givens Rotation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design.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506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for MIMO communications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D38D810-651C-477C-B889-5FA396677783}"/>
              </a:ext>
            </a:extLst>
          </p:cNvPr>
          <p:cNvSpPr txBox="1"/>
          <p:nvPr/>
        </p:nvSpPr>
        <p:spPr>
          <a:xfrm>
            <a:off x="848544" y="1412776"/>
            <a:ext cx="7994650" cy="146367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760"/>
              </a:spcBef>
              <a:buClr>
                <a:srgbClr val="6F4D01"/>
              </a:buClr>
              <a:buSzPct val="89583"/>
              <a:buFont typeface="Wingdings"/>
              <a:buChar char=""/>
              <a:tabLst>
                <a:tab pos="381000" algn="l"/>
                <a:tab pos="381635" algn="l"/>
              </a:tabLst>
            </a:pPr>
            <a:r>
              <a:rPr sz="2400" spc="-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real/complex matrix </a:t>
            </a:r>
            <a:r>
              <a:rPr sz="2400" dirty="0">
                <a:latin typeface="Cambria Math"/>
                <a:cs typeface="Cambria Math"/>
              </a:rPr>
              <a:t>𝐀 ∈</a:t>
            </a:r>
            <a:r>
              <a:rPr sz="2400" spc="220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ℂ</a:t>
            </a:r>
            <a:r>
              <a:rPr sz="2625" spc="97" baseline="28571" dirty="0">
                <a:latin typeface="Cambria Math"/>
                <a:cs typeface="Cambria Math"/>
              </a:rPr>
              <a:t>M×N</a:t>
            </a:r>
            <a:endParaRPr sz="2625" baseline="28571" dirty="0">
              <a:latin typeface="Cambria Math"/>
              <a:cs typeface="Cambria Math"/>
            </a:endParaRPr>
          </a:p>
          <a:p>
            <a:pPr marL="553085" lvl="1" indent="-198755">
              <a:lnSpc>
                <a:spcPct val="100000"/>
              </a:lnSpc>
              <a:spcBef>
                <a:spcPts val="555"/>
              </a:spcBef>
              <a:buClr>
                <a:srgbClr val="6D9F33"/>
              </a:buClr>
              <a:buSzPct val="90000"/>
              <a:buFont typeface="Wingdings"/>
              <a:buChar char=""/>
              <a:tabLst>
                <a:tab pos="553720" algn="l"/>
              </a:tabLst>
            </a:pPr>
            <a:r>
              <a:rPr sz="2000" dirty="0">
                <a:latin typeface="Cambria Math"/>
                <a:cs typeface="Cambria Math"/>
              </a:rPr>
              <a:t>𝐀 =</a:t>
            </a:r>
            <a:r>
              <a:rPr sz="2000" spc="225" dirty="0">
                <a:latin typeface="Cambria Math"/>
                <a:cs typeface="Cambria Math"/>
              </a:rPr>
              <a:t> </a:t>
            </a:r>
            <a:r>
              <a:rPr sz="2000" spc="50" dirty="0">
                <a:latin typeface="Cambria Math"/>
                <a:cs typeface="Cambria Math"/>
              </a:rPr>
              <a:t>𝐔𝚺𝐕</a:t>
            </a:r>
            <a:r>
              <a:rPr sz="2175" spc="75" baseline="28735" dirty="0">
                <a:latin typeface="Cambria Math"/>
                <a:cs typeface="Cambria Math"/>
              </a:rPr>
              <a:t>H</a:t>
            </a:r>
            <a:endParaRPr sz="2175" baseline="28735" dirty="0">
              <a:latin typeface="Cambria Math"/>
              <a:cs typeface="Cambria Math"/>
            </a:endParaRPr>
          </a:p>
          <a:p>
            <a:pPr marL="829310" marR="30480" lvl="2" indent="-158750">
              <a:lnSpc>
                <a:spcPts val="2140"/>
              </a:lnSpc>
              <a:spcBef>
                <a:spcPts val="575"/>
              </a:spcBef>
              <a:buSzPct val="85000"/>
              <a:buFont typeface="Wingdings"/>
              <a:buChar char=""/>
              <a:tabLst>
                <a:tab pos="843280" algn="l"/>
              </a:tabLst>
            </a:pPr>
            <a:r>
              <a:rPr sz="2000" dirty="0">
                <a:latin typeface="Cambria Math"/>
                <a:cs typeface="Cambria Math"/>
              </a:rPr>
              <a:t>𝚺 ∈ </a:t>
            </a:r>
            <a:r>
              <a:rPr sz="2000" spc="60" dirty="0">
                <a:latin typeface="Cambria Math"/>
                <a:cs typeface="Cambria Math"/>
              </a:rPr>
              <a:t>ℝ</a:t>
            </a:r>
            <a:r>
              <a:rPr sz="2175" spc="89" baseline="28735" dirty="0">
                <a:latin typeface="Cambria Math"/>
                <a:cs typeface="Cambria Math"/>
              </a:rPr>
              <a:t>M×N </a:t>
            </a:r>
            <a:r>
              <a:rPr sz="2000" dirty="0">
                <a:latin typeface="Calibri"/>
                <a:cs typeface="Calibri"/>
              </a:rPr>
              <a:t>is a </a:t>
            </a:r>
            <a:r>
              <a:rPr sz="2000" spc="-5" dirty="0">
                <a:latin typeface="Calibri"/>
                <a:cs typeface="Calibri"/>
              </a:rPr>
              <a:t>real </a:t>
            </a:r>
            <a:r>
              <a:rPr sz="2000" spc="-10" dirty="0">
                <a:latin typeface="Calibri"/>
                <a:cs typeface="Calibri"/>
              </a:rPr>
              <a:t>non-negative </a:t>
            </a:r>
            <a:r>
              <a:rPr sz="2000" spc="-5" dirty="0">
                <a:latin typeface="Calibri"/>
                <a:cs typeface="Calibri"/>
              </a:rPr>
              <a:t>diagonal matrix with entries, </a:t>
            </a:r>
            <a:r>
              <a:rPr sz="2000" dirty="0">
                <a:latin typeface="Calibri"/>
                <a:cs typeface="Calibri"/>
              </a:rPr>
              <a:t>known  as </a:t>
            </a:r>
            <a:r>
              <a:rPr sz="2000" spc="-5" dirty="0">
                <a:latin typeface="Calibri"/>
                <a:cs typeface="Calibri"/>
              </a:rPr>
              <a:t>singular values. </a:t>
            </a:r>
            <a:r>
              <a:rPr sz="2000" spc="-20" dirty="0">
                <a:latin typeface="Calibri"/>
                <a:cs typeface="Calibri"/>
              </a:rPr>
              <a:t>Usually, </a:t>
            </a:r>
            <a:r>
              <a:rPr sz="2000" spc="-5" dirty="0">
                <a:latin typeface="Calibri"/>
                <a:cs typeface="Calibri"/>
              </a:rPr>
              <a:t>they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arranged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descending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order.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F65C91A-7F0D-4807-9065-1F9FBFBE4DD2}"/>
              </a:ext>
            </a:extLst>
          </p:cNvPr>
          <p:cNvSpPr txBox="1"/>
          <p:nvPr/>
        </p:nvSpPr>
        <p:spPr>
          <a:xfrm>
            <a:off x="1481308" y="4565181"/>
            <a:ext cx="7388225" cy="121983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96215" marR="30480" indent="-158750">
              <a:lnSpc>
                <a:spcPts val="2150"/>
              </a:lnSpc>
              <a:spcBef>
                <a:spcPts val="384"/>
              </a:spcBef>
              <a:buSzPct val="85000"/>
              <a:buFont typeface="Wingdings"/>
              <a:buChar char=""/>
              <a:tabLst>
                <a:tab pos="210820" algn="l"/>
              </a:tabLst>
            </a:pPr>
            <a:r>
              <a:rPr sz="2000" dirty="0">
                <a:latin typeface="Cambria Math"/>
                <a:cs typeface="Cambria Math"/>
              </a:rPr>
              <a:t>𝐔 ∈ </a:t>
            </a:r>
            <a:r>
              <a:rPr sz="2000" spc="65" dirty="0">
                <a:latin typeface="Cambria Math"/>
                <a:cs typeface="Cambria Math"/>
              </a:rPr>
              <a:t>ℂ</a:t>
            </a:r>
            <a:r>
              <a:rPr sz="2175" spc="97" baseline="28735" dirty="0">
                <a:latin typeface="Cambria Math"/>
                <a:cs typeface="Cambria Math"/>
              </a:rPr>
              <a:t>M×M </a:t>
            </a:r>
            <a:r>
              <a:rPr sz="2000" dirty="0">
                <a:latin typeface="Calibri"/>
                <a:cs typeface="Calibri"/>
              </a:rPr>
              <a:t>is a </a:t>
            </a:r>
            <a:r>
              <a:rPr sz="2000" spc="-15" dirty="0">
                <a:latin typeface="Calibri"/>
                <a:cs typeface="Calibri"/>
              </a:rPr>
              <a:t>real/complex </a:t>
            </a:r>
            <a:r>
              <a:rPr sz="2000" spc="-5" dirty="0">
                <a:latin typeface="Calibri"/>
                <a:cs typeface="Calibri"/>
              </a:rPr>
              <a:t>unitary </a:t>
            </a:r>
            <a:r>
              <a:rPr sz="2000" spc="-10" dirty="0">
                <a:latin typeface="Calibri"/>
                <a:cs typeface="Calibri"/>
              </a:rPr>
              <a:t>matrix. </a:t>
            </a:r>
            <a:r>
              <a:rPr sz="2000" spc="-5" dirty="0">
                <a:latin typeface="Calibri"/>
                <a:cs typeface="Calibri"/>
              </a:rPr>
              <a:t>The column of </a:t>
            </a:r>
            <a:r>
              <a:rPr sz="2000" dirty="0">
                <a:latin typeface="Cambria Math"/>
                <a:cs typeface="Cambria Math"/>
              </a:rPr>
              <a:t>𝐔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called  left singular</a:t>
            </a:r>
            <a:r>
              <a:rPr sz="2000" spc="-10" dirty="0">
                <a:latin typeface="Calibri"/>
                <a:cs typeface="Calibri"/>
              </a:rPr>
              <a:t> vector</a:t>
            </a:r>
            <a:endParaRPr sz="2000">
              <a:latin typeface="Calibri"/>
              <a:cs typeface="Calibri"/>
            </a:endParaRPr>
          </a:p>
          <a:p>
            <a:pPr marL="196215" marR="114935" indent="-158750">
              <a:lnSpc>
                <a:spcPts val="2150"/>
              </a:lnSpc>
              <a:spcBef>
                <a:spcPts val="545"/>
              </a:spcBef>
              <a:buSzPct val="85000"/>
              <a:buFont typeface="Wingdings"/>
              <a:buChar char=""/>
              <a:tabLst>
                <a:tab pos="210820" algn="l"/>
              </a:tabLst>
            </a:pPr>
            <a:r>
              <a:rPr sz="2000" dirty="0">
                <a:latin typeface="Cambria Math"/>
                <a:cs typeface="Cambria Math"/>
              </a:rPr>
              <a:t>𝐕 ∈ </a:t>
            </a:r>
            <a:r>
              <a:rPr sz="2000" spc="60" dirty="0">
                <a:latin typeface="Cambria Math"/>
                <a:cs typeface="Cambria Math"/>
              </a:rPr>
              <a:t>ℂ</a:t>
            </a:r>
            <a:r>
              <a:rPr sz="2175" spc="89" baseline="28735" dirty="0">
                <a:latin typeface="Cambria Math"/>
                <a:cs typeface="Cambria Math"/>
              </a:rPr>
              <a:t>N×N </a:t>
            </a:r>
            <a:r>
              <a:rPr sz="2000" dirty="0">
                <a:latin typeface="Calibri"/>
                <a:cs typeface="Calibri"/>
              </a:rPr>
              <a:t>is a </a:t>
            </a:r>
            <a:r>
              <a:rPr sz="2000" spc="-15" dirty="0">
                <a:latin typeface="Calibri"/>
                <a:cs typeface="Calibri"/>
              </a:rPr>
              <a:t>real/complex </a:t>
            </a:r>
            <a:r>
              <a:rPr sz="2000" spc="-5" dirty="0">
                <a:latin typeface="Calibri"/>
                <a:cs typeface="Calibri"/>
              </a:rPr>
              <a:t>unitary matrix. The column of </a:t>
            </a:r>
            <a:r>
              <a:rPr sz="2000" dirty="0">
                <a:latin typeface="Cambria Math"/>
                <a:cs typeface="Cambria Math"/>
              </a:rPr>
              <a:t>𝐕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called  right singular </a:t>
            </a:r>
            <a:r>
              <a:rPr sz="2000" spc="-10" dirty="0">
                <a:latin typeface="Calibri"/>
                <a:cs typeface="Calibri"/>
              </a:rPr>
              <a:t>vector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84852DA-5D3D-4F7B-B75E-3D5B0D4D7D14}"/>
              </a:ext>
            </a:extLst>
          </p:cNvPr>
          <p:cNvSpPr txBox="1"/>
          <p:nvPr/>
        </p:nvSpPr>
        <p:spPr>
          <a:xfrm>
            <a:off x="3357809" y="3506254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𝚺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09A88A7-6C48-42E8-8A68-EA896C463AFA}"/>
              </a:ext>
            </a:extLst>
          </p:cNvPr>
          <p:cNvSpPr/>
          <p:nvPr/>
        </p:nvSpPr>
        <p:spPr>
          <a:xfrm>
            <a:off x="3808406" y="3191802"/>
            <a:ext cx="67310" cy="980440"/>
          </a:xfrm>
          <a:custGeom>
            <a:avLst/>
            <a:gdLst/>
            <a:ahLst/>
            <a:cxnLst/>
            <a:rect l="l" t="t" r="r" b="b"/>
            <a:pathLst>
              <a:path w="67310" h="980439">
                <a:moveTo>
                  <a:pt x="67183" y="0"/>
                </a:moveTo>
                <a:lnTo>
                  <a:pt x="0" y="0"/>
                </a:lnTo>
                <a:lnTo>
                  <a:pt x="0" y="10160"/>
                </a:lnTo>
                <a:lnTo>
                  <a:pt x="0" y="970280"/>
                </a:lnTo>
                <a:lnTo>
                  <a:pt x="0" y="980440"/>
                </a:lnTo>
                <a:lnTo>
                  <a:pt x="67183" y="980440"/>
                </a:lnTo>
                <a:lnTo>
                  <a:pt x="67183" y="970280"/>
                </a:lnTo>
                <a:lnTo>
                  <a:pt x="23495" y="970280"/>
                </a:lnTo>
                <a:lnTo>
                  <a:pt x="23495" y="10160"/>
                </a:lnTo>
                <a:lnTo>
                  <a:pt x="67183" y="10160"/>
                </a:lnTo>
                <a:lnTo>
                  <a:pt x="67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806E080-BF92-4639-ACF1-5ED79EC71665}"/>
              </a:ext>
            </a:extLst>
          </p:cNvPr>
          <p:cNvSpPr/>
          <p:nvPr/>
        </p:nvSpPr>
        <p:spPr>
          <a:xfrm>
            <a:off x="6220898" y="3191802"/>
            <a:ext cx="67310" cy="980440"/>
          </a:xfrm>
          <a:custGeom>
            <a:avLst/>
            <a:gdLst/>
            <a:ahLst/>
            <a:cxnLst/>
            <a:rect l="l" t="t" r="r" b="b"/>
            <a:pathLst>
              <a:path w="67310" h="980439">
                <a:moveTo>
                  <a:pt x="67183" y="0"/>
                </a:moveTo>
                <a:lnTo>
                  <a:pt x="0" y="0"/>
                </a:lnTo>
                <a:lnTo>
                  <a:pt x="0" y="10160"/>
                </a:lnTo>
                <a:lnTo>
                  <a:pt x="43815" y="10160"/>
                </a:lnTo>
                <a:lnTo>
                  <a:pt x="43815" y="970280"/>
                </a:lnTo>
                <a:lnTo>
                  <a:pt x="0" y="970280"/>
                </a:lnTo>
                <a:lnTo>
                  <a:pt x="0" y="980440"/>
                </a:lnTo>
                <a:lnTo>
                  <a:pt x="67183" y="980440"/>
                </a:lnTo>
                <a:lnTo>
                  <a:pt x="67183" y="970280"/>
                </a:lnTo>
                <a:lnTo>
                  <a:pt x="67183" y="10160"/>
                </a:lnTo>
                <a:lnTo>
                  <a:pt x="67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F351C889-1CC2-48A6-9356-09ACEADA5DFB}"/>
              </a:ext>
            </a:extLst>
          </p:cNvPr>
          <p:cNvSpPr txBox="1"/>
          <p:nvPr/>
        </p:nvSpPr>
        <p:spPr>
          <a:xfrm>
            <a:off x="3830250" y="3087154"/>
            <a:ext cx="760095" cy="8820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95885" marR="43180" indent="-45720" algn="r">
              <a:lnSpc>
                <a:spcPts val="2150"/>
              </a:lnSpc>
              <a:spcBef>
                <a:spcPts val="180"/>
              </a:spcBef>
              <a:tabLst>
                <a:tab pos="497205" algn="l"/>
                <a:tab pos="544195" algn="l"/>
              </a:tabLst>
            </a:pPr>
            <a:r>
              <a:rPr sz="1800" spc="-155" dirty="0">
                <a:latin typeface="Cambria Math"/>
                <a:cs typeface="Cambria Math"/>
              </a:rPr>
              <a:t>𝜎</a:t>
            </a:r>
            <a:r>
              <a:rPr sz="1950" spc="60" baseline="-14957" dirty="0">
                <a:latin typeface="Cambria Math"/>
                <a:cs typeface="Cambria Math"/>
              </a:rPr>
              <a:t>1</a:t>
            </a:r>
            <a:r>
              <a:rPr sz="1950" baseline="-14957" dirty="0">
                <a:latin typeface="Cambria Math"/>
                <a:cs typeface="Cambria Math"/>
              </a:rPr>
              <a:t>		</a:t>
            </a:r>
            <a:r>
              <a:rPr sz="1800" dirty="0">
                <a:latin typeface="Cambria Math"/>
                <a:cs typeface="Cambria Math"/>
              </a:rPr>
              <a:t>0  0	</a:t>
            </a:r>
            <a:r>
              <a:rPr sz="1800" spc="-155" dirty="0">
                <a:latin typeface="Cambria Math"/>
                <a:cs typeface="Cambria Math"/>
              </a:rPr>
              <a:t>𝜎</a:t>
            </a:r>
            <a:r>
              <a:rPr sz="1950" spc="60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R="84455" algn="r">
              <a:lnSpc>
                <a:spcPct val="100000"/>
              </a:lnSpc>
              <a:spcBef>
                <a:spcPts val="2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49052DB-9E44-4EF0-A786-E167AC2D689C}"/>
              </a:ext>
            </a:extLst>
          </p:cNvPr>
          <p:cNvSpPr txBox="1"/>
          <p:nvPr/>
        </p:nvSpPr>
        <p:spPr>
          <a:xfrm>
            <a:off x="4737792" y="3391954"/>
            <a:ext cx="725805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ts val="20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2010"/>
              </a:lnSpc>
              <a:tabLst>
                <a:tab pos="482600" algn="l"/>
              </a:tabLst>
            </a:pPr>
            <a:r>
              <a:rPr sz="1800" dirty="0">
                <a:latin typeface="Cambria Math"/>
                <a:cs typeface="Cambria Math"/>
              </a:rPr>
              <a:t>⋱	0</a:t>
            </a:r>
            <a:endParaRPr sz="1800">
              <a:latin typeface="Cambria Math"/>
              <a:cs typeface="Cambria Math"/>
            </a:endParaRPr>
          </a:p>
          <a:p>
            <a:pPr marL="45720">
              <a:lnSpc>
                <a:spcPts val="2135"/>
              </a:lnSpc>
              <a:tabLst>
                <a:tab pos="408305" algn="l"/>
              </a:tabLst>
            </a:pPr>
            <a:r>
              <a:rPr sz="1800" dirty="0">
                <a:latin typeface="Cambria Math"/>
                <a:cs typeface="Cambria Math"/>
              </a:rPr>
              <a:t>0	</a:t>
            </a:r>
            <a:r>
              <a:rPr sz="1800" spc="-35" dirty="0">
                <a:latin typeface="Cambria Math"/>
                <a:cs typeface="Cambria Math"/>
              </a:rPr>
              <a:t>𝜎</a:t>
            </a:r>
            <a:r>
              <a:rPr sz="1950" spc="-52" baseline="-14957" dirty="0">
                <a:latin typeface="Cambria Math"/>
                <a:cs typeface="Cambria Math"/>
              </a:rPr>
              <a:t>𝑀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960A5-F283-4A7D-9321-95604DF29015}"/>
              </a:ext>
            </a:extLst>
          </p:cNvPr>
          <p:cNvSpPr txBox="1"/>
          <p:nvPr/>
        </p:nvSpPr>
        <p:spPr>
          <a:xfrm>
            <a:off x="3918642" y="3123731"/>
            <a:ext cx="2312670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</a:p>
          <a:p>
            <a:pPr marR="5080" algn="r"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0</a:t>
            </a:r>
          </a:p>
          <a:p>
            <a:pPr marR="5080" algn="r">
              <a:lnSpc>
                <a:spcPts val="2140"/>
              </a:lnSpc>
              <a:spcBef>
                <a:spcPts val="2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</a:p>
          <a:p>
            <a:pPr marR="5080" algn="r">
              <a:lnSpc>
                <a:spcPts val="2140"/>
              </a:lnSpc>
              <a:tabLst>
                <a:tab pos="1761489" algn="l"/>
                <a:tab pos="2159635" algn="l"/>
              </a:tabLst>
            </a:pPr>
            <a:r>
              <a:rPr sz="1800" dirty="0">
                <a:latin typeface="Cambria Math"/>
                <a:cs typeface="Cambria Math"/>
              </a:rPr>
              <a:t>0	0	0</a:t>
            </a:r>
          </a:p>
        </p:txBody>
      </p:sp>
    </p:spTree>
    <p:extLst>
      <p:ext uri="{BB962C8B-B14F-4D97-AF65-F5344CB8AC3E}">
        <p14:creationId xmlns:p14="http://schemas.microsoft.com/office/powerpoint/2010/main" val="427860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Singular Value Decomposition (SVD)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內容版面配置區 1"/>
              <p:cNvSpPr txBox="1">
                <a:spLocks/>
              </p:cNvSpPr>
              <p:nvPr/>
            </p:nvSpPr>
            <p:spPr bwMode="auto">
              <a:xfrm>
                <a:off x="440978" y="1143001"/>
                <a:ext cx="9408566" cy="3366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v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Font typeface="Wingdings" panose="05000000000000000000" pitchFamily="2" charset="2"/>
                  <a:buChar char="§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sz="22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design of SVD processor</a:t>
                </a:r>
              </a:p>
              <a:p>
                <a:pPr lvl="1" algn="just">
                  <a:lnSpc>
                    <a:spcPct val="200000"/>
                  </a:lnSpc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sz="2000" b="1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Jacobi algorithm</a:t>
                </a:r>
                <a:r>
                  <a:rPr lang="en-US" altLang="zh-TW" sz="2000" kern="0" dirty="0"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 [1]</a:t>
                </a:r>
              </a:p>
              <a:p>
                <a:pPr lvl="2">
                  <a:lnSpc>
                    <a:spcPct val="200000"/>
                  </a:lnSpc>
                  <a:buClr>
                    <a:srgbClr val="FF0000"/>
                  </a:buClr>
                </a:pP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Divide the channel matrix into </a:t>
                </a:r>
                <a14:m>
                  <m:oMath xmlns:m="http://schemas.openxmlformats.org/officeDocument/2006/math">
                    <m:r>
                      <a:rPr lang="en-US" altLang="zh-TW" sz="1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 </m:t>
                    </m:r>
                  </m:oMath>
                </a14:m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upper </a:t>
                </a: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triangulize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submatrices.</a:t>
                </a:r>
              </a:p>
              <a:p>
                <a:pPr lvl="2">
                  <a:lnSpc>
                    <a:spcPct val="200000"/>
                  </a:lnSpc>
                  <a:buClr>
                    <a:srgbClr val="FF0000"/>
                  </a:buClr>
                </a:pP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Diagonalize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submatrix that has been upper </a:t>
                </a: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triangulized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TW" sz="1800" kern="0" dirty="0"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200000"/>
                  </a:lnSpc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sz="2000" b="1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Golub-</a:t>
                </a:r>
                <a:r>
                  <a:rPr lang="en-US" altLang="zh-TW" sz="2000" b="1" kern="0" dirty="0" err="1">
                    <a:solidFill>
                      <a:srgbClr val="3333FF"/>
                    </a:solidFill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Kahan</a:t>
                </a:r>
                <a:r>
                  <a:rPr lang="en-US" altLang="zh-TW" sz="2000" b="1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 algorithm</a:t>
                </a:r>
                <a:r>
                  <a:rPr lang="en-US" altLang="zh-TW" sz="2000" kern="0" dirty="0">
                    <a:latin typeface="Arial" panose="020B0604020202020204" pitchFamily="34" charset="0"/>
                    <a:ea typeface="新細明體" pitchFamily="18" charset="-120"/>
                    <a:cs typeface="Arial" panose="020B0604020202020204" pitchFamily="34" charset="0"/>
                  </a:rPr>
                  <a:t> [2]</a:t>
                </a:r>
              </a:p>
              <a:p>
                <a:pPr lvl="2">
                  <a:lnSpc>
                    <a:spcPct val="200000"/>
                  </a:lnSpc>
                  <a:buClr>
                    <a:srgbClr val="FF0000"/>
                  </a:buClr>
                </a:pP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Bi-</a:t>
                </a: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diagonalize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channel matrix.</a:t>
                </a:r>
              </a:p>
              <a:p>
                <a:pPr lvl="2">
                  <a:lnSpc>
                    <a:spcPct val="200000"/>
                  </a:lnSpc>
                  <a:buClr>
                    <a:srgbClr val="FF0000"/>
                  </a:buClr>
                </a:pP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Diagonalize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matrix that has been bi-</a:t>
                </a:r>
                <a:r>
                  <a:rPr lang="en-US" altLang="zh-TW" sz="18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diagonalized</a:t>
                </a:r>
                <a:r>
                  <a:rPr lang="en-US" altLang="zh-TW" sz="18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 algn="just">
                  <a:lnSpc>
                    <a:spcPct val="150000"/>
                  </a:lnSpc>
                  <a:spcBef>
                    <a:spcPts val="0"/>
                  </a:spcBef>
                  <a:buClr>
                    <a:srgbClr val="3333CC"/>
                  </a:buClr>
                </a:pPr>
                <a:endParaRPr lang="en-US" altLang="zh-TW" sz="2000" kern="0" dirty="0">
                  <a:latin typeface="Arial" panose="020B0604020202020204" pitchFamily="34" charset="0"/>
                  <a:ea typeface="新細明體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內容版面配置區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978" y="1143001"/>
                <a:ext cx="9408566" cy="3366119"/>
              </a:xfrm>
              <a:prstGeom prst="rect">
                <a:avLst/>
              </a:prstGeom>
              <a:blipFill>
                <a:blip r:embed="rId2"/>
                <a:stretch>
                  <a:fillRect l="-712" b="-259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500745" y="5517232"/>
            <a:ext cx="92890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/>
              <a:t>[1]  D. Guenther, R. </a:t>
            </a:r>
            <a:r>
              <a:rPr lang="en-US" altLang="zh-TW" sz="1200" dirty="0" err="1"/>
              <a:t>Leupers</a:t>
            </a:r>
            <a:r>
              <a:rPr lang="en-US" altLang="zh-TW" sz="1200" dirty="0"/>
              <a:t>, G. </a:t>
            </a:r>
            <a:r>
              <a:rPr lang="en-US" altLang="zh-TW" sz="1200" dirty="0" err="1"/>
              <a:t>Ascheid</a:t>
            </a:r>
            <a:r>
              <a:rPr lang="en-US" altLang="zh-TW" sz="1200" dirty="0"/>
              <a:t>, “A scalable, multi-mode SVD precoding ASIC based on the cyclic Jacobi method”, IEEE Trans. Circuits Systems I, vol. 63, no. 8, pp. 1283-94, Aug. 2016.</a:t>
            </a:r>
          </a:p>
          <a:p>
            <a:r>
              <a:rPr lang="en-US" altLang="zh-TW" sz="1200"/>
              <a:t>[2</a:t>
            </a:r>
            <a:r>
              <a:rPr lang="en-US" altLang="zh-TW" sz="1200" dirty="0"/>
              <a:t>] Y.-T. Hwang, K.-T Chen and C.-K Wu, "A high throughput unified SVD/QRD </a:t>
            </a:r>
            <a:r>
              <a:rPr lang="en-US" altLang="zh-TW" sz="1200" dirty="0" err="1"/>
              <a:t>precoder</a:t>
            </a:r>
            <a:r>
              <a:rPr lang="en-US" altLang="zh-TW" sz="1200" dirty="0"/>
              <a:t> design for MIMO OFDM systems", 2015 IEEE Intl. Conference Digital Signal Processing (DSP), pp. 1148 – 1151, Sept. 2015.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0581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Real Jacobi Algorithm</a:t>
            </a:r>
          </a:p>
        </p:txBody>
      </p:sp>
      <p:grpSp>
        <p:nvGrpSpPr>
          <p:cNvPr id="61" name="object 2">
            <a:extLst>
              <a:ext uri="{FF2B5EF4-FFF2-40B4-BE49-F238E27FC236}">
                <a16:creationId xmlns:a16="http://schemas.microsoft.com/office/drawing/2014/main" id="{A8163D4F-B2C3-468C-BACC-5AE7EE2C3A60}"/>
              </a:ext>
            </a:extLst>
          </p:cNvPr>
          <p:cNvGrpSpPr/>
          <p:nvPr/>
        </p:nvGrpSpPr>
        <p:grpSpPr>
          <a:xfrm>
            <a:off x="2298259" y="5074325"/>
            <a:ext cx="4915535" cy="838835"/>
            <a:chOff x="2191448" y="5125148"/>
            <a:chExt cx="4915535" cy="838835"/>
          </a:xfrm>
        </p:grpSpPr>
        <p:sp>
          <p:nvSpPr>
            <p:cNvPr id="62" name="object 3">
              <a:extLst>
                <a:ext uri="{FF2B5EF4-FFF2-40B4-BE49-F238E27FC236}">
                  <a16:creationId xmlns:a16="http://schemas.microsoft.com/office/drawing/2014/main" id="{ECC1C916-CA8C-43CD-8A7E-D6186CE9F02D}"/>
                </a:ext>
              </a:extLst>
            </p:cNvPr>
            <p:cNvSpPr/>
            <p:nvPr/>
          </p:nvSpPr>
          <p:spPr>
            <a:xfrm>
              <a:off x="2204465" y="5138165"/>
              <a:ext cx="4889500" cy="812800"/>
            </a:xfrm>
            <a:custGeom>
              <a:avLst/>
              <a:gdLst/>
              <a:ahLst/>
              <a:cxnLst/>
              <a:rect l="l" t="t" r="r" b="b"/>
              <a:pathLst>
                <a:path w="4889500" h="812800">
                  <a:moveTo>
                    <a:pt x="4888991" y="0"/>
                  </a:moveTo>
                  <a:lnTo>
                    <a:pt x="0" y="0"/>
                  </a:lnTo>
                  <a:lnTo>
                    <a:pt x="0" y="812291"/>
                  </a:lnTo>
                  <a:lnTo>
                    <a:pt x="4888991" y="812291"/>
                  </a:lnTo>
                  <a:lnTo>
                    <a:pt x="4888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4">
              <a:extLst>
                <a:ext uri="{FF2B5EF4-FFF2-40B4-BE49-F238E27FC236}">
                  <a16:creationId xmlns:a16="http://schemas.microsoft.com/office/drawing/2014/main" id="{7DFF6480-886C-41D5-8225-3946AA64A64E}"/>
                </a:ext>
              </a:extLst>
            </p:cNvPr>
            <p:cNvSpPr/>
            <p:nvPr/>
          </p:nvSpPr>
          <p:spPr>
            <a:xfrm>
              <a:off x="2204465" y="5138165"/>
              <a:ext cx="4889500" cy="812800"/>
            </a:xfrm>
            <a:custGeom>
              <a:avLst/>
              <a:gdLst/>
              <a:ahLst/>
              <a:cxnLst/>
              <a:rect l="l" t="t" r="r" b="b"/>
              <a:pathLst>
                <a:path w="4889500" h="812800">
                  <a:moveTo>
                    <a:pt x="0" y="812291"/>
                  </a:moveTo>
                  <a:lnTo>
                    <a:pt x="4888991" y="812291"/>
                  </a:lnTo>
                  <a:lnTo>
                    <a:pt x="4888991" y="0"/>
                  </a:lnTo>
                  <a:lnTo>
                    <a:pt x="0" y="0"/>
                  </a:lnTo>
                  <a:lnTo>
                    <a:pt x="0" y="812291"/>
                  </a:lnTo>
                  <a:close/>
                </a:path>
              </a:pathLst>
            </a:custGeom>
            <a:ln w="25908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">
            <a:extLst>
              <a:ext uri="{FF2B5EF4-FFF2-40B4-BE49-F238E27FC236}">
                <a16:creationId xmlns:a16="http://schemas.microsoft.com/office/drawing/2014/main" id="{3B2098AC-08E0-43A3-BFC7-AEC19274D573}"/>
              </a:ext>
            </a:extLst>
          </p:cNvPr>
          <p:cNvSpPr txBox="1"/>
          <p:nvPr/>
        </p:nvSpPr>
        <p:spPr>
          <a:xfrm>
            <a:off x="630046" y="1212598"/>
            <a:ext cx="494220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00"/>
              </a:spcBef>
              <a:buClr>
                <a:schemeClr val="accent2"/>
              </a:buClr>
              <a:buSzPct val="60416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2400" b="1" spc="-10" dirty="0">
                <a:latin typeface="Calibri"/>
                <a:cs typeface="Calibri"/>
              </a:rPr>
              <a:t>Diagonalization</a:t>
            </a:r>
            <a:endParaRPr sz="2400" dirty="0">
              <a:latin typeface="Calibri"/>
              <a:cs typeface="Calibri"/>
            </a:endParaRPr>
          </a:p>
          <a:p>
            <a:pPr marL="381000" indent="-34290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SzPct val="60416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2400" b="1" spc="-10" dirty="0">
                <a:latin typeface="Calibri"/>
                <a:cs typeface="Calibri"/>
              </a:rPr>
              <a:t>For symmetric real matrix </a:t>
            </a:r>
            <a:r>
              <a:rPr sz="2400" dirty="0">
                <a:latin typeface="Cambria Math"/>
                <a:cs typeface="Cambria Math"/>
              </a:rPr>
              <a:t>𝐀 ∈</a:t>
            </a:r>
            <a:r>
              <a:rPr sz="2400" spc="235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ℝ</a:t>
            </a:r>
            <a:r>
              <a:rPr sz="2625" spc="22" baseline="28571" dirty="0">
                <a:latin typeface="Cambria Math"/>
                <a:cs typeface="Cambria Math"/>
              </a:rPr>
              <a:t>2×2</a:t>
            </a:r>
            <a:endParaRPr sz="2625" baseline="28571" dirty="0">
              <a:latin typeface="Cambria Math"/>
              <a:cs typeface="Cambria Math"/>
            </a:endParaRPr>
          </a:p>
        </p:txBody>
      </p:sp>
      <p:sp>
        <p:nvSpPr>
          <p:cNvPr id="65" name="object 8">
            <a:extLst>
              <a:ext uri="{FF2B5EF4-FFF2-40B4-BE49-F238E27FC236}">
                <a16:creationId xmlns:a16="http://schemas.microsoft.com/office/drawing/2014/main" id="{F66D305B-2FCE-46A1-BEF3-9B71D752CA47}"/>
              </a:ext>
            </a:extLst>
          </p:cNvPr>
          <p:cNvSpPr txBox="1"/>
          <p:nvPr/>
        </p:nvSpPr>
        <p:spPr>
          <a:xfrm>
            <a:off x="1120067" y="2624178"/>
            <a:ext cx="415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𝐀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95803F1E-3A19-46AA-BB66-34673F28504D}"/>
              </a:ext>
            </a:extLst>
          </p:cNvPr>
          <p:cNvSpPr/>
          <p:nvPr/>
        </p:nvSpPr>
        <p:spPr>
          <a:xfrm>
            <a:off x="2638810" y="2571726"/>
            <a:ext cx="56515" cy="455930"/>
          </a:xfrm>
          <a:custGeom>
            <a:avLst/>
            <a:gdLst/>
            <a:ahLst/>
            <a:cxnLst/>
            <a:rect l="l" t="t" r="r" b="b"/>
            <a:pathLst>
              <a:path w="56514" h="455930">
                <a:moveTo>
                  <a:pt x="56134" y="0"/>
                </a:moveTo>
                <a:lnTo>
                  <a:pt x="0" y="0"/>
                </a:lnTo>
                <a:lnTo>
                  <a:pt x="0" y="11430"/>
                </a:lnTo>
                <a:lnTo>
                  <a:pt x="34290" y="11430"/>
                </a:lnTo>
                <a:lnTo>
                  <a:pt x="34290" y="444500"/>
                </a:lnTo>
                <a:lnTo>
                  <a:pt x="0" y="444500"/>
                </a:lnTo>
                <a:lnTo>
                  <a:pt x="0" y="455930"/>
                </a:lnTo>
                <a:lnTo>
                  <a:pt x="56134" y="455930"/>
                </a:lnTo>
                <a:lnTo>
                  <a:pt x="56134" y="444500"/>
                </a:lnTo>
                <a:lnTo>
                  <a:pt x="56134" y="1143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0">
            <a:extLst>
              <a:ext uri="{FF2B5EF4-FFF2-40B4-BE49-F238E27FC236}">
                <a16:creationId xmlns:a16="http://schemas.microsoft.com/office/drawing/2014/main" id="{CC5393A5-0C5A-4951-8A65-05C6FE147DDA}"/>
              </a:ext>
            </a:extLst>
          </p:cNvPr>
          <p:cNvSpPr/>
          <p:nvPr/>
        </p:nvSpPr>
        <p:spPr>
          <a:xfrm>
            <a:off x="1612269" y="2571726"/>
            <a:ext cx="56515" cy="455930"/>
          </a:xfrm>
          <a:custGeom>
            <a:avLst/>
            <a:gdLst/>
            <a:ahLst/>
            <a:cxnLst/>
            <a:rect l="l" t="t" r="r" b="b"/>
            <a:pathLst>
              <a:path w="56515" h="455930">
                <a:moveTo>
                  <a:pt x="56134" y="0"/>
                </a:moveTo>
                <a:lnTo>
                  <a:pt x="0" y="0"/>
                </a:lnTo>
                <a:lnTo>
                  <a:pt x="0" y="11430"/>
                </a:lnTo>
                <a:lnTo>
                  <a:pt x="0" y="444500"/>
                </a:lnTo>
                <a:lnTo>
                  <a:pt x="0" y="455930"/>
                </a:lnTo>
                <a:lnTo>
                  <a:pt x="56134" y="455930"/>
                </a:lnTo>
                <a:lnTo>
                  <a:pt x="56134" y="444500"/>
                </a:lnTo>
                <a:lnTo>
                  <a:pt x="21844" y="444500"/>
                </a:lnTo>
                <a:lnTo>
                  <a:pt x="21844" y="11430"/>
                </a:lnTo>
                <a:lnTo>
                  <a:pt x="56134" y="1143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1">
            <a:extLst>
              <a:ext uri="{FF2B5EF4-FFF2-40B4-BE49-F238E27FC236}">
                <a16:creationId xmlns:a16="http://schemas.microsoft.com/office/drawing/2014/main" id="{F759628A-FA70-4E84-92FC-B80A95B26B3E}"/>
              </a:ext>
            </a:extLst>
          </p:cNvPr>
          <p:cNvSpPr txBox="1"/>
          <p:nvPr/>
        </p:nvSpPr>
        <p:spPr>
          <a:xfrm>
            <a:off x="1636018" y="2491590"/>
            <a:ext cx="43434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135"/>
              </a:lnSpc>
              <a:spcBef>
                <a:spcPts val="100"/>
              </a:spcBef>
            </a:pPr>
            <a:r>
              <a:rPr sz="2700" spc="15" baseline="10802" dirty="0">
                <a:latin typeface="Cambria Math"/>
                <a:cs typeface="Cambria Math"/>
              </a:rPr>
              <a:t>𝑎</a:t>
            </a:r>
            <a:r>
              <a:rPr sz="1300" spc="10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2135"/>
              </a:lnSpc>
            </a:pPr>
            <a:r>
              <a:rPr sz="2700" spc="37" baseline="10802" dirty="0">
                <a:latin typeface="Cambria Math"/>
                <a:cs typeface="Cambria Math"/>
              </a:rPr>
              <a:t>𝑎</a:t>
            </a:r>
            <a:r>
              <a:rPr sz="1300" spc="25" dirty="0">
                <a:latin typeface="Cambria Math"/>
                <a:cs typeface="Cambria Math"/>
              </a:rPr>
              <a:t>2,1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9" name="object 12">
            <a:extLst>
              <a:ext uri="{FF2B5EF4-FFF2-40B4-BE49-F238E27FC236}">
                <a16:creationId xmlns:a16="http://schemas.microsoft.com/office/drawing/2014/main" id="{E3FA831F-5885-48D8-8D53-CADCA068AEA4}"/>
              </a:ext>
            </a:extLst>
          </p:cNvPr>
          <p:cNvSpPr txBox="1"/>
          <p:nvPr/>
        </p:nvSpPr>
        <p:spPr>
          <a:xfrm>
            <a:off x="2228853" y="2491590"/>
            <a:ext cx="43434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135"/>
              </a:lnSpc>
              <a:spcBef>
                <a:spcPts val="100"/>
              </a:spcBef>
            </a:pPr>
            <a:r>
              <a:rPr sz="2700" spc="15" baseline="10802" dirty="0">
                <a:latin typeface="Cambria Math"/>
                <a:cs typeface="Cambria Math"/>
              </a:rPr>
              <a:t>𝑎</a:t>
            </a:r>
            <a:r>
              <a:rPr sz="1300" spc="10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2135"/>
              </a:lnSpc>
            </a:pPr>
            <a:r>
              <a:rPr sz="2700" spc="37" baseline="10802" dirty="0">
                <a:latin typeface="Cambria Math"/>
                <a:cs typeface="Cambria Math"/>
              </a:rPr>
              <a:t>𝑎</a:t>
            </a:r>
            <a:r>
              <a:rPr sz="1300" spc="25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0" name="object 13">
            <a:extLst>
              <a:ext uri="{FF2B5EF4-FFF2-40B4-BE49-F238E27FC236}">
                <a16:creationId xmlns:a16="http://schemas.microsoft.com/office/drawing/2014/main" id="{893654CD-02A2-420C-B51D-5CF71EAEA877}"/>
              </a:ext>
            </a:extLst>
          </p:cNvPr>
          <p:cNvSpPr txBox="1"/>
          <p:nvPr/>
        </p:nvSpPr>
        <p:spPr>
          <a:xfrm>
            <a:off x="3584325" y="2569948"/>
            <a:ext cx="34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𝐉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14">
            <a:extLst>
              <a:ext uri="{FF2B5EF4-FFF2-40B4-BE49-F238E27FC236}">
                <a16:creationId xmlns:a16="http://schemas.microsoft.com/office/drawing/2014/main" id="{92AD052A-8483-4066-A66F-3323251BAD51}"/>
              </a:ext>
            </a:extLst>
          </p:cNvPr>
          <p:cNvSpPr/>
          <p:nvPr/>
        </p:nvSpPr>
        <p:spPr>
          <a:xfrm>
            <a:off x="5383026" y="2518386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34290" y="10160"/>
                </a:lnTo>
                <a:lnTo>
                  <a:pt x="34290" y="44450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15">
            <a:extLst>
              <a:ext uri="{FF2B5EF4-FFF2-40B4-BE49-F238E27FC236}">
                <a16:creationId xmlns:a16="http://schemas.microsoft.com/office/drawing/2014/main" id="{22994AC5-5346-47BA-8FF6-F7026672BB49}"/>
              </a:ext>
            </a:extLst>
          </p:cNvPr>
          <p:cNvSpPr/>
          <p:nvPr/>
        </p:nvSpPr>
        <p:spPr>
          <a:xfrm>
            <a:off x="4001393" y="2518386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21844" y="444500"/>
                </a:lnTo>
                <a:lnTo>
                  <a:pt x="21844" y="1016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6">
            <a:extLst>
              <a:ext uri="{FF2B5EF4-FFF2-40B4-BE49-F238E27FC236}">
                <a16:creationId xmlns:a16="http://schemas.microsoft.com/office/drawing/2014/main" id="{722FD83F-EA1F-4330-B993-2F892FB24F47}"/>
              </a:ext>
            </a:extLst>
          </p:cNvPr>
          <p:cNvSpPr txBox="1"/>
          <p:nvPr/>
        </p:nvSpPr>
        <p:spPr>
          <a:xfrm>
            <a:off x="4050669" y="2448029"/>
            <a:ext cx="63563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𝑐𝑜𝑠𝜃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10" dirty="0">
                <a:latin typeface="Cambria Math"/>
                <a:cs typeface="Cambria Math"/>
              </a:rPr>
              <a:t>−</a:t>
            </a: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4" name="object 17">
            <a:extLst>
              <a:ext uri="{FF2B5EF4-FFF2-40B4-BE49-F238E27FC236}">
                <a16:creationId xmlns:a16="http://schemas.microsoft.com/office/drawing/2014/main" id="{C3360C36-D89A-4DD0-A58F-3A8B96F7D1B4}"/>
              </a:ext>
            </a:extLst>
          </p:cNvPr>
          <p:cNvSpPr txBox="1"/>
          <p:nvPr/>
        </p:nvSpPr>
        <p:spPr>
          <a:xfrm>
            <a:off x="4896489" y="2448029"/>
            <a:ext cx="48704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𝑐𝑜𝑠𝜃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5" name="object 18">
            <a:extLst>
              <a:ext uri="{FF2B5EF4-FFF2-40B4-BE49-F238E27FC236}">
                <a16:creationId xmlns:a16="http://schemas.microsoft.com/office/drawing/2014/main" id="{A38C6395-1E2D-46CC-BADE-A6B7863E24B8}"/>
              </a:ext>
            </a:extLst>
          </p:cNvPr>
          <p:cNvSpPr txBox="1"/>
          <p:nvPr/>
        </p:nvSpPr>
        <p:spPr>
          <a:xfrm>
            <a:off x="5515614" y="2569948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6" name="object 19">
            <a:extLst>
              <a:ext uri="{FF2B5EF4-FFF2-40B4-BE49-F238E27FC236}">
                <a16:creationId xmlns:a16="http://schemas.microsoft.com/office/drawing/2014/main" id="{D2307B55-EE09-4ACA-AED9-8AFEED61ED8D}"/>
              </a:ext>
            </a:extLst>
          </p:cNvPr>
          <p:cNvSpPr/>
          <p:nvPr/>
        </p:nvSpPr>
        <p:spPr>
          <a:xfrm>
            <a:off x="6475734" y="2557756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39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385" y="10160"/>
                </a:lnTo>
                <a:lnTo>
                  <a:pt x="32385" y="3657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20">
            <a:extLst>
              <a:ext uri="{FF2B5EF4-FFF2-40B4-BE49-F238E27FC236}">
                <a16:creationId xmlns:a16="http://schemas.microsoft.com/office/drawing/2014/main" id="{533E3FAD-9A9D-4505-BD9C-9CC4A80A6C97}"/>
              </a:ext>
            </a:extLst>
          </p:cNvPr>
          <p:cNvSpPr/>
          <p:nvPr/>
        </p:nvSpPr>
        <p:spPr>
          <a:xfrm>
            <a:off x="5788918" y="2557756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39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1">
            <a:extLst>
              <a:ext uri="{FF2B5EF4-FFF2-40B4-BE49-F238E27FC236}">
                <a16:creationId xmlns:a16="http://schemas.microsoft.com/office/drawing/2014/main" id="{5C8B6834-C5B0-4712-A88B-43AD2FC40F8C}"/>
              </a:ext>
            </a:extLst>
          </p:cNvPr>
          <p:cNvSpPr txBox="1"/>
          <p:nvPr/>
        </p:nvSpPr>
        <p:spPr>
          <a:xfrm>
            <a:off x="5834130" y="2423644"/>
            <a:ext cx="64325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ts val="2135"/>
              </a:lnSpc>
              <a:spcBef>
                <a:spcPts val="100"/>
              </a:spcBef>
              <a:tabLst>
                <a:tab pos="524510" algn="l"/>
              </a:tabLst>
            </a:pPr>
            <a:r>
              <a:rPr sz="1800" dirty="0">
                <a:latin typeface="Cambria Math"/>
                <a:cs typeface="Cambria Math"/>
              </a:rPr>
              <a:t>𝑐	𝑠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  <a:tabLst>
                <a:tab pos="524510" algn="l"/>
              </a:tabLst>
            </a:pPr>
            <a:r>
              <a:rPr sz="1800" spc="10" dirty="0">
                <a:latin typeface="Cambria Math"/>
                <a:cs typeface="Cambria Math"/>
              </a:rPr>
              <a:t>−</a:t>
            </a:r>
            <a:r>
              <a:rPr sz="1800" dirty="0">
                <a:latin typeface="Cambria Math"/>
                <a:cs typeface="Cambria Math"/>
              </a:rPr>
              <a:t>𝑠	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9" name="object 22">
            <a:extLst>
              <a:ext uri="{FF2B5EF4-FFF2-40B4-BE49-F238E27FC236}">
                <a16:creationId xmlns:a16="http://schemas.microsoft.com/office/drawing/2014/main" id="{C176DB78-EFC8-4545-B0BE-7207FE82DA60}"/>
              </a:ext>
            </a:extLst>
          </p:cNvPr>
          <p:cNvSpPr txBox="1"/>
          <p:nvPr/>
        </p:nvSpPr>
        <p:spPr>
          <a:xfrm>
            <a:off x="1637669" y="3547722"/>
            <a:ext cx="1301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20" dirty="0">
                <a:latin typeface="Cambria Math"/>
                <a:cs typeface="Cambria Math"/>
              </a:rPr>
              <a:t>𝑻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0" name="object 23">
            <a:extLst>
              <a:ext uri="{FF2B5EF4-FFF2-40B4-BE49-F238E27FC236}">
                <a16:creationId xmlns:a16="http://schemas.microsoft.com/office/drawing/2014/main" id="{CB4245D2-CA6B-4C40-ABBF-63B0A6F93E8F}"/>
              </a:ext>
            </a:extLst>
          </p:cNvPr>
          <p:cNvSpPr txBox="1"/>
          <p:nvPr/>
        </p:nvSpPr>
        <p:spPr>
          <a:xfrm>
            <a:off x="1097817" y="3570581"/>
            <a:ext cx="115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𝐁 = 𝐉 𝐀𝐉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1" name="object 24">
            <a:extLst>
              <a:ext uri="{FF2B5EF4-FFF2-40B4-BE49-F238E27FC236}">
                <a16:creationId xmlns:a16="http://schemas.microsoft.com/office/drawing/2014/main" id="{90C1BDF4-0282-45DB-B762-BE35BB13A1BA}"/>
              </a:ext>
            </a:extLst>
          </p:cNvPr>
          <p:cNvSpPr/>
          <p:nvPr/>
        </p:nvSpPr>
        <p:spPr>
          <a:xfrm>
            <a:off x="3329817" y="3456916"/>
            <a:ext cx="57785" cy="577850"/>
          </a:xfrm>
          <a:custGeom>
            <a:avLst/>
            <a:gdLst/>
            <a:ahLst/>
            <a:cxnLst/>
            <a:rect l="l" t="t" r="r" b="b"/>
            <a:pathLst>
              <a:path w="57785" h="577850">
                <a:moveTo>
                  <a:pt x="57404" y="0"/>
                </a:moveTo>
                <a:lnTo>
                  <a:pt x="0" y="0"/>
                </a:lnTo>
                <a:lnTo>
                  <a:pt x="0" y="11430"/>
                </a:lnTo>
                <a:lnTo>
                  <a:pt x="35547" y="11430"/>
                </a:lnTo>
                <a:lnTo>
                  <a:pt x="35547" y="566420"/>
                </a:lnTo>
                <a:lnTo>
                  <a:pt x="0" y="566420"/>
                </a:lnTo>
                <a:lnTo>
                  <a:pt x="0" y="577850"/>
                </a:lnTo>
                <a:lnTo>
                  <a:pt x="57404" y="577850"/>
                </a:lnTo>
                <a:lnTo>
                  <a:pt x="57404" y="566420"/>
                </a:lnTo>
                <a:lnTo>
                  <a:pt x="57404" y="11430"/>
                </a:lnTo>
                <a:lnTo>
                  <a:pt x="574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25">
            <a:extLst>
              <a:ext uri="{FF2B5EF4-FFF2-40B4-BE49-F238E27FC236}">
                <a16:creationId xmlns:a16="http://schemas.microsoft.com/office/drawing/2014/main" id="{A03324E4-119A-4D28-A0C2-034C52430EC2}"/>
              </a:ext>
            </a:extLst>
          </p:cNvPr>
          <p:cNvSpPr/>
          <p:nvPr/>
        </p:nvSpPr>
        <p:spPr>
          <a:xfrm>
            <a:off x="2324485" y="3456916"/>
            <a:ext cx="57785" cy="577850"/>
          </a:xfrm>
          <a:custGeom>
            <a:avLst/>
            <a:gdLst/>
            <a:ahLst/>
            <a:cxnLst/>
            <a:rect l="l" t="t" r="r" b="b"/>
            <a:pathLst>
              <a:path w="57785" h="577850">
                <a:moveTo>
                  <a:pt x="57404" y="0"/>
                </a:moveTo>
                <a:lnTo>
                  <a:pt x="0" y="0"/>
                </a:lnTo>
                <a:lnTo>
                  <a:pt x="0" y="11430"/>
                </a:lnTo>
                <a:lnTo>
                  <a:pt x="0" y="566420"/>
                </a:lnTo>
                <a:lnTo>
                  <a:pt x="0" y="577850"/>
                </a:lnTo>
                <a:lnTo>
                  <a:pt x="57404" y="577850"/>
                </a:lnTo>
                <a:lnTo>
                  <a:pt x="57404" y="566420"/>
                </a:lnTo>
                <a:lnTo>
                  <a:pt x="21717" y="566420"/>
                </a:lnTo>
                <a:lnTo>
                  <a:pt x="21717" y="11430"/>
                </a:lnTo>
                <a:lnTo>
                  <a:pt x="57404" y="11430"/>
                </a:lnTo>
                <a:lnTo>
                  <a:pt x="574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26">
            <a:extLst>
              <a:ext uri="{FF2B5EF4-FFF2-40B4-BE49-F238E27FC236}">
                <a16:creationId xmlns:a16="http://schemas.microsoft.com/office/drawing/2014/main" id="{3A0F4448-C1C3-42E3-AA7D-97842BA50A5B}"/>
              </a:ext>
            </a:extLst>
          </p:cNvPr>
          <p:cNvSpPr txBox="1"/>
          <p:nvPr/>
        </p:nvSpPr>
        <p:spPr>
          <a:xfrm>
            <a:off x="2349884" y="3419705"/>
            <a:ext cx="421640" cy="6292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15"/>
              </a:spcBef>
            </a:pPr>
            <a:r>
              <a:rPr sz="2700" baseline="10802" dirty="0">
                <a:latin typeface="Cambria Math"/>
                <a:cs typeface="Cambria Math"/>
              </a:rPr>
              <a:t>𝑏</a:t>
            </a:r>
            <a:r>
              <a:rPr sz="1300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2700" spc="7" baseline="10802" dirty="0">
                <a:latin typeface="Cambria Math"/>
                <a:cs typeface="Cambria Math"/>
              </a:rPr>
              <a:t>𝑏</a:t>
            </a:r>
            <a:r>
              <a:rPr sz="1300" spc="5" dirty="0">
                <a:latin typeface="Cambria Math"/>
                <a:cs typeface="Cambria Math"/>
              </a:rPr>
              <a:t>2,1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4" name="object 27">
            <a:extLst>
              <a:ext uri="{FF2B5EF4-FFF2-40B4-BE49-F238E27FC236}">
                <a16:creationId xmlns:a16="http://schemas.microsoft.com/office/drawing/2014/main" id="{AD08EF54-692A-43CD-A9FE-1990C651547F}"/>
              </a:ext>
            </a:extLst>
          </p:cNvPr>
          <p:cNvSpPr txBox="1"/>
          <p:nvPr/>
        </p:nvSpPr>
        <p:spPr>
          <a:xfrm>
            <a:off x="2932053" y="3419705"/>
            <a:ext cx="421640" cy="6292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315"/>
              </a:spcBef>
            </a:pPr>
            <a:r>
              <a:rPr sz="2700" baseline="10802" dirty="0">
                <a:latin typeface="Cambria Math"/>
                <a:cs typeface="Cambria Math"/>
              </a:rPr>
              <a:t>𝑏</a:t>
            </a:r>
            <a:r>
              <a:rPr sz="1300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2700" spc="7" baseline="10802" dirty="0">
                <a:latin typeface="Cambria Math"/>
                <a:cs typeface="Cambria Math"/>
              </a:rPr>
              <a:t>𝑏</a:t>
            </a:r>
            <a:r>
              <a:rPr sz="1300" spc="5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5" name="object 28">
            <a:extLst>
              <a:ext uri="{FF2B5EF4-FFF2-40B4-BE49-F238E27FC236}">
                <a16:creationId xmlns:a16="http://schemas.microsoft.com/office/drawing/2014/main" id="{E7C89AA0-038C-4E6A-8024-54AD5CB13FD3}"/>
              </a:ext>
            </a:extLst>
          </p:cNvPr>
          <p:cNvSpPr txBox="1"/>
          <p:nvPr/>
        </p:nvSpPr>
        <p:spPr>
          <a:xfrm>
            <a:off x="3463420" y="3570581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6" name="object 29">
            <a:extLst>
              <a:ext uri="{FF2B5EF4-FFF2-40B4-BE49-F238E27FC236}">
                <a16:creationId xmlns:a16="http://schemas.microsoft.com/office/drawing/2014/main" id="{1E4647B5-BC68-4EF7-A0CF-5A559F378B8D}"/>
              </a:ext>
            </a:extLst>
          </p:cNvPr>
          <p:cNvSpPr/>
          <p:nvPr/>
        </p:nvSpPr>
        <p:spPr>
          <a:xfrm>
            <a:off x="5117469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34290" y="10160"/>
                </a:lnTo>
                <a:lnTo>
                  <a:pt x="34290" y="44450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30">
            <a:extLst>
              <a:ext uri="{FF2B5EF4-FFF2-40B4-BE49-F238E27FC236}">
                <a16:creationId xmlns:a16="http://schemas.microsoft.com/office/drawing/2014/main" id="{86257657-537E-4C8E-8901-C5B1D8DD658F}"/>
              </a:ext>
            </a:extLst>
          </p:cNvPr>
          <p:cNvSpPr/>
          <p:nvPr/>
        </p:nvSpPr>
        <p:spPr>
          <a:xfrm>
            <a:off x="3735836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21844" y="444500"/>
                </a:lnTo>
                <a:lnTo>
                  <a:pt x="21844" y="1016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31">
            <a:extLst>
              <a:ext uri="{FF2B5EF4-FFF2-40B4-BE49-F238E27FC236}">
                <a16:creationId xmlns:a16="http://schemas.microsoft.com/office/drawing/2014/main" id="{AAE090FA-6937-4C4C-A08C-042FDF11A2AD}"/>
              </a:ext>
            </a:extLst>
          </p:cNvPr>
          <p:cNvSpPr txBox="1"/>
          <p:nvPr/>
        </p:nvSpPr>
        <p:spPr>
          <a:xfrm>
            <a:off x="3785239" y="3448661"/>
            <a:ext cx="63563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𝑐𝑜𝑠𝜃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10" dirty="0">
                <a:latin typeface="Cambria Math"/>
                <a:cs typeface="Cambria Math"/>
              </a:rPr>
              <a:t>−</a:t>
            </a: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9" name="object 32">
            <a:extLst>
              <a:ext uri="{FF2B5EF4-FFF2-40B4-BE49-F238E27FC236}">
                <a16:creationId xmlns:a16="http://schemas.microsoft.com/office/drawing/2014/main" id="{BFEE4D52-4977-417B-A175-517F1E6D11E5}"/>
              </a:ext>
            </a:extLst>
          </p:cNvPr>
          <p:cNvSpPr txBox="1"/>
          <p:nvPr/>
        </p:nvSpPr>
        <p:spPr>
          <a:xfrm>
            <a:off x="4632582" y="3448661"/>
            <a:ext cx="486409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𝑐𝑜</a:t>
            </a:r>
            <a:r>
              <a:rPr sz="1800" spc="-5" dirty="0">
                <a:latin typeface="Cambria Math"/>
                <a:cs typeface="Cambria Math"/>
              </a:rPr>
              <a:t>𝑠</a:t>
            </a:r>
            <a:r>
              <a:rPr sz="1800" dirty="0">
                <a:latin typeface="Cambria Math"/>
                <a:cs typeface="Cambria Math"/>
              </a:rPr>
              <a:t>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0" name="object 33">
            <a:extLst>
              <a:ext uri="{FF2B5EF4-FFF2-40B4-BE49-F238E27FC236}">
                <a16:creationId xmlns:a16="http://schemas.microsoft.com/office/drawing/2014/main" id="{C9918218-B51A-48DC-ADB2-FEC70FA4E99F}"/>
              </a:ext>
            </a:extLst>
          </p:cNvPr>
          <p:cNvSpPr txBox="1"/>
          <p:nvPr/>
        </p:nvSpPr>
        <p:spPr>
          <a:xfrm>
            <a:off x="5187319" y="3390190"/>
            <a:ext cx="12890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60" dirty="0">
                <a:latin typeface="Cambria Math"/>
                <a:cs typeface="Cambria Math"/>
              </a:rPr>
              <a:t>𝑇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1" name="object 34">
            <a:extLst>
              <a:ext uri="{FF2B5EF4-FFF2-40B4-BE49-F238E27FC236}">
                <a16:creationId xmlns:a16="http://schemas.microsoft.com/office/drawing/2014/main" id="{26CE60DF-8851-4C3C-9574-9E01E77A66C8}"/>
              </a:ext>
            </a:extLst>
          </p:cNvPr>
          <p:cNvSpPr/>
          <p:nvPr/>
        </p:nvSpPr>
        <p:spPr>
          <a:xfrm>
            <a:off x="6406773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34290" y="10160"/>
                </a:lnTo>
                <a:lnTo>
                  <a:pt x="34290" y="44450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35">
            <a:extLst>
              <a:ext uri="{FF2B5EF4-FFF2-40B4-BE49-F238E27FC236}">
                <a16:creationId xmlns:a16="http://schemas.microsoft.com/office/drawing/2014/main" id="{EB5C0FCD-F4F1-41A4-866B-3A8A3D90B5A4}"/>
              </a:ext>
            </a:extLst>
          </p:cNvPr>
          <p:cNvSpPr/>
          <p:nvPr/>
        </p:nvSpPr>
        <p:spPr>
          <a:xfrm>
            <a:off x="5380232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21844" y="444500"/>
                </a:lnTo>
                <a:lnTo>
                  <a:pt x="21844" y="1016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36">
            <a:extLst>
              <a:ext uri="{FF2B5EF4-FFF2-40B4-BE49-F238E27FC236}">
                <a16:creationId xmlns:a16="http://schemas.microsoft.com/office/drawing/2014/main" id="{DF729014-3EB4-49A8-80FC-ED35974584DE}"/>
              </a:ext>
            </a:extLst>
          </p:cNvPr>
          <p:cNvSpPr txBox="1"/>
          <p:nvPr/>
        </p:nvSpPr>
        <p:spPr>
          <a:xfrm>
            <a:off x="5404489" y="3437994"/>
            <a:ext cx="43434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2135"/>
              </a:lnSpc>
              <a:spcBef>
                <a:spcPts val="100"/>
              </a:spcBef>
            </a:pPr>
            <a:r>
              <a:rPr sz="2700" spc="15" baseline="10802" dirty="0">
                <a:latin typeface="Cambria Math"/>
                <a:cs typeface="Cambria Math"/>
              </a:rPr>
              <a:t>𝑎</a:t>
            </a:r>
            <a:r>
              <a:rPr sz="1300" spc="10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2135"/>
              </a:lnSpc>
            </a:pPr>
            <a:r>
              <a:rPr sz="2700" spc="37" baseline="10802" dirty="0">
                <a:latin typeface="Cambria Math"/>
                <a:cs typeface="Cambria Math"/>
              </a:rPr>
              <a:t>𝑎</a:t>
            </a:r>
            <a:r>
              <a:rPr sz="1300" spc="25" dirty="0">
                <a:latin typeface="Cambria Math"/>
                <a:cs typeface="Cambria Math"/>
              </a:rPr>
              <a:t>2,1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4" name="object 37">
            <a:extLst>
              <a:ext uri="{FF2B5EF4-FFF2-40B4-BE49-F238E27FC236}">
                <a16:creationId xmlns:a16="http://schemas.microsoft.com/office/drawing/2014/main" id="{028103C4-CB6E-48E6-83A5-43BB4524F75D}"/>
              </a:ext>
            </a:extLst>
          </p:cNvPr>
          <p:cNvSpPr txBox="1"/>
          <p:nvPr/>
        </p:nvSpPr>
        <p:spPr>
          <a:xfrm>
            <a:off x="5998849" y="3437994"/>
            <a:ext cx="432434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ts val="2135"/>
              </a:lnSpc>
              <a:spcBef>
                <a:spcPts val="100"/>
              </a:spcBef>
            </a:pPr>
            <a:r>
              <a:rPr sz="2700" spc="22" baseline="10802" dirty="0">
                <a:latin typeface="Cambria Math"/>
                <a:cs typeface="Cambria Math"/>
              </a:rPr>
              <a:t>𝑎</a:t>
            </a:r>
            <a:r>
              <a:rPr sz="1300" spc="1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2135"/>
              </a:lnSpc>
            </a:pPr>
            <a:r>
              <a:rPr sz="2700" spc="30" baseline="10802" dirty="0">
                <a:latin typeface="Cambria Math"/>
                <a:cs typeface="Cambria Math"/>
              </a:rPr>
              <a:t>𝑎</a:t>
            </a:r>
            <a:r>
              <a:rPr sz="1300" spc="20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5" name="object 38">
            <a:extLst>
              <a:ext uri="{FF2B5EF4-FFF2-40B4-BE49-F238E27FC236}">
                <a16:creationId xmlns:a16="http://schemas.microsoft.com/office/drawing/2014/main" id="{D8B0F030-4D64-481E-B06E-B74C8E83049C}"/>
              </a:ext>
            </a:extLst>
          </p:cNvPr>
          <p:cNvSpPr/>
          <p:nvPr/>
        </p:nvSpPr>
        <p:spPr>
          <a:xfrm>
            <a:off x="7932297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5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34290" y="10160"/>
                </a:lnTo>
                <a:lnTo>
                  <a:pt x="34290" y="44450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39">
            <a:extLst>
              <a:ext uri="{FF2B5EF4-FFF2-40B4-BE49-F238E27FC236}">
                <a16:creationId xmlns:a16="http://schemas.microsoft.com/office/drawing/2014/main" id="{396A0232-A390-402D-9194-D3838B44FEA4}"/>
              </a:ext>
            </a:extLst>
          </p:cNvPr>
          <p:cNvSpPr/>
          <p:nvPr/>
        </p:nvSpPr>
        <p:spPr>
          <a:xfrm>
            <a:off x="6550664" y="3517877"/>
            <a:ext cx="56515" cy="454659"/>
          </a:xfrm>
          <a:custGeom>
            <a:avLst/>
            <a:gdLst/>
            <a:ahLst/>
            <a:cxnLst/>
            <a:rect l="l" t="t" r="r" b="b"/>
            <a:pathLst>
              <a:path w="56514" h="454660">
                <a:moveTo>
                  <a:pt x="56134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0"/>
                </a:lnTo>
                <a:lnTo>
                  <a:pt x="0" y="454660"/>
                </a:lnTo>
                <a:lnTo>
                  <a:pt x="56134" y="454660"/>
                </a:lnTo>
                <a:lnTo>
                  <a:pt x="56134" y="444500"/>
                </a:lnTo>
                <a:lnTo>
                  <a:pt x="21844" y="444500"/>
                </a:lnTo>
                <a:lnTo>
                  <a:pt x="21844" y="10160"/>
                </a:lnTo>
                <a:lnTo>
                  <a:pt x="56134" y="10160"/>
                </a:lnTo>
                <a:lnTo>
                  <a:pt x="56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40">
            <a:extLst>
              <a:ext uri="{FF2B5EF4-FFF2-40B4-BE49-F238E27FC236}">
                <a16:creationId xmlns:a16="http://schemas.microsoft.com/office/drawing/2014/main" id="{4C5BD9D2-DCD7-477D-86D9-94B482FEAC64}"/>
              </a:ext>
            </a:extLst>
          </p:cNvPr>
          <p:cNvSpPr txBox="1"/>
          <p:nvPr/>
        </p:nvSpPr>
        <p:spPr>
          <a:xfrm>
            <a:off x="6600320" y="3448661"/>
            <a:ext cx="6343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𝑐𝑜𝑠𝜃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-5" dirty="0">
                <a:latin typeface="Cambria Math"/>
                <a:cs typeface="Cambria Math"/>
              </a:rPr>
              <a:t>−</a:t>
            </a: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8" name="object 41">
            <a:extLst>
              <a:ext uri="{FF2B5EF4-FFF2-40B4-BE49-F238E27FC236}">
                <a16:creationId xmlns:a16="http://schemas.microsoft.com/office/drawing/2014/main" id="{F6AEF59F-3B2B-4808-A41A-8B887D30D297}"/>
              </a:ext>
            </a:extLst>
          </p:cNvPr>
          <p:cNvSpPr txBox="1"/>
          <p:nvPr/>
        </p:nvSpPr>
        <p:spPr>
          <a:xfrm>
            <a:off x="7446521" y="3448661"/>
            <a:ext cx="486409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𝑠𝑖𝑛𝜃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𝑐𝑜</a:t>
            </a:r>
            <a:r>
              <a:rPr sz="1800" spc="-5" dirty="0">
                <a:latin typeface="Cambria Math"/>
                <a:cs typeface="Cambria Math"/>
              </a:rPr>
              <a:t>𝑠</a:t>
            </a:r>
            <a:r>
              <a:rPr sz="1800" dirty="0">
                <a:latin typeface="Cambria Math"/>
                <a:cs typeface="Cambria Math"/>
              </a:rPr>
              <a:t>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9" name="object 42">
            <a:extLst>
              <a:ext uri="{FF2B5EF4-FFF2-40B4-BE49-F238E27FC236}">
                <a16:creationId xmlns:a16="http://schemas.microsoft.com/office/drawing/2014/main" id="{77C8D1BB-AECA-4C18-B2E3-89CB192FE4B1}"/>
              </a:ext>
            </a:extLst>
          </p:cNvPr>
          <p:cNvSpPr/>
          <p:nvPr/>
        </p:nvSpPr>
        <p:spPr>
          <a:xfrm>
            <a:off x="3796414" y="4545942"/>
            <a:ext cx="1164590" cy="276225"/>
          </a:xfrm>
          <a:custGeom>
            <a:avLst/>
            <a:gdLst/>
            <a:ahLst/>
            <a:cxnLst/>
            <a:rect l="l" t="t" r="r" b="b"/>
            <a:pathLst>
              <a:path w="1164589" h="276225">
                <a:moveTo>
                  <a:pt x="1091819" y="0"/>
                </a:moveTo>
                <a:lnTo>
                  <a:pt x="1089025" y="9143"/>
                </a:lnTo>
                <a:lnTo>
                  <a:pt x="1101738" y="15765"/>
                </a:lnTo>
                <a:lnTo>
                  <a:pt x="1112821" y="25352"/>
                </a:lnTo>
                <a:lnTo>
                  <a:pt x="1136066" y="71614"/>
                </a:lnTo>
                <a:lnTo>
                  <a:pt x="1143011" y="113956"/>
                </a:lnTo>
                <a:lnTo>
                  <a:pt x="1143889" y="138176"/>
                </a:lnTo>
                <a:lnTo>
                  <a:pt x="1143011" y="162393"/>
                </a:lnTo>
                <a:lnTo>
                  <a:pt x="1136066" y="204684"/>
                </a:lnTo>
                <a:lnTo>
                  <a:pt x="1112821" y="250872"/>
                </a:lnTo>
                <a:lnTo>
                  <a:pt x="1089025" y="267081"/>
                </a:lnTo>
                <a:lnTo>
                  <a:pt x="1091819" y="276225"/>
                </a:lnTo>
                <a:lnTo>
                  <a:pt x="1135110" y="246060"/>
                </a:lnTo>
                <a:lnTo>
                  <a:pt x="1153800" y="208702"/>
                </a:lnTo>
                <a:lnTo>
                  <a:pt x="1163274" y="163415"/>
                </a:lnTo>
                <a:lnTo>
                  <a:pt x="1164463" y="138176"/>
                </a:lnTo>
                <a:lnTo>
                  <a:pt x="1163274" y="112863"/>
                </a:lnTo>
                <a:lnTo>
                  <a:pt x="1153800" y="67524"/>
                </a:lnTo>
                <a:lnTo>
                  <a:pt x="1135110" y="30164"/>
                </a:lnTo>
                <a:lnTo>
                  <a:pt x="1108249" y="6403"/>
                </a:lnTo>
                <a:lnTo>
                  <a:pt x="1091819" y="0"/>
                </a:lnTo>
                <a:close/>
              </a:path>
              <a:path w="1164589" h="276225">
                <a:moveTo>
                  <a:pt x="72644" y="0"/>
                </a:moveTo>
                <a:lnTo>
                  <a:pt x="29352" y="30164"/>
                </a:lnTo>
                <a:lnTo>
                  <a:pt x="10662" y="67524"/>
                </a:lnTo>
                <a:lnTo>
                  <a:pt x="1188" y="112863"/>
                </a:lnTo>
                <a:lnTo>
                  <a:pt x="0" y="138176"/>
                </a:lnTo>
                <a:lnTo>
                  <a:pt x="1188" y="163415"/>
                </a:lnTo>
                <a:lnTo>
                  <a:pt x="10662" y="208702"/>
                </a:lnTo>
                <a:lnTo>
                  <a:pt x="29352" y="246060"/>
                </a:lnTo>
                <a:lnTo>
                  <a:pt x="72644" y="276225"/>
                </a:lnTo>
                <a:lnTo>
                  <a:pt x="75437" y="267081"/>
                </a:lnTo>
                <a:lnTo>
                  <a:pt x="62743" y="260459"/>
                </a:lnTo>
                <a:lnTo>
                  <a:pt x="51704" y="250872"/>
                </a:lnTo>
                <a:lnTo>
                  <a:pt x="28449" y="204684"/>
                </a:lnTo>
                <a:lnTo>
                  <a:pt x="21453" y="162393"/>
                </a:lnTo>
                <a:lnTo>
                  <a:pt x="20574" y="138176"/>
                </a:lnTo>
                <a:lnTo>
                  <a:pt x="21453" y="113956"/>
                </a:lnTo>
                <a:lnTo>
                  <a:pt x="28449" y="71614"/>
                </a:lnTo>
                <a:lnTo>
                  <a:pt x="51704" y="25352"/>
                </a:lnTo>
                <a:lnTo>
                  <a:pt x="75437" y="9143"/>
                </a:lnTo>
                <a:lnTo>
                  <a:pt x="72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43">
            <a:extLst>
              <a:ext uri="{FF2B5EF4-FFF2-40B4-BE49-F238E27FC236}">
                <a16:creationId xmlns:a16="http://schemas.microsoft.com/office/drawing/2014/main" id="{EBD418E9-A36D-46BA-9FAD-460E158EC2B4}"/>
              </a:ext>
            </a:extLst>
          </p:cNvPr>
          <p:cNvSpPr txBox="1"/>
          <p:nvPr/>
        </p:nvSpPr>
        <p:spPr>
          <a:xfrm>
            <a:off x="1795403" y="4556356"/>
            <a:ext cx="311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0802" dirty="0">
                <a:latin typeface="Cambria Math"/>
                <a:cs typeface="Cambria Math"/>
              </a:rPr>
              <a:t>𝑏</a:t>
            </a:r>
            <a:r>
              <a:rPr sz="1300" dirty="0">
                <a:latin typeface="Cambria Math"/>
                <a:cs typeface="Cambria Math"/>
              </a:rPr>
              <a:t>1,2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7" baseline="10802" dirty="0">
                <a:latin typeface="Cambria Math"/>
                <a:cs typeface="Cambria Math"/>
              </a:rPr>
              <a:t>𝑏</a:t>
            </a:r>
            <a:r>
              <a:rPr sz="1300" spc="5" dirty="0">
                <a:latin typeface="Cambria Math"/>
                <a:cs typeface="Cambria Math"/>
              </a:rPr>
              <a:t>2,1 </a:t>
            </a:r>
            <a:r>
              <a:rPr sz="2700" baseline="10802" dirty="0">
                <a:latin typeface="Cambria Math"/>
                <a:cs typeface="Cambria Math"/>
              </a:rPr>
              <a:t>= 0 = 𝑐𝑠 </a:t>
            </a:r>
            <a:r>
              <a:rPr sz="2700" spc="15" baseline="10802" dirty="0">
                <a:latin typeface="Cambria Math"/>
                <a:cs typeface="Cambria Math"/>
              </a:rPr>
              <a:t>𝑎</a:t>
            </a:r>
            <a:r>
              <a:rPr sz="1300" spc="10" dirty="0">
                <a:latin typeface="Cambria Math"/>
                <a:cs typeface="Cambria Math"/>
              </a:rPr>
              <a:t>1,1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419" baseline="10802" dirty="0">
                <a:latin typeface="Cambria Math"/>
                <a:cs typeface="Cambria Math"/>
              </a:rPr>
              <a:t> </a:t>
            </a:r>
            <a:r>
              <a:rPr sz="2700" spc="37" baseline="10802" dirty="0">
                <a:latin typeface="Cambria Math"/>
                <a:cs typeface="Cambria Math"/>
              </a:rPr>
              <a:t>𝑎</a:t>
            </a:r>
            <a:r>
              <a:rPr sz="1300" spc="25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1" name="object 44">
            <a:extLst>
              <a:ext uri="{FF2B5EF4-FFF2-40B4-BE49-F238E27FC236}">
                <a16:creationId xmlns:a16="http://schemas.microsoft.com/office/drawing/2014/main" id="{8217AFCD-382E-443B-A5C2-2232E4F98AA8}"/>
              </a:ext>
            </a:extLst>
          </p:cNvPr>
          <p:cNvSpPr txBox="1"/>
          <p:nvPr/>
        </p:nvSpPr>
        <p:spPr>
          <a:xfrm>
            <a:off x="4991865" y="4509111"/>
            <a:ext cx="156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+ </a:t>
            </a:r>
            <a:r>
              <a:rPr sz="1800" spc="35" dirty="0">
                <a:latin typeface="Cambria Math"/>
                <a:cs typeface="Cambria Math"/>
              </a:rPr>
              <a:t>𝑎</a:t>
            </a:r>
            <a:r>
              <a:rPr sz="1950" spc="52" baseline="-14957" dirty="0">
                <a:latin typeface="Cambria Math"/>
                <a:cs typeface="Cambria Math"/>
              </a:rPr>
              <a:t>1,2</a:t>
            </a:r>
            <a:r>
              <a:rPr sz="1800" spc="35" dirty="0">
                <a:latin typeface="Cambria Math"/>
                <a:cs typeface="Cambria Math"/>
              </a:rPr>
              <a:t>(𝑐</a:t>
            </a:r>
            <a:r>
              <a:rPr sz="1950" spc="52" baseline="27777" dirty="0">
                <a:latin typeface="Cambria Math"/>
                <a:cs typeface="Cambria Math"/>
              </a:rPr>
              <a:t>2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225" dirty="0">
                <a:latin typeface="Cambria Math"/>
                <a:cs typeface="Cambria Math"/>
              </a:rPr>
              <a:t> </a:t>
            </a:r>
            <a:r>
              <a:rPr sz="1800" spc="65" dirty="0">
                <a:latin typeface="Cambria Math"/>
                <a:cs typeface="Cambria Math"/>
              </a:rPr>
              <a:t>𝑠</a:t>
            </a:r>
            <a:r>
              <a:rPr sz="1950" spc="97" baseline="27777" dirty="0">
                <a:latin typeface="Cambria Math"/>
                <a:cs typeface="Cambria Math"/>
              </a:rPr>
              <a:t>2</a:t>
            </a:r>
            <a:r>
              <a:rPr sz="1800" spc="65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2" name="object 45">
            <a:extLst>
              <a:ext uri="{FF2B5EF4-FFF2-40B4-BE49-F238E27FC236}">
                <a16:creationId xmlns:a16="http://schemas.microsoft.com/office/drawing/2014/main" id="{F185D662-3BE1-42FB-84DE-D4AE5AF49E3C}"/>
              </a:ext>
            </a:extLst>
          </p:cNvPr>
          <p:cNvSpPr txBox="1"/>
          <p:nvPr/>
        </p:nvSpPr>
        <p:spPr>
          <a:xfrm>
            <a:off x="1217299" y="4535655"/>
            <a:ext cx="225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006FC0"/>
                </a:solidFill>
                <a:latin typeface="Tahoma"/>
                <a:cs typeface="Tahoma"/>
              </a:rPr>
              <a:t>If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3" name="object 46">
            <a:extLst>
              <a:ext uri="{FF2B5EF4-FFF2-40B4-BE49-F238E27FC236}">
                <a16:creationId xmlns:a16="http://schemas.microsoft.com/office/drawing/2014/main" id="{81EEFE53-6C0B-457D-8647-DA05431205F5}"/>
              </a:ext>
            </a:extLst>
          </p:cNvPr>
          <p:cNvSpPr txBox="1"/>
          <p:nvPr/>
        </p:nvSpPr>
        <p:spPr>
          <a:xfrm>
            <a:off x="1204497" y="4994886"/>
            <a:ext cx="983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we</a:t>
            </a:r>
            <a:r>
              <a:rPr sz="1800" b="1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have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4" name="object 47">
            <a:extLst>
              <a:ext uri="{FF2B5EF4-FFF2-40B4-BE49-F238E27FC236}">
                <a16:creationId xmlns:a16="http://schemas.microsoft.com/office/drawing/2014/main" id="{8C6124DE-A8BD-4053-828C-2BB7DCB9DCAD}"/>
              </a:ext>
            </a:extLst>
          </p:cNvPr>
          <p:cNvSpPr txBox="1"/>
          <p:nvPr/>
        </p:nvSpPr>
        <p:spPr>
          <a:xfrm>
            <a:off x="2740028" y="5308577"/>
            <a:ext cx="37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𝜌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5" name="object 48">
            <a:extLst>
              <a:ext uri="{FF2B5EF4-FFF2-40B4-BE49-F238E27FC236}">
                <a16:creationId xmlns:a16="http://schemas.microsoft.com/office/drawing/2014/main" id="{8A18EAD8-24A2-4A2A-9FBF-736042F0CBAA}"/>
              </a:ext>
            </a:extLst>
          </p:cNvPr>
          <p:cNvSpPr txBox="1"/>
          <p:nvPr/>
        </p:nvSpPr>
        <p:spPr>
          <a:xfrm>
            <a:off x="3145412" y="5130268"/>
            <a:ext cx="1061720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305" marR="30480" indent="-256540">
              <a:lnSpc>
                <a:spcPct val="118900"/>
              </a:lnSpc>
              <a:spcBef>
                <a:spcPts val="100"/>
              </a:spcBef>
            </a:pPr>
            <a:r>
              <a:rPr sz="1300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spc="30" baseline="10802" dirty="0">
                <a:latin typeface="Cambria Math"/>
                <a:cs typeface="Cambria Math"/>
              </a:rPr>
              <a:t>𝑎</a:t>
            </a:r>
            <a:r>
              <a:rPr sz="1300" u="heavy" spc="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2,2 </a:t>
            </a:r>
            <a:r>
              <a:rPr sz="2700" baseline="10802" dirty="0">
                <a:latin typeface="Cambria Math"/>
                <a:cs typeface="Cambria Math"/>
              </a:rPr>
              <a:t>− </a:t>
            </a:r>
            <a:r>
              <a:rPr sz="2700" spc="37" baseline="10802" dirty="0">
                <a:latin typeface="Cambria Math"/>
                <a:cs typeface="Cambria Math"/>
              </a:rPr>
              <a:t>𝑎</a:t>
            </a:r>
            <a:r>
              <a:rPr sz="1300" u="heavy" spc="2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1,1 </a:t>
            </a:r>
            <a:r>
              <a:rPr sz="1300" spc="25" dirty="0">
                <a:latin typeface="Cambria Math"/>
                <a:cs typeface="Cambria Math"/>
              </a:rPr>
              <a:t> </a:t>
            </a:r>
            <a:r>
              <a:rPr sz="2700" spc="7" baseline="10802" dirty="0">
                <a:latin typeface="Cambria Math"/>
                <a:cs typeface="Cambria Math"/>
              </a:rPr>
              <a:t>2𝑎</a:t>
            </a:r>
            <a:r>
              <a:rPr sz="1300" spc="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6" name="object 49">
            <a:extLst>
              <a:ext uri="{FF2B5EF4-FFF2-40B4-BE49-F238E27FC236}">
                <a16:creationId xmlns:a16="http://schemas.microsoft.com/office/drawing/2014/main" id="{F9786206-F171-4EA8-A3BD-90B40651288E}"/>
              </a:ext>
            </a:extLst>
          </p:cNvPr>
          <p:cNvSpPr/>
          <p:nvPr/>
        </p:nvSpPr>
        <p:spPr>
          <a:xfrm>
            <a:off x="5544951" y="5425924"/>
            <a:ext cx="1359535" cy="344170"/>
          </a:xfrm>
          <a:custGeom>
            <a:avLst/>
            <a:gdLst/>
            <a:ahLst/>
            <a:cxnLst/>
            <a:rect l="l" t="t" r="r" b="b"/>
            <a:pathLst>
              <a:path w="1359534" h="344170">
                <a:moveTo>
                  <a:pt x="44831" y="109982"/>
                </a:moveTo>
                <a:lnTo>
                  <a:pt x="27686" y="109982"/>
                </a:lnTo>
                <a:lnTo>
                  <a:pt x="27686" y="317690"/>
                </a:lnTo>
                <a:lnTo>
                  <a:pt x="44831" y="317690"/>
                </a:lnTo>
                <a:lnTo>
                  <a:pt x="44831" y="109982"/>
                </a:lnTo>
                <a:close/>
              </a:path>
              <a:path w="1359534" h="344170">
                <a:moveTo>
                  <a:pt x="249047" y="109982"/>
                </a:moveTo>
                <a:lnTo>
                  <a:pt x="231902" y="109982"/>
                </a:lnTo>
                <a:lnTo>
                  <a:pt x="231902" y="317690"/>
                </a:lnTo>
                <a:lnTo>
                  <a:pt x="249047" y="317690"/>
                </a:lnTo>
                <a:lnTo>
                  <a:pt x="249047" y="109982"/>
                </a:lnTo>
                <a:close/>
              </a:path>
              <a:path w="1359534" h="344170">
                <a:moveTo>
                  <a:pt x="1357884" y="59436"/>
                </a:moveTo>
                <a:lnTo>
                  <a:pt x="717804" y="59436"/>
                </a:lnTo>
                <a:lnTo>
                  <a:pt x="717804" y="60071"/>
                </a:lnTo>
                <a:lnTo>
                  <a:pt x="695579" y="60071"/>
                </a:lnTo>
                <a:lnTo>
                  <a:pt x="627888" y="314071"/>
                </a:lnTo>
                <a:lnTo>
                  <a:pt x="589280" y="227901"/>
                </a:lnTo>
                <a:lnTo>
                  <a:pt x="552577" y="244640"/>
                </a:lnTo>
                <a:lnTo>
                  <a:pt x="556006" y="253009"/>
                </a:lnTo>
                <a:lnTo>
                  <a:pt x="574929" y="244640"/>
                </a:lnTo>
                <a:lnTo>
                  <a:pt x="621157" y="343979"/>
                </a:lnTo>
                <a:lnTo>
                  <a:pt x="631952" y="343979"/>
                </a:lnTo>
                <a:lnTo>
                  <a:pt x="704469" y="74930"/>
                </a:lnTo>
                <a:lnTo>
                  <a:pt x="726821" y="74930"/>
                </a:lnTo>
                <a:lnTo>
                  <a:pt x="726821" y="74676"/>
                </a:lnTo>
                <a:lnTo>
                  <a:pt x="1357884" y="74676"/>
                </a:lnTo>
                <a:lnTo>
                  <a:pt x="1357884" y="59436"/>
                </a:lnTo>
                <a:close/>
              </a:path>
              <a:path w="1359534" h="344170">
                <a:moveTo>
                  <a:pt x="1359408" y="0"/>
                </a:moveTo>
                <a:lnTo>
                  <a:pt x="0" y="0"/>
                </a:lnTo>
                <a:lnTo>
                  <a:pt x="0" y="15240"/>
                </a:lnTo>
                <a:lnTo>
                  <a:pt x="1359408" y="15240"/>
                </a:lnTo>
                <a:lnTo>
                  <a:pt x="13594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50">
            <a:extLst>
              <a:ext uri="{FF2B5EF4-FFF2-40B4-BE49-F238E27FC236}">
                <a16:creationId xmlns:a16="http://schemas.microsoft.com/office/drawing/2014/main" id="{493140EA-9BE6-4979-BFA5-1F026B79D450}"/>
              </a:ext>
            </a:extLst>
          </p:cNvPr>
          <p:cNvSpPr txBox="1"/>
          <p:nvPr/>
        </p:nvSpPr>
        <p:spPr>
          <a:xfrm>
            <a:off x="4736976" y="5085184"/>
            <a:ext cx="2197100" cy="67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50">
              <a:lnSpc>
                <a:spcPts val="1764"/>
              </a:lnSpc>
              <a:spcBef>
                <a:spcPts val="100"/>
              </a:spcBef>
            </a:pPr>
            <a:r>
              <a:rPr sz="1800" spc="5" dirty="0">
                <a:latin typeface="Cambria Math"/>
                <a:cs typeface="Cambria Math"/>
              </a:rPr>
              <a:t>𝑠𝑔𝑛(𝜌)</a:t>
            </a:r>
            <a:endParaRPr sz="1800">
              <a:latin typeface="Cambria Math"/>
              <a:cs typeface="Cambria Math"/>
            </a:endParaRPr>
          </a:p>
          <a:p>
            <a:pPr marL="25400">
              <a:lnSpc>
                <a:spcPts val="1495"/>
              </a:lnSpc>
            </a:pPr>
            <a:r>
              <a:rPr sz="1800" dirty="0">
                <a:latin typeface="Cambria Math"/>
                <a:cs typeface="Cambria Math"/>
              </a:rPr>
              <a:t>𝑡𝑎𝑛𝜃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  <a:p>
            <a:pPr marL="880110">
              <a:lnSpc>
                <a:spcPts val="1889"/>
              </a:lnSpc>
              <a:tabLst>
                <a:tab pos="1526540" algn="l"/>
              </a:tabLst>
            </a:pPr>
            <a:r>
              <a:rPr sz="1800" dirty="0">
                <a:latin typeface="Cambria Math"/>
                <a:cs typeface="Cambria Math"/>
              </a:rPr>
              <a:t>𝜌 </a:t>
            </a:r>
            <a:r>
              <a:rPr sz="1800" spc="1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	1 +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40" dirty="0">
                <a:latin typeface="Cambria Math"/>
                <a:cs typeface="Cambria Math"/>
              </a:rPr>
              <a:t>𝜌</a:t>
            </a:r>
            <a:r>
              <a:rPr sz="1950" spc="60" baseline="23504" dirty="0">
                <a:latin typeface="Cambria Math"/>
                <a:cs typeface="Cambria Math"/>
              </a:rPr>
              <a:t>2</a:t>
            </a:r>
            <a:endParaRPr sz="1950" baseline="23504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942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Real Jacobi Algorithm</a:t>
            </a:r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FD9334B4-1C35-42DF-9796-D32173078404}"/>
              </a:ext>
            </a:extLst>
          </p:cNvPr>
          <p:cNvSpPr/>
          <p:nvPr/>
        </p:nvSpPr>
        <p:spPr>
          <a:xfrm>
            <a:off x="2422270" y="3221354"/>
            <a:ext cx="737870" cy="15240"/>
          </a:xfrm>
          <a:custGeom>
            <a:avLst/>
            <a:gdLst/>
            <a:ahLst/>
            <a:cxnLst/>
            <a:rect l="l" t="t" r="r" b="b"/>
            <a:pathLst>
              <a:path w="737869" h="15239">
                <a:moveTo>
                  <a:pt x="737616" y="0"/>
                </a:moveTo>
                <a:lnTo>
                  <a:pt x="0" y="0"/>
                </a:lnTo>
                <a:lnTo>
                  <a:pt x="0" y="15239"/>
                </a:lnTo>
                <a:lnTo>
                  <a:pt x="737616" y="15239"/>
                </a:lnTo>
                <a:lnTo>
                  <a:pt x="737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">
            <a:extLst>
              <a:ext uri="{FF2B5EF4-FFF2-40B4-BE49-F238E27FC236}">
                <a16:creationId xmlns:a16="http://schemas.microsoft.com/office/drawing/2014/main" id="{5656AF2F-5BB3-47DC-9240-DB6C14512BF6}"/>
              </a:ext>
            </a:extLst>
          </p:cNvPr>
          <p:cNvSpPr/>
          <p:nvPr/>
        </p:nvSpPr>
        <p:spPr>
          <a:xfrm>
            <a:off x="3114167" y="3707510"/>
            <a:ext cx="878205" cy="15240"/>
          </a:xfrm>
          <a:custGeom>
            <a:avLst/>
            <a:gdLst/>
            <a:ahLst/>
            <a:cxnLst/>
            <a:rect l="l" t="t" r="r" b="b"/>
            <a:pathLst>
              <a:path w="878204" h="15239">
                <a:moveTo>
                  <a:pt x="877824" y="0"/>
                </a:moveTo>
                <a:lnTo>
                  <a:pt x="0" y="0"/>
                </a:lnTo>
                <a:lnTo>
                  <a:pt x="0" y="15239"/>
                </a:lnTo>
                <a:lnTo>
                  <a:pt x="877824" y="15239"/>
                </a:lnTo>
                <a:lnTo>
                  <a:pt x="8778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">
            <a:extLst>
              <a:ext uri="{FF2B5EF4-FFF2-40B4-BE49-F238E27FC236}">
                <a16:creationId xmlns:a16="http://schemas.microsoft.com/office/drawing/2014/main" id="{93B5CF49-06E0-4460-AFE4-440109691B84}"/>
              </a:ext>
            </a:extLst>
          </p:cNvPr>
          <p:cNvSpPr/>
          <p:nvPr/>
        </p:nvSpPr>
        <p:spPr>
          <a:xfrm>
            <a:off x="3298952" y="3787013"/>
            <a:ext cx="12700" cy="152400"/>
          </a:xfrm>
          <a:custGeom>
            <a:avLst/>
            <a:gdLst/>
            <a:ahLst/>
            <a:cxnLst/>
            <a:rect l="l" t="t" r="r" b="b"/>
            <a:pathLst>
              <a:path w="12700" h="152400">
                <a:moveTo>
                  <a:pt x="12700" y="0"/>
                </a:moveTo>
                <a:lnTo>
                  <a:pt x="0" y="0"/>
                </a:lnTo>
                <a:lnTo>
                  <a:pt x="0" y="152273"/>
                </a:lnTo>
                <a:lnTo>
                  <a:pt x="12700" y="152273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7">
            <a:extLst>
              <a:ext uri="{FF2B5EF4-FFF2-40B4-BE49-F238E27FC236}">
                <a16:creationId xmlns:a16="http://schemas.microsoft.com/office/drawing/2014/main" id="{9139D1BC-4A2C-462F-9480-C20DAFD42F74}"/>
              </a:ext>
            </a:extLst>
          </p:cNvPr>
          <p:cNvSpPr/>
          <p:nvPr/>
        </p:nvSpPr>
        <p:spPr>
          <a:xfrm>
            <a:off x="3134360" y="3787013"/>
            <a:ext cx="12700" cy="152400"/>
          </a:xfrm>
          <a:custGeom>
            <a:avLst/>
            <a:gdLst/>
            <a:ahLst/>
            <a:cxnLst/>
            <a:rect l="l" t="t" r="r" b="b"/>
            <a:pathLst>
              <a:path w="12700" h="152400">
                <a:moveTo>
                  <a:pt x="12700" y="0"/>
                </a:moveTo>
                <a:lnTo>
                  <a:pt x="0" y="0"/>
                </a:lnTo>
                <a:lnTo>
                  <a:pt x="0" y="152273"/>
                </a:lnTo>
                <a:lnTo>
                  <a:pt x="12700" y="152273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8">
            <a:extLst>
              <a:ext uri="{FF2B5EF4-FFF2-40B4-BE49-F238E27FC236}">
                <a16:creationId xmlns:a16="http://schemas.microsoft.com/office/drawing/2014/main" id="{4D9FA6F3-77EC-4760-8FEC-C329F13F25E5}"/>
              </a:ext>
            </a:extLst>
          </p:cNvPr>
          <p:cNvGrpSpPr/>
          <p:nvPr/>
        </p:nvGrpSpPr>
        <p:grpSpPr>
          <a:xfrm>
            <a:off x="563016" y="1852802"/>
            <a:ext cx="5760720" cy="4168775"/>
            <a:chOff x="563016" y="1852802"/>
            <a:chExt cx="5760720" cy="4168775"/>
          </a:xfrm>
        </p:grpSpPr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3040B7D3-E9B4-4E83-9DD8-E78FCC02EC41}"/>
                </a:ext>
              </a:extLst>
            </p:cNvPr>
            <p:cNvSpPr/>
            <p:nvPr/>
          </p:nvSpPr>
          <p:spPr>
            <a:xfrm>
              <a:off x="563016" y="1852802"/>
              <a:ext cx="5760720" cy="4168775"/>
            </a:xfrm>
            <a:custGeom>
              <a:avLst/>
              <a:gdLst/>
              <a:ahLst/>
              <a:cxnLst/>
              <a:rect l="l" t="t" r="r" b="b"/>
              <a:pathLst>
                <a:path w="5760720" h="4168775">
                  <a:moveTo>
                    <a:pt x="5760593" y="0"/>
                  </a:moveTo>
                  <a:lnTo>
                    <a:pt x="0" y="0"/>
                  </a:lnTo>
                  <a:lnTo>
                    <a:pt x="0" y="4168394"/>
                  </a:lnTo>
                  <a:lnTo>
                    <a:pt x="5760593" y="4168394"/>
                  </a:lnTo>
                  <a:lnTo>
                    <a:pt x="5760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0">
              <a:extLst>
                <a:ext uri="{FF2B5EF4-FFF2-40B4-BE49-F238E27FC236}">
                  <a16:creationId xmlns:a16="http://schemas.microsoft.com/office/drawing/2014/main" id="{8B2AE2E0-B603-45F0-938C-EF64A11255A9}"/>
                </a:ext>
              </a:extLst>
            </p:cNvPr>
            <p:cNvSpPr/>
            <p:nvPr/>
          </p:nvSpPr>
          <p:spPr>
            <a:xfrm>
              <a:off x="3456939" y="3748658"/>
              <a:ext cx="538480" cy="208279"/>
            </a:xfrm>
            <a:custGeom>
              <a:avLst/>
              <a:gdLst/>
              <a:ahLst/>
              <a:cxnLst/>
              <a:rect l="l" t="t" r="r" b="b"/>
              <a:pathLst>
                <a:path w="538479" h="208279">
                  <a:moveTo>
                    <a:pt x="538099" y="0"/>
                  </a:moveTo>
                  <a:lnTo>
                    <a:pt x="122047" y="0"/>
                  </a:lnTo>
                  <a:lnTo>
                    <a:pt x="104775" y="0"/>
                  </a:lnTo>
                  <a:lnTo>
                    <a:pt x="55118" y="186309"/>
                  </a:lnTo>
                  <a:lnTo>
                    <a:pt x="26797" y="123063"/>
                  </a:lnTo>
                  <a:lnTo>
                    <a:pt x="0" y="135382"/>
                  </a:lnTo>
                  <a:lnTo>
                    <a:pt x="2539" y="141478"/>
                  </a:lnTo>
                  <a:lnTo>
                    <a:pt x="16383" y="135382"/>
                  </a:lnTo>
                  <a:lnTo>
                    <a:pt x="50164" y="208153"/>
                  </a:lnTo>
                  <a:lnTo>
                    <a:pt x="58165" y="208153"/>
                  </a:lnTo>
                  <a:lnTo>
                    <a:pt x="111379" y="10922"/>
                  </a:lnTo>
                  <a:lnTo>
                    <a:pt x="127762" y="10922"/>
                  </a:lnTo>
                  <a:lnTo>
                    <a:pt x="127762" y="10668"/>
                  </a:lnTo>
                  <a:lnTo>
                    <a:pt x="538099" y="10668"/>
                  </a:lnTo>
                  <a:lnTo>
                    <a:pt x="538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object 11">
            <a:extLst>
              <a:ext uri="{FF2B5EF4-FFF2-40B4-BE49-F238E27FC236}">
                <a16:creationId xmlns:a16="http://schemas.microsoft.com/office/drawing/2014/main" id="{56AFA10F-F932-4DF5-9F17-8831B14E1294}"/>
              </a:ext>
            </a:extLst>
          </p:cNvPr>
          <p:cNvGraphicFramePr>
            <a:graphicFrameLocks noGrp="1"/>
          </p:cNvGraphicFramePr>
          <p:nvPr/>
        </p:nvGraphicFramePr>
        <p:xfrm>
          <a:off x="558253" y="1573720"/>
          <a:ext cx="5760720" cy="444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844">
                <a:tc>
                  <a:txBody>
                    <a:bodyPr/>
                    <a:lstStyle/>
                    <a:p>
                      <a:pPr marL="68580">
                        <a:lnSpc>
                          <a:spcPts val="209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Algorithm: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 Two-Sided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Jacobi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6F4B00"/>
                      </a:solidFill>
                      <a:prstDash val="solid"/>
                    </a:lnL>
                    <a:lnR w="9525">
                      <a:solidFill>
                        <a:srgbClr val="6F4B00"/>
                      </a:solidFill>
                      <a:prstDash val="solid"/>
                    </a:lnR>
                    <a:solidFill>
                      <a:srgbClr val="6F4D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3631">
                <a:tc>
                  <a:txBody>
                    <a:bodyPr/>
                    <a:lstStyle/>
                    <a:p>
                      <a:pPr marL="90170">
                        <a:lnSpc>
                          <a:spcPts val="2030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Given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real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symmetric matrix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𝐀 ∈</a:t>
                      </a:r>
                      <a:r>
                        <a:rPr sz="1800" spc="1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0" dirty="0">
                          <a:latin typeface="Cambria Math"/>
                          <a:cs typeface="Cambria Math"/>
                        </a:rPr>
                        <a:t>ℝ</a:t>
                      </a:r>
                      <a:r>
                        <a:rPr sz="1950" spc="44" baseline="27777" dirty="0">
                          <a:latin typeface="Cambria Math"/>
                          <a:cs typeface="Cambria Math"/>
                        </a:rPr>
                        <a:t>𝑁×𝑁</a:t>
                      </a:r>
                      <a:endParaRPr sz="1950" baseline="27777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05"/>
                        </a:spcBef>
                        <a:tabLst>
                          <a:tab pos="411480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	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spc="-5" dirty="0">
                          <a:latin typeface="Cambria Math"/>
                          <a:cs typeface="Cambria Math"/>
                        </a:rPr>
                        <a:t>𝑠𝑤𝑒𝑒𝑝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 </a:t>
                      </a:r>
                      <a:r>
                        <a:rPr sz="1800" spc="-5" dirty="0">
                          <a:latin typeface="Cambria Math"/>
                          <a:cs typeface="Cambria Math"/>
                        </a:rPr>
                        <a:t>1:</a:t>
                      </a:r>
                      <a:r>
                        <a:rPr sz="1800" spc="1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𝑆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725170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2.	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𝑝 = </a:t>
                      </a:r>
                      <a:r>
                        <a:rPr sz="1800" spc="-5" dirty="0">
                          <a:latin typeface="Cambria Math"/>
                          <a:cs typeface="Cambria Math"/>
                        </a:rPr>
                        <a:t>1: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𝑁 −</a:t>
                      </a:r>
                      <a:r>
                        <a:rPr sz="1800" spc="1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1092835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𝑞 = 𝑝 + </a:t>
                      </a:r>
                      <a:r>
                        <a:rPr sz="1800" spc="5" dirty="0">
                          <a:latin typeface="Cambria Math"/>
                          <a:cs typeface="Cambria Math"/>
                        </a:rPr>
                        <a:t>1:</a:t>
                      </a:r>
                      <a:r>
                        <a:rPr sz="1800" spc="-20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𝑁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R="1303655" algn="ctr">
                        <a:lnSpc>
                          <a:spcPts val="990"/>
                        </a:lnSpc>
                        <a:spcBef>
                          <a:spcPts val="260"/>
                        </a:spcBef>
                      </a:pPr>
                      <a:r>
                        <a:rPr sz="1950" spc="44" baseline="10683" dirty="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sz="1050" spc="30" dirty="0">
                          <a:latin typeface="Cambria Math"/>
                          <a:cs typeface="Cambria Math"/>
                        </a:rPr>
                        <a:t>𝒒,𝒒</a:t>
                      </a:r>
                      <a:r>
                        <a:rPr sz="1950" spc="44" baseline="10683" dirty="0">
                          <a:latin typeface="Cambria Math"/>
                          <a:cs typeface="Cambria Math"/>
                        </a:rPr>
                        <a:t>−𝑎</a:t>
                      </a:r>
                      <a:r>
                        <a:rPr sz="1050" spc="30" dirty="0">
                          <a:latin typeface="Cambria Math"/>
                          <a:cs typeface="Cambria Math"/>
                        </a:rPr>
                        <a:t>𝒑,𝒑</a:t>
                      </a:r>
                      <a:endParaRPr sz="105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ts val="1345"/>
                        </a:lnSpc>
                        <a:tabLst>
                          <a:tab pos="1429385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4.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𝜌</a:t>
                      </a:r>
                      <a:r>
                        <a:rPr sz="18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R="1302385" algn="ctr">
                        <a:lnSpc>
                          <a:spcPts val="1310"/>
                        </a:lnSpc>
                      </a:pPr>
                      <a:r>
                        <a:rPr sz="1950" spc="52" baseline="10683" dirty="0">
                          <a:latin typeface="Cambria Math"/>
                          <a:cs typeface="Cambria Math"/>
                        </a:rPr>
                        <a:t>2𝑎</a:t>
                      </a:r>
                      <a:r>
                        <a:rPr sz="1050" spc="35" dirty="0">
                          <a:latin typeface="Cambria Math"/>
                          <a:cs typeface="Cambria Math"/>
                        </a:rPr>
                        <a:t>𝒑,𝒒</a:t>
                      </a:r>
                      <a:endParaRPr sz="105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ts val="1845"/>
                        </a:lnSpc>
                        <a:spcBef>
                          <a:spcPts val="605"/>
                        </a:spcBef>
                        <a:tabLst>
                          <a:tab pos="1479550" algn="l"/>
                          <a:tab pos="2714625" algn="l"/>
                          <a:tab pos="3430904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5.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𝜃</a:t>
                      </a:r>
                      <a:r>
                        <a:rPr sz="1800" spc="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8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10" dirty="0">
                          <a:latin typeface="Cambria Math"/>
                          <a:cs typeface="Cambria Math"/>
                        </a:rPr>
                        <a:t>tan</a:t>
                      </a:r>
                      <a:r>
                        <a:rPr sz="1950" spc="15" baseline="27777" dirty="0">
                          <a:latin typeface="Cambria Math"/>
                          <a:cs typeface="Cambria Math"/>
                        </a:rPr>
                        <a:t>−1</a:t>
                      </a:r>
                      <a:r>
                        <a:rPr sz="1800" spc="10" dirty="0">
                          <a:latin typeface="Cambria Math"/>
                          <a:cs typeface="Cambria Math"/>
                        </a:rPr>
                        <a:t>(	</a:t>
                      </a:r>
                      <a:r>
                        <a:rPr sz="1950" spc="89" baseline="44871" dirty="0">
                          <a:latin typeface="Cambria Math"/>
                          <a:cs typeface="Cambria Math"/>
                        </a:rPr>
                        <a:t>𝑠𝑔𝑛(𝜌)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sz="1800" spc="-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,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268605" algn="ctr">
                        <a:lnSpc>
                          <a:spcPts val="1245"/>
                        </a:lnSpc>
                      </a:pPr>
                      <a:r>
                        <a:rPr sz="1300" spc="114" dirty="0">
                          <a:latin typeface="Cambria Math"/>
                          <a:cs typeface="Cambria Math"/>
                        </a:rPr>
                        <a:t>𝜌 </a:t>
                      </a:r>
                      <a:r>
                        <a:rPr sz="1300" spc="-10" dirty="0">
                          <a:latin typeface="Cambria Math"/>
                          <a:cs typeface="Cambria Math"/>
                        </a:rPr>
                        <a:t>+  </a:t>
                      </a:r>
                      <a:r>
                        <a:rPr sz="1300" spc="16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50" dirty="0">
                          <a:latin typeface="Cambria Math"/>
                          <a:cs typeface="Cambria Math"/>
                        </a:rPr>
                        <a:t>1+𝜌</a:t>
                      </a:r>
                      <a:r>
                        <a:rPr sz="1575" spc="75" baseline="21164" dirty="0">
                          <a:latin typeface="Cambria Math"/>
                          <a:cs typeface="Cambria Math"/>
                        </a:rPr>
                        <a:t>2</a:t>
                      </a:r>
                      <a:endParaRPr sz="1575" baseline="21164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1458595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6.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𝐉 = </a:t>
                      </a:r>
                      <a:r>
                        <a:rPr sz="1800" spc="4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67" baseline="-14957" dirty="0">
                          <a:latin typeface="Cambria Math"/>
                          <a:cs typeface="Cambria Math"/>
                        </a:rPr>
                        <a:t>𝑁</a:t>
                      </a:r>
                      <a:r>
                        <a:rPr sz="1800" spc="45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1800" spc="55" dirty="0">
                          <a:latin typeface="Cambria Math"/>
                          <a:cs typeface="Cambria Math"/>
                        </a:rPr>
                        <a:t>𝐉</a:t>
                      </a:r>
                      <a:r>
                        <a:rPr sz="1950" spc="82" baseline="-14957" dirty="0">
                          <a:latin typeface="Cambria Math"/>
                          <a:cs typeface="Cambria Math"/>
                        </a:rPr>
                        <a:t>𝑝,𝑝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 </a:t>
                      </a:r>
                      <a:r>
                        <a:rPr sz="1800" spc="50" dirty="0">
                          <a:latin typeface="Cambria Math"/>
                          <a:cs typeface="Cambria Math"/>
                        </a:rPr>
                        <a:t>𝐉</a:t>
                      </a:r>
                      <a:r>
                        <a:rPr sz="1950" spc="75" baseline="-14957" dirty="0">
                          <a:latin typeface="Cambria Math"/>
                          <a:cs typeface="Cambria Math"/>
                        </a:rPr>
                        <a:t>𝑞,𝑞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800" spc="1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10" dirty="0">
                          <a:latin typeface="Cambria Math"/>
                          <a:cs typeface="Cambria Math"/>
                        </a:rPr>
                        <a:t>𝑐𝑜𝑠𝜃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1458595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7.	</a:t>
                      </a:r>
                      <a:r>
                        <a:rPr sz="1800" spc="50" dirty="0">
                          <a:latin typeface="Cambria Math"/>
                          <a:cs typeface="Cambria Math"/>
                        </a:rPr>
                        <a:t>𝐉</a:t>
                      </a:r>
                      <a:r>
                        <a:rPr sz="1950" spc="75" baseline="-14957" dirty="0">
                          <a:latin typeface="Cambria Math"/>
                          <a:cs typeface="Cambria Math"/>
                        </a:rPr>
                        <a:t>𝑝,𝑞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= </a:t>
                      </a:r>
                      <a:r>
                        <a:rPr sz="1800" spc="50" dirty="0">
                          <a:latin typeface="Cambria Math"/>
                          <a:cs typeface="Cambria Math"/>
                        </a:rPr>
                        <a:t>−𝐉</a:t>
                      </a:r>
                      <a:r>
                        <a:rPr sz="1950" spc="75" baseline="-14957" dirty="0">
                          <a:latin typeface="Cambria Math"/>
                          <a:cs typeface="Cambria Math"/>
                        </a:rPr>
                        <a:t>𝑞,𝑝</a:t>
                      </a:r>
                      <a:r>
                        <a:rPr sz="1800" spc="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800" spc="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𝑠𝑖𝑛𝜃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485900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8.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𝐀 =</a:t>
                      </a:r>
                      <a:r>
                        <a:rPr sz="1800" spc="20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5" dirty="0">
                          <a:latin typeface="Cambria Math"/>
                          <a:cs typeface="Cambria Math"/>
                        </a:rPr>
                        <a:t>𝐉</a:t>
                      </a:r>
                      <a:r>
                        <a:rPr sz="1950" spc="52" baseline="27777" dirty="0">
                          <a:latin typeface="Cambria Math"/>
                          <a:cs typeface="Cambria Math"/>
                        </a:rPr>
                        <a:t>𝑻</a:t>
                      </a:r>
                      <a:r>
                        <a:rPr sz="1800" spc="35" dirty="0">
                          <a:latin typeface="Cambria Math"/>
                          <a:cs typeface="Cambria Math"/>
                        </a:rPr>
                        <a:t>𝐀𝐉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1458595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9.	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𝐕 =</a:t>
                      </a:r>
                      <a:r>
                        <a:rPr sz="1800" spc="1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𝐕𝐉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1197610" indent="-1129665">
                        <a:lnSpc>
                          <a:spcPct val="100000"/>
                        </a:lnSpc>
                        <a:spcBef>
                          <a:spcPts val="110"/>
                        </a:spcBef>
                        <a:buAutoNum type="arabicPeriod" startAt="10"/>
                        <a:tabLst>
                          <a:tab pos="1197610" algn="l"/>
                          <a:tab pos="119824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end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54025" marR="4612005" indent="-386080">
                        <a:lnSpc>
                          <a:spcPct val="105000"/>
                        </a:lnSpc>
                        <a:buFont typeface="Calibri"/>
                        <a:buAutoNum type="arabicPeriod" startAt="10"/>
                        <a:tabLst>
                          <a:tab pos="778510" algn="l"/>
                          <a:tab pos="779145" algn="l"/>
                        </a:tabLst>
                      </a:pPr>
                      <a:r>
                        <a:rPr dirty="0"/>
                        <a:t>	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end  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6F4B00"/>
                      </a:solidFill>
                      <a:prstDash val="solid"/>
                    </a:lnL>
                    <a:lnR w="9525">
                      <a:solidFill>
                        <a:srgbClr val="6F4B00"/>
                      </a:solidFill>
                      <a:prstDash val="solid"/>
                    </a:lnR>
                    <a:lnB w="9525">
                      <a:solidFill>
                        <a:srgbClr val="6F4B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" name="object 12">
            <a:extLst>
              <a:ext uri="{FF2B5EF4-FFF2-40B4-BE49-F238E27FC236}">
                <a16:creationId xmlns:a16="http://schemas.microsoft.com/office/drawing/2014/main" id="{DFB9D2E3-177F-43BD-8D74-EB159894A1D7}"/>
              </a:ext>
            </a:extLst>
          </p:cNvPr>
          <p:cNvSpPr/>
          <p:nvPr/>
        </p:nvSpPr>
        <p:spPr>
          <a:xfrm>
            <a:off x="7329264" y="1435273"/>
            <a:ext cx="45720" cy="1065530"/>
          </a:xfrm>
          <a:custGeom>
            <a:avLst/>
            <a:gdLst/>
            <a:ahLst/>
            <a:cxnLst/>
            <a:rect l="l" t="t" r="r" b="b"/>
            <a:pathLst>
              <a:path w="45720" h="1065529">
                <a:moveTo>
                  <a:pt x="45720" y="1065276"/>
                </a:moveTo>
                <a:lnTo>
                  <a:pt x="27914" y="1064984"/>
                </a:lnTo>
                <a:lnTo>
                  <a:pt x="13382" y="1064180"/>
                </a:lnTo>
                <a:lnTo>
                  <a:pt x="3589" y="1062972"/>
                </a:lnTo>
                <a:lnTo>
                  <a:pt x="0" y="1061465"/>
                </a:lnTo>
                <a:lnTo>
                  <a:pt x="0" y="3810"/>
                </a:lnTo>
                <a:lnTo>
                  <a:pt x="3589" y="2303"/>
                </a:lnTo>
                <a:lnTo>
                  <a:pt x="13382" y="1095"/>
                </a:lnTo>
                <a:lnTo>
                  <a:pt x="27914" y="291"/>
                </a:lnTo>
                <a:lnTo>
                  <a:pt x="4572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AB940E90-2634-4189-AE1C-C99F5FBCD594}"/>
              </a:ext>
            </a:extLst>
          </p:cNvPr>
          <p:cNvGrpSpPr/>
          <p:nvPr/>
        </p:nvGrpSpPr>
        <p:grpSpPr>
          <a:xfrm>
            <a:off x="7437468" y="1424605"/>
            <a:ext cx="241300" cy="1089660"/>
            <a:chOff x="7080504" y="3058667"/>
            <a:chExt cx="241300" cy="1089660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15F76604-0E82-46B7-9856-854FADD4CA52}"/>
                </a:ext>
              </a:extLst>
            </p:cNvPr>
            <p:cNvSpPr/>
            <p:nvPr/>
          </p:nvSpPr>
          <p:spPr>
            <a:xfrm>
              <a:off x="7080504" y="3058667"/>
              <a:ext cx="240792" cy="2423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5">
              <a:extLst>
                <a:ext uri="{FF2B5EF4-FFF2-40B4-BE49-F238E27FC236}">
                  <a16:creationId xmlns:a16="http://schemas.microsoft.com/office/drawing/2014/main" id="{882C1E11-2AFA-43AF-8775-733F47720BDF}"/>
                </a:ext>
              </a:extLst>
            </p:cNvPr>
            <p:cNvSpPr/>
            <p:nvPr/>
          </p:nvSpPr>
          <p:spPr>
            <a:xfrm>
              <a:off x="7080504" y="3340607"/>
              <a:ext cx="240792" cy="2423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6">
              <a:extLst>
                <a:ext uri="{FF2B5EF4-FFF2-40B4-BE49-F238E27FC236}">
                  <a16:creationId xmlns:a16="http://schemas.microsoft.com/office/drawing/2014/main" id="{83331D17-D9BB-4618-900F-D0D378A4D17E}"/>
                </a:ext>
              </a:extLst>
            </p:cNvPr>
            <p:cNvSpPr/>
            <p:nvPr/>
          </p:nvSpPr>
          <p:spPr>
            <a:xfrm>
              <a:off x="7080504" y="3619499"/>
              <a:ext cx="240792" cy="2423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7">
              <a:extLst>
                <a:ext uri="{FF2B5EF4-FFF2-40B4-BE49-F238E27FC236}">
                  <a16:creationId xmlns:a16="http://schemas.microsoft.com/office/drawing/2014/main" id="{41B33C87-1D9B-4B39-9F53-121A48AD9D66}"/>
                </a:ext>
              </a:extLst>
            </p:cNvPr>
            <p:cNvSpPr/>
            <p:nvPr/>
          </p:nvSpPr>
          <p:spPr>
            <a:xfrm>
              <a:off x="7080504" y="3906011"/>
              <a:ext cx="240792" cy="2423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8">
              <a:extLst>
                <a:ext uri="{FF2B5EF4-FFF2-40B4-BE49-F238E27FC236}">
                  <a16:creationId xmlns:a16="http://schemas.microsoft.com/office/drawing/2014/main" id="{B8D9A103-C6D8-4B91-BFAE-F458723ADAF9}"/>
                </a:ext>
              </a:extLst>
            </p:cNvPr>
            <p:cNvSpPr/>
            <p:nvPr/>
          </p:nvSpPr>
          <p:spPr>
            <a:xfrm>
              <a:off x="7127748" y="3343655"/>
              <a:ext cx="144780" cy="780415"/>
            </a:xfrm>
            <a:custGeom>
              <a:avLst/>
              <a:gdLst/>
              <a:ahLst/>
              <a:cxnLst/>
              <a:rect l="l" t="t" r="r" b="b"/>
              <a:pathLst>
                <a:path w="144779" h="780414">
                  <a:moveTo>
                    <a:pt x="108584" y="0"/>
                  </a:moveTo>
                  <a:lnTo>
                    <a:pt x="36195" y="0"/>
                  </a:lnTo>
                  <a:lnTo>
                    <a:pt x="36195" y="707898"/>
                  </a:lnTo>
                  <a:lnTo>
                    <a:pt x="0" y="707898"/>
                  </a:lnTo>
                  <a:lnTo>
                    <a:pt x="72390" y="780288"/>
                  </a:lnTo>
                  <a:lnTo>
                    <a:pt x="144779" y="707898"/>
                  </a:lnTo>
                  <a:lnTo>
                    <a:pt x="108584" y="707898"/>
                  </a:lnTo>
                  <a:lnTo>
                    <a:pt x="1085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9">
            <a:extLst>
              <a:ext uri="{FF2B5EF4-FFF2-40B4-BE49-F238E27FC236}">
                <a16:creationId xmlns:a16="http://schemas.microsoft.com/office/drawing/2014/main" id="{7A39CF44-8A29-4F70-BC2F-DB1BC753EDBE}"/>
              </a:ext>
            </a:extLst>
          </p:cNvPr>
          <p:cNvGrpSpPr/>
          <p:nvPr/>
        </p:nvGrpSpPr>
        <p:grpSpPr>
          <a:xfrm>
            <a:off x="7725504" y="1423082"/>
            <a:ext cx="882650" cy="1100455"/>
            <a:chOff x="7368540" y="3057144"/>
            <a:chExt cx="882650" cy="1100455"/>
          </a:xfrm>
        </p:grpSpPr>
        <p:sp>
          <p:nvSpPr>
            <p:cNvPr id="113" name="object 20">
              <a:extLst>
                <a:ext uri="{FF2B5EF4-FFF2-40B4-BE49-F238E27FC236}">
                  <a16:creationId xmlns:a16="http://schemas.microsoft.com/office/drawing/2014/main" id="{65093313-F110-496C-9829-2C3EAE5B9C2A}"/>
                </a:ext>
              </a:extLst>
            </p:cNvPr>
            <p:cNvSpPr/>
            <p:nvPr/>
          </p:nvSpPr>
          <p:spPr>
            <a:xfrm>
              <a:off x="7368540" y="3057144"/>
              <a:ext cx="240791" cy="2423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21">
              <a:extLst>
                <a:ext uri="{FF2B5EF4-FFF2-40B4-BE49-F238E27FC236}">
                  <a16:creationId xmlns:a16="http://schemas.microsoft.com/office/drawing/2014/main" id="{D58967B9-B5BE-4AE7-8C11-CD35949EC8E2}"/>
                </a:ext>
              </a:extLst>
            </p:cNvPr>
            <p:cNvSpPr/>
            <p:nvPr/>
          </p:nvSpPr>
          <p:spPr>
            <a:xfrm>
              <a:off x="7368540" y="3343656"/>
              <a:ext cx="240791" cy="2407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22">
              <a:extLst>
                <a:ext uri="{FF2B5EF4-FFF2-40B4-BE49-F238E27FC236}">
                  <a16:creationId xmlns:a16="http://schemas.microsoft.com/office/drawing/2014/main" id="{F3CE7938-3AA5-4094-BB01-1F5CD5575FB6}"/>
                </a:ext>
              </a:extLst>
            </p:cNvPr>
            <p:cNvSpPr/>
            <p:nvPr/>
          </p:nvSpPr>
          <p:spPr>
            <a:xfrm>
              <a:off x="7368540" y="3622548"/>
              <a:ext cx="240791" cy="2407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23">
              <a:extLst>
                <a:ext uri="{FF2B5EF4-FFF2-40B4-BE49-F238E27FC236}">
                  <a16:creationId xmlns:a16="http://schemas.microsoft.com/office/drawing/2014/main" id="{1A539C3A-7FBD-4D76-ABB9-3A1465E92741}"/>
                </a:ext>
              </a:extLst>
            </p:cNvPr>
            <p:cNvSpPr/>
            <p:nvPr/>
          </p:nvSpPr>
          <p:spPr>
            <a:xfrm>
              <a:off x="7368540" y="3907536"/>
              <a:ext cx="240791" cy="2423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24">
              <a:extLst>
                <a:ext uri="{FF2B5EF4-FFF2-40B4-BE49-F238E27FC236}">
                  <a16:creationId xmlns:a16="http://schemas.microsoft.com/office/drawing/2014/main" id="{2FECE7A0-6CD4-4CB6-A87C-82357F5D3640}"/>
                </a:ext>
              </a:extLst>
            </p:cNvPr>
            <p:cNvSpPr/>
            <p:nvPr/>
          </p:nvSpPr>
          <p:spPr>
            <a:xfrm>
              <a:off x="7437120" y="3619500"/>
              <a:ext cx="111760" cy="478790"/>
            </a:xfrm>
            <a:custGeom>
              <a:avLst/>
              <a:gdLst/>
              <a:ahLst/>
              <a:cxnLst/>
              <a:rect l="l" t="t" r="r" b="b"/>
              <a:pathLst>
                <a:path w="111759" h="478789">
                  <a:moveTo>
                    <a:pt x="83438" y="0"/>
                  </a:moveTo>
                  <a:lnTo>
                    <a:pt x="27812" y="0"/>
                  </a:lnTo>
                  <a:lnTo>
                    <a:pt x="27812" y="422910"/>
                  </a:lnTo>
                  <a:lnTo>
                    <a:pt x="0" y="422910"/>
                  </a:lnTo>
                  <a:lnTo>
                    <a:pt x="55625" y="478536"/>
                  </a:lnTo>
                  <a:lnTo>
                    <a:pt x="111251" y="422910"/>
                  </a:lnTo>
                  <a:lnTo>
                    <a:pt x="83438" y="422910"/>
                  </a:lnTo>
                  <a:lnTo>
                    <a:pt x="8343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25">
              <a:extLst>
                <a:ext uri="{FF2B5EF4-FFF2-40B4-BE49-F238E27FC236}">
                  <a16:creationId xmlns:a16="http://schemas.microsoft.com/office/drawing/2014/main" id="{EFC6CF3B-E8C8-4064-BC81-747AB89B4598}"/>
                </a:ext>
              </a:extLst>
            </p:cNvPr>
            <p:cNvSpPr/>
            <p:nvPr/>
          </p:nvSpPr>
          <p:spPr>
            <a:xfrm>
              <a:off x="7656576" y="3058668"/>
              <a:ext cx="240792" cy="2423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26">
              <a:extLst>
                <a:ext uri="{FF2B5EF4-FFF2-40B4-BE49-F238E27FC236}">
                  <a16:creationId xmlns:a16="http://schemas.microsoft.com/office/drawing/2014/main" id="{5F66CD4C-247F-40D5-9A23-3F55717CF379}"/>
                </a:ext>
              </a:extLst>
            </p:cNvPr>
            <p:cNvSpPr/>
            <p:nvPr/>
          </p:nvSpPr>
          <p:spPr>
            <a:xfrm>
              <a:off x="7944612" y="3057144"/>
              <a:ext cx="240791" cy="2423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27">
              <a:extLst>
                <a:ext uri="{FF2B5EF4-FFF2-40B4-BE49-F238E27FC236}">
                  <a16:creationId xmlns:a16="http://schemas.microsoft.com/office/drawing/2014/main" id="{DA2BFF85-2B95-4B32-AF9E-6679F2B95644}"/>
                </a:ext>
              </a:extLst>
            </p:cNvPr>
            <p:cNvSpPr/>
            <p:nvPr/>
          </p:nvSpPr>
          <p:spPr>
            <a:xfrm>
              <a:off x="7658100" y="3343656"/>
              <a:ext cx="242315" cy="2407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28">
              <a:extLst>
                <a:ext uri="{FF2B5EF4-FFF2-40B4-BE49-F238E27FC236}">
                  <a16:creationId xmlns:a16="http://schemas.microsoft.com/office/drawing/2014/main" id="{4000F055-697C-47C9-A70F-CCE4C2BD197D}"/>
                </a:ext>
              </a:extLst>
            </p:cNvPr>
            <p:cNvSpPr/>
            <p:nvPr/>
          </p:nvSpPr>
          <p:spPr>
            <a:xfrm>
              <a:off x="7946136" y="3340608"/>
              <a:ext cx="242315" cy="2423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29">
              <a:extLst>
                <a:ext uri="{FF2B5EF4-FFF2-40B4-BE49-F238E27FC236}">
                  <a16:creationId xmlns:a16="http://schemas.microsoft.com/office/drawing/2014/main" id="{677ECFB8-FFF1-4DFE-88C9-D6DF02CAFED8}"/>
                </a:ext>
              </a:extLst>
            </p:cNvPr>
            <p:cNvSpPr/>
            <p:nvPr/>
          </p:nvSpPr>
          <p:spPr>
            <a:xfrm>
              <a:off x="7656576" y="3628644"/>
              <a:ext cx="240792" cy="2423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30">
              <a:extLst>
                <a:ext uri="{FF2B5EF4-FFF2-40B4-BE49-F238E27FC236}">
                  <a16:creationId xmlns:a16="http://schemas.microsoft.com/office/drawing/2014/main" id="{18D20D69-DF7E-4D13-B407-33E2B610C689}"/>
                </a:ext>
              </a:extLst>
            </p:cNvPr>
            <p:cNvSpPr/>
            <p:nvPr/>
          </p:nvSpPr>
          <p:spPr>
            <a:xfrm>
              <a:off x="7944612" y="3627120"/>
              <a:ext cx="240791" cy="24231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31">
              <a:extLst>
                <a:ext uri="{FF2B5EF4-FFF2-40B4-BE49-F238E27FC236}">
                  <a16:creationId xmlns:a16="http://schemas.microsoft.com/office/drawing/2014/main" id="{CB220175-EE53-4CA3-A02E-7A81F394A9A4}"/>
                </a:ext>
              </a:extLst>
            </p:cNvPr>
            <p:cNvSpPr/>
            <p:nvPr/>
          </p:nvSpPr>
          <p:spPr>
            <a:xfrm>
              <a:off x="7656576" y="3915155"/>
              <a:ext cx="240792" cy="2423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32">
              <a:extLst>
                <a:ext uri="{FF2B5EF4-FFF2-40B4-BE49-F238E27FC236}">
                  <a16:creationId xmlns:a16="http://schemas.microsoft.com/office/drawing/2014/main" id="{1A905930-D267-4134-83FF-50E864B9F227}"/>
                </a:ext>
              </a:extLst>
            </p:cNvPr>
            <p:cNvSpPr/>
            <p:nvPr/>
          </p:nvSpPr>
          <p:spPr>
            <a:xfrm>
              <a:off x="7944612" y="3913632"/>
              <a:ext cx="240791" cy="24231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33">
              <a:extLst>
                <a:ext uri="{FF2B5EF4-FFF2-40B4-BE49-F238E27FC236}">
                  <a16:creationId xmlns:a16="http://schemas.microsoft.com/office/drawing/2014/main" id="{5FE6C308-2268-4790-93EE-0D9E50B490C9}"/>
                </a:ext>
              </a:extLst>
            </p:cNvPr>
            <p:cNvSpPr/>
            <p:nvPr/>
          </p:nvSpPr>
          <p:spPr>
            <a:xfrm>
              <a:off x="8171688" y="3069336"/>
              <a:ext cx="74930" cy="1065530"/>
            </a:xfrm>
            <a:custGeom>
              <a:avLst/>
              <a:gdLst/>
              <a:ahLst/>
              <a:cxnLst/>
              <a:rect l="l" t="t" r="r" b="b"/>
              <a:pathLst>
                <a:path w="74929" h="1065529">
                  <a:moveTo>
                    <a:pt x="0" y="0"/>
                  </a:moveTo>
                  <a:lnTo>
                    <a:pt x="29081" y="490"/>
                  </a:lnTo>
                  <a:lnTo>
                    <a:pt x="52816" y="1825"/>
                  </a:lnTo>
                  <a:lnTo>
                    <a:pt x="68812" y="3804"/>
                  </a:lnTo>
                  <a:lnTo>
                    <a:pt x="74675" y="6223"/>
                  </a:lnTo>
                  <a:lnTo>
                    <a:pt x="74675" y="1059052"/>
                  </a:lnTo>
                  <a:lnTo>
                    <a:pt x="68812" y="1061471"/>
                  </a:lnTo>
                  <a:lnTo>
                    <a:pt x="52816" y="1063450"/>
                  </a:lnTo>
                  <a:lnTo>
                    <a:pt x="29081" y="1064785"/>
                  </a:lnTo>
                  <a:lnTo>
                    <a:pt x="0" y="106527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34">
              <a:extLst>
                <a:ext uri="{FF2B5EF4-FFF2-40B4-BE49-F238E27FC236}">
                  <a16:creationId xmlns:a16="http://schemas.microsoft.com/office/drawing/2014/main" id="{8079F024-1C01-4F0C-8099-18B074CF2252}"/>
                </a:ext>
              </a:extLst>
            </p:cNvPr>
            <p:cNvSpPr/>
            <p:nvPr/>
          </p:nvSpPr>
          <p:spPr>
            <a:xfrm>
              <a:off x="7895844" y="3669792"/>
              <a:ext cx="330835" cy="123825"/>
            </a:xfrm>
            <a:custGeom>
              <a:avLst/>
              <a:gdLst/>
              <a:ahLst/>
              <a:cxnLst/>
              <a:rect l="l" t="t" r="r" b="b"/>
              <a:pathLst>
                <a:path w="330834" h="123825">
                  <a:moveTo>
                    <a:pt x="268985" y="0"/>
                  </a:moveTo>
                  <a:lnTo>
                    <a:pt x="268985" y="30860"/>
                  </a:lnTo>
                  <a:lnTo>
                    <a:pt x="0" y="30860"/>
                  </a:lnTo>
                  <a:lnTo>
                    <a:pt x="0" y="92582"/>
                  </a:lnTo>
                  <a:lnTo>
                    <a:pt x="268985" y="92582"/>
                  </a:lnTo>
                  <a:lnTo>
                    <a:pt x="268985" y="123443"/>
                  </a:lnTo>
                  <a:lnTo>
                    <a:pt x="330707" y="61721"/>
                  </a:lnTo>
                  <a:lnTo>
                    <a:pt x="268985" y="0"/>
                  </a:lnTo>
                  <a:close/>
                </a:path>
              </a:pathLst>
            </a:custGeom>
            <a:solidFill>
              <a:srgbClr val="E6C7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35">
              <a:extLst>
                <a:ext uri="{FF2B5EF4-FFF2-40B4-BE49-F238E27FC236}">
                  <a16:creationId xmlns:a16="http://schemas.microsoft.com/office/drawing/2014/main" id="{00B8BC31-777E-421D-9851-ADEB8464A557}"/>
                </a:ext>
              </a:extLst>
            </p:cNvPr>
            <p:cNvSpPr/>
            <p:nvPr/>
          </p:nvSpPr>
          <p:spPr>
            <a:xfrm>
              <a:off x="7429500" y="3101340"/>
              <a:ext cx="723900" cy="135890"/>
            </a:xfrm>
            <a:custGeom>
              <a:avLst/>
              <a:gdLst/>
              <a:ahLst/>
              <a:cxnLst/>
              <a:rect l="l" t="t" r="r" b="b"/>
              <a:pathLst>
                <a:path w="723900" h="135889">
                  <a:moveTo>
                    <a:pt x="656081" y="0"/>
                  </a:moveTo>
                  <a:lnTo>
                    <a:pt x="656081" y="33909"/>
                  </a:lnTo>
                  <a:lnTo>
                    <a:pt x="0" y="33909"/>
                  </a:lnTo>
                  <a:lnTo>
                    <a:pt x="0" y="101726"/>
                  </a:lnTo>
                  <a:lnTo>
                    <a:pt x="656081" y="101726"/>
                  </a:lnTo>
                  <a:lnTo>
                    <a:pt x="656081" y="135636"/>
                  </a:lnTo>
                  <a:lnTo>
                    <a:pt x="723900" y="67818"/>
                  </a:lnTo>
                  <a:lnTo>
                    <a:pt x="65608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6">
              <a:extLst>
                <a:ext uri="{FF2B5EF4-FFF2-40B4-BE49-F238E27FC236}">
                  <a16:creationId xmlns:a16="http://schemas.microsoft.com/office/drawing/2014/main" id="{6E3D21EA-9038-4A5B-BDB9-FD97FF01B677}"/>
                </a:ext>
              </a:extLst>
            </p:cNvPr>
            <p:cNvSpPr/>
            <p:nvPr/>
          </p:nvSpPr>
          <p:spPr>
            <a:xfrm>
              <a:off x="7720584" y="3375660"/>
              <a:ext cx="478790" cy="111760"/>
            </a:xfrm>
            <a:custGeom>
              <a:avLst/>
              <a:gdLst/>
              <a:ahLst/>
              <a:cxnLst/>
              <a:rect l="l" t="t" r="r" b="b"/>
              <a:pathLst>
                <a:path w="478790" h="111760">
                  <a:moveTo>
                    <a:pt x="422910" y="0"/>
                  </a:moveTo>
                  <a:lnTo>
                    <a:pt x="422910" y="27812"/>
                  </a:lnTo>
                  <a:lnTo>
                    <a:pt x="0" y="27812"/>
                  </a:lnTo>
                  <a:lnTo>
                    <a:pt x="0" y="83438"/>
                  </a:lnTo>
                  <a:lnTo>
                    <a:pt x="422910" y="83438"/>
                  </a:lnTo>
                  <a:lnTo>
                    <a:pt x="422910" y="111251"/>
                  </a:lnTo>
                  <a:lnTo>
                    <a:pt x="478536" y="55625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7">
              <a:extLst>
                <a:ext uri="{FF2B5EF4-FFF2-40B4-BE49-F238E27FC236}">
                  <a16:creationId xmlns:a16="http://schemas.microsoft.com/office/drawing/2014/main" id="{35DC1F92-D191-41AA-9BAD-BCC62EEF3AC3}"/>
                </a:ext>
              </a:extLst>
            </p:cNvPr>
            <p:cNvSpPr/>
            <p:nvPr/>
          </p:nvSpPr>
          <p:spPr>
            <a:xfrm>
              <a:off x="7720584" y="3806952"/>
              <a:ext cx="123825" cy="329565"/>
            </a:xfrm>
            <a:custGeom>
              <a:avLst/>
              <a:gdLst/>
              <a:ahLst/>
              <a:cxnLst/>
              <a:rect l="l" t="t" r="r" b="b"/>
              <a:pathLst>
                <a:path w="123825" h="329564">
                  <a:moveTo>
                    <a:pt x="92583" y="0"/>
                  </a:moveTo>
                  <a:lnTo>
                    <a:pt x="30861" y="0"/>
                  </a:lnTo>
                  <a:lnTo>
                    <a:pt x="30861" y="267462"/>
                  </a:lnTo>
                  <a:lnTo>
                    <a:pt x="0" y="267462"/>
                  </a:lnTo>
                  <a:lnTo>
                    <a:pt x="61722" y="329184"/>
                  </a:lnTo>
                  <a:lnTo>
                    <a:pt x="123444" y="267462"/>
                  </a:lnTo>
                  <a:lnTo>
                    <a:pt x="92583" y="267462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C7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38">
            <a:extLst>
              <a:ext uri="{FF2B5EF4-FFF2-40B4-BE49-F238E27FC236}">
                <a16:creationId xmlns:a16="http://schemas.microsoft.com/office/drawing/2014/main" id="{ACBF9BB7-403A-4CB4-81D3-87E290958373}"/>
              </a:ext>
            </a:extLst>
          </p:cNvPr>
          <p:cNvSpPr txBox="1"/>
          <p:nvPr/>
        </p:nvSpPr>
        <p:spPr>
          <a:xfrm>
            <a:off x="7435752" y="1068624"/>
            <a:ext cx="1061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sweep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AB6AF39-9C33-4C98-A4C9-2C2E916C27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8499" y="2807127"/>
            <a:ext cx="3386555" cy="34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412776"/>
            <a:ext cx="8496944" cy="478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3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412776"/>
            <a:ext cx="8208912" cy="47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3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412776"/>
            <a:ext cx="7128792" cy="488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Architecture design for 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844824"/>
            <a:ext cx="7359785" cy="437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3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Architecture design for 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844824"/>
            <a:ext cx="7560840" cy="420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5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B3D9F5-C869-478E-851F-7B4548CA7454}"/>
              </a:ext>
            </a:extLst>
          </p:cNvPr>
          <p:cNvSpPr txBox="1">
            <a:spLocks/>
          </p:cNvSpPr>
          <p:nvPr/>
        </p:nvSpPr>
        <p:spPr>
          <a:xfrm>
            <a:off x="560512" y="1279602"/>
            <a:ext cx="9289032" cy="21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40"/>
              </a:lnSpc>
              <a:buClr>
                <a:srgbClr val="3333CC"/>
              </a:buClr>
              <a:buFont typeface="Wingdings" panose="05000000000000000000" pitchFamily="2" charset="2"/>
              <a:buChar char="p"/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Architecture design for based on CORDIC operations.</a:t>
            </a:r>
            <a:r>
              <a:rPr lang="en-US" altLang="zh-TW" sz="2200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2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2060848"/>
            <a:ext cx="6984776" cy="410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2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內容版面配置區 1"/>
          <p:cNvSpPr txBox="1">
            <a:spLocks/>
          </p:cNvSpPr>
          <p:nvPr/>
        </p:nvSpPr>
        <p:spPr bwMode="auto">
          <a:xfrm>
            <a:off x="440978" y="1143002"/>
            <a:ext cx="9408566" cy="5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design of SVD processor based on Jacobi algorithm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kern="0" dirty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The operation sequence: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Step 1: 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unitary transformation for </a:t>
            </a: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Upper-</a:t>
            </a:r>
            <a:r>
              <a:rPr lang="en-US" altLang="zh-TW" sz="2000" kern="0" dirty="0" err="1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Triangularization</a:t>
            </a:r>
            <a:endParaRPr lang="en-US" altLang="zh-TW" sz="2000" kern="0" dirty="0">
              <a:solidFill>
                <a:srgbClr val="FF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  <a:buNone/>
            </a:pP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08784" y="6457890"/>
            <a:ext cx="4896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/>
              <a:t>D. Guenther, R. </a:t>
            </a:r>
            <a:r>
              <a:rPr lang="en-US" altLang="zh-TW" sz="1000" dirty="0" err="1"/>
              <a:t>Leupers</a:t>
            </a:r>
            <a:r>
              <a:rPr lang="en-US" altLang="zh-TW" sz="1000" dirty="0"/>
              <a:t>, G. </a:t>
            </a:r>
            <a:r>
              <a:rPr lang="en-US" altLang="zh-TW" sz="1000" dirty="0" err="1"/>
              <a:t>Ascheid</a:t>
            </a:r>
            <a:r>
              <a:rPr lang="en-US" altLang="zh-TW" sz="1000" dirty="0"/>
              <a:t>, “A scalable, multi-mode SVD precoding ASIC based on the cyclic Jacobi method”, IEEE TCAS-I, vol. 63, no. 8, pp. 1283-94, Aug.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字方塊 161"/>
              <p:cNvSpPr txBox="1"/>
              <p:nvPr/>
            </p:nvSpPr>
            <p:spPr>
              <a:xfrm>
                <a:off x="7115527" y="2150685"/>
                <a:ext cx="1705279" cy="829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74295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TW" sz="1463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TW" sz="1463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TW" sz="1463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TW" sz="1463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TW" sz="1463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TW" sz="1463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463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TW" altLang="en-US" sz="1463" dirty="0">
                  <a:solidFill>
                    <a:srgbClr val="000000"/>
                  </a:solidFill>
                  <a:latin typeface="Times New Roman"/>
                  <a:ea typeface="新細明體"/>
                </a:endParaRPr>
              </a:p>
            </p:txBody>
          </p:sp>
        </mc:Choice>
        <mc:Fallback xmlns="">
          <p:sp>
            <p:nvSpPr>
              <p:cNvPr id="162" name="文字方塊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527" y="2150685"/>
                <a:ext cx="1705279" cy="829458"/>
              </a:xfrm>
              <a:prstGeom prst="rect">
                <a:avLst/>
              </a:prstGeom>
              <a:blipFill>
                <a:blip r:embed="rId2"/>
                <a:stretch>
                  <a:fillRect r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 162"/>
          <p:cNvSpPr/>
          <p:nvPr/>
        </p:nvSpPr>
        <p:spPr bwMode="auto">
          <a:xfrm>
            <a:off x="7123995" y="2166431"/>
            <a:ext cx="817814" cy="40725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4" name="矩形 163"/>
          <p:cNvSpPr/>
          <p:nvPr/>
        </p:nvSpPr>
        <p:spPr bwMode="auto">
          <a:xfrm>
            <a:off x="8044226" y="2164120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5" name="矩形 164"/>
          <p:cNvSpPr/>
          <p:nvPr/>
        </p:nvSpPr>
        <p:spPr bwMode="auto">
          <a:xfrm>
            <a:off x="7123995" y="2581496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6" name="矩形 165"/>
          <p:cNvSpPr/>
          <p:nvPr/>
        </p:nvSpPr>
        <p:spPr bwMode="auto">
          <a:xfrm>
            <a:off x="7140971" y="2166431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7" name="矩形 166"/>
          <p:cNvSpPr/>
          <p:nvPr/>
        </p:nvSpPr>
        <p:spPr bwMode="auto">
          <a:xfrm>
            <a:off x="8044199" y="2573682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8" name="矩形 167"/>
          <p:cNvSpPr/>
          <p:nvPr/>
        </p:nvSpPr>
        <p:spPr bwMode="auto">
          <a:xfrm>
            <a:off x="8489919" y="2164120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69" name="矩形 168"/>
          <p:cNvSpPr/>
          <p:nvPr/>
        </p:nvSpPr>
        <p:spPr bwMode="auto">
          <a:xfrm>
            <a:off x="8494971" y="2782284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0" name="矩形 169"/>
          <p:cNvSpPr/>
          <p:nvPr/>
        </p:nvSpPr>
        <p:spPr bwMode="auto">
          <a:xfrm>
            <a:off x="7123995" y="2790627"/>
            <a:ext cx="391931" cy="17793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1" name="矩形 170"/>
          <p:cNvSpPr/>
          <p:nvPr/>
        </p:nvSpPr>
        <p:spPr bwMode="auto">
          <a:xfrm>
            <a:off x="7624482" y="2393129"/>
            <a:ext cx="753134" cy="363531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7608502" y="2385849"/>
            <a:ext cx="364479" cy="202367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3" name="矩形 172"/>
          <p:cNvSpPr/>
          <p:nvPr/>
        </p:nvSpPr>
        <p:spPr bwMode="auto">
          <a:xfrm>
            <a:off x="8520361" y="2385849"/>
            <a:ext cx="364479" cy="202367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4" name="矩形 173"/>
          <p:cNvSpPr/>
          <p:nvPr/>
        </p:nvSpPr>
        <p:spPr bwMode="auto">
          <a:xfrm>
            <a:off x="7608502" y="2786677"/>
            <a:ext cx="364479" cy="202367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5" name="矩形 174"/>
          <p:cNvSpPr/>
          <p:nvPr/>
        </p:nvSpPr>
        <p:spPr bwMode="auto">
          <a:xfrm>
            <a:off x="8518607" y="2766198"/>
            <a:ext cx="364479" cy="202367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76" name="矩形 175"/>
          <p:cNvSpPr/>
          <p:nvPr/>
        </p:nvSpPr>
        <p:spPr bwMode="auto">
          <a:xfrm>
            <a:off x="8090196" y="2573682"/>
            <a:ext cx="739078" cy="421074"/>
          </a:xfrm>
          <a:prstGeom prst="rect">
            <a:avLst/>
          </a:prstGeom>
          <a:noFill/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grpSp>
        <p:nvGrpSpPr>
          <p:cNvPr id="177" name="群組 176"/>
          <p:cNvGrpSpPr/>
          <p:nvPr/>
        </p:nvGrpSpPr>
        <p:grpSpPr>
          <a:xfrm>
            <a:off x="7256174" y="2412620"/>
            <a:ext cx="165226" cy="146313"/>
            <a:chOff x="8224365" y="715305"/>
            <a:chExt cx="296905" cy="235141"/>
          </a:xfrm>
        </p:grpSpPr>
        <p:cxnSp>
          <p:nvCxnSpPr>
            <p:cNvPr id="178" name="直線接點 177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線接點 178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0" name="群組 179"/>
          <p:cNvGrpSpPr/>
          <p:nvPr/>
        </p:nvGrpSpPr>
        <p:grpSpPr>
          <a:xfrm>
            <a:off x="7720851" y="2201477"/>
            <a:ext cx="165226" cy="146313"/>
            <a:chOff x="8224365" y="715305"/>
            <a:chExt cx="296905" cy="235141"/>
          </a:xfrm>
        </p:grpSpPr>
        <p:cxnSp>
          <p:nvCxnSpPr>
            <p:cNvPr id="181" name="直線接點 180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線接點 181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3" name="群組 182"/>
          <p:cNvGrpSpPr/>
          <p:nvPr/>
        </p:nvGrpSpPr>
        <p:grpSpPr>
          <a:xfrm>
            <a:off x="7259732" y="2593877"/>
            <a:ext cx="165226" cy="146313"/>
            <a:chOff x="8224365" y="715305"/>
            <a:chExt cx="296905" cy="235141"/>
          </a:xfrm>
        </p:grpSpPr>
        <p:cxnSp>
          <p:nvCxnSpPr>
            <p:cNvPr id="184" name="直線接點 183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線接點 184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6" name="群組 185"/>
          <p:cNvGrpSpPr/>
          <p:nvPr/>
        </p:nvGrpSpPr>
        <p:grpSpPr>
          <a:xfrm>
            <a:off x="8157551" y="2191508"/>
            <a:ext cx="165226" cy="146313"/>
            <a:chOff x="8224365" y="715305"/>
            <a:chExt cx="296905" cy="235141"/>
          </a:xfrm>
        </p:grpSpPr>
        <p:cxnSp>
          <p:nvCxnSpPr>
            <p:cNvPr id="187" name="直線接點 186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線接點 187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9" name="群組 188"/>
          <p:cNvGrpSpPr/>
          <p:nvPr/>
        </p:nvGrpSpPr>
        <p:grpSpPr>
          <a:xfrm>
            <a:off x="7269996" y="2815250"/>
            <a:ext cx="165226" cy="146313"/>
            <a:chOff x="8224365" y="715305"/>
            <a:chExt cx="296905" cy="235141"/>
          </a:xfrm>
        </p:grpSpPr>
        <p:cxnSp>
          <p:nvCxnSpPr>
            <p:cNvPr id="190" name="直線接點 189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線接點 190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2" name="群組 191"/>
          <p:cNvGrpSpPr/>
          <p:nvPr/>
        </p:nvGrpSpPr>
        <p:grpSpPr>
          <a:xfrm>
            <a:off x="8622061" y="2186626"/>
            <a:ext cx="165226" cy="146313"/>
            <a:chOff x="8224365" y="715305"/>
            <a:chExt cx="296905" cy="235141"/>
          </a:xfrm>
        </p:grpSpPr>
        <p:cxnSp>
          <p:nvCxnSpPr>
            <p:cNvPr id="193" name="直線接點 192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線接點 193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5" name="群組 194"/>
          <p:cNvGrpSpPr/>
          <p:nvPr/>
        </p:nvGrpSpPr>
        <p:grpSpPr>
          <a:xfrm>
            <a:off x="7712682" y="2590189"/>
            <a:ext cx="165226" cy="146313"/>
            <a:chOff x="8224365" y="715305"/>
            <a:chExt cx="296905" cy="235141"/>
          </a:xfrm>
        </p:grpSpPr>
        <p:cxnSp>
          <p:nvCxnSpPr>
            <p:cNvPr id="196" name="直線接點 195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線接點 196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8" name="群組 197"/>
          <p:cNvGrpSpPr/>
          <p:nvPr/>
        </p:nvGrpSpPr>
        <p:grpSpPr>
          <a:xfrm>
            <a:off x="8155734" y="2408066"/>
            <a:ext cx="165226" cy="146313"/>
            <a:chOff x="8224365" y="715305"/>
            <a:chExt cx="296905" cy="235141"/>
          </a:xfrm>
        </p:grpSpPr>
        <p:cxnSp>
          <p:nvCxnSpPr>
            <p:cNvPr id="199" name="直線接點 198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線接點 199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1" name="群組 200"/>
          <p:cNvGrpSpPr/>
          <p:nvPr/>
        </p:nvGrpSpPr>
        <p:grpSpPr>
          <a:xfrm>
            <a:off x="7708128" y="2800933"/>
            <a:ext cx="165226" cy="146313"/>
            <a:chOff x="8224365" y="715305"/>
            <a:chExt cx="296905" cy="235141"/>
          </a:xfrm>
        </p:grpSpPr>
        <p:cxnSp>
          <p:nvCxnSpPr>
            <p:cNvPr id="202" name="直線接點 201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線接點 202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4" name="群組 203"/>
          <p:cNvGrpSpPr/>
          <p:nvPr/>
        </p:nvGrpSpPr>
        <p:grpSpPr>
          <a:xfrm>
            <a:off x="8618234" y="2412952"/>
            <a:ext cx="165226" cy="146313"/>
            <a:chOff x="8224365" y="715305"/>
            <a:chExt cx="296905" cy="235141"/>
          </a:xfrm>
        </p:grpSpPr>
        <p:cxnSp>
          <p:nvCxnSpPr>
            <p:cNvPr id="205" name="直線接點 204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線接點 205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7" name="群組 206"/>
          <p:cNvGrpSpPr/>
          <p:nvPr/>
        </p:nvGrpSpPr>
        <p:grpSpPr>
          <a:xfrm>
            <a:off x="8159419" y="2807732"/>
            <a:ext cx="165226" cy="146313"/>
            <a:chOff x="8224365" y="715305"/>
            <a:chExt cx="296905" cy="235141"/>
          </a:xfrm>
        </p:grpSpPr>
        <p:cxnSp>
          <p:nvCxnSpPr>
            <p:cNvPr id="208" name="直線接點 207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線接點 208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0" name="群組 209"/>
          <p:cNvGrpSpPr/>
          <p:nvPr/>
        </p:nvGrpSpPr>
        <p:grpSpPr>
          <a:xfrm>
            <a:off x="8614764" y="2595468"/>
            <a:ext cx="165226" cy="146313"/>
            <a:chOff x="8224365" y="715305"/>
            <a:chExt cx="296905" cy="235141"/>
          </a:xfrm>
        </p:grpSpPr>
        <p:cxnSp>
          <p:nvCxnSpPr>
            <p:cNvPr id="211" name="直線接點 210"/>
            <p:cNvCxnSpPr/>
            <p:nvPr/>
          </p:nvCxnSpPr>
          <p:spPr bwMode="auto">
            <a:xfrm flipH="1">
              <a:off x="8224365" y="726346"/>
              <a:ext cx="296905" cy="2181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線接點 211"/>
            <p:cNvCxnSpPr/>
            <p:nvPr/>
          </p:nvCxnSpPr>
          <p:spPr bwMode="auto">
            <a:xfrm>
              <a:off x="8224365" y="715305"/>
              <a:ext cx="296905" cy="235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3" name="文字方塊 212"/>
          <p:cNvSpPr txBox="1"/>
          <p:nvPr/>
        </p:nvSpPr>
        <p:spPr>
          <a:xfrm>
            <a:off x="5514543" y="2011028"/>
            <a:ext cx="2018359" cy="102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63" dirty="0">
                <a:solidFill>
                  <a:srgbClr val="000000"/>
                </a:solidFill>
                <a:latin typeface="Times New Roman"/>
                <a:ea typeface="新細明體"/>
              </a:rPr>
              <a:t>(1,2)   (1,3)   (1,4)</a:t>
            </a:r>
          </a:p>
          <a:p>
            <a:pPr defTabSz="742950" eaLnBrk="1" fontAlgn="auto" hangingPunct="1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63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</a:p>
          <a:p>
            <a:pPr defTabSz="74295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63" dirty="0">
                <a:solidFill>
                  <a:srgbClr val="000000"/>
                </a:solidFill>
                <a:latin typeface="Times New Roman"/>
                <a:ea typeface="新細明體"/>
              </a:rPr>
              <a:t>(2,3)   (2,4)</a:t>
            </a:r>
          </a:p>
          <a:p>
            <a:pPr defTabSz="742950" eaLnBrk="1" fontAlgn="auto" hangingPunct="1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63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</a:p>
          <a:p>
            <a:pPr defTabSz="74295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63" dirty="0">
                <a:solidFill>
                  <a:srgbClr val="000000"/>
                </a:solidFill>
                <a:latin typeface="Times New Roman"/>
                <a:ea typeface="新細明體"/>
              </a:rPr>
              <a:t>(3,4)</a:t>
            </a:r>
          </a:p>
        </p:txBody>
      </p:sp>
      <p:sp>
        <p:nvSpPr>
          <p:cNvPr id="214" name="弧形箭號 (上彎) 213"/>
          <p:cNvSpPr/>
          <p:nvPr/>
        </p:nvSpPr>
        <p:spPr bwMode="auto">
          <a:xfrm rot="15733187" flipV="1">
            <a:off x="4838417" y="2286061"/>
            <a:ext cx="898058" cy="407049"/>
          </a:xfrm>
          <a:prstGeom prst="curvedUpArrow">
            <a:avLst>
              <a:gd name="adj1" fmla="val 26833"/>
              <a:gd name="adj2" fmla="val 93086"/>
              <a:gd name="adj3" fmla="val 254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4295" tIns="37148" rIns="74295" bIns="37148" numCol="1" rtlCol="0" anchor="t" anchorCtr="0" compatLnSpc="1">
            <a:prstTxWarp prst="textNoShape">
              <a:avLst/>
            </a:prstTxWarp>
          </a:bodyPr>
          <a:lstStyle/>
          <a:p>
            <a:pPr defTabSz="742950" eaLnBrk="1" hangingPunct="1"/>
            <a:endParaRPr lang="zh-TW" altLang="en-US" sz="1950">
              <a:solidFill>
                <a:srgbClr val="000000"/>
              </a:solidFill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215" name="文字方塊 214"/>
          <p:cNvSpPr txBox="1"/>
          <p:nvPr/>
        </p:nvSpPr>
        <p:spPr>
          <a:xfrm>
            <a:off x="4320961" y="2378911"/>
            <a:ext cx="8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>
                <a:solidFill>
                  <a:srgbClr val="0070C0"/>
                </a:solidFill>
                <a:latin typeface="Times New Roman"/>
                <a:ea typeface="新細明體"/>
              </a:rPr>
              <a:t>Iterative</a:t>
            </a:r>
            <a:endParaRPr kumimoji="0" lang="zh-TW" altLang="en-US" sz="1138" dirty="0">
              <a:solidFill>
                <a:srgbClr val="0070C0"/>
              </a:solidFill>
              <a:latin typeface="Times New Roman"/>
              <a:ea typeface="新細明體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字方塊 215"/>
              <p:cNvSpPr txBox="1"/>
              <p:nvPr/>
            </p:nvSpPr>
            <p:spPr>
              <a:xfrm>
                <a:off x="560512" y="3675643"/>
                <a:ext cx="8596905" cy="1711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𝑊𝑒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𝑋𝑒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800" dirty="0"/>
              </a:p>
            </p:txBody>
          </p:sp>
        </mc:Choice>
        <mc:Fallback xmlns="">
          <p:sp>
            <p:nvSpPr>
              <p:cNvPr id="216" name="文字方塊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2" y="3675643"/>
                <a:ext cx="8596905" cy="17117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字方塊 216"/>
              <p:cNvSpPr txBox="1"/>
              <p:nvPr/>
            </p:nvSpPr>
            <p:spPr>
              <a:xfrm>
                <a:off x="1830246" y="5744832"/>
                <a:ext cx="6408101" cy="55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altLang="zh-TW" sz="1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7" name="文字方塊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246" y="5744832"/>
                <a:ext cx="6408101" cy="553228"/>
              </a:xfrm>
              <a:prstGeom prst="rect">
                <a:avLst/>
              </a:prstGeom>
              <a:blipFill>
                <a:blip r:embed="rId4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9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1" grpId="0" animBg="1"/>
      <p:bldP spid="171" grpId="1" animBg="1"/>
      <p:bldP spid="172" grpId="0" animBg="1"/>
      <p:bldP spid="172" grpId="1" animBg="1"/>
      <p:bldP spid="173" grpId="0" animBg="1"/>
      <p:bldP spid="173" grpId="1" animBg="1"/>
      <p:bldP spid="174" grpId="0" animBg="1"/>
      <p:bldP spid="174" grpId="1" animBg="1"/>
      <p:bldP spid="175" grpId="0" animBg="1"/>
      <p:bldP spid="175" grpId="1" animBg="1"/>
      <p:bldP spid="176" grpId="0" animBg="1"/>
      <p:bldP spid="176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內容版面配置區 1"/>
          <p:cNvSpPr txBox="1">
            <a:spLocks/>
          </p:cNvSpPr>
          <p:nvPr/>
        </p:nvSpPr>
        <p:spPr bwMode="auto">
          <a:xfrm>
            <a:off x="440978" y="1143002"/>
            <a:ext cx="9408566" cy="5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design of SVD processor based on Jacobi algorithm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Step 2: 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unitary transformation for </a:t>
            </a: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Diagonalization</a:t>
            </a:r>
          </a:p>
          <a:p>
            <a:pPr marL="457200" lvl="1" indent="0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  <a:buNone/>
            </a:pP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08784" y="6457890"/>
            <a:ext cx="4896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/>
              <a:t>D. Guenther, R. </a:t>
            </a:r>
            <a:r>
              <a:rPr lang="en-US" altLang="zh-TW" sz="1000" dirty="0" err="1"/>
              <a:t>Leupers</a:t>
            </a:r>
            <a:r>
              <a:rPr lang="en-US" altLang="zh-TW" sz="1000" dirty="0"/>
              <a:t>, G. </a:t>
            </a:r>
            <a:r>
              <a:rPr lang="en-US" altLang="zh-TW" sz="1000" dirty="0" err="1"/>
              <a:t>Ascheid</a:t>
            </a:r>
            <a:r>
              <a:rPr lang="en-US" altLang="zh-TW" sz="1000" dirty="0"/>
              <a:t>, “A scalable, multi-mode SVD precoding ASIC based on the cyclic Jacobi method”, IEEE TCAS-I, vol. 63, no. 8, pp. 1283-94, Aug.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704528" y="2298302"/>
                <a:ext cx="8547981" cy="1685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sup>
                          </m:s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80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8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8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28" y="2298302"/>
                <a:ext cx="8547981" cy="16855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1604453" y="4178226"/>
                <a:ext cx="6748129" cy="4742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zh-TW" altLang="en-US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altLang="zh-TW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ctrlPr>
                                <a:rPr lang="en-US" altLang="zh-TW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∓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53" y="4178226"/>
                <a:ext cx="6748129" cy="474232"/>
              </a:xfrm>
              <a:prstGeom prst="rect">
                <a:avLst/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440978" y="5157192"/>
            <a:ext cx="9408566" cy="5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b="1" kern="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CORDIC</a:t>
            </a:r>
            <a:r>
              <a:rPr lang="zh-TW" altLang="en-US" sz="22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is efficient for the matrix upper-</a:t>
            </a:r>
            <a:r>
              <a:rPr lang="en-US" altLang="zh-TW" sz="2200" kern="0" dirty="0" err="1">
                <a:latin typeface="Arial" panose="020B0604020202020204" pitchFamily="34" charset="0"/>
                <a:cs typeface="Arial" panose="020B0604020202020204" pitchFamily="34" charset="0"/>
              </a:rPr>
              <a:t>triangularization</a:t>
            </a: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 and diagonalization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5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內容版面配置區 1"/>
          <p:cNvSpPr txBox="1">
            <a:spLocks/>
          </p:cNvSpPr>
          <p:nvPr/>
        </p:nvSpPr>
        <p:spPr bwMode="auto">
          <a:xfrm>
            <a:off x="440978" y="1143002"/>
            <a:ext cx="9408566" cy="5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design of SVD processor based on Jacobi algorithm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Step 1: 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unitary transformation for </a:t>
            </a: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Upper-</a:t>
            </a:r>
            <a:r>
              <a:rPr lang="en-US" altLang="zh-TW" sz="2000" kern="0" dirty="0" err="1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Triangularization</a:t>
            </a:r>
            <a:endParaRPr lang="en-US" altLang="zh-TW" sz="2000" kern="0" dirty="0">
              <a:solidFill>
                <a:srgbClr val="FF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  <a:buNone/>
            </a:pP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08784" y="6457890"/>
            <a:ext cx="4896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/>
              <a:t>D. Guenther, R. </a:t>
            </a:r>
            <a:r>
              <a:rPr lang="en-US" altLang="zh-TW" sz="1000" dirty="0" err="1"/>
              <a:t>Leupers</a:t>
            </a:r>
            <a:r>
              <a:rPr lang="en-US" altLang="zh-TW" sz="1000" dirty="0"/>
              <a:t>, G. </a:t>
            </a:r>
            <a:r>
              <a:rPr lang="en-US" altLang="zh-TW" sz="1000" dirty="0" err="1"/>
              <a:t>Ascheid</a:t>
            </a:r>
            <a:r>
              <a:rPr lang="en-US" altLang="zh-TW" sz="1000" dirty="0"/>
              <a:t>, “A scalable, multi-mode SVD precoding ASIC based on the cyclic Jacobi method”, IEEE TCAS-I, vol. 63, no. 8, pp. 1283-94, Aug.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字方塊 215"/>
              <p:cNvSpPr txBox="1"/>
              <p:nvPr/>
            </p:nvSpPr>
            <p:spPr>
              <a:xfrm>
                <a:off x="56456" y="5914615"/>
                <a:ext cx="5544616" cy="420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2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2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𝑊𝑒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𝑋𝑒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16" name="文字方塊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6" y="5914615"/>
                <a:ext cx="5544616" cy="420628"/>
              </a:xfrm>
              <a:prstGeom prst="rect">
                <a:avLst/>
              </a:prstGeom>
              <a:blipFill>
                <a:blip r:embed="rId2"/>
                <a:stretch>
                  <a:fillRect t="-1449" b="-15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字方塊 216"/>
              <p:cNvSpPr txBox="1"/>
              <p:nvPr/>
            </p:nvSpPr>
            <p:spPr>
              <a:xfrm>
                <a:off x="5732263" y="5914615"/>
                <a:ext cx="4117281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altLang="zh-TW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7" name="文字方塊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263" y="5914615"/>
                <a:ext cx="4117281" cy="414985"/>
              </a:xfrm>
              <a:prstGeom prst="rect">
                <a:avLst/>
              </a:prstGeom>
              <a:blipFill>
                <a:blip r:embed="rId3"/>
                <a:stretch>
                  <a:fillRect l="-1331" b="-1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4"/>
              <p:cNvSpPr txBox="1">
                <a:spLocks/>
              </p:cNvSpPr>
              <p:nvPr/>
            </p:nvSpPr>
            <p:spPr bwMode="auto">
              <a:xfrm>
                <a:off x="776536" y="2326866"/>
                <a:ext cx="8856984" cy="3223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v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Font typeface="Wingdings" panose="05000000000000000000" pitchFamily="2" charset="2"/>
                  <a:buChar char="§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D by using </a:t>
                </a:r>
                <a:r>
                  <a:rPr lang="en-US" altLang="zh-TW" sz="2000" kern="0" dirty="0">
                    <a:solidFill>
                      <a:srgbClr val="3333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vectoring-mode CORDIC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out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by  using </a:t>
                </a:r>
                <a:r>
                  <a:rPr lang="en-US" altLang="zh-TW" sz="2000" kern="0" dirty="0">
                    <a:solidFill>
                      <a:srgbClr val="3333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vectoring-mode CORDIC</a:t>
                </a:r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row elements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column elements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column elements based on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zh-TW" sz="2000" kern="0" dirty="0"/>
              </a:p>
            </p:txBody>
          </p:sp>
        </mc:Choice>
        <mc:Fallback xmlns="">
          <p:sp>
            <p:nvSpPr>
              <p:cNvPr id="61" name="內容版面配置區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536" y="2326866"/>
                <a:ext cx="8856984" cy="3223838"/>
              </a:xfrm>
              <a:prstGeom prst="rect">
                <a:avLst/>
              </a:prstGeom>
              <a:blipFill>
                <a:blip r:embed="rId4"/>
                <a:stretch>
                  <a:fillRect b="-32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73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60512" y="548680"/>
            <a:ext cx="9289032" cy="648072"/>
          </a:xfrm>
        </p:spPr>
        <p:txBody>
          <a:bodyPr/>
          <a:lstStyle/>
          <a:p>
            <a:pPr algn="just"/>
            <a:r>
              <a:rPr lang="en-US" altLang="zh-TW" sz="2400">
                <a:latin typeface="Arial" panose="020B0604020202020204" pitchFamily="34" charset="0"/>
                <a:ea typeface="新細明體" panose="02020500000000000000" pitchFamily="18" charset="-120"/>
              </a:rPr>
              <a:t>The Design of SVD Processor based on Complex Jacobi Algorithm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內容版面配置區 1"/>
          <p:cNvSpPr txBox="1">
            <a:spLocks/>
          </p:cNvSpPr>
          <p:nvPr/>
        </p:nvSpPr>
        <p:spPr bwMode="auto">
          <a:xfrm>
            <a:off x="440978" y="1143002"/>
            <a:ext cx="9408566" cy="5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200" kern="0" dirty="0">
                <a:latin typeface="Arial" panose="020B0604020202020204" pitchFamily="34" charset="0"/>
                <a:cs typeface="Arial" panose="020B0604020202020204" pitchFamily="34" charset="0"/>
              </a:rPr>
              <a:t>The design of SVD processor based on Jacobi algorithm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000" b="1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Step 2: </a:t>
            </a:r>
            <a:r>
              <a:rPr lang="en-US" altLang="zh-TW" sz="2000" kern="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unitary transformation for </a:t>
            </a:r>
            <a:r>
              <a:rPr lang="en-US" altLang="zh-TW" sz="2000" kern="0" dirty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Diagonalization</a:t>
            </a:r>
          </a:p>
          <a:p>
            <a:pPr marL="457200" lvl="1" indent="0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  <a:buNone/>
            </a:pPr>
            <a:endParaRPr lang="en-US" altLang="zh-TW" sz="2000" kern="0" dirty="0">
              <a:solidFill>
                <a:srgbClr val="FF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  <a:buNone/>
            </a:pPr>
            <a:endParaRPr lang="en-US" altLang="zh-TW" sz="2000" kern="0" dirty="0">
              <a:solidFill>
                <a:srgbClr val="3333FF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08784" y="6457890"/>
            <a:ext cx="4896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/>
              <a:t>D. Guenther, R. </a:t>
            </a:r>
            <a:r>
              <a:rPr lang="en-US" altLang="zh-TW" sz="1000" dirty="0" err="1"/>
              <a:t>Leupers</a:t>
            </a:r>
            <a:r>
              <a:rPr lang="en-US" altLang="zh-TW" sz="1000" dirty="0"/>
              <a:t>, G. </a:t>
            </a:r>
            <a:r>
              <a:rPr lang="en-US" altLang="zh-TW" sz="1000" dirty="0" err="1"/>
              <a:t>Ascheid</a:t>
            </a:r>
            <a:r>
              <a:rPr lang="en-US" altLang="zh-TW" sz="1000" dirty="0"/>
              <a:t>, “A scalable, multi-mode SVD precoding ASIC based on the cyclic Jacobi method”, IEEE TCAS-I, vol. 63, no. 8, pp. 1283-94, Aug.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4"/>
              <p:cNvSpPr txBox="1">
                <a:spLocks/>
              </p:cNvSpPr>
              <p:nvPr/>
            </p:nvSpPr>
            <p:spPr bwMode="auto">
              <a:xfrm>
                <a:off x="776536" y="2167353"/>
                <a:ext cx="8856984" cy="3223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v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Font typeface="Wingdings" panose="05000000000000000000" pitchFamily="2" charset="2"/>
                  <a:buChar char="§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5050"/>
                  </a:buClr>
                  <a:buChar char="o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X by using </a:t>
                </a:r>
                <a:r>
                  <a:rPr lang="en-US" altLang="zh-TW" sz="2000" kern="0" dirty="0">
                    <a:solidFill>
                      <a:srgbClr val="3333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vectoring-mode CORDIC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out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𝜁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by using </a:t>
                </a:r>
                <a:r>
                  <a:rPr lang="en-US" altLang="zh-TW" sz="2000" kern="0" dirty="0">
                    <a:solidFill>
                      <a:srgbClr val="3333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vectoring-mode CORDIC</a:t>
                </a:r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row elements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column elements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𝜁</m:t>
                        </m:r>
                      </m:sub>
                    </m:sSub>
                  </m:oMath>
                </a14:m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 sz="2000" i="1" ker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row elements based on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Rotate the first and second row elements based on </a:t>
                </a:r>
                <a14:m>
                  <m:oMath xmlns:m="http://schemas.openxmlformats.org/officeDocument/2006/math">
                    <m:r>
                      <a:rPr lang="zh-TW" altLang="en-US" sz="2000" i="1" ker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altLang="zh-TW" sz="20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內容版面配置區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536" y="2167353"/>
                <a:ext cx="8856984" cy="3223838"/>
              </a:xfrm>
              <a:prstGeom prst="rect">
                <a:avLst/>
              </a:prstGeom>
              <a:blipFill>
                <a:blip r:embed="rId2"/>
                <a:stretch>
                  <a:fillRect b="-196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-15552" y="5949280"/>
                <a:ext cx="5040560" cy="413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zh-TW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52" y="5949280"/>
                <a:ext cx="5040560" cy="413831"/>
              </a:xfrm>
              <a:prstGeom prst="rect">
                <a:avLst/>
              </a:prstGeom>
              <a:blipFill>
                <a:blip r:embed="rId3"/>
                <a:stretch>
                  <a:fillRect t="-1471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171036" y="5949280"/>
                <a:ext cx="4737515" cy="355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func>
                        <m:funcPr>
                          <m:ctrlP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zh-TW" alt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altLang="zh-TW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ctrlPr>
                                <a:rPr lang="en-US" altLang="zh-TW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r>
                                    <a:rPr lang="en-US" altLang="zh-TW" sz="12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∓</m:t>
                                  </m:r>
                                  <m:r>
                                    <a:rPr lang="en-US" altLang="zh-TW" sz="12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036" y="5949280"/>
                <a:ext cx="4737515" cy="355610"/>
              </a:xfrm>
              <a:prstGeom prst="rect">
                <a:avLst/>
              </a:prstGeom>
              <a:blipFill>
                <a:blip r:embed="rId4"/>
                <a:stretch>
                  <a:fillRect l="-1158" t="-6897" b="-17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63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8" descr="data:image/jpeg;base64,/9j/4AAQSkZJRgABAQAAAQABAAD/2wCEAAkGBhQSERQUEhQVFRUUFRgYFBgYGBYaFxcVFRgVFxQXFBUYGyYeFxokHBgYHy8gIycpLCwsFx4xNTAsNSYsLCkBCQoKDgwOGg8PGSkkHBwsLCwpLC0pLS0qKSksKSwsLCwsLC8qLC8sKSwsKSkpLCwpLSwsKSwsLCwsKSksLCwsLP/AABEIANAA8gMBIgACEQEDEQH/xAAcAAABBQEBAQAAAAAAAAAAAAAAAwQFBgcCAQj/xABBEAACAQIDAwoDBQcDBAMAAAABAgMAEQQSIQUGMRMiMkFRYXGBkaEHQrEzcoLB8BQjUpKi0eFDYnMVFhdTssLS/8QAFwEBAQEBAAAAAAAAAAAAAAAAAAECA//EACgRAQEAAgEEAQMDBQAAAAAAAAABAhExAxIhUUEi0fAyscETI2GBof/aAAwDAQACEQMRAD8A3GiiigKKKKAooooCiiigZbY2muHheVtco0HC5OgFVjDfFPDHppInow+oPtUf8UNtdGFT0Rmb7x0UeQufxCqVitpwNhUiSALKDd5b6txvbr100OgtUY35a7hN9cHJwnUfeuv/AMgBUvBi0cXR1YdqkH6V8/7LxKo+Zo+UIHMFyMr3BDWsc1uw6HrpztnbDSSXVeSALEaAOcxuc7KBm14aaCnnel34b5RWC4PfHGRdGeS3YTmHo16msJ8V8UvTEcnitj/SR9Kp3NgorOsJ8YU/1YGHerA+xA+tTeD+JmCfi7J95T9VuKHdFqoqPwm8GHl+znibuzrf0JvT8GjW3tFFFAUUUUBRRRQFFFFAUUUUBRRRQFFFFAUUUUBRRRQFFFFAUlicQI0Z20VQSfAC5pWqh8R9scnAIgdZNW+4v9zb0NEt1GabwbRM0zOeLMSe6/AeQsPKprdjcnlQsk1wrWKINCwPAseoH1P1it2Nl/tOKRW6N80n3F1b10HnWw7Piu97aD6nhaqzjDfD7BigSygL3IAPyufGmkrodHUkd4BqVxz3bwpmy3qNojEbAwcnSij8QCp/ptUXiPh3hn6DSJ4MGHoQT71ZmgFcGEUTSi4v4YuL8nMpPUHUjXvIJ+lQeK3Ixqf6IcdsbqfZsprVgWHWa8M7dYB/XdV2aYpisDLH9pFMn3ke3qBb3pPD7emi+yndbdSuR7A1tbYkda+hphjdnYWbSWJG+8in340Ttiqwb8YmCEM+NEhBIICxSAkoGRQDlk46M3Ad9GC+Ocw+1w8bfcLIffNT3F/DzAydC6H/AGSMv9LXHtULjPhN/wCqd/xqrD1XLWZNfJZ6W3A/G3CN9pHLGfBWHqCD7VZMPv7gnNuXVDppIGjIuLj7QDq1rGP+wsXA4dBh5st7Br2NwRqjix49vGmO24McwAkglVVsSEzOpdVy8o1mYliOunnZ50+j8NjY5BeN0cdqsGHsaWr5OjndDcFkPmp/I1cot9JMPEOTxs8jDMBz2IJspRjFKhCoNV43PdS3RLW/0VhezfjNjgQrLHMSbAFCGJPADIRr5VbY/i6UW+IwwWwGbJKCwJJBXk3CnMCNQCbddLZOSVo9FUzAfFzAS6F3jJ6nQ/VMwqfwW9GFm+zxELHszrm/lJvVXuiUorwGvaKKKKKAooooCiiigKKKKArF9+NqNNiZDYgBsi36lXQad+p861bb23o8JHnkubmwAtcmxPWeGlZBjsYcbirRqAZpAAOIF9OPdxPnT5Yy50tO4GzMkDSkaymw/wCND+bX/kFX7Dpkj14nU1G7NwajKi9CNQB91dBfx/M0+xs3VRs0drkmkjXZrm9BwTXhrqvCKDlhSZFdE14TQJMlN3hFOjXDLQRs2GphLAR0WI8L1MTUylFBFy42ZeDk+OtNn29KvSRW8NPpT+ZaYTRUCUm8UTaSwn0DD0Ipq2B2fL8qqT2qU91r2eEdlM5YgKBeT4dxtz4XcW1BVg1rdfaKr23N2J0UXkMqoDlBJuoJubAk9eulTEOPeFgVbyp9jNriSS2lmHuND+XrRNM+wGOMTFgqk9RN7qQQboQRZuq9d7Q2o0rXOgF8q3Jygm5GY6tr1mld5owkwtpnB9Rx+opvs3AmZwouBYsxClsqqLklV1t/epZP1VnzwkNi7ZmQ2jklRr3ukjKAoGoyjie+vpHZWJzxIWN2yLn+9YZve9fPWy9lBJQASSApa+W1+JClSQRwrbdzImEV2rON3dxcZpZKKKK20KKKKAooooCiio/b+1hhsPJMfkXmjtY6IPUigzH4obfz4jklPNiGX8Z1c/QfhNHw02ZdpMQw0QZE++45x8l0/HVExeLMkpJJYk+ZJOvmTW17t7H5CGKHgVF5P+RudIfLh+EVWMfaewq5Vv1n6DhTeRrmlppP13U2JqNvCa5NemvKDw1y1M8ftmOFlRiWkfoRoM0jDrIUcFHWxso7aaptWV8TLAIHRFS6Yg2MbNzQQF0uQSdL/KeFBJmuSaipNiSN08ZiPCPkoh/RHm/qpB90UPGfG+P7VN/e1BMtXDVBvumw+zxuNTxlEg9JFP1pvLh9pQ6pLDi1HyyJyMh8HTmX8QKCdcU2lWo3Ze90c0hhkR8PiBxik0J7424OPD0qVkWgj50phOlSkophOtBGTUxktT/ECojaUuVCe2gh8TtQcp3D8qax41mxMAXXiW/FqfoKicbLqT2/TifyHnUhuwLcpiH4KDby1NQN99cRfEhR8gF/FtT7WpLAY1kvlC3YAXIBIsQebfhUXLMZZWduLEk+JqUwEV2Hd+hS615Yyvped18IZGzNqztroB3nQd/0rbNlYbJGo7qzvcPZXOX/AGj36/etPUWFTGajb2iiitAooooCiiigKy74xbetkw6nhz38TcIPIXPmK0zFYlY0Z3NlRSzHsCi5r5w3k2s2JxEkjcXYm3YOoeQsPKjGXpLfDjY/LYsOwukA5RuwsDaMfzWPgprZ8OtgT1nT+9VP4d7F5DBoSOfOeUb7p0iH8vO/HVslf20/vRqOXbWk2agmuCaK9NRO9e3hg8JLPYEqAEX+J2NkHhc3PcDUsaqfxO2W8+z5BGCWjZZLDiQl81h1kAk/hoO8Bh/2DBS4qc8piGj5XESHiz25kQ7EBIQKNKoEMk0OzohGzDF7UxOfMpIbIrCxBGozMQfBzWhbvbwQbTwuVsrEplxER4g9Zt/CTqGHsRTmTdOA4iDEc4NhkyRLccmqgMF5tr3F+N+odlBVlxWKwm08NhBi3xKSjNKsqrdE52oca8FJ8uu9NN3dsTTbRxWMAvhFYxszS5UjRACJAnBzlUdWnKVYpNzXOKxeK5YGSeFooeaRyOZQoN7nNYAdnzdtV6LdPGJsjEYTk4w4cMhR8xmGcM4N7WNlAANr2oJj/wAmYXQlMQsJbKJzERFfh0r3t5eVKb0b0PBNhIYAjviX1zXIEdwAwykdpN+xTVOweATERpgw+0oSwCvG6Z4EZRmvrYquYacOIvan2AdP+qTSytlg2bCsIZr6EARA243JMh8xQTW/+zhLhZpCuR8N+8gkDDNzbE2I1W/Z22PVUju3tFsRhIJX6ToM3ewJUnzIv51Vtsbck2rfC4FGEBI5edgQtgb2A8r24mw0AuaumCwKwxJEnRjQKvbYC1z39dBxNTKan8hpjObUEXiEqu7dNzarJL1mq5tpcsTSHr0HnQUjaL3J9B+f5DyqY2seQwSRfNJx8Bq3vYVH7MwnK4hF4gG58tT711vhjBJiMq8Ixk8xq3vp5UgjcBCT4mrnsnd90aMtazc7Q36NrA+ZHpVVwYsRWr7v7IdigtwC37tBpWMpbZGcefK+7mbPyR3PXVmpts/D5EA7BTmttCiiigKKKKAooooKJ8WtvclhRCp50x1/41sT6mw9ayzdjY37ViY4zezNdz2RrzpD6AjxIp9v/t39qxkjA3RTkj+6txceJu3nVq+GOyMsbztxkPJx/cQ3kI8WsPwGq5T6str5CtgTa1tABwHUoHgPpSUj0rK9gO7U+J4e1MOVqOpbPQDSAlqK2/vCcPySRx8rPOxWGO4UGwuzu3yoo4n9AJ4mi9V3CY3aCyIJoMO8bEBmhdw0YPzMsg54HdrU/moKRvD8MkeTl8FIcLNe/NuELHiRl50ZPdcd1Rf/AFrbWE0mgGKQfMozEj70Vj/MtaWTXhNBm6fGVV0nwkqHrsw+jqppb/zNhDxjn9I//wB1fpEB4i47Dr9abPs2E68lF5on9qCiTfGaA6JBM56rsg+hb6VM7uYkY6GWSfCJGryKMrC5k5MAh5MyjNYmw06jVkSFV6KqvgAPoK9ZqBFIwoCqoUDgALAeAGgrlq7NIyGgRlWmGJNP3WmE1BG4hDa3WTUHvpYCOMfKudvovverNh480o7F9KpO8GM5RpHHztZPurzU9agY7AQQxTYhhwBC95HAeZqpoS7knUk3PieNWjemXkcNFAOJ5zeA4e59qjN19mCRjmGYBSbXYZmOiKCqnnEnQG1+2luptL5PN2sFymIUHorzm8F1/wAedbduKSSSRWa7u7KEQlsSSXyAlcpsvT5p4a6eVbDuhgMkQPbWcb3W0k1FhoooraiiiigKKKKAqt7/AO3f2XBSEGzyfu07bsDmI8FufG1WSsW+LO3uVxXIqbrAMvdnNi58tF8jRjO6im4LDNLKqoLu7BUH+5iAPrW77K2esSJEnQiUKD226TeZufOs7+GGyM8rTkaQiy/8sgI9lufEitRjWyk/rv8A13VTCeDPGyaeJvTHN30ti3uTTM1GywfWq3sx+V2viWbjhoI44l67S8+Rx52F+8VPLUdtPdqDEOJHUiRRYSI7xvbszIQSPG9ApvftiSCFVhty88iQw31AZzq5HXlAJ9KhNu4B8EsEsOJxMkz4iKMrJIXSbOeeDGdF0uRbhUljd1laKJIpJI3gl5WKRmMrCTUHNyh56kaWv2VzHsKdpFnxEyzyQqxw6KnJRLIRYOwzMWbgL9VADa2LxGIxK4RsOsWHdY7ypIxeS15ACjCwU2HCuo97ZXzCHCviDEckzxuiR8qoHKLDyhzSWPhS272yJMNgeTuDiCsju19DPJma9+sZrC/dVS3efDQwRxvPjsLiQLSovL6yX5xEZR0a56wNaC4tt4T4Fp8PnBYERiwziXNkCsCGGj2B46XNMZNs4mN2UKs6cokMcjZUvLnVZcwXiOcQAq/6bEmpjYWxlwkCQoSQuY5mtmYsxZi1uu5p40YNrgGxuO42IuOw2J9TQJ43ECNHezMEVmsouxygmyr1k9lROI3qgjjiectDyq5lDq114GzlQVU6jiaa714p2kwuFidkeeYM7ISGWCHnyEEai+g9ak9tbYjw0TSSmw4BRqzseiiL8zHsoOcHtqGb7GaOTuR1Y+YBuKWaq/sHYLGY4zEIsczraONQAIYz1MQOdIesnwqwMKBGVqYTHrp5OKjcaeCjrNA0x+JMeGdh0peYvi+nsLn0qpRYbPOi/Kmvkug99am95MVeRIxwiW5+++i+gsfOoUz8jh5pusjKnjwHvrUFT3lxvLYlyOAOVfBdPrc+dWfYOE5HDZ2U3a8lirWKjmRAq7BJFLEm4BIIFVHZWCMsqqoJLMFFuOulXjawAVYkC85gosEGicxbrdnja+YkZrHjauXVvjRE9utg8/JKOA+pNyfWtiwUOVAO6qHuFsvUG2igAeVaGK6YzU0CiiitAooooCiiigj94NrDDYaWY/IpIHax0QeZIr50lkMjs7kkklmPaSbn1NaV8Y9vfZ4ZTw/eSeJuEB8rnzFVPcDYn7RjEzC6R/vZOyyEZV83KjwvSOOX1ZaaZursf9mwscZHPIzyf8kliR5DKv4am8e2RcvYPf8AV67wy6lm4LqfGovGYrOxPVR2NnNIMKVak3FAleu1ek8teFu+gcBqVDUzBpVHoHQroN+uqkEeu1NB2TXlq8oNBFrsS2MbFM2b9yIo1tYIMxZyDfUsbdQpjhNhu+IOJxZVmQkYaNSTHCv8WoGaQ9bW06uq1gJrhhQctST11SUj0DeY61Cy4wcoWPRQH/NSG0cTlQtVB2vtU5CoOrm3l1/nQevijIWfrkYnwvog8hUZvricqxQL1DM3idF/+xqQ2KudwflQXPpp7VVtoYrl8Q79RbT7o0X2A9aCd3L2dzmkIHMWwzCMrnkOVMyvxXibgEi16moV5XFaarEAqahtBzUswAuLZiNOuldjxiDCqwNjYvcMNGcZEysi5lYLmJVmAN6kNx9nF2BI6bZj4cF9h71w/VmvDUN1cDycQ76nKSw0WVQO6la7oKKKKAooooCksTiFjRnY2VFLMewAXNK1V9+MVmRMMt/3xLS2XMVgis0hKggkE5Rx6zUt0lYrvHtc4jEyStxdifAfKvkLDyrR/hdhAuEaX5ppDc/7I+ao9c586oG+cUSzjkwFZlzSBDHyQzdARBCcvNsSCSbmrr8K9qq2HaAnnxuWA7UfW48GzA+Iqy7jMmqs+0dtZW5NrqurX/i4Xt4frjUUdvRk2U+9Lb+bsnGYRljJWRGzoRprazDwI+lYsZsRA2UyMpHU4v7m9RttCY4HgaU5YVk+D30nTpJHIO4kH6n6VL4b4ipwkidfDKw/I0F/L1wx86rOH37wrf6mU/7lK+5FvepTD7WjfoOreBB+hqiTFKq1RoxffXa44UEmjUpUemNFLx4sdRoHQovSQnFdB6DsmkyaGauGag8dqbTHSlXamsslBWd7ceFXKKz/ABuIzN3AfX/H1qY3q2hmlsD4+HX7XqDwUJlkVf4217hxPtpUE0xMOAdzo0mg/Fpp4LeoPd3A8pIoNhmYAkmwA67mxtp10/32xl3SBeEYufvN/YW9amdxMARmdSQ1siZS+a79IqFHPstyRcaVMrqbObpJ7wylgkYzfvCOJe4Tope4CsAoJDAdfre9w9m/NbQcPKqDhhy2JZgOauigZrC+gsGJI5oGl9L1se7eC5OEVjpTU2tS9FFFdUFFFFAUUUUBWG7+7WllnOKS4iEpihbiP3NjwPEEknXQ3I6jWu70ySLg5zF0xG1u23zEd4FyO8VjWI3uzYI4KSGMqo5jAsrq4JIc9IE3JvwuCRXPLOY3VSy1VcfjXmkaSQ3dzmY2AuT3AWFGDx8kLh4mKOvRI/Wo7qmN3YoLSjEqhuEyE8pfRxmVWTSO44sQbAaA17vTszDxqjYdlOaSUMBLnFlbmZVKhlUDS7cfc6mc3qM/5TWzPjaUsuKguRxaMgX78jaejVMLv3sjFfa8wn/2Rkf1Lce9ZPJCG401fZo6tK3pe5sv/ZmzMTrBLGSeHJyKT6A3qOxvwjYfZTHwYVkrYBhwN/Hj61IYTeHGQD91PMttdJGy6f7Tce1TS7WTbG4GJhVnZUZVBJa9rAcST1VRpnUE2uCD1N/j86lNp784rER5JppHF9QcoU9hYKBmIqvVFS2F2/iE6E8luwkkehuKl8Hv3igQGKOPCx/pP5VUbV0shHWaDR49+7auh8m/I2+tPYt94iAcxW/8QI9/81mAxzWt+vaunxlwARw8/wC1BsGE3oDdF1bwN6fJvIOvWsQicZha416uOvZf+9WLDSMo5srfiv8A5oNVj3iU04j2yh4GsvTHyjrDedLxbaYdIEUGnNjgRxpri5uYx7AfpVOwu8wA1YeHD61xtTeJ2jKoDztL2017+FUVTaWJzSv4keXX7aedTO6eHF5Jm4IDr7sfSofbOynwz5ZNSVBuOGupsevqHlU1j2/ZtmhL8+Y2PbY6t7aedSCtNMZp2c/M1/7Vo+Hg5DCC40y3NxIV5SQdYYqEdYxowBvmqlbp7N5SVQeF7sbMQFXViQmtvDtq5bfOd447WLnM1xqFbWwcsWZQoAF7WvXLq3iESm4+zSzKSNWOY+fD2tWwQx2UCqbuLs6wzkVda6yamgUUUVQUUUUBRRRQcSi4NqzPeHdp3kYlAwPaL1p9ctGDxFBh827YXjHbwvSJ2WnWprbpdmxtxUVH4jdaJuqud6ePpd1jj7Agbjdaay7nqehKPA1rGJ3EQ9GonFbiuOGtOyzi1NT0y+fdKZeADeB/vUZPsyRekhHlWnzbuTJwB8qYYjBScGB9Kf3J6v8AxO2KtsbdGHEwgkOJS8i2Uw6lUzoFQsGA01cmw4d4TxPw04ZJlGbJYyB4hZ0LZyXUgJcFQSeceAqYn2Tfs8xXEYniIMbuLFSAGNrp0Oa2ht1aVyuXUl4/lvSoz7h4lQGCFgQh5tm+1JEYOQmxNuHHhUPiNkyIbMhBuRqLG4NiLHsOlaGNtTJbOgbLazFLMLPnJEiWIckkF731NLf92KylWRug62DBk5zh0TLKpyoLagG7dZ4WTre/sdtZY8JHEEVwVrVp3wUxa4jFzLYtG8Z5ygq7GElTZgVVAOu514t33LwszfuywuygBHilIzRZgoF0ZnzA3PRUdfZ0nVnymmebHxYhxEMrKHEcqOVPBgjBiD6VqkW9ey5umhjv/HGbfzJcVVp/h4dMkq84R2zh4757hiC4tkUixe9idB1XjJdyMQozhCy5c+ZLNzSxRWOUmwJ4X41qZ435Ty0WPdvAT6wyr+FwfakMR8PGH2cvkazObZ8iGzXBBtZhqCOI11BFO8JtvFQ9CWQeDkj+Vrj2rabWvF7mYhb81XHdxprDhykbJJEym4Ive16b4X4lYtdHyv8AeTX1Uj6U4xPxFkdejED92Q+xsPeouzjbzJieRNrCNRyjHQWHVrVc3h2hy0gA6Kiyju01Pj2dgHbTXHbSlnbnMxHULAAeCDQeJvSuEwetz/m/5mkiWrduVs20bOQedzF5rXsOdIUa4QkAaqx17Kd7NTlsQ7gAC9lAUKNdTzRoNLClZkGHwuUr0Vym6Wu7gO+ZZGuGC5QGUC9/SX3D2USUvx6TfebU/rurjj9WW2uGl7BwfJxKO6pKuY1sAK6rugooooCiiigKKKKAooooCiiigKLUUUHDRA8RTeXZkbcVFO6KCExG6sTdVRWK3EU9E1cKKDOcTuM46NQuN3Qf5owfIVsFq4aIHiKlmxhOJ3VUfIy+BP53phLu6R0XP4h+db7LsuNuKio7EbpxN1WrF6WHprurEUhxUXQc25ugc25hzIMraWB1ta1D7ZnW/KICTm5zR2bM7By+dbXcEaE3t1VrOK3DU9E1EYnceQcKxej6puelHG9CMCGRgDyuiuGAEoF1HKqbEsLs976m3ZXWfCStzliBLre8bxDWPK3OiYhY1YA2tdjxI41O4zdBvmjB8tfWott3QhvkI9be9Z/p5zj7fddxHpuvh5AMjMNIr5WSS2dirFk5rZibWQAkdfZTPFbllfmW+ujqyHMHyFQSMpI0JINh29dWD9mj+eIHv666GHQAhHljuCpAYkZWN2FjfQnj207upOZf3TtipYvYbwi7BbFmUMrKwYpo1iDqO+kVFW3aOzWmBBkRiWzXyKGJyhQMwHCw4VGJsExtd1zrY6BiNbaG4HUda6Y9bHXm+fz255YXfH5/olHiHm5JHsecSTYZioIZs7cW1sNa17cfZ9lzHrrMd28BmlJ7LIvgNWPqfatv2PhckSjurWGuZ8tfHk+ooorYKKKKAooooCiiigKKKKAooooCiiigKKKKAooooCiiigKKKKAry1e0UHDQg8RTabZUbcVFPKKCCxO6UTdVRWK3DU9E1cqKDNsTuPIOGtRmI3emXqNq1u1ctCDxAqWb5Gbbo7EIl1WwBv5nU1paLYUnHhlXgAKVq8AooooCiiigKKKKAooooP/Z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0" name="AutoShape 10" descr="data:image/jpeg;base64,/9j/4AAQSkZJRgABAQAAAQABAAD/2wCEAAkGBhQSEBQQEhQWFRUUGBoVFRgWFBUYGhsWFxcYGBoWFRgXHCYeGhkjGhgXHy8gIycpLCwsHB4xNTAqNSYrLCkBCQoKDgwOGg8PGiwlHyQpLC4sLCwsLCwtLC8tLCwpLCwsKSwsLCksLyksLiwsKSwpKiwpKSktNCwsLCksLCwsLP/AABEIAMsA+AMBIgACEQEDEQH/xAAcAAEAAgIDAQAAAAAAAAAAAAAABgcEBQECAwj/xABFEAACAQMCAggDBgQDBwIHAAABAgMABBESIQUxBgcTIkFRcYEyYZEUI0JygqFSYpKxU3PBM0NjotHh8IPxFRYkdJOzwv/EABkBAQADAQEAAAAAAAAAAAAAAAABAgMEBf/EAC4RAAIBAwIEBAUFAQAAAAAAAAABAgMRIRIxBEFR8BNxkaEiMoGx0UJhweHxI//aAAwDAQACEQMRAD8AvGlKUApSlAKUpQClKj3G+n1la5Ekylh+BO+30Gw9yKFZTjH5mSGuksoUFmIAHMkgAepNVBxzrvkbK2sIQfxyd5vUKNh75qA8W6TXN0czzO/yJ7o9FGwqyic0uKX6UXhxvrTsrfIVzM48Itxn5udvpmtv0V6SJewmVMd12RgpJGQdiCQCQVIO4FfMxarB6nOkPY3ZtmPcnGB/mLuv1GR7ipcbGUOIlrWp4LxpSlUPQFKUoBSlKAUpSgFKUoBSlKAUpSgFKUoBSlKAUpSgFKVj3vEI4V1yusa+bsFH70IbSV2ZFKr7jnXNaRZWANO3mO6n9R3PsKr7jnWtfXGVVxAh8Itj7ue9UpNnPLiYrbPfexd/F+kltajM8yR/InvH0Ubn6VAOOdeEa5W0hLn+OTur7KNz9RVQSyFiWYlidyScn966Zq6gcsuInL9u+v8AhIeN9Pb27yJJmCn8CdxfcDn75qPmuKVdRSOdvmck11zXNcUCZzXvZ3TRusinDKQyn5g5BrY9Jre1SRBZyF10jWDqyG2I7xAByrAEDkyt8q04qN0WlGzsz6j6PcXW6torhf8AeKCR5NyYezAitjVS9SHSLaWyc/8AFj/YOB+x+tW1WJ6dGeqGdxSlKGwpSlAKUpQClKUApSlAKUpQClKUApSlAKUpQEJ60uOXVrbpLbMEVm0SNpyy55EZ8Nj4eVUt0juS9w//ANS10BjEp1DOQCcKxyMHIr6M6ScHF1ay27fjUgfJhup+oFfMU0JR2jYYZSQR8wcEVMVk87iFaWfoeZriuTXWtzlO1DWXwi2SSeKOV9CO6qz7d0McZ32xvz8K3KXNnbvdRFBco4CwupUsuchhrOACMk6gNyi42NVcrF4wvlvBq+E8DknkWMdzUpcF8gFRtldu9vttW94d0ct4ppo7xx92FdWL9mjI34uec52xnw8c1q7jpNcyiADSrQKER1B1k6AhJJONwF2xzAPnWXZdCrqf72XKqNzJcOVH1fvY9BiuecZyur2VuW9ztpeHFJqN3fnta2xoLxFEjBGDoCdLDO652O4zyrwarQ6P9BLM7mZLhl+IRuukeuklse4qPdYnAFguFaNQscq5UAYAdMBl9xpb3at7mL4ZrJo4ejszQG4CjQFLDJ3KjYlR8vataKlPRKcyI0LTNGkYL4XQCyse8C7g4UeQHjuaj/ELZY5XRHV0B7rKwYFeYORtnBFZU5tzlCXLbyFWlFU41I88PzRldG+MtaXcVwv4GBI815MPcZr6dtrhZEWRTlWAZT5gjIP0r5XSEFMk49T41dvU50h7eyNux79ucD/Lbdfocj6VaW5PDztKz5lgUpSqnoClKUApSlAKUrAvONwxHSzgvz0L3m5gZKjcDJAycDcUbsQ5JbmfXDMAMk4A86refrhjeXsol7NMMTLLjbSpIwgO5JAHPx5HlUNuek97cXLSqJrmFGcIoRjGQQyqSEQA7EHcD2qrfJHO+IX6c9+vsWvxPrBtIW7MSCWTfuxlTyBJy5IQbDzzW+tLpZY1kQ5V1DKfkRkV8w8UuXknkklBV3YswIYYJOeTZOPWr36vXMdutqz69Kh0YA4KtgsFyNwpIIzvpdcgcqN2aT5lKVaUp527sS2lKVY7BSlKAUpSgFUJ1wcA+z33bKMJcDX+sbOPrg+9X3UO61Oj/wBp4e5UZeH71fQfEP6d/aiOfiI3hfp2z58zXGa4WucV0I8tip10S6AR3EQnkkOMlSijBBU4IYty8DsDsRUNk4ZIsSzsjCNzpViNid+X9Lb/ACPlVgdXHFt+zPKQY/8AViH/APUWP/xmoeTp4dJP4iVW3B4LVR2MSBydKFj3mbBONbZPIFjjwBwKwLziltGxedvtDqjvrAV0UxlQ0aLqKRMNafFg4YZY169JmwQWcRKygRyOSI0nSVZFWU+COBp32OCOZAOmEHD4AqvOsrABEigOtmVTIqqUiyXzDIImzgMFGcVQ9BHq3ETNKCEYSiaBrbKBWELPomUldmjAjmy2SrK8Z8q2vTnhH2izcKMyRffR+ZKA5X9Sal9xXnwO0mLrIU+ywLqMduCDI7OMGS5bffxCAk5AJOwqQ5oQyhLKVY5kZgGjyCQRkFTg5I8cbHB8hW96WQNKi3CwtGidzUxUFkY5Q6B3lGcjJ8xsK8emHADBLJgdxXynlolBdV/SQ6+gXzrAn6STNCsGoBAuhhpBLActROcY25Y5VlKDcoyjy38jn1RhGdOWzyvM1oqUdW/SD7JfxsTiOT7t/LDcifQ4NRYV2+flW8ldHAnnB9Z0qM9XnSD7XYRuTl0HZyfmXx9xg/WpI7gDJOAOZNYnsQmpRUjtSopxzrNsrbI7TtXH4Yu99W+EfWq9471z3EmVgVYFOwJ7z/U7fQVNjKXEwWFny7sXNdXyRDVI6qPDJAz8h5n0qDcb64raLKwK07efwp9TufpUL6OWPFZ3eZUbMqhe2umdQBnOUUnU3spHlipBwfqggjwbqVpm/gTMae+O+31HpVb5dyH4s0rY775Go431gz3cKRwSP28hy0Vur91e+NOy6ifgPMj+w56L9X/ENTSO4tQ4wxbS8uMg7KM6eX8QNWbw7h8UCdnBEkS+SKFz643PqayTvVbYsyyoRvqe5F+EdXNlb4JQzuPGTDD2Qd0e+aksch2AAVRyA/0HIV301waG0YqOEjXdKui0N5H2coGSPu5Md5G8wfLPNeRH1qn+jXHpbHiEYmJ+5Jt3U+EYYgqPkCSR7VfWNUfzWqd62+BaLiO8Ud2buufKRBsf1Jj+k1eJycVB6dUd+/sXajAgEbg7g/Kua0PQebVYW+ZBIQgBI8MclPzAwPat9Q6ac9cFLqhSlKFxSlKAV1dAQQdwdiPkfCu1KA+Y+mXAzZ30sH4Q2U/I26/tWnq6ut7gUZEV7JGzqgMUgRtJ7wPZtnB2Df6VSpWtIPkeNUholpJbwvh1xc2AiEw7JS+iMIGJYENhmO675Ixy1N54rU9GL1km0rsxw6A/4se6g/mGpD+avXoxPEWaK4ciLBcAuVQuoHxgEatuQO3yNYnGoxHcCWEMsb4khJR0G3PRrAJUHkfmKzhJxqOL81+Dsai6cKkd1h59y7ra4WWNXXdJFDDO/dYZwR/pWLcwCJcwrHHnZiqomxGMjbGx3354qtG6y5407OCKNVxkFtWQzbsAAcadWSOXP5VG+JcUnuTmeZ3B/CDpX+kc/etWbqSsWJxPpxawvqaXtZFIwsOW3GMgliQucDOCPEcqjvFOs67lyIVWBfP43/fYfQ1FEiCjYAV2D1GSsqiR6yXkjKweRn1trYsc5fGMn22ryFcE1yTV0jzqs9bwbvj/AByKeO3RIBE0KBWZSAGOBq7oHLUNQJOcs3yrWR2rHG2AfE7D2zz9q9eDgM7J+J1IjPk43AHrgr7ivTiNxCVhMIlEqr9+zsCDICMGPG4HPn8vWs3Kz0oo3Kbu2iScL49ccFLxLoZ5lViDkquCwBGDudjy2wRzrHe+4lxRucsq55L3Yx68kFb7q76IpcKb+7zLqY9mrksCQe9I+fi72QAdtiTnarKjk2CqAoGwAHL0A2FZptb7nbDhtSy3bp3j2K24T1OscNdThB4pEAT6GRth7A+tTjg3RS0tMGCFdf8AiN33/rbJHtitoF869AKhts7YU4w2RyWJ512Va4BrW8c6QxWiBpSSznTFGg1SSP8AwRoNyfnyHiagubUVqeLdLrO1OJ7mKNv4S4Lf0Llv2rSHhF7fb3crWcB5W9u/3pH/AB5/D8qbVuOE9ELO2H3NvGp/iKh3PzLvls+9SDUjrY4bnH2gj5mGYD66KkfDuKxXCdpBIkqcsowO/kfEH5HBrXcR6RQLdJw50LSTRs6B0XsmwGwupvE6WGMHl8xUN6TcEbhuji9mghKlRd26tmNkY42A2G5A22BIIxg5AtO2lwa1PTDgAurWW2/Ew1RHykXdf3yvoTWVaXayRpKhysiq6n+VgGH7Gs1+8mfEURVq6sykOrLpCbW+VHJCSfdOD4EnYnyw2P3q/qpTpZ0bij4srSAiK7yylWC6ZtgwyRjdsHf/ABM+GKtbo5fGSEBjl4z2bHxOACrH1UqfUkbYxUuacrHJw8XTbi9r9+q/k2tKUqTsFKUoBSlKAwOOcLW5t5bduUilfQ+B9jg18xX9q0cjxsMMhKkfMHFfVlUh1wdHxFeC4GyzjJ/ONm/0PvVo7nncbG1qn0ffe5XRFbLi/SSa5ihil0lYFCqQveOFC5Zid8qFGOXdFa40aI6dWDgnAONs+Wa1aXM5lJpOx0xQUFcgVNiPEkla5sh0bm7D7QwATAbc5bQTjUFHgOeCQcVubrg9ratBI7dqutTKjMuXibmyIMHby3rRnjs/ZLAshVFDDAAyQx3DE5OPDAxWuK758fPx22G/pXPoqN5fP1R1+LSUcK7aW/Jmbxq5ikneSBDHGxyqEKMeYAUkAZyQPDOPCsEmuRW94L0GvLvHZREKfxN3R9TWkqkYLLOWzlIj4mKkMDgggg+RG4P1rY8T0sVmT4Jh2gx4HJDr7OGH0qzuCdQ6bNdylvNU2H1NZHWR1fQw8PV7WPT2DZYDfKvgEn5ggfvWHiOUk0sd/U1lQcY6uh7dXF6JOFxBD3oiyOPJg5YfVWU1J4JN/Xcf9Kqfqo4z2V21sx7twO75domSPquoewq1AMNjy3HpUyVmehRlqgmZ612FeamvQVBsY/ErtoomdI2lcYCIvNmYhQCTsq5Iyx2AyfCsDgvR/s3N1OwlunGGkx3UX/BtwfgiH1bm3PA0PHOkIQwcTNxNHaxySQtEketZmDvGHOCAqkK5y2eS4Gefl0i6UXh4hHw21MEImQSRzyan1KVJOgY0g91gAQc4G4zUg3/HOmEVpcW9vMGUXGrEpKiNdPg5JznJX5DUDmsfj/TmOAQLAjXct0NUCRMMMg/GWwcL7eB5YJqC8XNxeW97w27YSXdiftMDhQpkiA7+AAAcowYbeK55V14u32m2sOIWJ0SQRGOeG1KrKkZbEjxIu4Gpn3xykU+dAZHS3jxvIe3WJ7a/4XIsrxPueyLLqZTgalDdmx25eYbNSDp70lik4G04IxdIixjx1MwZh6qFfP5a1vQ5YJbnTa2EzQvG6XV1eF+0IcYKKSSDnkQMZznYLvtbHoTa24trK4m7bTcPPZo4AbZNTxtgnWgIDnZQSB54oCRdFrJorG1ifZkhjVh5HQMj25e1bq3ff1rxJoDUEEf6wOAm4s5FXPaQ/fREc8qMkD5lc+4WsXoN0g7Tsps7TARSctpVzpO38xI9JE5AAmYS7gMOY/8AP71WEVp9k4jNZ7iK5HbQYxsdzhc+IIbAHjGnjgilTZTXLtnPUVnddvl+PqXBSsLg1/20KucavhcDwddmx8sjI+RBrNrbc3i9SuhSlKEilKUAqLdZHAvtNhIAO/F96n6fiH9OfoKlNcEZ2oZ1IKpBxfM+UJVwa7C6PZmLYgsG8cggY23xv8/KpF046MvbXc6qjdkrBgwUkBXyVDHkPEexqOw2rOdKqWPkBmtbpnix1RWcHgBTNTXgfVZd3GCy9kp8X/6VYXAup+2hw0xMrfPYVm6y/TnvrsbQoznsvXHfoUrw/g807BYo2YnyFTrgfUtPJhrhxGPIbmrjt7OKBO4qRqBudgAPmaivHutqxt8qrmdx+GLcZ+bnu/Qms25y3dvL8/0dK4eEM1H/AB/f2MrgfVpZ22CI9bD8T7/tW9v+KwWqappEiUctRC+yjmfQVSfHeue8nysAW3U/w958fnYYHsBUJurqSVjJI7Ox5szFj7kmoUUspE+PGCtTR9U2N8k0ayxMHRxlWU5BH/vtXeeBXUowBVhggjIIPgaq7qP6Qao5bJjuh7WPP8JwHA9Gwf1GrVq+6ydVOfiRufN/TqMQcSl7BTEYnBT5MuCGHyJ3Hyq3OFcUW5tobteUigsPJuTL7MCKi3XZ0fw0d6o2b7uT1G6k+2R7CsDqi4z/ALaxY/8AGi/YOo/5W+tLYOTh34c3TZZcR2r1YnBxzxt6+H71i27eHlt/0/8APlWSpqp6BCui/DVvuj8dscZaJoyT+GVJGIJ9HANRiC3uLrh0DRo32/hM6x6Md8pkaRg+WFHojedb27vH4NdSyGNn4fdP2hKDJgmb4tuWk+W2RjByuDIbfrE4e66hdxD5OWQ+6sAakHW76LNLf2vElbsHjj0zRldRZSP9mSDjYM6k78lxnFZvCuiFpbTNPBAscjZBYFtgdyFBOFGQNgBWl4l1tcPiHdkaY+USMf8AmfSv71F5enPE+Jkx8PgMMZ2MgOSB/NMwCJ+nveRoCZ9M+sGCwUqx7WfHdiB3HkZD+Bf3PgPERPoT0bur67Xi98zKFIeFd1LY+HSv4IRnYc2+YJJ2nRPqnigYT3bC4mzqwcmNW55OreRvm23y8an4FQQK4rCu+OwRSLFJIFZtPg5ADtpQyMoKxhm2BYgE8qweHdJGkaIvFoiuGdIH7TUxeMv3JU0js2YRuQAW+Eg4OKAkdseanxqG9ZfCGa3W5j/2tm3aA4/BkahvzAIVvQN51L4mwc17XsIYbjKsCrA8iCMEH1GRUorOOpWI10L4wHKsPguVDDltIo3G3iVBX1iPiSBM6p3gMT2tzPw7PeiftrdiBuuzA5JG2NBPyMm4GQbasLwSxrIuwYZweYPip+YOQfmKpTxeHT7GVKXJ99ffP1MilKVqbilKUApSsXiHFIoF1zSJGvm7BfpnmfShDdsswuLdHhPIJO0kjOnQ/ZkDWucgE8xgluXma7cK6MW1sMRRKD54yfqahnHuuy2jytsjTt/Ee4n1I1H6D1quePdZl9dZBlMSH8EOUHoWB1H3NZOEb3sckqtKLuld994Ly4501s7PInmUMPwL3n/pXce+Krnj3XmxytnCFHg8259QinA9yfSqsERP/evVLYeO9bKMmUdSrPbCMzjHSa6uzm4meTfZc4UeiLhR9K162xPPasoLilaKmluVVNbvJ5pCBXcqP+9c5rir2RolYy+iXHTZ3sVx4I2HHmjbOP6SfcCvp6OQMAwOQRkEeIPIivk64XBz5/3q/OqPpB9p4esbHL257I+ejnGf6e7+k1zWs7Cg9M3AkXSfgou7SW3P417p8nG6n64r5x4ffPZ3aTYIaF+8PMDZ191yK+o6orrb6OdjemZRhLgavlrGzD+x96lbleKWhqovL8FliVWCyocq4BB8wwyD/astDUG6rOL9tZtase/bnA/y2yV+h1L7CpnA+1UeDthLUk0ZLKCCCAQdiCMgg+BB5io5ddW/D5DqNqgJ56GkjH0RgP2qRA1r+Lcfitw+s4ZYnmVSCusRqzFY2I0s/d+EEkAg4xQuYdj0AsIjqS1iyPFw0n/7C1b9FwAoGANgAMAfIDwrQ3/S1IpOyMbFh2asQ0YAlmAKRgFg78xkqpCg5PI40UnF5pja9s4kimVZ3WASxHQSsMkcmly5EUs0LZyMhZQw7ooQSiHjgmFwkAzLDqAEgwpcBgvI50lhjwNaJpmu4oomZ2lZhPouYJbWGSMLpkhwqksqaw2G1EkDcrykHAbeSOIxy7sjsgkJBMsan7uRyNy2gqpJ31K3nXZuDK03bSM8hAYIj6OzQONL6VVRkldsuWOCR4mgI1BIzSXIMCzRFBZXCWpXSdMeqJoxIygAJM8Trq7hVDyzjO4V0YmWOFZZl0h4rmVAmpvtKaXcRy6gBG8oLnuk5Z8EBtpJBAqKERVVRyVVCqPQAYFeooDisyE6lK+PhWJmvJuIJGQWYKPmcUBDesmxMZg4lGMtbsElHnEx2z6Elf1jyqS9D+IA5jByjjtojjAw2NQGNvFX/W3MDJ79LEU2l1r+AwyE5/yyfrqx71XfV1xomIKBmS2bWoA3aNicr+7r6snM6QKz+Fqfqcs/hnjz9N/Ve6LppXSGUModTkMAQfMEZBpWp1HelKUAr5v6x4ZU4lcLMxY6tSE/4bbqB5AAgbeRr6QqquvLgGqOK9Uboeyk/K2Sh9m1D9QqrRy8VG8L9Co4os+dewQDkK9rA6oXX8SHV+k8/pXmBXRFK1zGmla6AWuQKVuOGWkiJ28entCyxxjvdonaY0zLkaQCe4rk7E5G4BFzRHP/AMNit97vU0nhbxtpI/8AuJMHs/yKC3npr1tulUwdUt+xtFYhcxxKMAnGXkYNIccyc1uOCdCdEw+2dk8bN9nlCS6pIJZgeyeTTsDqwNyd23ra8D6PQCFgLbtyJ5oJ4zGJJlwxEQ7XUqwKFwxkxuao2i6TMNWae7PCr/EsjF0Wbs1V45AC0bI64LxsuCQw8ar50IJB5gkH1G1TqXpJCk0d4Qz3NvBJAwHeXtkPZQzvIO66lGbJB5hdtxUEJzUoiR0mTK/vUq6pekP2biCIx7lwOyby1E5Q/wBW36jUYrFOVfIOCNwfL0rOouZhPFpLkfWtRXrI4D9psXwMvF94nnt8Q9xn6Cth0O48LyyhuPxMuH+Ui7MPqM+hFbkjO1ZnZOKqwa6o+c+g3F/svEI2Jwkv3T+Xe+E+zgfU1csg0ufnvVOdPuj/ANlvJYgCATrjP8rbjB+XL2q0ejvFPtVlFNnLhRq/MAMn3/vmplnJy8FNuLg90bqNsitf0m4X9ptWg0hg7Rgg42USoXYE8mCa8Eb55b1kW8m+PPlWWKzO80X/AMqfeNK1xLqK9lrXQsrQgkiOWXSWJBZgJE0Pg4JJ3rb23Doo3d440R5Dl2VFVmPmzAZbx51kVxmgOwrsKweJcdgt8dtIqE8l3Ln8qLlm9hUB6Q9dkUWVgQZ/ik3PtEhz/W6H5VNgWbitTP0ngGQjiVgcYiw+48CR3R9ao7pb06uri3juM5ikJTBYlVdf4ogAmTuRnXy51hdBOtCWwldpE+0JJjus2CpB+JDg458gMHapsQX0sl3P8CrAh8W7z+3gPoax72KysiJr24BkG47Rst+mMZb6Cq5brC4rxIsLdGt4vAxqB4gd6Zz3ea+XOu1j1c6pNd1IWkbcpGGdzueZILeHMKeZ3zgGspwjuzKVS3eDI6ddZn21DbWyssLEamYYaTByFC/hTODvuduQ5w17aWEjUrxsQGXIZSRnYjx5irm4H0F0AdlCkG3xyd6TdcHYEnxP4gP5cHSJNbdE4QQ0g7VgSQZMEAnGSqgaQdhvjOwyTURrSfyxx33zOaVGdTPP0X59jWdWd+72SxybmLAVsNgow1AAsBkrkqfLFc1LFUDYbUrRX5nXThoio32OaUpUmgrX9IOELdWsts3KRCufI81b2YA+1bClCGrqzPlW2JguCkgwVYxyD30kH0Ne1xFoYr5H9vD9qlXXJ0f7C+7dRhLkav8A1FwHHv3W/UajLydpEkviO43qOR9xWlJ4sedD4W4Mxmqb/bY4bh4ZmK2t5ZwhWAJC6YU7OQBdyUkVhtuDUINb7hXSgJELa5gS5hUlkVyyPGTz7ORd1BO5FaM3TMviXTTU0kiJlrm3SK5DHA7ePGJ49JzkYBGcb13seF3/ABR+2kciMLpeeQCOMIMk50gdpzJ8ee5Fd4+l1nF3oOGRB/BppXmA9FYf6itT0g6YXN5tNJ3ByjUaYxjl3Rzx/NmoJv1ZtePcctre2bh1gNavj7RcMBmUqchY/JARz+nMsYfmva3s2fOMAAjUzEKq6jgFieQraWvAFz2cpYSGZrYaSulJNIKF8jLK7EgYIwFJ35VOxG5psVj3S7Z8qyMee1ddORjzqJK6K2vgsfqO6Q6ZZbJjtIO1j/Mow4HquD+k1ctfKnBOKNa3Mc6fFE4bHmAd19CMj3r6ksbxZYklQ5WRQ6n+Vhkfsa510L8NLDg+RBOt/gPaW63SjLQnDfkY/wCjf3qJ9VnGNMrWzHZvh9Scj/m1D1kFXPfWayxPE4yrqVPoRivmziCSWN4ycnhcj1AOQf2BHoKss4OeovBrqa2e5d7JpJHluPTx/wDPWvb7aoXUSMDmc/3qM8J6c2t+mjtVhnIwUYhTkjmhOzDPLG48aL0dtoU13t52ijf7yVQvpjO9Z2PQv0M6fpahOiFWmbyQZHu3L+9cjht7cDDOLdT4ITr3/n5j2xUb4j1u2dv9zYQ9s3LVtHGD83O5H09agfH+nfEbzUjyiKM5BWI6VI5YJBLMPU1KiVlOMfmZFOJ8SncurPgZIZUJ7xBx3mzmT1YmtvZ2lmh0QRS3srAadiAGPgRjB3I2wfXzlHRLq7t5kWRmknY/7tEKgHC7N8sk7kgHGQTgirS4P0JKLpRI7ZPJFDMRqzv+HyGG1+pwMZSrZ0xV2V8RS+XPfp7lRWvQW7uEYTtHa27srtGMHcJgNv8ACSFyckA5zjY4mHRzqugTBigMzf4k2ybgbgEeeeQf12DVZ9l0chjIbTrYcmc6iPTOy+2K2YFV0VJ/M7eQ0Se77+3t9SOWfRLkZZDgcki7gG+cavi5/wAOkc9hk1u7LhscI0xoqj5Ab+p8ayaVpGlCOyNFBLIpSlalhSlKAUpSgFKUoCH9anAPtXDpCoy8H3yeijvj3TPuBVEcGfJaE/7wZX867j/z5V9TMuRg7g18ydMODmxv5YhsEfXH80bvL+xwfQ0T0yucPER0yU0YZrgisu/Qag6/DIA49+Y+tYtdTFzYLwrTGJpmKISmnSussGBbI3AUBQee+RjGxxnTcOW2xICkslvMpkUFiDE2DGzZGkZKn4c47RM71hw8cKwrCURwpPxgkYzqXYEHKs0pBzuJGBBFYE9yznUxycBfAd1QAAANsAAADwAFVLXRu+J8TjMGjLPIyaCzSCVtKzRyJ2r6VBYDtVwM4GgE+WtHG5Q2pWKEoiMV/F2Y0oxznvgAd4YI8MZNYVdkjJpYXPPFcqK5Z0XmcnyFeTXx5IAv96q5JGbnGO5iyNqJb54HoPGrz6lekHa2bWrHvW57v+W5JH0bUPTTVY8B6u727wUiKofxy9xcHxGdz+kGrc6AdWw4c7TNL2krpoIUaUAJBOMnLHIG5x6Vzt3d0KWp1NSWCb1XnWdZwxq0sq9yYaC6xqxSQDZs5BGQqcj+DGwY5sOtfx7hnbwNHhS2zJqAI1qdS5B8CRg/ImonG6OurFuON0fMEPB2uG7NIzI3PAGcbgZJ8Bkjc7V73HQ6SJ1RoDqcZTA155Z0kZGRkAjwO1XbZ9WMf2gXLBYGG4jtiyrnOdyx39AFHyqW2PBoofgQA+LHJY423Y5J2qPEnJ3Sx+5yQ4ebja9u+n+FJ8B6o7ubDSAQp/N8WPko/wBasTgXVPZwYZwZnHi/L2UbfXNTalS4t/M/4NocLTjvnz/B5wW6oAqKFA5AAAftXpSlWSSwjqFKUqQKUpQClKUApSlAKUpQClKUAqquvPgGqKK9Uboeyk/K26E+jZH6hVq1r+P8IW6tpbZuUqFc+R/C3s2D7VDM6sNcWj5s4c+u3ZPxRHUPyNz+hryxWZ0e6MzT3v2NSYm76Stj4VX4zj1GPUivPjfD2srqS2kdZdGN123IzhvngjNWjXg2oXzY44L/AJ6ntex4aaOoXdiB/esY3UjkKgxnYBRkmpVwHqmvrnDOnYIfxTZDeyfF9cetXdVciuu+Iq5GHvlHwjPzP/Svfh3C7m7bRDG8h8QinA/MeQ9zVz8A6mbODDTarh/5+6nsi8/1E1Ora0SNQkaqijkqqFA9ANqzcpM0VCcvmdim+A9Rsr4a7lWIfwR4dvQt8I9tVWPwHoBZWmDFCC4/HJ339QTsv6QKkVKix0QoQjyFKUqTYUpSgFKUoBSlKAUpSgFKUoBSlKAUpSgFKUoBSlKAUpSgFKUoDQycAjhlmuYIQZphljnBZgNlyThQSATjHnUI4d1LGWRp7+fU7sXZYvFmOTl2Hn4Ae9WrSsIUYxk5dSk4RnZPZGp4L0VtbQYt4UQ8i2MufVzlj9a21KVuWSSwhSlKEilKUApSlAKUpQClKUApSlAKUpQClKUApSlAKUpQClKUB//Z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1" name="AutoShape 14" descr="data:image/jpeg;base64,/9j/4AAQSkZJRgABAQAAAQABAAD/2wCEAAkGBhQSERQUExQVFBUVGBoYFxUYFxwXFxgcHBoXGBgXHhgYHCYeHhwjHhgYHy8gJScpLCwsGB4xNTAqNSYrLCkBCQoKDgwOGg8PGikkHCQpLCwsLCwpKSwsLCwsKSwpKSksLCwsLCwsKSwsLCwpLCwsLCksLCwpLCwsLCwsLCwsLP/AABEIAOkA2AMBIgACEQEDEQH/xAAbAAACAwEBAQAAAAAAAAAAAAACBAABAwUGB//EAE4QAAEDAgMFBAQJBwkIAwEAAAECAxEAIQQSMQUTIkFRMmFxgSNSkbEUJDM0QnOhwdFDYnJ0k7LwBlOCkpSjwtLhFWODhLO0w/GipMRE/8QAGQEBAQADAQAAAAAAAAAAAAAAAAECAwQF/8QALBEAAgIBBAEDAgUFAAAAAAAAAAECEQMSITFBEwQyUWHwFCJigeFCUqHB0f/aAAwDAQACEQMRAD8A7S8IpzcJECGcxJMJSM65JPQVsmFpU22rJh0XddUIK+hPd6qOfOs3FehV+qt/a9WuLbTMKOVhkIOROq1rSFeajcSbACvJvo5jTCbNZdEobxKhMSVNJB/rGmlfydbH5N79qx+Nc3FugBLjyUkx6DDfRSn1lDWPtUe6lU7WV/MYX9iPxq1N8CzsHYrf8y7+3ZoVbJa/m1+eIZpTZjrr68qWsIIBUVFoBKUjVRM6fjTzOGXvClfwUNhrfb1DIWkt+skC5PdVWPKxpbMlbKaH5M/2lr8KFWz2f5sf2pv8K3DSjiENgsFtaA6lzcAHJCj2TfNwm1KbbxZbLamtytp1JUgnDpSqAYIIIB10MXq+PIhpa3CGDauAgX1+NI6zyHhQ/A2v5tH9qR+Fcs7cd9Vn9ij8Kr/br3Rof8FH4Vi4zJudM4Vr1Ef2pP8Alq/gzQ+g1/ak/cK5J229/uv2SP8ALV/7ce/3f7JH+WmmY3OqENpMoQwFDQqxIUkHqUxels2YrShwGbv4km0c0pI0HLv0FqHDYx5YKlLbbQnVZaRE8hATJPcKmJczgBWKEAzCWVJE8jZImo9nuDPDuh1aWmxlYSQVTbMARK1nkI0HLxrtbW2oh8pS0sukPBaTut2lhtIgozEcU/xypTZ+zwsQJDAMkmynj1I5IHIV1XFCIGnIVfNpTig8mlUZ4pAcQpC+yoRXAc/kUzcJcdSDeM5yk96RY13jVTetMZyjwzSptC2AxisOhLRQtpKVJVnwiUy7BnIsr0B7oodnNKAcUoZS44tzJ6gUonL5U2V3rMKrOeaU40zOWRyVFmgWKsu21qiqtBpM3WwqxEg6g1lhcE22SUJCT1i/hJrcqvQ5r1VJ1sZKTRea1ZrVUKrUJXahGwVqqUvjEZkKSDBUkgHxEVKzil2wlYeIVDKv1Zn/AKpp4ol2CJ9PhxH/AAq52LPoVfq2H+1w10kKG+Mj8uyB3ei/91m/v/B0nnH3StalKJJJJJJvXd/k1tZtlKwpwsrKkkOBvecIMqREGJ6/hXnwffREV2QengqdM9ZkcbxgeYSCziFgJIEpUlUFaSPomQo36GsVKxJxaXoUkb7cJygBISFkbuByiZ758tdgOlOHZBUmVYtGUE3SMvF7bj+l30+Mek6KQM2POXi0Ce0f6UHu4636djbVnMeRiQVupClPOPLaSuxKQmbJGgMBQmIgGubicBiX1hbiXHFKJbBI5pmUiAAIhXsNehRtC4ylAnHnLxaATmOmir3Hr99G3tUcMKSJx6gni0TxZjpoqTf88daigi6TyidhumPRquooFj2hMp8RB9hqI2C6csNq4lFAtqpM5h5ZT7DXqU7T7EKQJx6svFonjzHTRUm+nGOtArak7sIWgH4euLzlTx5j+iqTf88U8aJoR5lOwXjlhtXEopTbVSZzDyg+w1EbAfOWGlcRUlNtSmcw8oPsNeow+1RDUKR8+Xlvog55OnZMm+nEOtRjag9FCkj485HFog55OnZObwuOtPHEaEcNOy3w3hsiJVvHcqSAbpiZBPLKr2VDjcccnAPSFSUcB4imcw7Vog69DXYZ2kBuoWi2PciFaIOeeVknN4XFTDbQR6GFoEY9yIV9E7ySLdnijpcdax8MO0R40zgI2jjFhshKSHTlQckBRmIBKutVh8Zi15QlLfGSlJKYBIAJuVWiRXeTjkFLQCmzlxywkE2yEqM6dni107NY4bEpSWYUzKMYsDi1SRrp2QDr3Csfw+P4HiicNnH4xeTKhPGSE8GpTGb6XKRrWjRx6ykJbTK5KeCxy9qCVRauxgMQlO5u0cmMcSOIiQr6WnYEi/cK1we0Mm4CXG4TjXEwF6oVnE6dkZvA261fBjXQ8UTzuFexjiglKEqKs2XgInL2rkxatEN445craTnCingNwntfS8K7mC2hk3MLb4Ma6gQrtIWVSRayRm8LDuqYXamTcZVNkN4xxsceqFlVxayBmHcYHUVVgx/A8UTzp+GkIIbB3gUUejNwntGJnpUT8NOT0aSXJLYDZlQHaI4uVtetehwO0CFMKlpSmsU80DnjMhQVcWsgSP6oq8HtFQUwAptW6xTrR49ULzEkSOwmU875fCngx/BPDE5mCxG8QlUQTMjpyrU61hhISnJmQspUsSk2MKNx3VoFmdK8ucak0jklGmUVWoTpUK7GhUu1YGDBXV0KjUqoxZniz6Bf6vhv3ya6G8G//wCZb/6H41zsb8g59ThveqnMVgVvOONoAUsPIXkJyyjdgZgZFp5g10JW6++jsRw8hBIMg9KVxGLMlAEEGD18K9ltrNwuKQxhShaAp3eZ1oiwJQCMwNo56a15Lb2J3mJdUHd9JHpMm7mEgdk6Rp5V6UcWnk2xjQgXstydbf6VBiQTz05g/fQtp5ny7u6iNVmwJSzV5zQTNQGsqAZWYoc320BVQzUoGiTrVk1lIos1ATPUKqlUqlAsk0IJ61akmhy0oEzGP499UavLQAUoFlR+6q9tXNUP45UBYFqkVVXQBsvlCgpOo+3uPdXpdl7S3zYXAGoInmDBryi667boOFwV0PEOOpKF8CI3k5M1uslV9e6ufNiU1fZrnj1nYJUtxplvKFuqgKVcJABKlRzgDTrSrrigWtys4lD6lIbUWywc6VBBBBmUyRetFZmkpcw+HwyHATDjb4WUyCIylXSYVSLu1XkrQ/iVlxxuN0gkG4IIJCbBMjxMVpWOEVT3Zr8cYqmPY1ZZIK3WXUZ1NqU0SQ24kSUKn3ipXGxe2H8WEtqCYkqCUICBmPaWYFyeZNSkseO/g1ThFvY9M3IKQMqlFASj+axTQ0R+a4n21EKQS0C18IbK8jYUsodbUfyKjFwJETypXaHyT0CASw4ANEqWklRT0nupnFCVxlzTjRwzlzcCLTynrWmC/MjZHk6OMw25LSt3hsMQ6BvAreuImbBNswM//IWtXkf5QYjPinTvC7xdsoyEwAOzyjTyr1W0jkWzAwrBDsBTZ3j6ZKtNJSZ+2vKbfUTinszhdUFkFZAEwByBItpbpXrvg6BFpMH7b1aldPYOXtoZok8qxKUkHlNWWz0NdJpoAW9tK4t1QVAEffWClb2MmhdKDyFCpo9D7KcZxaYvY0u/iM2mlW3ZKQuaumm8LmRIJnmKxQxKSomANKtijIzUrZeHhIVOtVicPli+tLFGea16gFFhms03iBRNYfMCedLBkao0QF4rRLIKiJ8KWDAVKMtnNFZmlkCBoSaICgVQFGulvs+Gwic6HAl11ORwZW0nOTlUZuPpTHOL8uYTTjapw+HBWhQDrgyOD0aJWTCtde1MXzEXipIqD2lhArdJhgZrS1JSZVEmQPv0pzDbOTBDbKFhJKStaikqUNYA5ClXkwpgw1cgy0LHiAvKRf210dmHgc7nXPfXDmbRzZnTstGBVEZW2kntFCipSh6okWmqrp7LWJUoo3hSklDfJapSADHIST5VdY44SmrswhGU1aE8fO7c/wCWH92aZxIlzQKnGEZVGEnhbEE8h30nj1HI5+lhh/dGtsWuXB2DOMXZZhBs3ZR5J61jj9yLHlHQxeJbQpgg4Voh0ycOC48kcdkwkHLrz515bbOMDmIdWFKWFLJClJKTFrEEz7a9C7ighxgheGTDyjGFazOjt6cF08vZXnNuYjeYl5UqOZZPEjdnlYoNx0r1TqFAqrmhzdKtJuJqAfwDipjUe6mX0gpOaKjSAAIiKSx5VPdyitXLMuhSfZUNOMYCRKqWfYKTfyNbLTJRtglwqBodfxq8eYiNKxbdCUW7R+wVqnEBSMqjesWt7ATqvRp8qHHquPP7qB58ZAByosQpKr5o8qJUUrBc6pDsIketUwrqUZrz0PWsS4MhHOZ8qtEGFgEpUNCRNLvKhZI61MM/lsdDV71OYqPl40BtiEmJGvMUlmpnD42CZ0NLvESY5/xFF8BhJNApVDmqlVQWTTTb84fDpzpMOuDKtA3Ylcwo3J1zXA1I4qTJpvD4kFhhOfR5cpcSdymVzB1CgRCjYaxeowdB/B2SorwqMi+MN8PZ1OXImdI53nrTOzCd2skQFLWtM6kG4NZJeSShvJhFgkkKQ2ApMDTNlTY+HKfF0xevP9RLejjzunRt/JDZ7mJSl915tpmSDCcqp9UKUQNIuJ1qV55WLGVLbaiW0CEiZ1ur2kn7Kld8YwS2RvjjVHVx6zlXb8phx/dGtsTdxPY+dufKdj6Ha14etK402X9cx/0qYdPpEdj5298pdH0O1+b1rz4e5GiPKHsRiAF4eHWUneq+asy6ntjh4Lp5eEV5vbCj8Iela3TnUM6wApUWvltyi3KK9Fi8YN4wBiG7LVbCsS6ntTlIRJHId1ea2s9mfdUCsgrUQXAUr15g3HSvVOoVmpVCpPKoUbwq1gcOnfUexKxYgDyosPik5Qk25TQ4xgiDJI0vyrX2ZdBNLdSLTHtrF59Zsr3U+8qALgXE/hSL7udQAvRAAMqiYrIGukF3i0R50i43lcHQmikSilMK6VmlN4i9PhPFroNKQfUQs8jVTsGgwiuhrJSSDFOFXo55xrSuHEqk8tTSwUpogTFRpsq0p1CAqRIPO1Y4NvKsg8hSy0LLQRqPCqWgp1p1JDljZXs99Z7QTBT4UsguEeVC4iDf2042sA3mDERWOITAvzMjwpe4FhTDDsMs+kUYeVwrQdw3xXkxBJso91rxSwNMtYn0LKd4vheUSHEegRKhcGIVpJHfF6rIdVsy4zdkxn+SAA05kAT/AO66BVFc17GAOtklpV1fIIgSQEiEgXJPLrNP4gqQoIcbcaWRmCXE5SodRBNedni3K0tjj9Qnqs8xgWSgZVCCKunMSOM1Vd0HcUzrxu4pnTxqu1+sMD+6rZa/SIugfGnzLglHaR2he1L4vVX60zH7IVqo+kbMoHxl+6xKBxJuoQZHlXBj9yOaHKOljdpS5h/jKTClWwrHpUWPZlBkchbSvL7QcJdcJU4s51cToyuG+qk8jpavTPbRJcw3xoKylVsMwN43bkCi45C1hXl9pLl90lS1nOricELNyOIda9Q6TGpNCalCjDeLgRANU9iSqNB3VmUwJ9lVnjvrGkU1exZUIMfx50DbxSZAvWebnHlRqFpgCrQK3vFPnRLxRPIW8aEptoI686EDrpUoBrxJJBsI6ULuIKtY8aCL1XLShDT4UYiBpQtvlIItehmhKeVWimzT5RcAX5xVuYsnp5CohyyL/S/CrxKkkWtc1j2DFKyO6iW6TqazmqmsiGqXSNCayWskyalCTQpFKpsPwyyN6s5XSci0Sw3KpkK5k6qFJTTTWJG4aG9cGV48C0egRJnMFcydSOhjlWLB3sLtx1kt7r4O4qSRkbTKbDRRuDHsI50KxnLYS26nIpTi1vObxxa1RIHRAi3jWb6hCV/CMPmRcJCVJBBAvI91Yr2sr+cwv9dVcmSUlsjRlk1shIP51KIEDMQPIxNSssUwtltDqVJcC1KBKZyhZJOTMR2o4vA9xqV1wg1FUbYUopHcOVyVBQCXVocac+ilxKAndL6TGvfTuBc9L2sO2SvM43iAFbtZ1WgHUHWuPhMSFhbjaASR8Yw/JY5uI6H3V09mPgrQQ7hMiey4+nM6kR2Cm8x4V50VU0jnj7hxzaA3mGAxk5c1sNhxvG7cuAzOgtoK8ttBzM64rM4uVq4nBDhue0OR616hzHS5hpxk5M1sOz6Vuw0hJzC0THKvK41zM64cy1ypRzOCHDc3UOSutep0dJjNQd9UaqaA03vLlVZwdatREdnXvobDkTNQEzjvj7asrAECbxrQqTB7qpwdJ63oAs41g+FRLhHnUSi1/KhSKAm8k3qE1HEwYqLEaUKSR3zQqNaFJ9X31iaELqTQpHKjmfxoAaqpNQHrQFmgNEqibjmBbxoDKKbaxHoWwXljK8TkWiWEXHEDzJ1PspRJinWsV8XQnfrGV4ndqb9CiTObPzJ7RFSQOml4KUyN404ApVm0wBZNyOcx9hrpbkEwEAk8gkEn7K5iX8y2vSNOHMo+jERIFzfn4cuddzAPhCySY4VBKvVJBAP2/bXnZvekcubeaRxMNtdWFw7jIYUS84srLqTu8osnIlRAJ1lXKwqV3doqHwdplTpxC05ipwpyDiMhITJ06zeqrqfqnHZGcsqg65PC4ZakKC0EpULg163YrysyHSnAs5iYWtJKjeCQi83nl7K8iDXpMHKF4OVJQQkmViUplaiCoQZHlWDVyiYxe52XtpDM0PhaOAqGXDM+lbEaJJBzItrfRN68fi3cziyFqclROdYhapJ4lDqede0VtKVtj4UghJUMmHa9InhFgTq2I9qU3vXicY4VOOKzFUrJzEZSZJuRyPdXd0dCMp+yoTVVEJk+NQoRVYVaCk6mI7tRUCQdCZ7/APQ0KADz748KhQnVAmxtHOqdI5EaUIIqFAIkT0qEDS93DSKiXoEQPOgy+Mj2VaG5EwT4UBanRM0JctpFAU35gCqy8xPnQBqc76EEcz3zQKtVAjnQB570ZI8ayKbxVqTHfQEK7RVTVTUFAaLigUqpFAaAI05h8YdwlO/UMrs7pSJaTpxBXMnU+VIg06xjIYCN+ZDs7pSPRo04s3OdTa0Cowdb4RmWz6VpzjJhtOWJA79TztqDrXTNcxxyUoIxGHUtKsyUBKkAyANdJPTxvW+DxYXIIKVp7SeY8O6vO9QndnL6hbjJqVSiKquY5GcfBYUNBLjicy1fJNdTyWoer766mzcXusQnMptT6j6RxxIW20I7IHUc400pRIWFqCTmxChLrv0WU8wDyMc+WgrTYuPbS+hDSWQBq+8jOSdSqDICeWk+FdsLc0dcfcjtO7SkoAxbYyTbDNelTASYBOqBGvMpFzNeKxDmZayVFcqJzGxVc8RHU617YbRJKR8MZRGaN0zxN2TYHm2I1vdI614jELlxZz7yVHjiM9zxxynXzr0XwdK5Mya0aVceNZVJrEpulMXkeEg+6hZTrpoedZE1KAPJ3j+O+tFrsASDflH3UuqpFAbDUmRzjzoAJHaHhpQkVRqANQuL+fWhVPl0mhoSqgNFnvEUKaEVZqlCbUL1FRFZk1dCF1U1VVQFpqGpFUTQFmm2cbDGT4REOz8HU3wJmOPP387WA1pOKaaxnxfJvxZ4K3CkcKZHymfnOhEdKxYOrisYndwtTLgJM7pMFNkwoX18utzShkFIKoUPkneSh6qu7l3Uzi8eUt64d0FVwlsQBCYPdMa9Z1pThyc1MqNx9JpXX+Na48nJqy8nVwmMzggjKtPaSeX+lSuWZBSFKAUB6J7koeqru91VXO4/ByPH8DRZK2yhkpQyDxuuKyb1XWTy6JpjYGyt2+hRewogzxLzp80gGfd31hnCsi1oCgQQxhxJEC2Yga/fTmycQoYhKF4bDMq6rQUgW1OabeVdGPVq24N0FujsDaQSpObGMoAzXZbO8RATbqpFrG8kC5rwz68y1KzFcqJzEQVSZzRynWK92MdkInGYZoIC+Jpo7xuydYjMm3mRrXg8S7mUpWbPJJzxGab5onnr516HR09g1DyrJ97KJiegomHJAJseYmSKxKNqQcsRzBmO4z5VkVxYWtQlZveqCu6aAImdY8amTSCDfv8AvFCozVA0KMOrInjnu4vwigQvhjNlvPO/TSgWsHkPtoQuOU1CFPEzf29e+qNRSpqgKoJUCoq6ChS5qRVE1KEJNQVCKoVAGaAuDQEVjiF8qwgUA+aYTi/Q5N8mQ6Fbkpsm0bwqm4MREctaSYXamkYv0Ckb5FnUq3BRcW+UK+YMZY7qkgdrFNl1uN9hrEkBMoBskWtz7+hvXGQ6plRtB0Uk6EdD3V2cU+kNkKOHcbKolpBSQY7aQQDaPOTXOfbzBSVcRQjOhY5p5A/xauWTV78GnLswlIEOJ+gWt6kH6JtofbUqlnXvwv31dIGpHQYxoZOHUpOYbmCJixWqb+Ejzrq4XbaHsQlLLTKEC8vJ3gbHeqJyk8upm2tedxpBGGCjALYk6wM6713duY6MPu0uYct8JbSyMqhlBBU6MsknxP31sxv8pljk6f0Or/tbiQpWMwjeVKuJpqVo0EERxjp7b14PEu5lrOfPKjxxGa/ajlPSlXwSNawL+UJiAROa0T+JrfGV7G2M0x9l4pWlY1SQRIBHdY8qJ98uLUtUZlGTACR5AWFI/Dh0VcTodKsYwW4V3EiEm46+HfVNgxkqClxiweylZmSISTIGp8Knw0W4VXuOE3A5juoDeKlLjGgxZV9LG8axVDHAxAUZ04TeNY60AzlqopcY4Wsq+ltetE3iwogAHiMAkQLa3oDQmrpYY0GOFRkwOE3I1A76gxcxwruYBCSb9PHuoBiKlLjGaWVrA4Tc+r491T4aPVVrl7J19Xx7taA3AqFNL/DR0VrGh16ePdUONHRWsaHXp491AMVVYfDR0VYxodenjUONAmyhFjY27qAN9qayGHV0ovho5hQixsbd1RWNTfW2tjQG6UwAOlWvEncFG9TG9B3WWCOEDPn79I5RPOk38dFgDm7xEUq20SZJ76xZG6PUbRJUFqzMrjKMzScqdFQAmByFzHTmaEHX9Wrlo0rqx/2p++uSZzzlbKv/APV/GpVj/wDKfvqVEYoHaPZw/wBSP310pTe0jw4f6lP7y6VBrKPBiUpFLPM03NUlJJAAkmwGpNbIuip0dFLD8sQpr0jCkNwnMcqAMySEgnPw+/STS2BS8VYbKU8bLjbcIUZSmMwEC6uG8TqetdNtZS5lzAqbYWFyApKI48ukaj7SJrHA7VcyBZyoQ00WgrKJIITlRB7RlI+2da2+SHydCmqOfs9DxOFylJzNuob4VGQntAQm54eU9rvotmB74qUZbtuob4FGQIzRCbk5RceteJro4bGOA4cZspLC0gQLIEkCOhyJMd1TA7ScnDwsjMy4gWFkCeHwOUcOlqeSHyXWjn7KD5OF3eUkpdS3DajZM5tE3OlxPavEmq2dv/imUJE71DXozfUKiE3UbaX4hPOnNifyidLjaeEZW1tg5RZJSZT3i1aYLa7ivgoBCZQ6hNgcqRmkeF/squcVyXWjm4AvRhcoTGd5KPRq7UrzaJuozykjMJi8VhEPEYaACN66EQhRlRzZhZNzxaC90+XQwO1XFfBuIiUuoH5o4rW5cWndS6tuuIaw7gPJ1IHIAkyLcjnNTXEmtGGFZejDQLb9zJwKuo583K+ptqLdLTCNO+hiB8ZWE2VOfikREzxQBE3TXRwO13T8E4ubiUfmAhYIHQEOGw6Vz9k7UUHkBICeJUHmM4UD9ivsFPJEa0C2l30enztSRwqPpLkjs3PdrYWtVoQ7CYy2xZSOFXb8k692ttK3f2yoNtLTYpcdy3snNnzADlIdUPOjwm0llLBkg71aUxbLmCyqOk71VNcfkutCkO37PzuOyrt2vYa2FtbaVHEulKhKL4tKTwmQsZSJt3AxrZVurbOOXDUEiMQ4EkfRKs+YjpO8VPWaNjaaxu4MFOJWEH1SrNmII651VPJEa0IPpdO8mPnSZ4T2xl7teAcOtldavFtukPTlviEBXCq6wUxMjWRob2VRs7ccDqUAwEvEpItlKlKBIjScxnxplnaTiYhRhOIISAYykzmUOhM3imuI1oUxe9JxE5OJ9sKlJ7VoBtrbTWyqrGJd+MzkEutIXIMgjLEgjTu1sq1qcO2XW+NKoLb6sthZUGSOkiQY1k1bW3FqaQSEjLiUrTAFlHKSR5pGtNcaGtHE25mViXCuM1gYmLAdb1kw3TW0SC85AjiPOefWgQK1uWxqnIIC1dSP+1P31zOVdNJ0/VT99aJmkADT9WP+KrokCSnvwx/xVKsb6M0jHaZsx9Qn95dKpPWm9oizNxZhFv6S6UQgkgAEk2AGprOPBrZaUlRASCSbADnXYw2GLZLbcF8jjc+iwnmJ0nqeWgqmMOWju2yC+Rxr+iynmJ69Ty0qkhJQUpUU4dJ9I79J5XQfcPM1qlK9ugikpQUFKSUYdB9K79J5Xqge4eZqOKHA4tEDTD4Yc+i1d3vNRxwcC1otph8MOfRau6efOiOcOGDnxKxxrkZWE9AdAQPZpWKLZW7WFlMheJWDvFkjIwmLjpMa9KDD5QpKkn0OHQtJcNs6lg2SNTc2HSqQlJQpKVFLCflXvpOq9Ud3QeZrA+nOZXosO1oNY7h6ziuvfQWY7BZKTvVWbbBknmSkgJHUknSmdnpIODBEGHjHjoaNbiSErWiGxbD4caqPrq69556Dvo5wsiy8Ssf0GExEdAY9nvspNsWZbJT8z/4tJYr5th/Fz3proYUpC2yky3hwrM4bAlQ0SOd7CkMSPi2H8XP3k1lH3ff1Ih7Zv/8AH9Y591c7Y59O3+lXQ2afmn6bn3UjsU/GG/0qq/q++2WyYofF2/rHPcmmdnjgw/159yaXxI+Lo+sX7k0zs/sYf68+5NH7f3f+x0Xhuy1+tK/w1TWiP1o/dVMr4MwGYtPlxSRrltfwsaJxKYIUZZcUVocGrazyIH8dKxFiYSfhPfvf8dNLXAJOgxRJPQUTqVLUEqs+mChf0XQNJPXvqZ5zLSm/5Zk/aofxaq3YsjjQVvGjYrWXG1fRXMwJ5a1hh0HdqTHGhwLKecAQftrUpSEgGVMKPCr6TSun8a05s99KHkB5KVLBGVwyUqTIjSxtOs0XBnFW6Obi2p9IkylRJPVJNyk0uFV9BS9gBmAThwT20hsSesjLWJXs6M2TCkTBIZET/UrQvUpbUzq/Cv8AuR4UqrppVcfqx++vSfCtm+phv2I/yVucdgbWZnJb0X0OY7HZ7qkvUfpY/C/qR4vEPQEzzw+X2k3qV6l/H4GBZgApt6EdnoODTuqVuhnde1mS9NXaPM7SPyH1CP3l0ex1EKcIsUtOEHoctiKDaX5H6lHvXR7I7Tv1Lv7tbX7Dz2NsoBS21JShTW+eI7S4zW8OG3jRLcBCHFp4dMPhhefzlefmaFrUfqSv/JWmA+c4X6gf+WtPf39SgkLCzBC8Socaz2WE8x0BA9lZBCShSUqKWU/KvHtOq9UTqOg8zUwnzfF+P3mscb8zY/SXV7IifL3PosO1YAcu4es4a2dcBSla0w2LMMDVZ9ZXWeZ56DvHH/M8P+mum8R8+a/QR+6aMovK956+JV4ZWE+4ED2e/FKElKkIUQ0LvvnVZ9UdR0HOqwnZxngr941niPmLP1qvcafwYggb6w9Fh2/s7z1WarJvyI9Gw0Dc3gG5J6qV0rXE/MEfWn3VbvzBH1p9xrP/ALRUXg387qFJGRli8nlOpJ5qV0pHYvy7f6QppfzFP1v3UtsX5dr9IVemKJifm6PrHP8ADTGDcCW2CTAD5JPdCaXf+bo+sX7kVHvmyPrF/uipW37lAWpbLxIsqSR0IJ+0GnG3RBWgSg/Ks9Pzk93fyoNp/JYf9A++g2B8t/RV7qPeNkNlpSEhKlZmT8m4NWz0P3jzqylZWATlfT2F8nRyBOhJ689KxwnyD3imjxnyOG8T701iUJDnaWhP1zB0/SA/iKyWUhMXUyTZWqmz0/050+r5/wD0T+7XNw3yT/l76qKRSzIBMOJ7DnJQ5AmqGI1UAAfyjZ0PeP4tS7vyTfia0xHbV9X/AIaz0oyRnigBGU2UAR1E8q3S7p9SR76TxGiP0B71Vonl9Wfvq1sWjPFO8KRqMg+wmpVK0T+gfealboyaVI2J0j//2Q==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2" name="AutoShape 22" descr="data:image/jpeg;base64,/9j/4AAQSkZJRgABAQAAAQABAAD/2wCEAAkGBhQSERQUEhQVFRQWFxgYFBgYGBwXFxgYGBQVFBUXGBQaHCYfGBokHBcVHy8gJCcpLCwsFx4xNTAqNSYrLCkBCQoKDgwOGA8PGiwkHyQsLCwqLCwsKSwsLCkpLCksKSkpLCwsKSksLCwpLCksKSkpLCwsLCksKSkpLCwpKSwsKf/AABEIALcBEwMBIgACEQEDEQH/xAAcAAABBQEBAQAAAAAAAAAAAAAFAAECBAYDBwj/xAA7EAACAQIEBAQDBgYCAgMBAAABAgMAEQQFEiEGMUFREyJhcTKBkQcjQqHB0RRSYrHh8DOCFXIkkqI0/8QAGQEAAwEBAQAAAAAAAAAAAAAAAAECAwQF/8QAJxEAAgICAgICAgEFAAAAAAAAAAECESExAxJBURMyImGhBBRScYH/2gAMAwEAAhEDEQA/ANZm6xSKoAFx2FrVTihCjapruKe1czPPlJyEKkKa1QE4vagk6inrlLiVX4iBT4fFK/wm9AzpT3p7UzCgCQFIx3pgampoGHMlzcLZG27GtGjgjasFar+X5y0ex3X863jP2bw5KwzYUqErxHHbnVPF8UjkgJNXaNfkj7D02IVRcm1Asx4nt5YlLt6fvVNMLJOQZrhe3L60Xw8MUfIC9S5ehflLWAVHgZpvNMdI/lH61dUpDauOZY+S2y6V79aEM19yb1n2XgUn08ZDOIz65sosO9CMTKdV1Nyed6jelSsz+SRwaAsbvvXRIwOQtU6akQ3Y9qVNUgtAhqYLXPEYtYxdiBWZzTi/mIx8+lNIuMGzR4nGoguxFZzG8bFW+559+lZnE415CS5J9OlV6pROiPEllmhw/G04fU51DsNre1bvhbjiOfyPs3r1ryKpxylSCuxFOjRo9lz7KVks8dhIOR/SsXxRh1ZPvRdl6EWt7Ua4P4ojkj0u1nXmCdz6juK0GaZBBjorHn0YGxFTRnKL8HjeO4yihiAiXz+29GuBc6bEAtJz/SlJ9lawYlTKdcZvbbr0BrXZRwLpe8YEcW23U/KkkinNzVEtQpVqkwMSi1l29KVPqY/F+zG2tUBKDsOdV/4ixOsgCg+J4hUPpgUux2FhepUWzkDX8TpJ1kAUJxGdhn0QKXc8gBer2V8CYrFnViWMaH8I+I/tW+yPhGDCi0aC/U8yfc1uuNLZrHjbMDg/s5xOJ82Ik8NT+Fdz8zXXFcBS4Ia4HaRR8Snnb0716oBSZAedXjVG/wASPMMszVZR2PUVbNXuKuCCSZsN5ZOZXo37H1rO5Xm2pjHICsi7EHY1hPjrK0c8otBULU1FQU3O1dF52rMlErVB3A5miUOSSPb8IPWrgyuGKwPmc8r7mnRrHjkylluSeINRNhRaPARRC4Fz9TVdMV4bWeyqeW9RWVluVF4z1vWcuVLR28f9Ols7IzTDbyj86qsP4d7ubqdr9qhjcyECgxkNc8r96hgomxg1SGyg7Afqai5Sy9GnWKeNlvF5sjrpTzE8gKFy5VKADbbrVvFYEYUrIu4vYj37V1n4rjKkAEm3KnHH1IklL7lbF4VEi1Bt/eqMcgYXFDJWZzsCd79SKt4JwBatUmtnNy08xVFq9PSawFzsO9As14vjjusfnb8qZiothyRwouxAFZ3OOMVXyxeY9+n1rLY/OZJiSzbdhyqlVqJvHirZZxmYPIbu3yquTTUjVG4qVKnvQBG9Pemp70AIem1aPhnjF8OwVjdD+VZs016APcMFmiuokcX7HnXPE527bJ5R+deZcOcXyYW6ka4z+E8x7H9KJZjxm/gGXDqC681PMD26j2qXaMpp/wDDVM7X3Jv709ZTB/afhCimRZNdvP5Tz68jSrMn4f2dco4BxeLIfEsYkP4fxH5dK9EyLg/D4VbRoL9WO7H50bApV136CPGkICnpUqRoKlXHE4xIxd2Cj1NZrMuMGLCPDxlieRI/sKTaWyZTUdmlxOLRBd2AHrXnnEGJilxAeNOQsWta9FsHwzNM4kxLm3RL3P7CtIuVxhCmhdJG/r7mspcl4RLhLkWcL+TG5XgXxH/HYKDYsf8Ad60H/iYMMuqRrt3J6+grEfaD9pQwRGHwZjNxYvHY6De2n+XV9aGR55KHUYp9nUMjt+LuCehrOMkV8UePZr8147CKwCtosQHXcg9rVk143YxLJNIiBSd7/eelxR2LLmKeIpjKG5a5rFZjw3glczzSBVfdd7gm/QU9s0i36N5w/wAXwzR6pLsTfSSOY6VWxPFoCTIZBGV+BWG7DoB3+Vcciljwr/eIHQoNNrEC/pXTiXg0OolEqi51IvVeosaj41stcjezjkGZjE3VozEVG4bYn1o1HOYQTGwt+VYrF4mSMs+MYsDHaJolvuPwsB1Pfl7VUwHFMmgDEKI1UeUc3btcdKreKJlFbTybLGZm8vxtt26UGzHOYofia57Dc1l8z4mkluE8i/mfnQc+taKJNN7PeOFMxw7wKUZb283e/rWf444jghlRUsZCCbDt615nlmavC10O3UdDQ/7Qs0ErQyxlgwUgjtUrjp2U5YqjTZpxPNOFVjZByA2HzoWTQPJ+IxJZXsH/ACP+aOVolQCFKmvT0AIUrUgKVADUqemtQAjSFMaV6AHNNSNNegB6nDKVYMDYioUjQBoYc1wRUGSDz/i0ja/cb09Zs0qVInqvR9L0q5YrFpGNTsFHr+g61nsfxYeUQsP5m5/Jf3rRtLZEpKOzQ4nFpGLuwUetZTMePPP4cKnlfWw6ei/vXDDYWTEEtfV/UTf6f4rtBlGHjYnESBiD8Hrz5dfas3NvRm3OX1wD8pwK42Zi8xYx2LLe5s17WHIDymtrg8vSIeRQPXqfc14D9oXEEmGzRpsHL4ReOMjQQbDSFKuvI/DfSb865Yv7QMXiwseMnKRW86wqI9dxcFrfFfty9Kxk6yzo4uJLWz13ib7UMJhNSq3jzD8EZBAP9Unwr7C59K8tzr7TJMdDJ4shhF/JDH5UI662+J/mbelYvwGdz4IOkc2OygdLnlUMp4dnxchjiXU++w9OvtS6uSyaOagWZuIGkaGPSpRD0G9r7716f/4T+K8N5IiY41uAeu1ZXIBhsu//ALcNN4lyr6gCFbmvoARffc1ouI8ZiYXglRy8TqNWGRwWaPY61APY7X7VSio4RzOMuSXaTwdXzfDyKIYHaSQEqYlBGkDa2/OshFwRfEM7H7sMbKTyIPmW3vWlh4aTE4oYhI5MMNrASHxGFvMZCPhJ9KtZtjYU2ACKuyqPzPcmmrLlSwiX8TpACi68h6bVxxecKg85A7DmT6AVn8TnpNxGNI7nn9OlDW3Nybn1qlH2JR9hLH8Qs40oNK/mf2oVzNyST3qZWnCVaVF0cwtK3eupjrpFCWIAHMgc7DfldjsPnQMq1CWIMCGFxR2fh8rh5JH1K6SKmm224vqv1+VBgKYjLZpkhj8ybr+Yq3kvEmmyTG46N1Hv3HrR2+3Kgea8P388Y91/b9qANMGvuNwe3K1OprFZVnbwHS1yl916jvb9q12GxSyKGQ3H9vQjoaBlgmlemVqVqQD0qamvQA9KmpUASqJpXpqAHFJ2AFzsBzoRmPEUcdwvnbsOQ92/as7iMfNiGtueyryH+9zTCzUvxFACQX5dgSPramrOLkDW3dQe25/MC1KlaMvmh7R9FyQTSm4Bcncsx2A9zsB7V1xmVQ4SF8Ri5BIVRnEYOxsCQB3va29Yvib7VsOFSRJWmJGqONQYzGQdlk/CpHfzE0By3iibNlxSTeGt0Hh2UqqnzDmoNybi5PO3yqK8k/FGOXk9FxHHiywK+A31AhbgLYgfAEFyG968zyHj+TDOcNj1fym12B1r18y8z6H1rOZZisdgJnjhZo2lsuwB1b7aSRseViN6LS8Hz4pgw1PiTIVbWx1XUDysDuGH9udrbto17UrA3F+NXEYhpYVcLpHxWuQDYtYcuY23NWclyvxFDPqIVbkuCIwB0vzcgdB9a2CZdh40WLFskMiuxERUSlium6GVSBaxNvMouTtcVLMeJD46Ry+Hh8I12ibw2syDmpAuxsbqNNgSBSFcvBSmy8LvC0eIZNLaV3jtY3Wy2BH9QJt36gtkGMhdlxUUgXEgszRRqw0JuHEpA0gcgNydxXHJcteKWRY5ZYsIyiVk0KkxHNVLWJVGG/luD2PKtDgsvTDxpNKAkE2lna9hLtfyhW57X3+XoxOgHjuKjLKYMckMMIcsJWRnD6dwptc3IvYC16LZZl2Fwyhjqw8Mh1AyL59NzpKpubGw5dDyoTxVxPFNJ/8AHVvDAGnxADpYDmoHP/tfr8s9isTJK2uV2djzZjc+w/ahIqma7FcdCB5BghqDbeLIvm/6JyA9/pWPlkLEljqJ5k+/XtSRakPzPaqoZzVeVSA971PT3qSJ0A+XOgDmq1Yw2FZ20xqWboALk2qcuBZY1kPwHa4INjvdW/lPoaOTSQrFBddEcsf/ACJfWkgOmTV1dDtcE9NqYijiMnWDwzOb6muUXfybhvveV+Wwv7ijeIiEi6Y08TDk3jSKyIbDczynzKVPTr3oGmL8EtA+maLsG2uRs6OPgPLb3BFC/GKgqCQp5gHY25XHI0WFB2TO3gTwvFEh0+Vo2I8Nr/CWItItun50CxuOeU3kOoj0A6+g3rjamFFjojp/xSp6VIYLzfJFlF1srj6H39fWs/h8TJhpNrgj4lPI+4/WtpaqeYZaso82x6Ecxc/mKYjrlWcJMNtmHMHmOnzFXzWCxeCkw7jofwsOvsf0rQ5PxEJLK+z8h2b9j6UDsN3pr02ob3pUhjgUjVPH5rHF8Tb/AMo3P0rNZhxLJJsvkX0+I/P9qYrNBmOeRxbE3b+Uc/melZrG51LMdIuAeSr19+pp8HkTtu91Ha3nPX4eg9T+dbzg3gYTSDWGih5u4XUzAfh1bc/Tb0qXJIwnzxUuvkwcWTEbyX2BOhd2sOZY8kH1PpWt4Q4cbE2ATw497HodIUnV1Y+YWPLfpXoGF4O/hvHbBtMY22cMgvsfhEtrAdDb22NWcskEQTRudNmXRoCHbyg6iWI0qp6etJ5RE4/JGmc4OA4AoBBJ6m9vypUR/iJDvc/IbfmKVT1Rz/23H6R4lg+EmkYFyIk8UJrkNo73t8Y2sSDY8vatrwnl+Djm/hsNMZJyD4koW8O1yFvewJJsCLg7bitTxl9mZlUtA6GCQXAbUfDJ31oFIvz5cj15XrA4yTE5cVwXjxRQO2sTpGHkVWJFyRuBfex8w6HpVZO6C/yLefrGuJaDFxxorsAmKAJdSoBKFluUIPQKDvvcUcny1JcN4cWtAY7amUpKRyE9r3ZWtc2vyIPLYDk+NixAGGkUyxqWtipBZCbki5IDEa/x3DKCduYohn/FjYN4pCA6PdW31sAFADK5vrsQ1muVIuAARegbjoHZblEsyth8YFURm6YhQXla3wCNr6ALjcmxsdzRyLARBPv1OJl1BjLJMxckCwG50gfX3qzg8/hxClog+m4GpgEU7XuAQ2nr2vY7ClisOFsWV1uRa7geotdfTlU2hPsUcfxfEC8SQDxl03YyswFxe5jsPE2I3Y225dKAYvGSTEGVy9hYBjso7KvJB6C1Z7jaYpjfEj1r5V+LuBY9OWw7/pVnKc7WUWPlcdOh9R/vSrS8lIJgj/d6e5qLc6VMY96QarGW4VZJURm0qxAJ526f771sspyVYnmSPS9xYhwCyMNwrd43HUU0hN0AsLw/ZVed9AfeNQNcr3G2mMchuOdEYGcL4MP/AMfEjdhsWlBFxZzchv6KY5xGigMXCgsoQG08DWsVRvxRnlvQXH55qXw4o1iS4PeRiDcFpDvf2pgHcbjzHEDNoOJJ0ugsQ8XaYLsGG9j8Q+tZzFY8sojA0xKzMi8ypbn57XNUyb701/pSsdEyaid6QpUhjU16V6VACNImlTWoATDemHWnpWoA5T4dXUq4uPX9+lZXNclaLzDdO/Ue/wC/KtfTFaYGcyniQr5ZbkdG5n2PelmPFDtcRDSvf8RH6VcxvDIlcGMqpPQ8q0eS8DQQebEXmlH4B8K9tRPlX/sb9hek2kI89iwDv5nOlTvqa5J/9RzbmBttuNxRnLchkdrQoUF9JlceYnkQigE6ueyBmHevSIuH1kkaURCPlcWJtYW5Hr6sF/8AQijOFy9U5AXtYk87dB7emy/0iiyLYB4a4cEUfnQa9TnUbMd2JG1ioa1r/GfRedaRcU67BjYe363H51IqOv6/T/eVTDbc+XLaw9fX6VNEKEVpEWzKQroZ2K9F6b89uX1NudVpp1jBMjLGPU8/QMbXb0t9awPEXEuJw2OlZDpRggKONSMAoAcKDbnfcGgOVtLj8Uv8TiNBO66uv9KDkDRTNV1r9nszIL/CB6Xv+dNQpMWqAKZSbbbkX+e1KqwT1ZtMvz0wrZhqXp3X29PShHGvB38XA8uGZXDDzqoABC7iwINmW57Hc9zUhVnLsW+HYtHuG+JTyPr6Gs0zCHJ4Z4/mWQzRqAy4lsujdWkT4CC3xID5t+t+Rq5h85jxbR4KLCsMIl7lv+QDdgQ5uIxqsTvueu9e4yZeJ0LwkoXBDgGwNxuDbr6ivLziRh5zgHhTCsx8k7OVUgLc2bYKb333PLeno6E5aGxXDUkGXWimfxorSIpuoHmJJjAUXY8tTA3G1wKCZRniTiJpg+IxqM7LGyGxspICkeULbYqQNxRfI2mWZ8NKVm1bx4yRmERjHMkHd26AX39a5cQ8JGTViYtayoPK8YCgkGwN9it9yGO/epqzSL64BOcZRHiUDHRFO2othw2pksbggWuRp59RbtcV5/mWWvh3AbY2DKfQ8iPStrgIf/HyiWWLxNYKu5JJV231Duedx1FWc5MWJW0srYmZk+7WEACIE3AA/D66jVJ0PqnlGcyfPg9kkNm6HkD/AJo1WRz7hyXCPZ1IBAKtzBBFxuNr1aybiG1klO3IN2960INL+nL9KKY3iF5JFkS8cgQIzKd2t1oUN7Edfp71NVoATAk3JuT33vTGnaosaQxr016e9MRQBI016VKgBXpgKVK/+/5oAe9NanApjQAjTVImmvQAqi0gAudu55be9Dcw4hSPZfO3py+ZoDPiZZzdjZfog/c0xWF8fxKq3EfnPf8AD/mvSuFMOwwcDyKBI6agTsTdm0nbe1rV5blGUKxupViNyWHlA7hf3r2HJcPohRb3IG55j61Es4RLyEFO122IHyHy5AULx/E8MIkJkCSRsoaNwwZgR5TGp+IG5BPTn60YwkKMHEwclrCJlawB7Fe97b73G1NnPC0soR5wY54haCVSr2tYi4O9vQ0hr9nPJ80GKRposPIkasLgnVILgeYRi5Md7j5UL4vzrEYSRWUWwkgRZtEf3iEEktcC9rW2v0ttXGHJZGm8bGyqpB1LBAdC3Wxud/S9qt47idiPuULjre5UjsVbrQS93Eo5vkMGKCyr4rRSbozpoMhA3aNfwj0PPc7G9/PftCIEqJFGI441AGkHnzJZ7eZvWvWsFmkciXUAFRYxMbaf/Ufy+lAcLxJgsyBhmjSIxai+ohTsbEof0ousk9bdxWTz/A8bYxY1UOpAFgWTU1ul260q2eZfZ9I8rNh8Ongn/j30+Ww6atqVPsX3RvY0psRMI1Z3NlUXPoBSmxSoPMRQfMs1DqV2CnY36j2qEjkjBy0Xcl41840XEbHYnkf2o/xLwlhsxiXUoWRbMjevP5isJgIwUGmMmLkCBcUVGKxGCAkJZoOqnmvse1Vjwdq46VBR8tlc/eMrSxhdKP5Y2UHdQVHl+lZaDiVY5cQo8eKRnCrhLamkXp5re/XlXqGAxkWLhVttxcfzCs3xVw8k5UySNDNFvDKqi59+59KVEx/F5MwuB8ZVaSFVcsfuGsSBbn/jpWWxeV4nBFjhNL+PcFApYpbkb/reiuVcMzxYlMZjJ203YA823FrhRy2o7n+ayxwiTBopw8ZOt22dhyIAPrSs0Vt/iYrDcMSGCV528abUpEWq7G1ibjpcEis7xXl+FKCXDkRyE6WgsbrbmT2rTvHJLKuLwCyRK1hI7b6iTYkKedq06cEJA0mlvFaaM62kQFrnmU7GmmEmkjx3Js9MR0vun5itdFIGAKkEHkRQvNuAmBcxEEqfg/Hb2oDluavh2KsDpv5lOxHt2NaJ3ohG1rnao4XFLIupTcH/AHeut6CjlalUzUaAGFKlSoAV6VKlQAjT1WxmYJELsd+3Mms7jc/eTZBpHpz+ZpgGsdnKR8zduw5/4oFiM0ln8q+Vew/Vqjg8sDMNR1HsP1NajK+HC2zCw6DpSbSIcjO4DJtRtbW3/wCR+9avLeDC4vLv2HID5dK0eAypIxy3uPoBRZYmA2F7/lWbk2TlgvK+H4orgAAEAWPUdaPYOHw1C2IUHYHfbp8q5pB1Nth8u9/euWMz1I/iN+dutyOnpVJjQTLCx2PcAdKFYzPWN/OzE33J1G/KzEm4oLPmbzb/AADY2B32/q51XLUy6O2MxDSX1Ha9wOYBtba+9dcHnBjXSVv2qoagaYyb4lvEMgNmvcW6VLK8mw8mMjndVDAkvGfgk2O47G+9qrE01vkaVEtXk9SfOYxsAq2tta1tuVPXnCcQTAWuDbqaVKmZdZBCJZJ3GgEhjYP0BrTZNwaQQ8pu6t/1Ye1aXBZYkYsqgDny69asiTe1ZU5fY61UfqcsNgEQEKoAJva21zzqeJwqupVgCD0qbPbnWd4g45w+FB1uNXQDn9KrCFlhIZSEUCLyleVq6QZsk4MGIWz8t+vqDXmOV/a14uMXxPJDv7ntWtfPExcn3asAvwva1z6U1gzlGsj4bhOfC4zWR/EQPsutv+Ine9je49qjieG0SSXz+Mj3bwybIjHnpXlWly3iJWURy7Pyv0Preshx9w/ioWXFYQl0X/kjHUd/Wm0Cf7KWLwrII8LEBqc3icHyp18w/tV3DZ8sbNh8dLqxAI0FF2II25D+9EosneSBZJiqu4HlX8N/6u9D4uGkjbUgLOeZN2Y/M1NEy5FqgXn2VN4i4mBgkgNieYZeW4rE8bcDSgtiLEhhqc+vXYchW5zrDzpG/hAOWO6noOtvWhMfFZlHgxKWYDS4a4A+tSm0XCNx2eS4LHPA9x8x0Na7AZisq3U+46ilxLwh5rxMGYi7AdPasijSYd7jYg1ummLWzcWqJFU8szRZl22YfEP29Ku2oGIGmqM0yoLsQB3P+86BY7iXpEL+tv7CgAzicWsYu5A/uaA47iRm8sQt69fl2qiuGkla7k796PZNw4WYeXa+5obSIcqAkGVvIbsST+dHsq4VeRTtYduprZYDhdQb22o2mGVCAoqOzZKd7AmQ8FpGLsN6PJgFXlv2rsST1tXCXFhRz3qmhl/CYIKDqsSd+VcMyzMRL032oHiOI230n59v3oS7FjdjekkVQQx2etIAq+Ud+t/e9DvD77k86mwFIU6KHRbU5qF6QemBIGolafVenoAi625VBq6iomgCqWFKurRilQB7gXoLnfFcGGUl3ArzPij7XGa64f8A+37V53i8ZNiG1OWYnqeQ/as6bLwjccU/a3JLdYPKvfr8hWKijlxLi5JLG1z+9XMt4dLi/Mj6VteHeGkQXk2625U8IylP0Dsh4IF7yHzIbi3Ij1678q9HhkCqFUAC1NFNEE8tr0NxGfxKCFI1je3X6UIzi3LYQWG9yTb+9GOHeIFkbwS1wNjfnXnv8RPO2qEMSvxAHbfvWxyjg7wpVxEsh5boNlue55mg0pI1uOyUWvH9L7fLtWSzHGzRn7kKTyYNe3P0rUjOwrafwd6G8YZI80JkwjASjcdmHMihq9ERUXK0DZd01L8R+L9awmf8OMGMsJKsfit29q02V53JImmRDGy/EDtyonK0ZTVcVBTtSwZPJsDHE6gEu7Dz33+dBs94OSUyt8Lgmyi39u1b/BYmFVN1AY3ttzoNJOirYj7wnYkb89t+1KzbeGeLzZfNhpNwVYbj1H6iiR4p8tgnn/K/tXoWaZTHLcy2LW8tqyByDwWu0ZJPw7XrVSshqjOzYaaXzve3+8qvZLkuttlv61u8u4WaVQZPKv8ALWmwGTJEtlUUNszlky+V8GqLE0cTLtBGkbUVOHt7VylxICkr5iKj/YoxOiiw7Vylw43I3Peq2GxYxQKeZWHK3P3rvkOHkj1RyXI3sT19zRfo0UUtmY4h4k8DaxJoXhs68cc/lRb7Q8oZotUa3t1ryzCY1oWrRID0cNT3oTlOdLIBc70U1UxiB3p9VRNPegBgKQNNekrUATJp6gDT3oA6B6ir7+1RFRbagDk8guaelYUqAM5kmQBypfcX3HSw7mttHk8SrYAAemw3/vVceHhzp27U+KzRbbttUNkpNkJMSmGYWFd5uI41W5N6ymcZv4w0ILnltQ7A5BNK1iCB60VZWImvybiTxsQEX4fyouvCqjGrIT5D8Q6H3rlw1wmISGPOtHjBdT7U6M282FI8bh8LcRBd9zbv+tBcZxK97lvKP95V5tmHEMkMzBrkdKp4rPZJtlvvSplJLye3ZTmSzpcUYy3HGNgpPlP5V5ZwXj3hjs1/nRuTO3Y3GwpIwUJXg9KzbJ45YztuR0rwhs5lwGNkjn1FLnQT26V6flPExFg24oxnPCeGzGHzqCfwsPiB96rZsmYThrNo8ViNZB0AbX5X72rSZtgEl+HYjkR3qnl/BRwV1+Jeh/er6i1SZSm7MkMM6MVZS2+xtfb0q7gp01AOAb+lHRYHcexqvPh41Oo1PWjb5bVCaMfh5U+r1qlPmWkiw8p7U8eEcMHFwrfW3tTcilDyy5MLqRQLLMudJzckod/f0rRzL1H5/wB64gqduvSqeiVd4I4fALHIXUbkb7/lSxGPXV5rXOwofms8kViBdb713xWFWZFYWD89qm/BSji2VcyldWUMAYid6w3HXCwZlfDoP6go+nzr1A4a8Q1AWHT9ap4kWS8a6tPOmsZC/CPBJMPLh28ysvodq0mT5+GFmrZZngYcXERosyg3J5g15XjsveBzcEVadk3To36ODT1lcnz7o1aWGYMLimUdWqNSqNACU1ImuXWp0AdKa1RBpw1AENFNUzSoAB5/jzJuuxqjl+AllNmPP1pUqgicmjZ5BwcFbV351qP4NI+gvSpUWZp3sSY4VTzDNgAfpSpUy0Z3GZQmIa5G9VsTlceHIsOtrUqVLyC+wWwrqRtRfAYHX6ClSqjR6B2dY3+GPOtJwBxaW7letKlSZnPVnojyLKvKsrm6eGT2pUqGJq0CGzIWqELLKdLXtSpVL0NRVnaPLAvwjY9zf6VfV7KBSpVKeC3sq49rpcbHkKDOhbzcrdqVKou3RqsK0FpnXwvMNh9Sa6ZemoEcl/OlSrTRCyrIYnEFJAhFwRsf3FCc4zEYYi4J1b2G1KlR5EmDcBiE1mUj4uYopiuFMPjYtbA3PK21qVKrRMkeR5jwhJFI9iLKSAb86jlmcNG2lqVKmnZRqIMUGFxXXXTUqAORk3rstKlTAVqV6VKgCJkpUqVID//Z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3" name="AutoShape 24" descr="data:image/jpeg;base64,/9j/4AAQSkZJRgABAQAAAQABAAD/2wCEAAkGBhQSERUUExQVFRUWGBgZGBgYFxoYGBsaGhgWGxocFxoaHSYfGhwjGRwaIC8gJCcqLCwsGB4xNTAqNSgrLCkBCQoKDgwOGg8PGikkHCQqLCksLCwpKSwpKSwpKSwsLCwpKSkpLCwpLCwsLCwpKSwsKSwsLCwpKSksLCksLCwsLP/AABEIAM0A9QMBIgACEQEDEQH/xAAcAAABBQEBAQAAAAAAAAAAAAAFAQIDBAYABwj/xABJEAACAQIEBAMEBwMJBwMFAAABAhEDIQAEEjEFIkFRBhNhMnGBkSNCobHB0fAUUpIHFiRDYnKC4fEVM1OissLSY7PDFzRUg5P/xAAZAQADAQEBAAAAAAAAAAAAAAAAAQIDBAX/xAAkEQACAgICAgICAwAAAAAAAAAAAQIRITEDEkFhE1EyoQQicf/aAAwDAQACEQMRAD8AuPVKkQYk39RBOKFc8yegH3oP+7Fqs23uY/ZH44pZo849IH2p+WPJgasr5DggTnqwWJlUEG5v8T+jg5l+HVKnNoZo2CgkD8z6/ow64Ydgh+9fywWpZ6tTQmnQ82n+ztqYlV8uWrXGrbYH10+7GkI/K8ixFYAecz2Yy7TQOlohgRuJmII74vnL5luesxStqpkMouAFfoAB1HzxS4vmor1BBOnSskdQqiR8YBHx74iz3ivPM8nJPNtlbtjSNxwUlZosxw51h6j1Hby2nWsAamQKFPWec/DAwcHNUMwWQLG+KNbjtetWRq1I0SqhSjAgk6WIYSOzYa/Hs5TZqWXpCorcxETGkXO4tGJ5KlISNDk+DMKI0+YhRydSG91CgbyZk4XP5f6I6zWZm0T5vcGoeS86Yi3r64z+S8QcRqTSfL6FeJYC4gyDZvTF+jWprQaq4qVHLvpVJvo8sHZWg803gQPXF569UJqmDs23mFVFhLEkmxC2Ox1bkdtsR0lRCupxRDA3KM8mLLC3vP2YNvw+nGpFfld0hzdlhHYhdKtuwtYgA79Beay4JXzGdFU60q0l1+yRFiRpYEiQT1BuDjJcbUqY9griuapnM6HrgKU5nNF0KuAY5BBMwJPx9TSzvAkZwiVadblloWohUzGk6jO19sF87wik+YSqa9eCF+k8hQQyWXSoaNIgCRti/l+I01zBQnz0qKH11F8gKyBgAOaLhY1C+4746XFeDPrewPR8OLSblc03EGxER09CCOowepcPcc0EkjfQTPrvi5lMll6uUesa7LWSk7mifLADAOQo1qSRYWkn54g4/wAealUCDOeTIXlNMvAakoJUjaTAF7G+M3xSe2UqBHFqhClSbhl2tEh5m/oPtwKGbcCNTwYnmPrHX34IeIa+qvW32yxJO7FqJOo+sR9vrgVjohxqKolscXJYEkkjY7n4HDjVYmSTO2/TthmnC40pCLH7bUvzvzRPMbwABPeIHuwzMZhqgioS4ktDEtcxJvuTAk+gwyMKRGAAvwHOvT1CnUZEA1FQdK7qJPa3a9sazzIpCslMVAGp+a/msHJY/SSA45hywD3vjE8LGouAL6OpIHtpvF/h2kYZw6lxA0cymUqI9JCrOW07nooNzZRtblxm/wAhnolbiGnL+dSpNVcjTpDPAeLDSX9nTMkTf44kfMU/JFWtT8qXC6WVC3sMRKvrg67fDGT8MUc69KomaZTlhOrywCxZliABDRe56TOLniehWSlLBfLFSQRUD3NQGyg8sDVbvpnF3QUL4/zNIUUAIO7MSqrzKacEQqjYt88Y9+I0f+InwYY1efrZTOGlQDMwql1YMpRlBpsQy94IE/DvjQ5f+SnJHLaAgnSVDlQXFiAZ6HYkjrgTsGqPPsnxxaGao12RqqeVpsbxAiG7R0xqczxunmtNSlTamIiGIJNzcemB9Xwu1CqUJIpp9HTIYVCE2pisouLQNQHX4G/T4cwAvMC1/lGOXkuqotMGZpIcxaYPXrP4gn4nCYiauTUYMbqFBhTAMtIBO8d8dhxbohnPUBJgg8pFj3KjEGaWXJtvETfap07TGJMs4CSReJJEAsViASdhf9b4bUpDUNiSxvHaxg9RJP8AkbDlSo0J6rQznsnw3b8sWcpxX2QUuqlOSoyh1BYaaqlCGIBPUSD7sUfMfzjpiOUSRI7nVeQIPQHEYqgGyzc7/wB4LsP7MfqMXxycdA8iNnXqVarGxaqSIEgEldheROHZzxFxHUZyRY7SFPQRtOJKOb0OKhIWNUEgkTpOkRc7wPT4WD1f5TKvmEGgCxJNmP4rjRZHHAdovWzbHz0FOoCCVPIV0LE6ibAg7dbYXPZXNZOWprLEOIJ1gqBzSReQLntIxY4dxo5inVq1FVGZHJB6Saa3bciPxth/CaiE1dLUGASuZpValUCQAAfM2HaN+u2H1V2SAR4h4ghQtlVXVIBgndZ2mx03v0vgqD/RgCyGWqmWrNQnmpLykbmxEG1iemFo52mlQGKDXYAJmalaeQKeViAggkz6HoMXs77IFNNKguOSj+0g/TLBILGJN5Bjp1xaBu2R0qdQ001OKYFaq+rX5oCK1JFCv7TyzABj0v0xayVOjmKgUPTqQ7ipTKtDGkJZgIi2r3Hmjtjs0D5QE30sL0u+boiTSX3SUHaMDeCZuspqVKy+U6pWI0ZY0CB5lOTqIIJkWEGL4vqtkE3CF8yqi/0OCaM01VTUWJDydEyRJN7TbFnLvQRPpKaGWaC0WCJrABJAFyfeTjuG54nLtU5Gcedz6FViUZwDa67DY2wL/wBt0Tlq4qrT8xED00qaW+kJUHQD7ULvvv0xN2ymqCw4Dlc1QNarmWp1HQ1jTBQBSqkCFgtAUAxMn34zlbxLVgKmaC6VgavMM/FgYxe4RmsvmXzLFlfTSUpKIjeYzlQFAA1coFogExJsTFRoosuwQKC0A0gdiQoYdZsLDrsdsTN1RNAPMZqpUFR6jK7TTGteoAqxNhO8fLtiBiMW8+ynWVDLLUzpb6p01JUd1HQ/A7SR4fG8NCJQRh4I/wBBiIPhUf44sY8N2woY9vsx2rHNfDEEuDUyzuAJJpm0TsyE2G9pt1w3OZvOUBUXLzpqIq2pFlgExFrCCcO4G4FQk7aSd9JiRse8xjZtTzLsHTMKqfRlkdAzA6BPN5oiVOqCOoOM3saMb4c4xnB5lJ3hSC0+VB1gDTaxgmJ9Bjb0uFM16nlhJaopNQspGpGYEAkKAFNwLdcSZjPCmaekeYaj00Me030EqQy6pnTIuRe+AniXjLKVAqVqTMtVCoorV5A9VSDqZb6OsdBfDXsGw/X4RTqJRq5f9nU0GdlKFqobkKlTZZuy9cXsrxx2UumZplF3Ay7CdhYapIk/54xvh9hl6Sn9oqPTDLVVPJRDqlbFvMJgkLO9gYxNluLBDUDKChimTOkqZDSSQQq7AFhE9QL4l8iukFBWpwFWrGslQh6n0hKuQrAgsTpCSJE21EjvjH8c43mKVTlrBkcB0KqIKtMboDPTbpghleBUNZqslSkENMT59NlvrBLeWrdYmZmR0EYoeLM3SrZgKmgCnFMuhlDeTC6FjSWMgDpbD62KV+AS/GnqGarkkbWHr2jHYq5nhzo5Uo4I6aWmDsYIm+Fxk4kpsMCvNMEgANTcx6lhAHfDuI5vSoZbaJEEERBVo0mIsD88F6eYyoQEL7bEKV1BCQWAYSxIkLO2567mHjPlKirpKgyphgdQsTMjuBff7Mc7hRvkoZXPCoA6b/WWf1fseux9OGZGonYEmBBERv773I3Um/cEG4bRpohAZWlF1BpsTsVgA7/54P5vw1RNDz1CHk186VY0hT9dXENAHNp6dsOPE/Am2tmKrvqMfr9fDp7gIs9wylAGkTAJNj/l/l8zbzlFadYpDQLwWBbmWewBANiQZ2JVrg1GHriXcQ2SZNzRny4UMIbkRgRIMEMpESB0xby/FaighCqgiDFGgJB6GKdxb7MUQ3ri7wzL63AuQLn7h8zHr2wozlpBQXymWinq8ugXYGZo0lkHdSUVYMDfpBm2ry4M4yVUWn5NWUBAXLmohHNMMFVivNa+CTVP18vX3fZf2TgVns+9J1ei5p1IgspCyo2DAqQRPSOnQcq9D9sRe4tVFGiKIo13PltJQl6lMrVaoddSQBAUmI1WxV4fk/My5bLmpVFU1KZNesTpVXWoeXSQW0KCSGgb4HZnOa6ekV61JmD6yi0mDFzU1bgQCHIttirwimKKGl+0VmpEudBo0t3XSxkPqnTEXt9+lx+xE618zSY5cNSFNjVDalkrLvqBO4J6H1GIq1Oicvmi4XzFWaWpgCW101OgSJhZnfvg7Tq66r1CqkN5rqh/uVHQEiNU6dusGCdLhM7xrjORavllenTI1EZh2SotjUIsAbxTvIm/yxEY27G2O8OcFybVKzBxU8uirU2E02FTzNI0920wYgwWi8Tg+vHP2WmFdEputRabkMGaBqJJQMWIMbiBJxXTw7lKlEVqaqCtQFIepSQEGjGosx0NDRrEC+wIkTZLiTNSas1KlTqBGCMrh6o+lpUizsIZTpqGCTJ36zi2hWA+O57zWL25xTaQI1f74AxvsBY7bXwGGLfiHiIVPNqFyXK6mJ1XDV1G/ooH6tn/AOclHufl/njSOhBY4dOBP85KP7x+WHfzjo/vn5HFiCynHRgWPEVHqx+Rw4eIqH7/APyn8sAGgyD8zbHkPxiD3H340+cypqOGWnm/YomcvUQUxNKRKlxBAHQbe8Tj/DWfStWKU2adFQnTqUgBdw0cpmBO8nGpzfDUqVqbvRFVtGX9vNik3smdY2cmBJFrDucRIaCeaVGoUl1FWCUGV1DVBC0iswGBA9ZOxnYnAzOeMUy5Cu1WoBTdfYIJaojgMNTXS63nrtheMcWOvLsllqUKbdSQQyiQdwdNj3tMkAhc9w+nmI8yxE37zPUKYM3NoO9jJbJ8iTph/hnPDXjulTzNB3okCkjofLQanLJoEyRN+a5N2bvALZPUcxVajT1oxQeZTAK+wNS6SIZSZBWPwxb4LwalQJPIxkEM0yI/dKoCPgRifP5QaxVpPDzfmqG3vYBo6lQwmb4TnFoMlrIcGSiSyjTJLsNTIAqgkg1F0uFgExzfHfGO8Q8OrLmXeoy5ek7SID1yYCzzFtSnTpYBo9oWAxrcxnnkOpIKgyZEjvGkAERuIt6/VzfHMvUrSwYvzFipMyzASw7kgCe8CO2KhNClhYKtXxhmFqMy1nMwupgNTKhbRqmbwx+eOwDcXx2G2zNSNDT4dmadGn5oVhRgqq+SQGBIALK+o8pPe5v3xBxni75j+p8gUSSxLahJ5QDMQZnBdOEuykMijV7XMnN2JAb1NjtfEFPwn3phjsCSkxEAWP29cc7lfg6Exq+IGzD06dPLOvl1KbOSQ6hVdQSbCBfriCjwarQpU6r0K9IKyu9bUGUUzJ9jWRsyADTuu94BXhPhnRWVgmgXnYidJ0kgHo0XGK9fwI76l0IAwAkZgME25tAXU0XOnfGsHaJbJc34oavS0GjVp/Q1SxqksH00jpZBpgaXgyPS+85zK5J9Ot6jKOnMRb1J23Hz6SJ1j8JqpPmPmM03lsiclVgNWnVqLiFEL0k3HwGNwfMNfyq9xsyExKqLALELLx6g3ucLlECXy4BvVcdRNQD5SNsFfDhIdoqFhHMpYP1gQIJFzE+sQ2rQzW4XWAA8rMEiwmnXuB1BCG3QfcNsEOD5CqFLGlVgyPZqmwG4VkHQn6pkTBJBpvhFOxhJ6vX9fee47+0Pa1A1c7ma2tiY93oOk7/r54L8WoVdMCnUJb+y23W/xPUzLXglqoU5OoP6t/4Th8jbwUhgYjaMWMplpuYt7ugkk6rAAXM7AgkBNTLBTp3uI2EEEmSdtIIJv0kTsOYgG02aIA0noCDIteQQQB1uCoAk6h5ZNSmVFeWBPmeJMrcjFWEy0kNPXrqm19RmQJ1MvmNGOKV3ZSa1Qss6SWJI1WOn3jFGmfcPsH+WCfB6Vy1rbR3g9T6T9uwBIak5SAdxTjNeksmqx6N5iLVWJkSGHLzLY3Bgg6WVlwKq8br1qTqj0uYAMqUUpOwJ2BCgkSL3wa4lkvNXcqwnSQSsd52ty9f3bwF+iyuurSrBaruBqAOpm0xMGZ6d59QdjjZ2ZvDDS8QqImgKhUSQZcH2ywgqwB9okejdjebNZSuBSenReqrmnqKeaeW/m6fpRDKYABBHfCVOGuC5du7GYsLjlaeaAxmSBqYEnmGu/Q4d+0ZZRD6gjoQvlnSy1i6hywLU55WDDcHrh8cn5KaKVPgVYikai1aZq6FCo2rTeuzQGDknSiErNtfwwoyNRaYKKHLUjUXWNbezQITUCgUAMxmJtGCWVy/0S0a6MWevUqfTVD5iBKSw7MgEgw4FtgInE/iHhfm5dQKCVFSNKotXUoCARIdGIKhTf7fq69hFCtkWCK37MXAYq/l0hr/3SspCBzbW2k3Nh0MYpfs1QUmdck6BVLQ9MgkhCx5VPKuqOeeURI64u5ii9OilMpTorTf6rhzdQIKmo5LGF32+ckQRSphWAqySeYFYlQCBocSCO+J+SnkdAvgtQuXBy7LNOh7FKpTBWpUGoFgSFUAEgmzR0w7P0UUDVTpVGpQqmpTSowVSYBYix0gkTfrti1QzVGjDLQWmFO6vVmLSD9INS9lNvninxfIqtJ63mMxbm0MgVFLGZWDYiT33+cSn2VxYJFevSrZhkZabMEQIBTpnSosQIUQLgn44Ong9UTyi0zzLaN5vYjEPCab+QrUxULLVaRTUMRKMo1BgQBIGFq1Mr5sVMzXSrza6HnIo1eWusRpmGPKL3IucT8SmrbBYK1YlX0EcwnVedNt3iYB2mwvv37zLKTylpgGxMWMd4IIkdsT+ITVNRhTzFOhTNOuJcamJjWVhoEGd56bTgNlWf9lol8wlYawAFAUpFWIIUENJabkR64iX8dJYKTCinAaoSHaPZOuPg5Fu0asGJxS4o0lNuo2H71Pc9fjjHjdYBgY8HLu5Gr2mICgG2owTJETBgenS09gzwypBb1AP/NUwuNHyMjojGZypNQncW+4YgB3HXr+uuGqxPU3wpXHatCHq0fqMdq+GEC4aPfigHTHfCiqe5+eGk47ABIMwe5+eJP21ujN/EcVmOGzOAAgOKVItUf4O3v74I8P4nWMqalQyd/MeOnY/dczFzgEpxe4XmSGNlIIufrC8XBsQxMWE+8SrZ8mho1PH580zzcqDof6qmCGn03kXECGGk0xLEzcXO5Jkk+pNz7ziTxZm3XMOAFOjSCCDKjSI2baTv336Ej8hnw4glFa+/IsdOYk3J6RjlmmwTWi4lz9XGkygCqBNhsdr3JPSLgzJEaTJXSfIy7Z7ytLRzHVEdCpjS1wQZ3iCOVgTsbS+KUEQr2/u9NPYiDAG0ewI0/R+TfHBrJVmhNT4R122/hj2T2jR9XSfJpcayCVKfNYqLEC46ARHpEQPZIgAEUBq+KafUP8AALb2ezDsNo9hY08nlQZrxGGSADv3AtA6gegsAByr0Cqmjv6DBa4QXAWkWLopDCUgiJAAMm0mBY+0QJnSTdWgrnURcxfr6bTNz/a9r62oedmOH8dprq1K0mB+8Os7xHyP3hiP856Ox1/IHffqe577neW1yk6yGAlk8outiCtN2SosgcrM1MqrDSCQeYSBMyCJka3cA4bXo1QBTmlUam6NRBeioB59TOSwmDIm09Ogmr4hosL6++x377nue+53lvMr1/EStuIJBDGPa7E+vWe4BBmSWnXgQR8TZhlYtppmj5pflrBnaYgmlqJBEEGPiAMP/nNl67cnmsqJUdgy6PZUQJv1PTAJuJIRcvqABDgAMWgyewuY9xnfUHbkOIIhIcl6eh1KGVDFuWZUHSSlyb3GHh7QWHfEfE6dNKtJk0FSoGo1R7YU6tioibrFwCQcQZ3xFl62XCU6mp4WVKG0b3NjiieJZWWii4Mys1nZCyg6GamVgwYtP3YHJTKhACAHRmYQLsNcHEyUV4BSNi8usLIMfVB6CItBiLaSSALC0AR8Sz+jO1F/aEpA1CfK8qaktSAJLaZ0t7PyNsTZbMsiZjTykUSysCfq1KWqYuAOo6z6YZwfjz165WnmlzB01zFKk9OLIVN2MgxYdPjhwvrkBvibhdKuwFRAQFQgwNV0Xci5+OGcE4CKSOtGmNLsNR0iSwgqNRE7gEKD8MHK+WR6jp9K1UctyTLeXrj2I2tp1TihmcpmBlgUo1da1KoUeVrPMigalYAKCQRM29TiOsnLLwPBBUWDBBBFiDY4p8Q+ofX8j+GCnE71nPUmT7yBP2zgVxb2AfU/9D456qVDKlHMaTcgSF/E/jjsVyQxPJrgxaCQRYggqe0j9R2NepNmZANztHfDNeHRjpsZx2kiasOF8MbHIcMB+nClfXDQ2FnAAhO2EGEbHTgAlXFnL0JIYRJIFzAiZ3MiQwWPfB3GKq4s8Nz4Dmm8aGIgx8DNrjpJBj1FsZz0BveO8QGXJqHLedNWuCfLVjy6VWWKmANR3jqMBsn4qWsuink4cGdT5dNMGBHsEXMnpPcYi4+1UZit5dR0Bq1DyMUB5juA0GOjXMAT0JibitYEkVaoEbCq7dB0LzPuGM+8UxlHxDVlyAsKlSsqCTAVahAjeBA2Fu1oGBZbE+cblTvzm4IP+8fcH8hiqmN1oQ+cOXCT646cMB2rrhVN8MLY7ABITjpwwNjnbDAk1YQHviOcOBwALq74N5SgrimS11SDF9IZmGwuSZgD1ntIObY0PBqZbygCZIgD3kgi7gbHqPnOMuVWgQYpVWK5iLf0d4+tA1UzcCzSASb9LWGpqB4ka7aaNV69TUWKrk9DaYUmBqgi1xt6GcaClwqqqVuVlHkVFEQ0k3sAeZpmZg+t9IocLztStXU681UC1KisatAU1UvQcCSqg6iYsbbHERVIoa1Qlnf6YVRVUeWyA8mmQP2XSFPLHLqnlkAXxd4HVrCg6VUrKVFQkvS0LpLoVAMzYCNJsOmLL1wKisWqk6FhVqBqR5NKsIMbGZ9+Amez4ClqjHy+0yah7D+z9/u3JT8ANr5s6WKkAW0zaSDJM76I/P8AdxLUpGopkgAwRqhBMEMD+6t7TcfZinw+t53Ow7EDp7TAfARt3JJvEXc3em/90n4gSPtjHK3WBgQ8L1EhiZUkTs1iRDdyCDftjsW8pWkuSb6z0nqT+OExpYqMkccDhpN8dOO0kU3xwOEY4apwASTji2G4QnAA6cJhMcMADw2J8rw01KtI6hGpR8NV9u0ie0j34rg4LcEP0tAWP0tPc/2xHX1PbfYSSc5ugqyxxmt/SKgLVJarU0gQ29RjAlDFztJj7MVqkDepHvaj/wCF8XM3WY1WIEQ7H1aSYI5ptcenMCNxiFgdOnU8AzYuCAJ5fbMA+gP3Y43sYKrtyUwL8rbR/wAWp+7b5AfnErdMTZx+VPVW6R/W1dv11w3IZvyqivAYqQQGkgxtMEdYPwGO+OhGpPgY6aX0hDswFQQIpgqXJmdwsWO5Iwi+ClFSopqNoQ01GmnqdmddWwOwHWcDG8W1jSq07fSszM19XNpBAvAECNtrYsHxq5NQvRpOKhQlSGgFFCiL4vAFir4SpoamurURKQpklqXNL6vq6piw+eIK/hUBHqJVDIKXmodMFhq0kFSeX33xGnioDWP2eiVqaJQatPLMHfuZ+Awyp4pYhlFNAjU/KCrICjVqtvJnCwA7hXhlq1JqpfQAGKcsl9IJaLiAIib3OJqXh6iaPmnMgKCFY+SxhiJjeT74xCPFTeZr0KFFNqS0wTpVSIt69cUafFSMu9DSId1eZ2gREeuGAYTwfyyapnQHKrRd7ESAWW0xiM+FSBraoq0/LVy5BiWFkAnmPr7sNPi0FQGoSQgSfNqLIAgSFMYQeLyVVHpB6flqjISbldnUxyN7sGAAxXGs4RmKNCjlqlWRqNW4uNVNpVTCkjUDG46d8Y96g6WGNb4Z4i9Gg9RGJK02bRJ0yKiiSDAkgkbmAJtiJAEKVdSGrNmqy0DUIppoVQQ6K7AloaAxI+E9cLxDiNHMVy+uqk800cxGrTygFNHtEEGJ2m4AJwUzXHKhVzVoimFLR5pp1BYpYwWIOnVf1GIMjxRatSpTQUdRLLTKhdRHks6ssKNQ1D3yMZP0VkGcW4lRo6EYOORUKBtTBAPrE6QS3YiY9DBzjtUzdQk2VewlVBmAo6se25udgSCeX8HVSWfMCpEmLGWM3YsbBZ7kTfYCcEKdBKcCmAwEwqhi8ADW0FRqNpYgkgdIGIljKIVy3obkcmKaxtYCJmAJi/UySSfXtiepdWHdT9xxEmZVzYzEdxvtY/q2JYxyW7yagFKpEx1b/tQ/jjsJl6ZYn/D9qL+WOxuTZmpwgwkbYcBjtJOOFAxynCjAAukYbpwvpjmOADjhMdOOwAKD7sFfDInM0LT9Kg3YXNQG97WFj2PoYET+v1tgr4Yqsc3l5G1RQLmw1A3HW42v8MZcngZYqMZNjv2X/wAu0dRtaLQjbbf836PzxSTiqlwjLpNhzGB8TiY1UqSvKYvytPpuDZb7d4sTY8lOyijnGtT/ALv/AHucQTiTM2FP+4OhBF2PXEAx3x0QEOHcHevJSDDohk3lyQDttI3+zE54C8JDU2LuUCgtMj2gZAEDrfr1wzgviV8tqCKp1FSZnpqiIPr9mEp+IWVqbBRNN3cb3LkSCO1ot3xQDzwOoBVMpFKNRkxJBIAgb22MQYG+HU+A1G0aSjeYGKkN+6JbVbpt7xGHHxSZc6BzKFHM1gKZp3vz8p+t1xBT45DUzpkU0KQGZSZ1SQwuDzT+eACpWpaWKyDBIkGR8O+Gzh2czvmVHciNZLEe8ziv5uACZMMZsNFSMKTNtsAEqNjQ8GzSimVKapV0IZGZCGZTEowIMiflY74zarbpgrw2ANUDqpJgiDvIIIAvvb8s+R0ho0/DWSiCaeXRWcFT9FXqWIiwqOw+BWPfgnwriDpUpkIoMgWywSLgGGWmPq26b+lwYyx0gaUIv9Wnb3yv3YtZRYcMypylSCFpg8pEXCTPxGOdcjsoNVK7HKVHNMQHrIWkqfZqpDX5gQQdr74wfEvFFWtVDrWqqKTHyua6x1Bmx+O1sa3inhdAWqtXpwWdwvlsG+kEBWYuU3dbxjCZ3IijWqoAoUMYAsBfYY6yDWeFOM1apqszitVApafOZQWUM+pdTbb+/BehmKrhvNSkgCnapQclvMXSQKfMOSQenxxhuFvCVdO+m3yONRk+NUWySzlafmEA61AUhtQJZQAIveBjKWbGgbk6UM8j90X7iQfw+Yx2OzVWHb1I/wClcdjmKoxqg4eMLTbDiMdxA2f1+jjhhIx2ABwbCTjhhSuABDhfeMNacdOABIwa8LWzNIkEAE9pssg81ivuv7sBXb3/ADw7wnRqftSkBgoFYzfTajV+G/24iasLoMjbYfxfoY53AB2jrf8AP9e/Y0shkiFBcuW5TB8zljdSDY/PElWgb3I//qP/AJccVZKRSzhjRA/q6Z+ag2A9+IB8cTZ8mVH/AKdL/wBtd5/Xv3xXLY71okQ44nCEYQn8sUBwGFw7CLgAccITjsdgA5b4eD1xGuHTgAnBwSyLnRH9r4bD7v1HUUrf6e/BXhdHUVExqcL8yo9O/f5b4z5NDQWoOygAMQOx02HuIkD0Jt6bCbK56Tpfc7HafQjod/fB2IIBD+b8q5pPqZQ0LoprOlgrKIqkq3WCBPQjoEr0CpKupUjdSII+BiNusbdI+j43CtlGizHFEprmqdTMeUalOmyKdUMTQQRygrOoDfuMYbjNUtmapPUg/O+NHmeJ0nAFWjJCKobzGElRpuIsTH3ixtjNcWqg5hjp0yqGBPVQeuOyErJaLPCQfpI30mMFuDcfy4yXlvl/plWNa1STN4bTMRtYYHeF2BzCg3BKz6jUs/ZjSUuOsdIanRBK1V1M2WjzFnTylCyTHsNvAjCrLGgbnBLWkbH7B+WOxf4sgGYeAACFIAiL6tsJjlY7PPqTRiZqgwCNLMD6tT+A/lhPp+z/AMB/LHcQHlqDEb1sBTWr9m/h/wAsNNat6/w4ADnn4lVpxnv2qr+lw8cRq/oYADxNsQmpfAc8UqemGDiNT+z8sABpnnF7whXjNGOZvKzBLHpFCrAX09fw3zVPiVSQIX9fHG08C8PUZkkEk+VV6910nYeuIlV5DJR43mKn7XmEpDlWrUCqqggKHYCLbAWxUZsxGzDuSgA+JK4O8UVVr1jHtVnP7xJLtA9T2FvSLtisENSyLLHlAAm/aQ0em+OZtXhBT+wfxEw4E7U6XYf1VPpirpxa4p7cf2Kf/toPdinqx2LQEmEGGlscXvGGA/CasIThAcADhhScNGEnABID8sdiMHHasAE4aMFeF140ns4NhO2jtf8AXcgEL5mCvBaAqQmoKzMdJadNlvqgHp6dCINwYnoaNVm9XNVSunkGpVVimWNVgtXmUVabABgbw3fbFDjNfRmBTI/q6UWgyKSWI3Bt7wRB2BUpkeC1aellrIjNpAYecAdZ5R5miIYxudzckycAczSLVNT+2CJNr3jpY+/84XGTxkY3MrKkeh+we79fIANnSA673o0rzN9IH34OVbgx2OM5nasNSL2U04BiByu63PX2d8HCDCPA630tt4+PcY2lDOhhejRYkzOi5PeJgH3AYxXBQGqApzQLntO09pP440KcS0LKaWuVN+wkiRcTtIvBtieRvtgFoIcTpy+t6lNNQAvMHTMhdINhMTtIIEwcdiJM+NxUKkxJFJajGLDl2poNlUdAT1x2H1QWQ5v+TwHmSvl56hmZR7wdJ+7t2vUPgupFno+pFarPpH0X6nGwbwtmRYpSM/8AqD88S5fw/mkFqKET++Dt8fTDVe/2XSMj/wDTjM2E0QexzLg/GVH24k/+l+e7U7dsyfX1xosz4dzlR5NO5MzqEb9ycRN4fzqP/unPWzAg/LBcff7FQEH8mOe6BT7sz2/xYiP8n2e3CMf/AN4n4g1B1xrKC5xf6hz88RZrKZyo5byaonoP9MFx+2KjMn+T3iH/AAqnwqof/kx1LwNnqbz+z1KgH1WddJt6VQftGNGOH51f6vMfr4YZ+x5793MfZ+WFcV5YqBtHw9nEOpchzDYhmm/b6fp+pwQp0uIf/gE321m8RuDXvtti0HzwgBMxaPqj8BiCp4qzlNtLAyDsRBxXaP2FGcr+DM9UZicrVmSTBp21XIEPIn0O2KdLhVTJ5ikM0vkyVcF9KwuqOUqWgAjYXG/XHoHDfF1SrWEApCguGO5sLe8YE/yh5jXWQEbII+JOIkopdkFHmniXJsH8xailWVZAam5BCqDs1xItb0wCGZaQdX/J/njT5rIUpIAaBEwVtPQajI+G2KlThlMmwUAjlE8wj49f0e1rmQqAgrN++P4P88d57/vD4oe+Dv8AsimLkepM2AF7/rr7sFaPgd2uaUCQQpqIHgyZKFtSi43xXy3odGNbMuBdl/hPrjhmWn2k/hbB/wATeHfJAlWWYjqDd5gi24xWyXCUKLM7L/1kfdh/IqFWQT+3tPtJ/C35Yetd4nVTP8X5YhfKCTvgvTyNNaIqEmDAsvUbjV9Uz3G2Kc0hLIPXMNHtU/8Am9PTHee/en/zfli/keEKdMkyVZrRtqUD8cPbhmoKi/WuBNp0KfnBOJ+RDBpzLd6fzb8sa7wjlyDSJdZc1eUTpH0R0kkiLmfhjOvwwaiJ2QH/AKcbHwzkh5lBVn2qqj+GoBhSn4BIdw/huY80Hyqopr5FjmF0K6ujMxUt7JCuQOkiNsMzTL5jFDK6zpPp0+zBFalSpS8s/RFBlwoq1llv96NSzACklLdzY4CorKNLAhlkMDaCBBntfGfI8DWxzGR8PxxWzH02VXLugKo9RkaSGGppItYifvOLAP4Ys5BAVNupxkpuOigdwvJeTl3phQA0sWkktCkAEbQLxHc4cgMSZ9mbmZ5TFxvvY77jtg3TUYDUjuPQfcB+GH3chFrLMAzT2H/U+OxSqZjSfePxJ/HC4ZJtqHiSoQB5o3P12b8cTjxK9+c/xY8OzeSKVCkmzlflE7YuVuCuhojVetAAjYmP/IY6DSz2EeJ6huHMdp393pi5S8QveWn5ffGPGn4FVTMeTruEDkxG5jpOAzZhwQdbddie5GGlYnJHv6+Iag+sfkPywq+JKkTPyA/LHz6+cfo7/wAR/PDqWcqReo4/xMR9+BxaF2TPoAeJake1PwX7RGIn8VuBdp/wj7LY8HXP1ZP0zfNvzw7/AGlWERVe39psKmO0e9r4pqW5hHuE4hzrVM0yfSU2aIXVZuYkhSY09CAfUTGPP/BXiF6yvTqnUyDUGAuRMEHuZIv641tKt7Om3OgEj1PTE+mV7RFlQyV6oYQVABG1wVHwvh3jGpNdQd1pqPxw/O5zVnMyf7aj33X8pxU8Yn+kf4VxjyYgSZvMcMBBuDvEqpgmTckEkTh3CeHk1qakcrVE1BiDN1BEKNotvicPi7wmnNTVqC+WPMkgkcrLa19yMc8ZNuhUi2/ls9Om2TQirq2psQdBYDSdQ+2cV83mc09ZHC1tOtarU1oAhQVB1U6kknULQYuOuCea8OZfUSUGp2YwKtQSyqXIU6SBaeuFr8fzCBP2YK9LRSKg5lEKgINSsGI+sD0BtjuQYAfH8mGopKuoms+hxpIDVnbbowmQfh1wEy66VjfTA26K7dPcCfgcaXxJnHqU0aoQanltqhg8c7kCQYPLGL6eD6CIzsWd01hocrMMSwWJUEGQNQMkC67jGTzkFFt4PK8zRKsQRf8AUEehHXHU6raSoJiZibT3x6tQ8NUChKk1Ikgk6J6wtiE36giZsBivlvCdF01IzODcToSzAMovTYatJAMkAHr2vuqI+KXgxWTcUzSLRDU4BkR7ZN+33d8XVpgSQbQlgNYBBABmeUkW/HBvKfye0qxDmrysNVOIQle9QaX0MDKkBTJU7dRHFfDP7K+pHYqWK6SdnUB+ZlgMmkhgQATsVBBxLXsdNbRTq5afMIDTpgQLbAmT0gD7cHOE1mQ06igHRUYlSYkEsDBgxY4pUyVQgiSwJ6CAFAJPbvGLfDwQvvJPwJnGTk1kaQ7MZagrnnzjAqqMuqmRo1DSpOkGJAj3YizudNSo7kQWZzHUSdsRcQeHJ/sj5c3+vwxEigCBsJF99zv9uLlNyQDmeD8R935wPiMSZeqQrFSQOSfjYss7SOh2IOK9VrNabbAT1Fj26XG3xBKtXCqTEBhcGZHMTAkXN98TQEqcQafbP1rFB9Vogx3GG0vab4fe35YrUqLG+3tbz1iPz+WLJqQZ6m590kkn5n7BiqFsrZiqAByzb1HRe2OwtZDAt8/7q47AAb4bwNlq0hWpr5rNWqEEITLs5WQpKgkAWm1sV34FnHqUKhy5Hkp0potwUiV1HWZG3YdsUAjJSy9WQTXGYkEGwosALzcxN/vxSr8ULKrREoXsTsCeX5iQehxam70UHcxkMz+0NWq5EV9VPTDZclVhpGlVNjHX1OM7xDw+tMUUqUzTc05caYadVRuYHaxXfsMXM/Wc+amozSphpEjVqaku02gNv92K7ZDW7Kxny/I3vq83yR1Non1mOmNI8nkiSvAM/wBlUtaqssIJM+kCLYN/7HpR7AxX45khk6oRAplZJ0x19D6YiHiV49hPt/PGPLOU3aHFdVTZcPBKX7gwypwOkfqjFb+crfuL9v54RvEzf8NfmcY3yFWgn4WyYp1qpAj6OJ/xp+WNbk21Op6eag7bTPu6YyPhjiPnVKsqBCDY/wBr/LGzGY/+3IAH0gtjpjdZK8FICc3mLxNT331H8cJ4tqg5lvQKB8sRI39Nq9/NJn/Ecd4rb+lP7x9wxnyfgALXBPhuap0aTvVUlWZaRhWY6HDsSFVlJMoo374GrghwoCpNImokkMr030MpUMN4Mghja2MeFf2EynS4jlqBFSnQqtUJU01JrOmmpT5mkuRq5mAWPjheI1aNRKdaiI+lekSqeWCIpHnplmgguRIPrg1W4PTYavMzIUQpQV4BZQFFQnR7X1vf22wG8Sv5KwC76X1s1R9TuzBV5mgbaV6dMdk9EFDQBTqDYc8dgJP2YN5fjS1FYVPNUsfpERgEcwtzKlkLD2tJgmTaTgVkwClwDqkn49MSHLBBy9fWT8zjj7dUWmFX4oj6tQqJq9paThUYAQLMCVMAAlTeNpuZKXFluVZqGwIRA6wohSuogowUKOoOkHeZDUxfD2AHTD7t7RXZhZOLryquqmKY0owAc6dyKimNUtzSCCCT0MYFcU4gKjLTSXvUZ2qHSxYqF1QshVCwAPtx1RIE4i1YPl9CbZHmqkBQQrG/tWuALC257YuZaoGUEbYgCgiDcHcHFQv5LNFxax6zMfERv1+3EpdkII5rKaxOzDY/gfT7RuMDoIJBEEdO34bDfaB0A5EbjxH1R88RV+LawOUAjYz8YPp9xgjFL2IsAfqJ/X62w4Aen8OI6DyB7h174e4j9HF6A4tcARJ2m3fv0/W5JxHTp3k/6+vp6Dp78TKPQfb+eFRNThe8z8P9cOxUOp0WPsxHeSPu7frvjsEqdhAAx2Jsqj//2Q==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4" name="AutoShape 26" descr="data:image/jpeg;base64,/9j/4AAQSkZJRgABAQAAAQABAAD/2wCEAAkGBhQSERUUExQWFBUWFxcXGBgXFxgYGBobFxUYGBUcFBocHyYgGBwjGRYXIDAhJCcpLCwsFR4xNTAqNSYrLCkBCQoKDgwOGg8PGiwkHyUsLCwsLCwuLCwsLCksKSkpLCwuLCwtLCwsLCksKSwsKSwsKSkpLCwsKSwpLCkpLCwpKf/AABEIAHgAuQMBIgACEQEDEQH/xAAcAAABBQEBAQAAAAAAAAAAAAAFAAIDBAYBBwj/xAA5EAACAQIEBAMFBgUFAQAAAAABAgMAEQQSITEFBkFREyJhMnGBkfAUQqGxwdEHI1Lh8RUWM2JyQ//EABgBAAMBAQAAAAAAAAAAAAAAAAABAgME/8QAJBEBAQACAgICAQUBAAAAAAAAAAECESExElEDQTJCYXGR4SL/2gAMAwEAAhEDEQA/APbjSJrP8Z5wjhU5AZmF9FPlFv6m2+V6FHD4rHIM5MSN0Fwtj2GjP+AouUjK5zepzRTjfOkMGgOdtrA6X6Xbb86HTcOxOMALt4Ue4Fvlpe5+NqL8K5YhgsQM7ge01iR/5Gy/Cnca5lgwvlkYmQglYkBeVgOoQagajU2GuprK5WnPjuX5/wBQDwPL2Qs+JZFiS+hO9j7ROwHpY05v4gYbLlw1ja4BsVGm+UWuw9dq835658PEcM4vHho1cFEbzyuAQQxcWEem6qDvbMaq4PANHgIJE1xCt5Dr5gT7J/62NZ45d6XZh8UnDZ8QxckzEtIVItlYaAE9xsRWJ4hPiYJmVYvGdjcSnoeugBrb8NxLLCftECs4N7DUehuRp8qxHGueZopWhTDqJcxKMWuApGnlt0NVN2jG36rT8ktimOUuM7XJ0sAPxpcfxc0Eji+YnRgdfitvTpTcDiWKRsxCShBmZTa5O59P70cxHH1aERtGpPVibk+u3WjUOZ37Z3gmMWJjlkM4y5iP6fT0o0eNo6ixF26A7e+s3xWVEXMhELkEXW1yD0IO9ZiDE+Hfw7i+7HVj+1Elqr45Tpt8fxtIhqbntWcxnNDsfLoKDM5Y3J+dNtWkiZNPS+Wv4gnIEa16yXPHOD/aMpNlP7UCRyNRQ7mHDtN5r3IpTCS7VbRvD4rPrvUprEcO4s0LWbatjgccsi3Bqg0vBeDrIuYnXtRYYJVIYaEdKy+BxrRNcHSieJ5i08ooAjjHAOcm1DcRx8AeXeqPgyzHY2ohh+ERot3NAC1geY36VY/2/wD9qZJxbwyVT2ag/wBWag2r5rxM/C4cPiGWNgZ0j8FibZcjubsNFJCWFgQCQdbWrQw/xh4a0Jl8YgjeJkbxr2GgT72/tAld9dL1jP4q8RxDYGTMBIpeLM2XRCr3GQ/cJNgV1Ot9q8n4dMWGVEZpCwK5RmuoBBFrdDY321NR9cRGGExmnqHN/wDF7Gv5YomwcZFxfWdlJ8puRaO4Gy3OujaXrziHjTQzNLC58R73NyzEtfMSTckm5uTfejEXDJJ2UzO85F1EcbHdAT4bTagMAPYQM1th1qzLy0rGGWJoZ8yC8MQIuqsSVRiQC+UNcakW67VPjbP+v8Xln4/iCcC5exHEJMqL5bgM33QSdiep9BrXp8cOH4VHEuNMjNn8MFbZUJGZc1z5QR1PrUfG+A8PszYPEHBP4JcIkhzO4ytE2UXsysNSNfMDcVFw3AYhsKMPMsLxsoZsVkeVp1LXyAXXK+byl7knTrvXixuMyu8jOaMRjoHSylsJPZjEhUzZRbMV6stiLX3O4q7ieEBCJGjCkgGNGcSSKhAv4rDQMT90EgW3q1wnl+HCMGlHgIFUtNMWLWXVY0Z9TpcWGgHvrP8AHuZc8riA3S9gzDLcW0snTW+p+VEx5XbuaW8Viwou5sOhv+HrQbF8eY6IMo2ud/7fjQ1mLNmYksTYkm57den4U7L9fD8qqYyCYyGObkkm9+p3NcVakA6fWn+KeF+u3v8ArrVKQ5a74dXMNgmkcIouWIA99tNdrm34UW/2+E2Piuhu4AtEoG4dzbXpYfKgts60DBc1ja9r20vUXStfJ4D4ayllVWzEDKxTNpqCRdb7Ed6zOKhUGyNmHcrl/C5piXYNxHhAkFxoaBwYiTDv8a12Wq2N4esgsRSCXhXGlkHrRO/UVgsThXge4+dHOD8dDWB0NGjblOY7R2A1oXPjGfc1ALNTiLUjNArmU041y1IBHAuFSYyJfFmfJGrrEdZyoS11jiBut7qv3Qbg3NrUewPJEOFTxcXO0XjZyuGTNmbwiAyPdf5li48lgDuTa9XsRzCiSyYf+VgJUj0xCnWRSp8zNluHGZiqBQQSQDoDUMfD58VnixaPnZixxOIlEUZ8pMUuHiKZzIysL3JChQPLcBWy77T4njBjeAtLlwcuYxNHhxL4hvYwsAQW1DBVVhkYj29Gq5w7hcsc8phebCQSf88RyLOugMYaUA+EXDKGIuw0FibGrXD+Cv5WxGJjlkBRnaTEIA6prHGqkZYERgWzAO5ZiwA1vBiedkjRhHGksjedZR7EJZLHwTYGY7XbKga/3tqX8DvpPzTyiqRxYqU+DICTDILGOO7eJCJWYWCgkglh5r2tfQjJub2UELnmmJDSYmfRQy3yrhoQbIq9DdTcXsb3IDFYxppM8js7a2uxAS+4jXUIDYaAC9taYOunr+o0t+ZP609K8fazjeJTYhw88ryuBa7kEja4AAAQEgXsANNb7iIJckf52Fxc9P3prb7+v+de1qcV6e/p89tD7+1qZlk7D59vh3109KdGmx21I3/D4a6e6po42ZgiAs7GyqoJYnTUAXJA8utradqKx8DSOLxp3fIH8IxwKGkD3sBOzHJEAb6EG+ljegAoj0239Ouw6/V6OQcCKgOwE5MXjeAjOrMhvlZWCnxLEEsiDMLjXUVZiwWHkwxKMwjVwpkZB4+HkcgqMQENpomzjzLYpf7wJtRxeJCQwxZx4+GlkCuhzKI28ylJAANG8osNFXXe1BLP2z7TGqIVhdPMsYIWKTdgyk+xIBr5ib20IJqv/uAOoMkQlkGzFiFY2sGkjGjuAAA2mlUMbizLIzsFzHVsqgDsTlHU6n1JqNF+u1Gz0kxuKaRs7kE2sLAAAC9gLaAb1TZflVkjqf2phTr9fOkaswppBFSkU0/VqRoJ8OHFjY1mOJcIMZzLtWrtSdARVbIE4Fx6zBZNu9eggwNHoRtXnHFeB7sny/aq3DONtEcrEkUE2jjWu2ocnEQRmBuKZ/ri9xSU9Il4dDililQLJHGUeNwMqKSQT4RYjyk7xMV1TYAkCKfOTdWDBrEsZEBJ0F3zE5z6lunTpk+UOU2XEDLeaMKZIQHCgeMAh8SwJV8igkIMzFFUlRRfgvMf2kPFHDmnjRy0j6r5TlUpGpzMGsMykgoNy1RlddM5ju6gVz0jxYaKUZPJIAQHjKnMh1KqASb7NckZm6E0BwHEElW67jcE6r8bfI+laXjnBVxEWUTxSvGqGXL5GQk5fMMxBFzf47LuPNZopMNLuQym1+9raHuNtOxFXLs5udtj6ev0fhXR+XTp1Nzr7qG8M4wswsTlbqOh9V+tKIE37/57U1LEV7WF9SAB1JOmg3J/OjvDuV3M6xz54cyMUyqpaQoCWjQk5VkAGazXNgRb71ZpCfd69vd61tJua7eDOCHLhRPCTbzxnySp/Q/TNbzAKDoKcK7WuHwmOFMOjCN5DdJoiIxjFBJaNZSC2Gm+7kNyMnlN75R87rhXaTNFHMUERwkH86MqGJYY6Z/+RiGOwzX670HxnEXlaay+FHPIJGiBupZbZWOntXF7i3xtVWGAdh7hsB0o2WlziPG5JVEahYYVN/BjFkvckFush21Y20GmlUsttPr5361IUsNdfrpb50kWw72+HrSUQ2/f505Tf19O+tNPy/D8aVvj8NPrSgHX+vX60puf0/Q+ldzftvp/amk/v+FqAiZL/VyPr9abl9Pr9alym3b/ADXAnpr9bUjRBK6aeTXLWoBtvlQninAlcXGhou7G9dLjrQTEDAS5sgB1Owq7/tXEdjWmwfGVWVVFiSQO9rnetd4Lf1fl+1Tck26Ni434DLEECRHRJDcJpuLbA7dz60L5l5eMxaeJmEj7sCVzDa9z5jcaXvY31rR4blp8hw+IUyOpshJsoXpkHU9zVhsRaSNdJX1Vojo6hd9DsNRYje4qRLP0vOf9VnEllthhcJK6jMWt5WLX6W0tc++ifH+FR4hcka66Hxb2UC1rAfeHyt+FaDiWCimLomXMASyAglBqLk9fzrK4vhzYdhq74YavlB099DX9qwWNwLwvY7jYg3+RFGuE8cDeV/a796NmT7cfCihAjUEhiNR6+goHj+UGWHxonEigXYAezbfrrarmSLPQ0utSxJ9fGsxwnjdrK/wNaWKTS4qgtkU8fX18KhD6V3NQEmau5xUfiVHegJTXa4BTtKAZe/5aU9RS2FdDUA00stIb0iaAbkqNhaosXxFYxqazeP5iZzlTSkQzjOKpHudfSgGL4xJKbLoKiiwDMbtck9Bv/ajuB5WdgPujejcibUXKXDCJ0Y62N/Tfqa9Wue1Z/g3AzGFPbv1H6VocvrUWb7GttvwrFw42O97kdtGHb3UF5u5PXEjIxK4mx8GZXyHQGwYjWwudPWpOHcrDDzyywsU8TUj1129PSi2H4lHLeDEAK+ltfa7FT0OlE57PLjLh41xXFY7ClcLHg0hlVRndGz5wdM9rD1vcmtrx2COHDtJiluGQZYogW8Sw1Fh3PfSpOahisC4KgPhZWCzzhS0sSFgCz66hVJObp2qT/QnwkqSYJV+zyIqPJLdnU65XiTTMCD1IHXalT7/JheMcZWKKPE4SSNYWOU4cWzuN213uAO1dXlaTEvHiHifDYOe144nBkewJDMNAL7d7Ud4fwGHBviJC2kt7TzKCb/eBFha593X3UV5XxbTKMM+GOEeNBJG7kfzNTqq9rAX1O52pbXlvXDxTj3KskUj5ELICxBHmyrchc5/qtvVfhXGzGcrbV7FzdgpFImh1Mf8AyxD2ZEv5rH+qwNjXm/O3Arus8UPgRyj/AI+oIF2JO1zfYXrSZe2c6XsNiAwBBqQvWK4dxZojbda12DxSyLdTVVUThqkjaoiKdDh2a+UE97UjT56cDVcEjQ04S0BKxrgNQyTBdSQB60E4jzQq6Ri579KCHZ8WqC7GwrOcS5pv5Yxf1/bvQmUyTHM50ohguBOygopFzYMR27fKhNqiuEeQ3c2v33+Ao9wrl4sBYEA7nqR760vAOSiBmc3Y9xpWjh4WEGg17C1TlbEXdBeFcvLGBcAm1/maNxoBpbbfTt1olBwoAAtfN1FRYrFxJod77nT4VGtiQ3DJbfbXTpvpU32lfSgHEeOFjaLRe5306jXaqf22T+r8F/ar1tfi2fNX8TcPgwQG8SQD2VNz8e1EuLY/DSQRmR1WR7ZLEZs1r+Wvn7hnLksxGhVXBIcnQ9Tc7n9a9R5S5dTDxjxQGkGhJ192X0qdLyynT0fl3jHlMMxAYeyTsw/f0oPz79qggM+EXxRHrkudhuVA9O1DZ2aQgAXtsOvejXBeOvEPDkOcXsB94e/vVM8azfBsWOKYYMsbmMG7kjKmYakJf2j/AOdBbvVfj3LUuLZGxcgkjiPkjVLb2BMhv5jYeg9K9BbgpjjbwSFRizFAANWN2ynpc6n31n+I43whcoXy7oBcn0AJFztSqc8st6AsRizAjHIzQKliq6toOg66VRwvNkRwi+IVdWBGS12OlhcDftWmWfxo/HClAQP5bDUf+yNL+7buawXMnBWSdsZCq5uota9vcNCLb1npphZjxWO5k5SZAJY0Ijb2VN8yjpf0/Ks9g8W8LX19RXrXCsJJIY5sTICH/wDmAfLfb3g96A8ycjGWSVobKFto197Xtfp6GtJl9VVx9KGB4isouN+1HeD8dbDhgFDZv1rzKF3ibS4I3FHo+ZVya+1WnSex7FYvMxdrC5ue1B8bzCqaL5jQTE8RklOlwPjU/DOD52tudPxPXtS67K5SK808s7dh2ohwfl/O4A1Ov4b1qeE8mMbFtu1vW1afA8LWNgoX6NTct9M/LfQDwvlTWx116jStRhMCsVha4G3pvRFY9LAVWmjK3a+tTJzunjNRK0pOwtTWxgSxNj9f2rP8V5tjiIQt5j0679j0qjJxAydfKeg6++r7Xr2PYzmfQhQC19fTToba0DmmeRszm5+Q77bVFpXc1GladtY1363FRhq74tM2t4HwCONQrtfKQRbSx99XmKAkZrfmf2pUqyjl+OcgXE+PnUREK69xcHv1ruA4RicaExMQVGD5WeRbaA2cou5/L1rtKn9um8R6fHxAQKqsxfTc2v8AG21VeYuEtLE0kFjKFOUE6NpopPS/elSq++GeN3eWG4DzMsisjReHiF8rowN1bra+lu1GThFdL+/6PpSpVnFfLN5KfDuEYdnzt7SaqC2m3TtVGYIxkd3IYHKvm3C6rnHUEUqVQ0x9M9xzlpcUQzDwiq6aAk31G3S9/wC1YZeX0RyZb2BNh0NvzpUq0xvIz621OA5bedAEURp367du1abg/KcUK2AF+9KlTrCiywFdOlNxMyxjM1vX4UqVJUVcRM00WfDsoOtgdb97VZ4Oxmhs4s40a41PcnoBSpVP2164eZfxHwAjkzKDZtL9O+9BOC8wFDlfalSradIjX4edWFwb1IK7SoM2u5hSpUG//9k=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400" b="1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Remarks</a:t>
            </a: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內容版面配置區 1"/>
          <p:cNvSpPr txBox="1">
            <a:spLocks/>
          </p:cNvSpPr>
          <p:nvPr/>
        </p:nvSpPr>
        <p:spPr bwMode="auto">
          <a:xfrm>
            <a:off x="510185" y="992483"/>
            <a:ext cx="9264550" cy="5267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kern="0" dirty="0">
                <a:solidFill>
                  <a:srgbClr val="000000"/>
                </a:solidFill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An efficient design of signal processing algorithms and architectures requires a good understanding of both.</a:t>
            </a: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kern="0" dirty="0">
                <a:solidFill>
                  <a:srgbClr val="000000"/>
                </a:solidFill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Different design approaches are given in this lecture.</a:t>
            </a: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kern="0" dirty="0">
                <a:solidFill>
                  <a:srgbClr val="000000"/>
                </a:solidFill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Different paradigms of computing capabilities and flexibilities in different layers of modern communication systems.</a:t>
            </a: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sz="2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Cross-layer and multidisciplinary efforts.</a:t>
            </a:r>
            <a:endParaRPr lang="en-US" altLang="zh-TW" sz="2400" kern="0" dirty="0">
              <a:solidFill>
                <a:srgbClr val="000000"/>
              </a:solidFill>
              <a:latin typeface="Arial" panose="020B0604020202020204" pitchFamily="34" charset="0"/>
              <a:ea typeface="新細明體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solidFill>
                <a:srgbClr val="000000"/>
              </a:solidFill>
              <a:latin typeface="Arial" panose="020B0604020202020204" pitchFamily="34" charset="0"/>
              <a:ea typeface="新細明體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</a:pPr>
            <a:endParaRPr lang="en-US" altLang="zh-TW" sz="2000" kern="0" dirty="0">
              <a:solidFill>
                <a:srgbClr val="000000"/>
              </a:solidFill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</p:txBody>
      </p:sp>
      <p:pic>
        <p:nvPicPr>
          <p:cNvPr id="17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68" y="5592239"/>
            <a:ext cx="4077892" cy="77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884" y="5805264"/>
            <a:ext cx="3456384" cy="45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5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16" y="3356992"/>
            <a:ext cx="60198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7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28800"/>
            <a:ext cx="6781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36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新細明體"/>
        <a:cs typeface="新細明體"/>
      </a:majorFont>
      <a:minorFont>
        <a:latin typeface="Times New Roman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13285</TotalTime>
  <Words>2925</Words>
  <Application>Microsoft Office PowerPoint</Application>
  <PresentationFormat>A4 紙張 (210x297 公釐)</PresentationFormat>
  <Paragraphs>442</Paragraphs>
  <Slides>42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42</vt:i4>
      </vt:variant>
    </vt:vector>
  </HeadingPairs>
  <TitlesOfParts>
    <vt:vector size="55" baseType="lpstr">
      <vt:lpstr>標楷體</vt:lpstr>
      <vt:lpstr>Arial</vt:lpstr>
      <vt:lpstr>Arial Black</vt:lpstr>
      <vt:lpstr>Bradley Hand ITC</vt:lpstr>
      <vt:lpstr>Calibri</vt:lpstr>
      <vt:lpstr>Cambria Math</vt:lpstr>
      <vt:lpstr>Symbol</vt:lpstr>
      <vt:lpstr>Tahoma</vt:lpstr>
      <vt:lpstr>Times New Roman</vt:lpstr>
      <vt:lpstr>Wingdings</vt:lpstr>
      <vt:lpstr>2_template</vt:lpstr>
      <vt:lpstr>方程式</vt:lpstr>
      <vt:lpstr>Equation</vt:lpstr>
      <vt:lpstr>PowerPoint 簡報</vt:lpstr>
      <vt:lpstr>Specialized Architectures for Signal Processing</vt:lpstr>
      <vt:lpstr>CORDIC Architecture</vt:lpstr>
      <vt:lpstr>CORDIC Architecture</vt:lpstr>
      <vt:lpstr>CORDIC Architecture</vt:lpstr>
      <vt:lpstr>CORDIC Architecture</vt:lpstr>
      <vt:lpstr>CORDIC Architecture</vt:lpstr>
      <vt:lpstr>CORDIC Architecture</vt:lpstr>
      <vt:lpstr>CORDIC Architecture</vt:lpstr>
      <vt:lpstr>CORDIC Architecture</vt:lpstr>
      <vt:lpstr>CORDIC Architecture</vt:lpstr>
      <vt:lpstr>Systolic Array Architecture</vt:lpstr>
      <vt:lpstr>Systolic Array Architecture</vt:lpstr>
      <vt:lpstr>Systolic Array Architecture</vt:lpstr>
      <vt:lpstr>Systolic Array Architecture: Example</vt:lpstr>
      <vt:lpstr>Systolic Array Architecture</vt:lpstr>
      <vt:lpstr>Systolic Array Architecture</vt:lpstr>
      <vt:lpstr>Case Study: Matrix Decompositions</vt:lpstr>
      <vt:lpstr>Givens Rotation for QR Decomposition</vt:lpstr>
      <vt:lpstr>Givens Rotation for QR Decomposition</vt:lpstr>
      <vt:lpstr>Givens Rotation for QR Decomposition</vt:lpstr>
      <vt:lpstr>Givens Rotation for QR Decomposition</vt:lpstr>
      <vt:lpstr>Givens Rotation for QR Decomposition</vt:lpstr>
      <vt:lpstr>Givens Rotation for QR Decomposition</vt:lpstr>
      <vt:lpstr>Givens Rotation for QR Decomposition</vt:lpstr>
      <vt:lpstr>Givens Rotation for QR Decomposition</vt:lpstr>
      <vt:lpstr>The Design of SVD for MIMO communications</vt:lpstr>
      <vt:lpstr>The Design of Singular Value Decomposition (SVD)</vt:lpstr>
      <vt:lpstr>The Design of SVD Processor based on Real Jacobi Algorithm</vt:lpstr>
      <vt:lpstr>The Design of SVD Processor based on Real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The Design of SVD Processor based on Complex Jacobi Algorithm</vt:lpstr>
      <vt:lpstr>Remarks</vt:lpstr>
      <vt:lpstr>PowerPoint 簡報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mblin</dc:creator>
  <cp:lastModifiedBy>中安 沈</cp:lastModifiedBy>
  <cp:revision>2614</cp:revision>
  <cp:lastPrinted>2015-12-21T09:32:07Z</cp:lastPrinted>
  <dcterms:created xsi:type="dcterms:W3CDTF">2003-02-18T08:04:03Z</dcterms:created>
  <dcterms:modified xsi:type="dcterms:W3CDTF">2026-09-06T12:24:04Z</dcterms:modified>
</cp:coreProperties>
</file>