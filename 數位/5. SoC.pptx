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548" r:id="rId1"/>
  </p:sldMasterIdLst>
  <p:notesMasterIdLst>
    <p:notesMasterId r:id="rId20"/>
  </p:notesMasterIdLst>
  <p:handoutMasterIdLst>
    <p:handoutMasterId r:id="rId21"/>
  </p:handoutMasterIdLst>
  <p:sldIdLst>
    <p:sldId id="422" r:id="rId2"/>
    <p:sldId id="441" r:id="rId3"/>
    <p:sldId id="442" r:id="rId4"/>
    <p:sldId id="443" r:id="rId5"/>
    <p:sldId id="445" r:id="rId6"/>
    <p:sldId id="444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38" r:id="rId19"/>
  </p:sldIdLst>
  <p:sldSz cx="9906000" cy="6858000" type="A4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hen" initials="c" lastIdx="1" clrIdx="0">
    <p:extLst>
      <p:ext uri="{19B8F6BF-5375-455C-9EA6-DF929625EA0E}">
        <p15:presenceInfo xmlns:p15="http://schemas.microsoft.com/office/powerpoint/2012/main" userId="cash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DFFE5"/>
    <a:srgbClr val="E7E7F9"/>
    <a:srgbClr val="FFFFCC"/>
    <a:srgbClr val="DDDDDD"/>
    <a:srgbClr val="DAEFC3"/>
    <a:srgbClr val="FF3300"/>
    <a:srgbClr val="F7FE9A"/>
    <a:srgbClr val="FF99F8"/>
    <a:srgbClr val="C2C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2" autoAdjust="0"/>
    <p:restoredTop sz="93750" autoAdjust="0"/>
  </p:normalViewPr>
  <p:slideViewPr>
    <p:cSldViewPr>
      <p:cViewPr varScale="1">
        <p:scale>
          <a:sx n="155" d="100"/>
          <a:sy n="155" d="100"/>
        </p:scale>
        <p:origin x="162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E57AC0C5-028A-4FC1-8609-8A575617F4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712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4225" y="784225"/>
            <a:ext cx="553720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868863"/>
            <a:ext cx="5232400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1"/>
            <a:r>
              <a:rPr lang="zh-TW" altLang="en-US" noProof="0"/>
              <a:t>第二層</a:t>
            </a:r>
            <a:endParaRPr lang="en-US" altLang="zh-TW" noProof="0"/>
          </a:p>
          <a:p>
            <a:pPr lvl="2"/>
            <a:r>
              <a:rPr lang="zh-TW" altLang="en-US" noProof="0"/>
              <a:t>第三層</a:t>
            </a:r>
            <a:endParaRPr lang="en-US" altLang="zh-TW" noProof="0"/>
          </a:p>
          <a:p>
            <a:pPr lvl="3"/>
            <a:r>
              <a:rPr lang="zh-TW" altLang="en-US" noProof="0"/>
              <a:t>第四層</a:t>
            </a:r>
            <a:endParaRPr lang="en-US" altLang="zh-TW" noProof="0"/>
          </a:p>
          <a:p>
            <a:pPr lvl="4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defTabSz="1036638">
              <a:defRPr sz="2000">
                <a:latin typeface="Times New Roman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9737725"/>
            <a:ext cx="30829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360" tIns="51180" rIns="102360" bIns="51180" numCol="1" anchor="b" anchorCtr="0" compatLnSpc="1">
            <a:prstTxWarp prst="textNoShape">
              <a:avLst/>
            </a:prstTxWarp>
          </a:bodyPr>
          <a:lstStyle>
            <a:lvl1pPr algn="r" defTabSz="1036638">
              <a:defRPr sz="20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272301DA-55B0-479D-8116-E17EDB9067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6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46063" indent="-246063" eaLnBrk="1" hangingPunct="1">
              <a:spcBef>
                <a:spcPct val="0"/>
              </a:spcBef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Time Table:</a:t>
            </a:r>
          </a:p>
          <a:p>
            <a:pPr marL="246063" indent="-246063" eaLnBrk="1" hangingPunct="1">
              <a:spcBef>
                <a:spcPct val="0"/>
              </a:spcBef>
            </a:pPr>
            <a:endParaRPr lang="en-US" altLang="zh-TW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 to 6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7-9 4min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10-12 5min</a:t>
            </a:r>
          </a:p>
          <a:p>
            <a:pPr marL="246063" indent="-246063"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TW">
                <a:latin typeface="Times New Roman" panose="02020603050405020304" pitchFamily="18" charset="0"/>
                <a:ea typeface="ＭＳ Ｐゴシック" panose="020B0600070205080204" pitchFamily="34" charset="-128"/>
              </a:rPr>
              <a:t>Slide 13 1min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30281A-02FB-4AE7-89D2-78367A514CE1}" type="slidenum">
              <a:rPr lang="en-US" altLang="zh-TW" sz="1300" smtClean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 sz="130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311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1086088" indent="-405923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DDA088-1672-49C0-BA77-EB437F404150}" type="slidenum">
              <a:rPr lang="en-US" altLang="en-US" sz="1300" smtClean="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9933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8350"/>
            <a:ext cx="5540375" cy="3836988"/>
          </a:xfrm>
          <a:ln/>
        </p:spPr>
      </p:sp>
      <p:sp>
        <p:nvSpPr>
          <p:cNvPr id="9933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ts val="488"/>
              </a:spcBef>
              <a:tabLst>
                <a:tab pos="0" algn="l"/>
                <a:tab pos="989013" algn="l"/>
                <a:tab pos="1979613" algn="l"/>
                <a:tab pos="2970213" algn="l"/>
                <a:tab pos="3960813" algn="l"/>
                <a:tab pos="4951413" algn="l"/>
                <a:tab pos="5942013" algn="l"/>
                <a:tab pos="6932613" algn="l"/>
                <a:tab pos="7923213" algn="l"/>
                <a:tab pos="8913813" algn="l"/>
                <a:tab pos="9904413" algn="l"/>
                <a:tab pos="10895013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0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326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3924300" cy="48006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0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 noChangeArrowheads="1"/>
          </p:cNvSpPr>
          <p:nvPr/>
        </p:nvSpPr>
        <p:spPr bwMode="auto">
          <a:xfrm>
            <a:off x="660400" y="1219200"/>
            <a:ext cx="85852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2146301" y="3962400"/>
            <a:ext cx="705458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240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1" y="1524000"/>
            <a:ext cx="8258440" cy="1752600"/>
          </a:xfrm>
        </p:spPr>
        <p:txBody>
          <a:bodyPr/>
          <a:lstStyle>
            <a:lvl1pPr>
              <a:defRPr sz="405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46300" y="4166684"/>
            <a:ext cx="70993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3384550" y="6243638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594600" y="6370638"/>
            <a:ext cx="23114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2C44808-516D-491F-8EAD-84D2F2B0C8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15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Line 3075"/>
          <p:cNvSpPr>
            <a:spLocks noChangeShapeType="1"/>
          </p:cNvSpPr>
          <p:nvPr/>
        </p:nvSpPr>
        <p:spPr bwMode="auto">
          <a:xfrm>
            <a:off x="412750" y="533400"/>
            <a:ext cx="899795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8" name="Line 3076"/>
          <p:cNvSpPr>
            <a:spLocks noChangeShapeType="1"/>
          </p:cNvSpPr>
          <p:nvPr/>
        </p:nvSpPr>
        <p:spPr bwMode="auto">
          <a:xfrm flipH="1">
            <a:off x="577850" y="228600"/>
            <a:ext cx="0" cy="990600"/>
          </a:xfrm>
          <a:prstGeom prst="line">
            <a:avLst/>
          </a:prstGeom>
          <a:noFill/>
          <a:ln w="25400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TW" altLang="en-US" sz="2215"/>
          </a:p>
        </p:txBody>
      </p:sp>
      <p:sp>
        <p:nvSpPr>
          <p:cNvPr id="1029" name="Line 3077"/>
          <p:cNvSpPr>
            <a:spLocks noChangeShapeType="1"/>
          </p:cNvSpPr>
          <p:nvPr/>
        </p:nvSpPr>
        <p:spPr bwMode="auto">
          <a:xfrm flipV="1">
            <a:off x="495300" y="6400800"/>
            <a:ext cx="8915400" cy="0"/>
          </a:xfrm>
          <a:prstGeom prst="line">
            <a:avLst/>
          </a:prstGeom>
          <a:noFill/>
          <a:ln w="38100" cmpd="thickThin">
            <a:solidFill>
              <a:schemeClr val="accent4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TW" altLang="en-US" sz="2215"/>
          </a:p>
        </p:txBody>
      </p:sp>
      <p:sp>
        <p:nvSpPr>
          <p:cNvPr id="1030" name="Rectangle 308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  <a:endParaRPr lang="en-US" altLang="zh-TW"/>
          </a:p>
          <a:p>
            <a:pPr lvl="1"/>
            <a:r>
              <a:rPr lang="zh-TW" altLang="en-US"/>
              <a:t>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</p:txBody>
      </p:sp>
      <p:sp>
        <p:nvSpPr>
          <p:cNvPr id="1031" name="Text Box 10"/>
          <p:cNvSpPr txBox="1">
            <a:spLocks noChangeArrowheads="1"/>
          </p:cNvSpPr>
          <p:nvPr userDrawn="1"/>
        </p:nvSpPr>
        <p:spPr bwMode="auto">
          <a:xfrm>
            <a:off x="7159625" y="6508750"/>
            <a:ext cx="817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7346DC2-7719-4AA5-A33E-51FE0027969F}" type="slidenum">
              <a:rPr lang="en-US" altLang="zh-TW" sz="1200"/>
              <a:pPr algn="r" eaLnBrk="1" hangingPunct="1"/>
              <a:t>‹#›</a:t>
            </a:fld>
            <a:endParaRPr lang="en-US" altLang="zh-TW" sz="1200"/>
          </a:p>
        </p:txBody>
      </p:sp>
      <p:pic>
        <p:nvPicPr>
          <p:cNvPr id="1033" name="圖片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圖片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5" y="116465"/>
            <a:ext cx="733425" cy="3746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圖片 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6424613"/>
            <a:ext cx="1971675" cy="41116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8"/>
          <p:cNvSpPr txBox="1">
            <a:spLocks noChangeArrowheads="1"/>
          </p:cNvSpPr>
          <p:nvPr userDrawn="1"/>
        </p:nvSpPr>
        <p:spPr bwMode="auto">
          <a:xfrm>
            <a:off x="5889104" y="104939"/>
            <a:ext cx="368575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1662" b="1" dirty="0">
                <a:solidFill>
                  <a:srgbClr val="3333FF"/>
                </a:solidFill>
                <a:latin typeface="Calibri" panose="020F0502020204030204" pitchFamily="34" charset="0"/>
              </a:rPr>
              <a:t>Digital Circuit Design and Analysis </a:t>
            </a:r>
            <a:r>
              <a:rPr lang="en-US" altLang="zh-TW" sz="1662" baseline="0" dirty="0">
                <a:solidFill>
                  <a:srgbClr val="3333FF"/>
                </a:solidFill>
                <a:latin typeface="Calibri" panose="020F0502020204030204" pitchFamily="34" charset="0"/>
              </a:rPr>
              <a:t>115-1</a:t>
            </a:r>
            <a:endParaRPr lang="en-US" altLang="zh-TW" sz="1662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5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+mn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00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5pPr>
      <a:lvl6pPr marL="422041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6pPr>
      <a:lvl7pPr marL="844083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7pPr>
      <a:lvl8pPr marL="1266124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8pPr>
      <a:lvl9pPr marL="1688165" algn="l" rtl="0" fontAlgn="base">
        <a:spcBef>
          <a:spcPct val="0"/>
        </a:spcBef>
        <a:spcAft>
          <a:spcPct val="0"/>
        </a:spcAft>
        <a:defRPr kumimoji="1" sz="2954">
          <a:solidFill>
            <a:schemeClr val="accent2"/>
          </a:solidFill>
          <a:latin typeface="Times New Roman" charset="0"/>
          <a:ea typeface="新細明體" charset="-120"/>
          <a:cs typeface="新細明體" charset="-120"/>
        </a:defRPr>
      </a:lvl9pPr>
    </p:titleStyle>
    <p:bodyStyle>
      <a:lvl1pPr marL="315913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v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Font typeface="Wingdings" panose="05000000000000000000" pitchFamily="2" charset="2"/>
        <a:buChar char="§"/>
        <a:defRPr kumimoji="1" sz="2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hangingPunct="0">
        <a:spcBef>
          <a:spcPct val="20000"/>
        </a:spcBef>
        <a:spcAft>
          <a:spcPct val="0"/>
        </a:spcAft>
        <a:buClr>
          <a:srgbClr val="6699FF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Clr>
          <a:srgbClr val="FF5050"/>
        </a:buClr>
        <a:buChar char="o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lr>
          <a:srgbClr val="FF5050"/>
        </a:buClr>
        <a:buChar char="o"/>
        <a:defRPr kumimoji="1" sz="1846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ChangeArrowheads="1"/>
          </p:cNvSpPr>
          <p:nvPr/>
        </p:nvSpPr>
        <p:spPr bwMode="auto">
          <a:xfrm>
            <a:off x="776536" y="1628800"/>
            <a:ext cx="8856984" cy="1262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altLang="zh-TW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Digital Circuit Design and Analysis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zh-TW" sz="2400" dirty="0">
                <a:latin typeface="Arial Black" panose="020B0A04020102020204" pitchFamily="34" charset="0"/>
                <a:ea typeface="華康中楷體" pitchFamily="49" charset="-120"/>
                <a:cs typeface="Calibri" pitchFamily="34" charset="0"/>
              </a:rPr>
              <a:t>115-1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892820" y="4509120"/>
            <a:ext cx="68595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685800" indent="-263525">
              <a:spcBef>
                <a:spcPct val="20000"/>
              </a:spcBef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054100" indent="-209550">
              <a:spcBef>
                <a:spcPct val="20000"/>
              </a:spcBef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476375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898650" indent="-209550">
              <a:spcBef>
                <a:spcPct val="20000"/>
              </a:spcBef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3558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130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2702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727450" indent="-20955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Chung-An Shen(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沈中安</a:t>
            </a:r>
            <a:r>
              <a:rPr lang="en-US" altLang="zh-TW" sz="2400" dirty="0"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)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Department of Electronic and Computer Engineering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  <a:ea typeface="華康中楷體" pitchFamily="49" charset="-120"/>
                <a:cs typeface="Calibri" panose="020F0502020204030204" pitchFamily="34" charset="0"/>
              </a:rPr>
              <a:t>National Taiwan University of Science and Technology</a:t>
            </a:r>
          </a:p>
        </p:txBody>
      </p:sp>
      <p:sp>
        <p:nvSpPr>
          <p:cNvPr id="3" name="矩形 2"/>
          <p:cNvSpPr/>
          <p:nvPr/>
        </p:nvSpPr>
        <p:spPr>
          <a:xfrm>
            <a:off x="1892820" y="3140968"/>
            <a:ext cx="7156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0" dirty="0">
                <a:solidFill>
                  <a:srgbClr val="3333FF"/>
                </a:solidFill>
                <a:latin typeface="Arial Black" panose="020B0A04020102020204" pitchFamily="34" charset="0"/>
                <a:ea typeface="新細明體"/>
              </a:rPr>
              <a:t>SOC Architecture and System </a:t>
            </a:r>
            <a:r>
              <a:rPr lang="en-US" altLang="zh-TW" kern="0" dirty="0" smtClean="0">
                <a:solidFill>
                  <a:srgbClr val="3333FF"/>
                </a:solidFill>
                <a:latin typeface="Arial Black" panose="020B0A04020102020204" pitchFamily="34" charset="0"/>
                <a:ea typeface="新細明體"/>
              </a:rPr>
              <a:t>Integration</a:t>
            </a:r>
            <a:endParaRPr lang="zh-TW" altLang="en-US" dirty="0">
              <a:solidFill>
                <a:srgbClr val="3333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1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Fundamental Architecture of Electronic Systems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A35EB-52C1-418B-974F-0919C5E68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7405" y="4343400"/>
            <a:ext cx="266791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639D37E-338D-4869-8BB9-EC714F172BEA}"/>
              </a:ext>
            </a:extLst>
          </p:cNvPr>
          <p:cNvCxnSpPr/>
          <p:nvPr/>
        </p:nvCxnSpPr>
        <p:spPr bwMode="auto">
          <a:xfrm>
            <a:off x="609600" y="4191000"/>
            <a:ext cx="82296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45CB2EA-210A-4413-A9BE-A7DDE610F836}"/>
              </a:ext>
            </a:extLst>
          </p:cNvPr>
          <p:cNvSpPr/>
          <p:nvPr/>
        </p:nvSpPr>
        <p:spPr bwMode="auto">
          <a:xfrm>
            <a:off x="39825" y="5128404"/>
            <a:ext cx="1676141" cy="45720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Hardware</a:t>
            </a:r>
            <a:endParaRPr kumimoji="1" lang="zh-TW" altLang="en-US" sz="24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AB3AAB-AF7B-4DFB-ABA9-FA7C1E76E122}"/>
              </a:ext>
            </a:extLst>
          </p:cNvPr>
          <p:cNvSpPr/>
          <p:nvPr/>
        </p:nvSpPr>
        <p:spPr bwMode="auto">
          <a:xfrm>
            <a:off x="4479638" y="4487930"/>
            <a:ext cx="5225890" cy="727997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20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digital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 circuits :</a:t>
            </a:r>
            <a:r>
              <a:rPr kumimoji="1" lang="zh-TW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 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processor</a:t>
            </a:r>
            <a:r>
              <a:rPr kumimoji="1" lang="zh-TW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ASIC</a:t>
            </a:r>
            <a:r>
              <a:rPr kumimoji="1" lang="zh-TW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FPGA</a:t>
            </a:r>
            <a:r>
              <a:rPr kumimoji="1" lang="zh-TW" altLang="en-US" sz="20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GPU…</a:t>
            </a:r>
          </a:p>
        </p:txBody>
      </p:sp>
      <p:cxnSp>
        <p:nvCxnSpPr>
          <p:cNvPr id="9" name="Straight Connector 143">
            <a:extLst>
              <a:ext uri="{FF2B5EF4-FFF2-40B4-BE49-F238E27FC236}">
                <a16:creationId xmlns:a16="http://schemas.microsoft.com/office/drawing/2014/main" id="{3C6BF033-3912-4A9D-AD8E-729EC3954C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77120" y="5225991"/>
            <a:ext cx="499680" cy="204982"/>
          </a:xfrm>
          <a:prstGeom prst="line">
            <a:avLst/>
          </a:prstGeom>
          <a:noFill/>
          <a:ln w="15875" algn="ctr">
            <a:solidFill>
              <a:schemeClr val="tx1"/>
            </a:solidFill>
            <a:prstDash val="dash"/>
            <a:round/>
            <a:headEnd/>
            <a:tailEnd/>
          </a:ln>
        </p:spPr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4888A0D0-6223-4D53-A6A7-5DFD2D539D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28" t="4741" r="11816" b="4876"/>
          <a:stretch/>
        </p:blipFill>
        <p:spPr>
          <a:xfrm>
            <a:off x="4664968" y="5441037"/>
            <a:ext cx="1186432" cy="89784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339BE75-9D32-43CA-8EBF-5B03E8BEBD4A}"/>
              </a:ext>
            </a:extLst>
          </p:cNvPr>
          <p:cNvSpPr/>
          <p:nvPr/>
        </p:nvSpPr>
        <p:spPr bwMode="auto">
          <a:xfrm>
            <a:off x="156581" y="2438400"/>
            <a:ext cx="1538377" cy="457200"/>
          </a:xfrm>
          <a:prstGeom prst="rect">
            <a:avLst/>
          </a:prstGeom>
          <a:solidFill>
            <a:srgbClr val="FFEBE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Software</a:t>
            </a:r>
            <a:endParaRPr kumimoji="1" lang="zh-TW" altLang="en-US" sz="24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79F995-BF4C-423C-AA03-093CDC7E1211}"/>
              </a:ext>
            </a:extLst>
          </p:cNvPr>
          <p:cNvSpPr/>
          <p:nvPr/>
        </p:nvSpPr>
        <p:spPr bwMode="auto">
          <a:xfrm>
            <a:off x="1715966" y="1368023"/>
            <a:ext cx="7773538" cy="2670577"/>
          </a:xfrm>
          <a:prstGeom prst="rect">
            <a:avLst/>
          </a:prstGeom>
          <a:solidFill>
            <a:srgbClr val="FFEBE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CEB2AB-7E5B-4546-A4B6-5338F72E0C7A}"/>
              </a:ext>
            </a:extLst>
          </p:cNvPr>
          <p:cNvCxnSpPr>
            <a:stCxn id="13" idx="1"/>
            <a:endCxn id="13" idx="3"/>
          </p:cNvCxnSpPr>
          <p:nvPr/>
        </p:nvCxnSpPr>
        <p:spPr bwMode="auto">
          <a:xfrm>
            <a:off x="1715966" y="2703312"/>
            <a:ext cx="777353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E0CBAA5-E9D8-42C4-8EBA-1A62ECAA8358}"/>
              </a:ext>
            </a:extLst>
          </p:cNvPr>
          <p:cNvSpPr/>
          <p:nvPr/>
        </p:nvSpPr>
        <p:spPr bwMode="auto">
          <a:xfrm>
            <a:off x="1743255" y="2783475"/>
            <a:ext cx="1337537" cy="34142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Firmware</a:t>
            </a:r>
            <a:endParaRPr kumimoji="1" lang="zh-TW" alt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38006F-8619-42E2-86AA-9973BBA158C9}"/>
              </a:ext>
            </a:extLst>
          </p:cNvPr>
          <p:cNvSpPr/>
          <p:nvPr/>
        </p:nvSpPr>
        <p:spPr bwMode="auto">
          <a:xfrm>
            <a:off x="1743255" y="1439248"/>
            <a:ext cx="2129625" cy="34142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Application SW</a:t>
            </a:r>
            <a:endParaRPr kumimoji="1" lang="zh-TW" alt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8C2801-1D46-44FE-A852-0F3EB2EED049}"/>
              </a:ext>
            </a:extLst>
          </p:cNvPr>
          <p:cNvSpPr/>
          <p:nvPr/>
        </p:nvSpPr>
        <p:spPr bwMode="auto">
          <a:xfrm>
            <a:off x="3375440" y="3152145"/>
            <a:ext cx="5826031" cy="3414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kernel</a:t>
            </a:r>
            <a:r>
              <a:rPr kumimoji="1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device driver</a:t>
            </a:r>
            <a:r>
              <a:rPr kumimoji="1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HW </a:t>
            </a:r>
            <a:r>
              <a:rPr kumimoji="1" lang="en-US" altLang="zh-TW" sz="2000" b="1" dirty="0" smtClean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management</a:t>
            </a:r>
            <a:r>
              <a:rPr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 、</a:t>
            </a:r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…</a:t>
            </a:r>
            <a:endParaRPr kumimoji="1" lang="zh-TW" altLang="en-US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3B7D93-97BB-49A2-80B7-BBF51BA93D32}"/>
              </a:ext>
            </a:extLst>
          </p:cNvPr>
          <p:cNvSpPr/>
          <p:nvPr/>
        </p:nvSpPr>
        <p:spPr bwMode="auto">
          <a:xfrm>
            <a:off x="3375441" y="1924022"/>
            <a:ext cx="4169847" cy="3414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apps</a:t>
            </a:r>
            <a:r>
              <a:rPr kumimoji="1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user interfaces</a:t>
            </a:r>
            <a:r>
              <a:rPr kumimoji="1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…</a:t>
            </a:r>
            <a:endParaRPr kumimoji="1" lang="zh-TW" altLang="en-US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新細明體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279AC0-8D2E-4671-B7A5-13C08854E5BB}"/>
              </a:ext>
            </a:extLst>
          </p:cNvPr>
          <p:cNvSpPr/>
          <p:nvPr/>
        </p:nvSpPr>
        <p:spPr bwMode="auto">
          <a:xfrm>
            <a:off x="5961112" y="5374006"/>
            <a:ext cx="3744416" cy="727997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analog circuits :</a:t>
            </a:r>
            <a:r>
              <a:rPr kumimoji="1" lang="zh-TW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 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amplifier</a:t>
            </a:r>
            <a:r>
              <a:rPr kumimoji="1" lang="zh-TW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、</a:t>
            </a:r>
            <a:r>
              <a:rPr kumimoji="1" lang="en-US" altLang="zh-TW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charset="-120"/>
              </a:rPr>
              <a:t>oscillator…</a:t>
            </a:r>
          </a:p>
        </p:txBody>
      </p:sp>
    </p:spTree>
    <p:extLst>
      <p:ext uri="{BB962C8B-B14F-4D97-AF65-F5344CB8AC3E}">
        <p14:creationId xmlns:p14="http://schemas.microsoft.com/office/powerpoint/2010/main" val="197214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9117136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Fundamental Architecture of Electronic Systems</a:t>
            </a:r>
            <a:endParaRPr lang="en-US" altLang="zh-TW" sz="2400" kern="0" dirty="0">
              <a:latin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07741" y="1340768"/>
            <a:ext cx="9269795" cy="3960440"/>
          </a:xfrm>
          <a:prstGeom prst="rect">
            <a:avLst/>
          </a:prstGeom>
        </p:spPr>
        <p:txBody>
          <a:bodyPr/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eaLnBrk="1" hangingPunct="1">
              <a:lnSpc>
                <a:spcPct val="150000"/>
              </a:lnSpc>
              <a:spcBef>
                <a:spcPts val="500"/>
              </a:spcBef>
              <a:buClr>
                <a:srgbClr val="3333FF"/>
              </a:buClr>
              <a:buFont typeface="Wingdings" panose="05000000000000000000" pitchFamily="2" charset="2"/>
              <a:buChar char="p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Integrate the </a:t>
            </a:r>
            <a:r>
              <a:rPr lang="en-US" altLang="en-US" sz="2000" kern="0" dirty="0" smtClean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processor</a:t>
            </a:r>
            <a:r>
              <a:rPr lang="en-US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, </a:t>
            </a:r>
            <a:r>
              <a:rPr lang="en-US" altLang="en-US" sz="2000" kern="0" dirty="0" smtClean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Bus</a:t>
            </a:r>
            <a:r>
              <a:rPr lang="en-US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, and the </a:t>
            </a:r>
            <a:r>
              <a:rPr lang="en-US" altLang="en-US" sz="2000" kern="0" dirty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HW</a:t>
            </a:r>
            <a:r>
              <a:rPr lang="zh-TW" altLang="en-US" sz="2000" kern="0" dirty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2000" kern="0" dirty="0">
                <a:solidFill>
                  <a:srgbClr val="3333FF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IP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.</a:t>
            </a:r>
          </a:p>
          <a:p>
            <a:pPr lvl="0" algn="just" eaLnBrk="1" hangingPunct="1">
              <a:lnSpc>
                <a:spcPct val="150000"/>
              </a:lnSpc>
              <a:spcBef>
                <a:spcPts val="500"/>
              </a:spcBef>
              <a:buClr>
                <a:srgbClr val="3333FF"/>
              </a:buClr>
              <a:buFont typeface="Wingdings" panose="05000000000000000000" pitchFamily="2" charset="2"/>
              <a:buChar char="p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zh-TW" sz="2000" kern="0" dirty="0" smtClean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A software 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program (running on the </a:t>
            </a:r>
            <a:r>
              <a:rPr lang="en-US" altLang="zh-TW" sz="2000" kern="0" dirty="0" smtClean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processor) to </a:t>
            </a:r>
            <a:r>
              <a:rPr lang="en-US" altLang="zh-TW" sz="2000" kern="0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access the HW </a:t>
            </a:r>
            <a:r>
              <a:rPr lang="en-US" altLang="zh-TW" sz="2000" kern="0" dirty="0" smtClean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IP.</a:t>
            </a:r>
            <a:endParaRPr lang="en-US" altLang="zh-TW" sz="2000" kern="0" dirty="0">
              <a:solidFill>
                <a:srgbClr val="00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342900" lvl="0" indent="-342900" algn="just" eaLnBrk="1" hangingPunct="1">
              <a:lnSpc>
                <a:spcPct val="200000"/>
              </a:lnSpc>
              <a:spcBef>
                <a:spcPts val="500"/>
              </a:spcBef>
              <a:buClr>
                <a:srgbClr val="3333FF"/>
              </a:buClr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000" kern="0" dirty="0">
              <a:solidFill>
                <a:srgbClr val="00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20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l="1066" t="11470"/>
          <a:stretch/>
        </p:blipFill>
        <p:spPr>
          <a:xfrm>
            <a:off x="1712640" y="2636912"/>
            <a:ext cx="612068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7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Access HW from SW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88504" y="1268760"/>
            <a:ext cx="5616624" cy="4989997"/>
          </a:xfrm>
          <a:prstGeom prst="rect">
            <a:avLst/>
          </a:prstGeom>
        </p:spPr>
        <p:txBody>
          <a:bodyPr/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 eaLnBrk="1" hangingPunct="1"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Memory address space and Memory Map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848544" y="1721203"/>
            <a:ext cx="6048672" cy="34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defRPr sz="32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²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9pPr>
          </a:lstStyle>
          <a:p>
            <a:pPr algn="just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2000" dirty="0">
                <a:latin typeface="+mn-lt"/>
              </a:rPr>
              <a:t>The entire addressable space is architecturally divided into </a:t>
            </a:r>
            <a:r>
              <a:rPr lang="en-US" altLang="en-US" sz="2000" dirty="0" smtClean="0">
                <a:latin typeface="+mn-lt"/>
              </a:rPr>
              <a:t>regions </a:t>
            </a:r>
            <a:r>
              <a:rPr lang="en-US" altLang="en-US" sz="2000" dirty="0">
                <a:latin typeface="+mn-lt"/>
              </a:rPr>
              <a:t>known as the </a:t>
            </a:r>
            <a:r>
              <a:rPr lang="en-US" altLang="en-US" sz="2000" b="1" dirty="0">
                <a:solidFill>
                  <a:srgbClr val="0000FF"/>
                </a:solidFill>
                <a:latin typeface="+mn-lt"/>
              </a:rPr>
              <a:t>Memory Map</a:t>
            </a:r>
            <a:r>
              <a:rPr lang="en-US" altLang="en-US" sz="2000" dirty="0">
                <a:latin typeface="+mn-lt"/>
              </a:rPr>
              <a:t>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2000" dirty="0">
                <a:latin typeface="+mn-lt"/>
              </a:rPr>
              <a:t>The Memory Map shows how the memory space is layout for the system.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2000" dirty="0">
                <a:latin typeface="+mn-lt"/>
              </a:rPr>
              <a:t>For example, a processor with 32-bit address bus contains a memory map with 4GB. </a:t>
            </a:r>
          </a:p>
        </p:txBody>
      </p:sp>
      <p:pic>
        <p:nvPicPr>
          <p:cNvPr id="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9"/>
          <a:stretch>
            <a:fillRect/>
          </a:stretch>
        </p:blipFill>
        <p:spPr bwMode="auto">
          <a:xfrm>
            <a:off x="6897216" y="1628800"/>
            <a:ext cx="2929699" cy="462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57256" y="1347179"/>
            <a:ext cx="2569659" cy="14673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lIns="36000" rIns="36000" anchor="t" anchorCtr="0">
            <a:noAutofit/>
          </a:bodyPr>
          <a:lstStyle/>
          <a:p>
            <a:pPr algn="ctr">
              <a:lnSpc>
                <a:spcPts val="1000"/>
              </a:lnSpc>
              <a:buClr>
                <a:srgbClr val="3333FF"/>
              </a:buClr>
            </a:pPr>
            <a:r>
              <a:rPr lang="en-US" altLang="zh-TW" sz="1100" b="1" i="0" dirty="0">
                <a:solidFill>
                  <a:srgbClr val="FF0000"/>
                </a:solidFill>
                <a:latin typeface="Arial" panose="020B0604020202020204" pitchFamily="34" charset="0"/>
                <a:ea typeface="新細明體" charset="-120"/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208584" y="4149080"/>
            <a:ext cx="5472608" cy="1952974"/>
          </a:xfrm>
          <a:prstGeom prst="rect">
            <a:avLst/>
          </a:prstGeom>
          <a:solidFill>
            <a:srgbClr val="F7FE9A"/>
          </a:solidFill>
          <a:ln>
            <a:solidFill>
              <a:srgbClr val="FF0000"/>
            </a:solidFill>
          </a:ln>
        </p:spPr>
        <p:txBody>
          <a:bodyPr lIns="90000" tIns="46800" rIns="9000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defRPr sz="32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²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chemeClr val="accent2"/>
              </a:buClr>
              <a:defRPr/>
            </a:pPr>
            <a:r>
              <a:rPr lang="en-US" altLang="en-US" sz="2000" dirty="0">
                <a:latin typeface="+mn-lt"/>
              </a:rPr>
              <a:t>Any components (registers, storages, elements…etc.) that are </a:t>
            </a:r>
            <a:r>
              <a:rPr lang="en-US" altLang="en-US" sz="2000" b="1" dirty="0">
                <a:solidFill>
                  <a:srgbClr val="3333FF"/>
                </a:solidFill>
                <a:latin typeface="+mn-lt"/>
              </a:rPr>
              <a:t>addressable</a:t>
            </a:r>
            <a:r>
              <a:rPr lang="en-US" altLang="en-US" sz="2000" dirty="0">
                <a:latin typeface="+mn-lt"/>
              </a:rPr>
              <a:t> (i.e. mapped on the memory map) can be read/written as if reading/writing a memory.</a:t>
            </a:r>
          </a:p>
        </p:txBody>
      </p:sp>
    </p:spTree>
    <p:extLst>
      <p:ext uri="{BB962C8B-B14F-4D97-AF65-F5344CB8AC3E}">
        <p14:creationId xmlns:p14="http://schemas.microsoft.com/office/powerpoint/2010/main" val="354465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Access HW from SW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88504" y="1175307"/>
            <a:ext cx="9289032" cy="4989997"/>
          </a:xfrm>
          <a:prstGeom prst="rect">
            <a:avLst/>
          </a:prstGeom>
        </p:spPr>
        <p:txBody>
          <a:bodyPr/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 eaLnBrk="1" hangingPunct="1"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How to make an IP that is 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mapped onto the memory map.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48544" y="1556792"/>
            <a:ext cx="8928992" cy="4970971"/>
          </a:xfrm>
          <a:prstGeom prst="rect">
            <a:avLst/>
          </a:prstGeom>
        </p:spPr>
        <p:txBody>
          <a:bodyPr/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Create the registers in the IP.</a:t>
            </a:r>
          </a:p>
          <a:p>
            <a:pPr algn="just" eaLnBrk="1" hangingPunct="1">
              <a:lnSpc>
                <a:spcPct val="2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Connect the hardware signals of the IP to the </a:t>
            </a:r>
            <a:r>
              <a:rPr lang="en-US" altLang="en-US" sz="18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</a:t>
            </a: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, which also connected to the </a:t>
            </a:r>
            <a:r>
              <a:rPr lang="en-US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processor.</a:t>
            </a: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2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Map the register of the IP to the memory map of the processor (i.e. creating </a:t>
            </a:r>
            <a:r>
              <a:rPr lang="en-US" altLang="en-US" sz="18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mapped registers</a:t>
            </a: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 eaLnBrk="1" hangingPunct="1">
              <a:lnSpc>
                <a:spcPct val="2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The IP can be accessed by the processor through the memory mapped registers as if reading/writing a memory </a:t>
            </a:r>
            <a:r>
              <a:rPr lang="en-US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space.  </a:t>
            </a: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20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8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Access HW from SW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88504" y="1175307"/>
            <a:ext cx="9289032" cy="4989997"/>
          </a:xfrm>
          <a:prstGeom prst="rect">
            <a:avLst/>
          </a:prstGeom>
        </p:spPr>
        <p:txBody>
          <a:bodyPr/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 eaLnBrk="1" hangingPunct="1"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An Example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1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48544" y="1433171"/>
            <a:ext cx="8928992" cy="480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defRPr sz="32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²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Assume it is written in the datasheet (or user manual):</a:t>
            </a:r>
          </a:p>
          <a:p>
            <a:pPr algn="just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endParaRPr lang="en-US" altLang="en-US" sz="2000" dirty="0">
              <a:latin typeface="+mn-lt"/>
            </a:endParaRPr>
          </a:p>
          <a:p>
            <a:pPr algn="just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endParaRPr lang="en-US" altLang="en-US" sz="2000" dirty="0">
              <a:latin typeface="+mn-lt"/>
            </a:endParaRPr>
          </a:p>
          <a:p>
            <a:pPr marL="0" indent="0" algn="just">
              <a:lnSpc>
                <a:spcPct val="150000"/>
              </a:lnSpc>
              <a:buClr>
                <a:schemeClr val="accent2"/>
              </a:buClr>
              <a:defRPr/>
            </a:pPr>
            <a:endParaRPr lang="en-US" altLang="en-US" sz="20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register </a:t>
            </a:r>
            <a:r>
              <a:rPr lang="en-US" altLang="en-US" sz="18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NVIC_ISER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mapped to the address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0xE000_E100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(i.e. SCS_BA+0x100) in the memory map.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Reading/Writing the register </a:t>
            </a:r>
            <a:r>
              <a:rPr lang="en-US" altLang="en-US" sz="18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NVIC_ISER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equivalent to reading/writing the address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0xE000_E100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ts val="26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exemplary C code: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1988840"/>
            <a:ext cx="6336704" cy="1656184"/>
          </a:xfrm>
          <a:prstGeom prst="rect">
            <a:avLst/>
          </a:prstGeom>
        </p:spPr>
      </p:pic>
      <p:pic>
        <p:nvPicPr>
          <p:cNvPr id="11" name="圖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08"/>
          <a:stretch/>
        </p:blipFill>
        <p:spPr bwMode="auto">
          <a:xfrm>
            <a:off x="2504728" y="5733256"/>
            <a:ext cx="5976664" cy="516860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274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On-chip Bus System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60512" y="1143000"/>
            <a:ext cx="9139567" cy="19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46800" rIns="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defRPr sz="32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²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9pPr>
          </a:lstStyle>
          <a:p>
            <a:pPr marL="0" lvl="1" indent="-342900">
              <a:buClr>
                <a:schemeClr val="accent2"/>
              </a:buClr>
              <a:buFont typeface="Wingdings" panose="05000000000000000000" pitchFamily="2" charset="2"/>
              <a:buChar char="p"/>
              <a:defRPr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AMBA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Advanced Microcontroller Bus Architecture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AHB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Advanced High-performance Bus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ASB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Advanced System Bus  (obsolete)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APB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Advanced Peripheral Bus</a:t>
            </a:r>
          </a:p>
          <a:p>
            <a:pPr marL="457200" lvl="2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60512" y="2564904"/>
            <a:ext cx="9139567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46800" rIns="0" bIns="46800"/>
          <a:lstStyle>
            <a:lvl1pPr marL="342900" indent="-342900">
              <a:spcBef>
                <a:spcPts val="800"/>
              </a:spcBef>
              <a:buClr>
                <a:srgbClr val="000000"/>
              </a:buClr>
              <a:buSzPct val="100000"/>
              <a:defRPr sz="32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²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Verdana" panose="020B0604030504040204" pitchFamily="34" charset="0"/>
                <a:cs typeface="Tahoma" panose="020B0604030504040204" pitchFamily="34" charset="0"/>
              </a:defRPr>
            </a:lvl9pPr>
          </a:lstStyle>
          <a:p>
            <a:pPr marL="0" lvl="1" indent="-342900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AHB: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Advanced High-performance Bus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performance and Pipelined operation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Burst transfers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Multiple bus masters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Split transactions</a:t>
            </a:r>
          </a:p>
          <a:p>
            <a:pPr marL="0" lvl="1" indent="-342900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APB: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Advanced High Peripheral Bus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power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Simple interface</a:t>
            </a:r>
          </a:p>
          <a:p>
            <a:pPr marL="0" lvl="1" indent="-342900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Advanced Extensible Interface</a:t>
            </a:r>
          </a:p>
          <a:p>
            <a:pPr marL="457200" lvl="2" indent="-342900">
              <a:buClr>
                <a:schemeClr val="accent2"/>
              </a:buClr>
              <a:buFont typeface="Wingdings" panose="05000000000000000000" pitchFamily="2" charset="2"/>
              <a:buChar char="n"/>
              <a:defRPr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next-generation AMBA interface</a:t>
            </a:r>
          </a:p>
          <a:p>
            <a:pPr marL="114300" lvl="2">
              <a:lnSpc>
                <a:spcPct val="150000"/>
              </a:lnSpc>
              <a:buClr>
                <a:schemeClr val="accent2"/>
              </a:buClr>
              <a:buNone/>
              <a:defRPr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0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On-chip Bus System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8458200" cy="1905000"/>
          </a:xfrm>
        </p:spPr>
        <p:txBody>
          <a:bodyPr/>
          <a:lstStyle/>
          <a:p>
            <a:pPr marL="341313" indent="-341313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AHB-Lite Bus</a:t>
            </a:r>
          </a:p>
          <a:p>
            <a:pPr marL="711200" lvl="1" indent="-342900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u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Simple Master</a:t>
            </a:r>
          </a:p>
          <a:p>
            <a:pPr marL="711200" lvl="1" indent="-342900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u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Simple Slaves</a:t>
            </a:r>
          </a:p>
          <a:p>
            <a:pPr marL="0" indent="0" algn="just" eaLnBrk="1" hangingPunct="1">
              <a:lnSpc>
                <a:spcPts val="36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400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8" y="3861048"/>
            <a:ext cx="65532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992" y="1988840"/>
            <a:ext cx="4572000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27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On-chip Bus System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8458200" cy="1905000"/>
          </a:xfrm>
        </p:spPr>
        <p:txBody>
          <a:bodyPr/>
          <a:lstStyle/>
          <a:p>
            <a:pPr marL="341313" indent="-341313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AHB-Lite Bus</a:t>
            </a:r>
          </a:p>
          <a:p>
            <a:pPr marL="0" indent="0" algn="just" eaLnBrk="1" hangingPunct="1">
              <a:lnSpc>
                <a:spcPts val="36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400" dirty="0"/>
          </a:p>
        </p:txBody>
      </p:sp>
      <p:pic>
        <p:nvPicPr>
          <p:cNvPr id="10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1"/>
          <a:stretch/>
        </p:blipFill>
        <p:spPr bwMode="auto">
          <a:xfrm>
            <a:off x="1784648" y="1628800"/>
            <a:ext cx="6042248" cy="2313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03" y="3932932"/>
            <a:ext cx="5760640" cy="237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2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On-chip Bus System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8458200" cy="1905000"/>
          </a:xfrm>
        </p:spPr>
        <p:txBody>
          <a:bodyPr/>
          <a:lstStyle/>
          <a:p>
            <a:pPr marL="341313" indent="-341313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AHB-Lite Bus</a:t>
            </a:r>
          </a:p>
          <a:p>
            <a:pPr marL="0" indent="0" algn="just" eaLnBrk="1" hangingPunct="1">
              <a:lnSpc>
                <a:spcPts val="36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60848"/>
            <a:ext cx="8815580" cy="39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6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On-chip Bus System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>
          <a:xfrm>
            <a:off x="488504" y="1196752"/>
            <a:ext cx="8458200" cy="1905000"/>
          </a:xfrm>
        </p:spPr>
        <p:txBody>
          <a:bodyPr/>
          <a:lstStyle/>
          <a:p>
            <a:pPr marL="341313" indent="-341313" algn="just" eaLnBrk="1" hangingPunct="1">
              <a:lnSpc>
                <a:spcPts val="36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AHB-Lite Bus</a:t>
            </a:r>
          </a:p>
          <a:p>
            <a:pPr marL="0" indent="0" algn="just" eaLnBrk="1" hangingPunct="1">
              <a:lnSpc>
                <a:spcPts val="36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4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988840"/>
            <a:ext cx="8675360" cy="35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How and hardware device (memory, IO, bus..</a:t>
            </a:r>
            <a:r>
              <a:rPr lang="en-US" altLang="zh-TW" sz="20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) interact with software? (How to achieve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HW/SW synchronization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?)</a:t>
            </a:r>
          </a:p>
          <a:p>
            <a:pPr marL="711200" lvl="1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When a input device (</a:t>
            </a:r>
            <a:r>
              <a:rPr lang="en-US" altLang="zh-TW" sz="16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HW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 receives new data and wants the 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read this new data.</a:t>
            </a:r>
          </a:p>
          <a:p>
            <a:pPr marL="711200" lvl="1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When a output device (</a:t>
            </a:r>
            <a:r>
              <a:rPr lang="en-US" altLang="zh-TW" sz="16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HW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) is empty and wants to inform the </a:t>
            </a:r>
            <a:r>
              <a:rPr lang="en-US" altLang="zh-TW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that it can send a data out.   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1856656" y="3194917"/>
            <a:ext cx="2880320" cy="1224136"/>
            <a:chOff x="2343944" y="927875"/>
            <a:chExt cx="4456113" cy="2571721"/>
          </a:xfrm>
        </p:grpSpPr>
        <p:sp>
          <p:nvSpPr>
            <p:cNvPr id="9" name="Cloud"/>
            <p:cNvSpPr>
              <a:spLocks noChangeAspect="1" noEditPoints="1" noChangeArrowheads="1"/>
            </p:cNvSpPr>
            <p:nvPr/>
          </p:nvSpPr>
          <p:spPr bwMode="auto">
            <a:xfrm rot="252613">
              <a:off x="2343944" y="927875"/>
              <a:ext cx="4456113" cy="2571721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2880" tIns="91440" rIns="182880" bIns="91440" anchor="ctr" anchorCtr="1"/>
            <a:lstStyle/>
            <a:p>
              <a:r>
                <a:rPr lang="en-US" altLang="zh-TW" sz="1600">
                  <a:solidFill>
                    <a:srgbClr val="FF0000"/>
                  </a:solidFill>
                  <a:latin typeface="Arial" panose="020B0604020202020204" pitchFamily="34" charset="0"/>
                </a:rPr>
                <a:t>            </a:t>
              </a:r>
              <a:endParaRPr lang="en-US" altLang="zh-TW" sz="12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0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95153" flipV="1">
              <a:off x="4308633" y="776430"/>
              <a:ext cx="1914525" cy="266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807" y="3429000"/>
            <a:ext cx="4456562" cy="75597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4"/>
          <a:srcRect b="5063"/>
          <a:stretch/>
        </p:blipFill>
        <p:spPr>
          <a:xfrm>
            <a:off x="1405863" y="4305082"/>
            <a:ext cx="7507148" cy="208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5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r>
              <a:rPr lang="en-US" altLang="zh-TW" sz="2000" dirty="0">
                <a:latin typeface="Arial" charset="0"/>
              </a:rPr>
              <a:t>Software Architecture based on </a:t>
            </a:r>
            <a:r>
              <a:rPr lang="en-US" altLang="zh-TW" sz="2000" dirty="0">
                <a:solidFill>
                  <a:srgbClr val="FF0000"/>
                </a:solidFill>
                <a:latin typeface="Arial" charset="0"/>
              </a:rPr>
              <a:t>Polling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56574"/>
            <a:ext cx="7230483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7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r>
              <a:rPr lang="en-US" altLang="zh-TW" sz="2000" dirty="0">
                <a:latin typeface="Arial" charset="0"/>
              </a:rPr>
              <a:t>Software Architecture based on </a:t>
            </a:r>
            <a:r>
              <a:rPr lang="en-US" altLang="zh-TW" sz="2000" dirty="0">
                <a:solidFill>
                  <a:srgbClr val="3333FF"/>
                </a:solidFill>
                <a:latin typeface="Arial" charset="0"/>
              </a:rPr>
              <a:t>Interrupt</a:t>
            </a:r>
          </a:p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endParaRPr lang="en-US" altLang="zh-TW" sz="2000" dirty="0">
              <a:latin typeface="Arial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pic>
        <p:nvPicPr>
          <p:cNvPr id="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231908"/>
            <a:ext cx="8129588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448944" y="1628800"/>
            <a:ext cx="540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1313">
              <a:buFont typeface="Wingdings" pitchFamily="-105" charset="2"/>
              <a:buChar char="l"/>
              <a:defRPr/>
            </a:pPr>
            <a:r>
              <a:rPr kumimoji="0" lang="en-US" altLang="zh-TW" sz="1800" kern="0" dirty="0">
                <a:solidFill>
                  <a:srgbClr val="3333CC"/>
                </a:solidFill>
              </a:rPr>
              <a:t>External hardware alerts the processor that input is </a:t>
            </a:r>
            <a:r>
              <a:rPr kumimoji="0" lang="en-US" altLang="zh-TW" sz="1800" kern="0" dirty="0" smtClean="0">
                <a:solidFill>
                  <a:srgbClr val="3333CC"/>
                </a:solidFill>
              </a:rPr>
              <a:t> </a:t>
            </a:r>
          </a:p>
          <a:p>
            <a:pPr marL="0" lvl="1">
              <a:defRPr/>
            </a:pPr>
            <a:r>
              <a:rPr kumimoji="0" lang="en-US" altLang="zh-TW" sz="1800" kern="0" dirty="0">
                <a:solidFill>
                  <a:srgbClr val="3333CC"/>
                </a:solidFill>
              </a:rPr>
              <a:t> </a:t>
            </a:r>
            <a:r>
              <a:rPr kumimoji="0" lang="en-US" altLang="zh-TW" sz="1800" kern="0" dirty="0" smtClean="0">
                <a:solidFill>
                  <a:srgbClr val="3333CC"/>
                </a:solidFill>
              </a:rPr>
              <a:t>     </a:t>
            </a:r>
            <a:r>
              <a:rPr kumimoji="0" lang="en-US" altLang="zh-TW" sz="1800" kern="0" dirty="0" smtClean="0">
                <a:solidFill>
                  <a:srgbClr val="3333CC"/>
                </a:solidFill>
              </a:rPr>
              <a:t>ready</a:t>
            </a:r>
            <a:r>
              <a:rPr kumimoji="0" lang="en-US" altLang="zh-TW" sz="1800" kern="0" dirty="0">
                <a:solidFill>
                  <a:srgbClr val="3333CC"/>
                </a:solidFill>
              </a:rPr>
              <a:t>.</a:t>
            </a:r>
          </a:p>
          <a:p>
            <a:pPr marL="0" lvl="1" indent="-341313">
              <a:buFont typeface="Wingdings" pitchFamily="-105" charset="2"/>
              <a:buChar char="l"/>
              <a:defRPr/>
            </a:pPr>
            <a:r>
              <a:rPr kumimoji="0" lang="en-US" altLang="zh-TW" sz="1800" kern="0" dirty="0" smtClean="0">
                <a:solidFill>
                  <a:srgbClr val="3333CC"/>
                </a:solidFill>
              </a:rPr>
              <a:t>The processor </a:t>
            </a:r>
            <a:r>
              <a:rPr kumimoji="0" lang="en-US" altLang="zh-TW" sz="1800" kern="0" dirty="0">
                <a:solidFill>
                  <a:srgbClr val="3333CC"/>
                </a:solidFill>
              </a:rPr>
              <a:t>suspends what it is doing.</a:t>
            </a:r>
          </a:p>
          <a:p>
            <a:pPr marL="0" lvl="1" indent="-341313">
              <a:buFont typeface="Wingdings" pitchFamily="-105" charset="2"/>
              <a:buChar char="l"/>
              <a:defRPr/>
            </a:pPr>
            <a:r>
              <a:rPr kumimoji="0" lang="en-US" altLang="zh-TW" sz="1800" kern="0" dirty="0" smtClean="0">
                <a:solidFill>
                  <a:srgbClr val="3333CC"/>
                </a:solidFill>
              </a:rPr>
              <a:t>The processor </a:t>
            </a:r>
            <a:r>
              <a:rPr kumimoji="0" lang="en-US" altLang="zh-TW" sz="1800" kern="0" dirty="0">
                <a:solidFill>
                  <a:srgbClr val="3333CC"/>
                </a:solidFill>
              </a:rPr>
              <a:t>invokes an </a:t>
            </a:r>
            <a:r>
              <a:rPr kumimoji="0" lang="en-US" altLang="zh-TW" sz="1800" b="1" kern="0" dirty="0">
                <a:solidFill>
                  <a:srgbClr val="FF0000"/>
                </a:solidFill>
              </a:rPr>
              <a:t>interrupt service routine </a:t>
            </a:r>
            <a:endParaRPr kumimoji="0" lang="en-US" altLang="zh-TW" sz="1800" b="1" kern="0" dirty="0" smtClean="0">
              <a:solidFill>
                <a:srgbClr val="FF0000"/>
              </a:solidFill>
            </a:endParaRPr>
          </a:p>
          <a:p>
            <a:pPr marL="0" lvl="1">
              <a:defRPr/>
            </a:pPr>
            <a:r>
              <a:rPr kumimoji="0" lang="en-US" altLang="zh-TW" sz="1800" b="1" kern="0" dirty="0">
                <a:solidFill>
                  <a:srgbClr val="FF0000"/>
                </a:solidFill>
              </a:rPr>
              <a:t> </a:t>
            </a:r>
            <a:r>
              <a:rPr kumimoji="0" lang="en-US" altLang="zh-TW" sz="1800" b="1" kern="0" dirty="0" smtClean="0">
                <a:solidFill>
                  <a:srgbClr val="FF0000"/>
                </a:solidFill>
              </a:rPr>
              <a:t>     </a:t>
            </a:r>
            <a:r>
              <a:rPr kumimoji="0" lang="en-US" altLang="zh-TW" sz="1800" b="1" kern="0" dirty="0" smtClean="0">
                <a:solidFill>
                  <a:srgbClr val="FF0000"/>
                </a:solidFill>
              </a:rPr>
              <a:t>(</a:t>
            </a:r>
            <a:r>
              <a:rPr kumimoji="0" lang="en-US" altLang="zh-TW" sz="1800" b="1" kern="0" dirty="0">
                <a:solidFill>
                  <a:srgbClr val="FF0000"/>
                </a:solidFill>
              </a:rPr>
              <a:t>ISR)</a:t>
            </a:r>
            <a:r>
              <a:rPr kumimoji="0" lang="en-US" altLang="zh-TW" sz="1800" kern="0" dirty="0">
                <a:solidFill>
                  <a:srgbClr val="3333CC"/>
                </a:solidFill>
              </a:rPr>
              <a:t>.</a:t>
            </a:r>
          </a:p>
          <a:p>
            <a:pPr marL="0" lvl="1" indent="-341313">
              <a:buFont typeface="Wingdings" pitchFamily="-105" charset="2"/>
              <a:buChar char="l"/>
              <a:defRPr/>
            </a:pPr>
            <a:r>
              <a:rPr kumimoji="0" lang="en-US" altLang="zh-TW" sz="1800" kern="0" dirty="0">
                <a:solidFill>
                  <a:srgbClr val="3333CC"/>
                </a:solidFill>
              </a:rPr>
              <a:t>ISR interacts with the application concurrently.</a:t>
            </a:r>
          </a:p>
        </p:txBody>
      </p:sp>
    </p:spTree>
    <p:extLst>
      <p:ext uri="{BB962C8B-B14F-4D97-AF65-F5344CB8AC3E}">
        <p14:creationId xmlns:p14="http://schemas.microsoft.com/office/powerpoint/2010/main" val="1892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r>
              <a:rPr lang="en-US" altLang="zh-TW" sz="2000" dirty="0">
                <a:latin typeface="Arial" charset="0"/>
              </a:rPr>
              <a:t>In general, how does interrupt </a:t>
            </a:r>
            <a:r>
              <a:rPr lang="en-US" altLang="zh-TW" sz="2000" dirty="0" smtClean="0">
                <a:latin typeface="Arial" charset="0"/>
              </a:rPr>
              <a:t>work?</a:t>
            </a:r>
            <a:endParaRPr lang="en-US" altLang="zh-TW" sz="2000" dirty="0">
              <a:latin typeface="Arial" charset="0"/>
            </a:endParaRP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00" y="1844824"/>
            <a:ext cx="4680520" cy="178825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128" y="1867450"/>
            <a:ext cx="2376264" cy="94963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r="27426"/>
          <a:stretch/>
        </p:blipFill>
        <p:spPr>
          <a:xfrm>
            <a:off x="576900" y="4149080"/>
            <a:ext cx="3964686" cy="172819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5"/>
          <a:srcRect r="46232"/>
          <a:stretch/>
        </p:blipFill>
        <p:spPr>
          <a:xfrm>
            <a:off x="6105128" y="4149080"/>
            <a:ext cx="2952328" cy="14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7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r>
              <a:rPr lang="en-US" altLang="zh-TW" sz="2000" dirty="0">
                <a:latin typeface="Arial" charset="0"/>
              </a:rPr>
              <a:t>Typical using cases of HW/SW synchronization using interrupts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930337" y="1700808"/>
            <a:ext cx="8458200" cy="3718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  <a:defRPr kumimoji="1"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Font typeface="Wingdings" panose="05000000000000000000" pitchFamily="2" charset="2"/>
              <a:buChar char="§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rtl="0" fontAlgn="base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Char char="o"/>
              <a:defRPr kumimoji="1" sz="184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Input Device: </a:t>
            </a:r>
          </a:p>
          <a:p>
            <a:pPr marL="711200" lvl="1" indent="-342900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n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HW request an interrupt when </a:t>
            </a:r>
            <a:r>
              <a:rPr lang="en-US" altLang="en-US" sz="1800" kern="0" dirty="0" smtClean="0">
                <a:solidFill>
                  <a:srgbClr val="0000FF"/>
                </a:solidFill>
              </a:rPr>
              <a:t>having a new data</a:t>
            </a:r>
            <a:r>
              <a:rPr lang="en-US" altLang="en-US" sz="1800" kern="0" dirty="0" smtClean="0"/>
              <a:t>.</a:t>
            </a:r>
          </a:p>
          <a:p>
            <a:pPr marL="711200" lvl="1" indent="-342900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n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SW (ISR) </a:t>
            </a:r>
            <a:r>
              <a:rPr lang="en-US" altLang="en-US" sz="1800" kern="0" dirty="0" smtClean="0">
                <a:solidFill>
                  <a:srgbClr val="00B050"/>
                </a:solidFill>
              </a:rPr>
              <a:t>reads</a:t>
            </a:r>
            <a:r>
              <a:rPr lang="en-US" altLang="en-US" sz="1800" kern="0" dirty="0" smtClean="0"/>
              <a:t> from the device and save it to the memory.</a:t>
            </a:r>
          </a:p>
          <a:p>
            <a:pPr marL="341313" indent="-341313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Output Device: </a:t>
            </a:r>
          </a:p>
          <a:p>
            <a:pPr marL="711200" lvl="1" indent="-342900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n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HW request an interrupt when </a:t>
            </a:r>
            <a:r>
              <a:rPr lang="en-US" altLang="en-US" sz="1800" kern="0" dirty="0" smtClean="0">
                <a:solidFill>
                  <a:srgbClr val="0000FF"/>
                </a:solidFill>
              </a:rPr>
              <a:t>being idle</a:t>
            </a:r>
            <a:r>
              <a:rPr lang="en-US" altLang="en-US" sz="1800" kern="0" dirty="0" smtClean="0"/>
              <a:t>.</a:t>
            </a:r>
          </a:p>
          <a:p>
            <a:pPr marL="711200" lvl="1" indent="-342900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n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kern="0" dirty="0" smtClean="0"/>
              <a:t>SW (ISR) reads data from memory and </a:t>
            </a:r>
            <a:r>
              <a:rPr lang="en-US" altLang="en-US" sz="1800" kern="0" dirty="0" smtClean="0">
                <a:solidFill>
                  <a:srgbClr val="00B050"/>
                </a:solidFill>
              </a:rPr>
              <a:t>write</a:t>
            </a:r>
            <a:r>
              <a:rPr lang="en-US" altLang="en-US" sz="1800" kern="0" dirty="0" smtClean="0"/>
              <a:t> to the device.</a:t>
            </a:r>
          </a:p>
          <a:p>
            <a:pPr marL="711200" lvl="1" indent="-342900" algn="just" eaLnBrk="1" hangingPunct="1">
              <a:lnSpc>
                <a:spcPts val="4000"/>
              </a:lnSpc>
              <a:spcBef>
                <a:spcPts val="700"/>
              </a:spcBef>
              <a:buFont typeface="Wingdings" panose="05000000000000000000" pitchFamily="2" charset="2"/>
              <a:buChar char="n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100" kern="0" dirty="0"/>
          </a:p>
        </p:txBody>
      </p:sp>
    </p:spTree>
    <p:extLst>
      <p:ext uri="{BB962C8B-B14F-4D97-AF65-F5344CB8AC3E}">
        <p14:creationId xmlns:p14="http://schemas.microsoft.com/office/powerpoint/2010/main" val="246938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660400" y="609600"/>
            <a:ext cx="87503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954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r>
              <a:rPr lang="en-US" altLang="zh-TW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Interrupt and Interrupt Service Routine</a:t>
            </a:r>
            <a:endParaRPr lang="en-US" altLang="zh-TW" sz="2400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541338" y="1182688"/>
            <a:ext cx="9236198" cy="4910608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p"/>
              <a:defRPr/>
            </a:pPr>
            <a:r>
              <a:rPr lang="en-US" altLang="zh-TW" sz="2000" dirty="0">
                <a:latin typeface="Arial" charset="0"/>
              </a:rPr>
              <a:t>Typical SW structure when using </a:t>
            </a:r>
            <a:r>
              <a:rPr lang="en-US" altLang="zh-TW" sz="2000" dirty="0" smtClean="0">
                <a:latin typeface="Arial" charset="0"/>
              </a:rPr>
              <a:t>interrupts: </a:t>
            </a:r>
          </a:p>
          <a:p>
            <a:pPr marL="712787" lvl="1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TW" sz="1700" dirty="0" smtClean="0">
                <a:solidFill>
                  <a:srgbClr val="FF0000"/>
                </a:solidFill>
                <a:latin typeface="Arial" charset="0"/>
              </a:rPr>
              <a:t>Foreground </a:t>
            </a:r>
            <a:r>
              <a:rPr lang="en-US" altLang="zh-TW" sz="1700" dirty="0">
                <a:solidFill>
                  <a:srgbClr val="FF0000"/>
                </a:solidFill>
                <a:latin typeface="Arial" charset="0"/>
              </a:rPr>
              <a:t>/ Background Scheduling</a:t>
            </a:r>
          </a:p>
          <a:p>
            <a:pPr marL="341313" indent="-341313" algn="just" eaLnBrk="1" hangingPunct="1">
              <a:lnSpc>
                <a:spcPct val="150000"/>
              </a:lnSpc>
              <a:spcBef>
                <a:spcPts val="700"/>
              </a:spcBef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200" dirty="0"/>
          </a:p>
        </p:txBody>
      </p:sp>
      <p:pic>
        <p:nvPicPr>
          <p:cNvPr id="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68" y="1998171"/>
            <a:ext cx="1933290" cy="412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296816" y="1916832"/>
            <a:ext cx="6408712" cy="433228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defRPr/>
            </a:pPr>
            <a:r>
              <a:rPr lang="en-US" sz="1800" b="1" dirty="0">
                <a:solidFill>
                  <a:srgbClr val="0000FF"/>
                </a:solidFill>
                <a:latin typeface="Calibri" pitchFamily="34" charset="0"/>
                <a:ea typeface="+mn-ea"/>
                <a:cs typeface="Calibri" pitchFamily="34" charset="0"/>
              </a:rPr>
              <a:t>System Initialization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The beginning part of main() is usually dedicated to setting up your system</a:t>
            </a:r>
          </a:p>
          <a:p>
            <a:pPr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defRPr/>
            </a:pPr>
            <a:r>
              <a:rPr lang="en-US" sz="1800" b="1" dirty="0">
                <a:solidFill>
                  <a:srgbClr val="0000FF"/>
                </a:solidFill>
                <a:latin typeface="Calibri" pitchFamily="34" charset="0"/>
                <a:ea typeface="+mn-ea"/>
                <a:cs typeface="Calibri" pitchFamily="34" charset="0"/>
              </a:rPr>
              <a:t>Background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Most systems have an endless loop that runs ‘forever’ in the background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In this case, </a:t>
            </a: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‘</a:t>
            </a: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Background</a:t>
            </a: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’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implies that it runs at a lower priority than ‘Foreground’</a:t>
            </a:r>
          </a:p>
          <a:p>
            <a:pPr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defRPr/>
            </a:pPr>
            <a:r>
              <a:rPr lang="en-US" sz="1800" b="1" dirty="0">
                <a:solidFill>
                  <a:srgbClr val="0000FF"/>
                </a:solidFill>
                <a:latin typeface="Calibri" pitchFamily="34" charset="0"/>
                <a:ea typeface="+mn-ea"/>
                <a:cs typeface="Calibri" pitchFamily="34" charset="0"/>
              </a:rPr>
              <a:t>Foreground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Interrupt Service Routine (ISR)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runs in response to enabled hardware interrupt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These events may change modes in Background – such as waking the CPU out of low-power mode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ISR’s, by default, are not interruptible</a:t>
            </a:r>
          </a:p>
          <a:p>
            <a:pPr marL="342900" indent="-342900" defTabSz="9144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SzPct val="75000"/>
              <a:buFont typeface="Wingdings"/>
              <a:buChar char=""/>
              <a:defRPr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+mn-ea"/>
                <a:cs typeface="Calibri" pitchFamily="34" charset="0"/>
              </a:rPr>
              <a:t>Some processing may be done in ISR, but it’s usually best to keep them short</a:t>
            </a:r>
          </a:p>
        </p:txBody>
      </p:sp>
    </p:spTree>
    <p:extLst>
      <p:ext uri="{BB962C8B-B14F-4D97-AF65-F5344CB8AC3E}">
        <p14:creationId xmlns:p14="http://schemas.microsoft.com/office/powerpoint/2010/main" val="288078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16" y="3356992"/>
            <a:ext cx="60198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7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28800"/>
            <a:ext cx="6781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36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新細明體"/>
        <a:cs typeface="新細明體"/>
      </a:majorFont>
      <a:minorFont>
        <a:latin typeface="Times New Roman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新細明體" charset="-120"/>
            <a:cs typeface="新細明體" charset="-12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12794</TotalTime>
  <Words>768</Words>
  <Application>Microsoft Office PowerPoint</Application>
  <PresentationFormat>A4 紙張 (210x297 公釐)</PresentationFormat>
  <Paragraphs>114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30" baseType="lpstr">
      <vt:lpstr>ＭＳ Ｐゴシック</vt:lpstr>
      <vt:lpstr>華康中楷體</vt:lpstr>
      <vt:lpstr>微軟正黑體</vt:lpstr>
      <vt:lpstr>新細明體</vt:lpstr>
      <vt:lpstr>標楷體</vt:lpstr>
      <vt:lpstr>Arial</vt:lpstr>
      <vt:lpstr>Arial Black</vt:lpstr>
      <vt:lpstr>Calibri</vt:lpstr>
      <vt:lpstr>Tahoma</vt:lpstr>
      <vt:lpstr>Times New Roman</vt:lpstr>
      <vt:lpstr>Wingdings</vt:lpstr>
      <vt:lpstr>2_template</vt:lpstr>
      <vt:lpstr>PowerPoint 簡報</vt:lpstr>
      <vt:lpstr>Fundamental Architecture of Electronic Systems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mblin</dc:creator>
  <cp:lastModifiedBy>User</cp:lastModifiedBy>
  <cp:revision>2520</cp:revision>
  <cp:lastPrinted>2015-12-21T09:32:07Z</cp:lastPrinted>
  <dcterms:created xsi:type="dcterms:W3CDTF">2003-02-18T08:04:03Z</dcterms:created>
  <dcterms:modified xsi:type="dcterms:W3CDTF">2026-09-03T08:04:45Z</dcterms:modified>
</cp:coreProperties>
</file>