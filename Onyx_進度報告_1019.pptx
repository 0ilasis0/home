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8" r:id="rId1"/>
  </p:sldMasterIdLst>
  <p:notesMasterIdLst>
    <p:notesMasterId r:id="rId14"/>
  </p:notesMasterIdLst>
  <p:sldIdLst>
    <p:sldId id="277" r:id="rId2"/>
    <p:sldId id="2025" r:id="rId3"/>
    <p:sldId id="2035" r:id="rId4"/>
    <p:sldId id="2032" r:id="rId5"/>
    <p:sldId id="2040" r:id="rId6"/>
    <p:sldId id="2042" r:id="rId7"/>
    <p:sldId id="2037" r:id="rId8"/>
    <p:sldId id="2041" r:id="rId9"/>
    <p:sldId id="2043" r:id="rId10"/>
    <p:sldId id="2045" r:id="rId11"/>
    <p:sldId id="2036" r:id="rId12"/>
    <p:sldId id="286" r:id="rId13"/>
  </p:sldIdLst>
  <p:sldSz cx="9906000" cy="6858000" type="A4"/>
  <p:notesSz cx="7315200" cy="9601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Head" id="{9114FBB3-8B00-422B-ACC9-030F49096E83}">
          <p14:sldIdLst>
            <p14:sldId id="277"/>
          </p14:sldIdLst>
        </p14:section>
        <p14:section name="上次進度" id="{7189DFBE-4EEB-4F74-853B-C02E818AF80E}">
          <p14:sldIdLst/>
        </p14:section>
        <p14:section name="Video Capture Card" id="{FA8538CB-EEBB-42F8-BEE8-82DA04CEC9C1}">
          <p14:sldIdLst>
            <p14:sldId id="2025"/>
            <p14:sldId id="2035"/>
            <p14:sldId id="2032"/>
            <p14:sldId id="2040"/>
            <p14:sldId id="2042"/>
            <p14:sldId id="2037"/>
            <p14:sldId id="2041"/>
            <p14:sldId id="2043"/>
            <p14:sldId id="2045"/>
            <p14:sldId id="2036"/>
          </p14:sldIdLst>
        </p14:section>
        <p14:section name="End" id="{33EEDC85-A799-4CB3-BF13-F4955B8630BE}">
          <p14:sldIdLst>
            <p14:sldId id="28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10902143" initials="m" lastIdx="1" clrIdx="0"/>
  <p:cmAuthor id="2" name="James Kuo" initials="JK" lastIdx="1" clrIdx="1"/>
  <p:cmAuthor id="3" name="昇鴻 李" initials="昇鴻" lastIdx="1" clrIdx="2">
    <p:extLst>
      <p:ext uri="{19B8F6BF-5375-455C-9EA6-DF929625EA0E}">
        <p15:presenceInfo xmlns:p15="http://schemas.microsoft.com/office/powerpoint/2012/main" userId="72a70edeaa250c2c" providerId="Windows Live"/>
      </p:ext>
    </p:extLst>
  </p:cmAuthor>
  <p:cmAuthor id="4" name="宏德 林" initials="宏林" lastIdx="2" clrIdx="3">
    <p:extLst>
      <p:ext uri="{19B8F6BF-5375-455C-9EA6-DF929625EA0E}">
        <p15:presenceInfo xmlns:p15="http://schemas.microsoft.com/office/powerpoint/2012/main" userId="933d0002216be5bd" providerId="Windows Live"/>
      </p:ext>
    </p:extLst>
  </p:cmAuthor>
  <p:cmAuthor id="5" name="LI CHIH HSIANG" initials="LCH" lastIdx="6" clrIdx="4">
    <p:extLst>
      <p:ext uri="{19B8F6BF-5375-455C-9EA6-DF929625EA0E}">
        <p15:presenceInfo xmlns:p15="http://schemas.microsoft.com/office/powerpoint/2012/main" userId="LI CHIH HSIANG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0000"/>
    <a:srgbClr val="00B050"/>
    <a:srgbClr val="0057C0"/>
    <a:srgbClr val="FFC000"/>
    <a:srgbClr val="FFFFFF"/>
    <a:srgbClr val="8958B1"/>
    <a:srgbClr val="C58DEF"/>
    <a:srgbClr val="993366"/>
    <a:srgbClr val="5814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D433FD4-3D7A-4217-8E80-1680D7E9CC69}" styleName="Table_0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rgbClr val="E6E6E6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E6E6E6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 i="off"/>
      <a:tcStyle>
        <a:tcBdr>
          <a:top>
            <a:ln w="508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eCell>
    <a:swCell>
      <a:tcTxStyle b="on" i="off">
        <a:font>
          <a:latin typeface="Times New Roman"/>
          <a:ea typeface="Times New Roman"/>
          <a:cs typeface="Times New Roman"/>
        </a:font>
        <a:schemeClr val="dk1"/>
      </a:tcTxStyle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254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2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3E919B74-BC6B-4152-9BDB-477648A112FC}" styleName="Table_1">
    <a:wholeTbl>
      <a:tcTxStyle b="off" i="off">
        <a:font>
          <a:latin typeface="Times New Roman"/>
          <a:ea typeface="Times New Roman"/>
          <a:cs typeface="Times New Roman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6F6EF"/>
          </a:solidFill>
        </a:fill>
      </a:tcStyle>
    </a:wholeTbl>
    <a:band1H>
      <a:tcStyle>
        <a:tcBdr/>
        <a:fill>
          <a:solidFill>
            <a:srgbClr val="CAECDD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AECDD"/>
          </a:solidFill>
        </a:fill>
      </a:tcStyle>
    </a:band1V>
    <a:band2V>
      <a:tcStyle>
        <a:tcBdr/>
      </a:tcStyle>
    </a:band2V>
    <a:la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 i="off">
        <a:font>
          <a:latin typeface="Times New Roman"/>
          <a:ea typeface="Times New Roman"/>
          <a:cs typeface="Times New Roman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2833802-FEF1-4C79-8D5D-14CF1EAF98D9}" styleName="淺色樣式 2 - 輔色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C7853C-536D-4A76-A0AE-DD22124D55A5}" styleName="佈景主題樣式 1 - 輔色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佈景主題樣式 1 - 輔色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佈景主題樣式 1 - 輔色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18603FDC-E32A-4AB5-989C-0864C3EAD2B8}" styleName="佈景主題樣式 2 - 輔色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0A1B5D5-9B99-4C35-A422-299274C87663}" styleName="中等深淺樣式 1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7CE84F3-28C3-443E-9E96-99CF82512B78}" styleName="深色樣式 1 - 輔色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CAF9ED-07DC-4A11-8D7F-57B35C25682E}" styleName="中等深淺樣式 1 - 輔色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36" autoAdjust="0"/>
    <p:restoredTop sz="84369" autoAdjust="0"/>
  </p:normalViewPr>
  <p:slideViewPr>
    <p:cSldViewPr snapToGrid="0">
      <p:cViewPr varScale="1">
        <p:scale>
          <a:sx n="81" d="100"/>
          <a:sy n="81" d="100"/>
        </p:scale>
        <p:origin x="1728" y="44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9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0" name="Google Shape;4;n"/>
          <p:cNvSpPr txBox="1">
            <a:spLocks noGrp="1"/>
          </p:cNvSpPr>
          <p:nvPr>
            <p:ph type="dt" idx="10"/>
          </p:nvPr>
        </p:nvSpPr>
        <p:spPr>
          <a:xfrm>
            <a:off x="4138613" y="0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1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062038" y="735013"/>
            <a:ext cx="5197475" cy="3598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048662" name="Google Shape;6;n"/>
          <p:cNvSpPr txBox="1">
            <a:spLocks noGrp="1"/>
          </p:cNvSpPr>
          <p:nvPr>
            <p:ph type="body" idx="1"/>
          </p:nvPr>
        </p:nvSpPr>
        <p:spPr>
          <a:xfrm>
            <a:off x="962025" y="4567238"/>
            <a:ext cx="5391150" cy="43005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t" anchorCtr="0">
            <a:no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48663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134475"/>
            <a:ext cx="3176588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64" name="Google Shape;8;n"/>
          <p:cNvSpPr txBox="1">
            <a:spLocks noGrp="1"/>
          </p:cNvSpPr>
          <p:nvPr>
            <p:ph type="sldNum" idx="12"/>
          </p:nvPr>
        </p:nvSpPr>
        <p:spPr>
          <a:xfrm>
            <a:off x="4138613" y="9134475"/>
            <a:ext cx="3176587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02350" tIns="51175" rIns="102350" bIns="51175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41020898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5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586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1048587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5252770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altLang="zh-TW" dirty="0"/>
              <a:t>FPGA HDMI RX</a:t>
            </a:r>
            <a:r>
              <a:rPr lang="zh-TW" altLang="en-US" dirty="0"/>
              <a:t>：</a:t>
            </a:r>
            <a:r>
              <a:rPr lang="en-US" altLang="zh-TW" dirty="0"/>
              <a:t>TMDS </a:t>
            </a:r>
            <a:r>
              <a:rPr lang="zh-TW" altLang="en-US" dirty="0"/>
              <a:t>解碼、辨識有效像素、輸出標準像素資料</a:t>
            </a:r>
            <a:r>
              <a:rPr lang="en-US" altLang="zh-TW" dirty="0"/>
              <a:t>(pixel data</a:t>
            </a:r>
            <a:r>
              <a:rPr lang="zh-TW" altLang="en-US" dirty="0"/>
              <a:t>、</a:t>
            </a:r>
            <a:r>
              <a:rPr lang="en-US" altLang="zh-TW" dirty="0"/>
              <a:t>HSYNC</a:t>
            </a:r>
            <a:r>
              <a:rPr lang="zh-TW" altLang="en-US" dirty="0"/>
              <a:t>、</a:t>
            </a:r>
            <a:r>
              <a:rPr lang="en-US" altLang="zh-TW" dirty="0"/>
              <a:t>VSYNC)</a:t>
            </a:r>
          </a:p>
          <a:p>
            <a:pPr marL="0" indent="0"/>
            <a:r>
              <a:rPr lang="en-US" altLang="zh-TW" dirty="0"/>
              <a:t>FIFO</a:t>
            </a:r>
            <a:r>
              <a:rPr lang="zh-TW" altLang="en-US" dirty="0"/>
              <a:t>／</a:t>
            </a:r>
            <a:r>
              <a:rPr lang="en-US" altLang="zh-TW" dirty="0"/>
              <a:t>DDR Frame Buffer</a:t>
            </a:r>
            <a:r>
              <a:rPr lang="zh-TW" altLang="en-US" dirty="0"/>
              <a:t>：跨時脈、影像緩衝</a:t>
            </a:r>
            <a:endParaRPr lang="en-US" altLang="zh-TW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75490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/>
              <a:t>FPGA </a:t>
            </a:r>
            <a:r>
              <a:rPr lang="zh-TW" altLang="en-US" dirty="0"/>
              <a:t>系統 </a:t>
            </a:r>
            <a:r>
              <a:rPr lang="en-US" altLang="zh-TW" dirty="0"/>
              <a:t>framework</a:t>
            </a:r>
          </a:p>
          <a:p>
            <a:r>
              <a:rPr lang="zh-TW" altLang="en-US" dirty="0"/>
              <a:t>連接模組（系統整合）： 決定哪些模組要連接，以及如何組成完整系統。</a:t>
            </a:r>
          </a:p>
          <a:p>
            <a:r>
              <a:rPr lang="zh-TW" altLang="en-US" dirty="0"/>
              <a:t>連接介面（通訊規則）： 規定模組連接後，如何交換資料、位址、控制訊號，以及如何協調傳輸。</a:t>
            </a:r>
          </a:p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37052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4736900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altLang="zh-TW" dirty="0"/>
              <a:t>PCIe Endpoint</a:t>
            </a:r>
            <a:r>
              <a:rPr lang="zh-TW" altLang="en-US" dirty="0"/>
              <a:t>：讓 </a:t>
            </a:r>
            <a:r>
              <a:rPr lang="en-US" altLang="zh-TW" dirty="0"/>
              <a:t>FPGA </a:t>
            </a:r>
            <a:r>
              <a:rPr lang="zh-TW" altLang="en-US" dirty="0"/>
              <a:t>成為 </a:t>
            </a:r>
            <a:r>
              <a:rPr lang="en-US" altLang="zh-TW" dirty="0"/>
              <a:t>PC </a:t>
            </a:r>
            <a:r>
              <a:rPr lang="zh-TW" altLang="en-US" dirty="0"/>
              <a:t>可以辨識與存取的 </a:t>
            </a:r>
            <a:r>
              <a:rPr lang="en-US" altLang="zh-TW" dirty="0"/>
              <a:t>PCIe </a:t>
            </a:r>
            <a:r>
              <a:rPr lang="zh-TW" altLang="en-US" dirty="0"/>
              <a:t>裝置</a:t>
            </a:r>
          </a:p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96064560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en-US" altLang="zh-TW" dirty="0" err="1"/>
              <a:t>LiteX</a:t>
            </a:r>
            <a:r>
              <a:rPr lang="zh-TW" altLang="en-US" dirty="0"/>
              <a:t>：可利用其提供的互連架構及匯流排機制，整合符合其介面規範的模組。可利用 </a:t>
            </a:r>
            <a:r>
              <a:rPr lang="en-US" altLang="zh-TW" dirty="0"/>
              <a:t>CSR</a:t>
            </a:r>
            <a:r>
              <a:rPr lang="zh-TW" altLang="en-US" dirty="0"/>
              <a:t> 等機制建立控制介面，並整合到系統中。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1175586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zh-TW" sz="12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TB-FMCH-VFMC-HDMI</a:t>
            </a:r>
            <a:r>
              <a:rPr lang="zh-TW" altLang="zh-TW" dirty="0"/>
              <a:t> 的主要作用是提供 HDMI 實體介面及高速訊號接收</a:t>
            </a:r>
            <a:r>
              <a:rPr lang="zh-TW" altLang="en-US" dirty="0"/>
              <a:t> </a:t>
            </a:r>
            <a:r>
              <a:rPr lang="en-US" altLang="zh-TW" dirty="0"/>
              <a:t>(HDMI2.1)</a:t>
            </a:r>
            <a:r>
              <a:rPr lang="zh-TW" altLang="zh-TW" dirty="0"/>
              <a:t>、傳輸所需的電路</a:t>
            </a:r>
            <a:endParaRPr lang="en-US" altLang="zh-TW" dirty="0"/>
          </a:p>
          <a:p>
            <a:pPr marL="0" indent="0"/>
            <a:r>
              <a:rPr lang="zh-TW" altLang="en-US" dirty="0"/>
              <a:t>同時也支援標準的</a:t>
            </a:r>
            <a:r>
              <a:rPr lang="en-US" altLang="zh-TW" dirty="0"/>
              <a:t>HDMI</a:t>
            </a:r>
          </a:p>
          <a:p>
            <a:pPr marL="0" indent="0"/>
            <a:endParaRPr lang="en-US" altLang="zh-TW" dirty="0"/>
          </a:p>
          <a:p>
            <a:pPr marL="0" indent="0"/>
            <a:r>
              <a:rPr lang="en-US" altLang="zh-TW" dirty="0"/>
              <a:t>HDMI</a:t>
            </a:r>
            <a:r>
              <a:rPr lang="zh-TW" altLang="en-US" dirty="0"/>
              <a:t> </a:t>
            </a:r>
            <a:r>
              <a:rPr lang="en-US" altLang="zh-TW" dirty="0"/>
              <a:t>RX</a:t>
            </a:r>
            <a:r>
              <a:rPr lang="zh-TW" altLang="en-US" dirty="0"/>
              <a:t> </a:t>
            </a:r>
            <a:r>
              <a:rPr lang="en-US" altLang="zh-TW" dirty="0"/>
              <a:t>IP</a:t>
            </a:r>
            <a:r>
              <a:rPr lang="zh-TW" altLang="en-US" dirty="0"/>
              <a:t>需授權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21494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11584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en-US" altLang="zh-TW" dirty="0"/>
          </a:p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2586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r>
              <a:rPr lang="zh-TW" altLang="en-US" dirty="0"/>
              <a:t>混用：需要先克服工具鏈與建置流程的不同。</a:t>
            </a:r>
            <a:r>
              <a:rPr lang="en-US" altLang="zh-TW" dirty="0" err="1"/>
              <a:t>LiteX</a:t>
            </a:r>
            <a:r>
              <a:rPr lang="en-US" altLang="zh-TW" dirty="0"/>
              <a:t> </a:t>
            </a:r>
            <a:r>
              <a:rPr lang="zh-TW" altLang="en-US" dirty="0"/>
              <a:t>通常透過 </a:t>
            </a:r>
            <a:r>
              <a:rPr lang="en-US" altLang="zh-TW" dirty="0"/>
              <a:t>Python</a:t>
            </a:r>
            <a:r>
              <a:rPr lang="zh-TW" altLang="en-US" dirty="0"/>
              <a:t>、</a:t>
            </a:r>
            <a:r>
              <a:rPr lang="en-US" altLang="zh-TW" dirty="0" err="1"/>
              <a:t>Migen</a:t>
            </a:r>
            <a:r>
              <a:rPr lang="zh-TW" altLang="en-US" dirty="0"/>
              <a:t>建構硬體；</a:t>
            </a:r>
            <a:r>
              <a:rPr lang="en-US" altLang="zh-TW" dirty="0"/>
              <a:t>Xilinx </a:t>
            </a:r>
            <a:r>
              <a:rPr lang="zh-TW" altLang="en-US" dirty="0"/>
              <a:t>通常依賴 </a:t>
            </a:r>
            <a:r>
              <a:rPr lang="en-US" altLang="zh-TW" dirty="0" err="1"/>
              <a:t>Vivado</a:t>
            </a:r>
            <a:r>
              <a:rPr lang="en-US" altLang="zh-TW" dirty="0"/>
              <a:t> IP</a:t>
            </a:r>
            <a:r>
              <a:rPr lang="zh-TW" altLang="en-US" dirty="0"/>
              <a:t>，當然混用的優勢也很明顯可以選擇各生態系最符合需求的模組，不受單一生態系的模組選擇限制</a:t>
            </a:r>
            <a:endParaRPr lang="en-US" altLang="zh-TW" dirty="0"/>
          </a:p>
          <a:p>
            <a:pPr marL="0" indent="0"/>
            <a:endParaRPr lang="en-US" altLang="zh-TW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自訂 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IP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RTL</a:t>
            </a:r>
            <a:r>
              <a:rPr lang="zh-TW" altLang="en-US" dirty="0"/>
              <a:t>：處理介面與系統連接</a:t>
            </a:r>
            <a:endParaRPr lang="en-US" altLang="zh-TW" dirty="0"/>
          </a:p>
          <a:p>
            <a:pPr marL="0" indent="0"/>
            <a:endParaRPr lang="en-US" altLang="zh-TW" dirty="0"/>
          </a:p>
          <a:p>
            <a:pPr marL="0" indent="0"/>
            <a:endParaRPr lang="en-US" altLang="zh-TW" dirty="0"/>
          </a:p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4070785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51A70-D7FF-B69E-2F1F-5276D7F44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FB2E1DE-40DE-B1BA-7135-64BFFB1631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F8DB8E-F5F1-21EB-D41F-2C635FB715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/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81AD260-1FA1-46D2-EEFC-6CE390861C0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2000" b="0" i="0" u="none" strike="noStrike" cap="none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fld>
            <a:endParaRPr lang="en-US" sz="20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6439262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1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42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0">
              <a:buNone/>
            </a:pPr>
            <a:endParaRPr lang="en-US" altLang="zh-TW" dirty="0"/>
          </a:p>
        </p:txBody>
      </p:sp>
      <p:sp>
        <p:nvSpPr>
          <p:cNvPr id="1048643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753A29-9D77-4C26-8BEC-432FE5D4B0A4}" type="slidenum">
              <a:rPr lang="en-US" altLang="zh-TW" smtClean="0"/>
              <a:t>12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11541485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標題投影片" type="title">
  <p:cSld name="TITLE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6" name="Google Shape;21;p50"/>
          <p:cNvSpPr txBox="1">
            <a:spLocks noGrp="1"/>
          </p:cNvSpPr>
          <p:nvPr>
            <p:ph type="ctrTitle"/>
          </p:nvPr>
        </p:nvSpPr>
        <p:spPr>
          <a:xfrm>
            <a:off x="1238250" y="1122363"/>
            <a:ext cx="74295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4875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37" name="Google Shape;22;p50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ctr">
              <a:spcBef>
                <a:spcPts val="390"/>
              </a:spcBef>
              <a:spcAft>
                <a:spcPts val="0"/>
              </a:spcAft>
              <a:buSzPts val="1950"/>
              <a:buNone/>
              <a:defRPr sz="1950"/>
            </a:lvl1pPr>
            <a:lvl2pPr lvl="1" algn="ctr">
              <a:spcBef>
                <a:spcPts val="325"/>
              </a:spcBef>
              <a:spcAft>
                <a:spcPts val="0"/>
              </a:spcAft>
              <a:buSzPts val="1625"/>
              <a:buNone/>
              <a:defRPr sz="1625"/>
            </a:lvl2pPr>
            <a:lvl3pPr lvl="2" algn="ctr">
              <a:spcBef>
                <a:spcPts val="293"/>
              </a:spcBef>
              <a:spcAft>
                <a:spcPts val="0"/>
              </a:spcAft>
              <a:buSzPts val="1463"/>
              <a:buFont typeface="Times New Roman"/>
              <a:buNone/>
              <a:defRPr sz="1463"/>
            </a:lvl3pPr>
            <a:lvl4pPr lvl="3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4pPr>
            <a:lvl5pPr lvl="4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5pPr>
            <a:lvl6pPr lvl="5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6pPr>
            <a:lvl7pPr lvl="6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7pPr>
            <a:lvl8pPr lvl="7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8pPr>
            <a:lvl9pPr lvl="8" algn="ctr">
              <a:spcBef>
                <a:spcPts val="260"/>
              </a:spcBef>
              <a:spcAft>
                <a:spcPts val="0"/>
              </a:spcAft>
              <a:buSzPts val="1300"/>
              <a:buFont typeface="Times New Roman"/>
              <a:buNone/>
              <a:defRPr sz="1300"/>
            </a:lvl9pPr>
          </a:lstStyle>
          <a:p>
            <a:endParaRPr/>
          </a:p>
        </p:txBody>
      </p:sp>
      <p:sp>
        <p:nvSpPr>
          <p:cNvPr id="1048638" name="Google Shape;23;p50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39" name="Google Shape;24;p50"/>
          <p:cNvSpPr txBox="1">
            <a:spLocks noGrp="1"/>
          </p:cNvSpPr>
          <p:nvPr>
            <p:ph type="ftr" idx="1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40" name="Google Shape;25;p50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0" marR="0" lvl="1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0" marR="0" lvl="2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0" marR="0" lvl="3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0" marR="0" lvl="4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0" marR="0" lvl="5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0" marR="0" lvl="6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0" marR="0" lvl="7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0" marR="0" lvl="8" indent="0" algn="l" rtl="0"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Google Shape;37;p5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7" name="Google Shape;38;p54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48" name="Google Shape;39;p54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  <p:sp>
        <p:nvSpPr>
          <p:cNvPr id="1048649" name="Google Shape;40;p54"/>
          <p:cNvSpPr txBox="1">
            <a:spLocks noGrp="1"/>
          </p:cNvSpPr>
          <p:nvPr>
            <p:ph type="body" idx="3"/>
          </p:nvPr>
        </p:nvSpPr>
        <p:spPr>
          <a:xfrm>
            <a:off x="4645027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None/>
              <a:defRPr sz="1600" b="1"/>
            </a:lvl9pPr>
          </a:lstStyle>
          <a:p>
            <a:endParaRPr/>
          </a:p>
        </p:txBody>
      </p:sp>
      <p:sp>
        <p:nvSpPr>
          <p:cNvPr id="1048650" name="Google Shape;41;p54"/>
          <p:cNvSpPr txBox="1">
            <a:spLocks noGrp="1"/>
          </p:cNvSpPr>
          <p:nvPr>
            <p:ph type="body" idx="4"/>
          </p:nvPr>
        </p:nvSpPr>
        <p:spPr>
          <a:xfrm>
            <a:off x="4645027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SzPts val="2400"/>
              <a:buChar char="❖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SzPts val="2000"/>
              <a:buChar char="▪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Font typeface="Times New Roman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SzPts val="1600"/>
              <a:buFont typeface="Times New Roman"/>
              <a:buChar char="o"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3" name="Google Shape;43;p55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Google Shape;50;p58"/>
          <p:cNvSpPr txBox="1">
            <a:spLocks noGrp="1"/>
          </p:cNvSpPr>
          <p:nvPr>
            <p:ph type="title"/>
          </p:nvPr>
        </p:nvSpPr>
        <p:spPr>
          <a:xfrm>
            <a:off x="1792290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5" name="Google Shape;51;p58"/>
          <p:cNvSpPr>
            <a:spLocks noGrp="1"/>
          </p:cNvSpPr>
          <p:nvPr>
            <p:ph type="pic" idx="2"/>
          </p:nvPr>
        </p:nvSpPr>
        <p:spPr>
          <a:xfrm>
            <a:off x="1792290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Noto Sans Symbols"/>
              <a:buNone/>
              <a:defRPr sz="3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rgbClr val="FF5050"/>
              </a:buClr>
              <a:buSzPts val="2800"/>
              <a:buFont typeface="Noto Sans Symbols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rgbClr val="6699FF"/>
              </a:buClr>
              <a:buSzPts val="2400"/>
              <a:buFont typeface="Times New Roman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dirty="0"/>
          </a:p>
        </p:txBody>
      </p:sp>
      <p:sp>
        <p:nvSpPr>
          <p:cNvPr id="1048656" name="Google Shape;52;p58"/>
          <p:cNvSpPr txBox="1">
            <a:spLocks noGrp="1"/>
          </p:cNvSpPr>
          <p:nvPr>
            <p:ph type="body" idx="1"/>
          </p:nvPr>
        </p:nvSpPr>
        <p:spPr>
          <a:xfrm>
            <a:off x="1792290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SzPts val="1000"/>
              <a:buFont typeface="Times New Roman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SzPts val="900"/>
              <a:buFont typeface="Times New Roman"/>
              <a:buNone/>
              <a:defRPr sz="9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Google Shape;54;p59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45" name="Google Shape;55;p59"/>
          <p:cNvSpPr txBox="1">
            <a:spLocks noGrp="1"/>
          </p:cNvSpPr>
          <p:nvPr>
            <p:ph type="body" idx="1"/>
          </p:nvPr>
        </p:nvSpPr>
        <p:spPr>
          <a:xfrm rot="5400000">
            <a:off x="2593975" y="-485775"/>
            <a:ext cx="4800600" cy="866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7" name="Google Shape;57;p60"/>
          <p:cNvSpPr txBox="1">
            <a:spLocks noGrp="1"/>
          </p:cNvSpPr>
          <p:nvPr>
            <p:ph type="title"/>
          </p:nvPr>
        </p:nvSpPr>
        <p:spPr>
          <a:xfrm rot="5400000">
            <a:off x="4857751" y="2419350"/>
            <a:ext cx="5638800" cy="20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</a:lvl9pPr>
          </a:lstStyle>
          <a:p>
            <a:endParaRPr/>
          </a:p>
        </p:txBody>
      </p:sp>
      <p:sp>
        <p:nvSpPr>
          <p:cNvPr id="1048658" name="Google Shape;58;p60"/>
          <p:cNvSpPr txBox="1">
            <a:spLocks noGrp="1"/>
          </p:cNvSpPr>
          <p:nvPr>
            <p:ph type="body" idx="1"/>
          </p:nvPr>
        </p:nvSpPr>
        <p:spPr>
          <a:xfrm rot="5400000">
            <a:off x="742951" y="476250"/>
            <a:ext cx="5638800" cy="590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SzPts val="1800"/>
              <a:buChar char="❖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SzPts val="1800"/>
              <a:buChar char="▪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SzPts val="1800"/>
              <a:buChar char="•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SzPts val="1800"/>
              <a:buChar char="o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>
  <p:cSld name="1_Title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9" name="Title 1"/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</p:spPr>
        <p:txBody>
          <a:bodyPr/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1048580" name="Chart Placeholder 2"/>
          <p:cNvSpPr>
            <a:spLocks noGrp="1"/>
          </p:cNvSpPr>
          <p:nvPr>
            <p:ph type="chart" idx="1"/>
          </p:nvPr>
        </p:nvSpPr>
        <p:spPr>
          <a:xfrm>
            <a:off x="609600" y="1447800"/>
            <a:ext cx="8001000" cy="4800600"/>
          </a:xfrm>
        </p:spPr>
        <p:txBody>
          <a:bodyPr/>
          <a:lstStyle/>
          <a:p>
            <a:pPr lvl="0"/>
            <a:endParaRPr lang="en-US" noProof="0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1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/>
          </a:p>
        </p:txBody>
      </p:sp>
      <p:sp>
        <p:nvSpPr>
          <p:cNvPr id="1048652" name="Title 1"/>
          <p:cNvSpPr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altLang="zh-TW" dirty="0"/>
              <a:t>Title of the Slide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Google Shape;10;p48"/>
          <p:cNvSpPr txBox="1">
            <a:spLocks noGrp="1"/>
          </p:cNvSpPr>
          <p:nvPr>
            <p:ph type="title"/>
          </p:nvPr>
        </p:nvSpPr>
        <p:spPr>
          <a:xfrm>
            <a:off x="660400" y="609600"/>
            <a:ext cx="8750300" cy="5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200" b="0" i="0" u="none" strike="noStrike" cap="non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cxnSp>
        <p:nvCxnSpPr>
          <p:cNvPr id="3145728" name="Google Shape;11;p48"/>
          <p:cNvCxnSpPr>
            <a:cxnSpLocks/>
          </p:cNvCxnSpPr>
          <p:nvPr/>
        </p:nvCxnSpPr>
        <p:spPr>
          <a:xfrm>
            <a:off x="412750" y="533400"/>
            <a:ext cx="899795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29" name="Google Shape;12;p48"/>
          <p:cNvCxnSpPr>
            <a:cxnSpLocks/>
          </p:cNvCxnSpPr>
          <p:nvPr/>
        </p:nvCxnSpPr>
        <p:spPr>
          <a:xfrm>
            <a:off x="577850" y="228600"/>
            <a:ext cx="0" cy="990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145730" name="Google Shape;13;p48"/>
          <p:cNvCxnSpPr>
            <a:cxnSpLocks/>
          </p:cNvCxnSpPr>
          <p:nvPr/>
        </p:nvCxnSpPr>
        <p:spPr>
          <a:xfrm>
            <a:off x="495300" y="6400800"/>
            <a:ext cx="89154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8577" name="Google Shape;14;p48"/>
          <p:cNvSpPr txBox="1">
            <a:spLocks noGrp="1"/>
          </p:cNvSpPr>
          <p:nvPr>
            <p:ph type="body" idx="1"/>
          </p:nvPr>
        </p:nvSpPr>
        <p:spPr>
          <a:xfrm>
            <a:off x="660400" y="1447800"/>
            <a:ext cx="866775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/>
          </a:p>
        </p:txBody>
      </p:sp>
      <p:sp>
        <p:nvSpPr>
          <p:cNvPr id="1048578" name="Google Shape;15;p48"/>
          <p:cNvSpPr txBox="1"/>
          <p:nvPr/>
        </p:nvSpPr>
        <p:spPr>
          <a:xfrm>
            <a:off x="8510587" y="6502400"/>
            <a:ext cx="817563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sz="14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7152" name="Google Shape;16;p48"/>
          <p:cNvPicPr preferRelativeResize="0">
            <a:picLocks/>
          </p:cNvPicPr>
          <p:nvPr/>
        </p:nvPicPr>
        <p:blipFill rotWithShape="1">
          <a:blip r:embed="rId11">
            <a:alphaModFix/>
          </a:blip>
          <a:srcRect/>
          <a:stretch>
            <a:fillRect/>
          </a:stretch>
        </p:blipFill>
        <p:spPr>
          <a:xfrm>
            <a:off x="57150" y="6446838"/>
            <a:ext cx="1827213" cy="360362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alinxalinx/AX7103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Rectangle 2"/>
          <p:cNvSpPr>
            <a:spLocks noGrp="1" noChangeArrowheads="1"/>
          </p:cNvSpPr>
          <p:nvPr>
            <p:ph type="title"/>
          </p:nvPr>
        </p:nvSpPr>
        <p:spPr>
          <a:xfrm>
            <a:off x="668908" y="1829704"/>
            <a:ext cx="8568183" cy="1728539"/>
          </a:xfrm>
        </p:spPr>
        <p:txBody>
          <a:bodyPr/>
          <a:lstStyle/>
          <a:p>
            <a:pPr algn="ctr" eaLnBrk="1" hangingPunct="1"/>
            <a:r>
              <a:rPr lang="en-US" altLang="zh-TW" sz="3200" b="1" dirty="0">
                <a:solidFill>
                  <a:srgbClr val="0057C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Progress Report</a:t>
            </a:r>
          </a:p>
        </p:txBody>
      </p:sp>
      <p:sp>
        <p:nvSpPr>
          <p:cNvPr id="1048582" name="Rectangle 2"/>
          <p:cNvSpPr txBox="1">
            <a:spLocks noChangeArrowheads="1"/>
          </p:cNvSpPr>
          <p:nvPr/>
        </p:nvSpPr>
        <p:spPr bwMode="auto">
          <a:xfrm>
            <a:off x="907104" y="3362630"/>
            <a:ext cx="8568183" cy="172853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3200">
                <a:solidFill>
                  <a:schemeClr val="accent2"/>
                </a:solidFill>
                <a:latin typeface="Times New Roman" charset="0"/>
                <a:ea typeface="新細明體" charset="-120"/>
                <a:cs typeface="新細明體" charset="-120"/>
              </a:defRPr>
            </a:lvl9pPr>
          </a:lstStyle>
          <a:p>
            <a:pPr algn="ctr" eaLnBrk="1" hangingPunct="1"/>
            <a:endParaRPr lang="en-US" altLang="zh-TW" kern="0" dirty="0">
              <a:solidFill>
                <a:schemeClr val="tx1"/>
              </a:solidFill>
            </a:endParaRPr>
          </a:p>
        </p:txBody>
      </p:sp>
      <p:sp>
        <p:nvSpPr>
          <p:cNvPr id="1048583" name="Text Box 4"/>
          <p:cNvSpPr txBox="1">
            <a:spLocks noChangeArrowheads="1"/>
          </p:cNvSpPr>
          <p:nvPr/>
        </p:nvSpPr>
        <p:spPr bwMode="auto">
          <a:xfrm>
            <a:off x="1100262" y="4484365"/>
            <a:ext cx="7705476" cy="707886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Author : </a:t>
            </a:r>
          </a:p>
          <a:p>
            <a:pPr algn="ctr"/>
            <a:r>
              <a:rPr lang="en-US" altLang="zh-TW" sz="2000" dirty="0">
                <a:cs typeface="Times New Roman" panose="02020603050405020304" pitchFamily="18" charset="0"/>
              </a:rPr>
              <a:t>BO-CHENG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Cheng-Yuan</a:t>
            </a:r>
            <a:r>
              <a:rPr lang="zh-TW" altLang="en-US" sz="2000" dirty="0">
                <a:cs typeface="Times New Roman" panose="02020603050405020304" pitchFamily="18" charset="0"/>
              </a:rPr>
              <a:t>、</a:t>
            </a:r>
            <a:r>
              <a:rPr lang="en-US" altLang="zh-TW" sz="2000" dirty="0">
                <a:cs typeface="Times New Roman" panose="02020603050405020304" pitchFamily="18" charset="0"/>
              </a:rPr>
              <a:t>Sheng-Yao</a:t>
            </a:r>
          </a:p>
        </p:txBody>
      </p:sp>
      <p:sp>
        <p:nvSpPr>
          <p:cNvPr id="1048584" name="Text Box 4"/>
          <p:cNvSpPr txBox="1">
            <a:spLocks noChangeArrowheads="1"/>
          </p:cNvSpPr>
          <p:nvPr/>
        </p:nvSpPr>
        <p:spPr bwMode="auto">
          <a:xfrm>
            <a:off x="1100262" y="5673486"/>
            <a:ext cx="7705476" cy="4616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新細明體" panose="02020500000000000000" pitchFamily="18" charset="-120"/>
              </a:defRPr>
            </a:lvl9pPr>
          </a:lstStyle>
          <a:p>
            <a:pPr algn="ctr"/>
            <a:r>
              <a:rPr lang="en-US" altLang="zh-TW" b="1" dirty="0">
                <a:solidFill>
                  <a:srgbClr val="0057C0"/>
                </a:solidFill>
              </a:rPr>
              <a:t>Embedded System Software Design</a:t>
            </a:r>
            <a:endParaRPr lang="en-US" altLang="zh-TW" sz="2000" b="1" dirty="0">
              <a:solidFill>
                <a:srgbClr val="0057C0"/>
              </a:solidFill>
              <a:latin typeface="+mn-lt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/>
              <a:t>Video Capture Card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033F0CBC-B216-A52F-8C2C-837CAED2E514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Research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尋找相關開源專案，了解現有技術與實作成果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比較兩種不同開源生態，作為後續技術選型的依據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調查各專案使用的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、開發板、框架與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IP</a:t>
            </a: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目標架構概念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9A6796B4-A728-FF79-5B77-B53B5EA92D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1534" y="3497703"/>
            <a:ext cx="7422931" cy="98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6524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定位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Python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描述與整合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硬體模組，建立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SoC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設計，並支援產生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HDL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與呼叫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建置工具</a:t>
            </a: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組合處理器、記憶體、匯流排及周邊模組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Wishbone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AXI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等互連機制，以及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Streams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可搭配 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LiteDRAM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LitePCIe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LiteEth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等生態系模組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DB8BF237-AE2C-BCBD-03CB-07C643D7BB9F}"/>
              </a:ext>
            </a:extLst>
          </p:cNvPr>
          <p:cNvSpPr txBox="1"/>
          <p:nvPr/>
        </p:nvSpPr>
        <p:spPr>
          <a:xfrm>
            <a:off x="1787236" y="6384072"/>
            <a:ext cx="5802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 </a:t>
            </a:r>
            <a:r>
              <a: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https://github.com/enjoy-digital/litex?utm_source=chatgpt.com</a:t>
            </a:r>
          </a:p>
        </p:txBody>
      </p:sp>
    </p:spTree>
    <p:extLst>
      <p:ext uri="{BB962C8B-B14F-4D97-AF65-F5344CB8AC3E}">
        <p14:creationId xmlns:p14="http://schemas.microsoft.com/office/powerpoint/2010/main" val="30759612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/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NeTV2</a:t>
            </a:r>
            <a:r>
              <a:rPr lang="zh-TW" altLang="en-US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4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FPGA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808717" cy="5448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定位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以 </a:t>
            </a:r>
            <a:r>
              <a:rPr lang="en-US" altLang="zh-TW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/ </a:t>
            </a:r>
            <a:r>
              <a:rPr lang="en-US" altLang="zh-TW" sz="1600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Migen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建構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硬體系統，實作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影像輸入、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DDR3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緩衝、影像合成與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輸出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晶片與硬體型號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開發版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晶片：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NeTV2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 Xilinx Artix-7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開發框架：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Migen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軟處理器：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VexRiscv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8" name="群組 7">
            <a:extLst>
              <a:ext uri="{FF2B5EF4-FFF2-40B4-BE49-F238E27FC236}">
                <a16:creationId xmlns:a16="http://schemas.microsoft.com/office/drawing/2014/main" id="{32C77ABA-12F8-A5D2-5620-8E0F1595DD0B}"/>
              </a:ext>
            </a:extLst>
          </p:cNvPr>
          <p:cNvGrpSpPr/>
          <p:nvPr/>
        </p:nvGrpSpPr>
        <p:grpSpPr>
          <a:xfrm>
            <a:off x="6295407" y="2201758"/>
            <a:ext cx="2342521" cy="1935727"/>
            <a:chOff x="7123226" y="4254922"/>
            <a:chExt cx="2342521" cy="1935727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DA2311F8-59E5-9BD1-61E4-EFD0C55B1DA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123226" y="4254922"/>
              <a:ext cx="2342521" cy="1597173"/>
            </a:xfrm>
            <a:prstGeom prst="rect">
              <a:avLst/>
            </a:prstGeom>
          </p:spPr>
        </p:pic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92B6339F-8DE4-9D14-F9FF-DF0F45E24E3B}"/>
                </a:ext>
              </a:extLst>
            </p:cNvPr>
            <p:cNvSpPr/>
            <p:nvPr/>
          </p:nvSpPr>
          <p:spPr>
            <a:xfrm>
              <a:off x="7758868" y="5852095"/>
              <a:ext cx="1372492" cy="338554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en-US" altLang="zh-TW" sz="1600" b="0" cap="none" spc="0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NeTV2</a:t>
              </a:r>
              <a:r>
                <a:rPr lang="zh-TW" altLang="en-US" sz="1600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 </a:t>
              </a:r>
              <a:r>
                <a:rPr lang="en-US" altLang="zh-TW" sz="1600" dirty="0">
                  <a:ln w="0"/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FPGA</a:t>
              </a:r>
              <a:endParaRPr lang="zh-TW" altLang="en-US" sz="1600" b="0" cap="none" spc="0" dirty="0">
                <a:ln w="0"/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sp>
        <p:nvSpPr>
          <p:cNvPr id="10" name="文字方塊 9">
            <a:extLst>
              <a:ext uri="{FF2B5EF4-FFF2-40B4-BE49-F238E27FC236}">
                <a16:creationId xmlns:a16="http://schemas.microsoft.com/office/drawing/2014/main" id="{3EAFBC87-C885-2332-5B2E-C15A86786327}"/>
              </a:ext>
            </a:extLst>
          </p:cNvPr>
          <p:cNvSpPr txBox="1"/>
          <p:nvPr/>
        </p:nvSpPr>
        <p:spPr>
          <a:xfrm>
            <a:off x="1787236" y="6384072"/>
            <a:ext cx="5802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[2] </a:t>
            </a:r>
            <a:r>
              <a:rPr lang="zh-TW" altLang="en-US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https://github.com/AlphamaxMedia/netv2-fpga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49394DB1-2056-307A-E99B-8505821F60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011" y="4646233"/>
            <a:ext cx="7979978" cy="108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2968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/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LitePCIe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透過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DMA Writer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資料寫入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主機記憶體</a:t>
            </a:r>
          </a:p>
          <a:p>
            <a:pPr lvl="1">
              <a:lnSpc>
                <a:spcPts val="3000"/>
              </a:lnSpc>
            </a:pP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Endpoint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與傳輸架構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Linux Driver</a:t>
            </a: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擷取卡的幫助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可將研究重點集中在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影像串流與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DMA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的整合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可參考既有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Linux Driver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有助於降低 </a:t>
            </a:r>
            <a:r>
              <a:rPr lang="en-US" altLang="zh-TW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端驅動程式的開發負擔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17EF7B95-B380-F6CA-F173-DA760D763252}"/>
              </a:ext>
            </a:extLst>
          </p:cNvPr>
          <p:cNvSpPr txBox="1"/>
          <p:nvPr/>
        </p:nvSpPr>
        <p:spPr>
          <a:xfrm>
            <a:off x="1787236" y="6384072"/>
            <a:ext cx="5802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</a:t>
            </a:r>
            <a:r>
              <a:rPr lang="zh-TW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https://github.com/enjoy-digital/litepcie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FD61C1C4-E3CC-870D-8302-7BBD7835D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4824" y="4329823"/>
            <a:ext cx="7596352" cy="1398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1863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pPr algn="l" fontAlgn="t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生態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521FBAA4-6E6B-1B82-9C1F-77D9FAD35C41}"/>
              </a:ext>
            </a:extLst>
          </p:cNvPr>
          <p:cNvSpPr txBox="1"/>
          <p:nvPr/>
        </p:nvSpPr>
        <p:spPr>
          <a:xfrm>
            <a:off x="609602" y="935857"/>
            <a:ext cx="8936419" cy="54885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優勢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既有框架及 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LiteVideo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LitePCIe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LiteDRAM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等模組可減少重複開發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的互連與建置功能，能夠快速整合系統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風險與待評估事項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須確認目標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介面、記憶體及工具鏈的支援情況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en-US" altLang="zh-TW" sz="1600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LiteVideo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可用性與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NeTV2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是否能提供可重用的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影像端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RTL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外部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不一定能直接整合進其建置流程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8EF02D21-BE81-6368-1D62-BFDA0EC8CB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5065" y="4695497"/>
            <a:ext cx="7695870" cy="1463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5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pPr fontAlgn="t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Xilinx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Video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Example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Designs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75050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定位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整合 HDMI 接收、FPGA 影像處理、多圖層合成及 HDMI 輸出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硬體與開發環境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開發版：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AMD Xilinx ZCU106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擴充板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TB-FMCH-VFMC-HDMI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控制軟體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Vitis C 程式，使用 ARM A53 處理系統控制 IP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17A7646-77F3-2568-68C1-545F7C189BE6}"/>
              </a:ext>
            </a:extLst>
          </p:cNvPr>
          <p:cNvSpPr txBox="1"/>
          <p:nvPr/>
        </p:nvSpPr>
        <p:spPr>
          <a:xfrm>
            <a:off x="1787236" y="6384072"/>
            <a:ext cx="5802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[4] https://github.com/Xilinx-Wiki-Projects/Video-Example-Designs</a:t>
            </a:r>
            <a:endParaRPr lang="zh-TW" altLang="en-US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390F4142-C3C7-F585-A6E2-6A7697650EF6}"/>
              </a:ext>
            </a:extLst>
          </p:cNvPr>
          <p:cNvGrpSpPr/>
          <p:nvPr/>
        </p:nvGrpSpPr>
        <p:grpSpPr>
          <a:xfrm>
            <a:off x="7277159" y="1851337"/>
            <a:ext cx="2125752" cy="1894039"/>
            <a:chOff x="6986296" y="3782285"/>
            <a:chExt cx="2310101" cy="2058293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8F238F56-B6CF-6D88-8B04-5ED6E671C57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86296" y="3782285"/>
              <a:ext cx="2310101" cy="1722787"/>
            </a:xfrm>
            <a:prstGeom prst="rect">
              <a:avLst/>
            </a:prstGeom>
          </p:spPr>
        </p:pic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40F7D8C0-1202-F756-2DCE-B5919BFE4893}"/>
                </a:ext>
              </a:extLst>
            </p:cNvPr>
            <p:cNvSpPr txBox="1"/>
            <p:nvPr/>
          </p:nvSpPr>
          <p:spPr>
            <a:xfrm>
              <a:off x="7212168" y="5506110"/>
              <a:ext cx="1951555" cy="33446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1"/>
              <a:r>
                <a:rPr lang="zh-TW" altLang="zh-TW" dirty="0"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rPr>
                <a:t>AMD Xilinx ZCU106</a:t>
              </a:r>
              <a:endPara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endParaRPr>
            </a:p>
          </p:txBody>
        </p:sp>
      </p:grpSp>
      <p:pic>
        <p:nvPicPr>
          <p:cNvPr id="6" name="圖片 5">
            <a:extLst>
              <a:ext uri="{FF2B5EF4-FFF2-40B4-BE49-F238E27FC236}">
                <a16:creationId xmlns:a16="http://schemas.microsoft.com/office/drawing/2014/main" id="{757FCA57-115A-50EC-57C1-A93CE7D51B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407" y="4275803"/>
            <a:ext cx="7809186" cy="1053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7819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pPr algn="l" fontAlgn="t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Xilinx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DMA_IP_Drivers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定位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由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AMD/Xilinx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驅動程式與軟體工具集合，主要負責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PCIe DMA IP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的溝通，讓主機能操作裝置、管理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傳輸並測試資料收發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提供多種的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驅動程式，使電腦能與相容的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DMA IP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溝通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提供相關工具，協助執行資料傳輸、裝置資源存取與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功能測試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 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擷取卡的幫助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可作為擷取卡的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端驅動程式基礎，協助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將影像資料透過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傳送至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記憶體</a:t>
            </a: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B045C83-0B0C-2CBF-81C8-166EB12F11E6}"/>
              </a:ext>
            </a:extLst>
          </p:cNvPr>
          <p:cNvSpPr txBox="1"/>
          <p:nvPr/>
        </p:nvSpPr>
        <p:spPr>
          <a:xfrm>
            <a:off x="1787236" y="6384072"/>
            <a:ext cx="580228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https://github.com/Xilinx/dma_ip_drivers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C0E60272-D8C4-4D59-7606-1E68C1768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9710" y="5023032"/>
            <a:ext cx="7446579" cy="98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577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pPr algn="l" fontAlgn="t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Xilinx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生態</a:t>
            </a:r>
          </a:p>
        </p:txBody>
      </p:sp>
      <p:sp>
        <p:nvSpPr>
          <p:cNvPr id="8" name="文字版面配置區 6">
            <a:extLst>
              <a:ext uri="{FF2B5EF4-FFF2-40B4-BE49-F238E27FC236}">
                <a16:creationId xmlns:a16="http://schemas.microsoft.com/office/drawing/2014/main" id="{521FBAA4-6E6B-1B82-9C1F-77D9FAD35C41}"/>
              </a:ext>
            </a:extLst>
          </p:cNvPr>
          <p:cNvSpPr txBox="1"/>
          <p:nvPr/>
        </p:nvSpPr>
        <p:spPr>
          <a:xfrm>
            <a:off x="609602" y="935857"/>
            <a:ext cx="8686796" cy="5312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優勢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重用既有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接收與影像處理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整合範例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使用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Xilinx DMA IP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與配套驅動程式，減少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控制及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 Driver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開發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風險與待評估事項</a:t>
            </a: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須確認目標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介面、記憶體及工具鏈的支援情況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確認選定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XDMA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或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QDMA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後，驅動程式與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硬體設定相符</a:t>
            </a: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架構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endParaRPr lang="en-US" altLang="zh-TW" sz="16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D5D99864-4288-7288-60C2-E5375C1010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6876" y="4278408"/>
            <a:ext cx="7872248" cy="16686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87781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pPr algn="l" fontAlgn="t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 </a:t>
            </a:r>
            <a:r>
              <a:rPr lang="en-US" altLang="zh-TW" dirty="0" err="1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LiteX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vs Xilinx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4">
            <a:extLst>
              <a:ext uri="{FF2B5EF4-FFF2-40B4-BE49-F238E27FC236}">
                <a16:creationId xmlns:a16="http://schemas.microsoft.com/office/drawing/2014/main" id="{2F468073-8B22-0D86-8A37-A66504FC4D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948047"/>
              </p:ext>
            </p:extLst>
          </p:nvPr>
        </p:nvGraphicFramePr>
        <p:xfrm>
          <a:off x="1074253" y="1334356"/>
          <a:ext cx="7757493" cy="4629004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526254">
                  <a:extLst>
                    <a:ext uri="{9D8B030D-6E8A-4147-A177-3AD203B41FA5}">
                      <a16:colId xmlns:a16="http://schemas.microsoft.com/office/drawing/2014/main" val="58910734"/>
                    </a:ext>
                  </a:extLst>
                </a:gridCol>
                <a:gridCol w="2401086">
                  <a:extLst>
                    <a:ext uri="{9D8B030D-6E8A-4147-A177-3AD203B41FA5}">
                      <a16:colId xmlns:a16="http://schemas.microsoft.com/office/drawing/2014/main" val="1964622646"/>
                    </a:ext>
                  </a:extLst>
                </a:gridCol>
                <a:gridCol w="2830153">
                  <a:extLst>
                    <a:ext uri="{9D8B030D-6E8A-4147-A177-3AD203B41FA5}">
                      <a16:colId xmlns:a16="http://schemas.microsoft.com/office/drawing/2014/main" val="2217758771"/>
                    </a:ext>
                  </a:extLst>
                </a:gridCol>
              </a:tblGrid>
              <a:tr h="701541">
                <a:tc>
                  <a:txBody>
                    <a:bodyPr/>
                    <a:lstStyle/>
                    <a:p>
                      <a:pPr algn="ctr"/>
                      <a:r>
                        <a:rPr lang="zh-TW" alt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流程階段</a:t>
                      </a:r>
                    </a:p>
                  </a:txBody>
                  <a:tcPr marL="135569" marR="135569" marT="67784" marB="677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LiteX</a:t>
                      </a:r>
                      <a:r>
                        <a:rPr 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alt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生態</a:t>
                      </a:r>
                    </a:p>
                  </a:txBody>
                  <a:tcPr marL="135569" marR="135569" marT="67784" marB="67784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Xilinx </a:t>
                      </a:r>
                      <a:r>
                        <a:rPr lang="zh-TW" altLang="en-US" sz="1600" b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生態</a:t>
                      </a:r>
                    </a:p>
                  </a:txBody>
                  <a:tcPr marL="135569" marR="135569" marT="67784" marB="67784" anchor="ctr"/>
                </a:tc>
                <a:extLst>
                  <a:ext uri="{0D108BD9-81ED-4DB2-BD59-A6C34878D82A}">
                    <a16:rowId xmlns:a16="http://schemas.microsoft.com/office/drawing/2014/main" val="4047486063"/>
                  </a:ext>
                </a:extLst>
              </a:tr>
              <a:tr h="747566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系統需求與平台選擇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FPGA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開發板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IP</a:t>
                      </a: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FPGA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開發板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IP</a:t>
                      </a:r>
                    </a:p>
                  </a:txBody>
                  <a:tcPr marL="10404" marR="10404" marT="10404" marB="0" anchor="ctr"/>
                </a:tc>
                <a:extLst>
                  <a:ext uri="{0D108BD9-81ED-4DB2-BD59-A6C34878D82A}">
                    <a16:rowId xmlns:a16="http://schemas.microsoft.com/office/drawing/2014/main" val="100759405"/>
                  </a:ext>
                </a:extLst>
              </a:tr>
              <a:tr h="937199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系統建構</a:t>
                      </a:r>
                      <a:endParaRPr lang="en-US" altLang="zh-TW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LiteX</a:t>
                      </a: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Python</a:t>
                      </a:r>
                      <a:r>
                        <a:rPr lang="en-US" altLang="zh-TW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自訂 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IP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RTL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IP Catalog</a:t>
                      </a:r>
                    </a:p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IP Integrate</a:t>
                      </a:r>
                    </a:p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RTL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extLst>
                  <a:ext uri="{0D108BD9-81ED-4DB2-BD59-A6C34878D82A}">
                    <a16:rowId xmlns:a16="http://schemas.microsoft.com/office/drawing/2014/main" val="4097251436"/>
                  </a:ext>
                </a:extLst>
              </a:tr>
              <a:tr h="7475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HDL 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生成</a:t>
                      </a:r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LiteX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Vivado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extLst>
                  <a:ext uri="{0D108BD9-81ED-4DB2-BD59-A6C34878D82A}">
                    <a16:rowId xmlns:a16="http://schemas.microsoft.com/office/drawing/2014/main" val="4244588434"/>
                  </a:ext>
                </a:extLst>
              </a:tr>
              <a:tr h="74756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6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Syn. / Imp.</a:t>
                      </a:r>
                      <a:endParaRPr lang="zh-TW" altLang="en-US" sz="1600" b="0" i="0" u="none" strike="noStrike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Wingdings" panose="05000000000000000000" pitchFamily="2" charset="2"/>
                        <a:buChar char="Ø"/>
                        <a:tabLst/>
                        <a:defRPr/>
                      </a:pPr>
                      <a:r>
                        <a:rPr lang="en-US" altLang="zh-TW" sz="160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LiteX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 algn="l" fontAlgn="ctr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 err="1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Vivado</a:t>
                      </a:r>
                      <a:endParaRPr lang="en-US" altLang="zh-TW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extLst>
                  <a:ext uri="{0D108BD9-81ED-4DB2-BD59-A6C34878D82A}">
                    <a16:rowId xmlns:a16="http://schemas.microsoft.com/office/drawing/2014/main" val="4100677602"/>
                  </a:ext>
                </a:extLst>
              </a:tr>
              <a:tr h="747566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硬體驗證</a:t>
                      </a:r>
                      <a:endParaRPr lang="zh-TW" altLang="en-US" sz="1600" b="0" i="0" u="none" strike="noStrike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ea typeface="標楷體" panose="03000509000000000000" pitchFamily="65" charset="-120"/>
                        <a:cs typeface="Times New Roman" panose="02020603050405020304" pitchFamily="18" charset="0"/>
                      </a:endParaRP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 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Bitstream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FPGA 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實際測試</a:t>
                      </a:r>
                    </a:p>
                  </a:txBody>
                  <a:tcPr marL="10404" marR="10404" marT="10404" marB="0"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產生 </a:t>
                      </a: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Bitstream</a:t>
                      </a:r>
                    </a:p>
                    <a:p>
                      <a:pPr marL="285750" indent="-285750">
                        <a:buFont typeface="Wingdings" panose="05000000000000000000" pitchFamily="2" charset="2"/>
                        <a:buChar char="Ø"/>
                      </a:pPr>
                      <a:r>
                        <a:rPr lang="en-US" altLang="zh-TW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FPGA </a:t>
                      </a:r>
                      <a:r>
                        <a:rPr lang="zh-TW" altLang="en-US" sz="1600" dirty="0"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a:t>實際測試</a:t>
                      </a:r>
                    </a:p>
                  </a:txBody>
                  <a:tcPr marL="10404" marR="10404" marT="10404" marB="0" anchor="ctr"/>
                </a:tc>
                <a:extLst>
                  <a:ext uri="{0D108BD9-81ED-4DB2-BD59-A6C34878D82A}">
                    <a16:rowId xmlns:a16="http://schemas.microsoft.com/office/drawing/2014/main" val="18175838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044474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E9AAA-7E36-1E17-83F9-FD3A18A28B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標題 1">
            <a:extLst>
              <a:ext uri="{FF2B5EF4-FFF2-40B4-BE49-F238E27FC236}">
                <a16:creationId xmlns:a16="http://schemas.microsoft.com/office/drawing/2014/main" id="{142C8726-E890-9988-40FC-8984FDA21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2" y="609600"/>
            <a:ext cx="8077200" cy="533400"/>
          </a:xfrm>
          <a:ln>
            <a:noFill/>
          </a:ln>
        </p:spPr>
        <p:txBody>
          <a:bodyPr/>
          <a:lstStyle/>
          <a:p>
            <a:pPr algn="l" fontAlgn="t"/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本次進度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補充 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– </a:t>
            </a:r>
            <a:r>
              <a:rPr lang="en-US" altLang="zh-TW" dirty="0"/>
              <a:t>Video Capture Card</a:t>
            </a:r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2" name="文字版面配置區 6">
            <a:extLst>
              <a:ext uri="{FF2B5EF4-FFF2-40B4-BE49-F238E27FC236}">
                <a16:creationId xmlns:a16="http://schemas.microsoft.com/office/drawing/2014/main" id="{D929304B-5341-8BBF-E71F-AF5F2FE7268A}"/>
              </a:ext>
            </a:extLst>
          </p:cNvPr>
          <p:cNvSpPr txBox="1"/>
          <p:nvPr/>
        </p:nvSpPr>
        <p:spPr>
          <a:xfrm>
            <a:off x="609602" y="935857"/>
            <a:ext cx="8686796" cy="47006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FF5050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6699FF"/>
              </a:buClr>
              <a:buSzPts val="2000"/>
              <a:buFont typeface="Times New Roman"/>
              <a:buChar char="•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FF5050"/>
              </a:buClr>
              <a:buSzPts val="2000"/>
              <a:buFont typeface="Times New Roman"/>
              <a:buChar char="o"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>
              <a:lnSpc>
                <a:spcPts val="3000"/>
              </a:lnSpc>
            </a:pPr>
            <a:r>
              <a:rPr lang="en-US" altLang="zh-TW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FPGA-Video-Capture</a:t>
            </a:r>
            <a:r>
              <a:rPr lang="zh-TW" altLang="en-US" sz="2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aseline="-25000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[6]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整合 HDMI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處理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、DDR3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資料緩衝、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 DMA 與 Ethernet UDP 傳輸，並搭配 PC 端影像辨識應用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AX7103 — HDMI to PCIe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2000" baseline="-25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[7]</a:t>
            </a:r>
            <a:endParaRPr lang="en-US" altLang="zh-TW" sz="2000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lvl="1">
              <a:lnSpc>
                <a:spcPts val="3000"/>
              </a:lnSpc>
            </a:pP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整合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HDMI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影像處理、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DDR3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資料緩衝與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PCIe</a:t>
            </a:r>
            <a:r>
              <a:rPr lang="zh-TW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DMA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，並提供 </a:t>
            </a:r>
            <a:r>
              <a:rPr lang="en-US" altLang="zh-TW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Windows </a:t>
            </a:r>
            <a:r>
              <a:rPr lang="zh-TW" altLang="en-US" sz="16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端影像讀取程式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50800" indent="0">
              <a:lnSpc>
                <a:spcPts val="3000"/>
              </a:lnSpc>
              <a:buNone/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>
              <a:lnSpc>
                <a:spcPts val="3000"/>
              </a:lnSpc>
            </a:pP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17A7646-77F3-2568-68C1-545F7C189BE6}"/>
              </a:ext>
            </a:extLst>
          </p:cNvPr>
          <p:cNvSpPr txBox="1"/>
          <p:nvPr/>
        </p:nvSpPr>
        <p:spPr>
          <a:xfrm>
            <a:off x="1787236" y="6384072"/>
            <a:ext cx="580228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[6] https://github.com/flytt-away/FPGA-Video-Capture</a:t>
            </a:r>
          </a:p>
          <a:p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[7] </a:t>
            </a:r>
            <a:r>
              <a:rPr lang="en-US" altLang="zh-TW" sz="1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hlinkClick r:id="rId3"/>
              </a:rPr>
              <a:t>https://github.com/alinxalinx/AX7103</a:t>
            </a:r>
            <a:endParaRPr lang="en-US" altLang="zh-TW" sz="1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pic>
        <p:nvPicPr>
          <p:cNvPr id="18" name="圖片 17">
            <a:extLst>
              <a:ext uri="{FF2B5EF4-FFF2-40B4-BE49-F238E27FC236}">
                <a16:creationId xmlns:a16="http://schemas.microsoft.com/office/drawing/2014/main" id="{E5652B55-0CC9-A313-C5D6-70031ACFF0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7421" y="2374977"/>
            <a:ext cx="8384735" cy="89722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FCABA57F-CC11-23A7-E3C6-DB024BA7054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196" y="5052850"/>
            <a:ext cx="8367608" cy="869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0974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4" name="圖片 6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357746" y="3004771"/>
            <a:ext cx="5556738" cy="84845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097165" name="Picture 2" descr="http://www.secretariat.ntust.edu.tw/ezfiles/20/1020/img/1688/09.pn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964866" y="1628181"/>
            <a:ext cx="6260123" cy="1186962"/>
          </a:xfrm>
          <a:prstGeom prst="rect">
            <a:avLst/>
          </a:prstGeom>
          <a:noFill/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pic>
        <p:nvPicPr>
          <p:cNvPr id="2097166" name="圖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3650" y="4226628"/>
            <a:ext cx="4266522" cy="93056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plate">
  <a:themeElements>
    <a:clrScheme name="template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326185</TotalTime>
  <Words>1160</Words>
  <Application>Microsoft Office PowerPoint</Application>
  <PresentationFormat>A4 紙張 (210x297 公釐)</PresentationFormat>
  <Paragraphs>143</Paragraphs>
  <Slides>12</Slides>
  <Notes>12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Noto Sans Symbols</vt:lpstr>
      <vt:lpstr>Arial</vt:lpstr>
      <vt:lpstr>Times New Roman</vt:lpstr>
      <vt:lpstr>Wingdings</vt:lpstr>
      <vt:lpstr>template</vt:lpstr>
      <vt:lpstr>Progress Report</vt:lpstr>
      <vt:lpstr>本次進度: Video Capture Card</vt:lpstr>
      <vt:lpstr>本次進度: LiteX </vt:lpstr>
      <vt:lpstr>本次進度: LiteX / NeTV2 - FPGA</vt:lpstr>
      <vt:lpstr>本次進度: LiteX / LitePCIe</vt:lpstr>
      <vt:lpstr>本次進度: LiteX 生態</vt:lpstr>
      <vt:lpstr>本次進度: Xilinx / Video Example Designs</vt:lpstr>
      <vt:lpstr>本次進度: Xilinx / DMA_IP_Drivers</vt:lpstr>
      <vt:lpstr>本次進度: Xilinx 生態</vt:lpstr>
      <vt:lpstr>本次進度: LiteX vs Xilinx</vt:lpstr>
      <vt:lpstr>本次進度: 補充 – Video Capture Card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Embedded CMOS Image Sensor System Design and Implementation</dc:title>
  <dc:creator>mblin</dc:creator>
  <cp:lastModifiedBy>user</cp:lastModifiedBy>
  <cp:revision>3336</cp:revision>
  <dcterms:created xsi:type="dcterms:W3CDTF">2003-02-17T16:04:03Z</dcterms:created>
  <dcterms:modified xsi:type="dcterms:W3CDTF">2026-10-19T08:19:18Z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c323e086d3b141ca89c275423e00507f</vt:lpwstr>
  </property>
</Properties>
</file>