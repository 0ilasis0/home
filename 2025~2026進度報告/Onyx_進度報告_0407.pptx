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1"/>
  </p:notesMasterIdLst>
  <p:sldIdLst>
    <p:sldId id="277" r:id="rId2"/>
    <p:sldId id="1784" r:id="rId3"/>
    <p:sldId id="1852" r:id="rId4"/>
    <p:sldId id="1853" r:id="rId5"/>
    <p:sldId id="1867" r:id="rId6"/>
    <p:sldId id="1868" r:id="rId7"/>
    <p:sldId id="1869" r:id="rId8"/>
    <p:sldId id="1870" r:id="rId9"/>
    <p:sldId id="1871" r:id="rId10"/>
    <p:sldId id="1865" r:id="rId11"/>
    <p:sldId id="1866" r:id="rId12"/>
    <p:sldId id="1783" r:id="rId13"/>
    <p:sldId id="1826" r:id="rId14"/>
    <p:sldId id="1850" r:id="rId15"/>
    <p:sldId id="1856" r:id="rId16"/>
    <p:sldId id="1857" r:id="rId17"/>
    <p:sldId id="1851" r:id="rId18"/>
    <p:sldId id="1872" r:id="rId19"/>
    <p:sldId id="286" r:id="rId20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784"/>
            <p14:sldId id="1852"/>
            <p14:sldId id="1853"/>
            <p14:sldId id="1867"/>
            <p14:sldId id="1868"/>
            <p14:sldId id="1869"/>
            <p14:sldId id="1870"/>
            <p14:sldId id="1871"/>
            <p14:sldId id="1865"/>
            <p14:sldId id="1866"/>
            <p14:sldId id="1783"/>
          </p14:sldIdLst>
        </p14:section>
        <p14:section name="JS1500" id="{F71E69A4-C86C-4DAC-B828-42C2D8800267}">
          <p14:sldIdLst>
            <p14:sldId id="1826"/>
            <p14:sldId id="1850"/>
            <p14:sldId id="1856"/>
            <p14:sldId id="1857"/>
            <p14:sldId id="1851"/>
            <p14:sldId id="1872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0"/>
    <a:srgbClr val="FF9900"/>
    <a:srgbClr val="FFC000"/>
    <a:srgbClr val="FFFFFF"/>
    <a:srgbClr val="00B05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21" autoAdjust="0"/>
    <p:restoredTop sz="95153" autoAdjust="0"/>
  </p:normalViewPr>
  <p:slideViewPr>
    <p:cSldViewPr snapToGrid="0">
      <p:cViewPr varScale="1">
        <p:scale>
          <a:sx n="120" d="100"/>
          <a:sy n="120" d="100"/>
        </p:scale>
        <p:origin x="1182" y="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4022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7212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76661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5513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0689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74714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6948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6345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04191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0619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870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993273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70209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45095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54171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57222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19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184110"/>
              </p:ext>
            </p:extLst>
          </p:nvPr>
        </p:nvGraphicFramePr>
        <p:xfrm>
          <a:off x="5604934" y="2353858"/>
          <a:ext cx="4022658" cy="3333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校正演算法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2"/>
            <a:ext cx="4022658" cy="849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46939" y="977538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測試項目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:Gamma 1.8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2.0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2.2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2.6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2.4  DICOM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，總共六組 搭配三組色溫進行測試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左邊的是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F429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量到的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值，右邊是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mini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版量到的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值。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b="1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4" name="表格 24">
            <a:extLst>
              <a:ext uri="{FF2B5EF4-FFF2-40B4-BE49-F238E27FC236}">
                <a16:creationId xmlns:a16="http://schemas.microsoft.com/office/drawing/2014/main" id="{983C4F25-1319-45C1-88D5-1C3A51D09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772460"/>
              </p:ext>
            </p:extLst>
          </p:nvPr>
        </p:nvGraphicFramePr>
        <p:xfrm>
          <a:off x="5071394" y="2853861"/>
          <a:ext cx="4785359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020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1115035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099106">
                  <a:extLst>
                    <a:ext uri="{9D8B030D-6E8A-4147-A177-3AD203B41FA5}">
                      <a16:colId xmlns:a16="http://schemas.microsoft.com/office/drawing/2014/main" val="3439045141"/>
                    </a:ext>
                  </a:extLst>
                </a:gridCol>
                <a:gridCol w="1602198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256</a:t>
                      </a:r>
                      <a:r>
                        <a:rPr lang="zh-TW" altLang="en-US" dirty="0"/>
                        <a:t>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5400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1.80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6335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1.80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7103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9300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1.78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8925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2.0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5400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1.97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6332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677602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1.95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7068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12572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9300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1.93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8794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83938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2.2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5400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2.12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6329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664419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7119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43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9300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2.09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8912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709647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2.6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5400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2.38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6393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488585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2.38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7135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390549"/>
                  </a:ext>
                </a:extLst>
              </a:tr>
              <a:tr h="27864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9300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2.35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8964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5884"/>
                  </a:ext>
                </a:extLst>
              </a:tr>
            </a:tbl>
          </a:graphicData>
        </a:graphic>
      </p:graphicFrame>
      <p:graphicFrame>
        <p:nvGraphicFramePr>
          <p:cNvPr id="4" name="表格 24">
            <a:extLst>
              <a:ext uri="{FF2B5EF4-FFF2-40B4-BE49-F238E27FC236}">
                <a16:creationId xmlns:a16="http://schemas.microsoft.com/office/drawing/2014/main" id="{05762387-6D76-B12C-8806-AB1784028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781661"/>
              </p:ext>
            </p:extLst>
          </p:nvPr>
        </p:nvGraphicFramePr>
        <p:xfrm>
          <a:off x="304800" y="2853861"/>
          <a:ext cx="4598953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569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930019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  <a:gridCol w="1201796">
                  <a:extLst>
                    <a:ext uri="{9D8B030D-6E8A-4147-A177-3AD203B41FA5}">
                      <a16:colId xmlns:a16="http://schemas.microsoft.com/office/drawing/2014/main" val="3439045141"/>
                    </a:ext>
                  </a:extLst>
                </a:gridCol>
                <a:gridCol w="1718569">
                  <a:extLst>
                    <a:ext uri="{9D8B030D-6E8A-4147-A177-3AD203B41FA5}">
                      <a16:colId xmlns:a16="http://schemas.microsoft.com/office/drawing/2014/main" val="3036497903"/>
                    </a:ext>
                  </a:extLst>
                </a:gridCol>
              </a:tblGrid>
              <a:tr h="27914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256</a:t>
                      </a:r>
                      <a:r>
                        <a:rPr lang="zh-TW" altLang="en-US" dirty="0"/>
                        <a:t>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色溫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2791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5400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1.80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6385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27914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1.79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7034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27914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9300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1.80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8159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2791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2.0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5400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6389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677602"/>
                  </a:ext>
                </a:extLst>
              </a:tr>
              <a:tr h="27914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1.99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7026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125723"/>
                  </a:ext>
                </a:extLst>
              </a:tr>
              <a:tr h="27914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9300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8160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83938"/>
                  </a:ext>
                </a:extLst>
              </a:tr>
              <a:tr h="2791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5400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6388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664419"/>
                  </a:ext>
                </a:extLst>
              </a:tr>
              <a:tr h="27914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2.19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7036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48243"/>
                  </a:ext>
                </a:extLst>
              </a:tr>
              <a:tr h="27914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9300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8155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709647"/>
                  </a:ext>
                </a:extLst>
              </a:tr>
              <a:tr h="27914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5400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2.63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6304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488585"/>
                  </a:ext>
                </a:extLst>
              </a:tr>
              <a:tr h="27914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2.65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6941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390549"/>
                  </a:ext>
                </a:extLst>
              </a:tr>
              <a:tr h="27914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9300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2.62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8105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33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15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708C1A0-44C3-24ED-7009-40389E8FE3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2" t="2076" r="3725" b="4379"/>
          <a:stretch/>
        </p:blipFill>
        <p:spPr>
          <a:xfrm>
            <a:off x="3403979" y="1676400"/>
            <a:ext cx="6316242" cy="384366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3A0536CC-DCEA-5D30-FC47-1C95956E4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1" y="1727749"/>
            <a:ext cx="3829584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36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7193E9B-0738-3CF8-5AA8-0E8C02A23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0418" y="1727749"/>
            <a:ext cx="6040291" cy="374888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376B40F-292F-12B1-BBF0-37287C964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78" y="1699369"/>
            <a:ext cx="3762900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023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DC1A3FD-35E2-1F82-224C-12C1EB1B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495" y="1676400"/>
            <a:ext cx="6235505" cy="406973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E16BBD7-7243-DDB1-A0DE-24BE0BE12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0" y="1692585"/>
            <a:ext cx="3620005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84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52A00A8-9991-2C9B-0F2F-3D28A8F72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495" y="1692585"/>
            <a:ext cx="6250592" cy="349176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83B9389-2C8C-C882-88DF-BE65987EB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74" y="1673648"/>
            <a:ext cx="3553321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87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252C925-792F-54F7-5E51-F9E1D9F94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951" y="1653106"/>
            <a:ext cx="6507072" cy="388517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79063D3-00FB-7CC8-DC7D-4512A5243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95" y="1725674"/>
            <a:ext cx="3486236" cy="439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072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37EFC42-9BE8-9ACC-9C0C-146B40A65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808" y="1519517"/>
            <a:ext cx="6271797" cy="381896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0945490-E9A8-17C0-D0D0-912E9417E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86" y="1676400"/>
            <a:ext cx="2851237" cy="465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777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46939" y="1143000"/>
            <a:ext cx="9409814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左邊是</a:t>
            </a:r>
            <a:r>
              <a:rPr lang="en-US" altLang="zh-TW" sz="14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14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寫進的答案，右邊是</a:t>
            </a:r>
            <a:r>
              <a:rPr lang="en-US" altLang="zh-TW" sz="14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AD board</a:t>
            </a:r>
            <a:r>
              <a:rPr lang="zh-TW" altLang="en-US" sz="14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記憶體中的答案</a:t>
            </a:r>
            <a:endParaRPr lang="en-US" altLang="zh-TW" sz="1400" dirty="0">
              <a:solidFill>
                <a:srgbClr val="333333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0FD1380-5720-A5BD-27DC-2C029A2E52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3" r="43806"/>
          <a:stretch/>
        </p:blipFill>
        <p:spPr>
          <a:xfrm>
            <a:off x="330927" y="2553468"/>
            <a:ext cx="3927564" cy="380280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F6A1A8E-03D3-75C0-C5E6-6F6B5B41CB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335"/>
          <a:stretch/>
        </p:blipFill>
        <p:spPr>
          <a:xfrm>
            <a:off x="4769110" y="2498111"/>
            <a:ext cx="4577024" cy="385816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770FBD5-CB92-B93B-8574-635CC32D52E7}"/>
              </a:ext>
            </a:extLst>
          </p:cNvPr>
          <p:cNvSpPr/>
          <p:nvPr/>
        </p:nvSpPr>
        <p:spPr>
          <a:xfrm>
            <a:off x="4769109" y="6071680"/>
            <a:ext cx="4689951" cy="2845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BECB6F-6423-2B6D-2C18-A1F0BAA3C619}"/>
              </a:ext>
            </a:extLst>
          </p:cNvPr>
          <p:cNvSpPr/>
          <p:nvPr/>
        </p:nvSpPr>
        <p:spPr>
          <a:xfrm>
            <a:off x="276114" y="6031507"/>
            <a:ext cx="3927565" cy="2845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6057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0DDB79FD-A41C-A97E-E412-47CCC4E62C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773" b="6689"/>
          <a:stretch/>
        </p:blipFill>
        <p:spPr>
          <a:xfrm>
            <a:off x="5688066" y="2017718"/>
            <a:ext cx="3721748" cy="441791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72BECB6F-6423-2B6D-2C18-A1F0BAA3C619}"/>
              </a:ext>
            </a:extLst>
          </p:cNvPr>
          <p:cNvSpPr/>
          <p:nvPr/>
        </p:nvSpPr>
        <p:spPr>
          <a:xfrm>
            <a:off x="7245532" y="4722263"/>
            <a:ext cx="444137" cy="1632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版面配置區 6">
            <a:extLst>
              <a:ext uri="{FF2B5EF4-FFF2-40B4-BE49-F238E27FC236}">
                <a16:creationId xmlns:a16="http://schemas.microsoft.com/office/drawing/2014/main" id="{DE6AAB9B-D443-48F5-B6F2-5FD2AE697528}"/>
              </a:ext>
            </a:extLst>
          </p:cNvPr>
          <p:cNvSpPr txBox="1"/>
          <p:nvPr/>
        </p:nvSpPr>
        <p:spPr>
          <a:xfrm>
            <a:off x="496186" y="1143000"/>
            <a:ext cx="9057117" cy="439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Gamma/DICOM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14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去做校正後的結果。</a:t>
            </a:r>
            <a:endParaRPr lang="en-US" altLang="zh-TW" sz="1400" dirty="0">
              <a:solidFill>
                <a:srgbClr val="333333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初步判斷可能是</a:t>
            </a:r>
            <a:r>
              <a:rPr lang="en-US" altLang="zh-TW" sz="14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AD board</a:t>
            </a:r>
            <a:r>
              <a:rPr lang="zh-TW" altLang="en-US" sz="1400" dirty="0">
                <a:solidFill>
                  <a:srgbClr val="33333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面板有問題。</a:t>
            </a:r>
            <a:endParaRPr lang="en-US" altLang="zh-TW" sz="1400" dirty="0">
              <a:solidFill>
                <a:srgbClr val="333333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195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723178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973856"/>
              </p:ext>
            </p:extLst>
          </p:nvPr>
        </p:nvGraphicFramePr>
        <p:xfrm>
          <a:off x="5604934" y="2353858"/>
          <a:ext cx="4022658" cy="3333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校正演算法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2"/>
            <a:ext cx="4022658" cy="849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1387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490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3623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853327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按照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NV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文件跑完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BSP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初始化並編譯所有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driver</a:t>
            </a: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初始化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git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並使用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zstd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打包為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checkpoint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，節省後續開發的初始化作業時間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設定第二個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顯示輸出需要調整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pinmux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b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DCB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等設定，需要拿到電路圖才能繼續設定</a:t>
            </a: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BSP &amp; Display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F37F76C-1E8E-450F-BD30-CA57958FB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819" y="2030324"/>
            <a:ext cx="2782362" cy="101502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ABADCB1-6313-4752-AA87-F15603C37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999" y="3132628"/>
            <a:ext cx="5495001" cy="300632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CB005F0-5888-41C0-B4F8-AD219938B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733" y="4367522"/>
            <a:ext cx="2723809" cy="1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845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根據文件修改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pinmux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dcb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後，連接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台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4k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螢幕測試成功，但熱插拔沒反應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經過論壇搜尋，確認是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JP7.1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的問題，預計會在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JP7.2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修復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Display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6423DA1-9AA5-4432-9438-E36BECB998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08" t="11602" r="84301" b="137"/>
          <a:stretch/>
        </p:blipFill>
        <p:spPr>
          <a:xfrm>
            <a:off x="7854890" y="516203"/>
            <a:ext cx="1897605" cy="5825594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BC5978E5-C06E-4183-B201-25E080CE8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890" y="359524"/>
            <a:ext cx="1951400" cy="6138951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BE0446D-24EC-437C-83B3-8C7DE862EE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938" y="3034690"/>
            <a:ext cx="7257143" cy="114285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D1ABD49-0A19-4330-9025-36809B91250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-1968"/>
          <a:stretch/>
        </p:blipFill>
        <p:spPr>
          <a:xfrm>
            <a:off x="310938" y="4177547"/>
            <a:ext cx="7400000" cy="110476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6F158AD-F111-41A4-AB2F-2251239EFC4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5801"/>
          <a:stretch/>
        </p:blipFill>
        <p:spPr>
          <a:xfrm>
            <a:off x="297457" y="5250500"/>
            <a:ext cx="7257143" cy="11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8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82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/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329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184159</TotalTime>
  <Words>1015</Words>
  <Application>Microsoft Office PowerPoint</Application>
  <PresentationFormat>A4 紙張 (210x297 公釐)</PresentationFormat>
  <Paragraphs>335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Noto Sans Symbols</vt:lpstr>
      <vt:lpstr>新細明體</vt:lpstr>
      <vt:lpstr>標楷體</vt:lpstr>
      <vt:lpstr>Arial</vt:lpstr>
      <vt:lpstr>Calibri</vt:lpstr>
      <vt:lpstr>Times New Roman</vt:lpstr>
      <vt:lpstr>template</vt:lpstr>
      <vt:lpstr>Progress Report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下次進度: Monitor</vt:lpstr>
      <vt:lpstr>上次進度: JS1500 &amp; AI Perf</vt:lpstr>
      <vt:lpstr>上次進度: JS1500 &amp; AI Perf</vt:lpstr>
      <vt:lpstr>上次進度：BSP &amp; Display</vt:lpstr>
      <vt:lpstr>本次進度：Display</vt:lpstr>
      <vt:lpstr>下次進度: JS1500 &amp; AI Perf</vt:lpstr>
      <vt:lpstr>下次進度: JS1500 &amp; AI Perf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2152</cp:revision>
  <dcterms:created xsi:type="dcterms:W3CDTF">2003-02-17T16:04:03Z</dcterms:created>
  <dcterms:modified xsi:type="dcterms:W3CDTF">2026-04-07T05:52:44Z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