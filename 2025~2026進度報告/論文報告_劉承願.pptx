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12" r:id="rId2"/>
    <p:sldId id="292" r:id="rId3"/>
    <p:sldId id="313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280" r:id="rId12"/>
    <p:sldId id="304" r:id="rId13"/>
    <p:sldId id="305" r:id="rId14"/>
    <p:sldId id="306" r:id="rId15"/>
    <p:sldId id="307" r:id="rId16"/>
    <p:sldId id="308" r:id="rId17"/>
    <p:sldId id="309" r:id="rId18"/>
    <p:sldId id="277" r:id="rId19"/>
    <p:sldId id="311" r:id="rId20"/>
    <p:sldId id="259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C4F0"/>
    <a:srgbClr val="0E66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73818" autoAdjust="0"/>
  </p:normalViewPr>
  <p:slideViewPr>
    <p:cSldViewPr snapToGrid="0">
      <p:cViewPr varScale="1">
        <p:scale>
          <a:sx n="81" d="100"/>
          <a:sy n="81" d="100"/>
        </p:scale>
        <p:origin x="1578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B9FD6-0340-4776-A8C4-5431A260B8E9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608A6-0059-4082-A02C-C2419BF351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84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608A6-0059-4082-A02C-C2419BF3510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739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8462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學長的流程先完成面板初始化與白點校正，再量測面板原生 </a:t>
            </a:r>
            <a:r>
              <a:rPr lang="en-US" altLang="zh-TW" dirty="0"/>
              <a:t>RGB </a:t>
            </a:r>
            <a:r>
              <a:rPr lang="zh-TW" altLang="en-US" dirty="0"/>
              <a:t>響應。系統依照量測資料建立各通道的亮度模型，接著利用目標 </a:t>
            </a:r>
            <a:r>
              <a:rPr lang="en-US" altLang="zh-TW" dirty="0"/>
              <a:t>Gamma</a:t>
            </a:r>
            <a:r>
              <a:rPr lang="zh-TW" altLang="en-US" dirty="0"/>
              <a:t>與 </a:t>
            </a:r>
            <a:r>
              <a:rPr lang="en-US" altLang="zh-TW" dirty="0"/>
              <a:t>Color Vector</a:t>
            </a:r>
            <a:r>
              <a:rPr lang="zh-TW" altLang="en-US" dirty="0"/>
              <a:t>產生三通道目標亮度，最後反查面板原生曲線，產生 </a:t>
            </a:r>
            <a:r>
              <a:rPr lang="en-US" altLang="zh-TW" dirty="0"/>
              <a:t>RGB LUT</a:t>
            </a:r>
            <a:r>
              <a:rPr lang="zh-TW" altLang="en-US" dirty="0"/>
              <a:t>並寫入 </a:t>
            </a:r>
            <a:r>
              <a:rPr lang="en-US" altLang="zh-TW" dirty="0"/>
              <a:t>AD Board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303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000" dirty="0"/>
              <a:t>學長系統先指定目標 </a:t>
            </a:r>
            <a:r>
              <a:rPr lang="en-US" altLang="zh-TW" sz="2000" dirty="0"/>
              <a:t>Gamma</a:t>
            </a:r>
            <a:r>
              <a:rPr lang="zh-TW" altLang="en-US" sz="2000" dirty="0"/>
              <a:t>，例如</a:t>
            </a:r>
            <a:r>
              <a:rPr lang="en-US" altLang="zh-TW" sz="2000" dirty="0"/>
              <a:t>1.8</a:t>
            </a:r>
            <a:r>
              <a:rPr lang="zh-TW" altLang="en-US" sz="2000" dirty="0"/>
              <a:t>或</a:t>
            </a:r>
            <a:r>
              <a:rPr lang="en-US" altLang="zh-TW" sz="2000" dirty="0"/>
              <a:t>2.2</a:t>
            </a:r>
            <a:r>
              <a:rPr lang="zh-TW" altLang="en-US" sz="2000" dirty="0"/>
              <a:t>，並對 </a:t>
            </a:r>
            <a:r>
              <a:rPr lang="en-US" altLang="zh-TW" sz="2000" dirty="0"/>
              <a:t>k=0</a:t>
            </a:r>
            <a:r>
              <a:rPr lang="zh-TW" altLang="en-US" sz="2000" dirty="0"/>
              <a:t>到</a:t>
            </a:r>
            <a:r>
              <a:rPr lang="en-US" altLang="zh-TW" sz="2000" dirty="0"/>
              <a:t>255</a:t>
            </a:r>
            <a:r>
              <a:rPr lang="zh-TW" altLang="en-US" sz="2000" dirty="0"/>
              <a:t>的所有輸入灰階建立目標總亮度曲線。</a:t>
            </a:r>
            <a:endParaRPr lang="en-US" altLang="zh-TW" sz="2000" dirty="0"/>
          </a:p>
          <a:p>
            <a:r>
              <a:rPr lang="en-US" altLang="zh-TW" sz="2000" dirty="0" err="1"/>
              <a:t>Ymax</a:t>
            </a:r>
            <a:r>
              <a:rPr lang="zh-TW" altLang="en-US" sz="2000" dirty="0"/>
              <a:t>根據 </a:t>
            </a:r>
            <a:r>
              <a:rPr lang="en-US" altLang="zh-TW" sz="2000" dirty="0"/>
              <a:t>i1</a:t>
            </a:r>
            <a:r>
              <a:rPr lang="zh-TW" altLang="en-US" sz="2000" dirty="0"/>
              <a:t>量測得到的 </a:t>
            </a:r>
            <a:r>
              <a:rPr lang="en-US" altLang="zh-TW" sz="2000" dirty="0"/>
              <a:t>R</a:t>
            </a:r>
            <a:r>
              <a:rPr lang="zh-TW" altLang="en-US" sz="2000" dirty="0"/>
              <a:t>、</a:t>
            </a:r>
            <a:r>
              <a:rPr lang="en-US" altLang="zh-TW" sz="2000" dirty="0"/>
              <a:t>G</a:t>
            </a:r>
            <a:r>
              <a:rPr lang="zh-TW" altLang="en-US" sz="2000" dirty="0"/>
              <a:t>、</a:t>
            </a:r>
            <a:r>
              <a:rPr lang="en-US" altLang="zh-TW" sz="2000" dirty="0"/>
              <a:t>B</a:t>
            </a:r>
            <a:r>
              <a:rPr lang="zh-TW" altLang="en-US" sz="2000" dirty="0"/>
              <a:t>三通道最大亮度</a:t>
            </a:r>
            <a:endParaRPr lang="en-US" altLang="zh-TW" sz="2000" dirty="0"/>
          </a:p>
          <a:p>
            <a:r>
              <a:rPr lang="zh-TW" altLang="en-US" sz="2000" dirty="0"/>
              <a:t>計算各通道能支援的最大總亮度，最後取三者最小值，以避免任何通道在高灰階飽和。</a:t>
            </a:r>
            <a:endParaRPr lang="en-US" altLang="zh-TW" sz="2000" i="1" dirty="0"/>
          </a:p>
          <a:p>
            <a:endParaRPr lang="en-US" altLang="zh-TW" sz="2000" u="sng" dirty="0"/>
          </a:p>
          <a:p>
            <a:r>
              <a:rPr lang="zh-TW" altLang="en-US" sz="3200" dirty="0"/>
              <a:t>將正規化後的灰階 </a:t>
            </a:r>
            <a:r>
              <a:rPr lang="en-US" altLang="zh-TW" sz="3200" dirty="0" err="1"/>
              <a:t>Xk</a:t>
            </a:r>
            <a:r>
              <a:rPr lang="en-US" altLang="zh-TW" sz="3200" dirty="0"/>
              <a:t>​ </a:t>
            </a:r>
            <a:r>
              <a:rPr lang="zh-TW" altLang="en-US" sz="3200" dirty="0"/>
              <a:t>做 </a:t>
            </a:r>
            <a:r>
              <a:rPr lang="en-US" altLang="zh-TW" sz="3200" dirty="0"/>
              <a:t>Gamma </a:t>
            </a:r>
            <a:r>
              <a:rPr lang="zh-TW" altLang="en-US" sz="3200" dirty="0"/>
              <a:t>次方，再乘上最大亮度 </a:t>
            </a:r>
            <a:r>
              <a:rPr lang="en-US" altLang="zh-TW" sz="3200" dirty="0" err="1"/>
              <a:t>Ymax</a:t>
            </a:r>
            <a:r>
              <a:rPr lang="en-US" altLang="zh-TW" sz="3200" dirty="0"/>
              <a:t>​</a:t>
            </a:r>
            <a:r>
              <a:rPr lang="zh-TW" altLang="en-US" sz="3200" dirty="0"/>
              <a:t>，得到該灰階應輸出的目標總亮度。</a:t>
            </a:r>
            <a:endParaRPr lang="zh-TW" altLang="en-US" sz="2000" u="sng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4745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000" dirty="0"/>
              <a:t>在指定的目標</a:t>
            </a:r>
            <a:r>
              <a:rPr lang="en-US" altLang="zh-TW" sz="2000" dirty="0"/>
              <a:t>gamma</a:t>
            </a:r>
            <a:r>
              <a:rPr lang="zh-TW" altLang="en-US" sz="2000" dirty="0"/>
              <a:t>下</a:t>
            </a:r>
            <a:r>
              <a:rPr lang="en-US" altLang="zh-TW" sz="2000" dirty="0"/>
              <a:t>(</a:t>
            </a:r>
            <a:r>
              <a:rPr lang="zh-TW" altLang="en-US" sz="2000" dirty="0"/>
              <a:t>比如</a:t>
            </a:r>
            <a:r>
              <a:rPr lang="en-US" altLang="zh-TW" sz="2000" dirty="0"/>
              <a:t>1.8 2.2…)</a:t>
            </a:r>
            <a:r>
              <a:rPr lang="zh-TW" altLang="en-US" sz="2000" dirty="0"/>
              <a:t>，三通道應該輸出的最大亮度。</a:t>
            </a:r>
            <a:endParaRPr lang="en-US" altLang="zh-TW" sz="2000" dirty="0"/>
          </a:p>
          <a:p>
            <a:r>
              <a:rPr lang="zh-TW" altLang="en-US" sz="2000" dirty="0"/>
              <a:t>第二步是依照目標色溫的 </a:t>
            </a:r>
            <a:r>
              <a:rPr lang="en-US" altLang="zh-TW" sz="2000" dirty="0"/>
              <a:t>Color Vector</a:t>
            </a:r>
            <a:r>
              <a:rPr lang="zh-TW" altLang="en-US" sz="2000" dirty="0"/>
              <a:t>，將每一個灰階 </a:t>
            </a:r>
            <a:r>
              <a:rPr lang="en-US" altLang="zh-TW" sz="2000" dirty="0"/>
              <a:t>k</a:t>
            </a:r>
            <a:r>
              <a:rPr lang="zh-TW" altLang="en-US" sz="2000" dirty="0"/>
              <a:t>的目標總亮度分配到 </a:t>
            </a:r>
            <a:r>
              <a:rPr lang="en-US" altLang="zh-TW" sz="2000" dirty="0"/>
              <a:t>R</a:t>
            </a:r>
            <a:r>
              <a:rPr lang="zh-TW" altLang="en-US" sz="2000" dirty="0"/>
              <a:t>、</a:t>
            </a:r>
            <a:r>
              <a:rPr lang="en-US" altLang="zh-TW" sz="2000" dirty="0"/>
              <a:t>G</a:t>
            </a:r>
            <a:r>
              <a:rPr lang="zh-TW" altLang="en-US" sz="2000" dirty="0"/>
              <a:t>、</a:t>
            </a:r>
            <a:r>
              <a:rPr lang="en-US" altLang="zh-TW" sz="2000" dirty="0"/>
              <a:t>B</a:t>
            </a:r>
            <a:r>
              <a:rPr lang="zh-TW" altLang="en-US" sz="2000" dirty="0"/>
              <a:t>三個通道。</a:t>
            </a:r>
            <a:endParaRPr lang="en-US" altLang="zh-TW" sz="2000" dirty="0"/>
          </a:p>
          <a:p>
            <a:r>
              <a:rPr lang="zh-TW" altLang="en-US" sz="2000" dirty="0"/>
              <a:t>這三個值代表各通道在目前灰階下應該輸出的目標亮度，而不是三通道的最大亮度。這樣可以在修正 </a:t>
            </a:r>
            <a:r>
              <a:rPr lang="en-US" altLang="zh-TW" sz="2000" dirty="0"/>
              <a:t>Gamma</a:t>
            </a:r>
            <a:r>
              <a:rPr lang="zh-TW" altLang="en-US" sz="2000" dirty="0"/>
              <a:t>亮度曲線的同時，維持目標白點與色溫。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9562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000" dirty="0"/>
              <a:t>量測</a:t>
            </a:r>
            <a:r>
              <a:rPr lang="en-US" altLang="zh-TW" sz="2000" dirty="0"/>
              <a:t>Native</a:t>
            </a:r>
            <a:r>
              <a:rPr lang="zh-TW" altLang="en-US" sz="2000" dirty="0"/>
              <a:t>原生面板時建立的灰階響應模型</a:t>
            </a:r>
            <a:r>
              <a:rPr lang="en-US" altLang="zh-TW" sz="2000" dirty="0"/>
              <a:t>FR(c)</a:t>
            </a:r>
            <a:r>
              <a:rPr lang="zh-TW" altLang="en-US" sz="2000" dirty="0"/>
              <a:t>、</a:t>
            </a:r>
            <a:r>
              <a:rPr lang="en-US" altLang="zh-TW" sz="2000" dirty="0"/>
              <a:t>FG(c)</a:t>
            </a:r>
            <a:r>
              <a:rPr lang="zh-TW" altLang="en-US" sz="2000" dirty="0"/>
              <a:t>、</a:t>
            </a:r>
            <a:r>
              <a:rPr lang="en-US" altLang="zh-TW" sz="2000" dirty="0"/>
              <a:t>FB(c)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r>
              <a:rPr lang="zh-TW" altLang="en-US" sz="2000" dirty="0"/>
              <a:t>系統先分別量測 </a:t>
            </a:r>
            <a:r>
              <a:rPr lang="en-US" altLang="zh-TW" sz="2000" dirty="0"/>
              <a:t>R</a:t>
            </a:r>
            <a:r>
              <a:rPr lang="zh-TW" altLang="en-US" sz="2000" dirty="0"/>
              <a:t>、</a:t>
            </a:r>
            <a:r>
              <a:rPr lang="en-US" altLang="zh-TW" sz="2000" dirty="0"/>
              <a:t>G</a:t>
            </a:r>
            <a:r>
              <a:rPr lang="zh-TW" altLang="en-US" sz="2000" dirty="0"/>
              <a:t>、</a:t>
            </a:r>
            <a:r>
              <a:rPr lang="en-US" altLang="zh-TW" sz="2000" dirty="0"/>
              <a:t>B</a:t>
            </a:r>
            <a:r>
              <a:rPr lang="zh-TW" altLang="en-US" sz="2000" dirty="0"/>
              <a:t>三通道的</a:t>
            </a:r>
            <a:r>
              <a:rPr lang="en-US" altLang="zh-TW" sz="2000" dirty="0"/>
              <a:t>32</a:t>
            </a:r>
            <a:r>
              <a:rPr lang="zh-TW" altLang="en-US" sz="2000" dirty="0"/>
              <a:t>個 </a:t>
            </a:r>
            <a:r>
              <a:rPr lang="en-US" altLang="zh-TW" sz="2000" dirty="0"/>
              <a:t>Native</a:t>
            </a:r>
            <a:r>
              <a:rPr lang="zh-TW" altLang="en-US" sz="2000" dirty="0"/>
              <a:t>亮度點，扣除黑階後，再以三次插值展開到</a:t>
            </a:r>
            <a:r>
              <a:rPr lang="en-US" altLang="zh-TW" sz="2000" dirty="0"/>
              <a:t>14-bit</a:t>
            </a:r>
            <a:r>
              <a:rPr lang="zh-TW" altLang="en-US" sz="2000" dirty="0"/>
              <a:t>索引空間，建立 </a:t>
            </a:r>
            <a:r>
              <a:rPr lang="en-US" altLang="zh-TW" sz="2000" dirty="0"/>
              <a:t>FR(c)</a:t>
            </a:r>
            <a:r>
              <a:rPr lang="zh-TW" altLang="en-US" sz="2000" dirty="0"/>
              <a:t>、</a:t>
            </a:r>
            <a:r>
              <a:rPr lang="en-US" altLang="zh-TW" sz="2000" dirty="0"/>
              <a:t>FG(c)</a:t>
            </a:r>
            <a:r>
              <a:rPr lang="zh-TW" altLang="en-US" sz="2000" dirty="0"/>
              <a:t>、</a:t>
            </a:r>
            <a:r>
              <a:rPr lang="en-US" altLang="zh-TW" sz="2000" dirty="0"/>
              <a:t>FB(c)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/>
              <a:t>找到誤差最小亮度的</a:t>
            </a:r>
            <a:r>
              <a:rPr lang="en-US" altLang="zh-TW" sz="2000" dirty="0"/>
              <a:t>c </a:t>
            </a:r>
            <a:r>
              <a:rPr lang="zh-TW" altLang="en-US" sz="2000" dirty="0"/>
              <a:t>值。舉例</a:t>
            </a:r>
            <a:r>
              <a:rPr lang="en-US" altLang="zh-TW" sz="2000" dirty="0"/>
              <a:t>YR(K=128)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是輸入灰階</a:t>
            </a:r>
            <a:r>
              <a:rPr lang="en-US" altLang="zh-TW" sz="2000" dirty="0"/>
              <a:t>128</a:t>
            </a:r>
            <a:r>
              <a:rPr lang="zh-TW" altLang="en-US" sz="2000" dirty="0"/>
              <a:t>時，</a:t>
            </a:r>
            <a:r>
              <a:rPr lang="en-US" altLang="zh-TW" sz="2000" dirty="0"/>
              <a:t>R</a:t>
            </a:r>
            <a:r>
              <a:rPr lang="zh-TW" altLang="en-US" sz="2000" dirty="0"/>
              <a:t>通道應輸出的目標亮度</a:t>
            </a:r>
            <a:r>
              <a:rPr lang="en-US" altLang="zh-TW" sz="2000" dirty="0"/>
              <a:t>)=20</a:t>
            </a:r>
            <a:r>
              <a:rPr lang="zh-TW" altLang="en-US" sz="2000" dirty="0"/>
              <a:t>，在</a:t>
            </a:r>
            <a:r>
              <a:rPr lang="en-US" altLang="zh-TW" sz="2000" dirty="0"/>
              <a:t>c=5999</a:t>
            </a:r>
            <a:r>
              <a:rPr lang="zh-TW" altLang="en-US" sz="2000" dirty="0"/>
              <a:t>時</a:t>
            </a:r>
            <a:r>
              <a:rPr lang="en-US" altLang="zh-TW" sz="2000" dirty="0"/>
              <a:t>FR=19.99</a:t>
            </a:r>
            <a:r>
              <a:rPr lang="zh-TW" altLang="en-US" sz="2000" dirty="0"/>
              <a:t>，所以誤差</a:t>
            </a:r>
            <a:r>
              <a:rPr lang="en-US" altLang="zh-TW" sz="2000" dirty="0"/>
              <a:t>0.01</a:t>
            </a:r>
            <a:r>
              <a:rPr lang="zh-TW" altLang="en-US" sz="2000" dirty="0"/>
              <a:t>最小。</a:t>
            </a:r>
            <a:endParaRPr lang="en-US" altLang="zh-TW" sz="2000" dirty="0"/>
          </a:p>
          <a:p>
            <a:r>
              <a:rPr lang="zh-TW" altLang="en-US" sz="2000" dirty="0"/>
              <a:t>所以</a:t>
            </a:r>
            <a:r>
              <a:rPr lang="en-US" altLang="zh-TW" sz="2000" dirty="0"/>
              <a:t>CR(k=128)=5999</a:t>
            </a:r>
            <a:r>
              <a:rPr lang="zh-TW" altLang="en-US" sz="2000" dirty="0"/>
              <a:t>。</a:t>
            </a: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074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9EAD5C-680C-85BB-2A5F-8BA4C85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/>
              <a:t>學長系統採用</a:t>
            </a:r>
            <a:r>
              <a:rPr lang="en-US" altLang="zh-TW" sz="1200" dirty="0"/>
              <a:t>8-bit LUT</a:t>
            </a:r>
            <a:r>
              <a:rPr lang="zh-TW" altLang="en-US" sz="1200" dirty="0"/>
              <a:t>輸入地址，因此共有</a:t>
            </a:r>
            <a:r>
              <a:rPr lang="en-US" altLang="zh-TW" sz="1200" dirty="0"/>
              <a:t>256</a:t>
            </a:r>
            <a:r>
              <a:rPr lang="zh-TW" altLang="en-US" sz="1200" dirty="0"/>
              <a:t>個灰階 </a:t>
            </a:r>
            <a:r>
              <a:rPr lang="en-US" altLang="zh-TW" sz="1200" dirty="0"/>
              <a:t>entries</a:t>
            </a:r>
            <a:r>
              <a:rPr lang="zh-TW" altLang="en-US" sz="1200" dirty="0"/>
              <a:t>；</a:t>
            </a:r>
            <a:endParaRPr lang="en-US" altLang="zh-TW" sz="1200" dirty="0"/>
          </a:p>
          <a:p>
            <a:r>
              <a:rPr lang="zh-TW" altLang="en-US" sz="1200" dirty="0"/>
              <a:t>每個 </a:t>
            </a:r>
            <a:r>
              <a:rPr lang="en-US" altLang="zh-TW" sz="1200" dirty="0"/>
              <a:t>entry</a:t>
            </a:r>
            <a:r>
              <a:rPr lang="zh-TW" altLang="en-US" sz="1200" dirty="0"/>
              <a:t>包含 </a:t>
            </a:r>
            <a:r>
              <a:rPr lang="en-US" altLang="zh-TW" sz="1200" dirty="0"/>
              <a:t>R</a:t>
            </a:r>
            <a:r>
              <a:rPr lang="zh-TW" altLang="en-US" sz="1200" dirty="0"/>
              <a:t>、</a:t>
            </a:r>
            <a:r>
              <a:rPr lang="en-US" altLang="zh-TW" sz="1200" dirty="0"/>
              <a:t>G</a:t>
            </a:r>
            <a:r>
              <a:rPr lang="zh-TW" altLang="en-US" sz="1200" dirty="0"/>
              <a:t>、</a:t>
            </a:r>
            <a:r>
              <a:rPr lang="en-US" altLang="zh-TW" sz="1200" dirty="0"/>
              <a:t>B</a:t>
            </a:r>
            <a:r>
              <a:rPr lang="zh-TW" altLang="en-US" sz="1200" dirty="0"/>
              <a:t>三通道輸出值。輸出 </a:t>
            </a:r>
            <a:r>
              <a:rPr lang="en-US" altLang="zh-TW" sz="1200" dirty="0"/>
              <a:t>code</a:t>
            </a:r>
            <a:r>
              <a:rPr lang="zh-TW" altLang="en-US" sz="1200" dirty="0"/>
              <a:t>的</a:t>
            </a:r>
            <a:r>
              <a:rPr lang="en-US" altLang="zh-TW" sz="1200" dirty="0"/>
              <a:t>14-bit</a:t>
            </a:r>
            <a:r>
              <a:rPr lang="zh-TW" altLang="en-US" sz="1200" dirty="0"/>
              <a:t>精度是由 </a:t>
            </a:r>
            <a:r>
              <a:rPr lang="en-US" altLang="zh-TW" sz="1200" dirty="0"/>
              <a:t>AD Board</a:t>
            </a:r>
            <a:r>
              <a:rPr lang="zh-TW" altLang="en-US" sz="1200" dirty="0"/>
              <a:t>內部 </a:t>
            </a:r>
            <a:r>
              <a:rPr lang="en-US" altLang="zh-TW" sz="1200" dirty="0"/>
              <a:t>O-Gamma</a:t>
            </a:r>
            <a:r>
              <a:rPr lang="zh-TW" altLang="en-US" sz="1200" dirty="0"/>
              <a:t>硬體格式決定。</a:t>
            </a:r>
            <a:endParaRPr lang="en-US" altLang="zh-TW" sz="1200" dirty="0"/>
          </a:p>
          <a:p>
            <a:r>
              <a:rPr lang="zh-TW" altLang="en-US" sz="1200" dirty="0"/>
              <a:t>學長這邊存入資料以</a:t>
            </a:r>
            <a:r>
              <a:rPr lang="en-US" altLang="zh-TW" sz="1200" dirty="0"/>
              <a:t>16bit=2byte</a:t>
            </a:r>
            <a:r>
              <a:rPr lang="zh-TW" altLang="en-US" sz="1200" dirty="0"/>
              <a:t>存入</a:t>
            </a:r>
            <a:br>
              <a:rPr lang="en-US" altLang="zh-TW" sz="1200" dirty="0"/>
            </a:br>
            <a:r>
              <a:rPr lang="zh-TW" altLang="en-US" sz="1200" dirty="0"/>
              <a:t>所以一組</a:t>
            </a:r>
            <a:r>
              <a:rPr lang="en-US" altLang="zh-TW" sz="1200" dirty="0"/>
              <a:t>Gamma</a:t>
            </a:r>
            <a:r>
              <a:rPr lang="en-US" altLang="zh-TW" sz="1200" baseline="0" dirty="0"/>
              <a:t> LUT</a:t>
            </a:r>
            <a:r>
              <a:rPr lang="zh-TW" altLang="en-US" sz="1200" baseline="0" dirty="0"/>
              <a:t>大小為</a:t>
            </a:r>
            <a:r>
              <a:rPr lang="en-US" altLang="zh-TW" sz="1200" baseline="0" dirty="0"/>
              <a:t>:256</a:t>
            </a:r>
            <a:r>
              <a:rPr lang="zh-TW" altLang="en-US" sz="1200" baseline="0" dirty="0"/>
              <a:t>*</a:t>
            </a:r>
            <a:r>
              <a:rPr lang="en-US" altLang="zh-TW" sz="1200" baseline="0" dirty="0"/>
              <a:t>2byte</a:t>
            </a:r>
            <a:r>
              <a:rPr lang="zh-TW" altLang="en-US" sz="1200" baseline="0" dirty="0"/>
              <a:t>*</a:t>
            </a:r>
            <a:r>
              <a:rPr lang="en-US" altLang="zh-TW" sz="1200" baseline="0" dirty="0"/>
              <a:t>3</a:t>
            </a:r>
            <a:r>
              <a:rPr lang="zh-TW" altLang="en-US" sz="1200" baseline="0" dirty="0"/>
              <a:t>通道</a:t>
            </a:r>
            <a:r>
              <a:rPr lang="en-US" altLang="zh-TW" sz="1200" baseline="0" dirty="0"/>
              <a:t>=1536byte</a:t>
            </a:r>
            <a:r>
              <a:rPr lang="zh-TW" altLang="en-US" sz="1200" baseline="0" dirty="0"/>
              <a:t>。</a:t>
            </a:r>
            <a:br>
              <a:rPr lang="en-US" altLang="zh-TW" sz="1200" baseline="0" dirty="0"/>
            </a:br>
            <a:r>
              <a:rPr lang="zh-TW" altLang="en-US" sz="1200" baseline="0" dirty="0"/>
              <a:t>所以一組</a:t>
            </a:r>
            <a:r>
              <a:rPr lang="en-US" altLang="zh-TW" sz="1200" baseline="0" dirty="0"/>
              <a:t>gamma +</a:t>
            </a:r>
            <a:r>
              <a:rPr lang="zh-TW" altLang="en-US" sz="1200" baseline="0" dirty="0"/>
              <a:t>一組色溫的</a:t>
            </a:r>
            <a:r>
              <a:rPr lang="en-US" altLang="zh-TW" sz="1200" baseline="0" dirty="0"/>
              <a:t>LUT</a:t>
            </a:r>
            <a:r>
              <a:rPr lang="zh-TW" altLang="en-US" sz="1200" baseline="0" dirty="0"/>
              <a:t>要存入</a:t>
            </a:r>
            <a:r>
              <a:rPr lang="en-US" altLang="zh-TW" sz="1200" baseline="0" dirty="0"/>
              <a:t>1.5KB</a:t>
            </a:r>
            <a:r>
              <a:rPr lang="zh-TW" altLang="en-US" sz="1200" baseline="0" dirty="0"/>
              <a:t>的資料進</a:t>
            </a:r>
            <a:r>
              <a:rPr lang="en-US" altLang="zh-TW" sz="1200" baseline="0" dirty="0" err="1"/>
              <a:t>Adborad</a:t>
            </a:r>
            <a:r>
              <a:rPr lang="zh-TW" altLang="en-US" sz="1200" baseline="0" dirty="0"/>
              <a:t>。</a:t>
            </a:r>
            <a:endParaRPr lang="zh-TW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DDC/CI</a:t>
            </a:r>
            <a:r>
              <a:rPr lang="zh-TW" altLang="en-US" dirty="0"/>
              <a:t>或</a:t>
            </a:r>
            <a:r>
              <a:rPr lang="en-US" altLang="zh-TW" dirty="0"/>
              <a:t>I²C</a:t>
            </a:r>
            <a:r>
              <a:rPr lang="zh-TW" altLang="en-US" dirty="0"/>
              <a:t>傳輸通常以</a:t>
            </a:r>
            <a:r>
              <a:rPr lang="en-US" altLang="zh-TW" dirty="0"/>
              <a:t>8-bit byte</a:t>
            </a:r>
            <a:r>
              <a:rPr lang="zh-TW" altLang="en-US" dirty="0"/>
              <a:t>為基本單位</a:t>
            </a:r>
            <a:r>
              <a:rPr lang="zh-TW" altLang="en-US" sz="1200" b="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，所以 以</a:t>
            </a:r>
            <a:r>
              <a:rPr lang="en-US" altLang="zh-TW" dirty="0"/>
              <a:t>2 bytes</a:t>
            </a:r>
            <a:r>
              <a:rPr lang="zh-TW" altLang="en-US" dirty="0"/>
              <a:t>存入對於處理器或</a:t>
            </a:r>
            <a:r>
              <a:rPr lang="en-US" altLang="zh-TW" dirty="0"/>
              <a:t>MCU</a:t>
            </a:r>
            <a:r>
              <a:rPr lang="zh-TW" altLang="en-US" dirty="0"/>
              <a:t>比較方便。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6642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9EAD5C-680C-85BB-2A5F-8BA4C85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0148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9EAD5C-680C-85BB-2A5F-8BA4C85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本研究希望透過 </a:t>
            </a:r>
            <a:r>
              <a:rPr lang="en-US" altLang="zh-TW" dirty="0"/>
              <a:t>Gamma LUT </a:t>
            </a:r>
            <a:r>
              <a:rPr lang="zh-TW" altLang="en-US" dirty="0"/>
              <a:t>無損壓縮，降低資料傳輸量與封包數，進而縮短校正時間。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9558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查找表被廣泛使用在 </a:t>
            </a:r>
            <a:r>
              <a:rPr lang="en-US" altLang="zh-TW" dirty="0"/>
              <a:t>FPGA</a:t>
            </a:r>
            <a:r>
              <a:rPr lang="zh-TW" altLang="en-US" dirty="0"/>
              <a:t>、</a:t>
            </a:r>
            <a:r>
              <a:rPr lang="en-US" altLang="zh-TW" dirty="0"/>
              <a:t>GPU </a:t>
            </a:r>
            <a:r>
              <a:rPr lang="zh-TW" altLang="en-US" dirty="0"/>
              <a:t>以及 </a:t>
            </a:r>
            <a:r>
              <a:rPr lang="en-US" altLang="zh-TW" dirty="0"/>
              <a:t>DSP </a:t>
            </a:r>
            <a:r>
              <a:rPr lang="zh-TW" altLang="en-US" dirty="0"/>
              <a:t>等硬體架構中。它的基本概念是，先把函數的輸出值計算完成，儲存在記憶體中，執行時直接利用輸入值作為位址，讀出對應結果。</a:t>
            </a:r>
          </a:p>
          <a:p>
            <a:r>
              <a:rPr lang="zh-TW" altLang="en-US" dirty="0"/>
              <a:t>查找表的優點是硬體架構簡單、延遲低，而且吞吐量高。但是它的缺點是容量會隨輸入位元數指數成長。</a:t>
            </a:r>
          </a:p>
          <a:p>
            <a:r>
              <a:rPr lang="zh-TW" altLang="en-US" dirty="0"/>
              <a:t>例如一張 </a:t>
            </a:r>
            <a:r>
              <a:rPr lang="en-US" altLang="zh-TW" dirty="0"/>
              <a:t>12 </a:t>
            </a:r>
            <a:r>
              <a:rPr lang="zh-TW" altLang="en-US" dirty="0"/>
              <a:t>位元輸入、</a:t>
            </a:r>
            <a:r>
              <a:rPr lang="en-US" altLang="zh-TW" dirty="0"/>
              <a:t>12 </a:t>
            </a:r>
            <a:r>
              <a:rPr lang="zh-TW" altLang="en-US" dirty="0"/>
              <a:t>位元輸出的查找表，就需要儲存 </a:t>
            </a:r>
            <a:r>
              <a:rPr lang="en-US" altLang="zh-TW" dirty="0"/>
              <a:t>4096 </a:t>
            </a:r>
            <a:r>
              <a:rPr lang="zh-TW" altLang="en-US" dirty="0"/>
              <a:t>筆資料，總共是 </a:t>
            </a:r>
            <a:r>
              <a:rPr lang="en-US" altLang="zh-TW" dirty="0"/>
              <a:t>49152 bits</a:t>
            </a:r>
            <a:r>
              <a:rPr lang="zh-TW" altLang="en-US" dirty="0"/>
              <a:t>。因此，如何降低查找表的儲存空間，是 </a:t>
            </a:r>
            <a:r>
              <a:rPr lang="en-US" altLang="zh-TW" dirty="0"/>
              <a:t>FPGA </a:t>
            </a:r>
            <a:r>
              <a:rPr lang="zh-TW" altLang="en-US" dirty="0"/>
              <a:t>設計中很重要的問題。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9769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9EAD5C-680C-85BB-2A5F-8BA4C85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這篇論文的研究目標，是設計一套適合硬體實作的</a:t>
            </a:r>
            <a:r>
              <a:rPr lang="en-US" altLang="zh-TW" dirty="0"/>
              <a:t>LUT</a:t>
            </a:r>
            <a:r>
              <a:rPr lang="zh-TW" altLang="en-US" dirty="0"/>
              <a:t>無損壓縮方法。</a:t>
            </a:r>
          </a:p>
          <a:p>
            <a:r>
              <a:rPr lang="zh-TW" altLang="en-US" dirty="0"/>
              <a:t>所謂無損，表示壓縮後再解碼所得到的資料，必須與原始查找表完全相同，不可以像一般函數近似方法一樣產生數值誤差。</a:t>
            </a:r>
            <a:endParaRPr lang="en-US" altLang="zh-TW" dirty="0"/>
          </a:p>
          <a:p>
            <a:r>
              <a:rPr lang="zh-TW" altLang="en-US" dirty="0"/>
              <a:t>在硬體端，解碼主要只使用小型 </a:t>
            </a:r>
            <a:r>
              <a:rPr lang="en-US" altLang="zh-TW" dirty="0"/>
              <a:t>LUT</a:t>
            </a:r>
            <a:r>
              <a:rPr lang="zh-TW" altLang="en-US" dirty="0"/>
              <a:t>、索引、位移器與加法器，因此相較於一般壓縮演算法，更適合 </a:t>
            </a:r>
            <a:r>
              <a:rPr lang="en-US" altLang="zh-TW" dirty="0"/>
              <a:t>FPGA </a:t>
            </a:r>
            <a:r>
              <a:rPr lang="zh-TW" altLang="en-US" dirty="0"/>
              <a:t>實作。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49597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effectLst/>
                    <a:latin typeface="Google Sans Text"/>
                  </a:rPr>
                  <a:t>原始大表 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>
                    <a:effectLst/>
                    <a:latin typeface="Google Sans Text"/>
                  </a:rPr>
                  <a:t>的總資料筆數是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>
                    <a:effectLst/>
                    <a:latin typeface="Google Sans Text"/>
                  </a:rPr>
                  <a:t> 筆 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假設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/>
                  <a:t>擁有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/>
                  <a:t>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zh-TW" altLang="en-US" dirty="0"/>
                  <a:t>位元的元素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我們把大表切成好幾個子表，並且設定每個子表裡面有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/>
                  <a:t>筆資料。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總共切出幾個子表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總資料量 除以 每個子表的資料量</a:t>
                </a:r>
                <a14:m>
                  <m:oMath xmlns:m="http://schemas.openxmlformats.org/officeDocument/2006/math">
                    <m:r>
                      <a:rPr lang="en-US" altLang="zh-TW" sz="1200" b="0" i="0" kern="100" baseline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r>
                  <a:rPr lang="zh-TW" altLang="en-US" dirty="0"/>
                  <a:t>作者首先將原始</a:t>
                </a:r>
                <a:r>
                  <a:rPr lang="en-US" altLang="zh-TW" dirty="0"/>
                  <a:t>LUT(T)</a:t>
                </a:r>
                <a:r>
                  <a:rPr lang="zh-TW" altLang="en-US" dirty="0"/>
                  <a:t>切成多個較小的子表。每個子表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有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筆資料。</a:t>
                </a:r>
              </a:p>
              <a:p>
                <a:r>
                  <a:rPr lang="zh-TW" altLang="en-US" dirty="0"/>
                  <a:t>接著，在每一個子表中找出最小值，並將這些最小值儲存在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中。原始資料扣除該子表的最小值後，得到局部偏移量，存入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zh-TW" altLang="en-US" dirty="0"/>
                  <a:t>。</a:t>
                </a:r>
                <a:endParaRPr lang="en-US" altLang="zh-TW" dirty="0"/>
              </a:p>
              <a:p>
                <a:r>
                  <a:rPr lang="zh-TW" altLang="en-US" dirty="0"/>
                  <a:t>由於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  <m:r>
                      <a:rPr lang="en-US" altLang="zh-TW" sz="1200" b="0" i="0" kern="100" baseline="0" dirty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(</m:t>
                    </m:r>
                  </m:oMath>
                </a14:m>
                <a:r>
                  <a:rPr lang="zh-TW" altLang="en-US" dirty="0"/>
                  <a:t>偏移值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通常比原始數值小，因此需要的位元數也比較少。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 smtClean="0">
                    <a:effectLst/>
                    <a:latin typeface="Google Sans Text"/>
                  </a:rPr>
                  <a:t>原始大表 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>
                    <a:effectLst/>
                    <a:latin typeface="Google Sans Text"/>
                  </a:rPr>
                  <a:t>的總資料筆數是 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2^(𝑊_𝑖𝑛 )</a:t>
                </a:r>
                <a:r>
                  <a:rPr lang="zh-TW" altLang="en-US" dirty="0">
                    <a:effectLst/>
                    <a:latin typeface="Google Sans Text"/>
                  </a:rPr>
                  <a:t> 筆 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假設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/>
                  <a:t>擁有 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2^(𝑊_𝑖𝑛 )</a:t>
                </a:r>
                <a:r>
                  <a:rPr lang="zh-TW" altLang="en-US" dirty="0"/>
                  <a:t>個 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𝑤_𝑜𝑢𝑡</a:t>
                </a:r>
                <a:r>
                  <a:rPr lang="zh-TW" altLang="en-US" dirty="0"/>
                  <a:t>位元的元素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我們把大表切成好幾個子表，並且設定每個子表裡面有 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2^(𝑤_𝑠 )</a:t>
                </a:r>
                <a:r>
                  <a:rPr lang="zh-TW" altLang="en-US" dirty="0"/>
                  <a:t>筆資料。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總共切出幾個子表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總資料量 除以 每個子表的資料量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=2^(𝑊_𝑖𝑛−𝑤_𝑠 )</a:t>
                </a:r>
                <a:endParaRPr lang="en-US" altLang="zh-TW" sz="1200" b="0" dirty="0" smtClean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 smtClean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r>
                  <a:rPr lang="zh-TW" altLang="en-US" dirty="0" smtClean="0"/>
                  <a:t>作者首先將原始</a:t>
                </a:r>
                <a:r>
                  <a:rPr lang="en-US" altLang="zh-TW" dirty="0" smtClean="0"/>
                  <a:t>LUT(T)</a:t>
                </a:r>
                <a:r>
                  <a:rPr lang="zh-TW" altLang="en-US" dirty="0" smtClean="0"/>
                  <a:t>切成多個較小的子表。每個子表</a:t>
                </a:r>
                <a:r>
                  <a:rPr lang="en-US" altLang="zh-TW" i="0" smtClean="0">
                    <a:latin typeface="Cambria Math" panose="02040503050406030204" pitchFamily="18" charset="0"/>
                  </a:rPr>
                  <a:t>〖</a:t>
                </a:r>
                <a:r>
                  <a:rPr lang="zh-TW" altLang="en-US" i="0" smtClean="0">
                    <a:latin typeface="Cambria Math" panose="02040503050406030204" pitchFamily="18" charset="0"/>
                  </a:rPr>
                  <a:t>有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2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〗^(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𝑤_𝑠 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)</a:t>
                </a:r>
                <a:r>
                  <a:rPr lang="en-US" altLang="zh-TW" dirty="0" smtClean="0"/>
                  <a:t>​ </a:t>
                </a:r>
                <a:r>
                  <a:rPr lang="zh-TW" altLang="en-US" dirty="0" smtClean="0"/>
                  <a:t>筆資料。</a:t>
                </a:r>
              </a:p>
              <a:p>
                <a:r>
                  <a:rPr lang="zh-TW" altLang="en-US" dirty="0" smtClean="0"/>
                  <a:t>接著，在每一個子表中找出最小值，並將這些最小值儲存在 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𝑏𝑖𝑎𝑠</a:t>
                </a:r>
                <a:r>
                  <a:rPr lang="en-US" altLang="zh-TW" dirty="0" smtClean="0"/>
                  <a:t>​ </a:t>
                </a:r>
                <a:r>
                  <a:rPr lang="zh-TW" altLang="en-US" dirty="0" smtClean="0"/>
                  <a:t>中。原始資料扣除該子表的最小值後，得到局部偏移量，存入 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𝑠𝑡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由於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𝑠𝑡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(</a:t>
                </a:r>
                <a:r>
                  <a:rPr lang="zh-TW" altLang="en-US" dirty="0" smtClean="0"/>
                  <a:t>偏移值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通常比原始數值小，因此需要的位元數也比較少。</a:t>
                </a:r>
                <a:endParaRPr lang="en-US" altLang="zh-TW" dirty="0" smtClean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7423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硬體解碼時，只要將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​ ​ </a:t>
                </a:r>
                <a:r>
                  <a:rPr lang="zh-TW" altLang="en-US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zh-TW" altLang="en-US" dirty="0"/>
                  <a:t>的輸出相加，就能還原原始數值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論文中也推導出壓縮後的尺寸比例。其中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越大，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會越小，但子表內部的變化可能增加，使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需要更多位元。因此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dirty="0"/>
                  <a:t>必須經過搜尋，不能直接設得越大越好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硬體解碼時，只要將 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𝑇_𝑏𝑖𝑎𝑠</a:t>
                </a:r>
                <a:r>
                  <a:rPr lang="en-US" altLang="zh-TW" dirty="0" smtClean="0"/>
                  <a:t>​ ​ </a:t>
                </a:r>
                <a:r>
                  <a:rPr lang="zh-TW" altLang="en-US" dirty="0" smtClean="0"/>
                  <a:t>和 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𝑇_𝑠𝑡</a:t>
                </a:r>
                <a:r>
                  <a:rPr lang="zh-TW" altLang="en-US" dirty="0" smtClean="0"/>
                  <a:t>的輸出相加，就能還原原始數值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。</a:t>
                </a:r>
              </a:p>
              <a:p>
                <a:r>
                  <a:rPr lang="zh-TW" altLang="en-US" dirty="0" smtClean="0"/>
                  <a:t>論文中也推導出壓縮後的尺寸比例。其中 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𝑤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𝑠</a:t>
                </a:r>
                <a:r>
                  <a:rPr lang="en-US" altLang="zh-TW" dirty="0" smtClean="0"/>
                  <a:t>​ </a:t>
                </a:r>
                <a:r>
                  <a:rPr lang="zh-TW" altLang="en-US" dirty="0" smtClean="0"/>
                  <a:t>越大，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dirty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𝑏𝑖𝑎𝑠</a:t>
                </a:r>
                <a:r>
                  <a:rPr lang="en-US" altLang="zh-TW" dirty="0" smtClean="0"/>
                  <a:t>​ </a:t>
                </a:r>
                <a:r>
                  <a:rPr lang="zh-TW" altLang="en-US" dirty="0" smtClean="0"/>
                  <a:t>會越小，但子表內部的變化可能增加，使 </a:t>
                </a:r>
                <a:r>
                  <a:rPr lang="en-US" altLang="zh-TW" i="0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i="0" kern="10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i="0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𝑠𝑡</a:t>
                </a: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需要更多位元。因此 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𝑤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sz="1200" b="0" i="0" kern="100" baseline="0" smtClean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𝑠</a:t>
                </a:r>
                <a:r>
                  <a:rPr lang="zh-TW" altLang="en-US" dirty="0" smtClean="0"/>
                  <a:t>必須經過搜尋，不能直接設得越大越好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7265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第二個方法是 </a:t>
                </a:r>
                <a:r>
                  <a:rPr lang="en-US" altLang="zh-TW" dirty="0"/>
                  <a:t>Self-Similarities</a:t>
                </a:r>
                <a:r>
                  <a:rPr lang="zh-TW" altLang="en-US" dirty="0"/>
                  <a:t>，也就是利用子表之間的自相似性。</a:t>
                </a:r>
              </a:p>
              <a:p>
                <a:r>
                  <a:rPr lang="zh-TW" altLang="en-US" dirty="0"/>
                  <a:t>作者觀察到，經過表格分解之後，不同子表的偏移數值可能具有相似的形狀。</a:t>
                </a:r>
              </a:p>
              <a:p>
                <a:r>
                  <a:rPr lang="zh-TW" altLang="en-US" dirty="0"/>
                  <a:t>某個子表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r>
                  <a:rPr lang="zh-TW" altLang="en-US" dirty="0"/>
                  <a:t>的內容是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6</a:t>
                </a:r>
                <a:r>
                  <a:rPr lang="zh-TW" altLang="en-US" dirty="0"/>
                  <a:t>。將它右移一個 </a:t>
                </a:r>
                <a:r>
                  <a:rPr lang="en-US" altLang="zh-TW" dirty="0"/>
                  <a:t>bit </a:t>
                </a:r>
                <a:r>
                  <a:rPr lang="zh-TW" altLang="en-US" dirty="0"/>
                  <a:t>後，可以得到另一個子表；右移兩個 </a:t>
                </a:r>
                <a:r>
                  <a:rPr lang="en-US" altLang="zh-TW" dirty="0"/>
                  <a:t>bit </a:t>
                </a:r>
                <a:r>
                  <a:rPr lang="zh-TW" altLang="en-US" dirty="0"/>
                  <a:t>或三個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，又可以得到其他子表。</a:t>
                </a:r>
              </a:p>
              <a:p>
                <a:r>
                  <a:rPr lang="zh-TW" altLang="en-US" dirty="0"/>
                  <a:t>因此，原本可能需要儲存四個不同子表，現在只需要儲存一個主要子表，再記錄每個子表要右移幾次即可。</a:t>
                </a:r>
              </a:p>
              <a:p>
                <a:r>
                  <a:rPr lang="zh-TW" altLang="en-US" dirty="0"/>
                  <a:t>作者建立三張新表。</a:t>
                </a:r>
              </a:p>
              <a:p>
                <a:r>
                  <a:rPr lang="zh-TW" altLang="en-US" dirty="0"/>
                  <a:t>第一張是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，用來儲存獨特子表。</a:t>
                </a:r>
              </a:p>
              <a:p>
                <a:r>
                  <a:rPr lang="zh-TW" altLang="en-US" dirty="0"/>
                  <a:t>第二張是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，用來記錄每個原始子表對應到哪一個獨特子表。</a:t>
                </a:r>
              </a:p>
              <a:p>
                <a:r>
                  <a:rPr lang="zh-TW" altLang="en-US" dirty="0"/>
                  <a:t>第三張是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，記錄還原時需要右移多少個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這裡使用的是算術右移，而且論文將右移範圍限制在 </a:t>
                </a:r>
                <a:r>
                  <a:rPr lang="en-US" altLang="zh-TW" dirty="0"/>
                  <a:t>0 </a:t>
                </a:r>
                <a:r>
                  <a:rPr lang="zh-TW" altLang="en-US" dirty="0"/>
                  <a:t>到 </a:t>
                </a:r>
                <a:r>
                  <a:rPr lang="en-US" altLang="zh-TW" dirty="0"/>
                  <a:t>3 bit</a:t>
                </a:r>
                <a:r>
                  <a:rPr lang="zh-TW" altLang="en-US" dirty="0"/>
                  <a:t>，因此位移資訊只需要兩個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第二個方法是 </a:t>
                </a:r>
                <a:r>
                  <a:rPr lang="en-US" altLang="zh-TW" dirty="0" smtClean="0"/>
                  <a:t>Self-Similarities</a:t>
                </a:r>
                <a:r>
                  <a:rPr lang="zh-TW" altLang="en-US" dirty="0" smtClean="0"/>
                  <a:t>，也就是利用子表之間的自相似性。</a:t>
                </a:r>
              </a:p>
              <a:p>
                <a:r>
                  <a:rPr lang="zh-TW" altLang="en-US" dirty="0" smtClean="0"/>
                  <a:t>作者觀察到，經過表格分解之後，不同子表的偏移數值可能具有相似的形狀。</a:t>
                </a:r>
              </a:p>
              <a:p>
                <a:r>
                  <a:rPr lang="zh-TW" altLang="en-US" dirty="0" smtClean="0"/>
                  <a:t>某個子表 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𝑆𝑇_14</a:t>
                </a:r>
                <a:r>
                  <a:rPr lang="zh-TW" altLang="en-US" dirty="0" smtClean="0"/>
                  <a:t>的內容是 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3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5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6</a:t>
                </a:r>
                <a:r>
                  <a:rPr lang="zh-TW" altLang="en-US" dirty="0" smtClean="0"/>
                  <a:t>。將它右移一個 </a:t>
                </a:r>
                <a:r>
                  <a:rPr lang="en-US" altLang="zh-TW" dirty="0" smtClean="0"/>
                  <a:t>bit </a:t>
                </a:r>
                <a:r>
                  <a:rPr lang="zh-TW" altLang="en-US" dirty="0" smtClean="0"/>
                  <a:t>後，可以得到另一個子表；右移兩個 </a:t>
                </a:r>
                <a:r>
                  <a:rPr lang="en-US" altLang="zh-TW" dirty="0" smtClean="0"/>
                  <a:t>bit </a:t>
                </a:r>
                <a:r>
                  <a:rPr lang="zh-TW" altLang="en-US" dirty="0" smtClean="0"/>
                  <a:t>或三個 </a:t>
                </a:r>
                <a:r>
                  <a:rPr lang="en-US" altLang="zh-TW" dirty="0" smtClean="0"/>
                  <a:t>bit</a:t>
                </a:r>
                <a:r>
                  <a:rPr lang="zh-TW" altLang="en-US" dirty="0" smtClean="0"/>
                  <a:t>，又可以得到其他子表。</a:t>
                </a:r>
              </a:p>
              <a:p>
                <a:r>
                  <a:rPr lang="zh-TW" altLang="en-US" dirty="0" smtClean="0"/>
                  <a:t>因此，原本可能需要儲存四個不同子表，現在只需要儲存一個主要子表，再記錄每個子表要右移幾次即可。</a:t>
                </a:r>
              </a:p>
              <a:p>
                <a:r>
                  <a:rPr lang="zh-TW" altLang="en-US" dirty="0" smtClean="0"/>
                  <a:t>作者建立三張新表。</a:t>
                </a:r>
              </a:p>
              <a:p>
                <a:r>
                  <a:rPr lang="zh-TW" altLang="en-US" dirty="0" smtClean="0"/>
                  <a:t>第一張是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</a:t>
                </a:r>
                <a:r>
                  <a:rPr lang="en-US" altLang="zh-TW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𝑢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𝑠𝑡</a:t>
                </a:r>
                <a:r>
                  <a:rPr lang="en-US" altLang="zh-TW" dirty="0" smtClean="0"/>
                  <a:t>​</a:t>
                </a:r>
                <a:r>
                  <a:rPr lang="zh-TW" altLang="en-US" dirty="0" smtClean="0"/>
                  <a:t>，用來儲存獨特子表。</a:t>
                </a:r>
              </a:p>
              <a:p>
                <a:r>
                  <a:rPr lang="zh-TW" altLang="en-US" dirty="0" smtClean="0"/>
                  <a:t>第二張是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</a:t>
                </a:r>
                <a:r>
                  <a:rPr lang="en-US" altLang="zh-TW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𝑖𝑑𝑥</a:t>
                </a:r>
                <a:r>
                  <a:rPr lang="en-US" altLang="zh-TW" dirty="0" smtClean="0"/>
                  <a:t>​</a:t>
                </a:r>
                <a:r>
                  <a:rPr lang="zh-TW" altLang="en-US" dirty="0" smtClean="0"/>
                  <a:t>，用來記錄每個原始子表對應到哪一個獨特子表。</a:t>
                </a:r>
              </a:p>
              <a:p>
                <a:r>
                  <a:rPr lang="zh-TW" altLang="en-US" dirty="0" smtClean="0"/>
                  <a:t>第三張是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</a:t>
                </a:r>
                <a:r>
                  <a:rPr lang="en-US" altLang="zh-TW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𝑟𝑠ℎ</a:t>
                </a:r>
                <a:r>
                  <a:rPr lang="en-US" altLang="zh-TW" dirty="0" smtClean="0"/>
                  <a:t>​</a:t>
                </a:r>
                <a:r>
                  <a:rPr lang="zh-TW" altLang="en-US" dirty="0" smtClean="0"/>
                  <a:t>，記錄還原時需要右移多少個 </a:t>
                </a:r>
                <a:r>
                  <a:rPr lang="en-US" altLang="zh-TW" dirty="0" smtClean="0"/>
                  <a:t>bit</a:t>
                </a:r>
                <a:r>
                  <a:rPr lang="zh-TW" altLang="en-US" dirty="0" smtClean="0"/>
                  <a:t>。</a:t>
                </a:r>
              </a:p>
              <a:p>
                <a:r>
                  <a:rPr lang="zh-TW" altLang="en-US" dirty="0" smtClean="0"/>
                  <a:t>這裡使用的是算術右移，而且論文將右移範圍限制在 </a:t>
                </a:r>
                <a:r>
                  <a:rPr lang="en-US" altLang="zh-TW" dirty="0" smtClean="0"/>
                  <a:t>0 </a:t>
                </a:r>
                <a:r>
                  <a:rPr lang="zh-TW" altLang="en-US" dirty="0" smtClean="0"/>
                  <a:t>到 </a:t>
                </a:r>
                <a:r>
                  <a:rPr lang="en-US" altLang="zh-TW" dirty="0" smtClean="0"/>
                  <a:t>3 bit</a:t>
                </a:r>
                <a:r>
                  <a:rPr lang="zh-TW" altLang="en-US" dirty="0" smtClean="0"/>
                  <a:t>，因此位移資訊只需要兩個 </a:t>
                </a:r>
                <a:r>
                  <a:rPr lang="en-US" altLang="zh-TW" dirty="0" smtClean="0"/>
                  <a:t>bit</a:t>
                </a:r>
                <a:r>
                  <a:rPr lang="zh-TW" altLang="en-US" dirty="0" smtClean="0"/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0374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前面兩種方法比較適合平滑且相鄰數值變化較小的</a:t>
                </a:r>
                <a:r>
                  <a:rPr lang="en-US" altLang="zh-TW" dirty="0"/>
                  <a:t>LUT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如果資料的動態範圍很大，相鄰數值差異也很大，偏移表所需要的位元數就會增加，而且不同子表之間也比較難找到自相似性。</a:t>
                </a:r>
              </a:p>
              <a:p>
                <a:r>
                  <a:rPr lang="zh-TW" altLang="en-US" dirty="0"/>
                  <a:t>因此作者提出 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作法是將每一筆資料分成高位元與低位元。低位元存入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，這一部分不壓縮；高位元則存入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h𝑏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，再對高位元執行前面的分解和自相似性壓縮。</a:t>
                </a:r>
              </a:p>
              <a:p>
                <a:r>
                  <a:rPr lang="zh-TW" altLang="en-US" dirty="0"/>
                  <a:t>這樣做的原因是，低位元通常包含較多細微跳動。移除低位元後，高位元資料的曲線會變得比較平滑，因此更容易壓縮。</a:t>
                </a:r>
              </a:p>
              <a:p>
                <a:endParaRPr lang="zh-TW" altLang="en-US" dirty="0"/>
              </a:p>
              <a:p>
                <a:r>
                  <a:rPr lang="zh-TW" altLang="en-US" dirty="0"/>
                  <a:t>另一個方法是 </a:t>
                </a:r>
                <a:r>
                  <a:rPr lang="en-US" altLang="zh-TW" dirty="0"/>
                  <a:t>Multilevel Compression</a:t>
                </a:r>
                <a:r>
                  <a:rPr lang="zh-TW" altLang="en-US" dirty="0"/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本身也是一張查找表，所以可以再對它執行相同的壓縮流程。</a:t>
                </a:r>
              </a:p>
              <a:p>
                <a:r>
                  <a:rPr lang="zh-TW" altLang="en-US" dirty="0"/>
                  <a:t>這可以進一步縮小記憶體，但也會增加巢狀解碼器的硬體成本與延遲，因此必須在壓縮率和解碼成本之間取得平衡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9EAD5C-680C-85BB-2A5F-8BA4C85501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前面兩種方法比較適合平滑且相鄰數值變化較小的</a:t>
                </a:r>
                <a:r>
                  <a:rPr lang="en-US" altLang="zh-TW" dirty="0" smtClean="0"/>
                  <a:t>LUT</a:t>
                </a:r>
                <a:r>
                  <a:rPr lang="zh-TW" altLang="en-US" dirty="0" smtClean="0"/>
                  <a:t>。</a:t>
                </a:r>
              </a:p>
              <a:p>
                <a:r>
                  <a:rPr lang="zh-TW" altLang="en-US" dirty="0" smtClean="0"/>
                  <a:t>如果資料的動態範圍很大，相鄰數值差異也很大，偏移表所需要的位元數就會增加，而且不同子表之間也比較難找到自相似性。</a:t>
                </a:r>
              </a:p>
              <a:p>
                <a:r>
                  <a:rPr lang="zh-TW" altLang="en-US" dirty="0" smtClean="0"/>
                  <a:t>因此作者提出 </a:t>
                </a:r>
                <a:r>
                  <a:rPr lang="en-US" altLang="zh-TW" dirty="0" smtClean="0"/>
                  <a:t>Higher-Bit Compression</a:t>
                </a:r>
                <a:r>
                  <a:rPr lang="zh-TW" altLang="en-US" dirty="0" smtClean="0"/>
                  <a:t>。</a:t>
                </a:r>
              </a:p>
              <a:p>
                <a:r>
                  <a:rPr lang="zh-TW" altLang="en-US" dirty="0" smtClean="0"/>
                  <a:t>作法是將每一筆資料分成高位元與低位元。低位元存入 </a:t>
                </a:r>
                <a:r>
                  <a:rPr lang="en-US" altLang="zh-TW" i="0">
                    <a:latin typeface="Cambria Math" panose="02040503050406030204" pitchFamily="18" charset="0"/>
                  </a:rPr>
                  <a:t>T</a:t>
                </a:r>
                <a:r>
                  <a:rPr lang="en-US" altLang="zh-TW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b="0" i="0" smtClean="0">
                    <a:latin typeface="Cambria Math" panose="02040503050406030204" pitchFamily="18" charset="0"/>
                  </a:rPr>
                  <a:t>𝑙𝑏</a:t>
                </a:r>
                <a:r>
                  <a:rPr lang="en-US" altLang="zh-TW" dirty="0" smtClean="0"/>
                  <a:t>​</a:t>
                </a:r>
                <a:r>
                  <a:rPr lang="zh-TW" altLang="en-US" dirty="0" smtClean="0"/>
                  <a:t>，這一部分不壓縮；高位元則存入 </a:t>
                </a:r>
                <a:r>
                  <a:rPr lang="en-US" altLang="zh-TW" b="0" i="0" kern="100" smtClean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b="0" i="0" kern="100" smtClean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b="0" i="0" kern="100" smtClean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ℎ𝑏</a:t>
                </a:r>
                <a:r>
                  <a:rPr lang="en-US" altLang="zh-TW" dirty="0" smtClean="0"/>
                  <a:t>​</a:t>
                </a:r>
                <a:r>
                  <a:rPr lang="zh-TW" altLang="en-US" dirty="0" smtClean="0"/>
                  <a:t>，再對高位元執行前面的分解和自相似性壓縮。</a:t>
                </a:r>
              </a:p>
              <a:p>
                <a:r>
                  <a:rPr lang="zh-TW" altLang="en-US" dirty="0" smtClean="0"/>
                  <a:t>這樣做的原因是，低位元通常包含較多細微跳動。移除低位元後，高位元資料的曲線會變得比較平滑，因此更容易壓縮。</a:t>
                </a:r>
              </a:p>
              <a:p>
                <a:endParaRPr lang="zh-TW" altLang="en-US" dirty="0" smtClean="0"/>
              </a:p>
              <a:p>
                <a:r>
                  <a:rPr lang="zh-TW" altLang="en-US" dirty="0" smtClean="0"/>
                  <a:t>另一個方法是 </a:t>
                </a:r>
                <a:r>
                  <a:rPr lang="en-US" altLang="zh-TW" dirty="0" smtClean="0"/>
                  <a:t>Multilevel Compression</a:t>
                </a:r>
                <a:r>
                  <a:rPr lang="zh-TW" altLang="en-US" dirty="0" smtClean="0"/>
                  <a:t>。</a:t>
                </a:r>
                <a:r>
                  <a:rPr lang="en-US" altLang="zh-TW" i="0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</a:t>
                </a:r>
                <a:r>
                  <a:rPr lang="en-US" altLang="zh-TW" i="0" kern="10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_</a:t>
                </a:r>
                <a:r>
                  <a:rPr lang="en-US" altLang="zh-TW" i="0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𝑏𝑖𝑎𝑠</a:t>
                </a:r>
                <a:r>
                  <a:rPr lang="en-US" altLang="zh-TW" dirty="0" smtClean="0"/>
                  <a:t>​ </a:t>
                </a:r>
                <a:r>
                  <a:rPr lang="zh-TW" altLang="en-US" dirty="0" smtClean="0"/>
                  <a:t>本身也是一張查找表，所以可以再對它執行相同的壓縮流程。</a:t>
                </a:r>
              </a:p>
              <a:p>
                <a:r>
                  <a:rPr lang="zh-TW" altLang="en-US" dirty="0" smtClean="0"/>
                  <a:t>這可以進一步縮小記憶體，但也會增加巢狀解碼器的硬體成本與延遲，因此必須在壓縮率和解碼成本之間取得平衡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8539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246F-C154-7252-3C5D-52CFBE79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3372B1-C326-3F9C-D7A0-232864C10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9EAD5C-680C-85BB-2A5F-8BA4C85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圖 </a:t>
            </a:r>
            <a:r>
              <a:rPr lang="en-US" altLang="zh-TW" dirty="0"/>
              <a:t>4 </a:t>
            </a:r>
            <a:r>
              <a:rPr lang="zh-TW" altLang="en-US" dirty="0"/>
              <a:t>是 </a:t>
            </a:r>
            <a:r>
              <a:rPr lang="en-US" altLang="zh-TW" dirty="0" err="1"/>
              <a:t>CompressedLUT</a:t>
            </a:r>
            <a:r>
              <a:rPr lang="en-US" altLang="zh-TW" dirty="0"/>
              <a:t> </a:t>
            </a:r>
            <a:r>
              <a:rPr lang="zh-TW" altLang="en-US" dirty="0"/>
              <a:t>壓縮後查找表的整體硬體架構，其核心功能是根據輸入位址，從五張壓縮表中還原原始查找表的輸出值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圖 </a:t>
            </a:r>
            <a:r>
              <a:rPr lang="en-US" altLang="zh-TW" dirty="0"/>
              <a:t>4 </a:t>
            </a:r>
            <a:r>
              <a:rPr lang="zh-TW" altLang="en-US" dirty="0"/>
              <a:t>則呈現這五張表在硬體中的整體查表與還原架構。運行時僅需輸入查找位址，系統便能透過索引、算術右移、偏移值相加及高低位元串接，無損重建原始表格 </a:t>
            </a:r>
            <a:r>
              <a:rPr lang="en-US" altLang="zh-TW" dirty="0"/>
              <a:t>T</a:t>
            </a:r>
            <a:r>
              <a:rPr lang="zh-TW" altLang="en-US" dirty="0"/>
              <a:t> 的輸出值。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6E9112-D299-352D-CA15-75273725D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74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dirty="0"/>
              <a:t>第一，</a:t>
            </a:r>
            <a:r>
              <a:rPr lang="en-US" altLang="zh-TW" dirty="0" err="1"/>
              <a:t>CompressedLUT</a:t>
            </a:r>
            <a:r>
              <a:rPr lang="en-US" altLang="zh-TW" dirty="0"/>
              <a:t> </a:t>
            </a:r>
            <a:r>
              <a:rPr lang="zh-TW" altLang="en-US" dirty="0"/>
              <a:t>不只是讓儲存資料變小。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dirty="0"/>
              <a:t>第二，它加入解碼電路後，整體 </a:t>
            </a:r>
            <a:r>
              <a:rPr lang="en-US" altLang="zh-TW" dirty="0"/>
              <a:t>FPGA </a:t>
            </a:r>
            <a:r>
              <a:rPr lang="zh-TW" altLang="en-US" dirty="0"/>
              <a:t>面積與單位面積吞吐量仍然比其他方法更好。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TW" dirty="0"/>
              <a:t>Experimental Results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PlainTable</a:t>
            </a:r>
            <a:r>
              <a:rPr lang="en-US" altLang="zh-TW" dirty="0"/>
              <a:t> </a:t>
            </a:r>
            <a:r>
              <a:rPr lang="zh-TW" altLang="en-US" dirty="0"/>
              <a:t>表示未經壓縮的普通表格。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TwoTable</a:t>
            </a:r>
            <a:r>
              <a:rPr lang="ja-JP" altLang="en-US" dirty="0"/>
              <a:t>　</a:t>
            </a:r>
            <a:r>
              <a:rPr lang="zh-TW" altLang="en-US" dirty="0"/>
              <a:t>將 </a:t>
            </a:r>
            <a:r>
              <a:rPr lang="en-US" altLang="zh-TW" dirty="0"/>
              <a:t>LUT </a:t>
            </a:r>
            <a:r>
              <a:rPr lang="zh-TW" altLang="en-US" dirty="0"/>
              <a:t>分解成兩張表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ja-JP" kern="100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LDTC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另一種無損壓縮方法。</a:t>
            </a:r>
            <a:endParaRPr lang="en-US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</a:t>
            </a:r>
            <a:r>
              <a:rPr lang="zh-TW" altLang="en-US" dirty="0"/>
              <a:t>「</a:t>
            </a:r>
            <a:r>
              <a:rPr lang="en-US" altLang="zh-TW" dirty="0"/>
              <a:t>Initial Size</a:t>
            </a:r>
            <a:r>
              <a:rPr lang="zh-TW" altLang="en-US" dirty="0"/>
              <a:t>」與「</a:t>
            </a:r>
            <a:r>
              <a:rPr lang="en-US" altLang="zh-TW" dirty="0"/>
              <a:t>Final Size</a:t>
            </a:r>
            <a:r>
              <a:rPr lang="zh-TW" altLang="en-US" dirty="0"/>
              <a:t>」分別表示壓縮前後的總位元數；</a:t>
            </a:r>
            <a:endParaRPr lang="en-US" altLang="zh-TW" dirty="0"/>
          </a:p>
          <a:p>
            <a:r>
              <a:rPr lang="zh-TW" altLang="en-US" dirty="0"/>
              <a:t>右半部：</a:t>
            </a:r>
            <a:r>
              <a:rPr lang="en-US" altLang="zh-TW" dirty="0"/>
              <a:t>FPGA </a:t>
            </a:r>
            <a:r>
              <a:rPr lang="zh-TW" altLang="en-US" dirty="0"/>
              <a:t>硬體成本</a:t>
            </a:r>
            <a:endParaRPr lang="en-US" altLang="zh-TW" dirty="0"/>
          </a:p>
          <a:p>
            <a:r>
              <a:rPr lang="zh-TW" altLang="en-US" dirty="0"/>
              <a:t>這裡的 </a:t>
            </a:r>
            <a:r>
              <a:rPr lang="en-US" altLang="zh-TW" dirty="0"/>
              <a:t>LUT </a:t>
            </a:r>
            <a:r>
              <a:rPr lang="zh-TW" altLang="en-US" dirty="0"/>
              <a:t>不是論文要壓縮的「查找表資料」，而是 </a:t>
            </a:r>
            <a:r>
              <a:rPr lang="en-US" altLang="zh-TW" dirty="0"/>
              <a:t>FPGA </a:t>
            </a:r>
            <a:r>
              <a:rPr lang="zh-TW" altLang="en-US" dirty="0"/>
              <a:t>裡面的 </a:t>
            </a:r>
            <a:r>
              <a:rPr lang="zh-TW" altLang="en-US" b="1" dirty="0"/>
              <a:t>硬體邏輯 </a:t>
            </a:r>
            <a:r>
              <a:rPr lang="en-US" altLang="zh-TW" b="1" dirty="0"/>
              <a:t>LUT </a:t>
            </a:r>
            <a:r>
              <a:rPr lang="zh-TW" altLang="en-US" b="1" dirty="0"/>
              <a:t>資源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Throughput Per Slice</a:t>
            </a:r>
            <a:r>
              <a:rPr lang="zh-TW" altLang="en-US" dirty="0"/>
              <a:t>，每個 </a:t>
            </a:r>
            <a:r>
              <a:rPr lang="en-US" altLang="zh-TW" dirty="0"/>
              <a:t>Slice </a:t>
            </a:r>
            <a:r>
              <a:rPr lang="zh-TW" altLang="en-US" dirty="0"/>
              <a:t>所能提供的吞吐量。</a:t>
            </a:r>
            <a:endParaRPr lang="en-US" altLang="zh-TW" b="1" dirty="0"/>
          </a:p>
          <a:p>
            <a:r>
              <a:rPr lang="en-US" altLang="zh-TW" dirty="0"/>
              <a:t>Slice </a:t>
            </a:r>
            <a:r>
              <a:rPr lang="zh-TW" altLang="en-US" dirty="0"/>
              <a:t>是 </a:t>
            </a:r>
            <a:r>
              <a:rPr lang="en-US" altLang="zh-TW" dirty="0"/>
              <a:t>FPGA </a:t>
            </a:r>
            <a:r>
              <a:rPr lang="zh-TW" altLang="en-US" dirty="0"/>
              <a:t>的基本邏輯資源區塊，通常包含：</a:t>
            </a:r>
            <a:endParaRPr lang="zh-TW" altLang="en-US" i="1" dirty="0"/>
          </a:p>
          <a:p>
            <a:r>
              <a:rPr lang="en-US" altLang="zh-TW" dirty="0"/>
              <a:t>LUT </a:t>
            </a:r>
          </a:p>
          <a:p>
            <a:r>
              <a:rPr lang="en-US" altLang="zh-TW" dirty="0"/>
              <a:t>Flip-Flop </a:t>
            </a:r>
          </a:p>
          <a:p>
            <a:r>
              <a:rPr lang="en-US" altLang="zh-TW" dirty="0"/>
              <a:t>Carry logic </a:t>
            </a:r>
          </a:p>
          <a:p>
            <a:r>
              <a:rPr lang="zh-TW" altLang="en-US" dirty="0"/>
              <a:t>其他局部邏輯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608A6-0059-4082-A02C-C2419BF3510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010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608A6-0059-4082-A02C-C2419BF3510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081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05DCE-62EC-4531-AF54-38F9A75C0BF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31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812B88-C5E2-4C8A-BAB4-C3DA7FA48A37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6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79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15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84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91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43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80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1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11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40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257B5F81-804A-4AE6-93FA-493871E2E752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FA812B88-C5E2-4C8A-BAB4-C3DA7FA48A37}" type="slidenum">
              <a:rPr lang="zh-TW" altLang="en-US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227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00FF"/>
              </a:buClr>
              <a:buFont typeface="Wingdings" panose="05000000000000000000" pitchFamily="2" charset="2"/>
              <a:buNone/>
              <a:defRPr sz="18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1A03C276-8C1F-494E-9C7D-985F19AE6953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6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D95B412B-6583-4023-A687-8E58222D9204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12803" y="502506"/>
            <a:ext cx="10769600" cy="533400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rgbClr val="00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2400"/>
              <a:t>按一下以編輯母片標題樣式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84801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00FF"/>
              </a:buClr>
              <a:buFont typeface="Wingdings" panose="05000000000000000000" pitchFamily="2" charset="2"/>
              <a:buNone/>
              <a:defRPr sz="18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1A03C276-8C1F-494E-9C7D-985F19AE6953}" type="datetimeFigureOut">
              <a:rPr lang="zh-TW" altLang="en-US" smtClean="0">
                <a:solidFill>
                  <a:prstClr val="black"/>
                </a:solidFill>
              </a:rPr>
              <a:pPr/>
              <a:t>2026/7/28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6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D95B412B-6583-4023-A687-8E58222D9204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12803" y="502506"/>
            <a:ext cx="10769600" cy="533400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rgbClr val="00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sz="2400"/>
              <a:t>按一下以編輯母片標題樣式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02177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750280" y="609600"/>
            <a:ext cx="9941169" cy="533400"/>
          </a:xfrm>
        </p:spPr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750277" y="1447800"/>
            <a:ext cx="9847385" cy="4800600"/>
          </a:xfrm>
        </p:spPr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443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880533" y="609600"/>
            <a:ext cx="1166706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7" name="Line 3075"/>
          <p:cNvSpPr>
            <a:spLocks noChangeShapeType="1"/>
          </p:cNvSpPr>
          <p:nvPr/>
        </p:nvSpPr>
        <p:spPr bwMode="auto">
          <a:xfrm>
            <a:off x="550338" y="533400"/>
            <a:ext cx="11432975" cy="12006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TW" altLang="en-US" sz="2045">
              <a:solidFill>
                <a:srgbClr val="000000"/>
              </a:solidFill>
              <a:ea typeface="新細明體"/>
            </a:endParaRPr>
          </a:p>
        </p:txBody>
      </p:sp>
      <p:sp>
        <p:nvSpPr>
          <p:cNvPr id="18" name="Line 3076"/>
          <p:cNvSpPr>
            <a:spLocks noChangeShapeType="1"/>
          </p:cNvSpPr>
          <p:nvPr/>
        </p:nvSpPr>
        <p:spPr bwMode="auto">
          <a:xfrm flipH="1">
            <a:off x="770467" y="228600"/>
            <a:ext cx="0" cy="990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TW" altLang="en-US" sz="2045">
              <a:solidFill>
                <a:srgbClr val="000000"/>
              </a:solidFill>
              <a:ea typeface="新細明體"/>
            </a:endParaRPr>
          </a:p>
        </p:txBody>
      </p:sp>
      <p:sp>
        <p:nvSpPr>
          <p:cNvPr id="19" name="Line 3077"/>
          <p:cNvSpPr>
            <a:spLocks noChangeShapeType="1"/>
          </p:cNvSpPr>
          <p:nvPr/>
        </p:nvSpPr>
        <p:spPr bwMode="auto">
          <a:xfrm flipV="1">
            <a:off x="605367" y="6418143"/>
            <a:ext cx="11322908" cy="883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TW" altLang="en-US" sz="2045">
              <a:solidFill>
                <a:srgbClr val="000000"/>
              </a:solidFill>
              <a:ea typeface="新細明體"/>
            </a:endParaRPr>
          </a:p>
        </p:txBody>
      </p:sp>
      <p:sp>
        <p:nvSpPr>
          <p:cNvPr id="20" name="Rectangle 3089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0533" y="1447800"/>
            <a:ext cx="11557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  <a:endParaRPr lang="en-US" altLang="zh-TW"/>
          </a:p>
          <a:p>
            <a:pPr lvl="1"/>
            <a:r>
              <a:rPr lang="zh-TW" altLang="en-US"/>
              <a:t>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8561916" y="6530983"/>
            <a:ext cx="1090085" cy="26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>
              <a:defRPr/>
            </a:pPr>
            <a:fld id="{4A053E2E-EB5D-4230-AB2C-1415CAEED743}" type="slidenum">
              <a:rPr lang="en-US" altLang="zh-TW" sz="1108">
                <a:solidFill>
                  <a:srgbClr val="000000"/>
                </a:solidFill>
              </a:rPr>
              <a:pPr algn="r">
                <a:defRPr/>
              </a:pPr>
              <a:t>‹#›</a:t>
            </a:fld>
            <a:endParaRPr lang="en-US" altLang="zh-TW" sz="1108" dirty="0">
              <a:solidFill>
                <a:srgbClr val="000000"/>
              </a:solidFill>
            </a:endParaRPr>
          </a:p>
        </p:txBody>
      </p:sp>
      <p:pic>
        <p:nvPicPr>
          <p:cNvPr id="22" name="圖片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3" y="6446838"/>
            <a:ext cx="2436284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4"/>
          <p:cNvPicPr>
            <a:picLocks noChangeAspect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5503" y="115888"/>
            <a:ext cx="977900" cy="3746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5"/>
          <p:cNvPicPr>
            <a:picLocks noChangeAspect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9563103" y="6446838"/>
            <a:ext cx="2628900" cy="41116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32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583184"/>
            <a:ext cx="9144000" cy="1655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cs typeface="Calibri" panose="020F0502020204030204" pitchFamily="34" charset="0"/>
              </a:rPr>
              <a:t>Presenter</a:t>
            </a:r>
            <a:r>
              <a:rPr lang="zh-TW" altLang="en-US" dirty="0">
                <a:cs typeface="Calibri" panose="020F0502020204030204" pitchFamily="34" charset="0"/>
              </a:rPr>
              <a:t>：</a:t>
            </a:r>
            <a:r>
              <a:rPr lang="en-US" altLang="zh-TW" dirty="0">
                <a:cs typeface="Calibri" panose="020F0502020204030204" pitchFamily="34" charset="0"/>
              </a:rPr>
              <a:t>CHENG-YUAN, LIEW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cs typeface="Calibri" panose="020F0502020204030204" pitchFamily="34" charset="0"/>
              </a:rPr>
              <a:t>Advisor : Chung-An </a:t>
            </a:r>
            <a:r>
              <a:rPr lang="en-US" altLang="zh-TW" dirty="0" err="1">
                <a:cs typeface="Calibri" panose="020F0502020204030204" pitchFamily="34" charset="0"/>
              </a:rPr>
              <a:t>Shen</a:t>
            </a:r>
            <a:endParaRPr lang="en-US" altLang="zh-TW" dirty="0">
              <a:cs typeface="Calibri" panose="020F0502020204030204" pitchFamily="34" charset="0"/>
            </a:endParaRPr>
          </a:p>
          <a:p>
            <a:endParaRPr lang="zh-TW" alt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1C66CF4-BCEC-4D9B-B050-4D09CF151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543" y="4915338"/>
            <a:ext cx="5440913" cy="944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TW" sz="1846" dirty="0">
                <a:solidFill>
                  <a:srgbClr val="3333FF"/>
                </a:solidFill>
                <a:latin typeface="Times New Roman"/>
                <a:ea typeface="華康中楷體" pitchFamily="49" charset="-120"/>
                <a:cs typeface="Calibri" panose="020F0502020204030204" pitchFamily="34" charset="0"/>
              </a:rPr>
              <a:t>Department of Electronic and Computer Engineering</a:t>
            </a:r>
          </a:p>
          <a:p>
            <a:pPr algn="ctr">
              <a:lnSpc>
                <a:spcPct val="150000"/>
              </a:lnSpc>
            </a:pPr>
            <a:r>
              <a:rPr lang="en-US" altLang="zh-TW" sz="1846" dirty="0">
                <a:solidFill>
                  <a:srgbClr val="3333FF"/>
                </a:solidFill>
                <a:latin typeface="Times New Roman"/>
                <a:ea typeface="華康中楷體" pitchFamily="49" charset="-120"/>
                <a:cs typeface="Calibri" panose="020F0502020204030204" pitchFamily="34" charset="0"/>
              </a:rPr>
              <a:t>National Taiwan University of Science and Technology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2A9C659A-21EC-6E9F-9C1C-C9F77D700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278" y="1371601"/>
            <a:ext cx="10363200" cy="16702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醫療顯示器 </a:t>
            </a:r>
            <a:r>
              <a:rPr lang="en-US" altLang="zh-TW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RGB Gamma LUT </a:t>
            </a:r>
            <a:r>
              <a:rPr lang="zh-TW" altLang="en-US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無損壓縮之初步研究</a:t>
            </a:r>
            <a:br>
              <a:rPr lang="en-US" altLang="zh-TW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</a:br>
            <a:r>
              <a:rPr lang="en-US" altLang="zh-TW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Based on </a:t>
            </a:r>
            <a:r>
              <a:rPr lang="en-US" altLang="zh-TW" sz="3600" b="1" dirty="0" err="1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CompressedLUT</a:t>
            </a:r>
            <a:r>
              <a:rPr lang="en-US" altLang="zh-TW" sz="3600" b="1" dirty="0">
                <a:solidFill>
                  <a:srgbClr val="0000FF"/>
                </a:solidFill>
                <a:latin typeface="+mn-ea"/>
                <a:ea typeface="+mn-ea"/>
                <a:cs typeface="Arial Unicode MS" panose="020B0604020202020204" pitchFamily="34" charset="-128"/>
              </a:rPr>
              <a:t> Methodology</a:t>
            </a:r>
            <a:endParaRPr lang="zh-TW" altLang="en-US" sz="3600" b="1" dirty="0">
              <a:solidFill>
                <a:srgbClr val="0000FF"/>
              </a:solidFill>
              <a:latin typeface="+mn-ea"/>
              <a:ea typeface="+mn-ea"/>
              <a:cs typeface="Arial Unicode MS" panose="020B0604020202020204" pitchFamily="34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59446B-FBD9-82A3-EAB4-BA880B0DD593}"/>
              </a:ext>
            </a:extLst>
          </p:cNvPr>
          <p:cNvSpPr txBox="1"/>
          <p:nvPr/>
        </p:nvSpPr>
        <p:spPr>
          <a:xfrm>
            <a:off x="1629878" y="6401148"/>
            <a:ext cx="970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0" i="0" dirty="0">
                <a:solidFill>
                  <a:srgbClr val="333333"/>
                </a:solidFill>
                <a:effectLst/>
                <a:latin typeface="HelveticaNeue Regular"/>
              </a:rPr>
              <a:t>L. Lu et al., "</a:t>
            </a:r>
            <a:r>
              <a:rPr lang="en-US" altLang="zh-TW" sz="1200" b="0" i="0" dirty="0" err="1">
                <a:solidFill>
                  <a:srgbClr val="333333"/>
                </a:solidFill>
                <a:effectLst/>
                <a:latin typeface="HelveticaNeue Regular"/>
              </a:rPr>
              <a:t>Rubick</a:t>
            </a:r>
            <a:r>
              <a:rPr lang="en-US" altLang="zh-TW" sz="1200" b="0" i="0" dirty="0">
                <a:solidFill>
                  <a:srgbClr val="333333"/>
                </a:solidFill>
                <a:effectLst/>
                <a:latin typeface="HelveticaNeue Regular"/>
              </a:rPr>
              <a:t>: A Unified Infrastructure for Analyzing, Exploring, and Implementing Spatial Architectures via Dataflow Decomposition," in IEEE Transactions on Computer-Aided Design of Integrated Circuits and Systems, vol. 43, no. 4, pp. 1177-1190, April 2024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1297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C769D4EA-3FA1-400C-B1E6-C3DC142CC320}"/>
              </a:ext>
            </a:extLst>
          </p:cNvPr>
          <p:cNvSpPr txBox="1">
            <a:spLocks/>
          </p:cNvSpPr>
          <p:nvPr/>
        </p:nvSpPr>
        <p:spPr bwMode="auto">
          <a:xfrm>
            <a:off x="776213" y="704187"/>
            <a:ext cx="7886700" cy="52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5" name="AutoShape 4" descr="The illustration of (a) Tucker decomposition and (b) CP factorization... |  Download Scientific Diagram"/>
          <p:cNvSpPr>
            <a:spLocks noChangeAspect="1" noChangeArrowheads="1"/>
          </p:cNvSpPr>
          <p:nvPr/>
        </p:nvSpPr>
        <p:spPr bwMode="auto">
          <a:xfrm>
            <a:off x="681620" y="106531"/>
            <a:ext cx="6047262" cy="604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8552171-BE03-D75C-CE4A-AC1FEDCCB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793"/>
            <a:ext cx="10515600" cy="3209919"/>
          </a:xfrm>
        </p:spPr>
        <p:txBody>
          <a:bodyPr/>
          <a:lstStyle/>
          <a:p>
            <a:pPr marL="28576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TW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28576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zh-TW" dirty="0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Background &amp; Existing System</a:t>
            </a:r>
          </a:p>
          <a:p>
            <a:pPr marL="28576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zh-TW" dirty="0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Problem Definition</a:t>
            </a:r>
          </a:p>
          <a:p>
            <a:pPr marL="28576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zh-TW" dirty="0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Related Work ( </a:t>
            </a:r>
            <a:r>
              <a:rPr kumimoji="1" lang="en-US" altLang="zh-TW" dirty="0" err="1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CompressedLUT</a:t>
            </a:r>
            <a:r>
              <a:rPr kumimoji="1" lang="en-US" altLang="zh-TW" dirty="0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)</a:t>
            </a:r>
          </a:p>
          <a:p>
            <a:pPr marL="285761" indent="-28575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Char char="u"/>
              <a:defRPr/>
            </a:pPr>
            <a:r>
              <a:rPr kumimoji="1" lang="en-US" altLang="zh-TW" dirty="0">
                <a:solidFill>
                  <a:srgbClr val="0000FF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Comparison</a:t>
            </a:r>
            <a:endParaRPr lang="zh-TW" alt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1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827690" y="1143000"/>
            <a:ext cx="107284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TW" b="1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Gamma</a:t>
            </a:r>
            <a:r>
              <a:rPr lang="zh-TW" altLang="en-US" b="1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endParaRPr lang="en-US" altLang="zh-TW" sz="2000" b="1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用於描述顯示器輸入灰階值與輸出亮度之間的非線性關係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在理想線性系統中，輸入訊號增加時，輸出亮度會等比例增加；但實際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TFT-LCD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顯示器受到液晶透光率、背光特性與驅動電路影響，輸入灰階與輸出亮度通常呈現非線性響應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因此，校正系統需根據目標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曲線產生對應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LUT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，使校正後之灰階亮度分布接近目標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響應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620973"/>
            <a:ext cx="8077200" cy="533400"/>
          </a:xfrm>
        </p:spPr>
        <p:txBody>
          <a:bodyPr/>
          <a:lstStyle/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Introduction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6544FF-4B89-E847-9789-40E4C359B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zh-TW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TW" altLang="zh-TW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3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Background &amp; Existing System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C99D2-E7DF-422F-B088-F54E7797711C}"/>
              </a:ext>
            </a:extLst>
          </p:cNvPr>
          <p:cNvSpPr txBox="1"/>
          <p:nvPr/>
        </p:nvSpPr>
        <p:spPr>
          <a:xfrm>
            <a:off x="480848" y="1143000"/>
            <a:ext cx="70393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色彩校正流程總覽</a:t>
            </a:r>
            <a:endParaRPr lang="en-US" altLang="zh-TW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建立目標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Gamma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或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DICOM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曲線。</a:t>
            </a:r>
            <a:endParaRPr lang="en-US" altLang="zh-TW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使用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Color Vector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分配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RGB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目標亮度。</a:t>
            </a:r>
            <a:endParaRPr lang="en-US" altLang="zh-TW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從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Native RGB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曲線反查對應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code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產生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256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筆、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RGB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三通道、每通道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14-bit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的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dirty="0">
              <a:latin typeface="+mj-lt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將完整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LUT 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寫入 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AD Board</a:t>
            </a:r>
            <a:r>
              <a:rPr lang="zh-TW" altLang="en-US" dirty="0">
                <a:latin typeface="+mj-lt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91" name="圖片 90">
            <a:extLst>
              <a:ext uri="{FF2B5EF4-FFF2-40B4-BE49-F238E27FC236}">
                <a16:creationId xmlns:a16="http://schemas.microsoft.com/office/drawing/2014/main" id="{A1917B7B-C706-E9E0-14DC-E2F96842E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047" y="719447"/>
            <a:ext cx="3158840" cy="528596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311761" y="3983801"/>
            <a:ext cx="3224126" cy="97282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41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Background &amp; Existing System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C99D2-E7DF-422F-B088-F54E7797711C}"/>
              </a:ext>
            </a:extLst>
          </p:cNvPr>
          <p:cNvSpPr txBox="1"/>
          <p:nvPr/>
        </p:nvSpPr>
        <p:spPr>
          <a:xfrm>
            <a:off x="750280" y="1143000"/>
            <a:ext cx="703930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+mn-ea"/>
                <a:cs typeface="Arial" panose="020B0604020202020204" pitchFamily="34" charset="0"/>
              </a:rPr>
              <a:t>基於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Native RGB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響應反查之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Gamma LUT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產生方法</a:t>
            </a:r>
            <a:endParaRPr lang="en-US" altLang="zh-TW" b="1" dirty="0">
              <a:latin typeface="+mn-ea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dirty="0">
                <a:latin typeface="+mn-ea"/>
                <a:cs typeface="Arial" panose="020B0604020202020204" pitchFamily="34" charset="0"/>
              </a:rPr>
              <a:t>第一步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: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建立目標 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Gamma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(1.8 or 2.2)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總亮度。</a:t>
            </a:r>
            <a:endParaRPr lang="en-US" altLang="zh-TW" dirty="0">
              <a:latin typeface="+mn-ea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n-ea"/>
              </a:rPr>
              <a:t>輸入灰階 </a:t>
            </a:r>
            <a:r>
              <a:rPr lang="en-US" altLang="zh-TW" dirty="0">
                <a:latin typeface="+mn-ea"/>
              </a:rPr>
              <a:t>k=0,…,255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42310" y="2624667"/>
              <a:ext cx="5674710" cy="16289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1229468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255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𝑡𝑎𝑟𝑔𝑒𝑡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TW" sz="2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en-US" altLang="zh-TW" sz="2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42310" y="2624667"/>
              <a:ext cx="5674710" cy="16289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162890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7EC99D2-E7DF-422F-B088-F54E7797711C}"/>
                  </a:ext>
                </a:extLst>
              </p:cNvPr>
              <p:cNvSpPr txBox="1"/>
              <p:nvPr/>
            </p:nvSpPr>
            <p:spPr>
              <a:xfrm>
                <a:off x="750280" y="4396409"/>
                <a:ext cx="7039304" cy="1788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zh-TW" altLang="en-US" dirty="0">
                    <a:ea typeface="標楷體" panose="03000509000000000000" pitchFamily="65" charset="-120"/>
                    <a:cs typeface="Arial" panose="020B0604020202020204" pitchFamily="34" charset="0"/>
                  </a:rPr>
                  <a:t>其中</a:t>
                </a:r>
                <a:r>
                  <a:rPr lang="en-US" altLang="zh-TW" dirty="0">
                    <a:ea typeface="標楷體" panose="03000509000000000000" pitchFamily="65" charset="-120"/>
                    <a:cs typeface="Arial" panose="020B0604020202020204" pitchFamily="34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</m:sSub>
                    <m:r>
                      <a:rPr lang="zh-TW" altLang="en-US" i="1" kern="10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該目標色溫下的最大亮度</a:t>
                </a:r>
                <a:endParaRPr lang="en-US" altLang="zh-TW" i="1" kern="100" dirty="0">
                  <a:latin typeface="Cambria Math" panose="020405030504060302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zh-TW" altLang="en-US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目標的</a:t>
                </a:r>
                <a:r>
                  <a:rPr lang="en-US" altLang="zh-TW" dirty="0"/>
                  <a:t>Gamma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US" altLang="zh-TW" dirty="0"/>
                  <a:t> :</a:t>
                </a:r>
                <a:r>
                  <a:rPr lang="zh-TW" altLang="en-US" dirty="0"/>
                  <a:t>該灰階應輸出的總亮度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7EC99D2-E7DF-422F-B088-F54E77977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80" y="4396409"/>
                <a:ext cx="7039304" cy="1788182"/>
              </a:xfrm>
              <a:prstGeom prst="rect">
                <a:avLst/>
              </a:prstGeom>
              <a:blipFill>
                <a:blip r:embed="rId4"/>
                <a:stretch>
                  <a:fillRect l="-519" b="-13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09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Background &amp; Existing System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C99D2-E7DF-422F-B088-F54E7797711C}"/>
              </a:ext>
            </a:extLst>
          </p:cNvPr>
          <p:cNvSpPr txBox="1"/>
          <p:nvPr/>
        </p:nvSpPr>
        <p:spPr>
          <a:xfrm>
            <a:off x="750280" y="1143000"/>
            <a:ext cx="7039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+mn-ea"/>
                <a:cs typeface="Arial" panose="020B0604020202020204" pitchFamily="34" charset="0"/>
              </a:rPr>
              <a:t>基於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Native RGB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響應反查之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Gamma LUT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產生方法</a:t>
            </a:r>
            <a:endParaRPr lang="en-US" altLang="zh-TW" b="1" dirty="0">
              <a:latin typeface="+mn-ea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dirty="0">
                <a:latin typeface="+mn-ea"/>
                <a:cs typeface="Arial" panose="020B0604020202020204" pitchFamily="34" charset="0"/>
              </a:rPr>
              <a:t>第二步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:</a:t>
            </a:r>
            <a:r>
              <a:rPr lang="zh-TW" altLang="es-ES" dirty="0">
                <a:latin typeface="+mn-ea"/>
                <a:cs typeface="Arial" panose="020B0604020202020204" pitchFamily="34" charset="0"/>
              </a:rPr>
              <a:t>使用 </a:t>
            </a:r>
            <a:r>
              <a:rPr lang="es-ES" altLang="zh-TW" dirty="0">
                <a:latin typeface="+mn-ea"/>
                <a:cs typeface="Arial" panose="020B0604020202020204" pitchFamily="34" charset="0"/>
              </a:rPr>
              <a:t>Color Vector</a:t>
            </a:r>
            <a:r>
              <a:rPr lang="zh-TW" altLang="es-ES" dirty="0">
                <a:latin typeface="+mn-ea"/>
                <a:cs typeface="Arial" panose="020B0604020202020204" pitchFamily="34" charset="0"/>
              </a:rPr>
              <a:t>分配 </a:t>
            </a:r>
            <a:r>
              <a:rPr lang="es-ES" altLang="zh-TW" dirty="0">
                <a:latin typeface="+mn-ea"/>
                <a:cs typeface="Arial" panose="020B0604020202020204" pitchFamily="34" charset="0"/>
              </a:rPr>
              <a:t>RGB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三個通道應該輸出的亮度。</a:t>
            </a:r>
            <a:endParaRPr lang="en-US" altLang="zh-TW" dirty="0">
              <a:latin typeface="+mn-ea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dirty="0">
                <a:latin typeface="+mn-ea"/>
                <a:cs typeface="Arial" panose="020B0604020202020204" pitchFamily="34" charset="0"/>
              </a:rPr>
              <a:t>目的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:</a:t>
            </a:r>
            <a:r>
              <a:rPr lang="zh-TW" altLang="en-US" dirty="0">
                <a:latin typeface="+mn-ea"/>
              </a:rPr>
              <a:t>校正 </a:t>
            </a:r>
            <a:r>
              <a:rPr lang="en-US" altLang="zh-TW" dirty="0">
                <a:latin typeface="+mn-ea"/>
              </a:rPr>
              <a:t>Gamma</a:t>
            </a:r>
            <a:r>
              <a:rPr lang="zh-TW" altLang="en-US" dirty="0">
                <a:latin typeface="+mn-ea"/>
              </a:rPr>
              <a:t>亮度曲線時，同時維持目標白點與色溫。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n-ea"/>
              </a:rPr>
              <a:t>假設 </a:t>
            </a:r>
            <a:r>
              <a:rPr lang="en-US" altLang="zh-TW" dirty="0">
                <a:latin typeface="+mn-ea"/>
              </a:rPr>
              <a:t>Color Vector</a:t>
            </a:r>
            <a:r>
              <a:rPr lang="zh-TW" altLang="en-US" dirty="0">
                <a:latin typeface="+mn-ea"/>
              </a:rPr>
              <a:t>為：</a:t>
            </a:r>
            <a:endParaRPr lang="en-US" altLang="zh-TW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60362" y="2897326"/>
              <a:ext cx="5674710" cy="22637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1229468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:r>
                            <a:rPr lang="en-US" altLang="zh-TW" sz="2800" kern="10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C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TW" sz="2800" i="1" kern="10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TW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altLang="zh-TW" sz="2800" b="0" i="1" kern="10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kern="10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TW" sz="2800" i="1" kern="10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]</m:t>
                              </m:r>
                            </m:oMath>
                          </a14:m>
                          <a:endParaRPr lang="en-US" alt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 </m:t>
                                    </m:r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𝑡𝑎𝑟𝑔𝑒𝑡</m:t>
                                    </m:r>
                                  </m:sub>
                                </m:sSub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127000" algn="ctr" defTabSz="914377" rtl="0" eaLnBrk="1" fontAlgn="auto" latinLnBrk="0" hangingPunct="1">
                            <a:lnSpc>
                              <a:spcPct val="12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𝑡𝑎𝑟𝑔𝑒𝑡</m:t>
                                    </m:r>
                                  </m:sub>
                                </m:sSub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127000" algn="ctr" defTabSz="914377" rtl="0" eaLnBrk="1" fontAlgn="auto" latinLnBrk="0" hangingPunct="1">
                            <a:lnSpc>
                              <a:spcPct val="12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𝑡𝑎𝑟𝑔𝑒𝑡</m:t>
                                    </m:r>
                                  </m:sub>
                                </m:sSub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272375-9D8A-DA03-C2AF-35F22B063E4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760362" y="2897326"/>
              <a:ext cx="5674710" cy="22637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22637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3"/>
                          <a:stretch>
                            <a:fillRect t="-2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5197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Background &amp; Existing System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C99D2-E7DF-422F-B088-F54E7797711C}"/>
              </a:ext>
            </a:extLst>
          </p:cNvPr>
          <p:cNvSpPr txBox="1"/>
          <p:nvPr/>
        </p:nvSpPr>
        <p:spPr>
          <a:xfrm>
            <a:off x="750280" y="1143000"/>
            <a:ext cx="703930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+mn-ea"/>
                <a:cs typeface="Arial" panose="020B0604020202020204" pitchFamily="34" charset="0"/>
              </a:rPr>
              <a:t>基於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Native RGB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響應反查之 </a:t>
            </a:r>
            <a:r>
              <a:rPr lang="en-US" altLang="zh-TW" b="1" dirty="0">
                <a:latin typeface="+mn-ea"/>
                <a:cs typeface="Arial" panose="020B0604020202020204" pitchFamily="34" charset="0"/>
              </a:rPr>
              <a:t>Gamma LUT </a:t>
            </a:r>
            <a:r>
              <a:rPr lang="zh-TW" altLang="en-US" b="1" dirty="0">
                <a:latin typeface="+mn-ea"/>
                <a:cs typeface="Arial" panose="020B0604020202020204" pitchFamily="34" charset="0"/>
              </a:rPr>
              <a:t>產生方法</a:t>
            </a:r>
            <a:endParaRPr lang="en-US" altLang="zh-TW" b="1" dirty="0">
              <a:latin typeface="+mn-ea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dirty="0">
                <a:latin typeface="+mn-ea"/>
                <a:cs typeface="Arial" panose="020B0604020202020204" pitchFamily="34" charset="0"/>
              </a:rPr>
              <a:t>第三步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: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反查 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Native RGB</a:t>
            </a:r>
            <a:r>
              <a:rPr lang="zh-TW" altLang="en-US" dirty="0">
                <a:latin typeface="+mn-ea"/>
                <a:cs typeface="Arial" panose="020B0604020202020204" pitchFamily="34" charset="0"/>
              </a:rPr>
              <a:t>曲線，產生</a:t>
            </a:r>
            <a:r>
              <a:rPr lang="en-US" altLang="zh-TW" dirty="0">
                <a:latin typeface="+mn-ea"/>
                <a:cs typeface="Arial" panose="020B0604020202020204" pitchFamily="34" charset="0"/>
              </a:rPr>
              <a:t>LUT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n-ea"/>
              </a:rPr>
              <a:t>三通道原生面板亮度為：</a:t>
            </a:r>
            <a:endParaRPr lang="en-US" altLang="zh-TW" dirty="0">
              <a:latin typeface="+mn-ea"/>
            </a:endParaRPr>
          </a:p>
          <a:p>
            <a:pPr lvl="1">
              <a:lnSpc>
                <a:spcPct val="150000"/>
              </a:lnSpc>
              <a:buClr>
                <a:schemeClr val="accent2"/>
              </a:buClr>
              <a:buSzPct val="50000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n-ea"/>
              </a:rPr>
              <a:t>搜尋最接近目標亮度的</a:t>
            </a:r>
            <a:r>
              <a:rPr lang="en-US" altLang="zh-TW" dirty="0">
                <a:latin typeface="+mn-ea"/>
              </a:rPr>
              <a:t>14-bit code</a:t>
            </a:r>
            <a:r>
              <a:rPr lang="zh-TW" altLang="en-US" dirty="0">
                <a:latin typeface="+mn-ea"/>
              </a:rPr>
              <a:t>：</a:t>
            </a: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TW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+mn-ea"/>
              </a:rPr>
              <a:t>得到</a:t>
            </a:r>
            <a:r>
              <a:rPr lang="en-US" altLang="zh-TW" dirty="0">
                <a:latin typeface="+mn-ea"/>
              </a:rPr>
              <a:t>LUT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42825" y="3115828"/>
              <a:ext cx="5536735" cy="208368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536735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1229468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arg</m:t>
                                    </m:r>
                                  </m:fNam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altLang="zh-TW" sz="20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Arial" panose="020B0604020202020204" pitchFamily="34" charset="0"/>
                                            </a:rPr>
                                            <m:t>𝑚𝑖𝑛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c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∈{0,…,16383}​</m:t>
                                          </m:r>
                                        </m:e>
                                      </m:mr>
                                    </m:m>
                                  </m:e>
                                </m:func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arg</m:t>
                                    </m:r>
                                  </m:fNam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altLang="zh-TW" sz="20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Arial" panose="020B0604020202020204" pitchFamily="34" charset="0"/>
                                            </a:rPr>
                                            <m:t>𝑚𝑖𝑛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c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∈{0,…,16383}​</m:t>
                                          </m:r>
                                        </m:e>
                                      </m:mr>
                                    </m:m>
                                  </m:e>
                                </m:func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𝐺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𝐺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TW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arg</m:t>
                                    </m:r>
                                  </m:fNam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altLang="zh-TW" sz="20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Arial" panose="020B0604020202020204" pitchFamily="34" charset="0"/>
                                            </a:rPr>
                                            <m:t>𝑚𝑖𝑛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c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2000" smtClean="0"/>
                                            <m:t>∈{0,…,16383}​</m:t>
                                          </m:r>
                                        </m:e>
                                      </m:mr>
                                    </m:m>
                                  </m:e>
                                </m:func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br>
                            <a:rPr lang="en-US" altLang="zh-TW" sz="2000" b="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</a:br>
                          <a:endParaRPr lang="en-US" altLang="zh-TW" sz="20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272375-9D8A-DA03-C2AF-35F22B063E4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942825" y="3115828"/>
              <a:ext cx="5536735" cy="208375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53673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208375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65320" y="2214694"/>
              <a:ext cx="4673027" cy="9336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73027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933696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G</m:t>
                                    </m:r>
                                  </m:sub>
                                </m:sSub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), 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B</m:t>
                                    </m:r>
                                  </m:sub>
                                </m:sSub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a:rPr lang="en-US" altLang="zh-TW" sz="2800" b="0" i="0" kern="10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TW" sz="2800" b="0" i="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272375-9D8A-DA03-C2AF-35F22B063E4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565320" y="2214694"/>
              <a:ext cx="4673027" cy="9336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73027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9336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0272375-9D8A-DA03-C2AF-35F22B063E4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48141" y="5457958"/>
              <a:ext cx="5674710" cy="9274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927464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𝐿𝑈𝑇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2800" b="0" i="1" kern="100" baseline="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kern="100" baseline="0" smtClean="0">
                                            <a:effectLst/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=[</m:t>
                                    </m:r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), </m:t>
                                </m:r>
                                <m:sSub>
                                  <m:sSubPr>
                                    <m:ctrlP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i="1" kern="100" baseline="0" smtClean="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Arial" panose="020B0604020202020204" pitchFamily="34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altLang="zh-TW" sz="2800" b="0" i="1" kern="100" baseline="0" smtClean="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Arial" panose="020B0604020202020204" pitchFamily="34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en-US" altLang="zh-TW" sz="2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272375-9D8A-DA03-C2AF-35F22B063E4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948141" y="5457958"/>
              <a:ext cx="5674710" cy="9274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7471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92746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636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749808" y="1203095"/>
                <a:ext cx="10692384" cy="2949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zh-TW" altLang="en-US" b="1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傳統</a:t>
                </a:r>
                <a:r>
                  <a:rPr lang="en-US" altLang="zh-TW" b="1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LUT</a:t>
                </a:r>
                <a:r>
                  <a:rPr lang="zh-TW" altLang="en-US" b="1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大小計算方法</a:t>
                </a:r>
                <a:endParaRPr lang="en-US" altLang="zh-TW" b="1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/>
                  <a:t>一組</a:t>
                </a:r>
                <a:r>
                  <a:rPr lang="en-US" altLang="zh-TW" dirty="0"/>
                  <a:t>Gamma (RGB) LUT</a:t>
                </a:r>
                <a:r>
                  <a:rPr lang="zh-TW" altLang="en-US" dirty="0"/>
                  <a:t>大小</a:t>
                </a:r>
                <a:r>
                  <a:rPr lang="en-US" altLang="zh-TW" dirty="0"/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LUT </a:t>
                </a:r>
                <a:r>
                  <a:rPr lang="zh-TW" altLang="en-US" dirty="0"/>
                  <a:t>輸入位元數是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，輸出位元數是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，完整大小為：</a:t>
                </a:r>
                <a:endParaRPr lang="en-US" altLang="zh-TW" dirty="0"/>
              </a:p>
              <a:p>
                <a:pPr marL="12573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Arial" panose="020B0604020202020204" pitchFamily="34" charset="0"/>
                  <a:buChar char="•"/>
                </a:pPr>
                <a:endParaRPr lang="en-US" altLang="zh-TW" dirty="0"/>
              </a:p>
              <a:p>
                <a:pPr lvl="2">
                  <a:lnSpc>
                    <a:spcPct val="150000"/>
                  </a:lnSpc>
                  <a:buClr>
                    <a:srgbClr val="FF0000"/>
                  </a:buClr>
                  <a:buSzPct val="50000"/>
                </a:pPr>
                <a:endParaRPr lang="en-US" altLang="zh-TW" dirty="0"/>
              </a:p>
              <a:p>
                <a:pPr marL="12573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理論有效資料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8 bit</a:t>
                </a:r>
                <a:r>
                  <a:rPr lang="zh-TW" altLang="en-US" dirty="0"/>
                  <a:t> 灰階輸入、</a:t>
                </a:r>
                <a:r>
                  <a:rPr lang="en-US" altLang="zh-TW" dirty="0"/>
                  <a:t>14bit </a:t>
                </a:r>
                <a:r>
                  <a:rPr lang="zh-TW" altLang="en-US" dirty="0"/>
                  <a:t>輸出、包含</a:t>
                </a:r>
                <a:r>
                  <a:rPr lang="en-US" altLang="zh-TW" dirty="0"/>
                  <a:t>RGB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通道 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x 14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x 3 =1344 bytes</a:t>
                </a:r>
              </a:p>
              <a:p>
                <a:pPr marL="12573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實際儲存／傳輸資料</a:t>
                </a:r>
                <a:r>
                  <a:rPr lang="en-US" altLang="zh-TW" dirty="0"/>
                  <a:t>: 16 bit =2byte</a:t>
                </a:r>
                <a:r>
                  <a:rPr lang="zh-TW" altLang="en-US" dirty="0"/>
                  <a:t>存入、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x 16(bit)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x 3 =1536 bytes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203095"/>
                <a:ext cx="10692384" cy="2949525"/>
              </a:xfrm>
              <a:prstGeom prst="rect">
                <a:avLst/>
              </a:prstGeom>
              <a:blipFill rotWithShape="0">
                <a:blip r:embed="rId3"/>
                <a:stretch>
                  <a:fillRect l="-342" b="-2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E3E83C8-77CB-20E7-E2A3-6221789B0D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79275" y="2645919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LUT</m:t>
                                  </m:r>
                                </m:sub>
                              </m:sSub>
                              <m:r>
                                <a:rPr lang="en-US" altLang="zh-TW" sz="24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2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4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 bits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E3E83C8-77CB-20E7-E2A3-6221789B0D9A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79275" y="2645919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4"/>
                          <a:stretch>
                            <a:fillRect t="-3529" b="-2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標題 2">
            <a:extLst>
              <a:ext uri="{FF2B5EF4-FFF2-40B4-BE49-F238E27FC236}">
                <a16:creationId xmlns:a16="http://schemas.microsoft.com/office/drawing/2014/main" id="{94DE90E7-4582-A2F7-1B71-06C19C91864D}"/>
              </a:ext>
            </a:extLst>
          </p:cNvPr>
          <p:cNvSpPr txBox="1">
            <a:spLocks/>
          </p:cNvSpPr>
          <p:nvPr/>
        </p:nvSpPr>
        <p:spPr bwMode="auto">
          <a:xfrm>
            <a:off x="902680" y="627888"/>
            <a:ext cx="9941169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  <a:endParaRPr lang="en-US" altLang="zh-TW" sz="3200" b="1" dirty="0">
              <a:solidFill>
                <a:srgbClr val="0000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9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48A6DE-4725-01BA-223D-7A7429FF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  <a:endParaRPr lang="en-US" altLang="zh-TW" sz="3200" b="1" dirty="0">
              <a:solidFill>
                <a:srgbClr val="0000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44B332-C1E9-A106-2662-B28C435A48CD}"/>
              </a:ext>
            </a:extLst>
          </p:cNvPr>
          <p:cNvSpPr txBox="1"/>
          <p:nvPr/>
        </p:nvSpPr>
        <p:spPr>
          <a:xfrm>
            <a:off x="630621" y="1143000"/>
            <a:ext cx="980877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校正流程總耗時</a:t>
            </a:r>
            <a:endParaRPr lang="en-US" altLang="zh-TW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</a:rPr>
              <a:t>Gamma </a:t>
            </a:r>
            <a:r>
              <a:rPr lang="zh-TW" altLang="en-US" b="1" dirty="0">
                <a:latin typeface="Arial" panose="020B0604020202020204" pitchFamily="34" charset="0"/>
                <a:ea typeface="標楷體" panose="03000509000000000000" pitchFamily="65" charset="-120"/>
              </a:rPr>
              <a:t>校正</a:t>
            </a: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2 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組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 Gamma 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（ 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1.8,  2.2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 ）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 × 3 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組色溫 （ 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5400K,  6500K,  9300K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 ）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endParaRPr lang="en-US" altLang="zh-TW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</a:rPr>
              <a:t>DICOM </a:t>
            </a:r>
            <a:r>
              <a:rPr lang="zh-TW" altLang="en-US" b="1" dirty="0">
                <a:latin typeface="Arial" panose="020B0604020202020204" pitchFamily="34" charset="0"/>
                <a:ea typeface="標楷體" panose="03000509000000000000" pitchFamily="65" charset="-120"/>
              </a:rPr>
              <a:t>校正：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3 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組目標色溫（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5400K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6500K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9300K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）</a:t>
            </a:r>
            <a:endParaRPr lang="en-US" altLang="zh-TW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A04613D-9FAA-4B40-9075-05BB8B09C7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5" t="3284" r="2581"/>
          <a:stretch/>
        </p:blipFill>
        <p:spPr>
          <a:xfrm>
            <a:off x="2059876" y="2382312"/>
            <a:ext cx="7490395" cy="40794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059876" y="3991734"/>
            <a:ext cx="732364" cy="32004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85082" y="3991734"/>
            <a:ext cx="497089" cy="32004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41ADE5-C8CB-BF1D-049B-FEC042793A9E}"/>
              </a:ext>
            </a:extLst>
          </p:cNvPr>
          <p:cNvSpPr/>
          <p:nvPr/>
        </p:nvSpPr>
        <p:spPr>
          <a:xfrm>
            <a:off x="7750535" y="4873339"/>
            <a:ext cx="497089" cy="32004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5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48A6DE-4725-01BA-223D-7A7429FF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Problem Definition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44B332-C1E9-A106-2662-B28C435A48CD}"/>
              </a:ext>
            </a:extLst>
          </p:cNvPr>
          <p:cNvSpPr txBox="1"/>
          <p:nvPr/>
        </p:nvSpPr>
        <p:spPr>
          <a:xfrm>
            <a:off x="630620" y="1143000"/>
            <a:ext cx="11159043" cy="1705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總耗時太久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Gamma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校正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Gamma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（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1.8,  2.2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× 3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組色溫 （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5400K,  6500K,  9300K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，耗費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:576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秒、大約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10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分鐘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8bit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面板換成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10bit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面板，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大小相差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倍、校正時間也會變成原來的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2~3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倍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38AE0B3-2FE5-5A25-6309-8C5DA5CD3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798260"/>
              </p:ext>
            </p:extLst>
          </p:nvPr>
        </p:nvGraphicFramePr>
        <p:xfrm>
          <a:off x="144137" y="3381995"/>
          <a:ext cx="5754291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3985466103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bit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面板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348.58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145.87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494.45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235.38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148.82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384.2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587.94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295.98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883.92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574.40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244.25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818.65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88309CB-5AFD-7266-06A0-90E2E4A6A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56768"/>
              </p:ext>
            </p:extLst>
          </p:nvPr>
        </p:nvGraphicFramePr>
        <p:xfrm>
          <a:off x="6251106" y="3381995"/>
          <a:ext cx="5796757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4189185256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 bit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面板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1022.40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134.71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1,157.11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1027.92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178.14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1,206.06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1956.51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304.20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2,260.71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1960.46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269.46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2,229.92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497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827690" y="1143000"/>
                <a:ext cx="10728433" cy="5299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LUT (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Lookup Table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常見應用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FPGA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GPU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DSP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數學函數計算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神經網路激活函數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分段多項式係數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硬體加速器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主要問題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LUT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輸入位元數是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zh-TW" sz="20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，輸出位元數是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Clr>
                    <a:schemeClr val="accent2"/>
                  </a:buClr>
                  <a:buSzPct val="50000"/>
                </a:pP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這個大小會隨著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的增加呈指數型成長。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作者主要解決如何降低 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LUT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的儲存空間，是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FPGA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設計中很重要的問題。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0" y="1143000"/>
                <a:ext cx="10728433" cy="5299977"/>
              </a:xfrm>
              <a:prstGeom prst="rect">
                <a:avLst/>
              </a:prstGeom>
              <a:blipFill>
                <a:blip r:embed="rId3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620973"/>
            <a:ext cx="10153290" cy="533400"/>
          </a:xfrm>
        </p:spPr>
        <p:txBody>
          <a:bodyPr/>
          <a:lstStyle/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研究背景與動機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6544FF-4B89-E847-9789-40E4C359B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zh-TW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TW" altLang="zh-TW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E3E83C8-77CB-20E7-E2A3-6221789B0D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6682887"/>
                  </p:ext>
                </p:extLst>
              </p:nvPr>
            </p:nvGraphicFramePr>
            <p:xfrm>
              <a:off x="2822309" y="4518108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:r>
                            <a:rPr lang="en-US" altLang="zh-TW" sz="2400" b="0" i="0" kern="100" baseline="0" dirty="0">
                              <a:effectLst/>
                              <a:latin typeface="+mn-lt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:r>
                            <a:rPr lang="en-US" altLang="zh-TW" sz="2400" b="0" i="1" kern="100" baseline="0" dirty="0">
                              <a:effectLst/>
                              <a:latin typeface="+mn-lt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T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400" b="0" i="0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TW" sz="24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2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4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2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 bits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3E83C8-77CB-20E7-E2A3-6221789B0D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6682887"/>
                  </p:ext>
                </p:extLst>
              </p:nvPr>
            </p:nvGraphicFramePr>
            <p:xfrm>
              <a:off x="2822309" y="4518108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4"/>
                          <a:stretch>
                            <a:fillRect b="-2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66810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199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2344B332-C1E9-A106-2662-B28C435A48CD}"/>
              </a:ext>
            </a:extLst>
          </p:cNvPr>
          <p:cNvSpPr txBox="1"/>
          <p:nvPr/>
        </p:nvSpPr>
        <p:spPr>
          <a:xfrm>
            <a:off x="301988" y="1241745"/>
            <a:ext cx="115880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CompressedLUT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目標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壓縮任意一維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LUT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完全無損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使用低成本硬體解碼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維持高吞吐量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CompressedLUT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的核心技術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</a:p>
          <a:p>
            <a:pPr marL="1257300" lvl="2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LUT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分解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(Decomposition):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將大型表格拆解為多個具備關聯性的子表格。</a:t>
            </a:r>
          </a:p>
          <a:p>
            <a:pPr marL="1257300" lvl="2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自相似性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(Self-similarities):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尋找並合併表格中重複或高度相似的資料區段。</a:t>
            </a:r>
          </a:p>
          <a:p>
            <a:pPr marL="1257300" lvl="2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多層次壓縮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(Multilevel compression):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進行多次遞迴式壓縮以達到最佳的空間利用率。</a:t>
            </a:r>
          </a:p>
          <a:p>
            <a:pPr marL="1257300" lvl="2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高位元壓縮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(Higher-bit compression):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針對高位元解析度進行特殊優化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進一步縮減資料冗餘。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7" y="612347"/>
            <a:ext cx="1048972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研究目標與主要貢獻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42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2344B332-C1E9-A106-2662-B28C435A48CD}"/>
              </a:ext>
            </a:extLst>
          </p:cNvPr>
          <p:cNvSpPr txBox="1"/>
          <p:nvPr/>
        </p:nvSpPr>
        <p:spPr>
          <a:xfrm>
            <a:off x="317955" y="1145747"/>
            <a:ext cx="1158802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Lookup Table Decomposition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Tbias</a:t>
            </a:r>
            <a:r>
              <a:rPr lang="en-US" altLang="zh-TW" dirty="0"/>
              <a:t> (</a:t>
            </a:r>
            <a:r>
              <a:rPr lang="zh-TW" altLang="en-US" dirty="0"/>
              <a:t>基底表</a:t>
            </a:r>
            <a:r>
              <a:rPr lang="en-US" altLang="zh-TW" dirty="0"/>
              <a:t>): </a:t>
            </a:r>
            <a:r>
              <a:rPr lang="zh-TW" altLang="en-US" dirty="0"/>
              <a:t>儲存每個子表的最小值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Tst</a:t>
            </a:r>
            <a:r>
              <a:rPr lang="en-US" altLang="zh-TW" dirty="0"/>
              <a:t> (</a:t>
            </a:r>
            <a:r>
              <a:rPr lang="zh-TW" altLang="en-US" dirty="0"/>
              <a:t>偏移表</a:t>
            </a:r>
            <a:r>
              <a:rPr lang="en-US" altLang="zh-TW" dirty="0"/>
              <a:t>): </a:t>
            </a:r>
            <a:r>
              <a:rPr lang="zh-TW" altLang="en-US" dirty="0"/>
              <a:t>儲存原始數值扣除最小值後的值</a:t>
            </a: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DE3E38FD-4F43-7AD0-7A8D-35708EF4B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582970"/>
                  </p:ext>
                </p:extLst>
              </p:nvPr>
            </p:nvGraphicFramePr>
            <p:xfrm>
              <a:off x="596531" y="27139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:r>
                            <a:rPr lang="en-US" altLang="zh-TW" sz="1800" b="0" i="1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E38FD-4F43-7AD0-7A8D-35708EF4B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582970"/>
                  </p:ext>
                </p:extLst>
              </p:nvPr>
            </p:nvGraphicFramePr>
            <p:xfrm>
              <a:off x="596531" y="27139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3"/>
                          <a:stretch>
                            <a:fillRect b="-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9AE6E5F-E010-24A1-7364-108BFFE215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7553"/>
                  </p:ext>
                </p:extLst>
              </p:nvPr>
            </p:nvGraphicFramePr>
            <p:xfrm>
              <a:off x="596531" y="3253720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𝑏𝑖𝑎𝑠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𝑏𝑖𝑎𝑠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9AE6E5F-E010-24A1-7364-108BFFE215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7553"/>
                  </p:ext>
                </p:extLst>
              </p:nvPr>
            </p:nvGraphicFramePr>
            <p:xfrm>
              <a:off x="596531" y="3253720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4"/>
                          <a:stretch>
                            <a:fillRect b="-3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6DBF99B-66F9-2707-AE96-8E14953107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2037"/>
                  </p:ext>
                </p:extLst>
              </p:nvPr>
            </p:nvGraphicFramePr>
            <p:xfrm>
              <a:off x="596531" y="3793449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𝑠𝑡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b="0" kern="100" baseline="0" dirty="0">
                              <a:effectLst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𝑠𝑡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DBF99B-66F9-2707-AE96-8E14953107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2037"/>
                  </p:ext>
                </p:extLst>
              </p:nvPr>
            </p:nvGraphicFramePr>
            <p:xfrm>
              <a:off x="596531" y="3793449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5"/>
                          <a:stretch>
                            <a:fillRect b="-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8C2A4324-178C-1A89-7820-5A54C7B4E4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924"/>
          <a:stretch/>
        </p:blipFill>
        <p:spPr>
          <a:xfrm>
            <a:off x="6282103" y="2078155"/>
            <a:ext cx="5785040" cy="388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84C7430-AC14-C8BB-04BD-F6DDA0A64E5D}"/>
                  </a:ext>
                </a:extLst>
              </p:cNvPr>
              <p:cNvSpPr txBox="1"/>
              <p:nvPr/>
            </p:nvSpPr>
            <p:spPr>
              <a:xfrm>
                <a:off x="765881" y="4349362"/>
                <a:ext cx="534608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+mn-ea"/>
                  </a:rPr>
                  <a:t>舉例</a:t>
                </a:r>
                <a:r>
                  <a:rPr lang="en-US" altLang="zh-TW" dirty="0">
                    <a:latin typeface="+mn-ea"/>
                  </a:rPr>
                  <a:t>:</a:t>
                </a:r>
              </a:p>
              <a:p>
                <a:r>
                  <a:rPr lang="zh-TW" altLang="en-US" dirty="0">
                    <a:latin typeface="+mn-ea"/>
                  </a:rPr>
                  <a:t>原始子表</a:t>
                </a:r>
                <a:r>
                  <a:rPr lang="en-US" altLang="zh-TW" dirty="0">
                    <a:latin typeface="+mn-ea"/>
                  </a:rPr>
                  <a:t>(T1)</a:t>
                </a:r>
                <a:r>
                  <a:rPr lang="zh-TW" altLang="en-US" dirty="0">
                    <a:latin typeface="+mn-ea"/>
                  </a:rPr>
                  <a:t>：</a:t>
                </a:r>
                <a:r>
                  <a:rPr lang="en-US" altLang="zh-TW" dirty="0">
                    <a:latin typeface="+mn-ea"/>
                  </a:rPr>
                  <a:t>[1000,1004,1009,1015]</a:t>
                </a:r>
              </a:p>
              <a:p>
                <a:r>
                  <a:rPr lang="zh-TW" altLang="en-US" dirty="0">
                    <a:latin typeface="+mn-ea"/>
                  </a:rPr>
                  <a:t>拆成：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𝑏𝑖𝑎𝑠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latin typeface="+mn-ea"/>
                  </a:rPr>
                  <a:t>1000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=[0,4,9,15]</m:t>
                      </m:r>
                    </m:oMath>
                  </m:oMathPara>
                </a14:m>
                <a:endParaRPr lang="zh-TW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84C7430-AC14-C8BB-04BD-F6DDA0A6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81" y="4349362"/>
                <a:ext cx="5346086" cy="1477328"/>
              </a:xfrm>
              <a:prstGeom prst="rect">
                <a:avLst/>
              </a:prstGeom>
              <a:blipFill rotWithShape="0">
                <a:blip r:embed="rId7"/>
                <a:stretch>
                  <a:fillRect l="-1026" t="-1646" b="-3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6" y="612347"/>
            <a:ext cx="9696089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研究方法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34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828137" y="1193470"/>
                <a:ext cx="11588024" cy="2359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Lookup Table Decomposition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 err="1">
                    <a:latin typeface="Times New Roman" panose="02020603050405020304" pitchFamily="18" charset="0"/>
                  </a:rPr>
                  <a:t>SizeRatio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= [</a:t>
                </a:r>
                <a:r>
                  <a:rPr lang="en-US" altLang="zh-TW" b="0" kern="100" baseline="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 + 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)] / Size(T)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 err="1">
                    <a:latin typeface="Times New Roman" panose="02020603050405020304" pitchFamily="18" charset="0"/>
                  </a:rPr>
                  <a:t>SizeRatio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=</a:t>
                </a:r>
                <a:r>
                  <a:rPr lang="en-US" altLang="zh-TW" b="0" kern="100" baseline="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>
                  <a:latin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越大，使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需要更多位元。</a:t>
                </a:r>
                <a:endParaRPr lang="en-US" altLang="zh-TW" dirty="0"/>
              </a:p>
              <a:p>
                <a:pPr lvl="1">
                  <a:lnSpc>
                    <a:spcPct val="150000"/>
                  </a:lnSpc>
                  <a:buClr>
                    <a:schemeClr val="accent2"/>
                  </a:buClr>
                  <a:buSzPct val="50000"/>
                </a:pPr>
                <a:r>
                  <a:rPr lang="zh-TW" altLang="en-US" dirty="0"/>
                  <a:t>因此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dirty="0"/>
                  <a:t>必須經過搜尋，不能直接設得越大越好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7" y="1193470"/>
                <a:ext cx="11588024" cy="2359044"/>
              </a:xfrm>
              <a:prstGeom prst="rect">
                <a:avLst/>
              </a:prstGeom>
              <a:blipFill>
                <a:blip r:embed="rId3"/>
                <a:stretch>
                  <a:fillRect l="-368" b="-1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6DB35863-B13F-7197-302D-9B1D4D878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045" y="1637086"/>
            <a:ext cx="5365967" cy="3830857"/>
          </a:xfrm>
          <a:prstGeom prst="rect">
            <a:avLst/>
          </a:prstGeom>
        </p:spPr>
      </p:pic>
      <p:sp>
        <p:nvSpPr>
          <p:cNvPr id="7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7" y="612347"/>
            <a:ext cx="9126746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研究方法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84C7430-AC14-C8BB-04BD-F6DDA0A64E5D}"/>
                  </a:ext>
                </a:extLst>
              </p:cNvPr>
              <p:cNvSpPr txBox="1"/>
              <p:nvPr/>
            </p:nvSpPr>
            <p:spPr>
              <a:xfrm>
                <a:off x="828137" y="4337487"/>
                <a:ext cx="5583161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+mn-ea"/>
                  </a:rPr>
                  <a:t>舉例</a:t>
                </a:r>
                <a:r>
                  <a:rPr lang="en-US" altLang="zh-TW" dirty="0">
                    <a:latin typeface="+mn-ea"/>
                  </a:rPr>
                  <a:t>:</a:t>
                </a:r>
              </a:p>
              <a:p>
                <a:r>
                  <a:rPr lang="zh-TW" altLang="en-US" dirty="0">
                    <a:latin typeface="+mn-ea"/>
                  </a:rPr>
                  <a:t>原始子表</a:t>
                </a:r>
                <a:r>
                  <a:rPr lang="en-US" altLang="zh-TW" dirty="0">
                    <a:latin typeface="+mn-ea"/>
                  </a:rPr>
                  <a:t>(T)</a:t>
                </a:r>
                <a:r>
                  <a:rPr lang="zh-TW" altLang="en-US" dirty="0">
                    <a:latin typeface="+mn-ea"/>
                  </a:rPr>
                  <a:t>：</a:t>
                </a:r>
                <a:r>
                  <a:rPr lang="en-US" altLang="zh-TW" dirty="0">
                    <a:latin typeface="+mn-ea"/>
                  </a:rPr>
                  <a:t>[</a:t>
                </a:r>
                <a:r>
                  <a:rPr lang="en-US" altLang="zh-TW" dirty="0"/>
                  <a:t>100,102,105,107,200,204,210,214</a:t>
                </a:r>
                <a:r>
                  <a:rPr lang="en-US" altLang="zh-TW" dirty="0">
                    <a:latin typeface="+mn-ea"/>
                  </a:rPr>
                  <a:t>]</a:t>
                </a:r>
              </a:p>
              <a:p>
                <a:r>
                  <a:rPr lang="zh-TW" altLang="en-US" dirty="0">
                    <a:latin typeface="+mn-ea"/>
                  </a:rPr>
                  <a:t>拆成：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+mn-ea"/>
                  </a:rPr>
                  <a:t>2</a:t>
                </a:r>
                <a:r>
                  <a:rPr lang="zh-TW" altLang="en-US" dirty="0">
                    <a:latin typeface="+mn-ea"/>
                  </a:rPr>
                  <a:t>、代表每個子表有</a:t>
                </a:r>
                <a:r>
                  <a:rPr lang="en-US" altLang="zh-TW" dirty="0">
                    <a:latin typeface="+mn-ea"/>
                  </a:rPr>
                  <a:t>4</a:t>
                </a:r>
                <a:r>
                  <a:rPr lang="zh-TW" altLang="en-US" dirty="0">
                    <a:latin typeface="+mn-ea"/>
                  </a:rPr>
                  <a:t>個資料</a:t>
                </a:r>
                <a:endParaRPr lang="en-US" altLang="zh-TW" i="1" kern="100" dirty="0">
                  <a:latin typeface="Cambria Math" panose="020405030504060302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 kern="10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𝑠</m:t>
                        </m:r>
                      </m:sub>
                    </m:sSub>
                    <m:r>
                      <a:rPr lang="en-US" altLang="zh-TW" i="1" kern="10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r>
                      <a:rPr lang="zh-TW" altLang="en-US" i="1" kern="10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+mn-ea"/>
                  </a:rPr>
                  <a:t>3</a:t>
                </a:r>
                <a:r>
                  <a:rPr lang="zh-TW" altLang="en-US" dirty="0">
                    <a:latin typeface="+mn-ea"/>
                  </a:rPr>
                  <a:t>、代表每個子表有</a:t>
                </a:r>
                <a:r>
                  <a:rPr lang="en-US" altLang="zh-TW" dirty="0">
                    <a:latin typeface="+mn-ea"/>
                  </a:rPr>
                  <a:t>8</a:t>
                </a:r>
                <a:r>
                  <a:rPr lang="zh-TW" altLang="en-US" dirty="0">
                    <a:latin typeface="+mn-ea"/>
                  </a:rPr>
                  <a:t>個資料</a:t>
                </a:r>
                <a:endParaRPr lang="en-US" altLang="zh-TW" i="1" kern="100" dirty="0">
                  <a:latin typeface="Cambria Math" panose="020405030504060302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endParaRPr lang="en-US" altLang="zh-TW" dirty="0">
                  <a:latin typeface="+mn-ea"/>
                </a:endParaRPr>
              </a:p>
              <a:p>
                <a:endParaRPr lang="zh-TW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84C7430-AC14-C8BB-04BD-F6DDA0A6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7" y="4337487"/>
                <a:ext cx="5583161" cy="2031325"/>
              </a:xfrm>
              <a:prstGeom prst="rect">
                <a:avLst/>
              </a:prstGeom>
              <a:blipFill>
                <a:blip r:embed="rId5"/>
                <a:stretch>
                  <a:fillRect l="-983" t="-15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424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828137" y="1308932"/>
                <a:ext cx="11588024" cy="212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Self-similarities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壓縮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</a:t>
                </a:r>
              </a:p>
              <a:p>
                <a:pPr marL="799200" lvl="2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799200" lvl="2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) = k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endParaRPr lang="en-US" altLang="zh-TW" dirty="0">
                  <a:latin typeface="Times New Roman" panose="02020603050405020304" pitchFamily="18" charset="0"/>
                </a:endParaRPr>
              </a:p>
              <a:p>
                <a:pPr marL="799200" lvl="2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799200" lvl="2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7" y="1308932"/>
                <a:ext cx="11588024" cy="2120068"/>
              </a:xfrm>
              <a:prstGeom prst="rect">
                <a:avLst/>
              </a:prstGeom>
              <a:blipFill>
                <a:blip r:embed="rId3"/>
                <a:stretch>
                  <a:fillRect l="-368" b="-37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7" y="612347"/>
            <a:ext cx="89973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研究方法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631" y="1472318"/>
            <a:ext cx="4858381" cy="402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93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828136" y="1284246"/>
                <a:ext cx="8884684" cy="1346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Higher-Bit Compression</a:t>
                </a:r>
                <a:endParaRPr lang="en-US" altLang="zh-TW" b="1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不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壓縮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&amp; 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𝑤𝑙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TW" altLang="en-US" b="0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TW" dirty="0" err="1"/>
                  <a:t>wl</a:t>
                </a:r>
                <a:r>
                  <a:rPr lang="en-US" altLang="zh-TW" dirty="0"/>
                  <a:t>​=</a:t>
                </a:r>
                <a:r>
                  <a:rPr lang="zh-TW" altLang="en-US" dirty="0"/>
                  <a:t>每一筆資料保留、不壓縮的低位元數</a:t>
                </a:r>
                <a:endParaRPr lang="en-US" altLang="zh-TW" b="0" dirty="0">
                  <a:latin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h𝑏</m:t>
                        </m:r>
                      </m:sub>
                    </m:sSub>
                  </m:oMath>
                </a14:m>
                <a:r>
                  <a:rPr lang="en-US" altLang="zh-TW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dirty="0"/>
                  <a:t>進行分解與自相似性壓縮</a:t>
                </a:r>
                <a:r>
                  <a:rPr lang="en-US" altLang="zh-TW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TW" b="0" i="1" kern="10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𝑇</m:t>
                    </m:r>
                    <m:r>
                      <a:rPr lang="en-US" altLang="zh-TW" b="0" i="1" kern="10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≫ </m:t>
                    </m:r>
                    <m:sSub>
                      <m:sSubPr>
                        <m:ctrlP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6" y="1284246"/>
                <a:ext cx="8884684" cy="1346266"/>
              </a:xfrm>
              <a:prstGeom prst="rect">
                <a:avLst/>
              </a:prstGeom>
              <a:blipFill>
                <a:blip r:embed="rId3"/>
                <a:stretch>
                  <a:fillRect l="-480" b="-31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6" y="612347"/>
            <a:ext cx="917850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研究方法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828136" y="3192891"/>
                <a:ext cx="1158802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Multilevel Compression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壓縮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endParaRPr lang="en-US" altLang="zh-TW" b="1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再次壓縮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提高壓縮率</a:t>
                </a:r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增加解碼硬體成本</a:t>
                </a:r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6" y="3192891"/>
                <a:ext cx="11588024" cy="1754326"/>
              </a:xfrm>
              <a:prstGeom prst="rect">
                <a:avLst/>
              </a:prstGeom>
              <a:blipFill>
                <a:blip r:embed="rId4"/>
                <a:stretch>
                  <a:fillRect l="-368" b="-20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84C7430-AC14-C8BB-04BD-F6DDA0A64E5D}"/>
                  </a:ext>
                </a:extLst>
              </p:cNvPr>
              <p:cNvSpPr txBox="1"/>
              <p:nvPr/>
            </p:nvSpPr>
            <p:spPr>
              <a:xfrm>
                <a:off x="6096000" y="3319514"/>
                <a:ext cx="5346086" cy="1234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+mn-ea"/>
                  </a:rPr>
                  <a:t>舉例</a:t>
                </a:r>
                <a:r>
                  <a:rPr lang="en-US" altLang="zh-TW" dirty="0">
                    <a:latin typeface="+mn-ea"/>
                  </a:rPr>
                  <a:t>:</a:t>
                </a:r>
              </a:p>
              <a:p>
                <a:r>
                  <a:rPr lang="en-US" altLang="zh-TW" dirty="0"/>
                  <a:t>T=10110110</a:t>
                </a:r>
                <a:r>
                  <a:rPr lang="zh-TW" altLang="en-US" dirty="0"/>
                  <a:t>、且 </a:t>
                </a:r>
                <a:r>
                  <a:rPr lang="en-US" altLang="zh-TW" dirty="0" err="1"/>
                  <a:t>wl</a:t>
                </a:r>
                <a:r>
                  <a:rPr lang="en-US" altLang="zh-TW" dirty="0"/>
                  <a:t>​=3</a:t>
                </a:r>
                <a:endParaRPr lang="zh-TW" altLang="en-US" dirty="0">
                  <a:latin typeface="+mn-ea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latin typeface="+mn-ea"/>
                  </a:rPr>
                  <a:t>10110110 &amp; 00000111= 00000110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h𝑏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latin typeface="+mn-ea"/>
                  </a:rPr>
                  <a:t>10110110&gt;&gt;3 = 00010110</a:t>
                </a:r>
                <a:endParaRPr lang="zh-TW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84C7430-AC14-C8BB-04BD-F6DDA0A6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19514"/>
                <a:ext cx="5346086" cy="1234440"/>
              </a:xfrm>
              <a:prstGeom prst="rect">
                <a:avLst/>
              </a:prstGeom>
              <a:blipFill>
                <a:blip r:embed="rId5"/>
                <a:stretch>
                  <a:fillRect l="-912" t="-2475" b="-49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97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8D39-FB1F-C3D3-5F73-C08C2D6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/>
              <p:nvPr/>
            </p:nvSpPr>
            <p:spPr>
              <a:xfrm>
                <a:off x="828136" y="1315058"/>
                <a:ext cx="11588024" cy="87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zh-TW" altLang="en-US" dirty="0"/>
                  <a:t>完整架構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chemeClr val="accent2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zh-TW" altLang="en-US" dirty="0"/>
                  <a:t>論文把 </a:t>
                </a:r>
                <a:r>
                  <a:rPr lang="en-US" altLang="zh-TW" dirty="0"/>
                  <a:t>T(LUT)</a:t>
                </a:r>
                <a:r>
                  <a:rPr lang="zh-TW" altLang="en-US" dirty="0"/>
                  <a:t>、</a:t>
                </a:r>
                <a:r>
                  <a:rPr lang="en-US" altLang="zh-TW" dirty="0" err="1"/>
                  <a:t>wl</a:t>
                </a:r>
                <a:r>
                  <a:rPr lang="zh-TW" altLang="en-US" dirty="0"/>
                  <a:t>、</a:t>
                </a:r>
                <a:r>
                  <a:rPr lang="en-US" altLang="zh-TW" dirty="0" err="1"/>
                  <a:t>ws</a:t>
                </a:r>
                <a:r>
                  <a:rPr lang="zh-TW" altLang="en-US" dirty="0"/>
                  <a:t>當作輸入，產生圖中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lang="zh-TW" altLang="en-US" i="1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zh-TW" altLang="en-US" i="1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zh-TW" altLang="en-US" i="1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zh-TW" altLang="en-US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𝑢𝑠𝑡</m:t>
                        </m:r>
                      </m:sub>
                    </m:sSub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五張</m:t>
                    </m:r>
                  </m:oMath>
                </a14:m>
                <a:r>
                  <a:rPr lang="zh-TW" altLang="en-US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壓縮表</a:t>
                </a:r>
                <a:endParaRPr lang="en-US" altLang="zh-TW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344B332-C1E9-A106-2662-B28C435A4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6" y="1315058"/>
                <a:ext cx="11588024" cy="874085"/>
              </a:xfrm>
              <a:prstGeom prst="rect">
                <a:avLst/>
              </a:prstGeom>
              <a:blipFill>
                <a:blip r:embed="rId3"/>
                <a:stretch>
                  <a:fillRect l="-368" b="-11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2">
            <a:extLst>
              <a:ext uri="{FF2B5EF4-FFF2-40B4-BE49-F238E27FC236}">
                <a16:creationId xmlns:a16="http://schemas.microsoft.com/office/drawing/2014/main" id="{6EB96A44-134E-47D9-A2F3-32D9A9307F5A}"/>
              </a:ext>
            </a:extLst>
          </p:cNvPr>
          <p:cNvSpPr txBox="1">
            <a:spLocks/>
          </p:cNvSpPr>
          <p:nvPr/>
        </p:nvSpPr>
        <p:spPr bwMode="auto">
          <a:xfrm>
            <a:off x="828136" y="612347"/>
            <a:ext cx="898009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+mj-cs"/>
              </a:defRPr>
            </a:lvl1pPr>
          </a:lstStyle>
          <a:p>
            <a:pPr algn="just">
              <a:buClr>
                <a:schemeClr val="accent2"/>
              </a:buClr>
            </a:pP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Related Work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：</a:t>
            </a:r>
            <a:r>
              <a:rPr lang="en-US" altLang="zh-TW" sz="3200" b="1" dirty="0" err="1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CompressedLUT</a:t>
            </a:r>
            <a:r>
              <a:rPr lang="en-US" altLang="zh-TW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 </a:t>
            </a:r>
            <a:r>
              <a:rPr lang="zh-TW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標楷體"/>
                <a:cs typeface="Arial" panose="020B0604020202020204" pitchFamily="34" charset="0"/>
              </a:rPr>
              <a:t>研究方法</a:t>
            </a:r>
            <a:endParaRPr lang="en-US" altLang="zh-TW" sz="32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/>
          <a:srcRect t="7103"/>
          <a:stretch/>
        </p:blipFill>
        <p:spPr>
          <a:xfrm>
            <a:off x="1189664" y="2358454"/>
            <a:ext cx="9520918" cy="376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98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8EDFF-FBE1-FDD7-5220-038CAB4F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9"/>
            <a:ext cx="11652849" cy="1325563"/>
          </a:xfrm>
        </p:spPr>
        <p:txBody>
          <a:bodyPr/>
          <a:lstStyle/>
          <a:p>
            <a:r>
              <a:rPr lang="en-US" altLang="zh-TW" dirty="0"/>
              <a:t>Related Work</a:t>
            </a:r>
            <a:r>
              <a:rPr lang="zh-TW" altLang="en-US" dirty="0"/>
              <a:t>：</a:t>
            </a:r>
            <a:r>
              <a:rPr lang="en-US" altLang="zh-TW" dirty="0" err="1"/>
              <a:t>CompressedLUT</a:t>
            </a:r>
            <a:r>
              <a:rPr lang="en-US" altLang="zh-TW" dirty="0"/>
              <a:t>  Experimental Results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750" y="1285236"/>
            <a:ext cx="9210499" cy="5046425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3663696" y="2610799"/>
            <a:ext cx="6644640" cy="23774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3663696" y="3470335"/>
            <a:ext cx="6644640" cy="23774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3663696" y="4329871"/>
            <a:ext cx="6644640" cy="23774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3663696" y="5189407"/>
            <a:ext cx="6644640" cy="23774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3706368" y="6048943"/>
            <a:ext cx="6644640" cy="237744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142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8EDFF-FBE1-FDD7-5220-038CAB4F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291083"/>
              </p:ext>
            </p:extLst>
          </p:nvPr>
        </p:nvGraphicFramePr>
        <p:xfrm>
          <a:off x="2132852" y="1365124"/>
          <a:ext cx="8127999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CompressedLUT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論文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研究對象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數學函數、神經網路激活函數及其他一般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顯示器校正後的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 Gamma LUT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原始問題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太大，占用大量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FPGA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邏輯與記憶體資源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資料量大，傳輸批次多，燒錄時間長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主要目標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儲存容量與硬體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傳輸資料量與燒錄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壓縮位置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PC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端離線壓縮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MCU </a:t>
                      </a:r>
                      <a:r>
                        <a:rPr lang="zh-TW" altLang="en-US" dirty="0"/>
                        <a:t>傳送壓縮資料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解碼位置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FPGA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硬體即時解碼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AD board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韌體端解碼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評估指標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Final Size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Slice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FF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Delay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TPS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壓縮率、傳輸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bytes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、封包數、解碼時間、燒錄時間、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總校正時間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最終效益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降低硬體成本並提高單位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Slice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吞吐量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縮短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寫入流程，提升校正生產效率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54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92429" y="2727069"/>
            <a:ext cx="3631264" cy="792162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THANKS !!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6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925" y="4099617"/>
            <a:ext cx="3790950" cy="5788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91" y="3985316"/>
            <a:ext cx="4245309" cy="80494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429" y="5138946"/>
            <a:ext cx="3646786" cy="79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3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3_CES">
  <a:themeElements>
    <a:clrScheme name="藍色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訂 2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>
          <a:headEnd type="none" w="med" len="med"/>
          <a:tailEnd type="none" w="med" len="me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ES" id="{50D0B461-E578-4A6F-BB23-E89789979F7C}" vid="{8206FC47-2774-4224-8FCC-A0C58542EFD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22893</TotalTime>
  <Words>3133</Words>
  <Application>Microsoft Office PowerPoint</Application>
  <PresentationFormat>寬螢幕</PresentationFormat>
  <Paragraphs>314</Paragraphs>
  <Slides>20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Google Sans Text</vt:lpstr>
      <vt:lpstr>HelveticaNeue Regular</vt:lpstr>
      <vt:lpstr>標楷體</vt:lpstr>
      <vt:lpstr>Arial</vt:lpstr>
      <vt:lpstr>Calibri</vt:lpstr>
      <vt:lpstr>Cambria Math</vt:lpstr>
      <vt:lpstr>Times New Roman</vt:lpstr>
      <vt:lpstr>Wingdings</vt:lpstr>
      <vt:lpstr>3_CES</vt:lpstr>
      <vt:lpstr>醫療顯示器 RGB Gamma LUT 無損壓縮之初步研究 Based on CompressedLUT Methodology</vt:lpstr>
      <vt:lpstr>PowerPoint 簡報</vt:lpstr>
      <vt:lpstr>Introduction</vt:lpstr>
      <vt:lpstr>Background &amp; Existing System</vt:lpstr>
      <vt:lpstr>Background &amp; Existing System</vt:lpstr>
      <vt:lpstr>Background &amp; Existing System</vt:lpstr>
      <vt:lpstr>Background &amp; Existing System</vt:lpstr>
      <vt:lpstr>PowerPoint 簡報</vt:lpstr>
      <vt:lpstr>Problem Definition</vt:lpstr>
      <vt:lpstr>Problem Definition</vt:lpstr>
      <vt:lpstr>Related Work：CompressedLUT 研究背景與動機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Related Work：CompressedLUT  Experimental Results</vt:lpstr>
      <vt:lpstr>Comparison</vt:lpstr>
      <vt:lpstr>THANKS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M11302121</dc:creator>
  <cp:lastModifiedBy>宏德 林</cp:lastModifiedBy>
  <cp:revision>180</cp:revision>
  <dcterms:created xsi:type="dcterms:W3CDTF">2024-11-22T01:49:11Z</dcterms:created>
  <dcterms:modified xsi:type="dcterms:W3CDTF">2026-07-28T06:21:38Z</dcterms:modified>
</cp:coreProperties>
</file>