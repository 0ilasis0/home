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mp4" ContentType="video/mp4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8" r:id="rId1"/>
  </p:sldMasterIdLst>
  <p:notesMasterIdLst>
    <p:notesMasterId r:id="rId23"/>
  </p:notesMasterIdLst>
  <p:sldIdLst>
    <p:sldId id="277" r:id="rId2"/>
    <p:sldId id="1606" r:id="rId3"/>
    <p:sldId id="1607" r:id="rId4"/>
    <p:sldId id="1613" r:id="rId5"/>
    <p:sldId id="1616" r:id="rId6"/>
    <p:sldId id="1617" r:id="rId7"/>
    <p:sldId id="1624" r:id="rId8"/>
    <p:sldId id="1625" r:id="rId9"/>
    <p:sldId id="1626" r:id="rId10"/>
    <p:sldId id="1621" r:id="rId11"/>
    <p:sldId id="1622" r:id="rId12"/>
    <p:sldId id="1627" r:id="rId13"/>
    <p:sldId id="1602" r:id="rId14"/>
    <p:sldId id="1603" r:id="rId15"/>
    <p:sldId id="1549" r:id="rId16"/>
    <p:sldId id="1540" r:id="rId17"/>
    <p:sldId id="1553" r:id="rId18"/>
    <p:sldId id="1550" r:id="rId19"/>
    <p:sldId id="1551" r:id="rId20"/>
    <p:sldId id="1552" r:id="rId21"/>
    <p:sldId id="286" r:id="rId22"/>
  </p:sldIdLst>
  <p:sldSz cx="9906000" cy="6858000" type="A4"/>
  <p:notesSz cx="7315200" cy="96012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Head" id="{9114FBB3-8B00-422B-ACC9-030F49096E83}">
          <p14:sldIdLst>
            <p14:sldId id="277"/>
          </p14:sldIdLst>
        </p14:section>
        <p14:section name="Monitor" id="{4B9006A0-4997-461B-8B2E-DC8DC17E63E0}">
          <p14:sldIdLst>
            <p14:sldId id="1606"/>
            <p14:sldId id="1607"/>
            <p14:sldId id="1613"/>
            <p14:sldId id="1616"/>
            <p14:sldId id="1617"/>
            <p14:sldId id="1624"/>
            <p14:sldId id="1625"/>
            <p14:sldId id="1626"/>
            <p14:sldId id="1621"/>
            <p14:sldId id="1622"/>
            <p14:sldId id="1627"/>
            <p14:sldId id="1602"/>
            <p14:sldId id="1603"/>
          </p14:sldIdLst>
        </p14:section>
        <p14:section name="JS1100" id="{3F90DB17-D0DE-4CE1-9751-0249A1C3B38D}">
          <p14:sldIdLst>
            <p14:sldId id="1549"/>
            <p14:sldId id="1540"/>
            <p14:sldId id="1553"/>
            <p14:sldId id="1550"/>
            <p14:sldId id="1551"/>
            <p14:sldId id="1552"/>
          </p14:sldIdLst>
        </p14:section>
        <p14:section name="End" id="{33EEDC85-A799-4CB3-BF13-F4955B8630BE}">
          <p14:sldIdLst>
            <p14:sldId id="28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4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10902143" initials="m" lastIdx="1" clrIdx="0"/>
  <p:cmAuthor id="2" name="James Kuo" initials="JK" lastIdx="1" clrIdx="1"/>
  <p:cmAuthor id="3" name="昇鴻 李" initials="昇鴻" lastIdx="1" clrIdx="2">
    <p:extLst>
      <p:ext uri="{19B8F6BF-5375-455C-9EA6-DF929625EA0E}">
        <p15:presenceInfo xmlns:p15="http://schemas.microsoft.com/office/powerpoint/2012/main" userId="72a70edeaa250c2c" providerId="Windows Live"/>
      </p:ext>
    </p:extLst>
  </p:cmAuthor>
  <p:cmAuthor id="4" name="宏德 林" initials="宏林" lastIdx="2" clrIdx="3">
    <p:extLst>
      <p:ext uri="{19B8F6BF-5375-455C-9EA6-DF929625EA0E}">
        <p15:presenceInfo xmlns:p15="http://schemas.microsoft.com/office/powerpoint/2012/main" userId="933d0002216be5bd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00"/>
    <a:srgbClr val="00B050"/>
    <a:srgbClr val="FFC000"/>
    <a:srgbClr val="0057C0"/>
    <a:srgbClr val="000000"/>
    <a:srgbClr val="8958B1"/>
    <a:srgbClr val="C58DEF"/>
    <a:srgbClr val="993366"/>
    <a:srgbClr val="58148B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BD433FD4-3D7A-4217-8E80-1680D7E9CC69}" styleName="Table_0">
    <a:wholeTbl>
      <a:tcTxStyle b="off" i="off">
        <a:font>
          <a:latin typeface="Times New Roman"/>
          <a:ea typeface="Times New Roman"/>
          <a:cs typeface="Times New Roman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rgbClr val="E6E6E6"/>
          </a:solidFill>
        </a:fill>
      </a:tcStyle>
    </a:band1H>
    <a:band2H>
      <a:tcStyle>
        <a:tcBdr/>
      </a:tcStyle>
    </a:band2H>
    <a:band1V>
      <a:tcStyle>
        <a:tcBdr/>
        <a:fill>
          <a:solidFill>
            <a:srgbClr val="E6E6E6"/>
          </a:solidFill>
        </a:fill>
      </a:tcStyle>
    </a:band1V>
    <a:band2V>
      <a:tcStyle>
        <a:tcBdr/>
      </a:tcStyle>
    </a:band2V>
    <a:lastCol>
      <a:tcTxStyle b="on" i="off">
        <a:font>
          <a:latin typeface="Times New Roman"/>
          <a:ea typeface="Times New Roman"/>
          <a:cs typeface="Times New Roman"/>
        </a:font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 i="off">
        <a:font>
          <a:latin typeface="Times New Roman"/>
          <a:ea typeface="Times New Roman"/>
          <a:cs typeface="Times New Roman"/>
        </a:font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 i="off"/>
      <a:tcStyle>
        <a:tcBdr>
          <a:top>
            <a:ln w="508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lt1"/>
          </a:solidFill>
        </a:fill>
      </a:tcStyle>
    </a:lastRow>
    <a:seCell>
      <a:tcTxStyle b="on" i="off">
        <a:font>
          <a:latin typeface="Times New Roman"/>
          <a:ea typeface="Times New Roman"/>
          <a:cs typeface="Times New Roman"/>
        </a:font>
        <a:schemeClr val="dk1"/>
      </a:tcTxStyle>
      <a:tcStyle>
        <a:tcBdr/>
      </a:tcStyle>
    </a:seCell>
    <a:swCell>
      <a:tcTxStyle b="on" i="off">
        <a:font>
          <a:latin typeface="Times New Roman"/>
          <a:ea typeface="Times New Roman"/>
          <a:cs typeface="Times New Roman"/>
        </a:font>
        <a:schemeClr val="dk1"/>
      </a:tcTxStyle>
      <a:tcStyle>
        <a:tcBdr/>
      </a:tcStyle>
    </a:swCell>
    <a:firstRow>
      <a:tcTxStyle b="on" i="off">
        <a:font>
          <a:latin typeface="Times New Roman"/>
          <a:ea typeface="Times New Roman"/>
          <a:cs typeface="Times New Roman"/>
        </a:font>
        <a:schemeClr val="lt1"/>
      </a:tcTxStyle>
      <a:tcStyle>
        <a:tcBdr>
          <a:bottom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2"/>
          </a:solidFill>
        </a:fill>
      </a:tcStyle>
    </a:firstRow>
    <a:neCell>
      <a:tcStyle>
        <a:tcBdr/>
      </a:tcStyle>
    </a:neCell>
    <a:nwCell>
      <a:tcStyle>
        <a:tcBdr/>
      </a:tcStyle>
    </a:nwCell>
  </a:tblStyle>
  <a:tblStyle styleId="{3E919B74-BC6B-4152-9BDB-477648A112FC}" styleName="Table_1">
    <a:wholeTbl>
      <a:tcTxStyle b="off" i="off">
        <a:font>
          <a:latin typeface="Times New Roman"/>
          <a:ea typeface="Times New Roman"/>
          <a:cs typeface="Times New Roman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6F6EF"/>
          </a:solidFill>
        </a:fill>
      </a:tcStyle>
    </a:wholeTbl>
    <a:band1H>
      <a:tcStyle>
        <a:tcBdr/>
        <a:fill>
          <a:solidFill>
            <a:srgbClr val="CAECDD"/>
          </a:solidFill>
        </a:fill>
      </a:tcStyle>
    </a:band1H>
    <a:band2H>
      <a:tcStyle>
        <a:tcBdr/>
      </a:tcStyle>
    </a:band2H>
    <a:band1V>
      <a:tcStyle>
        <a:tcBdr/>
        <a:fill>
          <a:solidFill>
            <a:srgbClr val="CAECDD"/>
          </a:solidFill>
        </a:fill>
      </a:tcStyle>
    </a:band1V>
    <a:band2V>
      <a:tcStyle>
        <a:tcBdr/>
      </a:tcStyle>
    </a:band2V>
    <a:lastCol>
      <a:tcTxStyle b="on" i="off">
        <a:font>
          <a:latin typeface="Times New Roman"/>
          <a:ea typeface="Times New Roman"/>
          <a:cs typeface="Times New Roman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Times New Roman"/>
          <a:ea typeface="Times New Roman"/>
          <a:cs typeface="Times New Roman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Times New Roman"/>
          <a:ea typeface="Times New Roman"/>
          <a:cs typeface="Times New Roman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TxStyle b="on" i="off">
        <a:font>
          <a:latin typeface="Times New Roman"/>
          <a:ea typeface="Times New Roman"/>
          <a:cs typeface="Times New Roman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Style>
        <a:tcBdr/>
      </a:tcStyle>
    </a:neCell>
    <a:nwCell>
      <a:tcStyle>
        <a:tcBdr/>
      </a:tcStyle>
    </a:nwCell>
  </a:tblStyle>
  <a:tblStyle styleId="{72833802-FEF1-4C79-8D5D-14CF1EAF98D9}" styleName="淺色樣式 2 - 輔色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69C7853C-536D-4A76-A0AE-DD22124D55A5}" styleName="佈景主題樣式 1 - 輔色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75DCB02-9BB8-47FD-8907-85C794F793BA}" styleName="佈景主題樣式 1 - 輔色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284E427A-3D55-4303-BF80-6455036E1DE7}" styleName="佈景主題樣式 1 - 輔色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C2FFA5D-87B4-456A-9821-1D502468CF0F}" styleName="佈景主題樣式 1 - 輔色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18603FDC-E32A-4AB5-989C-0864C3EAD2B8}" styleName="佈景主題樣式 2 - 輔色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0E3FDE45-AF77-4B5C-9715-49D594BDF05E}" styleName="淺色樣式 1 - 輔色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0A1B5D5-9B99-4C35-A422-299274C87663}" styleName="中等深淺樣式 1 - 輔色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443" autoAdjust="0"/>
    <p:restoredTop sz="85697" autoAdjust="0"/>
  </p:normalViewPr>
  <p:slideViewPr>
    <p:cSldViewPr snapToGrid="0">
      <p:cViewPr varScale="1">
        <p:scale>
          <a:sx n="97" d="100"/>
          <a:sy n="97" d="100"/>
        </p:scale>
        <p:origin x="1608" y="84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50" d="100"/>
        <a:sy n="150" d="100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3024"/>
        <p:guide pos="230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9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176588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2350" tIns="51175" rIns="102350" bIns="51175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 dirty="0"/>
          </a:p>
        </p:txBody>
      </p:sp>
      <p:sp>
        <p:nvSpPr>
          <p:cNvPr id="1048660" name="Google Shape;4;n"/>
          <p:cNvSpPr txBox="1">
            <a:spLocks noGrp="1"/>
          </p:cNvSpPr>
          <p:nvPr>
            <p:ph type="dt" idx="10"/>
          </p:nvPr>
        </p:nvSpPr>
        <p:spPr>
          <a:xfrm>
            <a:off x="4138613" y="0"/>
            <a:ext cx="3176587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2350" tIns="51175" rIns="102350" bIns="51175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 dirty="0"/>
          </a:p>
        </p:txBody>
      </p:sp>
      <p:sp>
        <p:nvSpPr>
          <p:cNvPr id="1048661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062038" y="735013"/>
            <a:ext cx="5197475" cy="359886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048662" name="Google Shape;6;n"/>
          <p:cNvSpPr txBox="1">
            <a:spLocks noGrp="1"/>
          </p:cNvSpPr>
          <p:nvPr>
            <p:ph type="body" idx="1"/>
          </p:nvPr>
        </p:nvSpPr>
        <p:spPr>
          <a:xfrm>
            <a:off x="962025" y="4567238"/>
            <a:ext cx="5391150" cy="4300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2350" tIns="51175" rIns="102350" bIns="51175" anchor="t" anchorCtr="0">
            <a:no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48663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134475"/>
            <a:ext cx="3176588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2350" tIns="51175" rIns="102350" bIns="51175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 dirty="0"/>
          </a:p>
        </p:txBody>
      </p:sp>
      <p:sp>
        <p:nvSpPr>
          <p:cNvPr id="1048664" name="Google Shape;8;n"/>
          <p:cNvSpPr txBox="1">
            <a:spLocks noGrp="1"/>
          </p:cNvSpPr>
          <p:nvPr>
            <p:ph type="sldNum" idx="12"/>
          </p:nvPr>
        </p:nvSpPr>
        <p:spPr>
          <a:xfrm>
            <a:off x="4138613" y="9134475"/>
            <a:ext cx="3176587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2350" tIns="51175" rIns="102350" bIns="51175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5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586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1048587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753A29-9D77-4C26-8BEC-432FE5D4B0A4}" type="slidenum">
              <a:rPr lang="en-US" altLang="zh-TW" smtClean="0"/>
              <a:t>1</a:t>
            </a:fld>
            <a:endParaRPr lang="en-US" altLang="zh-TW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9E0498-7615-B242-1A51-21D8DD8B19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293DDDC5-81A2-0754-B76E-6153A56E47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99D53161-EFF3-A134-F551-EB5357C141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7754E74-48A2-4DE4-5FEC-032DE4C622F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0428052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0C39CB-6967-108A-B803-46F4566FF2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F09330BC-8105-9EAF-468F-1F68029F48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934EF5A8-4E2D-FC96-9B78-2449254F74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8B86A71-D068-2EC1-A4B1-FEA69188251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90106041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5E903F-E917-D805-9640-B4F21E28E9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E22BB67B-B3F9-2B09-339C-F3CE8EF935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C3FDE354-ADBC-097F-8302-BC53B5E23F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0B6A2FB-5899-4593-9A1A-4CA8A5ADC81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92641171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A299FE-E259-2650-9213-D2A893A410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F3EA95D8-04B4-5EC8-75B9-E84B3EFE1A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54A13972-0FC2-53C1-C97B-9B675AA0F0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A5FC8A8-53DF-8E3F-2111-041B37C7445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19991761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2B6B2D-5D44-EF67-2C24-B551096D71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B49549F3-94A0-B493-05BA-7CC56BA8E7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1DE729F1-3523-14DE-4FAA-8DCCC8AF4C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B9DCA9F-6040-CD18-63D7-6ED1BB36B9D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49285280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432FC6-07F2-3CFD-5BDE-29CC0B4A31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A3CF2A18-B7C5-9407-40B8-63BA4B428B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5615F7CD-3C8E-3D18-63D6-A7296BEDC7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166D7D1-D836-4DD8-770E-3E05EA49392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73316098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F4A66A-E50B-D377-95EF-3D1E98952A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73426941-6818-00FA-DDC0-E2E8969332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DED4ABA9-CB5C-FA06-306C-8EFC865E74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7C930A1-5E1C-FE0F-0632-6C6E8435DEE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43452132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6948F8-E734-BEA0-CEEC-97C551606B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7357F66D-4237-8A8B-C02E-CF65D3F744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9FEB728D-B278-77D0-F2CE-348844C275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494DC34-5543-9A71-49CE-E0DCD301CC4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66706375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21270194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11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6729290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12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96636358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A0507B-5721-158A-D4EB-84B520220F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6C0FEB19-6981-0A35-44BC-72E0307442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6282819B-7E99-A345-44B9-437C6E065F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56EE7D2-F115-86D5-7BB0-D9B11678EC5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13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00324820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7BD48B-366E-4196-8702-CDD72B56F6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AC5C3666-8293-FE4A-E6A8-746D8E70D4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6BB9B9FF-AD11-40ED-A156-7CA339CF64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1251B80-7110-AC50-8BF2-EC7B372BE91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14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64500224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0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611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1048612" name="投影片編號版面配置區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15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7520482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0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611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1048612" name="投影片編號版面配置區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16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8146842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0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611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1048612" name="投影片編號版面配置區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17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82842863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0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611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1048612" name="投影片編號版面配置區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18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06950093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0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611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1048612" name="投影片編號版面配置區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19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58108765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0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611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1048612" name="投影片編號版面配置區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20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54233816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1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642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0">
              <a:buNone/>
            </a:pPr>
            <a:endParaRPr lang="en-US" altLang="zh-TW" dirty="0"/>
          </a:p>
        </p:txBody>
      </p:sp>
      <p:sp>
        <p:nvSpPr>
          <p:cNvPr id="1048643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753A29-9D77-4C26-8BEC-432FE5D4B0A4}" type="slidenum">
              <a:rPr lang="en-US" altLang="zh-TW" smtClean="0"/>
              <a:t>21</a:t>
            </a:fld>
            <a:endParaRPr lang="en-US" altLang="zh-TW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標題投影片" type="title">
  <p:cSld name="TITLE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6" name="Google Shape;21;p50"/>
          <p:cNvSpPr txBox="1">
            <a:spLocks noGrp="1"/>
          </p:cNvSpPr>
          <p:nvPr>
            <p:ph type="ctrTitle"/>
          </p:nvPr>
        </p:nvSpPr>
        <p:spPr>
          <a:xfrm>
            <a:off x="1238250" y="1122363"/>
            <a:ext cx="74295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4875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37" name="Google Shape;22;p50"/>
          <p:cNvSpPr txBox="1"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390"/>
              </a:spcBef>
              <a:spcAft>
                <a:spcPts val="0"/>
              </a:spcAft>
              <a:buSzPts val="1950"/>
              <a:buNone/>
              <a:defRPr sz="1950"/>
            </a:lvl1pPr>
            <a:lvl2pPr lvl="1" algn="ctr">
              <a:spcBef>
                <a:spcPts val="325"/>
              </a:spcBef>
              <a:spcAft>
                <a:spcPts val="0"/>
              </a:spcAft>
              <a:buSzPts val="1625"/>
              <a:buNone/>
              <a:defRPr sz="1625"/>
            </a:lvl2pPr>
            <a:lvl3pPr lvl="2" algn="ctr">
              <a:spcBef>
                <a:spcPts val="293"/>
              </a:spcBef>
              <a:spcAft>
                <a:spcPts val="0"/>
              </a:spcAft>
              <a:buSzPts val="1463"/>
              <a:buFont typeface="Times New Roman"/>
              <a:buNone/>
              <a:defRPr sz="1463"/>
            </a:lvl3pPr>
            <a:lvl4pPr lvl="3" algn="ctr">
              <a:spcBef>
                <a:spcPts val="260"/>
              </a:spcBef>
              <a:spcAft>
                <a:spcPts val="0"/>
              </a:spcAft>
              <a:buSzPts val="1300"/>
              <a:buFont typeface="Times New Roman"/>
              <a:buNone/>
              <a:defRPr sz="1300"/>
            </a:lvl4pPr>
            <a:lvl5pPr lvl="4" algn="ctr">
              <a:spcBef>
                <a:spcPts val="260"/>
              </a:spcBef>
              <a:spcAft>
                <a:spcPts val="0"/>
              </a:spcAft>
              <a:buSzPts val="1300"/>
              <a:buFont typeface="Times New Roman"/>
              <a:buNone/>
              <a:defRPr sz="1300"/>
            </a:lvl5pPr>
            <a:lvl6pPr lvl="5" algn="ctr">
              <a:spcBef>
                <a:spcPts val="260"/>
              </a:spcBef>
              <a:spcAft>
                <a:spcPts val="0"/>
              </a:spcAft>
              <a:buSzPts val="1300"/>
              <a:buFont typeface="Times New Roman"/>
              <a:buNone/>
              <a:defRPr sz="1300"/>
            </a:lvl6pPr>
            <a:lvl7pPr lvl="6" algn="ctr">
              <a:spcBef>
                <a:spcPts val="260"/>
              </a:spcBef>
              <a:spcAft>
                <a:spcPts val="0"/>
              </a:spcAft>
              <a:buSzPts val="1300"/>
              <a:buFont typeface="Times New Roman"/>
              <a:buNone/>
              <a:defRPr sz="1300"/>
            </a:lvl7pPr>
            <a:lvl8pPr lvl="7" algn="ctr">
              <a:spcBef>
                <a:spcPts val="260"/>
              </a:spcBef>
              <a:spcAft>
                <a:spcPts val="0"/>
              </a:spcAft>
              <a:buSzPts val="1300"/>
              <a:buFont typeface="Times New Roman"/>
              <a:buNone/>
              <a:defRPr sz="1300"/>
            </a:lvl8pPr>
            <a:lvl9pPr lvl="8" algn="ctr">
              <a:spcBef>
                <a:spcPts val="260"/>
              </a:spcBef>
              <a:spcAft>
                <a:spcPts val="0"/>
              </a:spcAft>
              <a:buSzPts val="1300"/>
              <a:buFont typeface="Times New Roman"/>
              <a:buNone/>
              <a:defRPr sz="1300"/>
            </a:lvl9pPr>
          </a:lstStyle>
          <a:p>
            <a:endParaRPr/>
          </a:p>
        </p:txBody>
      </p:sp>
      <p:sp>
        <p:nvSpPr>
          <p:cNvPr id="1048638" name="Google Shape;23;p50"/>
          <p:cNvSpPr txBox="1">
            <a:spLocks noGrp="1"/>
          </p:cNvSpPr>
          <p:nvPr>
            <p:ph type="dt" idx="10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 dirty="0"/>
          </a:p>
        </p:txBody>
      </p:sp>
      <p:sp>
        <p:nvSpPr>
          <p:cNvPr id="1048639" name="Google Shape;24;p50"/>
          <p:cNvSpPr txBox="1">
            <a:spLocks noGrp="1"/>
          </p:cNvSpPr>
          <p:nvPr>
            <p:ph type="ftr" idx="1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 dirty="0"/>
          </a:p>
        </p:txBody>
      </p:sp>
      <p:sp>
        <p:nvSpPr>
          <p:cNvPr id="1048640" name="Google Shape;25;p50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6" name="Google Shape;37;p5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47" name="Google Shape;38;p54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SzPts val="1800"/>
              <a:buFont typeface="Times New Roman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9pPr>
          </a:lstStyle>
          <a:p>
            <a:endParaRPr/>
          </a:p>
        </p:txBody>
      </p:sp>
      <p:sp>
        <p:nvSpPr>
          <p:cNvPr id="1048648" name="Google Shape;39;p54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SzPts val="2400"/>
              <a:buChar char="❖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SzPts val="2000"/>
              <a:buChar char="▪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Font typeface="Times New Roman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9pPr>
          </a:lstStyle>
          <a:p>
            <a:endParaRPr/>
          </a:p>
        </p:txBody>
      </p:sp>
      <p:sp>
        <p:nvSpPr>
          <p:cNvPr id="1048649" name="Google Shape;40;p54"/>
          <p:cNvSpPr txBox="1">
            <a:spLocks noGrp="1"/>
          </p:cNvSpPr>
          <p:nvPr>
            <p:ph type="body" idx="3"/>
          </p:nvPr>
        </p:nvSpPr>
        <p:spPr>
          <a:xfrm>
            <a:off x="4645027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SzPts val="1800"/>
              <a:buFont typeface="Times New Roman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9pPr>
          </a:lstStyle>
          <a:p>
            <a:endParaRPr/>
          </a:p>
        </p:txBody>
      </p:sp>
      <p:sp>
        <p:nvSpPr>
          <p:cNvPr id="1048650" name="Google Shape;41;p54"/>
          <p:cNvSpPr txBox="1">
            <a:spLocks noGrp="1"/>
          </p:cNvSpPr>
          <p:nvPr>
            <p:ph type="body" idx="4"/>
          </p:nvPr>
        </p:nvSpPr>
        <p:spPr>
          <a:xfrm>
            <a:off x="4645027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SzPts val="2400"/>
              <a:buChar char="❖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SzPts val="2000"/>
              <a:buChar char="▪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Font typeface="Times New Roman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3" name="Google Shape;43;p55"/>
          <p:cNvSpPr txBox="1">
            <a:spLocks noGrp="1"/>
          </p:cNvSpPr>
          <p:nvPr>
            <p:ph type="title"/>
          </p:nvPr>
        </p:nvSpPr>
        <p:spPr>
          <a:xfrm>
            <a:off x="660400" y="609600"/>
            <a:ext cx="87503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4" name="Google Shape;50;p58"/>
          <p:cNvSpPr txBox="1">
            <a:spLocks noGrp="1"/>
          </p:cNvSpPr>
          <p:nvPr>
            <p:ph type="title"/>
          </p:nvPr>
        </p:nvSpPr>
        <p:spPr>
          <a:xfrm>
            <a:off x="1792290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55" name="Google Shape;51;p58"/>
          <p:cNvSpPr>
            <a:spLocks noGrp="1"/>
          </p:cNvSpPr>
          <p:nvPr>
            <p:ph type="pic" idx="2"/>
          </p:nvPr>
        </p:nvSpPr>
        <p:spPr>
          <a:xfrm>
            <a:off x="1792290" y="61277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64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Noto Sans Symbols"/>
              <a:buNone/>
              <a:defRPr sz="3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560"/>
              </a:spcBef>
              <a:spcAft>
                <a:spcPts val="0"/>
              </a:spcAft>
              <a:buClr>
                <a:srgbClr val="FF5050"/>
              </a:buClr>
              <a:buSzPts val="2800"/>
              <a:buFont typeface="Noto Sans Symbols"/>
              <a:buNone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480"/>
              </a:spcBef>
              <a:spcAft>
                <a:spcPts val="0"/>
              </a:spcAft>
              <a:buClr>
                <a:srgbClr val="6699FF"/>
              </a:buClr>
              <a:buSzPts val="2400"/>
              <a:buFont typeface="Times New Roman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 dirty="0"/>
          </a:p>
        </p:txBody>
      </p:sp>
      <p:sp>
        <p:nvSpPr>
          <p:cNvPr id="1048656" name="Google Shape;52;p58"/>
          <p:cNvSpPr txBox="1">
            <a:spLocks noGrp="1"/>
          </p:cNvSpPr>
          <p:nvPr>
            <p:ph type="body" idx="1"/>
          </p:nvPr>
        </p:nvSpPr>
        <p:spPr>
          <a:xfrm>
            <a:off x="1792290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SzPts val="1000"/>
              <a:buFont typeface="Times New Roman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SzPts val="900"/>
              <a:buFont typeface="Times New Roman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SzPts val="900"/>
              <a:buFont typeface="Times New Roman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SzPts val="900"/>
              <a:buFont typeface="Times New Roman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SzPts val="900"/>
              <a:buFont typeface="Times New Roman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SzPts val="900"/>
              <a:buFont typeface="Times New Roman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SzPts val="900"/>
              <a:buFont typeface="Times New Roman"/>
              <a:buNone/>
              <a:defRPr sz="9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4" name="Google Shape;54;p59"/>
          <p:cNvSpPr txBox="1">
            <a:spLocks noGrp="1"/>
          </p:cNvSpPr>
          <p:nvPr>
            <p:ph type="title"/>
          </p:nvPr>
        </p:nvSpPr>
        <p:spPr>
          <a:xfrm>
            <a:off x="660400" y="609600"/>
            <a:ext cx="87503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45" name="Google Shape;55;p59"/>
          <p:cNvSpPr txBox="1">
            <a:spLocks noGrp="1"/>
          </p:cNvSpPr>
          <p:nvPr>
            <p:ph type="body" idx="1"/>
          </p:nvPr>
        </p:nvSpPr>
        <p:spPr>
          <a:xfrm rot="5400000">
            <a:off x="2593975" y="-485775"/>
            <a:ext cx="4800600" cy="8667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SzPts val="1800"/>
              <a:buChar char="❖"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7" name="Google Shape;57;p60"/>
          <p:cNvSpPr txBox="1">
            <a:spLocks noGrp="1"/>
          </p:cNvSpPr>
          <p:nvPr>
            <p:ph type="title"/>
          </p:nvPr>
        </p:nvSpPr>
        <p:spPr>
          <a:xfrm rot="5400000">
            <a:off x="4857751" y="2419350"/>
            <a:ext cx="5638800" cy="201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58" name="Google Shape;58;p60"/>
          <p:cNvSpPr txBox="1">
            <a:spLocks noGrp="1"/>
          </p:cNvSpPr>
          <p:nvPr>
            <p:ph type="body" idx="1"/>
          </p:nvPr>
        </p:nvSpPr>
        <p:spPr>
          <a:xfrm rot="5400000">
            <a:off x="742951" y="476250"/>
            <a:ext cx="5638800" cy="590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SzPts val="1800"/>
              <a:buChar char="❖"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chart">
  <p:cSld name="1_Title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9" name="Title 1"/>
          <p:cNvSpPr>
            <a:spLocks noGrp="1"/>
          </p:cNvSpPr>
          <p:nvPr>
            <p:ph type="title"/>
          </p:nvPr>
        </p:nvSpPr>
        <p:spPr>
          <a:xfrm>
            <a:off x="609602" y="609600"/>
            <a:ext cx="8077200" cy="533400"/>
          </a:xfrm>
        </p:spPr>
        <p:txBody>
          <a:bodyPr/>
          <a:lstStyle/>
          <a:p>
            <a:r>
              <a:rPr lang="en-US" altLang="zh-TW" dirty="0"/>
              <a:t>Click to edit Master title style</a:t>
            </a:r>
            <a:endParaRPr lang="en-US" dirty="0"/>
          </a:p>
        </p:txBody>
      </p:sp>
      <p:sp>
        <p:nvSpPr>
          <p:cNvPr id="1048580" name="Chart Placeholder 2"/>
          <p:cNvSpPr>
            <a:spLocks noGrp="1"/>
          </p:cNvSpPr>
          <p:nvPr>
            <p:ph type="chart" idx="1"/>
          </p:nvPr>
        </p:nvSpPr>
        <p:spPr>
          <a:xfrm>
            <a:off x="609600" y="1447800"/>
            <a:ext cx="8001000" cy="4800600"/>
          </a:xfrm>
        </p:spPr>
        <p:txBody>
          <a:bodyPr/>
          <a:lstStyle/>
          <a:p>
            <a:pPr lvl="0"/>
            <a:endParaRPr lang="en-US" noProof="0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US"/>
          </a:p>
        </p:txBody>
      </p:sp>
      <p:sp>
        <p:nvSpPr>
          <p:cNvPr id="1048652" name="Title 1"/>
          <p:cNvSpPr>
            <a:spLocks noGrp="1"/>
          </p:cNvSpPr>
          <p:nvPr>
            <p:ph type="title"/>
          </p:nvPr>
        </p:nvSpPr>
        <p:spPr>
          <a:xfrm>
            <a:off x="660400" y="609600"/>
            <a:ext cx="8750300" cy="5334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 altLang="zh-TW" dirty="0"/>
              <a:t>Title of the Slide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jpe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Google Shape;10;p48"/>
          <p:cNvSpPr txBox="1">
            <a:spLocks noGrp="1"/>
          </p:cNvSpPr>
          <p:nvPr>
            <p:ph type="title"/>
          </p:nvPr>
        </p:nvSpPr>
        <p:spPr>
          <a:xfrm>
            <a:off x="660400" y="609600"/>
            <a:ext cx="87503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cxnSp>
        <p:nvCxnSpPr>
          <p:cNvPr id="3145728" name="Google Shape;11;p48"/>
          <p:cNvCxnSpPr>
            <a:cxnSpLocks/>
          </p:cNvCxnSpPr>
          <p:nvPr/>
        </p:nvCxnSpPr>
        <p:spPr>
          <a:xfrm>
            <a:off x="412750" y="533400"/>
            <a:ext cx="899795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145729" name="Google Shape;12;p48"/>
          <p:cNvCxnSpPr>
            <a:cxnSpLocks/>
          </p:cNvCxnSpPr>
          <p:nvPr/>
        </p:nvCxnSpPr>
        <p:spPr>
          <a:xfrm>
            <a:off x="577850" y="228600"/>
            <a:ext cx="0" cy="990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145730" name="Google Shape;13;p48"/>
          <p:cNvCxnSpPr>
            <a:cxnSpLocks/>
          </p:cNvCxnSpPr>
          <p:nvPr/>
        </p:nvCxnSpPr>
        <p:spPr>
          <a:xfrm>
            <a:off x="495300" y="6400800"/>
            <a:ext cx="89154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48577" name="Google Shape;14;p48"/>
          <p:cNvSpPr txBox="1">
            <a:spLocks noGrp="1"/>
          </p:cNvSpPr>
          <p:nvPr>
            <p:ph type="body" idx="1"/>
          </p:nvPr>
        </p:nvSpPr>
        <p:spPr>
          <a:xfrm>
            <a:off x="660400" y="1447800"/>
            <a:ext cx="8667750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048578" name="Google Shape;15;p48"/>
          <p:cNvSpPr txBox="1"/>
          <p:nvPr/>
        </p:nvSpPr>
        <p:spPr>
          <a:xfrm>
            <a:off x="8510587" y="6502400"/>
            <a:ext cx="817563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4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097152" name="Google Shape;16;p48"/>
          <p:cNvPicPr preferRelativeResize="0">
            <a:picLocks/>
          </p:cNvPicPr>
          <p:nvPr/>
        </p:nvPicPr>
        <p:blipFill rotWithShape="1">
          <a:blip r:embed="rId11">
            <a:alphaModFix/>
          </a:blip>
          <a:srcRect/>
          <a:stretch>
            <a:fillRect/>
          </a:stretch>
        </p:blipFill>
        <p:spPr>
          <a:xfrm>
            <a:off x="57150" y="6446838"/>
            <a:ext cx="1827213" cy="360362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6.png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Rectangle 2"/>
          <p:cNvSpPr>
            <a:spLocks noGrp="1" noChangeArrowheads="1"/>
          </p:cNvSpPr>
          <p:nvPr>
            <p:ph type="title"/>
          </p:nvPr>
        </p:nvSpPr>
        <p:spPr>
          <a:xfrm>
            <a:off x="668908" y="1829704"/>
            <a:ext cx="8568183" cy="1728539"/>
          </a:xfrm>
        </p:spPr>
        <p:txBody>
          <a:bodyPr/>
          <a:lstStyle/>
          <a:p>
            <a:pPr algn="ctr" eaLnBrk="1" hangingPunct="1"/>
            <a:r>
              <a:rPr lang="en-US" altLang="zh-TW" sz="3200" b="1" dirty="0">
                <a:solidFill>
                  <a:srgbClr val="0057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Progress Report</a:t>
            </a:r>
          </a:p>
        </p:txBody>
      </p:sp>
      <p:sp>
        <p:nvSpPr>
          <p:cNvPr id="1048582" name="Rectangle 2"/>
          <p:cNvSpPr txBox="1">
            <a:spLocks noChangeArrowheads="1"/>
          </p:cNvSpPr>
          <p:nvPr/>
        </p:nvSpPr>
        <p:spPr bwMode="auto">
          <a:xfrm>
            <a:off x="907104" y="3362630"/>
            <a:ext cx="8568183" cy="172853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+mn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9pPr>
          </a:lstStyle>
          <a:p>
            <a:pPr algn="ctr" eaLnBrk="1" hangingPunct="1"/>
            <a:endParaRPr lang="en-US" altLang="zh-TW" kern="0" dirty="0">
              <a:solidFill>
                <a:schemeClr val="tx1"/>
              </a:solidFill>
            </a:endParaRPr>
          </a:p>
        </p:txBody>
      </p:sp>
      <p:sp>
        <p:nvSpPr>
          <p:cNvPr id="1048583" name="Text Box 4"/>
          <p:cNvSpPr txBox="1">
            <a:spLocks noChangeArrowheads="1"/>
          </p:cNvSpPr>
          <p:nvPr/>
        </p:nvSpPr>
        <p:spPr bwMode="auto">
          <a:xfrm>
            <a:off x="1100262" y="4484365"/>
            <a:ext cx="7705476" cy="70788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/>
            <a:r>
              <a:rPr lang="en-US" altLang="zh-TW" sz="2000" dirty="0">
                <a:cs typeface="Times New Roman" panose="02020603050405020304" pitchFamily="18" charset="0"/>
              </a:rPr>
              <a:t>Author : </a:t>
            </a:r>
          </a:p>
          <a:p>
            <a:pPr algn="ctr"/>
            <a:r>
              <a:rPr lang="en-US" altLang="zh-TW" sz="2000" dirty="0">
                <a:cs typeface="Times New Roman" panose="02020603050405020304" pitchFamily="18" charset="0"/>
              </a:rPr>
              <a:t>Hong-De</a:t>
            </a:r>
            <a:r>
              <a:rPr lang="zh-TW" altLang="en-US" sz="2000" dirty="0">
                <a:cs typeface="Times New Roman" panose="02020603050405020304" pitchFamily="18" charset="0"/>
              </a:rPr>
              <a:t>、</a:t>
            </a:r>
            <a:r>
              <a:rPr lang="en-US" altLang="zh-TW" sz="2000" dirty="0">
                <a:cs typeface="Times New Roman" panose="02020603050405020304" pitchFamily="18" charset="0"/>
              </a:rPr>
              <a:t>Wei-Xin</a:t>
            </a:r>
            <a:r>
              <a:rPr lang="zh-TW" altLang="en-US" sz="2000" dirty="0">
                <a:cs typeface="Times New Roman" panose="02020603050405020304" pitchFamily="18" charset="0"/>
              </a:rPr>
              <a:t>、</a:t>
            </a:r>
            <a:r>
              <a:rPr lang="en-US" altLang="zh-TW" sz="2000" dirty="0">
                <a:cs typeface="Times New Roman" panose="02020603050405020304" pitchFamily="18" charset="0"/>
              </a:rPr>
              <a:t>Guan-Ting</a:t>
            </a:r>
            <a:r>
              <a:rPr lang="zh-TW" altLang="en-US" sz="2000" dirty="0">
                <a:cs typeface="Times New Roman" panose="02020603050405020304" pitchFamily="18" charset="0"/>
              </a:rPr>
              <a:t>、</a:t>
            </a:r>
            <a:r>
              <a:rPr lang="en-US" altLang="zh-TW" sz="2000" dirty="0">
                <a:cs typeface="Times New Roman" panose="02020603050405020304" pitchFamily="18" charset="0"/>
              </a:rPr>
              <a:t>Sheng-Yao</a:t>
            </a:r>
            <a:r>
              <a:rPr lang="zh-TW" altLang="en-US" sz="2000" dirty="0">
                <a:cs typeface="Times New Roman" panose="02020603050405020304" pitchFamily="18" charset="0"/>
              </a:rPr>
              <a:t>、</a:t>
            </a:r>
            <a:r>
              <a:rPr lang="en-US" altLang="zh-TW" sz="2000" dirty="0">
                <a:cs typeface="Times New Roman" panose="02020603050405020304" pitchFamily="18" charset="0"/>
              </a:rPr>
              <a:t>Che-Chia</a:t>
            </a:r>
          </a:p>
        </p:txBody>
      </p:sp>
      <p:sp>
        <p:nvSpPr>
          <p:cNvPr id="1048584" name="Text Box 4"/>
          <p:cNvSpPr txBox="1">
            <a:spLocks noChangeArrowheads="1"/>
          </p:cNvSpPr>
          <p:nvPr/>
        </p:nvSpPr>
        <p:spPr bwMode="auto">
          <a:xfrm>
            <a:off x="1100262" y="5673486"/>
            <a:ext cx="7705476" cy="46166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/>
            <a:r>
              <a:rPr lang="en-US" altLang="zh-TW" b="1" dirty="0">
                <a:solidFill>
                  <a:srgbClr val="0057C0"/>
                </a:solidFill>
              </a:rPr>
              <a:t>Embedded System Software Design</a:t>
            </a:r>
            <a:endParaRPr lang="en-US" altLang="zh-TW" sz="2000" b="1" dirty="0">
              <a:solidFill>
                <a:srgbClr val="0057C0"/>
              </a:solidFill>
              <a:latin typeface="+mn-lt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351EFC-896E-CC27-208D-1794FBF271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208920E-D3EF-5A3A-DB18-F83D0A5F83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本次進度</a:t>
            </a:r>
            <a:r>
              <a:rPr lang="en-US" altLang="zh-TW" dirty="0"/>
              <a:t>:</a:t>
            </a:r>
            <a:r>
              <a:rPr lang="zh-TW" altLang="en-US" dirty="0"/>
              <a:t> </a:t>
            </a:r>
            <a:r>
              <a:rPr lang="en-US" altLang="zh-TW" dirty="0"/>
              <a:t>Monitor</a:t>
            </a:r>
            <a:endParaRPr lang="zh-TW" altLang="en-US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D13C6A2A-9AC7-03D3-5ECB-33DD8400EC0A}"/>
              </a:ext>
            </a:extLst>
          </p:cNvPr>
          <p:cNvSpPr txBox="1"/>
          <p:nvPr/>
        </p:nvSpPr>
        <p:spPr>
          <a:xfrm>
            <a:off x="520699" y="1369489"/>
            <a:ext cx="7669813" cy="4299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1" indent="-406400">
              <a:lnSpc>
                <a:spcPts val="3000"/>
              </a:lnSpc>
              <a:spcBef>
                <a:spcPts val="560"/>
              </a:spcBef>
              <a:buClr>
                <a:schemeClr val="accent2"/>
              </a:buClr>
              <a:buSzPts val="2800"/>
              <a:buFont typeface="Noto Sans Symbols"/>
              <a:buChar char="❖"/>
            </a:pP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根據計畫書中內容進行開發，以下分別為階段二目標和當前開發進度及優先序。</a:t>
            </a:r>
            <a:endParaRPr lang="en-US" altLang="zh-TW" sz="1600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C11ED97E-5350-A4FF-1A4B-7BAA0B7CEFC4}"/>
              </a:ext>
            </a:extLst>
          </p:cNvPr>
          <p:cNvGraphicFramePr>
            <a:graphicFrameLocks noGrp="1"/>
          </p:cNvGraphicFramePr>
          <p:nvPr/>
        </p:nvGraphicFramePr>
        <p:xfrm>
          <a:off x="570104" y="2311400"/>
          <a:ext cx="4903596" cy="2742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2917">
                  <a:extLst>
                    <a:ext uri="{9D8B030D-6E8A-4147-A177-3AD203B41FA5}">
                      <a16:colId xmlns:a16="http://schemas.microsoft.com/office/drawing/2014/main" val="1192615841"/>
                    </a:ext>
                  </a:extLst>
                </a:gridCol>
                <a:gridCol w="1572565">
                  <a:extLst>
                    <a:ext uri="{9D8B030D-6E8A-4147-A177-3AD203B41FA5}">
                      <a16:colId xmlns:a16="http://schemas.microsoft.com/office/drawing/2014/main" val="1364961183"/>
                    </a:ext>
                  </a:extLst>
                </a:gridCol>
                <a:gridCol w="1758114">
                  <a:extLst>
                    <a:ext uri="{9D8B030D-6E8A-4147-A177-3AD203B41FA5}">
                      <a16:colId xmlns:a16="http://schemas.microsoft.com/office/drawing/2014/main" val="2476587428"/>
                    </a:ext>
                  </a:extLst>
                </a:gridCol>
              </a:tblGrid>
              <a:tr h="395480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階段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zh-TW" altLang="en-US" sz="1400" b="1" i="0" u="none" strike="noStrike" cap="none" dirty="0">
                          <a:solidFill>
                            <a:schemeClr val="lt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  <a:sym typeface="Arial"/>
                        </a:rPr>
                        <a:t>時間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zh-TW" altLang="en-US" sz="1400" b="1" i="0" u="none" strike="noStrike" cap="none" dirty="0">
                          <a:solidFill>
                            <a:schemeClr val="lt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  <a:sym typeface="Arial"/>
                        </a:rPr>
                        <a:t>目標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0900139"/>
                  </a:ext>
                </a:extLst>
              </a:tr>
              <a:tr h="1979433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階段二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 month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Measure tool (CA-410 and i1Display</a:t>
                      </a:r>
                      <a:r>
                        <a:rPr lang="en-US" altLang="zh-TW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)</a:t>
                      </a: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zh-TW" alt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顯示亮度、色溫、</a:t>
                      </a:r>
                      <a:r>
                        <a:rPr lang="en-US" altLang="zh-TW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CIE1931</a:t>
                      </a:r>
                      <a:r>
                        <a:rPr lang="zh-TW" alt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 </a:t>
                      </a:r>
                      <a:r>
                        <a:rPr lang="en-US" altLang="zh-TW" sz="1400" b="0" i="0" u="none" strike="noStrike" cap="none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x,y</a:t>
                      </a:r>
                      <a:r>
                        <a:rPr lang="en-US" altLang="zh-TW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 </a:t>
                      </a:r>
                      <a:r>
                        <a:rPr lang="zh-TW" alt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資訊</a:t>
                      </a:r>
                      <a:endParaRPr lang="en-US" altLang="zh-TW" sz="1400" b="0" i="0" u="none" strike="noStrike" cap="none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  <a:sym typeface="Arial"/>
                      </a:endParaRP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zh-TW" alt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量測 </a:t>
                      </a:r>
                      <a:r>
                        <a:rPr lang="en-US" altLang="zh-TW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Gamma</a:t>
                      </a:r>
                      <a:r>
                        <a:rPr lang="zh-TW" alt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 和 </a:t>
                      </a:r>
                      <a:r>
                        <a:rPr lang="en-US" altLang="zh-TW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DICOM</a:t>
                      </a:r>
                      <a:r>
                        <a:rPr lang="zh-TW" alt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 曲線驗證</a:t>
                      </a:r>
                      <a:endParaRPr lang="en-US" altLang="zh-TW" sz="1400" b="0" i="0" u="none" strike="noStrike" cap="none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  <a:sym typeface="Arial"/>
                      </a:endParaRP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ALC</a:t>
                      </a:r>
                      <a:r>
                        <a:rPr lang="zh-TW" alt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 功能建立和測試</a:t>
                      </a:r>
                      <a:endParaRPr lang="en-US" altLang="zh-TW" sz="1400" b="0" i="0" u="none" strike="noStrike" cap="none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  <a:sym typeface="Arial"/>
                      </a:endParaRP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zh-TW" alt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建立 </a:t>
                      </a:r>
                      <a:r>
                        <a:rPr lang="en-US" altLang="zh-TW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RGB</a:t>
                      </a:r>
                      <a:r>
                        <a:rPr lang="zh-TW" alt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 純色畫板功能</a:t>
                      </a:r>
                      <a:endParaRPr lang="en-US" altLang="zh-TW" sz="1400" b="0" i="0" u="none" strike="noStrike" cap="none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  <a:sym typeface="Arial"/>
                      </a:endParaRP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zh-TW" altLang="en-US" sz="1400" b="0" i="0" u="none" strike="noStrike" cap="none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期末報告</a:t>
                      </a:r>
                    </a:p>
                  </a:txBody>
                  <a:tcPr marL="17780" marR="17780" marT="0" marB="0"/>
                </a:tc>
                <a:extLst>
                  <a:ext uri="{0D108BD9-81ED-4DB2-BD59-A6C34878D82A}">
                    <a16:rowId xmlns:a16="http://schemas.microsoft.com/office/drawing/2014/main" val="2847363105"/>
                  </a:ext>
                </a:extLst>
              </a:tr>
            </a:tbl>
          </a:graphicData>
        </a:graphic>
      </p:graphicFrame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2BA1D1C6-173A-3D94-CCD4-C612AE9A23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8767445"/>
              </p:ext>
            </p:extLst>
          </p:nvPr>
        </p:nvGraphicFramePr>
        <p:xfrm>
          <a:off x="5604934" y="2353858"/>
          <a:ext cx="4022658" cy="36130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329">
                  <a:extLst>
                    <a:ext uri="{9D8B030D-6E8A-4147-A177-3AD203B41FA5}">
                      <a16:colId xmlns:a16="http://schemas.microsoft.com/office/drawing/2014/main" val="761389866"/>
                    </a:ext>
                  </a:extLst>
                </a:gridCol>
                <a:gridCol w="2011329">
                  <a:extLst>
                    <a:ext uri="{9D8B030D-6E8A-4147-A177-3AD203B41FA5}">
                      <a16:colId xmlns:a16="http://schemas.microsoft.com/office/drawing/2014/main" val="1643138419"/>
                    </a:ext>
                  </a:extLst>
                </a:gridCol>
              </a:tblGrid>
              <a:tr h="459704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目標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進度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4917929"/>
                  </a:ext>
                </a:extLst>
              </a:tr>
              <a:tr h="630678">
                <a:tc>
                  <a:txBody>
                    <a:bodyPr/>
                    <a:lstStyle/>
                    <a:p>
                      <a:pPr marL="0" lvl="0" indent="0" algn="ctr">
                        <a:buFont typeface="+mj-lt"/>
                        <a:buNone/>
                      </a:pPr>
                      <a:r>
                        <a:rPr lang="zh-TW" alt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建立 </a:t>
                      </a:r>
                      <a:r>
                        <a:rPr lang="en-US" altLang="zh-TW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RGB</a:t>
                      </a:r>
                      <a:r>
                        <a:rPr lang="zh-TW" alt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 純色畫板功能</a:t>
                      </a:r>
                      <a:endParaRPr lang="en-US" altLang="zh-TW" sz="1400" b="0" i="0" u="none" strike="noStrike" cap="none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8586928"/>
                  </a:ext>
                </a:extLst>
              </a:tr>
              <a:tr h="630678">
                <a:tc>
                  <a:txBody>
                    <a:bodyPr/>
                    <a:lstStyle/>
                    <a:p>
                      <a:pPr marL="0" lvl="0" indent="0" algn="ctr">
                        <a:buFont typeface="+mj-lt"/>
                        <a:buNone/>
                      </a:pPr>
                      <a:r>
                        <a:rPr lang="zh-TW" alt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顯示亮度、色溫、</a:t>
                      </a:r>
                      <a:r>
                        <a:rPr lang="en-US" altLang="zh-TW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CIE1931</a:t>
                      </a:r>
                      <a:r>
                        <a:rPr lang="zh-TW" alt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 </a:t>
                      </a:r>
                      <a:r>
                        <a:rPr lang="en-US" altLang="zh-TW" sz="1400" b="0" i="0" u="none" strike="noStrike" cap="none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x,y</a:t>
                      </a:r>
                      <a:r>
                        <a:rPr lang="en-US" altLang="zh-TW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 </a:t>
                      </a:r>
                      <a:r>
                        <a:rPr lang="zh-TW" alt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資訊</a:t>
                      </a:r>
                      <a:endParaRPr lang="en-US" altLang="zh-TW" sz="1400" b="0" i="0" u="none" strike="noStrike" cap="none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5210310"/>
                  </a:ext>
                </a:extLst>
              </a:tr>
              <a:tr h="630678">
                <a:tc>
                  <a:txBody>
                    <a:bodyPr/>
                    <a:lstStyle/>
                    <a:p>
                      <a:pPr marL="0" lvl="0" indent="0" algn="ctr">
                        <a:buFont typeface="+mj-lt"/>
                        <a:buNone/>
                      </a:pPr>
                      <a:r>
                        <a:rPr lang="en-US" altLang="zh-TW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Measure tool (CA-410 and i1Display</a:t>
                      </a:r>
                      <a:r>
                        <a:rPr lang="en-US" altLang="zh-TW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5183915"/>
                  </a:ext>
                </a:extLst>
              </a:tr>
              <a:tr h="630678">
                <a:tc>
                  <a:txBody>
                    <a:bodyPr/>
                    <a:lstStyle/>
                    <a:p>
                      <a:pPr marL="0" lvl="0" indent="0" algn="ctr">
                        <a:buFont typeface="+mj-lt"/>
                        <a:buNone/>
                      </a:pPr>
                      <a:r>
                        <a:rPr lang="zh-TW" alt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量測 </a:t>
                      </a:r>
                      <a:r>
                        <a:rPr lang="en-US" altLang="zh-TW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Gamma</a:t>
                      </a:r>
                      <a:r>
                        <a:rPr lang="zh-TW" alt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 和 </a:t>
                      </a:r>
                      <a:r>
                        <a:rPr lang="en-US" altLang="zh-TW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DICOM</a:t>
                      </a:r>
                      <a:r>
                        <a:rPr lang="zh-TW" alt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 曲線驗證</a:t>
                      </a:r>
                      <a:endParaRPr lang="en-US" altLang="zh-TW" sz="1400" b="0" i="0" u="none" strike="noStrike" cap="none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768554"/>
                  </a:ext>
                </a:extLst>
              </a:tr>
              <a:tr h="630678">
                <a:tc>
                  <a:txBody>
                    <a:bodyPr/>
                    <a:lstStyle/>
                    <a:p>
                      <a:pPr marL="0" lvl="0" indent="0" algn="ctr">
                        <a:buFont typeface="+mj-lt"/>
                        <a:buNone/>
                      </a:pPr>
                      <a:r>
                        <a:rPr lang="en-US" altLang="zh-TW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ALC</a:t>
                      </a:r>
                      <a:r>
                        <a:rPr lang="zh-TW" alt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 功能建立和測試</a:t>
                      </a:r>
                      <a:endParaRPr lang="en-US" altLang="zh-TW" sz="1400" b="0" i="0" u="none" strike="noStrike" cap="none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P</a:t>
                      </a:r>
                      <a:endParaRPr lang="en-US" altLang="zh-TW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( ALC</a:t>
                      </a:r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功能實作</a:t>
                      </a: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2182122"/>
                  </a:ext>
                </a:extLst>
              </a:tr>
            </a:tbl>
          </a:graphicData>
        </a:graphic>
      </p:graphicFrame>
      <p:sp>
        <p:nvSpPr>
          <p:cNvPr id="12" name="文字方塊 11">
            <a:extLst>
              <a:ext uri="{FF2B5EF4-FFF2-40B4-BE49-F238E27FC236}">
                <a16:creationId xmlns:a16="http://schemas.microsoft.com/office/drawing/2014/main" id="{6710D910-0277-3268-F9F0-D57034B7FC1E}"/>
              </a:ext>
            </a:extLst>
          </p:cNvPr>
          <p:cNvSpPr txBox="1"/>
          <p:nvPr/>
        </p:nvSpPr>
        <p:spPr>
          <a:xfrm>
            <a:off x="8635013" y="1541843"/>
            <a:ext cx="992579" cy="73866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O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: 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完成</a:t>
            </a:r>
            <a:b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</a:b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△: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未進行</a:t>
            </a:r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: 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進行中</a:t>
            </a:r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155121E-53AF-ADB1-AC1A-46181259CF77}"/>
              </a:ext>
            </a:extLst>
          </p:cNvPr>
          <p:cNvSpPr/>
          <p:nvPr/>
        </p:nvSpPr>
        <p:spPr>
          <a:xfrm>
            <a:off x="5604934" y="5316157"/>
            <a:ext cx="4022658" cy="65079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172035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626802-D9EE-1ADC-4EE1-486C4FF4D8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4E8270E-DC35-B8CA-E50A-1D09EE9727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本次進度</a:t>
            </a:r>
            <a:r>
              <a:rPr lang="en-US" altLang="zh-TW" dirty="0"/>
              <a:t>:</a:t>
            </a:r>
            <a:r>
              <a:rPr lang="zh-TW" altLang="en-US" dirty="0"/>
              <a:t> </a:t>
            </a:r>
            <a:r>
              <a:rPr lang="en-US" altLang="zh-TW" dirty="0"/>
              <a:t>Monitor</a:t>
            </a:r>
            <a:endParaRPr lang="zh-TW" altLang="en-US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DB46A1C0-7B21-2719-3484-0CAAC3C3BF87}"/>
              </a:ext>
            </a:extLst>
          </p:cNvPr>
          <p:cNvSpPr txBox="1"/>
          <p:nvPr/>
        </p:nvSpPr>
        <p:spPr>
          <a:xfrm>
            <a:off x="520699" y="1369489"/>
            <a:ext cx="7669813" cy="814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1" indent="-406400">
              <a:lnSpc>
                <a:spcPts val="3000"/>
              </a:lnSpc>
              <a:spcBef>
                <a:spcPts val="560"/>
              </a:spcBef>
              <a:buClr>
                <a:schemeClr val="accent2"/>
              </a:buClr>
              <a:buSzPts val="2800"/>
              <a:buFont typeface="Noto Sans Symbols"/>
              <a:buChar char="❖"/>
            </a:pP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根據第二期計畫書中內容進行開發，以下分別為階段一目標和當前開發進度及優先序。</a:t>
            </a:r>
            <a:endParaRPr lang="en-US" altLang="zh-TW" sz="1600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BE414796-4529-0AE1-396C-0C7F848BDC3A}"/>
              </a:ext>
            </a:extLst>
          </p:cNvPr>
          <p:cNvGraphicFramePr>
            <a:graphicFrameLocks noGrp="1"/>
          </p:cNvGraphicFramePr>
          <p:nvPr/>
        </p:nvGraphicFramePr>
        <p:xfrm>
          <a:off x="570104" y="2311400"/>
          <a:ext cx="4903596" cy="237491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2917">
                  <a:extLst>
                    <a:ext uri="{9D8B030D-6E8A-4147-A177-3AD203B41FA5}">
                      <a16:colId xmlns:a16="http://schemas.microsoft.com/office/drawing/2014/main" val="1192615841"/>
                    </a:ext>
                  </a:extLst>
                </a:gridCol>
                <a:gridCol w="1572565">
                  <a:extLst>
                    <a:ext uri="{9D8B030D-6E8A-4147-A177-3AD203B41FA5}">
                      <a16:colId xmlns:a16="http://schemas.microsoft.com/office/drawing/2014/main" val="1364961183"/>
                    </a:ext>
                  </a:extLst>
                </a:gridCol>
                <a:gridCol w="1758114">
                  <a:extLst>
                    <a:ext uri="{9D8B030D-6E8A-4147-A177-3AD203B41FA5}">
                      <a16:colId xmlns:a16="http://schemas.microsoft.com/office/drawing/2014/main" val="2476587428"/>
                    </a:ext>
                  </a:extLst>
                </a:gridCol>
              </a:tblGrid>
              <a:tr h="395480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階段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zh-TW" altLang="en-US" sz="1400" b="1" i="0" u="none" strike="noStrike" cap="none" dirty="0">
                          <a:solidFill>
                            <a:schemeClr val="lt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  <a:sym typeface="Arial"/>
                        </a:rPr>
                        <a:t>時間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zh-TW" altLang="en-US" sz="1400" b="1" i="0" u="none" strike="noStrike" cap="none" dirty="0">
                          <a:solidFill>
                            <a:schemeClr val="lt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  <a:sym typeface="Arial"/>
                        </a:rPr>
                        <a:t>目標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0900139"/>
                  </a:ext>
                </a:extLst>
              </a:tr>
              <a:tr h="1979433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階段一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 month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Calibration Tool</a:t>
                      </a: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zh-TW" altLang="en-US" sz="1400" b="0" i="0" u="none" strike="noStrike" cap="none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色溫調校功能和測試</a:t>
                      </a:r>
                      <a:endParaRPr lang="en-US" altLang="zh-TW" sz="1400" b="0" i="0" u="none" strike="noStrike" cap="none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  <a:sym typeface="Arial"/>
                      </a:endParaRP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400" b="0" i="0" u="none" strike="noStrike" cap="none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ALC</a:t>
                      </a:r>
                      <a:r>
                        <a:rPr lang="zh-TW" altLang="en-US" sz="1400" b="0" i="0" u="none" strike="noStrike" cap="none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調校功能和測試</a:t>
                      </a:r>
                      <a:endParaRPr lang="en-US" altLang="zh-TW" sz="1400" b="0" i="0" u="none" strike="noStrike" cap="none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  <a:sym typeface="Arial"/>
                      </a:endParaRP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zh-TW" altLang="en-US" sz="1400" b="0" i="0" u="none" strike="noStrike" cap="none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期中報告</a:t>
                      </a:r>
                    </a:p>
                  </a:txBody>
                  <a:tcPr marL="17780" marR="17780" marT="0" marB="0"/>
                </a:tc>
                <a:extLst>
                  <a:ext uri="{0D108BD9-81ED-4DB2-BD59-A6C34878D82A}">
                    <a16:rowId xmlns:a16="http://schemas.microsoft.com/office/drawing/2014/main" val="2847363105"/>
                  </a:ext>
                </a:extLst>
              </a:tr>
            </a:tbl>
          </a:graphicData>
        </a:graphic>
      </p:graphicFrame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24B7B128-7B95-D363-B444-7640F65431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8816304"/>
              </p:ext>
            </p:extLst>
          </p:nvPr>
        </p:nvGraphicFramePr>
        <p:xfrm>
          <a:off x="5604934" y="2353858"/>
          <a:ext cx="4022658" cy="23517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329">
                  <a:extLst>
                    <a:ext uri="{9D8B030D-6E8A-4147-A177-3AD203B41FA5}">
                      <a16:colId xmlns:a16="http://schemas.microsoft.com/office/drawing/2014/main" val="761389866"/>
                    </a:ext>
                  </a:extLst>
                </a:gridCol>
                <a:gridCol w="2011329">
                  <a:extLst>
                    <a:ext uri="{9D8B030D-6E8A-4147-A177-3AD203B41FA5}">
                      <a16:colId xmlns:a16="http://schemas.microsoft.com/office/drawing/2014/main" val="1643138419"/>
                    </a:ext>
                  </a:extLst>
                </a:gridCol>
              </a:tblGrid>
              <a:tr h="459704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目標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進度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4917929"/>
                  </a:ext>
                </a:extLst>
              </a:tr>
              <a:tr h="630678">
                <a:tc>
                  <a:txBody>
                    <a:bodyPr/>
                    <a:lstStyle/>
                    <a:p>
                      <a:pPr marL="0" lvl="0" indent="0" algn="ctr">
                        <a:buFont typeface="+mj-lt"/>
                        <a:buNone/>
                      </a:pPr>
                      <a:r>
                        <a:rPr lang="en-US" altLang="zh-TW" sz="1400" b="0" i="0" u="none" strike="noStrike" cap="none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ALC</a:t>
                      </a:r>
                      <a:r>
                        <a:rPr lang="zh-TW" altLang="en-US" sz="1400" b="0" i="0" u="none" strike="noStrike" cap="none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調校功能和測試</a:t>
                      </a:r>
                      <a:endParaRPr lang="en-US" altLang="zh-TW" sz="1400" b="0" i="0" u="none" strike="noStrike" cap="none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P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流程說明</a:t>
                      </a: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4244399"/>
                  </a:ext>
                </a:extLst>
              </a:tr>
              <a:tr h="630678">
                <a:tc>
                  <a:txBody>
                    <a:bodyPr/>
                    <a:lstStyle/>
                    <a:p>
                      <a:pPr marL="0" lvl="0" indent="0" algn="ctr">
                        <a:buFont typeface="+mj-lt"/>
                        <a:buNone/>
                      </a:pPr>
                      <a:r>
                        <a:rPr lang="en-US" altLang="zh-TW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Calibration Tool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P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(Layout</a:t>
                      </a:r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介面</a:t>
                      </a: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5210310"/>
                  </a:ext>
                </a:extLst>
              </a:tr>
              <a:tr h="63067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zh-TW" altLang="en-US" sz="1400" b="0" i="0" u="none" strike="noStrike" cap="none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色溫調校功能和測試</a:t>
                      </a:r>
                      <a:endParaRPr lang="en-US" altLang="zh-TW" sz="1400" b="0" i="0" u="none" strike="noStrike" cap="none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△</a:t>
                      </a:r>
                      <a:endParaRPr lang="en-US" altLang="zh-TW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1818432"/>
                  </a:ext>
                </a:extLst>
              </a:tr>
            </a:tbl>
          </a:graphicData>
        </a:graphic>
      </p:graphicFrame>
      <p:sp>
        <p:nvSpPr>
          <p:cNvPr id="12" name="文字方塊 11">
            <a:extLst>
              <a:ext uri="{FF2B5EF4-FFF2-40B4-BE49-F238E27FC236}">
                <a16:creationId xmlns:a16="http://schemas.microsoft.com/office/drawing/2014/main" id="{8B51212E-CF55-455A-242B-1D5B6A495E08}"/>
              </a:ext>
            </a:extLst>
          </p:cNvPr>
          <p:cNvSpPr txBox="1"/>
          <p:nvPr/>
        </p:nvSpPr>
        <p:spPr>
          <a:xfrm>
            <a:off x="8635013" y="1541843"/>
            <a:ext cx="992579" cy="73866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O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: 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完成</a:t>
            </a:r>
            <a:b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</a:b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△: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未進行</a:t>
            </a:r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: 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進行中</a:t>
            </a:r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3F94439-81CC-5A64-3C89-0DE28EC8C7A1}"/>
              </a:ext>
            </a:extLst>
          </p:cNvPr>
          <p:cNvSpPr/>
          <p:nvPr/>
        </p:nvSpPr>
        <p:spPr>
          <a:xfrm>
            <a:off x="5604934" y="2778205"/>
            <a:ext cx="4022658" cy="131350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580265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C0497F-FEE4-ADAF-5E7C-1A418C652F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字版面配置區 6">
            <a:extLst>
              <a:ext uri="{FF2B5EF4-FFF2-40B4-BE49-F238E27FC236}">
                <a16:creationId xmlns:a16="http://schemas.microsoft.com/office/drawing/2014/main" id="{2ECCC330-3F21-31EA-891F-6C1656514895}"/>
              </a:ext>
            </a:extLst>
          </p:cNvPr>
          <p:cNvSpPr txBox="1"/>
          <p:nvPr/>
        </p:nvSpPr>
        <p:spPr>
          <a:xfrm>
            <a:off x="496186" y="1143000"/>
            <a:ext cx="8800212" cy="4939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>
              <a:lnSpc>
                <a:spcPts val="3000"/>
              </a:lnSpc>
            </a:pP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溫箱測試</a:t>
            </a:r>
            <a:r>
              <a:rPr lang="en-US" altLang="zh-TW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面板亮度與溫度曲線</a:t>
            </a:r>
            <a:r>
              <a:rPr lang="en-US" altLang="zh-TW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</a:p>
          <a:p>
            <a:pPr lvl="1">
              <a:lnSpc>
                <a:spcPts val="3000"/>
              </a:lnSpc>
            </a:pPr>
            <a:r>
              <a:rPr lang="zh-TW" altLang="en-US" sz="140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溫度範圍 </a:t>
            </a:r>
            <a:r>
              <a:rPr lang="en-US" altLang="zh-TW" sz="140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 0 ~ 60</a:t>
            </a:r>
            <a:r>
              <a:rPr lang="zh-TW" altLang="en-US" sz="140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℃</a:t>
            </a:r>
            <a:endParaRPr lang="en-US" altLang="zh-TW" sz="14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</a:pPr>
            <a:r>
              <a:rPr lang="zh-TW" altLang="en-US" sz="1400" dirty="0">
                <a:solidFill>
                  <a:srgbClr val="040C28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每</a:t>
            </a:r>
            <a:r>
              <a:rPr lang="en-US" altLang="zh-TW" sz="1400" dirty="0">
                <a:solidFill>
                  <a:srgbClr val="040C28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15</a:t>
            </a:r>
            <a:r>
              <a:rPr lang="zh-TW" altLang="en-US" sz="1400" dirty="0">
                <a:solidFill>
                  <a:srgbClr val="040C28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分鐘上升</a:t>
            </a:r>
            <a:r>
              <a:rPr lang="en-US" altLang="zh-TW" sz="1400" dirty="0">
                <a:solidFill>
                  <a:srgbClr val="040C28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5</a:t>
            </a:r>
            <a:r>
              <a:rPr lang="zh-TW" altLang="en-US" sz="140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℃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</a:t>
            </a:r>
            <a:r>
              <a:rPr lang="zh-TW" altLang="en-US" sz="140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維持</a:t>
            </a:r>
            <a:r>
              <a:rPr lang="en-US" altLang="zh-TW" sz="140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60</a:t>
            </a:r>
            <a:r>
              <a:rPr lang="zh-TW" altLang="en-US" sz="140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分鐘</a:t>
            </a:r>
            <a:endParaRPr lang="en-US" altLang="zh-TW" sz="1400" i="0" dirty="0">
              <a:solidFill>
                <a:srgbClr val="333333"/>
              </a:solidFill>
              <a:effectLst/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</a:pPr>
            <a:r>
              <a:rPr lang="zh-TW" altLang="en-US" sz="1400" dirty="0">
                <a:solidFill>
                  <a:srgbClr val="040C28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每輪</a:t>
            </a:r>
            <a:r>
              <a:rPr lang="en-US" altLang="zh-TW" sz="1400" dirty="0">
                <a:solidFill>
                  <a:srgbClr val="040C28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15</a:t>
            </a:r>
            <a:r>
              <a:rPr lang="zh-TW" altLang="en-US" sz="1400" dirty="0">
                <a:solidFill>
                  <a:srgbClr val="040C28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小時，共</a:t>
            </a:r>
            <a:r>
              <a:rPr lang="en-US" altLang="zh-TW" sz="1400" dirty="0">
                <a:solidFill>
                  <a:srgbClr val="040C28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4</a:t>
            </a:r>
            <a:r>
              <a:rPr lang="zh-TW" altLang="en-US" sz="1400" dirty="0">
                <a:solidFill>
                  <a:srgbClr val="040C28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輪</a:t>
            </a:r>
            <a:endParaRPr lang="en-US" altLang="zh-TW" sz="1400" dirty="0">
              <a:solidFill>
                <a:srgbClr val="040C28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>
              <a:lnSpc>
                <a:spcPts val="3000"/>
              </a:lnSpc>
            </a:pPr>
            <a:endParaRPr lang="en-US" altLang="zh-TW" sz="1600" dirty="0">
              <a:solidFill>
                <a:srgbClr val="040C28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>
              <a:lnSpc>
                <a:spcPts val="3000"/>
              </a:lnSpc>
            </a:pPr>
            <a:endParaRPr lang="en-US" altLang="zh-TW" sz="1600" dirty="0">
              <a:solidFill>
                <a:srgbClr val="040C28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50800" indent="0">
              <a:lnSpc>
                <a:spcPts val="3000"/>
              </a:lnSpc>
              <a:buNone/>
            </a:pPr>
            <a:endParaRPr lang="en-US" altLang="zh-TW" sz="1400" dirty="0">
              <a:solidFill>
                <a:srgbClr val="040C28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A6F2561E-4078-B907-2B59-8DA34BED6A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上次進度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Monitor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F28CC868-B95D-9C16-749C-720733848F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23733" y="3095185"/>
            <a:ext cx="5258534" cy="3153215"/>
          </a:xfrm>
          <a:prstGeom prst="rect">
            <a:avLst/>
          </a:prstGeom>
        </p:spPr>
      </p:pic>
      <p:sp>
        <p:nvSpPr>
          <p:cNvPr id="5" name="左大括弧 4">
            <a:extLst>
              <a:ext uri="{FF2B5EF4-FFF2-40B4-BE49-F238E27FC236}">
                <a16:creationId xmlns:a16="http://schemas.microsoft.com/office/drawing/2014/main" id="{A14350F2-097B-6CF1-ED83-3FE3302DC4BA}"/>
              </a:ext>
            </a:extLst>
          </p:cNvPr>
          <p:cNvSpPr/>
          <p:nvPr/>
        </p:nvSpPr>
        <p:spPr>
          <a:xfrm>
            <a:off x="1976582" y="3612566"/>
            <a:ext cx="347151" cy="533400"/>
          </a:xfrm>
          <a:prstGeom prst="leftBrace">
            <a:avLst/>
          </a:prstGeom>
          <a:ln>
            <a:solidFill>
              <a:srgbClr val="FF0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6" name="左大括弧 5">
            <a:extLst>
              <a:ext uri="{FF2B5EF4-FFF2-40B4-BE49-F238E27FC236}">
                <a16:creationId xmlns:a16="http://schemas.microsoft.com/office/drawing/2014/main" id="{2485238B-6FFD-C741-2BA9-798B1127118C}"/>
              </a:ext>
            </a:extLst>
          </p:cNvPr>
          <p:cNvSpPr/>
          <p:nvPr/>
        </p:nvSpPr>
        <p:spPr>
          <a:xfrm>
            <a:off x="1976582" y="5181600"/>
            <a:ext cx="347151" cy="533400"/>
          </a:xfrm>
          <a:prstGeom prst="leftBrace">
            <a:avLst/>
          </a:prstGeom>
          <a:ln>
            <a:solidFill>
              <a:srgbClr val="FF0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11DDB382-6461-D993-0DF5-0BABD43EC640}"/>
              </a:ext>
            </a:extLst>
          </p:cNvPr>
          <p:cNvSpPr txBox="1"/>
          <p:nvPr/>
        </p:nvSpPr>
        <p:spPr>
          <a:xfrm>
            <a:off x="958586" y="3725377"/>
            <a:ext cx="9027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亮度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(nits)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4D2D4A67-9EB6-D53B-FD4E-C489CB2A4C09}"/>
              </a:ext>
            </a:extLst>
          </p:cNvPr>
          <p:cNvSpPr txBox="1"/>
          <p:nvPr/>
        </p:nvSpPr>
        <p:spPr>
          <a:xfrm>
            <a:off x="958585" y="5294411"/>
            <a:ext cx="9027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溫度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℃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AED4F77-F1FA-7F30-5F96-73637438C5EB}"/>
              </a:ext>
            </a:extLst>
          </p:cNvPr>
          <p:cNvSpPr/>
          <p:nvPr/>
        </p:nvSpPr>
        <p:spPr>
          <a:xfrm>
            <a:off x="3688879" y="3612566"/>
            <a:ext cx="273521" cy="2197107"/>
          </a:xfrm>
          <a:prstGeom prst="rect">
            <a:avLst/>
          </a:prstGeom>
          <a:noFill/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259BDD7-FB99-8731-3DA2-32845D0C3E2C}"/>
              </a:ext>
            </a:extLst>
          </p:cNvPr>
          <p:cNvSpPr/>
          <p:nvPr/>
        </p:nvSpPr>
        <p:spPr>
          <a:xfrm>
            <a:off x="3967018" y="3612565"/>
            <a:ext cx="919018" cy="2197107"/>
          </a:xfrm>
          <a:prstGeom prst="rect">
            <a:avLst/>
          </a:prstGeom>
          <a:noFill/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966340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B4C06E-75BC-4006-36B8-FC2526476F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字版面配置區 6">
            <a:extLst>
              <a:ext uri="{FF2B5EF4-FFF2-40B4-BE49-F238E27FC236}">
                <a16:creationId xmlns:a16="http://schemas.microsoft.com/office/drawing/2014/main" id="{D5703BBC-4308-3801-B083-8187BE5B228C}"/>
              </a:ext>
            </a:extLst>
          </p:cNvPr>
          <p:cNvSpPr txBox="1"/>
          <p:nvPr/>
        </p:nvSpPr>
        <p:spPr>
          <a:xfrm>
            <a:off x="496186" y="1143000"/>
            <a:ext cx="8800212" cy="4939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>
              <a:lnSpc>
                <a:spcPts val="3000"/>
              </a:lnSpc>
            </a:pP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溫度與亮度表格</a:t>
            </a:r>
            <a:endParaRPr lang="en-US" altLang="zh-TW" sz="16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</a:pP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依面板溫度 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25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℃ 的亮度 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231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nits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為基準 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(231 nits @ 25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℃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</a:p>
          <a:p>
            <a:pPr marL="50800" indent="0">
              <a:lnSpc>
                <a:spcPts val="3000"/>
              </a:lnSpc>
              <a:buNone/>
            </a:pPr>
            <a:endParaRPr lang="en-US" altLang="zh-TW" sz="1600" dirty="0">
              <a:solidFill>
                <a:srgbClr val="040C28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>
              <a:lnSpc>
                <a:spcPts val="3000"/>
              </a:lnSpc>
            </a:pPr>
            <a:endParaRPr lang="en-US" altLang="zh-TW" sz="1600" dirty="0">
              <a:solidFill>
                <a:srgbClr val="040C28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50800" indent="0">
              <a:lnSpc>
                <a:spcPts val="3000"/>
              </a:lnSpc>
              <a:buNone/>
            </a:pPr>
            <a:endParaRPr lang="en-US" altLang="zh-TW" sz="1400" dirty="0">
              <a:solidFill>
                <a:srgbClr val="040C28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33EF557C-FA4A-330F-C5AE-A83452CBB2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上次進度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Monitor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27" name="表格 26">
            <a:extLst>
              <a:ext uri="{FF2B5EF4-FFF2-40B4-BE49-F238E27FC236}">
                <a16:creationId xmlns:a16="http://schemas.microsoft.com/office/drawing/2014/main" id="{98EB6668-841F-7BAC-2BE8-EFA5BAD99A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5545207"/>
              </p:ext>
            </p:extLst>
          </p:nvPr>
        </p:nvGraphicFramePr>
        <p:xfrm>
          <a:off x="3651886" y="2124075"/>
          <a:ext cx="3040378" cy="42672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754380">
                  <a:extLst>
                    <a:ext uri="{9D8B030D-6E8A-4147-A177-3AD203B41FA5}">
                      <a16:colId xmlns:a16="http://schemas.microsoft.com/office/drawing/2014/main" val="3308284703"/>
                    </a:ext>
                  </a:extLst>
                </a:gridCol>
                <a:gridCol w="1142999">
                  <a:extLst>
                    <a:ext uri="{9D8B030D-6E8A-4147-A177-3AD203B41FA5}">
                      <a16:colId xmlns:a16="http://schemas.microsoft.com/office/drawing/2014/main" val="2574617682"/>
                    </a:ext>
                  </a:extLst>
                </a:gridCol>
                <a:gridCol w="1142999">
                  <a:extLst>
                    <a:ext uri="{9D8B030D-6E8A-4147-A177-3AD203B41FA5}">
                      <a16:colId xmlns:a16="http://schemas.microsoft.com/office/drawing/2014/main" val="1545502350"/>
                    </a:ext>
                  </a:extLst>
                </a:gridCol>
              </a:tblGrid>
              <a:tr h="251200">
                <a:tc>
                  <a:txBody>
                    <a:bodyPr/>
                    <a:lstStyle/>
                    <a:p>
                      <a:r>
                        <a:rPr lang="en-US" altLang="zh-TW" dirty="0"/>
                        <a:t>Temp.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Lum.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Ratio(%)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9571321"/>
                  </a:ext>
                </a:extLst>
              </a:tr>
              <a:tr h="246018">
                <a:tc>
                  <a:txBody>
                    <a:bodyPr/>
                    <a:lstStyle/>
                    <a:p>
                      <a:r>
                        <a:rPr lang="en-US" altLang="zh-TW" dirty="0"/>
                        <a:t>62.5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201.5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rgbClr val="00B050"/>
                          </a:solidFill>
                        </a:rPr>
                        <a:t>-12.77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5156687"/>
                  </a:ext>
                </a:extLst>
              </a:tr>
              <a:tr h="246018">
                <a:tc>
                  <a:txBody>
                    <a:bodyPr/>
                    <a:lstStyle/>
                    <a:p>
                      <a:r>
                        <a:rPr lang="en-US" altLang="zh-TW" dirty="0"/>
                        <a:t>57.75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214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rgbClr val="00B050"/>
                          </a:solidFill>
                        </a:rPr>
                        <a:t>-7.36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6082043"/>
                  </a:ext>
                </a:extLst>
              </a:tr>
              <a:tr h="246018">
                <a:tc>
                  <a:txBody>
                    <a:bodyPr/>
                    <a:lstStyle/>
                    <a:p>
                      <a:r>
                        <a:rPr lang="en-US" altLang="zh-TW" dirty="0"/>
                        <a:t>52.875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223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rgbClr val="00B050"/>
                          </a:solidFill>
                        </a:rPr>
                        <a:t>-3.46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6239736"/>
                  </a:ext>
                </a:extLst>
              </a:tr>
              <a:tr h="246018">
                <a:tc>
                  <a:txBody>
                    <a:bodyPr/>
                    <a:lstStyle/>
                    <a:p>
                      <a:r>
                        <a:rPr lang="en-US" altLang="zh-TW" dirty="0"/>
                        <a:t>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230.5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rgbClr val="00B050"/>
                          </a:solidFill>
                        </a:rPr>
                        <a:t>-0.21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4976419"/>
                  </a:ext>
                </a:extLst>
              </a:tr>
              <a:tr h="246018">
                <a:tc>
                  <a:txBody>
                    <a:bodyPr/>
                    <a:lstStyle/>
                    <a:p>
                      <a:r>
                        <a:rPr lang="en-US" altLang="zh-TW" dirty="0"/>
                        <a:t>43.25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235.5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>+1.95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3921351"/>
                  </a:ext>
                </a:extLst>
              </a:tr>
              <a:tr h="246018">
                <a:tc>
                  <a:txBody>
                    <a:bodyPr/>
                    <a:lstStyle/>
                    <a:p>
                      <a:r>
                        <a:rPr lang="en-US" altLang="zh-TW" dirty="0"/>
                        <a:t>38.25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238.5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>+3.25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8468549"/>
                  </a:ext>
                </a:extLst>
              </a:tr>
              <a:tr h="246018">
                <a:tc>
                  <a:txBody>
                    <a:bodyPr/>
                    <a:lstStyle/>
                    <a:p>
                      <a:r>
                        <a:rPr lang="en-US" altLang="zh-TW" dirty="0"/>
                        <a:t>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240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>+3.90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6942514"/>
                  </a:ext>
                </a:extLst>
              </a:tr>
              <a:tr h="286555">
                <a:tc>
                  <a:txBody>
                    <a:bodyPr/>
                    <a:lstStyle/>
                    <a:p>
                      <a:r>
                        <a:rPr lang="en-US" altLang="zh-TW" dirty="0"/>
                        <a:t>28.5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235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>+1.73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2099813"/>
                  </a:ext>
                </a:extLst>
              </a:tr>
              <a:tr h="251200">
                <a:tc>
                  <a:txBody>
                    <a:bodyPr/>
                    <a:lstStyle/>
                    <a:p>
                      <a:r>
                        <a:rPr lang="en-US" altLang="zh-TW" dirty="0"/>
                        <a:t>23.5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228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rgbClr val="00B050"/>
                          </a:solidFill>
                        </a:rPr>
                        <a:t>-1.30</a:t>
                      </a:r>
                      <a:endParaRPr lang="zh-TW" altLang="en-US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219830"/>
                  </a:ext>
                </a:extLst>
              </a:tr>
              <a:tr h="251200">
                <a:tc>
                  <a:txBody>
                    <a:bodyPr/>
                    <a:lstStyle/>
                    <a:p>
                      <a:r>
                        <a:rPr lang="en-US" altLang="zh-TW" dirty="0"/>
                        <a:t>18.5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221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rgbClr val="00B050"/>
                          </a:solidFill>
                        </a:rPr>
                        <a:t>-4.33</a:t>
                      </a:r>
                      <a:endParaRPr lang="zh-TW" altLang="en-US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9336904"/>
                  </a:ext>
                </a:extLst>
              </a:tr>
              <a:tr h="251200">
                <a:tc>
                  <a:txBody>
                    <a:bodyPr/>
                    <a:lstStyle/>
                    <a:p>
                      <a:r>
                        <a:rPr lang="en-US" altLang="zh-TW" dirty="0"/>
                        <a:t>13.5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215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rgbClr val="00B050"/>
                          </a:solidFill>
                        </a:rPr>
                        <a:t>-6.93</a:t>
                      </a:r>
                      <a:endParaRPr lang="zh-TW" altLang="en-US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0266435"/>
                  </a:ext>
                </a:extLst>
              </a:tr>
              <a:tr h="251200">
                <a:tc>
                  <a:txBody>
                    <a:bodyPr/>
                    <a:lstStyle/>
                    <a:p>
                      <a:r>
                        <a:rPr lang="en-US" altLang="zh-TW" dirty="0"/>
                        <a:t>8.5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210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rgbClr val="00B050"/>
                          </a:solidFill>
                        </a:rPr>
                        <a:t>-9.09</a:t>
                      </a:r>
                      <a:endParaRPr lang="zh-TW" altLang="en-US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2948085"/>
                  </a:ext>
                </a:extLst>
              </a:tr>
              <a:tr h="251200">
                <a:tc>
                  <a:txBody>
                    <a:bodyPr/>
                    <a:lstStyle/>
                    <a:p>
                      <a:r>
                        <a:rPr lang="en-US" altLang="zh-TW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207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rgbClr val="00B050"/>
                          </a:solidFill>
                        </a:rPr>
                        <a:t>-10.39</a:t>
                      </a:r>
                      <a:endParaRPr lang="zh-TW" altLang="en-US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4700264"/>
                  </a:ext>
                </a:extLst>
              </a:tr>
            </a:tbl>
          </a:graphicData>
        </a:graphic>
      </p:graphicFrame>
      <p:cxnSp>
        <p:nvCxnSpPr>
          <p:cNvPr id="5" name="直線接點 4">
            <a:extLst>
              <a:ext uri="{FF2B5EF4-FFF2-40B4-BE49-F238E27FC236}">
                <a16:creationId xmlns:a16="http://schemas.microsoft.com/office/drawing/2014/main" id="{D9E07285-208D-5A23-352D-11D3DB1225FE}"/>
              </a:ext>
            </a:extLst>
          </p:cNvPr>
          <p:cNvCxnSpPr/>
          <p:nvPr/>
        </p:nvCxnSpPr>
        <p:spPr>
          <a:xfrm>
            <a:off x="3543300" y="4857750"/>
            <a:ext cx="3295650" cy="0"/>
          </a:xfrm>
          <a:prstGeom prst="line">
            <a:avLst/>
          </a:prstGeom>
          <a:ln w="57150">
            <a:solidFill>
              <a:srgbClr val="FF9900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字方塊 8">
            <a:extLst>
              <a:ext uri="{FF2B5EF4-FFF2-40B4-BE49-F238E27FC236}">
                <a16:creationId xmlns:a16="http://schemas.microsoft.com/office/drawing/2014/main" id="{D474D6F6-4C4D-DECB-548F-A856AB759C93}"/>
              </a:ext>
            </a:extLst>
          </p:cNvPr>
          <p:cNvSpPr txBox="1"/>
          <p:nvPr/>
        </p:nvSpPr>
        <p:spPr>
          <a:xfrm>
            <a:off x="2876550" y="4691064"/>
            <a:ext cx="6286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solidFill>
                  <a:srgbClr val="FF9900"/>
                </a:solidFill>
              </a:rPr>
              <a:t>25</a:t>
            </a:r>
            <a:r>
              <a:rPr lang="zh-TW" altLang="en-US" sz="1400" dirty="0">
                <a:solidFill>
                  <a:srgbClr val="FF99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℃</a:t>
            </a:r>
            <a:endParaRPr lang="zh-TW" altLang="en-US" dirty="0">
              <a:solidFill>
                <a:srgbClr val="FF99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27321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982117-43B0-9F65-6BB3-BCFD8C9088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字版面配置區 6">
            <a:extLst>
              <a:ext uri="{FF2B5EF4-FFF2-40B4-BE49-F238E27FC236}">
                <a16:creationId xmlns:a16="http://schemas.microsoft.com/office/drawing/2014/main" id="{2079A008-DE6E-8A45-AB04-CF48FD2BE062}"/>
              </a:ext>
            </a:extLst>
          </p:cNvPr>
          <p:cNvSpPr txBox="1"/>
          <p:nvPr/>
        </p:nvSpPr>
        <p:spPr>
          <a:xfrm>
            <a:off x="496186" y="1143000"/>
            <a:ext cx="8800212" cy="4939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>
              <a:lnSpc>
                <a:spcPts val="3000"/>
              </a:lnSpc>
            </a:pPr>
            <a:r>
              <a:rPr lang="en-US" altLang="zh-TW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ALC</a:t>
            </a: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校正與功能流程</a:t>
            </a:r>
            <a:endParaRPr lang="en-US" altLang="zh-TW" sz="1400" dirty="0">
              <a:solidFill>
                <a:srgbClr val="040C28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</a:pPr>
            <a:r>
              <a:rPr lang="zh-TW" altLang="en-US" sz="1400" dirty="0">
                <a:solidFill>
                  <a:srgbClr val="040C28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螢幕有</a:t>
            </a:r>
            <a:r>
              <a:rPr lang="en-US" altLang="zh-TW" sz="1400" dirty="0">
                <a:solidFill>
                  <a:srgbClr val="040C28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N</a:t>
            </a:r>
            <a:r>
              <a:rPr lang="zh-TW" altLang="en-US" sz="1400" dirty="0">
                <a:solidFill>
                  <a:srgbClr val="040C28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個</a:t>
            </a:r>
            <a:r>
              <a:rPr lang="en-US" altLang="zh-TW" sz="1400" dirty="0">
                <a:solidFill>
                  <a:srgbClr val="040C28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ALC Mode</a:t>
            </a:r>
          </a:p>
          <a:p>
            <a:pPr lvl="1">
              <a:lnSpc>
                <a:spcPts val="3000"/>
              </a:lnSpc>
            </a:pPr>
            <a:r>
              <a:rPr lang="en-US" altLang="zh-TW" sz="1400" dirty="0">
                <a:solidFill>
                  <a:srgbClr val="040C28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EX: ALC_1 200nits</a:t>
            </a:r>
          </a:p>
          <a:p>
            <a:pPr lvl="1">
              <a:lnSpc>
                <a:spcPts val="3000"/>
              </a:lnSpc>
            </a:pPr>
            <a:r>
              <a:rPr lang="zh-TW" altLang="en-US" sz="1400" dirty="0">
                <a:solidFill>
                  <a:srgbClr val="040C28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應低於面板規格的最大亮度</a:t>
            </a:r>
            <a:endParaRPr lang="en-US" altLang="zh-TW" sz="1400" dirty="0">
              <a:solidFill>
                <a:srgbClr val="040C28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533400" lvl="1" indent="0">
              <a:lnSpc>
                <a:spcPts val="3000"/>
              </a:lnSpc>
              <a:buNone/>
            </a:pPr>
            <a:endParaRPr lang="en-US" altLang="zh-TW" sz="1400" dirty="0">
              <a:solidFill>
                <a:srgbClr val="040C28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533400" lvl="1" indent="0">
              <a:lnSpc>
                <a:spcPts val="3000"/>
              </a:lnSpc>
              <a:buNone/>
            </a:pPr>
            <a:endParaRPr lang="en-US" altLang="zh-TW" sz="1400" dirty="0">
              <a:solidFill>
                <a:srgbClr val="040C28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50800" indent="0">
              <a:lnSpc>
                <a:spcPts val="3000"/>
              </a:lnSpc>
              <a:buNone/>
            </a:pPr>
            <a:endParaRPr lang="en-US" altLang="zh-TW" sz="1400" dirty="0">
              <a:solidFill>
                <a:srgbClr val="040C28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BD11ADC1-7DA5-C06C-C2ED-495426F97B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上次進度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Monitor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B96CF5A3-4FC2-D3EF-2B3C-7F69C0DAC6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22205" y="1390650"/>
            <a:ext cx="5587609" cy="4857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51214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B2466E-4F5A-0A53-B0F1-B7849C85DE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字版面配置區 6">
            <a:extLst>
              <a:ext uri="{FF2B5EF4-FFF2-40B4-BE49-F238E27FC236}">
                <a16:creationId xmlns:a16="http://schemas.microsoft.com/office/drawing/2014/main" id="{47EFEF3B-887F-EE13-86D8-149E22F4C845}"/>
              </a:ext>
            </a:extLst>
          </p:cNvPr>
          <p:cNvSpPr txBox="1"/>
          <p:nvPr/>
        </p:nvSpPr>
        <p:spPr>
          <a:xfrm>
            <a:off x="496186" y="1143000"/>
            <a:ext cx="8800212" cy="4939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>
              <a:lnSpc>
                <a:spcPts val="3000"/>
              </a:lnSpc>
            </a:pPr>
            <a:r>
              <a:rPr lang="en-US" altLang="zh-TW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Read ALC mode </a:t>
            </a:r>
          </a:p>
          <a:p>
            <a:pPr lvl="1">
              <a:lnSpc>
                <a:spcPts val="3000"/>
              </a:lnSpc>
            </a:pPr>
            <a:r>
              <a:rPr lang="zh-TW" altLang="en-US" sz="1400" dirty="0">
                <a:solidFill>
                  <a:srgbClr val="040C28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讀取每個</a:t>
            </a:r>
            <a:r>
              <a:rPr lang="en-US" altLang="zh-TW" sz="1400" dirty="0">
                <a:solidFill>
                  <a:srgbClr val="040C28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ALC mode</a:t>
            </a:r>
            <a:r>
              <a:rPr lang="zh-TW" altLang="en-US" sz="1400" dirty="0">
                <a:solidFill>
                  <a:srgbClr val="040C28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要求的亮度</a:t>
            </a:r>
            <a:endParaRPr lang="en-US" altLang="zh-TW" sz="1400" dirty="0">
              <a:solidFill>
                <a:srgbClr val="040C28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533400" lvl="1" indent="0">
              <a:lnSpc>
                <a:spcPts val="3000"/>
              </a:lnSpc>
              <a:buNone/>
            </a:pPr>
            <a:endParaRPr lang="en-US" altLang="zh-TW" sz="1400" dirty="0">
              <a:solidFill>
                <a:srgbClr val="040C28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50800" indent="0">
              <a:lnSpc>
                <a:spcPts val="3000"/>
              </a:lnSpc>
              <a:buNone/>
            </a:pPr>
            <a:endParaRPr lang="en-US" altLang="zh-TW" sz="1400" dirty="0">
              <a:solidFill>
                <a:srgbClr val="040C28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915BD0B0-8152-0B6B-A421-3DC667CB2B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本次進度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Monitor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36EAFCA0-DB8A-8295-6244-137927CA9D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603" y="2352171"/>
            <a:ext cx="4679689" cy="3578585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31B7BFFE-7B9A-484F-481B-26800B631D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99448" y="2301497"/>
            <a:ext cx="4633241" cy="3629259"/>
          </a:xfrm>
          <a:prstGeom prst="rect">
            <a:avLst/>
          </a:prstGeom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F5C7EE1A-CEC3-024D-4BB1-46271C1B4180}"/>
              </a:ext>
            </a:extLst>
          </p:cNvPr>
          <p:cNvSpPr/>
          <p:nvPr/>
        </p:nvSpPr>
        <p:spPr>
          <a:xfrm>
            <a:off x="2162176" y="2763748"/>
            <a:ext cx="1266824" cy="20329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48B596E-8336-9A48-AC3F-7E7B8B955E5B}"/>
              </a:ext>
            </a:extLst>
          </p:cNvPr>
          <p:cNvSpPr/>
          <p:nvPr/>
        </p:nvSpPr>
        <p:spPr>
          <a:xfrm>
            <a:off x="8610600" y="3144748"/>
            <a:ext cx="574675" cy="6576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880697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04226D-27D4-A443-CC1C-23974E565A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字版面配置區 6">
            <a:extLst>
              <a:ext uri="{FF2B5EF4-FFF2-40B4-BE49-F238E27FC236}">
                <a16:creationId xmlns:a16="http://schemas.microsoft.com/office/drawing/2014/main" id="{B26FF63D-6F44-0EA1-9886-4C6054A20E41}"/>
              </a:ext>
            </a:extLst>
          </p:cNvPr>
          <p:cNvSpPr txBox="1"/>
          <p:nvPr/>
        </p:nvSpPr>
        <p:spPr>
          <a:xfrm>
            <a:off x="496186" y="1143000"/>
            <a:ext cx="8800212" cy="4939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>
              <a:lnSpc>
                <a:spcPts val="3000"/>
              </a:lnSpc>
            </a:pPr>
            <a:r>
              <a:rPr lang="en-US" altLang="zh-TW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Correct PWM value for each ALC mode</a:t>
            </a:r>
          </a:p>
          <a:p>
            <a:pPr lvl="1">
              <a:lnSpc>
                <a:spcPts val="3000"/>
              </a:lnSpc>
            </a:pPr>
            <a:r>
              <a:rPr lang="zh-TW" altLang="en-US" sz="1400" dirty="0">
                <a:solidFill>
                  <a:srgbClr val="040C28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找到每個</a:t>
            </a:r>
            <a:r>
              <a:rPr lang="en-US" altLang="zh-TW" sz="1400" dirty="0">
                <a:solidFill>
                  <a:srgbClr val="040C28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ALC mode</a:t>
            </a:r>
            <a:r>
              <a:rPr lang="zh-TW" altLang="en-US" sz="1400" dirty="0">
                <a:solidFill>
                  <a:srgbClr val="040C28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亮度對應的</a:t>
            </a:r>
            <a:r>
              <a:rPr lang="en-US" altLang="zh-TW" sz="1400" dirty="0">
                <a:solidFill>
                  <a:srgbClr val="040C28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PWM</a:t>
            </a:r>
            <a:r>
              <a:rPr lang="zh-TW" altLang="en-US" sz="1400" dirty="0">
                <a:solidFill>
                  <a:srgbClr val="040C28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值</a:t>
            </a:r>
            <a:endParaRPr lang="en-US" altLang="zh-TW" sz="1400" dirty="0">
              <a:solidFill>
                <a:srgbClr val="040C28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50800" indent="0">
              <a:lnSpc>
                <a:spcPts val="3000"/>
              </a:lnSpc>
              <a:buNone/>
            </a:pPr>
            <a:endParaRPr lang="en-US" altLang="zh-TW" sz="1400" dirty="0">
              <a:solidFill>
                <a:srgbClr val="040C28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E22886EA-D297-7203-00E8-9C1E7DEBD5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本次進度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Monitor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3" name="20250304-0510-38.0621166">
            <a:hlinkClick r:id="" action="ppaction://media"/>
            <a:extLst>
              <a:ext uri="{FF2B5EF4-FFF2-40B4-BE49-F238E27FC236}">
                <a16:creationId xmlns:a16="http://schemas.microsoft.com/office/drawing/2014/main" id="{2414F152-CE3D-B077-AACF-0DFDC5045EC8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604310" y="2290992"/>
            <a:ext cx="8692088" cy="3957408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6FE0D72A-F0B7-DC06-2659-235DF0E7CBF1}"/>
              </a:ext>
            </a:extLst>
          </p:cNvPr>
          <p:cNvSpPr/>
          <p:nvPr/>
        </p:nvSpPr>
        <p:spPr>
          <a:xfrm>
            <a:off x="3457575" y="3209925"/>
            <a:ext cx="2009775" cy="71437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D86FA08-2A84-A6F3-E435-E5F7FCFAE73D}"/>
              </a:ext>
            </a:extLst>
          </p:cNvPr>
          <p:cNvSpPr/>
          <p:nvPr/>
        </p:nvSpPr>
        <p:spPr>
          <a:xfrm>
            <a:off x="6219825" y="4000499"/>
            <a:ext cx="2057400" cy="147637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102463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2335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5721B1-CF3F-F642-42B2-21A4B33C76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字版面配置區 6">
            <a:extLst>
              <a:ext uri="{FF2B5EF4-FFF2-40B4-BE49-F238E27FC236}">
                <a16:creationId xmlns:a16="http://schemas.microsoft.com/office/drawing/2014/main" id="{E7FE4F95-A950-3A92-7D99-D62AD9EFF85E}"/>
              </a:ext>
            </a:extLst>
          </p:cNvPr>
          <p:cNvSpPr txBox="1"/>
          <p:nvPr/>
        </p:nvSpPr>
        <p:spPr>
          <a:xfrm>
            <a:off x="496186" y="1143000"/>
            <a:ext cx="8800212" cy="4939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>
              <a:lnSpc>
                <a:spcPts val="3000"/>
              </a:lnSpc>
            </a:pPr>
            <a:r>
              <a:rPr lang="en-US" altLang="zh-TW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Correct PWM value for each ALC mode</a:t>
            </a: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(cont’d)</a:t>
            </a:r>
          </a:p>
          <a:p>
            <a:pPr lvl="1">
              <a:lnSpc>
                <a:spcPts val="3000"/>
              </a:lnSpc>
            </a:pPr>
            <a:r>
              <a:rPr lang="zh-TW" altLang="en-US" sz="1400" dirty="0">
                <a:solidFill>
                  <a:srgbClr val="040C28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找到每個</a:t>
            </a:r>
            <a:r>
              <a:rPr lang="en-US" altLang="zh-TW" sz="1400" dirty="0">
                <a:solidFill>
                  <a:srgbClr val="040C28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ALC mode</a:t>
            </a:r>
            <a:r>
              <a:rPr lang="zh-TW" altLang="en-US" sz="1400" dirty="0">
                <a:solidFill>
                  <a:srgbClr val="040C28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亮度對應的</a:t>
            </a:r>
            <a:r>
              <a:rPr lang="en-US" altLang="zh-TW" sz="1400" dirty="0">
                <a:solidFill>
                  <a:srgbClr val="040C28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PWM</a:t>
            </a:r>
            <a:r>
              <a:rPr lang="zh-TW" altLang="en-US" sz="1400" dirty="0">
                <a:solidFill>
                  <a:srgbClr val="040C28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值</a:t>
            </a:r>
            <a:endParaRPr lang="en-US" altLang="zh-TW" sz="1400" dirty="0">
              <a:solidFill>
                <a:srgbClr val="040C28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50800" indent="0">
              <a:lnSpc>
                <a:spcPts val="3000"/>
              </a:lnSpc>
              <a:buNone/>
            </a:pPr>
            <a:endParaRPr lang="en-US" altLang="zh-TW" sz="1400" dirty="0">
              <a:solidFill>
                <a:srgbClr val="040C28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D4586E8C-5983-C576-0938-EC07D09268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本次進度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Monitor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B6F8124B-0DAC-060C-F76F-EEB0D14140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86" y="2195264"/>
            <a:ext cx="6371854" cy="4046771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967BBBBA-F904-E277-8879-514895B34F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47264" y="4342017"/>
            <a:ext cx="5162550" cy="1900018"/>
          </a:xfrm>
          <a:prstGeom prst="rect">
            <a:avLst/>
          </a:prstGeom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6C730D77-E107-E766-64CD-1B611966658F}"/>
              </a:ext>
            </a:extLst>
          </p:cNvPr>
          <p:cNvSpPr/>
          <p:nvPr/>
        </p:nvSpPr>
        <p:spPr>
          <a:xfrm>
            <a:off x="790575" y="2562225"/>
            <a:ext cx="5825691" cy="177979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056E3D48-28FF-22A3-0D0B-CE7F83654D30}"/>
              </a:ext>
            </a:extLst>
          </p:cNvPr>
          <p:cNvSpPr/>
          <p:nvPr/>
        </p:nvSpPr>
        <p:spPr>
          <a:xfrm>
            <a:off x="4247265" y="4342016"/>
            <a:ext cx="5162550" cy="190638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3450B00-9CEA-ABC0-08F7-521FAA8D3B0B}"/>
              </a:ext>
            </a:extLst>
          </p:cNvPr>
          <p:cNvSpPr/>
          <p:nvPr/>
        </p:nvSpPr>
        <p:spPr>
          <a:xfrm>
            <a:off x="769267" y="4468608"/>
            <a:ext cx="3135983" cy="177979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DA575061-BB63-D5AB-D2EE-2103BE556332}"/>
              </a:ext>
            </a:extLst>
          </p:cNvPr>
          <p:cNvSpPr txBox="1"/>
          <p:nvPr/>
        </p:nvSpPr>
        <p:spPr>
          <a:xfrm>
            <a:off x="3884580" y="3354219"/>
            <a:ext cx="28575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Read current PWM from AD board</a:t>
            </a:r>
            <a:endParaRPr lang="zh-TW" alt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778EB27D-7548-16D4-D677-957B0CA492BC}"/>
              </a:ext>
            </a:extLst>
          </p:cNvPr>
          <p:cNvSpPr txBox="1"/>
          <p:nvPr/>
        </p:nvSpPr>
        <p:spPr>
          <a:xfrm>
            <a:off x="1284302" y="5407223"/>
            <a:ext cx="21059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Calculate PWM difference </a:t>
            </a:r>
            <a:endParaRPr lang="zh-TW" alt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3752FCA9-C982-BD6E-826F-C46C8579C0CF}"/>
              </a:ext>
            </a:extLst>
          </p:cNvPr>
          <p:cNvSpPr txBox="1"/>
          <p:nvPr/>
        </p:nvSpPr>
        <p:spPr>
          <a:xfrm>
            <a:off x="6868040" y="5292026"/>
            <a:ext cx="21059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Write PWM to AD board</a:t>
            </a:r>
            <a:endParaRPr lang="zh-TW" alt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50466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C1A02C-D67A-9CF5-79C7-D1334AB30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字版面配置區 6">
            <a:extLst>
              <a:ext uri="{FF2B5EF4-FFF2-40B4-BE49-F238E27FC236}">
                <a16:creationId xmlns:a16="http://schemas.microsoft.com/office/drawing/2014/main" id="{3114C12E-3850-8411-221A-6DAACBF3242F}"/>
              </a:ext>
            </a:extLst>
          </p:cNvPr>
          <p:cNvSpPr txBox="1"/>
          <p:nvPr/>
        </p:nvSpPr>
        <p:spPr>
          <a:xfrm>
            <a:off x="496186" y="1143000"/>
            <a:ext cx="8800212" cy="4939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>
              <a:lnSpc>
                <a:spcPts val="3000"/>
              </a:lnSpc>
            </a:pPr>
            <a:r>
              <a:rPr lang="zh-TW" altLang="en-US" sz="1600" dirty="0">
                <a:solidFill>
                  <a:srgbClr val="040C28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調整 </a:t>
            </a:r>
            <a:r>
              <a:rPr lang="en-US" altLang="zh-TW" sz="1600" dirty="0">
                <a:solidFill>
                  <a:srgbClr val="040C28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Lookup Table </a:t>
            </a:r>
            <a:r>
              <a:rPr lang="zh-TW" altLang="en-US" sz="1600" dirty="0">
                <a:solidFill>
                  <a:srgbClr val="040C28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的</a:t>
            </a:r>
            <a:r>
              <a:rPr lang="en-US" altLang="zh-TW" sz="1600" dirty="0">
                <a:solidFill>
                  <a:srgbClr val="040C28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RGB</a:t>
            </a:r>
            <a:r>
              <a:rPr lang="zh-TW" altLang="en-US" sz="1600" dirty="0">
                <a:solidFill>
                  <a:srgbClr val="040C28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數值設定來校正顯示器的顏色</a:t>
            </a:r>
            <a:endParaRPr lang="en-US" altLang="zh-TW" sz="1600" dirty="0">
              <a:solidFill>
                <a:srgbClr val="040C28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>
              <a:lnSpc>
                <a:spcPts val="3000"/>
              </a:lnSpc>
            </a:pPr>
            <a:endParaRPr lang="en-US" altLang="zh-TW" sz="1600" dirty="0">
              <a:solidFill>
                <a:srgbClr val="040C28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>
              <a:lnSpc>
                <a:spcPts val="3000"/>
              </a:lnSpc>
            </a:pPr>
            <a:r>
              <a:rPr lang="en-US" altLang="zh-TW" sz="1600" dirty="0">
                <a:solidFill>
                  <a:srgbClr val="040C28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1.</a:t>
            </a:r>
            <a:r>
              <a:rPr lang="zh-TW" altLang="en-US" sz="1600" dirty="0">
                <a:solidFill>
                  <a:srgbClr val="040C28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程式打出</a:t>
            </a:r>
            <a:r>
              <a:rPr lang="en-US" altLang="zh-TW" sz="1600" dirty="0">
                <a:solidFill>
                  <a:srgbClr val="040C28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level pattern </a:t>
            </a:r>
            <a:r>
              <a:rPr lang="zh-TW" altLang="en-US" sz="1600" dirty="0">
                <a:solidFill>
                  <a:srgbClr val="040C28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畫面給儀器做量測</a:t>
            </a:r>
            <a:endParaRPr lang="en-US" altLang="zh-TW" sz="1600" dirty="0">
              <a:solidFill>
                <a:srgbClr val="040C28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>
              <a:lnSpc>
                <a:spcPts val="3000"/>
              </a:lnSpc>
            </a:pPr>
            <a:r>
              <a:rPr lang="en-US" altLang="zh-TW" sz="1600" dirty="0">
                <a:solidFill>
                  <a:srgbClr val="040C28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2.</a:t>
            </a:r>
            <a:r>
              <a:rPr lang="zh-TW" altLang="en-US" sz="1600" dirty="0">
                <a:solidFill>
                  <a:srgbClr val="040C28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量測儀器回傳數值到程式中</a:t>
            </a:r>
            <a:endParaRPr lang="en-US" altLang="zh-TW" sz="1600" dirty="0">
              <a:solidFill>
                <a:srgbClr val="040C28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>
              <a:lnSpc>
                <a:spcPts val="3000"/>
              </a:lnSpc>
            </a:pPr>
            <a:r>
              <a:rPr lang="en-US" altLang="zh-TW" sz="1600" dirty="0">
                <a:solidFill>
                  <a:srgbClr val="040C28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3.</a:t>
            </a:r>
            <a:r>
              <a:rPr lang="zh-TW" altLang="en-US" sz="1600" dirty="0">
                <a:solidFill>
                  <a:srgbClr val="040C28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程式計算偏差數值以及算出待校正之值</a:t>
            </a:r>
            <a:endParaRPr lang="en-US" altLang="zh-TW" sz="1600" dirty="0">
              <a:solidFill>
                <a:srgbClr val="040C28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>
              <a:lnSpc>
                <a:spcPts val="3000"/>
              </a:lnSpc>
            </a:pPr>
            <a:r>
              <a:rPr lang="en-US" altLang="zh-TW" sz="1600" dirty="0">
                <a:solidFill>
                  <a:srgbClr val="040C28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4.</a:t>
            </a:r>
            <a:r>
              <a:rPr lang="zh-TW" altLang="en-US" sz="1600" dirty="0">
                <a:solidFill>
                  <a:srgbClr val="040C28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程式將待校正之值傳到板子中的</a:t>
            </a:r>
            <a:r>
              <a:rPr lang="en-US" altLang="zh-TW" sz="1600" dirty="0">
                <a:solidFill>
                  <a:srgbClr val="040C28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Gamma</a:t>
            </a:r>
            <a:r>
              <a:rPr lang="zh-TW" altLang="en-US" sz="1600" dirty="0">
                <a:solidFill>
                  <a:srgbClr val="040C28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1600" dirty="0">
                <a:solidFill>
                  <a:srgbClr val="040C28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or DICOM LUT</a:t>
            </a:r>
            <a:r>
              <a:rPr lang="zh-TW" altLang="en-US" sz="1600" dirty="0">
                <a:solidFill>
                  <a:srgbClr val="040C28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中，完成校正並檢查</a:t>
            </a:r>
            <a:endParaRPr lang="en-US" altLang="zh-TW" sz="1600" dirty="0">
              <a:solidFill>
                <a:srgbClr val="040C28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>
              <a:lnSpc>
                <a:spcPts val="3000"/>
              </a:lnSpc>
            </a:pPr>
            <a:endParaRPr lang="en-US" altLang="zh-TW" sz="1600" dirty="0">
              <a:solidFill>
                <a:srgbClr val="040C28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50800" indent="0">
              <a:lnSpc>
                <a:spcPts val="3000"/>
              </a:lnSpc>
              <a:buNone/>
            </a:pPr>
            <a:endParaRPr lang="en-US" altLang="zh-TW" sz="1600" dirty="0">
              <a:solidFill>
                <a:srgbClr val="040C28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>
              <a:lnSpc>
                <a:spcPts val="3000"/>
              </a:lnSpc>
            </a:pPr>
            <a:r>
              <a:rPr lang="zh-TW" altLang="en-US" sz="1600" dirty="0">
                <a:solidFill>
                  <a:srgbClr val="040C28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參考論文</a:t>
            </a:r>
            <a:r>
              <a:rPr lang="en-US" altLang="zh-TW" sz="1600" dirty="0">
                <a:solidFill>
                  <a:srgbClr val="040C28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:1.</a:t>
            </a:r>
            <a:r>
              <a:rPr lang="zh-TW" altLang="en-US" sz="1600" dirty="0">
                <a:solidFill>
                  <a:srgbClr val="040C28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液晶顯示器</a:t>
            </a:r>
            <a:r>
              <a:rPr lang="en-US" altLang="zh-TW" sz="1600" dirty="0">
                <a:solidFill>
                  <a:srgbClr val="040C28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Gamma</a:t>
            </a:r>
            <a:r>
              <a:rPr lang="zh-TW" altLang="en-US" sz="1600" dirty="0">
                <a:solidFill>
                  <a:srgbClr val="040C28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曲線及色溫自動校正系統</a:t>
            </a:r>
            <a:endParaRPr lang="en-US" altLang="zh-TW" sz="1600" dirty="0">
              <a:solidFill>
                <a:srgbClr val="040C28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50800" indent="0">
              <a:lnSpc>
                <a:spcPts val="3000"/>
              </a:lnSpc>
              <a:buNone/>
            </a:pPr>
            <a:r>
              <a:rPr lang="en-US" altLang="zh-TW" sz="1600" dirty="0">
                <a:solidFill>
                  <a:srgbClr val="040C28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                        2.</a:t>
            </a:r>
            <a:r>
              <a:rPr lang="zh-TW" altLang="en-US" sz="1600" dirty="0">
                <a:solidFill>
                  <a:srgbClr val="040C28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以 </a:t>
            </a:r>
            <a:r>
              <a:rPr lang="en-US" altLang="zh-TW" sz="1600" dirty="0">
                <a:solidFill>
                  <a:srgbClr val="040C28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Micro LED </a:t>
            </a:r>
            <a:r>
              <a:rPr lang="zh-TW" altLang="en-US" sz="1600" dirty="0">
                <a:solidFill>
                  <a:srgbClr val="040C28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面板實踐醫療顯示器之色溫與灰階校正</a:t>
            </a:r>
            <a:endParaRPr lang="en-US" altLang="zh-TW" sz="1600" dirty="0">
              <a:solidFill>
                <a:srgbClr val="040C28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50800" indent="0">
              <a:lnSpc>
                <a:spcPts val="3000"/>
              </a:lnSpc>
              <a:buNone/>
            </a:pPr>
            <a:r>
              <a:rPr lang="zh-TW" altLang="en-US" sz="1600" dirty="0">
                <a:solidFill>
                  <a:srgbClr val="040C28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                        </a:t>
            </a:r>
            <a:r>
              <a:rPr lang="en-US" altLang="zh-TW" sz="1600" dirty="0">
                <a:solidFill>
                  <a:srgbClr val="040C28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3.</a:t>
            </a:r>
            <a:r>
              <a:rPr lang="zh-TW" altLang="en-US" sz="1600" dirty="0">
                <a:solidFill>
                  <a:srgbClr val="040C28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液晶顯示器影像的伽瑪校正研究</a:t>
            </a:r>
            <a:endParaRPr lang="en-US" altLang="zh-TW" sz="1600" dirty="0">
              <a:solidFill>
                <a:srgbClr val="040C28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>
              <a:lnSpc>
                <a:spcPts val="3000"/>
              </a:lnSpc>
            </a:pPr>
            <a:endParaRPr lang="zh-TW" altLang="en-US" sz="1600" dirty="0">
              <a:solidFill>
                <a:srgbClr val="040C28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B92207C0-3A15-E45D-F0C1-770F024FD5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上次進度</a:t>
            </a:r>
            <a:r>
              <a:rPr lang="en-US" altLang="zh-TW" dirty="0"/>
              <a:t>:</a:t>
            </a:r>
            <a:r>
              <a:rPr lang="zh-TW" altLang="en-US" dirty="0"/>
              <a:t>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校正流程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3599235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C1A02C-D67A-9CF5-79C7-D1334AB30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字版面配置區 6">
            <a:extLst>
              <a:ext uri="{FF2B5EF4-FFF2-40B4-BE49-F238E27FC236}">
                <a16:creationId xmlns:a16="http://schemas.microsoft.com/office/drawing/2014/main" id="{3114C12E-3850-8411-221A-6DAACBF3242F}"/>
              </a:ext>
            </a:extLst>
          </p:cNvPr>
          <p:cNvSpPr txBox="1"/>
          <p:nvPr/>
        </p:nvSpPr>
        <p:spPr>
          <a:xfrm>
            <a:off x="496186" y="1143000"/>
            <a:ext cx="8800212" cy="4939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>
              <a:lnSpc>
                <a:spcPts val="3000"/>
              </a:lnSpc>
            </a:pPr>
            <a:r>
              <a:rPr lang="en-US" altLang="zh-TW" sz="1600" dirty="0">
                <a:solidFill>
                  <a:srgbClr val="040C28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1.</a:t>
            </a:r>
            <a:r>
              <a:rPr lang="zh-TW" altLang="en-US" sz="1600" dirty="0">
                <a:solidFill>
                  <a:srgbClr val="040C28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量測到的數值帶入</a:t>
            </a:r>
            <a:r>
              <a:rPr lang="en-US" altLang="zh-TW" sz="1600" dirty="0">
                <a:solidFill>
                  <a:srgbClr val="040C28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Gamma</a:t>
            </a:r>
            <a:r>
              <a:rPr lang="zh-TW" altLang="en-US" sz="1600" dirty="0">
                <a:solidFill>
                  <a:srgbClr val="040C28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、</a:t>
            </a:r>
            <a:r>
              <a:rPr lang="en-US" altLang="zh-TW" sz="1600" dirty="0">
                <a:solidFill>
                  <a:srgbClr val="040C28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DICOM</a:t>
            </a:r>
            <a:r>
              <a:rPr lang="zh-TW" altLang="en-US" sz="1600" dirty="0">
                <a:solidFill>
                  <a:srgbClr val="040C28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公式計算誤差，透過色座標矩陣運算更新</a:t>
            </a:r>
            <a:r>
              <a:rPr lang="en-US" altLang="zh-TW" sz="1600" dirty="0">
                <a:solidFill>
                  <a:srgbClr val="040C28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LUT(</a:t>
            </a:r>
            <a:r>
              <a:rPr lang="zh-TW" altLang="en-US" sz="1600" dirty="0">
                <a:solidFill>
                  <a:srgbClr val="040C28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待校正的數值</a:t>
            </a:r>
            <a:r>
              <a:rPr lang="en-US" altLang="zh-TW" sz="1600" dirty="0">
                <a:solidFill>
                  <a:srgbClr val="040C28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</a:p>
          <a:p>
            <a:pPr>
              <a:lnSpc>
                <a:spcPts val="3000"/>
              </a:lnSpc>
            </a:pPr>
            <a:r>
              <a:rPr lang="en-US" altLang="zh-TW" sz="1600" dirty="0">
                <a:solidFill>
                  <a:srgbClr val="040C28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2.</a:t>
            </a:r>
            <a:r>
              <a:rPr lang="zh-TW" altLang="en-US" sz="1600" dirty="0">
                <a:solidFill>
                  <a:srgbClr val="040C28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例如</a:t>
            </a:r>
            <a:r>
              <a:rPr lang="en-US" altLang="zh-TW" sz="1600" dirty="0">
                <a:solidFill>
                  <a:srgbClr val="040C28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sz="1600" dirty="0">
                <a:solidFill>
                  <a:srgbClr val="040C28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全黑</a:t>
            </a:r>
            <a:r>
              <a:rPr lang="en-US" altLang="zh-TW" sz="1600" dirty="0">
                <a:solidFill>
                  <a:srgbClr val="040C28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(0,0,0) </a:t>
            </a:r>
            <a:r>
              <a:rPr lang="zh-TW" altLang="en-US" sz="1600" dirty="0">
                <a:solidFill>
                  <a:srgbClr val="040C28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受到面板影響更新全黑的校正值</a:t>
            </a:r>
            <a:r>
              <a:rPr lang="en-US" altLang="zh-TW" sz="1600" dirty="0">
                <a:solidFill>
                  <a:srgbClr val="040C28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(0,4,0)</a:t>
            </a:r>
            <a:endParaRPr lang="zh-TW" altLang="en-US" sz="1600" dirty="0">
              <a:solidFill>
                <a:srgbClr val="040C28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B92207C0-3A15-E45D-F0C1-770F024FD5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上次進度</a:t>
            </a:r>
            <a:r>
              <a:rPr lang="en-US" altLang="zh-TW" dirty="0"/>
              <a:t>:</a:t>
            </a:r>
            <a:r>
              <a:rPr lang="zh-TW" altLang="en-US" dirty="0"/>
              <a:t> 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校正流程</a:t>
            </a: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3212C9E4-02A1-42BC-9720-3608B27E4B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5281" y="3159134"/>
            <a:ext cx="4014533" cy="906864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46763E0A-B3A9-4036-A076-236E0E3260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93171" y="4170722"/>
            <a:ext cx="1121346" cy="2143751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74EA56D5-0568-4B2C-96F9-28719933527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63106" y="3159820"/>
            <a:ext cx="1676734" cy="404213"/>
          </a:xfrm>
          <a:prstGeom prst="rect">
            <a:avLst/>
          </a:prstGeom>
        </p:spPr>
      </p:pic>
      <p:sp>
        <p:nvSpPr>
          <p:cNvPr id="9" name="文字方塊 8">
            <a:extLst>
              <a:ext uri="{FF2B5EF4-FFF2-40B4-BE49-F238E27FC236}">
                <a16:creationId xmlns:a16="http://schemas.microsoft.com/office/drawing/2014/main" id="{D55A79BD-BA62-4D71-93B2-DB55FC63AC5A}"/>
              </a:ext>
            </a:extLst>
          </p:cNvPr>
          <p:cNvSpPr txBox="1"/>
          <p:nvPr/>
        </p:nvSpPr>
        <p:spPr>
          <a:xfrm>
            <a:off x="1917544" y="2692079"/>
            <a:ext cx="167673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Gamma</a:t>
            </a:r>
            <a:r>
              <a:rPr lang="en-US" altLang="zh-TW" sz="1600" dirty="0"/>
              <a:t> </a:t>
            </a:r>
            <a:r>
              <a:rPr lang="zh-TW" altLang="en-US" sz="1600" dirty="0">
                <a:latin typeface="標楷體" panose="03000509000000000000" pitchFamily="65" charset="-120"/>
                <a:ea typeface="標楷體" panose="03000509000000000000" pitchFamily="65" charset="-120"/>
              </a:rPr>
              <a:t>公式</a:t>
            </a: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D5C84E3D-CBEC-4372-A265-A9CE7E76878C}"/>
              </a:ext>
            </a:extLst>
          </p:cNvPr>
          <p:cNvSpPr txBox="1"/>
          <p:nvPr/>
        </p:nvSpPr>
        <p:spPr>
          <a:xfrm>
            <a:off x="6692370" y="2746633"/>
            <a:ext cx="15229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DICOM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公式</a:t>
            </a:r>
          </a:p>
        </p:txBody>
      </p:sp>
    </p:spTree>
    <p:extLst>
      <p:ext uri="{BB962C8B-B14F-4D97-AF65-F5344CB8AC3E}">
        <p14:creationId xmlns:p14="http://schemas.microsoft.com/office/powerpoint/2010/main" val="28786250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C1A02C-D67A-9CF5-79C7-D1334AB30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字版面配置區 6">
            <a:extLst>
              <a:ext uri="{FF2B5EF4-FFF2-40B4-BE49-F238E27FC236}">
                <a16:creationId xmlns:a16="http://schemas.microsoft.com/office/drawing/2014/main" id="{3114C12E-3850-8411-221A-6DAACBF3242F}"/>
              </a:ext>
            </a:extLst>
          </p:cNvPr>
          <p:cNvSpPr txBox="1"/>
          <p:nvPr/>
        </p:nvSpPr>
        <p:spPr>
          <a:xfrm>
            <a:off x="496186" y="1143000"/>
            <a:ext cx="8800212" cy="4939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>
              <a:lnSpc>
                <a:spcPts val="3000"/>
              </a:lnSpc>
            </a:pPr>
            <a:r>
              <a:rPr lang="en-US" altLang="zh-TW" sz="1600" dirty="0">
                <a:solidFill>
                  <a:srgbClr val="040C28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1.</a:t>
            </a:r>
            <a:r>
              <a:rPr lang="zh-TW" altLang="en-US" sz="1600" dirty="0">
                <a:solidFill>
                  <a:srgbClr val="040C28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更新</a:t>
            </a:r>
            <a:r>
              <a:rPr lang="en-US" altLang="zh-TW" sz="1600" dirty="0" err="1">
                <a:solidFill>
                  <a:srgbClr val="040C28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SNNumber</a:t>
            </a:r>
            <a:r>
              <a:rPr lang="zh-TW" altLang="en-US" sz="1600" dirty="0">
                <a:solidFill>
                  <a:srgbClr val="040C28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、</a:t>
            </a:r>
            <a:r>
              <a:rPr lang="en-US" altLang="zh-TW" sz="1600" dirty="0" err="1">
                <a:solidFill>
                  <a:srgbClr val="040C28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FirmwareVersion</a:t>
            </a:r>
            <a:r>
              <a:rPr lang="en-US" altLang="zh-TW" sz="1600" dirty="0">
                <a:solidFill>
                  <a:srgbClr val="040C28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zh-TW" altLang="en-US" sz="1600" dirty="0">
                <a:solidFill>
                  <a:srgbClr val="040C28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回傳長度</a:t>
            </a:r>
            <a:endParaRPr lang="en-US" altLang="zh-TW" sz="1600" dirty="0">
              <a:solidFill>
                <a:srgbClr val="040C28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>
              <a:lnSpc>
                <a:spcPts val="3000"/>
              </a:lnSpc>
            </a:pPr>
            <a:r>
              <a:rPr lang="en-US" altLang="zh-TW" sz="1600" dirty="0">
                <a:solidFill>
                  <a:srgbClr val="040C28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2.Connect </a:t>
            </a:r>
            <a:r>
              <a:rPr lang="zh-TW" altLang="en-US" sz="1600" dirty="0">
                <a:solidFill>
                  <a:srgbClr val="040C28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板子資訊以</a:t>
            </a:r>
            <a:r>
              <a:rPr lang="en-US" altLang="zh-TW" sz="1600" dirty="0">
                <a:solidFill>
                  <a:srgbClr val="040C28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Reply Package </a:t>
            </a:r>
            <a:r>
              <a:rPr lang="zh-TW" altLang="en-US" sz="1600" dirty="0">
                <a:solidFill>
                  <a:srgbClr val="040C28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的形式更新</a:t>
            </a:r>
            <a:endParaRPr lang="en-US" altLang="zh-TW" sz="1600" dirty="0">
              <a:solidFill>
                <a:srgbClr val="040C28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>
              <a:lnSpc>
                <a:spcPts val="3000"/>
              </a:lnSpc>
            </a:pPr>
            <a:endParaRPr lang="zh-TW" altLang="en-US" sz="1600" dirty="0">
              <a:solidFill>
                <a:srgbClr val="040C28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B92207C0-3A15-E45D-F0C1-770F024FD5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本次進度</a:t>
            </a:r>
            <a:r>
              <a:rPr lang="en-US" altLang="zh-TW" dirty="0"/>
              <a:t>:</a:t>
            </a:r>
            <a:r>
              <a:rPr lang="zh-TW" altLang="en-US" dirty="0"/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Model Information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6C770910-E466-4237-A554-04B89D1EEC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3051" y="763681"/>
            <a:ext cx="3353706" cy="5697770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60048E7A-E93A-4BDD-BA36-3E05B85FAE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3442" y="3121104"/>
            <a:ext cx="3877539" cy="2961029"/>
          </a:xfrm>
          <a:prstGeom prst="rect">
            <a:avLst/>
          </a:prstGeom>
        </p:spPr>
      </p:pic>
      <p:sp>
        <p:nvSpPr>
          <p:cNvPr id="13" name="矩形 12">
            <a:extLst>
              <a:ext uri="{FF2B5EF4-FFF2-40B4-BE49-F238E27FC236}">
                <a16:creationId xmlns:a16="http://schemas.microsoft.com/office/drawing/2014/main" id="{AAEA2EC6-4D8D-4B05-9196-7A9CA3BAED26}"/>
              </a:ext>
            </a:extLst>
          </p:cNvPr>
          <p:cNvSpPr/>
          <p:nvPr/>
        </p:nvSpPr>
        <p:spPr>
          <a:xfrm>
            <a:off x="7452808" y="1063256"/>
            <a:ext cx="394020" cy="23382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D157B49-7E02-43FC-B1BA-FAC4C04FA257}"/>
              </a:ext>
            </a:extLst>
          </p:cNvPr>
          <p:cNvSpPr/>
          <p:nvPr/>
        </p:nvSpPr>
        <p:spPr>
          <a:xfrm>
            <a:off x="7440096" y="4118344"/>
            <a:ext cx="394020" cy="23382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B76468F0-3189-4ADD-B370-9B354ECF137E}"/>
              </a:ext>
            </a:extLst>
          </p:cNvPr>
          <p:cNvSpPr/>
          <p:nvPr/>
        </p:nvSpPr>
        <p:spPr>
          <a:xfrm>
            <a:off x="2565378" y="4484705"/>
            <a:ext cx="2038520" cy="136320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163939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3EB32A-446E-D6C5-C9D0-D7BB9025CB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F2E711A-2028-BDFB-18C0-CA44A073D8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本次進度</a:t>
            </a:r>
            <a:r>
              <a:rPr lang="en-US" altLang="zh-TW" dirty="0"/>
              <a:t>:</a:t>
            </a:r>
            <a:r>
              <a:rPr lang="zh-TW" altLang="en-US" dirty="0"/>
              <a:t> </a:t>
            </a:r>
            <a:r>
              <a:rPr lang="en-US" altLang="zh-TW" dirty="0"/>
              <a:t>Monitor</a:t>
            </a:r>
            <a:endParaRPr lang="zh-TW" altLang="en-US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A19D59E0-5AFB-A43E-8082-7E3558DCA242}"/>
              </a:ext>
            </a:extLst>
          </p:cNvPr>
          <p:cNvSpPr txBox="1"/>
          <p:nvPr/>
        </p:nvSpPr>
        <p:spPr>
          <a:xfrm>
            <a:off x="520699" y="1369489"/>
            <a:ext cx="7669813" cy="4299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1" indent="-406400">
              <a:lnSpc>
                <a:spcPts val="3000"/>
              </a:lnSpc>
              <a:spcBef>
                <a:spcPts val="560"/>
              </a:spcBef>
              <a:buClr>
                <a:schemeClr val="accent2"/>
              </a:buClr>
              <a:buSzPts val="2800"/>
              <a:buFont typeface="Noto Sans Symbols"/>
              <a:buChar char="❖"/>
            </a:pP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根據計畫書中內容進行開發，以下分別為階段二目標和當前開發進度及優先序。</a:t>
            </a:r>
            <a:endParaRPr lang="en-US" altLang="zh-TW" sz="1600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FA14A265-D3B4-3EED-5C61-DD24AFAC66F7}"/>
              </a:ext>
            </a:extLst>
          </p:cNvPr>
          <p:cNvGraphicFramePr>
            <a:graphicFrameLocks noGrp="1"/>
          </p:cNvGraphicFramePr>
          <p:nvPr/>
        </p:nvGraphicFramePr>
        <p:xfrm>
          <a:off x="570104" y="2311400"/>
          <a:ext cx="4903596" cy="2742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2917">
                  <a:extLst>
                    <a:ext uri="{9D8B030D-6E8A-4147-A177-3AD203B41FA5}">
                      <a16:colId xmlns:a16="http://schemas.microsoft.com/office/drawing/2014/main" val="1192615841"/>
                    </a:ext>
                  </a:extLst>
                </a:gridCol>
                <a:gridCol w="1572565">
                  <a:extLst>
                    <a:ext uri="{9D8B030D-6E8A-4147-A177-3AD203B41FA5}">
                      <a16:colId xmlns:a16="http://schemas.microsoft.com/office/drawing/2014/main" val="1364961183"/>
                    </a:ext>
                  </a:extLst>
                </a:gridCol>
                <a:gridCol w="1758114">
                  <a:extLst>
                    <a:ext uri="{9D8B030D-6E8A-4147-A177-3AD203B41FA5}">
                      <a16:colId xmlns:a16="http://schemas.microsoft.com/office/drawing/2014/main" val="2476587428"/>
                    </a:ext>
                  </a:extLst>
                </a:gridCol>
              </a:tblGrid>
              <a:tr h="395480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階段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zh-TW" altLang="en-US" sz="1400" b="1" i="0" u="none" strike="noStrike" cap="none" dirty="0">
                          <a:solidFill>
                            <a:schemeClr val="lt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  <a:sym typeface="Arial"/>
                        </a:rPr>
                        <a:t>時間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zh-TW" altLang="en-US" sz="1400" b="1" i="0" u="none" strike="noStrike" cap="none" dirty="0">
                          <a:solidFill>
                            <a:schemeClr val="lt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  <a:sym typeface="Arial"/>
                        </a:rPr>
                        <a:t>目標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0900139"/>
                  </a:ext>
                </a:extLst>
              </a:tr>
              <a:tr h="1979433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階段二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 month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Measure tool (CA-410 and i1Display</a:t>
                      </a:r>
                      <a:r>
                        <a:rPr lang="en-US" altLang="zh-TW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)</a:t>
                      </a: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zh-TW" alt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顯示亮度、色溫、</a:t>
                      </a:r>
                      <a:r>
                        <a:rPr lang="en-US" altLang="zh-TW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CIE1931</a:t>
                      </a:r>
                      <a:r>
                        <a:rPr lang="zh-TW" alt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 </a:t>
                      </a:r>
                      <a:r>
                        <a:rPr lang="en-US" altLang="zh-TW" sz="1400" b="0" i="0" u="none" strike="noStrike" cap="none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x,y</a:t>
                      </a:r>
                      <a:r>
                        <a:rPr lang="en-US" altLang="zh-TW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 </a:t>
                      </a:r>
                      <a:r>
                        <a:rPr lang="zh-TW" alt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資訊</a:t>
                      </a:r>
                      <a:endParaRPr lang="en-US" altLang="zh-TW" sz="1400" b="0" i="0" u="none" strike="noStrike" cap="none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  <a:sym typeface="Arial"/>
                      </a:endParaRP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zh-TW" alt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量測 </a:t>
                      </a:r>
                      <a:r>
                        <a:rPr lang="en-US" altLang="zh-TW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Gamma</a:t>
                      </a:r>
                      <a:r>
                        <a:rPr lang="zh-TW" alt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 和 </a:t>
                      </a:r>
                      <a:r>
                        <a:rPr lang="en-US" altLang="zh-TW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DICOM</a:t>
                      </a:r>
                      <a:r>
                        <a:rPr lang="zh-TW" alt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 曲線驗證</a:t>
                      </a:r>
                      <a:endParaRPr lang="en-US" altLang="zh-TW" sz="1400" b="0" i="0" u="none" strike="noStrike" cap="none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  <a:sym typeface="Arial"/>
                      </a:endParaRP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ALC</a:t>
                      </a:r>
                      <a:r>
                        <a:rPr lang="zh-TW" alt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 功能建立和測試</a:t>
                      </a:r>
                      <a:endParaRPr lang="en-US" altLang="zh-TW" sz="1400" b="0" i="0" u="none" strike="noStrike" cap="none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  <a:sym typeface="Arial"/>
                      </a:endParaRP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zh-TW" alt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建立 </a:t>
                      </a:r>
                      <a:r>
                        <a:rPr lang="en-US" altLang="zh-TW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RGB</a:t>
                      </a:r>
                      <a:r>
                        <a:rPr lang="zh-TW" alt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 純色畫板功能</a:t>
                      </a:r>
                      <a:endParaRPr lang="en-US" altLang="zh-TW" sz="1400" b="0" i="0" u="none" strike="noStrike" cap="none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  <a:sym typeface="Arial"/>
                      </a:endParaRP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zh-TW" altLang="en-US" sz="1400" b="0" i="0" u="none" strike="noStrike" cap="none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期末報告</a:t>
                      </a:r>
                    </a:p>
                  </a:txBody>
                  <a:tcPr marL="17780" marR="17780" marT="0" marB="0"/>
                </a:tc>
                <a:extLst>
                  <a:ext uri="{0D108BD9-81ED-4DB2-BD59-A6C34878D82A}">
                    <a16:rowId xmlns:a16="http://schemas.microsoft.com/office/drawing/2014/main" val="2847363105"/>
                  </a:ext>
                </a:extLst>
              </a:tr>
            </a:tbl>
          </a:graphicData>
        </a:graphic>
      </p:graphicFrame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1D03CF93-37F1-7D12-F268-15E61A91B3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2121431"/>
              </p:ext>
            </p:extLst>
          </p:nvPr>
        </p:nvGraphicFramePr>
        <p:xfrm>
          <a:off x="5604934" y="2353858"/>
          <a:ext cx="4022658" cy="36130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329">
                  <a:extLst>
                    <a:ext uri="{9D8B030D-6E8A-4147-A177-3AD203B41FA5}">
                      <a16:colId xmlns:a16="http://schemas.microsoft.com/office/drawing/2014/main" val="761389866"/>
                    </a:ext>
                  </a:extLst>
                </a:gridCol>
                <a:gridCol w="2011329">
                  <a:extLst>
                    <a:ext uri="{9D8B030D-6E8A-4147-A177-3AD203B41FA5}">
                      <a16:colId xmlns:a16="http://schemas.microsoft.com/office/drawing/2014/main" val="1643138419"/>
                    </a:ext>
                  </a:extLst>
                </a:gridCol>
              </a:tblGrid>
              <a:tr h="459704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目標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進度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4917929"/>
                  </a:ext>
                </a:extLst>
              </a:tr>
              <a:tr h="630678">
                <a:tc>
                  <a:txBody>
                    <a:bodyPr/>
                    <a:lstStyle/>
                    <a:p>
                      <a:pPr marL="0" lvl="0" indent="0" algn="ctr">
                        <a:buFont typeface="+mj-lt"/>
                        <a:buNone/>
                      </a:pPr>
                      <a:r>
                        <a:rPr lang="zh-TW" alt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建立 </a:t>
                      </a:r>
                      <a:r>
                        <a:rPr lang="en-US" altLang="zh-TW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RGB</a:t>
                      </a:r>
                      <a:r>
                        <a:rPr lang="zh-TW" alt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 純色畫板功能</a:t>
                      </a:r>
                      <a:endParaRPr lang="en-US" altLang="zh-TW" sz="1400" b="0" i="0" u="none" strike="noStrike" cap="none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8586928"/>
                  </a:ext>
                </a:extLst>
              </a:tr>
              <a:tr h="630678">
                <a:tc>
                  <a:txBody>
                    <a:bodyPr/>
                    <a:lstStyle/>
                    <a:p>
                      <a:pPr marL="0" lvl="0" indent="0" algn="ctr">
                        <a:buFont typeface="+mj-lt"/>
                        <a:buNone/>
                      </a:pPr>
                      <a:r>
                        <a:rPr lang="zh-TW" alt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顯示亮度、色溫、</a:t>
                      </a:r>
                      <a:r>
                        <a:rPr lang="en-US" altLang="zh-TW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CIE1931</a:t>
                      </a:r>
                      <a:r>
                        <a:rPr lang="zh-TW" alt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 </a:t>
                      </a:r>
                      <a:r>
                        <a:rPr lang="en-US" altLang="zh-TW" sz="1400" b="0" i="0" u="none" strike="noStrike" cap="none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x,y</a:t>
                      </a:r>
                      <a:r>
                        <a:rPr lang="en-US" altLang="zh-TW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 </a:t>
                      </a:r>
                      <a:r>
                        <a:rPr lang="zh-TW" alt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資訊</a:t>
                      </a:r>
                      <a:endParaRPr lang="en-US" altLang="zh-TW" sz="1400" b="0" i="0" u="none" strike="noStrike" cap="none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5210310"/>
                  </a:ext>
                </a:extLst>
              </a:tr>
              <a:tr h="630678">
                <a:tc>
                  <a:txBody>
                    <a:bodyPr/>
                    <a:lstStyle/>
                    <a:p>
                      <a:pPr marL="0" lvl="0" indent="0" algn="ctr">
                        <a:buFont typeface="+mj-lt"/>
                        <a:buNone/>
                      </a:pPr>
                      <a:r>
                        <a:rPr lang="en-US" altLang="zh-TW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Measure tool (CA-410 and i1Display</a:t>
                      </a:r>
                      <a:r>
                        <a:rPr lang="en-US" altLang="zh-TW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5183915"/>
                  </a:ext>
                </a:extLst>
              </a:tr>
              <a:tr h="630678">
                <a:tc>
                  <a:txBody>
                    <a:bodyPr/>
                    <a:lstStyle/>
                    <a:p>
                      <a:pPr marL="0" lvl="0" indent="0" algn="ctr">
                        <a:buFont typeface="+mj-lt"/>
                        <a:buNone/>
                      </a:pPr>
                      <a:r>
                        <a:rPr lang="zh-TW" alt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量測 </a:t>
                      </a:r>
                      <a:r>
                        <a:rPr lang="en-US" altLang="zh-TW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Gamma</a:t>
                      </a:r>
                      <a:r>
                        <a:rPr lang="zh-TW" alt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 和 </a:t>
                      </a:r>
                      <a:r>
                        <a:rPr lang="en-US" altLang="zh-TW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DICOM</a:t>
                      </a:r>
                      <a:r>
                        <a:rPr lang="zh-TW" alt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 曲線驗證</a:t>
                      </a:r>
                      <a:endParaRPr lang="en-US" altLang="zh-TW" sz="1400" b="0" i="0" u="none" strike="noStrike" cap="none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768554"/>
                  </a:ext>
                </a:extLst>
              </a:tr>
              <a:tr h="630678">
                <a:tc>
                  <a:txBody>
                    <a:bodyPr/>
                    <a:lstStyle/>
                    <a:p>
                      <a:pPr marL="0" lvl="0" indent="0" algn="ctr">
                        <a:buFont typeface="+mj-lt"/>
                        <a:buNone/>
                      </a:pPr>
                      <a:r>
                        <a:rPr lang="en-US" altLang="zh-TW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ALC</a:t>
                      </a:r>
                      <a:r>
                        <a:rPr lang="zh-TW" alt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 功能建立和測試</a:t>
                      </a:r>
                      <a:endParaRPr lang="en-US" altLang="zh-TW" sz="1400" b="0" i="0" u="none" strike="noStrike" cap="none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P</a:t>
                      </a:r>
                      <a:endParaRPr lang="en-US" altLang="zh-TW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( </a:t>
                      </a:r>
                      <a:r>
                        <a:rPr lang="en-US" altLang="zh-TW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ALC</a:t>
                      </a:r>
                      <a:r>
                        <a:rPr lang="zh-TW" alt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  <a:sym typeface="Arial"/>
                        </a:rPr>
                        <a:t>功能實作</a:t>
                      </a: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2182122"/>
                  </a:ext>
                </a:extLst>
              </a:tr>
            </a:tbl>
          </a:graphicData>
        </a:graphic>
      </p:graphicFrame>
      <p:sp>
        <p:nvSpPr>
          <p:cNvPr id="12" name="文字方塊 11">
            <a:extLst>
              <a:ext uri="{FF2B5EF4-FFF2-40B4-BE49-F238E27FC236}">
                <a16:creationId xmlns:a16="http://schemas.microsoft.com/office/drawing/2014/main" id="{21400902-7646-8901-3AB4-0881D01D31AB}"/>
              </a:ext>
            </a:extLst>
          </p:cNvPr>
          <p:cNvSpPr txBox="1"/>
          <p:nvPr/>
        </p:nvSpPr>
        <p:spPr>
          <a:xfrm>
            <a:off x="8635013" y="1541843"/>
            <a:ext cx="992579" cy="73866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O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: 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完成</a:t>
            </a:r>
            <a:b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</a:b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△: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未進行</a:t>
            </a:r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: 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進行中</a:t>
            </a:r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3DAD14C-9DA7-9E14-34FF-AEB08173AD31}"/>
              </a:ext>
            </a:extLst>
          </p:cNvPr>
          <p:cNvSpPr/>
          <p:nvPr/>
        </p:nvSpPr>
        <p:spPr>
          <a:xfrm>
            <a:off x="5604934" y="5316157"/>
            <a:ext cx="4022658" cy="65079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90927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85269F-EE01-93D1-D82C-B5693B4227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B0703DE-5600-88F1-303E-ED60A43828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本次進度</a:t>
            </a:r>
            <a:r>
              <a:rPr lang="en-US" altLang="zh-TW" dirty="0"/>
              <a:t>:</a:t>
            </a:r>
            <a:r>
              <a:rPr lang="zh-TW" altLang="en-US" dirty="0"/>
              <a:t> </a:t>
            </a:r>
            <a:r>
              <a:rPr lang="en-US" altLang="zh-TW" dirty="0"/>
              <a:t>Monitor</a:t>
            </a:r>
            <a:endParaRPr lang="zh-TW" altLang="en-US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0FD12053-B37E-8FA6-3C59-EFD9841D1B77}"/>
              </a:ext>
            </a:extLst>
          </p:cNvPr>
          <p:cNvSpPr txBox="1"/>
          <p:nvPr/>
        </p:nvSpPr>
        <p:spPr>
          <a:xfrm>
            <a:off x="520699" y="1369489"/>
            <a:ext cx="7669813" cy="814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1" indent="-406400">
              <a:lnSpc>
                <a:spcPts val="3000"/>
              </a:lnSpc>
              <a:spcBef>
                <a:spcPts val="560"/>
              </a:spcBef>
              <a:buClr>
                <a:schemeClr val="accent2"/>
              </a:buClr>
              <a:buSzPts val="2800"/>
              <a:buFont typeface="Noto Sans Symbols"/>
              <a:buChar char="❖"/>
            </a:pP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根據第二期計畫書中內容進行開發，以下分別為階段一目標和當前開發進度及優先序。</a:t>
            </a:r>
            <a:endParaRPr lang="en-US" altLang="zh-TW" sz="1600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C39F156E-D456-134C-55DA-692CC219BC1F}"/>
              </a:ext>
            </a:extLst>
          </p:cNvPr>
          <p:cNvGraphicFramePr>
            <a:graphicFrameLocks noGrp="1"/>
          </p:cNvGraphicFramePr>
          <p:nvPr/>
        </p:nvGraphicFramePr>
        <p:xfrm>
          <a:off x="570104" y="2311400"/>
          <a:ext cx="4903596" cy="237491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2917">
                  <a:extLst>
                    <a:ext uri="{9D8B030D-6E8A-4147-A177-3AD203B41FA5}">
                      <a16:colId xmlns:a16="http://schemas.microsoft.com/office/drawing/2014/main" val="1192615841"/>
                    </a:ext>
                  </a:extLst>
                </a:gridCol>
                <a:gridCol w="1572565">
                  <a:extLst>
                    <a:ext uri="{9D8B030D-6E8A-4147-A177-3AD203B41FA5}">
                      <a16:colId xmlns:a16="http://schemas.microsoft.com/office/drawing/2014/main" val="1364961183"/>
                    </a:ext>
                  </a:extLst>
                </a:gridCol>
                <a:gridCol w="1758114">
                  <a:extLst>
                    <a:ext uri="{9D8B030D-6E8A-4147-A177-3AD203B41FA5}">
                      <a16:colId xmlns:a16="http://schemas.microsoft.com/office/drawing/2014/main" val="2476587428"/>
                    </a:ext>
                  </a:extLst>
                </a:gridCol>
              </a:tblGrid>
              <a:tr h="395480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階段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zh-TW" altLang="en-US" sz="1400" b="1" i="0" u="none" strike="noStrike" cap="none" dirty="0">
                          <a:solidFill>
                            <a:schemeClr val="lt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  <a:sym typeface="Arial"/>
                        </a:rPr>
                        <a:t>時間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zh-TW" altLang="en-US" sz="1400" b="1" i="0" u="none" strike="noStrike" cap="none" dirty="0">
                          <a:solidFill>
                            <a:schemeClr val="lt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  <a:sym typeface="Arial"/>
                        </a:rPr>
                        <a:t>目標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0900139"/>
                  </a:ext>
                </a:extLst>
              </a:tr>
              <a:tr h="1979433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階段一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 month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Calibration Tool</a:t>
                      </a: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zh-TW" altLang="en-US" sz="1400" b="0" i="0" u="none" strike="noStrike" cap="none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色溫調校功能和測試</a:t>
                      </a:r>
                      <a:endParaRPr lang="en-US" altLang="zh-TW" sz="1400" b="0" i="0" u="none" strike="noStrike" cap="none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  <a:sym typeface="Arial"/>
                      </a:endParaRP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400" b="0" i="0" u="none" strike="noStrike" cap="none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ALC</a:t>
                      </a:r>
                      <a:r>
                        <a:rPr lang="zh-TW" altLang="en-US" sz="1400" b="0" i="0" u="none" strike="noStrike" cap="none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調校功能和測試</a:t>
                      </a:r>
                      <a:endParaRPr lang="en-US" altLang="zh-TW" sz="1400" b="0" i="0" u="none" strike="noStrike" cap="none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  <a:sym typeface="Arial"/>
                      </a:endParaRP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zh-TW" altLang="en-US" sz="1400" b="0" i="0" u="none" strike="noStrike" cap="none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期中報告</a:t>
                      </a:r>
                    </a:p>
                  </a:txBody>
                  <a:tcPr marL="17780" marR="17780" marT="0" marB="0"/>
                </a:tc>
                <a:extLst>
                  <a:ext uri="{0D108BD9-81ED-4DB2-BD59-A6C34878D82A}">
                    <a16:rowId xmlns:a16="http://schemas.microsoft.com/office/drawing/2014/main" val="2847363105"/>
                  </a:ext>
                </a:extLst>
              </a:tr>
            </a:tbl>
          </a:graphicData>
        </a:graphic>
      </p:graphicFrame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4FEA2BEE-33B3-3F49-05B7-A17F6C6194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2980410"/>
              </p:ext>
            </p:extLst>
          </p:nvPr>
        </p:nvGraphicFramePr>
        <p:xfrm>
          <a:off x="5604934" y="2353858"/>
          <a:ext cx="4022658" cy="24525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329">
                  <a:extLst>
                    <a:ext uri="{9D8B030D-6E8A-4147-A177-3AD203B41FA5}">
                      <a16:colId xmlns:a16="http://schemas.microsoft.com/office/drawing/2014/main" val="761389866"/>
                    </a:ext>
                  </a:extLst>
                </a:gridCol>
                <a:gridCol w="2011329">
                  <a:extLst>
                    <a:ext uri="{9D8B030D-6E8A-4147-A177-3AD203B41FA5}">
                      <a16:colId xmlns:a16="http://schemas.microsoft.com/office/drawing/2014/main" val="1643138419"/>
                    </a:ext>
                  </a:extLst>
                </a:gridCol>
              </a:tblGrid>
              <a:tr h="459704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目標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進度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4917929"/>
                  </a:ext>
                </a:extLst>
              </a:tr>
              <a:tr h="630678">
                <a:tc>
                  <a:txBody>
                    <a:bodyPr/>
                    <a:lstStyle/>
                    <a:p>
                      <a:pPr marL="0" lvl="0" indent="0" algn="ctr">
                        <a:buFont typeface="+mj-lt"/>
                        <a:buNone/>
                      </a:pPr>
                      <a:r>
                        <a:rPr lang="en-US" altLang="zh-TW" sz="1400" b="0" i="0" u="none" strike="noStrike" cap="none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ALC</a:t>
                      </a:r>
                      <a:r>
                        <a:rPr lang="zh-TW" altLang="en-US" sz="1400" b="0" i="0" u="none" strike="noStrike" cap="none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調校功能和測試</a:t>
                      </a:r>
                      <a:endParaRPr lang="en-US" altLang="zh-TW" sz="1400" b="0" i="0" u="none" strike="noStrike" cap="none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P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中心與右下角亮度校正 </a:t>
                      </a: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4902268"/>
                  </a:ext>
                </a:extLst>
              </a:tr>
              <a:tr h="630678">
                <a:tc>
                  <a:txBody>
                    <a:bodyPr/>
                    <a:lstStyle/>
                    <a:p>
                      <a:pPr marL="0" lvl="0" indent="0" algn="ctr">
                        <a:buFont typeface="+mj-lt"/>
                        <a:buNone/>
                      </a:pPr>
                      <a:r>
                        <a:rPr lang="en-US" altLang="zh-TW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Calibration Tool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P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(Layout</a:t>
                      </a:r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介面</a:t>
                      </a: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5210310"/>
                  </a:ext>
                </a:extLst>
              </a:tr>
              <a:tr h="63067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zh-TW" altLang="en-US" sz="1400" b="0" i="0" u="none" strike="noStrike" cap="none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色溫調校功能和測試</a:t>
                      </a:r>
                      <a:endParaRPr lang="en-US" altLang="zh-TW" sz="1400" b="0" i="0" u="none" strike="noStrike" cap="none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△</a:t>
                      </a:r>
                      <a:endParaRPr lang="en-US" altLang="zh-TW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1818432"/>
                  </a:ext>
                </a:extLst>
              </a:tr>
            </a:tbl>
          </a:graphicData>
        </a:graphic>
      </p:graphicFrame>
      <p:sp>
        <p:nvSpPr>
          <p:cNvPr id="12" name="文字方塊 11">
            <a:extLst>
              <a:ext uri="{FF2B5EF4-FFF2-40B4-BE49-F238E27FC236}">
                <a16:creationId xmlns:a16="http://schemas.microsoft.com/office/drawing/2014/main" id="{ED2DF69B-FBF3-6544-79D8-6710E1F9B468}"/>
              </a:ext>
            </a:extLst>
          </p:cNvPr>
          <p:cNvSpPr txBox="1"/>
          <p:nvPr/>
        </p:nvSpPr>
        <p:spPr>
          <a:xfrm>
            <a:off x="8635013" y="1541843"/>
            <a:ext cx="992579" cy="73866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O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: 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完成</a:t>
            </a:r>
            <a:b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</a:b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△: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未進行</a:t>
            </a:r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: 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進行中</a:t>
            </a:r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6122239-662C-2453-6DB2-0B3A5ED1E403}"/>
              </a:ext>
            </a:extLst>
          </p:cNvPr>
          <p:cNvSpPr/>
          <p:nvPr/>
        </p:nvSpPr>
        <p:spPr>
          <a:xfrm>
            <a:off x="5604934" y="2778205"/>
            <a:ext cx="4022658" cy="138422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925341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2" name="標題 6"/>
          <p:cNvSpPr>
            <a:spLocks noGrp="1"/>
          </p:cNvSpPr>
          <p:nvPr>
            <p:ph type="title"/>
          </p:nvPr>
        </p:nvSpPr>
        <p:spPr>
          <a:xfrm>
            <a:off x="558018" y="657066"/>
            <a:ext cx="7923944" cy="533400"/>
          </a:xfrm>
        </p:spPr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電池外觀破損偵測</a:t>
            </a: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88BB20D9-FF08-ADFE-0239-2A0A725A79B8}"/>
              </a:ext>
            </a:extLst>
          </p:cNvPr>
          <p:cNvGraphicFramePr>
            <a:graphicFrameLocks noGrp="1"/>
          </p:cNvGraphicFramePr>
          <p:nvPr/>
        </p:nvGraphicFramePr>
        <p:xfrm>
          <a:off x="4853584" y="2429225"/>
          <a:ext cx="4960792" cy="18108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80396">
                  <a:extLst>
                    <a:ext uri="{9D8B030D-6E8A-4147-A177-3AD203B41FA5}">
                      <a16:colId xmlns:a16="http://schemas.microsoft.com/office/drawing/2014/main" val="1386511907"/>
                    </a:ext>
                  </a:extLst>
                </a:gridCol>
                <a:gridCol w="2480396">
                  <a:extLst>
                    <a:ext uri="{9D8B030D-6E8A-4147-A177-3AD203B41FA5}">
                      <a16:colId xmlns:a16="http://schemas.microsoft.com/office/drawing/2014/main" val="3728400076"/>
                    </a:ext>
                  </a:extLst>
                </a:gridCol>
              </a:tblGrid>
              <a:tr h="287654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目標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進度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4623179"/>
                  </a:ext>
                </a:extLst>
              </a:tr>
              <a:tr h="489012">
                <a:tc>
                  <a:txBody>
                    <a:bodyPr/>
                    <a:lstStyle/>
                    <a:p>
                      <a:pPr marL="0" lvl="0" indent="0" algn="ctr">
                        <a:buFont typeface="+mj-lt"/>
                        <a:buNone/>
                      </a:pPr>
                      <a:r>
                        <a:rPr lang="zh-TW" altLang="en-US" sz="1400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訓練模型</a:t>
                      </a:r>
                      <a:endParaRPr lang="en-US" altLang="zh-TW" sz="14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9786410"/>
                  </a:ext>
                </a:extLst>
              </a:tr>
              <a:tr h="508541">
                <a:tc>
                  <a:txBody>
                    <a:bodyPr/>
                    <a:lstStyle/>
                    <a:p>
                      <a:pPr marL="0" lvl="0" indent="0" algn="ctr">
                        <a:buFont typeface="+mj-lt"/>
                        <a:buNone/>
                      </a:pPr>
                      <a:r>
                        <a:rPr lang="zh-TW" altLang="en-US" sz="1400" b="0" i="0" u="none" strike="noStrike" kern="100" cap="none" dirty="0">
                          <a:solidFill>
                            <a:schemeClr val="dk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輸入影像進行模型分析</a:t>
                      </a:r>
                      <a:endParaRPr lang="en-US" altLang="zh-TW" sz="1400" b="0" i="0" u="none" strike="noStrike" kern="100" cap="none" dirty="0">
                        <a:solidFill>
                          <a:schemeClr val="dk1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△</a:t>
                      </a:r>
                      <a:endParaRPr lang="en-US" altLang="zh-TW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4086582"/>
                  </a:ext>
                </a:extLst>
              </a:tr>
              <a:tr h="508541">
                <a:tc>
                  <a:txBody>
                    <a:bodyPr/>
                    <a:lstStyle/>
                    <a:p>
                      <a:pPr marL="0" lvl="0" indent="0" algn="ctr">
                        <a:buFont typeface="+mj-lt"/>
                        <a:buNone/>
                      </a:pPr>
                      <a:r>
                        <a:rPr lang="zh-TW" altLang="en-US" sz="1400" b="0" i="0" u="none" strike="noStrike" kern="100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在</a:t>
                      </a:r>
                      <a:r>
                        <a:rPr lang="en-US" altLang="zh-TW" sz="1400" b="0" i="0" u="none" strike="noStrike" kern="100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Jetson</a:t>
                      </a:r>
                      <a:r>
                        <a:rPr lang="zh-TW" altLang="en-US" sz="1400" b="0" i="0" u="none" strike="noStrike" kern="100" cap="none" dirty="0">
                          <a:solidFill>
                            <a:schemeClr val="dk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平台使用模型</a:t>
                      </a:r>
                      <a:endParaRPr lang="en-US" altLang="zh-TW" sz="1400" b="0" i="0" u="none" strike="noStrike" kern="100" cap="none" dirty="0">
                        <a:solidFill>
                          <a:schemeClr val="dk1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△</a:t>
                      </a:r>
                      <a:endParaRPr lang="en-US" altLang="zh-TW" b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3004940"/>
                  </a:ext>
                </a:extLst>
              </a:tr>
            </a:tbl>
          </a:graphicData>
        </a:graphic>
      </p:graphicFrame>
      <p:cxnSp>
        <p:nvCxnSpPr>
          <p:cNvPr id="7" name="直線單箭頭接點 6">
            <a:extLst>
              <a:ext uri="{FF2B5EF4-FFF2-40B4-BE49-F238E27FC236}">
                <a16:creationId xmlns:a16="http://schemas.microsoft.com/office/drawing/2014/main" id="{202C1B06-2573-A628-C341-BB16D30DF0FC}"/>
              </a:ext>
            </a:extLst>
          </p:cNvPr>
          <p:cNvCxnSpPr>
            <a:cxnSpLocks/>
          </p:cNvCxnSpPr>
          <p:nvPr/>
        </p:nvCxnSpPr>
        <p:spPr>
          <a:xfrm>
            <a:off x="4953000" y="2669329"/>
            <a:ext cx="0" cy="1619222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12" name="文字版面配置區 6">
            <a:extLst>
              <a:ext uri="{FF2B5EF4-FFF2-40B4-BE49-F238E27FC236}">
                <a16:creationId xmlns:a16="http://schemas.microsoft.com/office/drawing/2014/main" id="{15E903C2-D7A2-E707-AA22-A5BFEBFCEF2F}"/>
              </a:ext>
            </a:extLst>
          </p:cNvPr>
          <p:cNvSpPr txBox="1"/>
          <p:nvPr/>
        </p:nvSpPr>
        <p:spPr>
          <a:xfrm>
            <a:off x="250390" y="1004661"/>
            <a:ext cx="8800212" cy="10619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50800" indent="0">
              <a:buNone/>
            </a:pPr>
            <a:endParaRPr lang="en-US" altLang="zh-TW" sz="1600" dirty="0"/>
          </a:p>
          <a:p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根據計畫書中內容進行開發，以下分別為</a:t>
            </a:r>
            <a:endParaRPr lang="en-US" altLang="zh-TW" sz="16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50800" indent="0">
              <a:buNone/>
            </a:pPr>
            <a:r>
              <a:rPr lang="en-US" altLang="zh-TW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       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階段一目標和當前開發進度及優先序。</a:t>
            </a:r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/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533400" lvl="1" indent="0">
              <a:buNone/>
            </a:pPr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50800" indent="0">
              <a:buNone/>
            </a:pPr>
            <a:endParaRPr lang="en-US" altLang="zh-TW" sz="18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/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/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/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/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533400" lvl="1" indent="0">
              <a:buNone/>
            </a:pPr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533400" lvl="1" indent="0">
              <a:buNone/>
            </a:pPr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13" name="表格 12">
            <a:extLst>
              <a:ext uri="{FF2B5EF4-FFF2-40B4-BE49-F238E27FC236}">
                <a16:creationId xmlns:a16="http://schemas.microsoft.com/office/drawing/2014/main" id="{7E5DB677-FC1E-C918-4DE8-5A29E7BE7399}"/>
              </a:ext>
            </a:extLst>
          </p:cNvPr>
          <p:cNvGraphicFramePr>
            <a:graphicFrameLocks noGrp="1"/>
          </p:cNvGraphicFramePr>
          <p:nvPr/>
        </p:nvGraphicFramePr>
        <p:xfrm>
          <a:off x="91624" y="2360266"/>
          <a:ext cx="4664952" cy="26479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5924">
                  <a:extLst>
                    <a:ext uri="{9D8B030D-6E8A-4147-A177-3AD203B41FA5}">
                      <a16:colId xmlns:a16="http://schemas.microsoft.com/office/drawing/2014/main" val="2214116554"/>
                    </a:ext>
                  </a:extLst>
                </a:gridCol>
                <a:gridCol w="1497874">
                  <a:extLst>
                    <a:ext uri="{9D8B030D-6E8A-4147-A177-3AD203B41FA5}">
                      <a16:colId xmlns:a16="http://schemas.microsoft.com/office/drawing/2014/main" val="2817570406"/>
                    </a:ext>
                  </a:extLst>
                </a:gridCol>
                <a:gridCol w="2011154">
                  <a:extLst>
                    <a:ext uri="{9D8B030D-6E8A-4147-A177-3AD203B41FA5}">
                      <a16:colId xmlns:a16="http://schemas.microsoft.com/office/drawing/2014/main" val="4218185479"/>
                    </a:ext>
                  </a:extLst>
                </a:gridCol>
              </a:tblGrid>
              <a:tr h="330995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階段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zh-TW" altLang="en-US" sz="1400" b="1" i="0" u="none" strike="noStrike" cap="none" dirty="0">
                          <a:solidFill>
                            <a:schemeClr val="lt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  <a:sym typeface="Arial"/>
                        </a:rPr>
                        <a:t>粗估時間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zh-TW" altLang="en-US" sz="1400" b="1" i="0" u="none" strike="noStrike" cap="none" dirty="0">
                          <a:solidFill>
                            <a:schemeClr val="lt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  <a:sym typeface="Arial"/>
                        </a:rPr>
                        <a:t>目標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4011215"/>
                  </a:ext>
                </a:extLst>
              </a:tr>
              <a:tr h="2316967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階段一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2025/3/01</a:t>
                      </a:r>
                    </a:p>
                    <a:p>
                      <a:pPr algn="ctr"/>
                      <a:endParaRPr lang="en-US" altLang="zh-TW" sz="1400" b="0" i="0" u="none" strike="noStrike" cap="none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  <a:p>
                      <a:pPr algn="ctr"/>
                      <a:r>
                        <a:rPr lang="en-US" altLang="zh-TW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2025/4/30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zh-TW" altLang="zh-TW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  <a:sym typeface="Arial"/>
                        </a:rPr>
                        <a:t>提供模型評估，並以此為基礎模型進行微調</a:t>
                      </a: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endParaRPr lang="en-US" altLang="zh-TW" sz="14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zh-TW" altLang="zh-TW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  <a:sym typeface="Arial"/>
                        </a:rPr>
                        <a:t>擷取電池影像，並輸入</a:t>
                      </a:r>
                      <a:r>
                        <a:rPr lang="en-US" altLang="zh-TW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  <a:sym typeface="Arial"/>
                        </a:rPr>
                        <a:t>A</a:t>
                      </a:r>
                      <a:r>
                        <a:rPr lang="en-US" altLang="zh-TW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I</a:t>
                      </a:r>
                      <a:r>
                        <a:rPr lang="zh-TW" altLang="zh-TW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模型進行分析</a:t>
                      </a: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endParaRPr lang="en-US" altLang="zh-TW" sz="1400" b="0" i="0" u="none" strike="noStrike" kern="100" cap="none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  <a:sym typeface="Arial"/>
                      </a:endParaRP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zh-TW" altLang="zh-TW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基於</a:t>
                      </a:r>
                      <a:r>
                        <a:rPr lang="en-US" altLang="zh-TW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JS800</a:t>
                      </a:r>
                      <a:r>
                        <a:rPr lang="zh-TW" altLang="zh-TW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與</a:t>
                      </a:r>
                      <a:r>
                        <a:rPr lang="en-US" altLang="zh-TW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JS1100/221/1000</a:t>
                      </a:r>
                      <a:r>
                        <a:rPr lang="zh-TW" altLang="zh-TW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  <a:sym typeface="Arial"/>
                        </a:rPr>
                        <a:t>上進行模型效能最佳化</a:t>
                      </a:r>
                      <a:endParaRPr lang="zh-TW" altLang="en-US" sz="1400" b="0" i="0" u="none" strike="noStrike" cap="none" dirty="0">
                        <a:solidFill>
                          <a:schemeClr val="dk1"/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  <a:cs typeface="+mn-cs"/>
                        <a:sym typeface="Arial"/>
                      </a:endParaRPr>
                    </a:p>
                  </a:txBody>
                  <a:tcPr marL="17780" marR="17780" marT="0" marB="0"/>
                </a:tc>
                <a:extLst>
                  <a:ext uri="{0D108BD9-81ED-4DB2-BD59-A6C34878D82A}">
                    <a16:rowId xmlns:a16="http://schemas.microsoft.com/office/drawing/2014/main" val="2426695749"/>
                  </a:ext>
                </a:extLst>
              </a:tr>
            </a:tbl>
          </a:graphicData>
        </a:graphic>
      </p:graphicFrame>
      <p:sp>
        <p:nvSpPr>
          <p:cNvPr id="6" name="文字方塊 5">
            <a:extLst>
              <a:ext uri="{FF2B5EF4-FFF2-40B4-BE49-F238E27FC236}">
                <a16:creationId xmlns:a16="http://schemas.microsoft.com/office/drawing/2014/main" id="{DBA6358A-B91C-0A9C-B975-0BA97AC554AC}"/>
              </a:ext>
            </a:extLst>
          </p:cNvPr>
          <p:cNvSpPr txBox="1"/>
          <p:nvPr/>
        </p:nvSpPr>
        <p:spPr>
          <a:xfrm>
            <a:off x="4589582" y="5462270"/>
            <a:ext cx="992578" cy="73866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O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: 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完成</a:t>
            </a:r>
            <a:b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</a:b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△: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未進行</a:t>
            </a:r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: 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進行中</a:t>
            </a:r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4F145CB5-95AF-08DE-16F2-85EEE64553C4}"/>
              </a:ext>
            </a:extLst>
          </p:cNvPr>
          <p:cNvSpPr txBox="1"/>
          <p:nvPr/>
        </p:nvSpPr>
        <p:spPr>
          <a:xfrm rot="16200000">
            <a:off x="1839054" y="2872833"/>
            <a:ext cx="28886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~</a:t>
            </a:r>
            <a:endParaRPr lang="zh-TW" altLang="en-US" dirty="0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2534E871-5256-D06E-A5DC-74EDD2EFEFBD}"/>
              </a:ext>
            </a:extLst>
          </p:cNvPr>
          <p:cNvSpPr txBox="1"/>
          <p:nvPr/>
        </p:nvSpPr>
        <p:spPr>
          <a:xfrm>
            <a:off x="4838949" y="4273550"/>
            <a:ext cx="87075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priority</a:t>
            </a:r>
            <a:endParaRPr lang="zh-TW" alt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41669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2" name="標題 6"/>
          <p:cNvSpPr>
            <a:spLocks noGrp="1"/>
          </p:cNvSpPr>
          <p:nvPr>
            <p:ph type="title"/>
          </p:nvPr>
        </p:nvSpPr>
        <p:spPr>
          <a:xfrm>
            <a:off x="558018" y="657066"/>
            <a:ext cx="7923944" cy="533400"/>
          </a:xfrm>
        </p:spPr>
        <p:txBody>
          <a:bodyPr/>
          <a:lstStyle/>
          <a:p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流程圖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17AD8D70-E5E8-1C9B-9663-A10E53F7EF6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9029" r="20008"/>
          <a:stretch/>
        </p:blipFill>
        <p:spPr>
          <a:xfrm>
            <a:off x="473253" y="3283466"/>
            <a:ext cx="3320418" cy="2625536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3F599D38-700A-7411-5CE6-7308DF5C270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5373" t="6421" r="37474" b="4034"/>
          <a:stretch/>
        </p:blipFill>
        <p:spPr>
          <a:xfrm>
            <a:off x="4454632" y="3420709"/>
            <a:ext cx="1738366" cy="2351050"/>
          </a:xfrm>
          <a:prstGeom prst="rect">
            <a:avLst/>
          </a:prstGeom>
        </p:spPr>
      </p:pic>
      <p:sp>
        <p:nvSpPr>
          <p:cNvPr id="8" name="箭號: 向右 7">
            <a:extLst>
              <a:ext uri="{FF2B5EF4-FFF2-40B4-BE49-F238E27FC236}">
                <a16:creationId xmlns:a16="http://schemas.microsoft.com/office/drawing/2014/main" id="{7E496D33-81EC-C3FF-C3A2-D47F69B7E06E}"/>
              </a:ext>
            </a:extLst>
          </p:cNvPr>
          <p:cNvSpPr/>
          <p:nvPr/>
        </p:nvSpPr>
        <p:spPr>
          <a:xfrm>
            <a:off x="3891234" y="4414309"/>
            <a:ext cx="465834" cy="36384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箭號: 向右 10">
            <a:extLst>
              <a:ext uri="{FF2B5EF4-FFF2-40B4-BE49-F238E27FC236}">
                <a16:creationId xmlns:a16="http://schemas.microsoft.com/office/drawing/2014/main" id="{CA6366C0-09A1-D60E-AA48-0D3E371F6235}"/>
              </a:ext>
            </a:extLst>
          </p:cNvPr>
          <p:cNvSpPr/>
          <p:nvPr/>
        </p:nvSpPr>
        <p:spPr>
          <a:xfrm>
            <a:off x="6322722" y="4414309"/>
            <a:ext cx="465834" cy="36384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14" name="群組 13">
            <a:extLst>
              <a:ext uri="{FF2B5EF4-FFF2-40B4-BE49-F238E27FC236}">
                <a16:creationId xmlns:a16="http://schemas.microsoft.com/office/drawing/2014/main" id="{A30DA087-44FF-AF16-FDD5-06B75BAD4FC9}"/>
              </a:ext>
            </a:extLst>
          </p:cNvPr>
          <p:cNvGrpSpPr/>
          <p:nvPr/>
        </p:nvGrpSpPr>
        <p:grpSpPr>
          <a:xfrm>
            <a:off x="6853959" y="2757838"/>
            <a:ext cx="2768810" cy="3151164"/>
            <a:chOff x="7044877" y="3048025"/>
            <a:chExt cx="2768810" cy="3151164"/>
          </a:xfrm>
        </p:grpSpPr>
        <p:pic>
          <p:nvPicPr>
            <p:cNvPr id="1030" name="Picture 6" descr="语义分割（一）——概述, 常见评价指标, 前DL时代, DL进化史">
              <a:extLst>
                <a:ext uri="{FF2B5EF4-FFF2-40B4-BE49-F238E27FC236}">
                  <a16:creationId xmlns:a16="http://schemas.microsoft.com/office/drawing/2014/main" id="{18B472B0-0566-3E21-5B87-430E6D6214FE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51392"/>
            <a:stretch/>
          </p:blipFill>
          <p:spPr bwMode="auto">
            <a:xfrm>
              <a:off x="7044877" y="3048025"/>
              <a:ext cx="2768810" cy="157558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3" name="Picture 6" descr="语义分割（一）——概述, 常见评价指标, 前DL时代, DL进化史">
              <a:extLst>
                <a:ext uri="{FF2B5EF4-FFF2-40B4-BE49-F238E27FC236}">
                  <a16:creationId xmlns:a16="http://schemas.microsoft.com/office/drawing/2014/main" id="{21F34898-E176-50F6-88F3-3A2EEA90E53D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1392"/>
            <a:stretch/>
          </p:blipFill>
          <p:spPr bwMode="auto">
            <a:xfrm>
              <a:off x="7044877" y="4623607"/>
              <a:ext cx="2768810" cy="157558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B63BAE24-FB9A-B6D2-772A-73A7299692E1}"/>
              </a:ext>
            </a:extLst>
          </p:cNvPr>
          <p:cNvSpPr txBox="1"/>
          <p:nvPr/>
        </p:nvSpPr>
        <p:spPr>
          <a:xfrm>
            <a:off x="6765804" y="5909002"/>
            <a:ext cx="305724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600" dirty="0">
                <a:solidFill>
                  <a:schemeClr val="dk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Times New Roman"/>
              </a:rPr>
              <a:t>使用語意分割以標記出電池傷痕</a:t>
            </a: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DF410623-8F2A-A377-1F30-CD0093961E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3144" y="1679303"/>
            <a:ext cx="8979711" cy="6924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839574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2" name="標題 6"/>
          <p:cNvSpPr>
            <a:spLocks noGrp="1"/>
          </p:cNvSpPr>
          <p:nvPr>
            <p:ph type="title"/>
          </p:nvPr>
        </p:nvSpPr>
        <p:spPr>
          <a:xfrm>
            <a:off x="558018" y="657066"/>
            <a:ext cx="7923944" cy="533400"/>
          </a:xfrm>
        </p:spPr>
        <p:txBody>
          <a:bodyPr/>
          <a:lstStyle/>
          <a:p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訓練模型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2" name="文字版面配置區 6">
            <a:extLst>
              <a:ext uri="{FF2B5EF4-FFF2-40B4-BE49-F238E27FC236}">
                <a16:creationId xmlns:a16="http://schemas.microsoft.com/office/drawing/2014/main" id="{15E903C2-D7A2-E707-AA22-A5BFEBFCEF2F}"/>
              </a:ext>
            </a:extLst>
          </p:cNvPr>
          <p:cNvSpPr txBox="1"/>
          <p:nvPr/>
        </p:nvSpPr>
        <p:spPr>
          <a:xfrm>
            <a:off x="390506" y="1204222"/>
            <a:ext cx="8800212" cy="10619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50800" indent="0">
              <a:buNone/>
            </a:pPr>
            <a:endParaRPr lang="en-US" altLang="zh-TW" sz="1600" dirty="0"/>
          </a:p>
          <a:p>
            <a:r>
              <a:rPr lang="zh-TW" altLang="en-US" sz="1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先做物件偵測，判斷說現在出現的物品是電池</a:t>
            </a:r>
            <a:endParaRPr lang="en-US" altLang="zh-TW" sz="18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en-US" altLang="zh-TW" sz="18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/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蒐集電池的照片，並做標記，目前蒐集了</a:t>
            </a:r>
            <a:r>
              <a:rPr lang="en-US" altLang="zh-TW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955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張照片</a:t>
            </a:r>
            <a:endParaRPr lang="en-US" altLang="zh-TW" sz="16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en-US" altLang="zh-TW" sz="18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en-US" altLang="zh-TW" sz="18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en-US" altLang="zh-TW" sz="18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en-US" altLang="zh-TW" sz="18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en-US" altLang="zh-TW" sz="18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35440D0C-187C-4C71-9AC6-087C53414CA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9029" r="20008"/>
          <a:stretch/>
        </p:blipFill>
        <p:spPr>
          <a:xfrm>
            <a:off x="1316334" y="3038071"/>
            <a:ext cx="3320418" cy="2625536"/>
          </a:xfrm>
          <a:prstGeom prst="rect">
            <a:avLst/>
          </a:prstGeom>
        </p:spPr>
      </p:pic>
      <p:pic>
        <p:nvPicPr>
          <p:cNvPr id="3" name="圖片 2">
            <a:extLst>
              <a:ext uri="{FF2B5EF4-FFF2-40B4-BE49-F238E27FC236}">
                <a16:creationId xmlns:a16="http://schemas.microsoft.com/office/drawing/2014/main" id="{CCF927C4-DD6E-4DAE-88AA-5ED6BEB035C7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7447" r="16213"/>
          <a:stretch/>
        </p:blipFill>
        <p:spPr>
          <a:xfrm>
            <a:off x="5071108" y="3038071"/>
            <a:ext cx="3320419" cy="2833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45362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2" name="標題 6"/>
          <p:cNvSpPr>
            <a:spLocks noGrp="1"/>
          </p:cNvSpPr>
          <p:nvPr>
            <p:ph type="title"/>
          </p:nvPr>
        </p:nvSpPr>
        <p:spPr>
          <a:xfrm>
            <a:off x="558018" y="657066"/>
            <a:ext cx="7923944" cy="533400"/>
          </a:xfrm>
        </p:spPr>
        <p:txBody>
          <a:bodyPr/>
          <a:lstStyle/>
          <a:p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訓練模型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2" name="文字版面配置區 6">
            <a:extLst>
              <a:ext uri="{FF2B5EF4-FFF2-40B4-BE49-F238E27FC236}">
                <a16:creationId xmlns:a16="http://schemas.microsoft.com/office/drawing/2014/main" id="{15E903C2-D7A2-E707-AA22-A5BFEBFCEF2F}"/>
              </a:ext>
            </a:extLst>
          </p:cNvPr>
          <p:cNvSpPr txBox="1"/>
          <p:nvPr/>
        </p:nvSpPr>
        <p:spPr>
          <a:xfrm>
            <a:off x="390506" y="1204222"/>
            <a:ext cx="8800212" cy="10619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50800" indent="0">
              <a:buNone/>
            </a:pPr>
            <a:endParaRPr lang="en-US" altLang="zh-TW" sz="1600" dirty="0"/>
          </a:p>
          <a:p>
            <a:r>
              <a:rPr lang="zh-TW" altLang="en-US" sz="1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選用</a:t>
            </a:r>
            <a:r>
              <a:rPr lang="en-US" altLang="zh-TW" sz="1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yolov11</a:t>
            </a:r>
            <a:r>
              <a:rPr lang="zh-TW" altLang="en-US" sz="1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來做訓練模型</a:t>
            </a:r>
            <a:endParaRPr lang="en-US" altLang="zh-TW" sz="18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/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總共訓練</a:t>
            </a:r>
            <a:r>
              <a:rPr lang="en-US" altLang="zh-TW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100 epoch</a:t>
            </a:r>
            <a:endParaRPr lang="en-US" altLang="zh-TW" sz="18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en-US" altLang="zh-TW" sz="18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en-US" altLang="zh-TW" sz="18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en-US" altLang="zh-TW" sz="18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en-US" altLang="zh-TW" sz="18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B5259445-FB0B-410E-A8F5-0349350DBD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618" y="2536442"/>
            <a:ext cx="9602764" cy="3318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95220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2" name="標題 6"/>
          <p:cNvSpPr>
            <a:spLocks noGrp="1"/>
          </p:cNvSpPr>
          <p:nvPr>
            <p:ph type="title"/>
          </p:nvPr>
        </p:nvSpPr>
        <p:spPr>
          <a:xfrm>
            <a:off x="558018" y="657066"/>
            <a:ext cx="7923944" cy="533400"/>
          </a:xfrm>
        </p:spPr>
        <p:txBody>
          <a:bodyPr/>
          <a:lstStyle/>
          <a:p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訓練模型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2" name="文字版面配置區 6">
            <a:extLst>
              <a:ext uri="{FF2B5EF4-FFF2-40B4-BE49-F238E27FC236}">
                <a16:creationId xmlns:a16="http://schemas.microsoft.com/office/drawing/2014/main" id="{15E903C2-D7A2-E707-AA22-A5BFEBFCEF2F}"/>
              </a:ext>
            </a:extLst>
          </p:cNvPr>
          <p:cNvSpPr txBox="1"/>
          <p:nvPr/>
        </p:nvSpPr>
        <p:spPr>
          <a:xfrm>
            <a:off x="390506" y="1204222"/>
            <a:ext cx="8800212" cy="10619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50800" indent="0">
              <a:buNone/>
            </a:pPr>
            <a:endParaRPr lang="en-US" altLang="zh-TW" sz="1600" dirty="0"/>
          </a:p>
          <a:p>
            <a:r>
              <a:rPr lang="zh-TW" altLang="en-US" sz="1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訓練結果</a:t>
            </a:r>
            <a:endParaRPr lang="en-US" altLang="zh-TW" sz="18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533400" lvl="1" indent="0">
              <a:buNone/>
            </a:pPr>
            <a:endParaRPr lang="en-US" altLang="zh-TW" sz="18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en-US" altLang="zh-TW" sz="18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en-US" altLang="zh-TW" sz="18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en-US" altLang="zh-TW" sz="18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en-US" altLang="zh-TW" sz="18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8B09CD8B-CB94-4458-BC01-7A4CA36DC1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000" y="2229326"/>
            <a:ext cx="4124000" cy="4177558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B5AE4500-EDF4-44F3-B9FD-3DB0C1032F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955554"/>
            <a:ext cx="5538021" cy="547544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7B6AA750-A8C0-46F5-83A8-09698DED439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27236" y="2539896"/>
            <a:ext cx="3837647" cy="3782509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909BCA26-5D88-4743-BFA7-2C0DD8C33D8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76515" y="1984564"/>
            <a:ext cx="1981477" cy="590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28587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2" name="標題 6"/>
          <p:cNvSpPr>
            <a:spLocks noGrp="1"/>
          </p:cNvSpPr>
          <p:nvPr>
            <p:ph type="title"/>
          </p:nvPr>
        </p:nvSpPr>
        <p:spPr>
          <a:xfrm>
            <a:off x="558018" y="657066"/>
            <a:ext cx="7923944" cy="533400"/>
          </a:xfrm>
        </p:spPr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電池外觀破損偵測</a:t>
            </a: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88BB20D9-FF08-ADFE-0239-2A0A725A79B8}"/>
              </a:ext>
            </a:extLst>
          </p:cNvPr>
          <p:cNvGraphicFramePr>
            <a:graphicFrameLocks noGrp="1"/>
          </p:cNvGraphicFramePr>
          <p:nvPr/>
        </p:nvGraphicFramePr>
        <p:xfrm>
          <a:off x="4853584" y="2429225"/>
          <a:ext cx="4960792" cy="18108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80396">
                  <a:extLst>
                    <a:ext uri="{9D8B030D-6E8A-4147-A177-3AD203B41FA5}">
                      <a16:colId xmlns:a16="http://schemas.microsoft.com/office/drawing/2014/main" val="1386511907"/>
                    </a:ext>
                  </a:extLst>
                </a:gridCol>
                <a:gridCol w="2480396">
                  <a:extLst>
                    <a:ext uri="{9D8B030D-6E8A-4147-A177-3AD203B41FA5}">
                      <a16:colId xmlns:a16="http://schemas.microsoft.com/office/drawing/2014/main" val="3728400076"/>
                    </a:ext>
                  </a:extLst>
                </a:gridCol>
              </a:tblGrid>
              <a:tr h="287654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目標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進度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4623179"/>
                  </a:ext>
                </a:extLst>
              </a:tr>
              <a:tr h="489012">
                <a:tc>
                  <a:txBody>
                    <a:bodyPr/>
                    <a:lstStyle/>
                    <a:p>
                      <a:pPr marL="0" lvl="0" indent="0" algn="ctr">
                        <a:buFont typeface="+mj-lt"/>
                        <a:buNone/>
                      </a:pPr>
                      <a:r>
                        <a:rPr lang="zh-TW" altLang="en-US" sz="1400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訓練模型</a:t>
                      </a:r>
                      <a:endParaRPr lang="en-US" altLang="zh-TW" sz="14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9786410"/>
                  </a:ext>
                </a:extLst>
              </a:tr>
              <a:tr h="508541">
                <a:tc>
                  <a:txBody>
                    <a:bodyPr/>
                    <a:lstStyle/>
                    <a:p>
                      <a:pPr marL="0" lvl="0" indent="0" algn="ctr">
                        <a:buFont typeface="+mj-lt"/>
                        <a:buNone/>
                      </a:pPr>
                      <a:r>
                        <a:rPr lang="zh-TW" altLang="en-US" sz="1400" b="0" i="0" u="none" strike="noStrike" kern="100" cap="none" dirty="0">
                          <a:solidFill>
                            <a:schemeClr val="dk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輸入影像進行模型分析</a:t>
                      </a:r>
                      <a:endParaRPr lang="en-US" altLang="zh-TW" sz="1400" b="0" i="0" u="none" strike="noStrike" kern="100" cap="none" dirty="0">
                        <a:solidFill>
                          <a:schemeClr val="dk1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△</a:t>
                      </a:r>
                      <a:endParaRPr lang="en-US" altLang="zh-TW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4086582"/>
                  </a:ext>
                </a:extLst>
              </a:tr>
              <a:tr h="508541">
                <a:tc>
                  <a:txBody>
                    <a:bodyPr/>
                    <a:lstStyle/>
                    <a:p>
                      <a:pPr marL="0" lvl="0" indent="0" algn="ctr">
                        <a:buFont typeface="+mj-lt"/>
                        <a:buNone/>
                      </a:pPr>
                      <a:r>
                        <a:rPr lang="zh-TW" altLang="en-US" sz="1400" b="0" i="0" u="none" strike="noStrike" kern="100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在</a:t>
                      </a:r>
                      <a:r>
                        <a:rPr lang="en-US" altLang="zh-TW" sz="1400" b="0" i="0" u="none" strike="noStrike" kern="100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Jetson</a:t>
                      </a:r>
                      <a:r>
                        <a:rPr lang="zh-TW" altLang="en-US" sz="1400" b="0" i="0" u="none" strike="noStrike" kern="100" cap="none" dirty="0">
                          <a:solidFill>
                            <a:schemeClr val="dk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平台使用模型</a:t>
                      </a:r>
                      <a:endParaRPr lang="en-US" altLang="zh-TW" sz="1400" b="0" i="0" u="none" strike="noStrike" kern="100" cap="none" dirty="0">
                        <a:solidFill>
                          <a:schemeClr val="dk1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△</a:t>
                      </a:r>
                      <a:endParaRPr lang="en-US" altLang="zh-TW" b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3004940"/>
                  </a:ext>
                </a:extLst>
              </a:tr>
            </a:tbl>
          </a:graphicData>
        </a:graphic>
      </p:graphicFrame>
      <p:cxnSp>
        <p:nvCxnSpPr>
          <p:cNvPr id="7" name="直線單箭頭接點 6">
            <a:extLst>
              <a:ext uri="{FF2B5EF4-FFF2-40B4-BE49-F238E27FC236}">
                <a16:creationId xmlns:a16="http://schemas.microsoft.com/office/drawing/2014/main" id="{202C1B06-2573-A628-C341-BB16D30DF0FC}"/>
              </a:ext>
            </a:extLst>
          </p:cNvPr>
          <p:cNvCxnSpPr>
            <a:cxnSpLocks/>
          </p:cNvCxnSpPr>
          <p:nvPr/>
        </p:nvCxnSpPr>
        <p:spPr>
          <a:xfrm>
            <a:off x="4953000" y="2669329"/>
            <a:ext cx="0" cy="1619222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12" name="文字版面配置區 6">
            <a:extLst>
              <a:ext uri="{FF2B5EF4-FFF2-40B4-BE49-F238E27FC236}">
                <a16:creationId xmlns:a16="http://schemas.microsoft.com/office/drawing/2014/main" id="{15E903C2-D7A2-E707-AA22-A5BFEBFCEF2F}"/>
              </a:ext>
            </a:extLst>
          </p:cNvPr>
          <p:cNvSpPr txBox="1"/>
          <p:nvPr/>
        </p:nvSpPr>
        <p:spPr>
          <a:xfrm>
            <a:off x="250390" y="1004661"/>
            <a:ext cx="8800212" cy="10619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50800" indent="0">
              <a:buNone/>
            </a:pPr>
            <a:endParaRPr lang="en-US" altLang="zh-TW" sz="1600" dirty="0"/>
          </a:p>
          <a:p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根據計畫書中內容進行開發，以下分別為</a:t>
            </a:r>
            <a:endParaRPr lang="en-US" altLang="zh-TW" sz="16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50800" indent="0">
              <a:buNone/>
            </a:pPr>
            <a:r>
              <a:rPr lang="en-US" altLang="zh-TW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       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階段一目標和當前開發進度及優先序。</a:t>
            </a:r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/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533400" lvl="1" indent="0">
              <a:buNone/>
            </a:pPr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50800" indent="0">
              <a:buNone/>
            </a:pPr>
            <a:endParaRPr lang="en-US" altLang="zh-TW" sz="18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/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/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/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/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533400" lvl="1" indent="0">
              <a:buNone/>
            </a:pPr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533400" lvl="1" indent="0">
              <a:buNone/>
            </a:pPr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13" name="表格 12">
            <a:extLst>
              <a:ext uri="{FF2B5EF4-FFF2-40B4-BE49-F238E27FC236}">
                <a16:creationId xmlns:a16="http://schemas.microsoft.com/office/drawing/2014/main" id="{7E5DB677-FC1E-C918-4DE8-5A29E7BE7399}"/>
              </a:ext>
            </a:extLst>
          </p:cNvPr>
          <p:cNvGraphicFramePr>
            <a:graphicFrameLocks noGrp="1"/>
          </p:cNvGraphicFramePr>
          <p:nvPr/>
        </p:nvGraphicFramePr>
        <p:xfrm>
          <a:off x="91624" y="2360266"/>
          <a:ext cx="4664952" cy="26479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5924">
                  <a:extLst>
                    <a:ext uri="{9D8B030D-6E8A-4147-A177-3AD203B41FA5}">
                      <a16:colId xmlns:a16="http://schemas.microsoft.com/office/drawing/2014/main" val="2214116554"/>
                    </a:ext>
                  </a:extLst>
                </a:gridCol>
                <a:gridCol w="1497874">
                  <a:extLst>
                    <a:ext uri="{9D8B030D-6E8A-4147-A177-3AD203B41FA5}">
                      <a16:colId xmlns:a16="http://schemas.microsoft.com/office/drawing/2014/main" val="2817570406"/>
                    </a:ext>
                  </a:extLst>
                </a:gridCol>
                <a:gridCol w="2011154">
                  <a:extLst>
                    <a:ext uri="{9D8B030D-6E8A-4147-A177-3AD203B41FA5}">
                      <a16:colId xmlns:a16="http://schemas.microsoft.com/office/drawing/2014/main" val="4218185479"/>
                    </a:ext>
                  </a:extLst>
                </a:gridCol>
              </a:tblGrid>
              <a:tr h="330995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階段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zh-TW" altLang="en-US" sz="1400" b="1" i="0" u="none" strike="noStrike" cap="none" dirty="0">
                          <a:solidFill>
                            <a:schemeClr val="lt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  <a:sym typeface="Arial"/>
                        </a:rPr>
                        <a:t>粗估時間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zh-TW" altLang="en-US" sz="1400" b="1" i="0" u="none" strike="noStrike" cap="none" dirty="0">
                          <a:solidFill>
                            <a:schemeClr val="lt1"/>
                          </a:solidFill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  <a:sym typeface="Arial"/>
                        </a:rPr>
                        <a:t>目標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4011215"/>
                  </a:ext>
                </a:extLst>
              </a:tr>
              <a:tr h="2316967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階段一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2025/3/01</a:t>
                      </a:r>
                    </a:p>
                    <a:p>
                      <a:pPr algn="ctr"/>
                      <a:endParaRPr lang="en-US" altLang="zh-TW" sz="1400" b="0" i="0" u="none" strike="noStrike" cap="none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  <a:p>
                      <a:pPr algn="ctr"/>
                      <a:r>
                        <a:rPr lang="en-US" altLang="zh-TW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2025/4/30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zh-TW" altLang="zh-TW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  <a:sym typeface="Arial"/>
                        </a:rPr>
                        <a:t>提供模型評估，並以此為基礎模型進行微調</a:t>
                      </a: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endParaRPr lang="en-US" altLang="zh-TW" sz="14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zh-TW" altLang="zh-TW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  <a:sym typeface="Arial"/>
                        </a:rPr>
                        <a:t>擷取電池影像，並輸入</a:t>
                      </a:r>
                      <a:r>
                        <a:rPr lang="en-US" altLang="zh-TW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  <a:sym typeface="Arial"/>
                        </a:rPr>
                        <a:t>A</a:t>
                      </a:r>
                      <a:r>
                        <a:rPr lang="en-US" altLang="zh-TW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I</a:t>
                      </a:r>
                      <a:r>
                        <a:rPr lang="zh-TW" altLang="zh-TW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模型進行分析</a:t>
                      </a: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endParaRPr lang="en-US" altLang="zh-TW" sz="1400" b="0" i="0" u="none" strike="noStrike" kern="100" cap="none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  <a:sym typeface="Arial"/>
                      </a:endParaRP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zh-TW" altLang="zh-TW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基於</a:t>
                      </a:r>
                      <a:r>
                        <a:rPr lang="en-US" altLang="zh-TW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JS800</a:t>
                      </a:r>
                      <a:r>
                        <a:rPr lang="zh-TW" altLang="zh-TW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與</a:t>
                      </a:r>
                      <a:r>
                        <a:rPr lang="en-US" altLang="zh-TW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JS1100/221/1000</a:t>
                      </a:r>
                      <a:r>
                        <a:rPr lang="zh-TW" altLang="zh-TW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  <a:cs typeface="+mn-cs"/>
                          <a:sym typeface="Arial"/>
                        </a:rPr>
                        <a:t>上進行模型效能最佳化</a:t>
                      </a:r>
                      <a:endParaRPr lang="zh-TW" altLang="en-US" sz="1400" b="0" i="0" u="none" strike="noStrike" cap="none" dirty="0">
                        <a:solidFill>
                          <a:schemeClr val="dk1"/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  <a:cs typeface="+mn-cs"/>
                        <a:sym typeface="Arial"/>
                      </a:endParaRPr>
                    </a:p>
                  </a:txBody>
                  <a:tcPr marL="17780" marR="17780" marT="0" marB="0"/>
                </a:tc>
                <a:extLst>
                  <a:ext uri="{0D108BD9-81ED-4DB2-BD59-A6C34878D82A}">
                    <a16:rowId xmlns:a16="http://schemas.microsoft.com/office/drawing/2014/main" val="2426695749"/>
                  </a:ext>
                </a:extLst>
              </a:tr>
            </a:tbl>
          </a:graphicData>
        </a:graphic>
      </p:graphicFrame>
      <p:sp>
        <p:nvSpPr>
          <p:cNvPr id="6" name="文字方塊 5">
            <a:extLst>
              <a:ext uri="{FF2B5EF4-FFF2-40B4-BE49-F238E27FC236}">
                <a16:creationId xmlns:a16="http://schemas.microsoft.com/office/drawing/2014/main" id="{DBA6358A-B91C-0A9C-B975-0BA97AC554AC}"/>
              </a:ext>
            </a:extLst>
          </p:cNvPr>
          <p:cNvSpPr txBox="1"/>
          <p:nvPr/>
        </p:nvSpPr>
        <p:spPr>
          <a:xfrm>
            <a:off x="4589582" y="5462270"/>
            <a:ext cx="992578" cy="73866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O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: 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完成</a:t>
            </a:r>
            <a:b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</a:b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△: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未進行</a:t>
            </a:r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: 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進行中</a:t>
            </a:r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4F145CB5-95AF-08DE-16F2-85EEE64553C4}"/>
              </a:ext>
            </a:extLst>
          </p:cNvPr>
          <p:cNvSpPr txBox="1"/>
          <p:nvPr/>
        </p:nvSpPr>
        <p:spPr>
          <a:xfrm rot="16200000">
            <a:off x="1839054" y="2872833"/>
            <a:ext cx="28886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~</a:t>
            </a:r>
            <a:endParaRPr lang="zh-TW" altLang="en-US" dirty="0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2534E871-5256-D06E-A5DC-74EDD2EFEFBD}"/>
              </a:ext>
            </a:extLst>
          </p:cNvPr>
          <p:cNvSpPr txBox="1"/>
          <p:nvPr/>
        </p:nvSpPr>
        <p:spPr>
          <a:xfrm>
            <a:off x="4838949" y="4273550"/>
            <a:ext cx="87075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priority</a:t>
            </a:r>
            <a:endParaRPr lang="zh-TW" alt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924277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64" name="圖片 6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357746" y="3004771"/>
            <a:ext cx="5556738" cy="848458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2097165" name="Picture 2" descr="http://www.secretariat.ntust.edu.tw/ezfiles/20/1020/img/1688/09.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964866" y="1628181"/>
            <a:ext cx="6260123" cy="1186962"/>
          </a:xfrm>
          <a:prstGeom prst="rect">
            <a:avLst/>
          </a:prstGeom>
          <a:noFill/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2097166" name="圖片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93650" y="4226628"/>
            <a:ext cx="4266522" cy="93056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emplate">
  <a:themeElements>
    <a:clrScheme name="template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92717</TotalTime>
  <Words>1176</Words>
  <Application>Microsoft Office PowerPoint</Application>
  <PresentationFormat>A4 紙張 (210x297 公釐)</PresentationFormat>
  <Paragraphs>312</Paragraphs>
  <Slides>21</Slides>
  <Notes>21</Notes>
  <HiddenSlides>0</HiddenSlides>
  <MMClips>1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21</vt:i4>
      </vt:variant>
    </vt:vector>
  </HeadingPairs>
  <TitlesOfParts>
    <vt:vector size="27" baseType="lpstr">
      <vt:lpstr>Noto Sans Symbols</vt:lpstr>
      <vt:lpstr>新細明體</vt:lpstr>
      <vt:lpstr>標楷體</vt:lpstr>
      <vt:lpstr>Arial</vt:lpstr>
      <vt:lpstr>Times New Roman</vt:lpstr>
      <vt:lpstr>template</vt:lpstr>
      <vt:lpstr>Progress Report</vt:lpstr>
      <vt:lpstr>本次進度: Monitor</vt:lpstr>
      <vt:lpstr>本次進度: Monitor</vt:lpstr>
      <vt:lpstr>上次進度: Monitor</vt:lpstr>
      <vt:lpstr>上次進度: Monitor</vt:lpstr>
      <vt:lpstr>上次進度: Monitor</vt:lpstr>
      <vt:lpstr>本次進度: Monitor</vt:lpstr>
      <vt:lpstr>本次進度: Monitor</vt:lpstr>
      <vt:lpstr>本次進度: Monitor</vt:lpstr>
      <vt:lpstr>上次進度: 校正流程</vt:lpstr>
      <vt:lpstr>上次進度: 校正流程</vt:lpstr>
      <vt:lpstr>本次進度: Model Information</vt:lpstr>
      <vt:lpstr>本次進度: Monitor</vt:lpstr>
      <vt:lpstr>本次進度: Monitor</vt:lpstr>
      <vt:lpstr>電池外觀破損偵測</vt:lpstr>
      <vt:lpstr>流程圖</vt:lpstr>
      <vt:lpstr>訓練模型</vt:lpstr>
      <vt:lpstr>訓練模型</vt:lpstr>
      <vt:lpstr>訓練模型</vt:lpstr>
      <vt:lpstr>電池外觀破損偵測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Embedded CMOS Image Sensor System Design and Implementation</dc:title>
  <dc:creator>mblin</dc:creator>
  <cp:lastModifiedBy>M10802143</cp:lastModifiedBy>
  <cp:revision>874</cp:revision>
  <dcterms:created xsi:type="dcterms:W3CDTF">2003-02-17T16:04:03Z</dcterms:created>
  <dcterms:modified xsi:type="dcterms:W3CDTF">2025-03-11T08:06:07Z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c323e086d3b141ca89c275423e00507f</vt:lpwstr>
  </property>
</Properties>
</file>