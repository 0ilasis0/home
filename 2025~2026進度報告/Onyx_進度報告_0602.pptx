
<file path=[Content_Types].xml><?xml version="1.0" encoding="utf-8"?>
<Types xmlns="http://schemas.openxmlformats.org/package/2006/content-types">
  <Default Extension="png" ContentType="image/png"/>
  <Default Extension="webm" ContentType="video/webm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8" r:id="rId1"/>
  </p:sldMasterIdLst>
  <p:notesMasterIdLst>
    <p:notesMasterId r:id="rId21"/>
  </p:notesMasterIdLst>
  <p:sldIdLst>
    <p:sldId id="277" r:id="rId2"/>
    <p:sldId id="1784" r:id="rId3"/>
    <p:sldId id="1915" r:id="rId4"/>
    <p:sldId id="1916" r:id="rId5"/>
    <p:sldId id="1917" r:id="rId6"/>
    <p:sldId id="1918" r:id="rId7"/>
    <p:sldId id="1919" r:id="rId8"/>
    <p:sldId id="1920" r:id="rId9"/>
    <p:sldId id="1783" r:id="rId10"/>
    <p:sldId id="1864" r:id="rId11"/>
    <p:sldId id="1865" r:id="rId12"/>
    <p:sldId id="1923" r:id="rId13"/>
    <p:sldId id="1921" r:id="rId14"/>
    <p:sldId id="1925" r:id="rId15"/>
    <p:sldId id="1924" r:id="rId16"/>
    <p:sldId id="1858" r:id="rId17"/>
    <p:sldId id="1859" r:id="rId18"/>
    <p:sldId id="1922" r:id="rId19"/>
    <p:sldId id="286" r:id="rId20"/>
  </p:sldIdLst>
  <p:sldSz cx="9906000" cy="6858000" type="A4"/>
  <p:notesSz cx="7315200" cy="96012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Head" id="{9114FBB3-8B00-422B-ACC9-030F49096E83}">
          <p14:sldIdLst>
            <p14:sldId id="277"/>
          </p14:sldIdLst>
        </p14:section>
        <p14:section name="Monitor" id="{7925A652-D02A-4F07-B4BA-109FEF573EC6}">
          <p14:sldIdLst>
            <p14:sldId id="1784"/>
            <p14:sldId id="1915"/>
            <p14:sldId id="1916"/>
            <p14:sldId id="1917"/>
            <p14:sldId id="1918"/>
            <p14:sldId id="1919"/>
            <p14:sldId id="1920"/>
            <p14:sldId id="1783"/>
          </p14:sldIdLst>
        </p14:section>
        <p14:section name="JS1500" id="{F71E69A4-C86C-4DAC-B828-42C2D8800267}">
          <p14:sldIdLst>
            <p14:sldId id="1864"/>
            <p14:sldId id="1865"/>
            <p14:sldId id="1923"/>
            <p14:sldId id="1921"/>
            <p14:sldId id="1925"/>
            <p14:sldId id="1924"/>
            <p14:sldId id="1858"/>
            <p14:sldId id="1859"/>
            <p14:sldId id="1922"/>
          </p14:sldIdLst>
        </p14:section>
        <p14:section name="End" id="{33EEDC85-A799-4CB3-BF13-F4955B8630BE}">
          <p14:sldIdLst>
            <p14:sldId id="28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10902143" initials="m" lastIdx="1" clrIdx="0"/>
  <p:cmAuthor id="2" name="James Kuo" initials="JK" lastIdx="1" clrIdx="1"/>
  <p:cmAuthor id="3" name="昇鴻 李" initials="昇鴻" lastIdx="1" clrIdx="2">
    <p:extLst>
      <p:ext uri="{19B8F6BF-5375-455C-9EA6-DF929625EA0E}">
        <p15:presenceInfo xmlns:p15="http://schemas.microsoft.com/office/powerpoint/2012/main" userId="72a70edeaa250c2c" providerId="Windows Live"/>
      </p:ext>
    </p:extLst>
  </p:cmAuthor>
  <p:cmAuthor id="4" name="宏德 林" initials="宏林" lastIdx="2" clrIdx="3">
    <p:extLst>
      <p:ext uri="{19B8F6BF-5375-455C-9EA6-DF929625EA0E}">
        <p15:presenceInfo xmlns:p15="http://schemas.microsoft.com/office/powerpoint/2012/main" userId="933d0002216be5bd" providerId="Windows Live"/>
      </p:ext>
    </p:extLst>
  </p:cmAuthor>
  <p:cmAuthor id="5" name="LI CHIH HSIANG" initials="LCH" lastIdx="6" clrIdx="4">
    <p:extLst>
      <p:ext uri="{19B8F6BF-5375-455C-9EA6-DF929625EA0E}">
        <p15:presenceInfo xmlns:p15="http://schemas.microsoft.com/office/powerpoint/2012/main" userId="LI CHIH HSIANG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7C0"/>
    <a:srgbClr val="FF9900"/>
    <a:srgbClr val="FFC000"/>
    <a:srgbClr val="FFFFFF"/>
    <a:srgbClr val="00B050"/>
    <a:srgbClr val="000000"/>
    <a:srgbClr val="8958B1"/>
    <a:srgbClr val="C58DEF"/>
    <a:srgbClr val="993366"/>
    <a:srgbClr val="5814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D433FD4-3D7A-4217-8E80-1680D7E9CC69}" styleName="Table_0">
    <a:wholeTbl>
      <a:tcTxStyle b="off" i="off">
        <a:font>
          <a:latin typeface="Times New Roman"/>
          <a:ea typeface="Times New Roman"/>
          <a:cs typeface="Times New Roman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rgbClr val="E6E6E6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E6E6E6"/>
          </a:solidFill>
        </a:fill>
      </a:tcStyle>
    </a:band1V>
    <a:band2V>
      <a:tcStyle>
        <a:tcBdr/>
      </a:tcStyle>
    </a:band2V>
    <a:la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 i="off"/>
      <a:tcStyle>
        <a:tcBdr>
          <a:top>
            <a:ln w="508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lt1"/>
          </a:solidFill>
        </a:fill>
      </a:tcStyle>
    </a:lastRow>
    <a:seCell>
      <a:tcTxStyle b="on" i="off">
        <a:font>
          <a:latin typeface="Times New Roman"/>
          <a:ea typeface="Times New Roman"/>
          <a:cs typeface="Times New Roman"/>
        </a:font>
        <a:schemeClr val="dk1"/>
      </a:tcTxStyle>
      <a:tcStyle>
        <a:tcBdr/>
      </a:tcStyle>
    </a:seCell>
    <a:swCell>
      <a:tcTxStyle b="on" i="off">
        <a:font>
          <a:latin typeface="Times New Roman"/>
          <a:ea typeface="Times New Roman"/>
          <a:cs typeface="Times New Roman"/>
        </a:font>
        <a:schemeClr val="dk1"/>
      </a:tcTxStyle>
      <a:tcStyle>
        <a:tcBdr/>
      </a:tcStyle>
    </a:swCell>
    <a:firstRow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>
          <a:bottom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2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3E919B74-BC6B-4152-9BDB-477648A112FC}" styleName="Table_1">
    <a:wholeTbl>
      <a:tcTxStyle b="off" i="off">
        <a:font>
          <a:latin typeface="Times New Roman"/>
          <a:ea typeface="Times New Roman"/>
          <a:cs typeface="Times New Roman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F6EF"/>
          </a:solidFill>
        </a:fill>
      </a:tcStyle>
    </a:wholeTbl>
    <a:band1H>
      <a:tcStyle>
        <a:tcBdr/>
        <a:fill>
          <a:solidFill>
            <a:srgbClr val="CAECDD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AECDD"/>
          </a:solidFill>
        </a:fill>
      </a:tcStyle>
    </a:band1V>
    <a:band2V>
      <a:tcStyle>
        <a:tcBdr/>
      </a:tcStyle>
    </a:band2V>
    <a:la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72833802-FEF1-4C79-8D5D-14CF1EAF98D9}" styleName="淺色樣式 2 - 輔色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C7853C-536D-4A76-A0AE-DD22124D55A5}" styleName="佈景主題樣式 1 - 輔色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75DCB02-9BB8-47FD-8907-85C794F793BA}" styleName="佈景主題樣式 1 - 輔色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佈景主題樣式 1 - 輔色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佈景主題樣式 1 - 輔色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18603FDC-E32A-4AB5-989C-0864C3EAD2B8}" styleName="佈景主題樣式 2 - 輔色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E3FDE45-AF77-4B5C-9715-49D594BDF05E}" styleName="淺色樣式 1 - 輔色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中等深淺樣式 1 - 輔色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21" autoAdjust="0"/>
    <p:restoredTop sz="95185" autoAdjust="0"/>
  </p:normalViewPr>
  <p:slideViewPr>
    <p:cSldViewPr snapToGrid="0">
      <p:cViewPr varScale="1">
        <p:scale>
          <a:sx n="114" d="100"/>
          <a:sy n="114" d="100"/>
        </p:scale>
        <p:origin x="1380" y="9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3024"/>
        <p:guide pos="230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ommentAuthors" Target="commentAuthor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88692\Desktop\results.csv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results!$B$1</c:f>
              <c:strCache>
                <c:ptCount val="1"/>
                <c:pt idx="0">
                  <c:v>decode throughput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TW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results!$A$2:$A$9</c:f>
              <c:numCache>
                <c:formatCode>General</c:formatCode>
                <c:ptCount val="8"/>
                <c:pt idx="0">
                  <c:v>1</c:v>
                </c:pt>
                <c:pt idx="1">
                  <c:v>2</c:v>
                </c:pt>
                <c:pt idx="2">
                  <c:v>5</c:v>
                </c:pt>
                <c:pt idx="3">
                  <c:v>10</c:v>
                </c:pt>
                <c:pt idx="4">
                  <c:v>20</c:v>
                </c:pt>
                <c:pt idx="5">
                  <c:v>50</c:v>
                </c:pt>
                <c:pt idx="6">
                  <c:v>70</c:v>
                </c:pt>
                <c:pt idx="7">
                  <c:v>100</c:v>
                </c:pt>
              </c:numCache>
            </c:numRef>
          </c:cat>
          <c:val>
            <c:numRef>
              <c:f>results!$B$2:$B$9</c:f>
              <c:numCache>
                <c:formatCode>0.0_ </c:formatCode>
                <c:ptCount val="8"/>
                <c:pt idx="0">
                  <c:v>54.508887600214699</c:v>
                </c:pt>
                <c:pt idx="1">
                  <c:v>93.985478715047094</c:v>
                </c:pt>
                <c:pt idx="2">
                  <c:v>134.76433387230199</c:v>
                </c:pt>
                <c:pt idx="3">
                  <c:v>185.29342896568801</c:v>
                </c:pt>
                <c:pt idx="4">
                  <c:v>279.31930664250399</c:v>
                </c:pt>
                <c:pt idx="5">
                  <c:v>484.68360394627598</c:v>
                </c:pt>
                <c:pt idx="6">
                  <c:v>499.32140309088402</c:v>
                </c:pt>
                <c:pt idx="7">
                  <c:v>711.47448381413506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C77-4294-9113-2669513D11AF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1140261839"/>
        <c:axId val="1143253359"/>
      </c:lineChart>
      <c:catAx>
        <c:axId val="114026183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143253359"/>
        <c:crosses val="autoZero"/>
        <c:auto val="1"/>
        <c:lblAlgn val="ctr"/>
        <c:lblOffset val="100"/>
        <c:noMultiLvlLbl val="0"/>
      </c:catAx>
      <c:valAx>
        <c:axId val="114325335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14026183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9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176588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60" name="Google Shape;4;n"/>
          <p:cNvSpPr txBox="1">
            <a:spLocks noGrp="1"/>
          </p:cNvSpPr>
          <p:nvPr>
            <p:ph type="dt" idx="10"/>
          </p:nvPr>
        </p:nvSpPr>
        <p:spPr>
          <a:xfrm>
            <a:off x="4138613" y="0"/>
            <a:ext cx="3176587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61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062038" y="735013"/>
            <a:ext cx="5197475" cy="35988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48662" name="Google Shape;6;n"/>
          <p:cNvSpPr txBox="1">
            <a:spLocks noGrp="1"/>
          </p:cNvSpPr>
          <p:nvPr>
            <p:ph type="body" idx="1"/>
          </p:nvPr>
        </p:nvSpPr>
        <p:spPr>
          <a:xfrm>
            <a:off x="962025" y="4567238"/>
            <a:ext cx="5391150" cy="4300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8663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134475"/>
            <a:ext cx="3176588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64" name="Google Shape;8;n"/>
          <p:cNvSpPr txBox="1">
            <a:spLocks noGrp="1"/>
          </p:cNvSpPr>
          <p:nvPr>
            <p:ph type="sldNum" idx="12"/>
          </p:nvPr>
        </p:nvSpPr>
        <p:spPr>
          <a:xfrm>
            <a:off x="4138613" y="9134475"/>
            <a:ext cx="3176587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5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586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1048587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753A29-9D77-4C26-8BEC-432FE5D4B0A4}" type="slidenum">
              <a:rPr lang="en-US" altLang="zh-TW" smtClean="0"/>
              <a:t>1</a:t>
            </a:fld>
            <a:endParaRPr lang="en-US" altLang="zh-TW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B8052-553F-DC52-5D97-20BD22157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8DA0D87-C7FA-7F54-314E-D4295614EE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9204A75-DF32-18E0-4B4A-BB411D3A90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90C941E-3884-1379-C460-BF93668359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710130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180214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919324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992685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b="1" dirty="0"/>
              <a:t>1. FATFS </a:t>
            </a:r>
            <a:r>
              <a:rPr lang="zh-TW" altLang="en-US" b="1" dirty="0"/>
              <a:t>的檔名限制（</a:t>
            </a:r>
            <a:r>
              <a:rPr lang="en-US" altLang="zh-TW" b="1" dirty="0"/>
              <a:t>8.3 </a:t>
            </a:r>
            <a:r>
              <a:rPr lang="zh-TW" altLang="en-US" b="1" dirty="0"/>
              <a:t>格式）</a:t>
            </a:r>
          </a:p>
          <a:p>
            <a:r>
              <a:rPr lang="zh-TW" altLang="en-US" dirty="0"/>
              <a:t>在預設的標準 </a:t>
            </a:r>
            <a:r>
              <a:rPr lang="en-US" altLang="zh-TW" dirty="0"/>
              <a:t>FAT32 </a:t>
            </a:r>
            <a:r>
              <a:rPr lang="zh-TW" altLang="en-US" dirty="0"/>
              <a:t>檔案系統中，傳統的檔案名稱遵循的是 </a:t>
            </a:r>
            <a:r>
              <a:rPr lang="en-US" altLang="zh-TW" b="1" dirty="0"/>
              <a:t>8.3 </a:t>
            </a:r>
            <a:r>
              <a:rPr lang="zh-TW" altLang="en-US" b="1" dirty="0"/>
              <a:t>命名規則</a:t>
            </a:r>
            <a:r>
              <a:rPr lang="zh-TW" altLang="en-US" dirty="0"/>
              <a:t>：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b="1" dirty="0"/>
              <a:t>檔名主體</a:t>
            </a:r>
            <a:r>
              <a:rPr lang="zh-TW" altLang="en-US" dirty="0"/>
              <a:t>：最多 </a:t>
            </a:r>
            <a:r>
              <a:rPr lang="en-US" altLang="zh-TW" b="1" dirty="0"/>
              <a:t>8 </a:t>
            </a:r>
            <a:r>
              <a:rPr lang="zh-TW" altLang="en-US" b="1" dirty="0"/>
              <a:t>個字元</a:t>
            </a:r>
            <a:r>
              <a:rPr lang="zh-TW" altLang="en-US" dirty="0"/>
              <a:t>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b="1" dirty="0"/>
              <a:t>副檔名</a:t>
            </a:r>
            <a:r>
              <a:rPr lang="zh-TW" altLang="en-US" dirty="0"/>
              <a:t>：最多 </a:t>
            </a:r>
            <a:r>
              <a:rPr lang="en-US" altLang="zh-TW" b="1" dirty="0"/>
              <a:t>3 </a:t>
            </a:r>
            <a:r>
              <a:rPr lang="zh-TW" altLang="en-US" b="1" dirty="0"/>
              <a:t>個字元</a:t>
            </a:r>
            <a:r>
              <a:rPr lang="zh-TW" altLang="en-US" dirty="0"/>
              <a:t>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b="1" dirty="0"/>
              <a:t>中間的點</a:t>
            </a:r>
            <a:r>
              <a:rPr lang="zh-TW" altLang="en-US" dirty="0"/>
              <a:t>：固定佔用 </a:t>
            </a:r>
            <a:r>
              <a:rPr lang="en-US" altLang="zh-TW" dirty="0"/>
              <a:t>1 </a:t>
            </a:r>
            <a:r>
              <a:rPr lang="zh-TW" altLang="en-US" dirty="0"/>
              <a:t>個字元。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b="1" dirty="0"/>
              <a:t>總長度</a:t>
            </a:r>
            <a:r>
              <a:rPr lang="zh-TW" altLang="en-US" dirty="0"/>
              <a:t>：這就是為什麼你常看到舊系統限制檔名為 </a:t>
            </a:r>
            <a:r>
              <a:rPr lang="en-US" altLang="zh-TW" dirty="0"/>
              <a:t>XXXXXXXX.XXX</a:t>
            </a:r>
            <a:r>
              <a:rPr lang="zh-TW" altLang="en-US" dirty="0"/>
              <a:t>（總共 </a:t>
            </a:r>
            <a:r>
              <a:rPr lang="en-US" altLang="zh-TW" dirty="0"/>
              <a:t>12 </a:t>
            </a:r>
            <a:r>
              <a:rPr lang="zh-TW" altLang="en-US" dirty="0"/>
              <a:t>個位元組，包含那個點）。</a:t>
            </a:r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090169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464012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149139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B8052-553F-DC52-5D97-20BD22157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8DA0D87-C7FA-7F54-314E-D4295614EE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9204A75-DF32-18E0-4B4A-BB411D3A90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90C941E-3884-1379-C460-BF93668359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9406196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B8052-553F-DC52-5D97-20BD22157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8DA0D87-C7FA-7F54-314E-D4295614EE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9204A75-DF32-18E0-4B4A-BB411D3A90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90C941E-3884-1379-C460-BF93668359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597041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B8052-553F-DC52-5D97-20BD22157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8DA0D87-C7FA-7F54-314E-D4295614EE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9204A75-DF32-18E0-4B4A-BB411D3A90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90C941E-3884-1379-C460-BF93668359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833624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B8052-553F-DC52-5D97-20BD22157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8DA0D87-C7FA-7F54-314E-D4295614EE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9204A75-DF32-18E0-4B4A-BB411D3A90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90C941E-3884-1379-C460-BF93668359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68944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11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0">
              <a:buFont typeface="Arial" panose="020B0604020202020204" pitchFamily="34" charset="0"/>
              <a:buNone/>
            </a:pPr>
            <a:endParaRPr lang="zh-TW" altLang="en-US" dirty="0"/>
          </a:p>
        </p:txBody>
      </p:sp>
      <p:sp>
        <p:nvSpPr>
          <p:cNvPr id="1048612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13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3259850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11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0">
              <a:buFont typeface="Arial" panose="020B0604020202020204" pitchFamily="34" charset="0"/>
              <a:buNone/>
            </a:pPr>
            <a:endParaRPr lang="zh-TW" altLang="en-US" dirty="0"/>
          </a:p>
        </p:txBody>
      </p:sp>
      <p:sp>
        <p:nvSpPr>
          <p:cNvPr id="1048612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9112436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11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0">
              <a:buFont typeface="Arial" panose="020B0604020202020204" pitchFamily="34" charset="0"/>
              <a:buNone/>
            </a:pPr>
            <a:endParaRPr lang="zh-TW" altLang="en-US" dirty="0"/>
          </a:p>
        </p:txBody>
      </p:sp>
      <p:sp>
        <p:nvSpPr>
          <p:cNvPr id="1048612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5986785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B8052-553F-DC52-5D97-20BD22157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8DA0D87-C7FA-7F54-314E-D4295614EE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9204A75-DF32-18E0-4B4A-BB411D3A90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90C941E-3884-1379-C460-BF93668359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92256521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B8052-553F-DC52-5D97-20BD22157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8DA0D87-C7FA-7F54-314E-D4295614EE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9204A75-DF32-18E0-4B4A-BB411D3A90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90C941E-3884-1379-C460-BF93668359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17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2658052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B8052-553F-DC52-5D97-20BD22157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8DA0D87-C7FA-7F54-314E-D4295614EE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9204A75-DF32-18E0-4B4A-BB411D3A90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90C941E-3884-1379-C460-BF93668359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18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2880976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1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42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0">
              <a:buNone/>
            </a:pPr>
            <a:endParaRPr lang="en-US" altLang="zh-TW" dirty="0"/>
          </a:p>
        </p:txBody>
      </p:sp>
      <p:sp>
        <p:nvSpPr>
          <p:cNvPr id="1048643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753A29-9D77-4C26-8BEC-432FE5D4B0A4}" type="slidenum">
              <a:rPr lang="en-US" altLang="zh-TW" smtClean="0"/>
              <a:t>19</a:t>
            </a:fld>
            <a:endParaRPr lang="en-US" altLang="zh-TW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投影片" type="title">
  <p:cSld name="TITLE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6" name="Google Shape;21;p50"/>
          <p:cNvSpPr txBox="1"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4875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37" name="Google Shape;22;p50"/>
          <p:cNvSpPr txBox="1"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390"/>
              </a:spcBef>
              <a:spcAft>
                <a:spcPts val="0"/>
              </a:spcAft>
              <a:buSzPts val="1950"/>
              <a:buNone/>
              <a:defRPr sz="1950"/>
            </a:lvl1pPr>
            <a:lvl2pPr lvl="1" algn="ctr">
              <a:spcBef>
                <a:spcPts val="325"/>
              </a:spcBef>
              <a:spcAft>
                <a:spcPts val="0"/>
              </a:spcAft>
              <a:buSzPts val="1625"/>
              <a:buNone/>
              <a:defRPr sz="1625"/>
            </a:lvl2pPr>
            <a:lvl3pPr lvl="2" algn="ctr">
              <a:spcBef>
                <a:spcPts val="293"/>
              </a:spcBef>
              <a:spcAft>
                <a:spcPts val="0"/>
              </a:spcAft>
              <a:buSzPts val="1463"/>
              <a:buFont typeface="Times New Roman"/>
              <a:buNone/>
              <a:defRPr sz="1463"/>
            </a:lvl3pPr>
            <a:lvl4pPr lvl="3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4pPr>
            <a:lvl5pPr lvl="4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5pPr>
            <a:lvl6pPr lvl="5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6pPr>
            <a:lvl7pPr lvl="6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7pPr>
            <a:lvl8pPr lvl="7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8pPr>
            <a:lvl9pPr lvl="8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9pPr>
          </a:lstStyle>
          <a:p>
            <a:endParaRPr/>
          </a:p>
        </p:txBody>
      </p:sp>
      <p:sp>
        <p:nvSpPr>
          <p:cNvPr id="1048638" name="Google Shape;23;p50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39" name="Google Shape;24;p50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40" name="Google Shape;25;p50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6" name="Google Shape;37;p5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47" name="Google Shape;38;p54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9pPr>
          </a:lstStyle>
          <a:p>
            <a:endParaRPr/>
          </a:p>
        </p:txBody>
      </p:sp>
      <p:sp>
        <p:nvSpPr>
          <p:cNvPr id="1048648" name="Google Shape;39;p54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SzPts val="2400"/>
              <a:buChar char="❖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9pPr>
          </a:lstStyle>
          <a:p>
            <a:endParaRPr/>
          </a:p>
        </p:txBody>
      </p:sp>
      <p:sp>
        <p:nvSpPr>
          <p:cNvPr id="1048649" name="Google Shape;40;p54"/>
          <p:cNvSpPr txBox="1">
            <a:spLocks noGrp="1"/>
          </p:cNvSpPr>
          <p:nvPr>
            <p:ph type="body" idx="3"/>
          </p:nvPr>
        </p:nvSpPr>
        <p:spPr>
          <a:xfrm>
            <a:off x="4645027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9pPr>
          </a:lstStyle>
          <a:p>
            <a:endParaRPr/>
          </a:p>
        </p:txBody>
      </p:sp>
      <p:sp>
        <p:nvSpPr>
          <p:cNvPr id="1048650" name="Google Shape;41;p54"/>
          <p:cNvSpPr txBox="1">
            <a:spLocks noGrp="1"/>
          </p:cNvSpPr>
          <p:nvPr>
            <p:ph type="body" idx="4"/>
          </p:nvPr>
        </p:nvSpPr>
        <p:spPr>
          <a:xfrm>
            <a:off x="4645027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SzPts val="2400"/>
              <a:buChar char="❖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3" name="Google Shape;43;p55"/>
          <p:cNvSpPr txBox="1">
            <a:spLocks noGrp="1"/>
          </p:cNvSpPr>
          <p:nvPr>
            <p:ph type="title"/>
          </p:nvPr>
        </p:nvSpPr>
        <p:spPr>
          <a:xfrm>
            <a:off x="660400" y="609600"/>
            <a:ext cx="8750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4" name="Google Shape;50;p58"/>
          <p:cNvSpPr txBox="1">
            <a:spLocks noGrp="1"/>
          </p:cNvSpPr>
          <p:nvPr>
            <p:ph type="title"/>
          </p:nvPr>
        </p:nvSpPr>
        <p:spPr>
          <a:xfrm>
            <a:off x="1792290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55" name="Google Shape;51;p58"/>
          <p:cNvSpPr>
            <a:spLocks noGrp="1"/>
          </p:cNvSpPr>
          <p:nvPr>
            <p:ph type="pic" idx="2"/>
          </p:nvPr>
        </p:nvSpPr>
        <p:spPr>
          <a:xfrm>
            <a:off x="1792290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Noto Sans Symbols"/>
              <a:buNone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rgbClr val="FF5050"/>
              </a:buClr>
              <a:buSzPts val="2800"/>
              <a:buFont typeface="Noto Sans Symbols"/>
              <a:buNone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rgbClr val="6699FF"/>
              </a:buClr>
              <a:buSzPts val="2400"/>
              <a:buFont typeface="Times New Roman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56" name="Google Shape;52;p58"/>
          <p:cNvSpPr txBox="1">
            <a:spLocks noGrp="1"/>
          </p:cNvSpPr>
          <p:nvPr>
            <p:ph type="body" idx="1"/>
          </p:nvPr>
        </p:nvSpPr>
        <p:spPr>
          <a:xfrm>
            <a:off x="1792290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SzPts val="1000"/>
              <a:buFont typeface="Times New Roman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4" name="Google Shape;54;p59"/>
          <p:cNvSpPr txBox="1">
            <a:spLocks noGrp="1"/>
          </p:cNvSpPr>
          <p:nvPr>
            <p:ph type="title"/>
          </p:nvPr>
        </p:nvSpPr>
        <p:spPr>
          <a:xfrm>
            <a:off x="660400" y="609600"/>
            <a:ext cx="8750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45" name="Google Shape;55;p59"/>
          <p:cNvSpPr txBox="1">
            <a:spLocks noGrp="1"/>
          </p:cNvSpPr>
          <p:nvPr>
            <p:ph type="body" idx="1"/>
          </p:nvPr>
        </p:nvSpPr>
        <p:spPr>
          <a:xfrm rot="5400000">
            <a:off x="2593975" y="-485775"/>
            <a:ext cx="4800600" cy="866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7" name="Google Shape;57;p60"/>
          <p:cNvSpPr txBox="1">
            <a:spLocks noGrp="1"/>
          </p:cNvSpPr>
          <p:nvPr>
            <p:ph type="title"/>
          </p:nvPr>
        </p:nvSpPr>
        <p:spPr>
          <a:xfrm rot="5400000">
            <a:off x="4857751" y="2419350"/>
            <a:ext cx="5638800" cy="20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58" name="Google Shape;58;p60"/>
          <p:cNvSpPr txBox="1">
            <a:spLocks noGrp="1"/>
          </p:cNvSpPr>
          <p:nvPr>
            <p:ph type="body" idx="1"/>
          </p:nvPr>
        </p:nvSpPr>
        <p:spPr>
          <a:xfrm rot="5400000">
            <a:off x="742951" y="476250"/>
            <a:ext cx="5638800" cy="59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>
  <p:cSld name="1_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9" name="Title 1"/>
          <p:cNvSpPr>
            <a:spLocks noGrp="1"/>
          </p:cNvSpPr>
          <p:nvPr>
            <p:ph type="title"/>
          </p:nvPr>
        </p:nvSpPr>
        <p:spPr>
          <a:xfrm>
            <a:off x="609602" y="609600"/>
            <a:ext cx="8077200" cy="533400"/>
          </a:xfrm>
        </p:spPr>
        <p:txBody>
          <a:bodyPr/>
          <a:lstStyle/>
          <a:p>
            <a:r>
              <a:rPr lang="en-US" altLang="zh-TW" dirty="0"/>
              <a:t>Click to edit Master title style</a:t>
            </a:r>
            <a:endParaRPr lang="en-US" dirty="0"/>
          </a:p>
        </p:txBody>
      </p:sp>
      <p:sp>
        <p:nvSpPr>
          <p:cNvPr id="1048580" name="Chart Placeholder 2"/>
          <p:cNvSpPr>
            <a:spLocks noGrp="1"/>
          </p:cNvSpPr>
          <p:nvPr>
            <p:ph type="chart" idx="1"/>
          </p:nvPr>
        </p:nvSpPr>
        <p:spPr>
          <a:xfrm>
            <a:off x="609600" y="1447800"/>
            <a:ext cx="8001000" cy="4800600"/>
          </a:xfrm>
        </p:spPr>
        <p:txBody>
          <a:bodyPr/>
          <a:lstStyle/>
          <a:p>
            <a:pPr lvl="0"/>
            <a:endParaRPr lang="en-US" noProof="0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1048652" name="Title 1"/>
          <p:cNvSpPr>
            <a:spLocks noGrp="1"/>
          </p:cNvSpPr>
          <p:nvPr>
            <p:ph type="title"/>
          </p:nvPr>
        </p:nvSpPr>
        <p:spPr>
          <a:xfrm>
            <a:off x="660400" y="609600"/>
            <a:ext cx="8750300" cy="5334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altLang="zh-TW" dirty="0"/>
              <a:t>Title of the Slide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Google Shape;10;p48"/>
          <p:cNvSpPr txBox="1">
            <a:spLocks noGrp="1"/>
          </p:cNvSpPr>
          <p:nvPr>
            <p:ph type="title"/>
          </p:nvPr>
        </p:nvSpPr>
        <p:spPr>
          <a:xfrm>
            <a:off x="660400" y="609600"/>
            <a:ext cx="8750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cxnSp>
        <p:nvCxnSpPr>
          <p:cNvPr id="3145728" name="Google Shape;11;p48"/>
          <p:cNvCxnSpPr>
            <a:cxnSpLocks/>
          </p:cNvCxnSpPr>
          <p:nvPr/>
        </p:nvCxnSpPr>
        <p:spPr>
          <a:xfrm>
            <a:off x="412750" y="533400"/>
            <a:ext cx="899795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45729" name="Google Shape;12;p48"/>
          <p:cNvCxnSpPr>
            <a:cxnSpLocks/>
          </p:cNvCxnSpPr>
          <p:nvPr/>
        </p:nvCxnSpPr>
        <p:spPr>
          <a:xfrm>
            <a:off x="577850" y="228600"/>
            <a:ext cx="0" cy="990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45730" name="Google Shape;13;p48"/>
          <p:cNvCxnSpPr>
            <a:cxnSpLocks/>
          </p:cNvCxnSpPr>
          <p:nvPr/>
        </p:nvCxnSpPr>
        <p:spPr>
          <a:xfrm>
            <a:off x="495300" y="6400800"/>
            <a:ext cx="8915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48577" name="Google Shape;14;p48"/>
          <p:cNvSpPr txBox="1">
            <a:spLocks noGrp="1"/>
          </p:cNvSpPr>
          <p:nvPr>
            <p:ph type="body" idx="1"/>
          </p:nvPr>
        </p:nvSpPr>
        <p:spPr>
          <a:xfrm>
            <a:off x="660400" y="1447800"/>
            <a:ext cx="866775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048578" name="Google Shape;15;p48"/>
          <p:cNvSpPr txBox="1"/>
          <p:nvPr/>
        </p:nvSpPr>
        <p:spPr>
          <a:xfrm>
            <a:off x="8510587" y="6502400"/>
            <a:ext cx="817563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97152" name="Google Shape;16;p48"/>
          <p:cNvPicPr preferRelativeResize="0">
            <a:picLocks/>
          </p:cNvPicPr>
          <p:nvPr/>
        </p:nvPicPr>
        <p:blipFill rotWithShape="1">
          <a:blip r:embed="rId11">
            <a:alphaModFix/>
          </a:blip>
          <a:srcRect/>
          <a:stretch>
            <a:fillRect/>
          </a:stretch>
        </p:blipFill>
        <p:spPr>
          <a:xfrm>
            <a:off x="57150" y="6446838"/>
            <a:ext cx="1827213" cy="360362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8.png"/><Relationship Id="rId5" Type="http://schemas.openxmlformats.org/officeDocument/2006/relationships/image" Target="../media/image3.jp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3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microsoft.com/office/2007/relationships/media" Target="../media/media1.webm"/><Relationship Id="rId1" Type="http://schemas.openxmlformats.org/officeDocument/2006/relationships/video" Target="NULL" TargetMode="External"/><Relationship Id="rId5" Type="http://schemas.openxmlformats.org/officeDocument/2006/relationships/image" Target="../media/image19.png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Rectangle 2"/>
          <p:cNvSpPr>
            <a:spLocks noGrp="1" noChangeArrowheads="1"/>
          </p:cNvSpPr>
          <p:nvPr>
            <p:ph type="title"/>
          </p:nvPr>
        </p:nvSpPr>
        <p:spPr>
          <a:xfrm>
            <a:off x="668908" y="1829704"/>
            <a:ext cx="8568183" cy="1728539"/>
          </a:xfrm>
        </p:spPr>
        <p:txBody>
          <a:bodyPr/>
          <a:lstStyle/>
          <a:p>
            <a:pPr algn="ctr" eaLnBrk="1" hangingPunct="1"/>
            <a:r>
              <a:rPr lang="en-US" altLang="zh-TW" sz="3200" b="1" dirty="0">
                <a:solidFill>
                  <a:srgbClr val="0057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Progress Report</a:t>
            </a:r>
          </a:p>
        </p:txBody>
      </p:sp>
      <p:sp>
        <p:nvSpPr>
          <p:cNvPr id="1048582" name="Rectangle 2"/>
          <p:cNvSpPr txBox="1">
            <a:spLocks noChangeArrowheads="1"/>
          </p:cNvSpPr>
          <p:nvPr/>
        </p:nvSpPr>
        <p:spPr bwMode="auto">
          <a:xfrm>
            <a:off x="907104" y="3362630"/>
            <a:ext cx="8568183" cy="172853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+mn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9pPr>
          </a:lstStyle>
          <a:p>
            <a:pPr algn="ctr" eaLnBrk="1" hangingPunct="1"/>
            <a:endParaRPr lang="en-US" altLang="zh-TW" kern="0" dirty="0">
              <a:solidFill>
                <a:schemeClr val="tx1"/>
              </a:solidFill>
            </a:endParaRPr>
          </a:p>
        </p:txBody>
      </p:sp>
      <p:sp>
        <p:nvSpPr>
          <p:cNvPr id="1048583" name="Text Box 4"/>
          <p:cNvSpPr txBox="1">
            <a:spLocks noChangeArrowheads="1"/>
          </p:cNvSpPr>
          <p:nvPr/>
        </p:nvSpPr>
        <p:spPr bwMode="auto">
          <a:xfrm>
            <a:off x="1100262" y="4484365"/>
            <a:ext cx="7705476" cy="70788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/>
            <a:r>
              <a:rPr lang="en-US" altLang="zh-TW" sz="2000" dirty="0">
                <a:cs typeface="Times New Roman" panose="02020603050405020304" pitchFamily="18" charset="0"/>
              </a:rPr>
              <a:t>Author : </a:t>
            </a:r>
          </a:p>
          <a:p>
            <a:pPr algn="ctr"/>
            <a:r>
              <a:rPr lang="en-US" altLang="zh-TW" sz="2000" dirty="0">
                <a:cs typeface="Times New Roman" panose="02020603050405020304" pitchFamily="18" charset="0"/>
              </a:rPr>
              <a:t>Cheng-Yuan</a:t>
            </a:r>
            <a:r>
              <a:rPr lang="zh-TW" altLang="en-US" sz="2000" dirty="0">
                <a:cs typeface="Times New Roman" panose="02020603050405020304" pitchFamily="18" charset="0"/>
              </a:rPr>
              <a:t>、</a:t>
            </a:r>
            <a:r>
              <a:rPr lang="en-US" altLang="zh-TW" sz="2000" dirty="0">
                <a:cs typeface="Times New Roman" panose="02020603050405020304" pitchFamily="18" charset="0"/>
              </a:rPr>
              <a:t>Sheng-Yao</a:t>
            </a:r>
            <a:r>
              <a:rPr lang="zh-TW" altLang="en-US" sz="2000" dirty="0">
                <a:cs typeface="Times New Roman" panose="02020603050405020304" pitchFamily="18" charset="0"/>
              </a:rPr>
              <a:t>、</a:t>
            </a:r>
            <a:r>
              <a:rPr lang="en-US" altLang="zh-TW" sz="2000" dirty="0">
                <a:cs typeface="Times New Roman" panose="02020603050405020304" pitchFamily="18" charset="0"/>
              </a:rPr>
              <a:t>Che-Chia</a:t>
            </a:r>
          </a:p>
        </p:txBody>
      </p:sp>
      <p:sp>
        <p:nvSpPr>
          <p:cNvPr id="1048584" name="Text Box 4"/>
          <p:cNvSpPr txBox="1">
            <a:spLocks noChangeArrowheads="1"/>
          </p:cNvSpPr>
          <p:nvPr/>
        </p:nvSpPr>
        <p:spPr bwMode="auto">
          <a:xfrm>
            <a:off x="1100262" y="5673486"/>
            <a:ext cx="7705476" cy="4616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/>
            <a:r>
              <a:rPr lang="en-US" altLang="zh-TW" b="1" dirty="0">
                <a:solidFill>
                  <a:srgbClr val="0057C0"/>
                </a:solidFill>
              </a:rPr>
              <a:t>Embedded System Software Design</a:t>
            </a:r>
            <a:endParaRPr lang="en-US" altLang="zh-TW" sz="2000" b="1" dirty="0">
              <a:solidFill>
                <a:srgbClr val="0057C0"/>
              </a:solidFill>
              <a:latin typeface="+mn-lt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BC418-93FB-B85E-3E6C-30CE8CC22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C5B78B-4B53-60CF-F0D2-7AB0EB61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A0E973E-B5E1-BA62-48A3-DFE218619D9F}"/>
              </a:ext>
            </a:extLst>
          </p:cNvPr>
          <p:cNvSpPr txBox="1"/>
          <p:nvPr/>
        </p:nvSpPr>
        <p:spPr>
          <a:xfrm>
            <a:off x="520699" y="1369489"/>
            <a:ext cx="7669813" cy="814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-406400">
              <a:lnSpc>
                <a:spcPts val="3000"/>
              </a:lnSpc>
              <a:spcBef>
                <a:spcPts val="560"/>
              </a:spcBef>
              <a:buClr>
                <a:schemeClr val="accent2"/>
              </a:buClr>
              <a:buSzPts val="2800"/>
              <a:buFont typeface="Noto Sans Symbols"/>
              <a:buChar char="❖"/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根據第三期計畫書中內容進行開發，以下分別為階段一目標和當前開發進度及優先序。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4C713A4-B17F-52DB-4D68-9947ADDEA8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6029664"/>
              </p:ext>
            </p:extLst>
          </p:nvPr>
        </p:nvGraphicFramePr>
        <p:xfrm>
          <a:off x="570104" y="2311400"/>
          <a:ext cx="4903596" cy="23749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2917">
                  <a:extLst>
                    <a:ext uri="{9D8B030D-6E8A-4147-A177-3AD203B41FA5}">
                      <a16:colId xmlns:a16="http://schemas.microsoft.com/office/drawing/2014/main" val="1192615841"/>
                    </a:ext>
                  </a:extLst>
                </a:gridCol>
                <a:gridCol w="1572565">
                  <a:extLst>
                    <a:ext uri="{9D8B030D-6E8A-4147-A177-3AD203B41FA5}">
                      <a16:colId xmlns:a16="http://schemas.microsoft.com/office/drawing/2014/main" val="1364961183"/>
                    </a:ext>
                  </a:extLst>
                </a:gridCol>
                <a:gridCol w="1758114">
                  <a:extLst>
                    <a:ext uri="{9D8B030D-6E8A-4147-A177-3AD203B41FA5}">
                      <a16:colId xmlns:a16="http://schemas.microsoft.com/office/drawing/2014/main" val="2476587428"/>
                    </a:ext>
                  </a:extLst>
                </a:gridCol>
              </a:tblGrid>
              <a:tr h="39548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時間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目標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900139"/>
                  </a:ext>
                </a:extLst>
              </a:tr>
              <a:tr h="1979433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3 month</a:t>
                      </a:r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Gamma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調校功能</a:t>
                      </a:r>
                      <a:endParaRPr lang="zh-TW" alt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DICOM GSDF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調校功能</a:t>
                      </a:r>
                      <a:endParaRPr lang="en-US" altLang="zh-TW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zh-TW" altLang="en-US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產生</a:t>
                      </a:r>
                      <a:r>
                        <a:rPr lang="en-US" altLang="zh-TW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txt</a:t>
                      </a:r>
                      <a:r>
                        <a:rPr lang="zh-TW" altLang="en-US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檔案報告至</a:t>
                      </a:r>
                      <a:r>
                        <a:rPr lang="en-US" altLang="zh-TW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USB2.0</a:t>
                      </a:r>
                      <a:r>
                        <a:rPr lang="zh-TW" altLang="en-US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隨身碟裝置</a:t>
                      </a:r>
                      <a:endParaRPr lang="zh-TW" altLang="zh-TW" sz="1400" b="0" kern="1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4</a:t>
                      </a: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期中報告</a:t>
                      </a:r>
                      <a:endParaRPr lang="zh-TW" altLang="en-US" sz="1400" b="0" i="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17780" marR="17780" marT="0" marB="0"/>
                </a:tc>
                <a:extLst>
                  <a:ext uri="{0D108BD9-81ED-4DB2-BD59-A6C34878D82A}">
                    <a16:rowId xmlns:a16="http://schemas.microsoft.com/office/drawing/2014/main" val="2847363105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ABE2C05B-3128-C4B4-FC74-79C315F3D6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3645333"/>
              </p:ext>
            </p:extLst>
          </p:nvPr>
        </p:nvGraphicFramePr>
        <p:xfrm>
          <a:off x="5604934" y="2353858"/>
          <a:ext cx="4022658" cy="30832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329">
                  <a:extLst>
                    <a:ext uri="{9D8B030D-6E8A-4147-A177-3AD203B41FA5}">
                      <a16:colId xmlns:a16="http://schemas.microsoft.com/office/drawing/2014/main" val="761389866"/>
                    </a:ext>
                  </a:extLst>
                </a:gridCol>
                <a:gridCol w="2011329">
                  <a:extLst>
                    <a:ext uri="{9D8B030D-6E8A-4147-A177-3AD203B41FA5}">
                      <a16:colId xmlns:a16="http://schemas.microsoft.com/office/drawing/2014/main" val="1643138419"/>
                    </a:ext>
                  </a:extLst>
                </a:gridCol>
              </a:tblGrid>
              <a:tr h="459704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目標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進度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917929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Gamma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調校功能</a:t>
                      </a:r>
                      <a:endParaRPr lang="zh-TW" alt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902268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DICOM GSDF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調校功能</a:t>
                      </a:r>
                      <a:endParaRPr lang="en-US" altLang="zh-TW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5210310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zh-TW" altLang="en-US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產生</a:t>
                      </a:r>
                      <a:r>
                        <a:rPr lang="en-US" altLang="zh-TW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txt</a:t>
                      </a:r>
                      <a:r>
                        <a:rPr lang="zh-TW" altLang="en-US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檔案報告至</a:t>
                      </a:r>
                      <a:r>
                        <a:rPr lang="en-US" altLang="zh-TW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USB2.0</a:t>
                      </a:r>
                      <a:r>
                        <a:rPr lang="zh-TW" altLang="en-US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隨身碟裝置</a:t>
                      </a:r>
                      <a:endParaRPr lang="zh-TW" altLang="zh-TW" sz="1400" b="0" kern="1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0" lvl="0" indent="0" algn="ctr">
                        <a:buFont typeface="+mj-lt"/>
                        <a:buNone/>
                      </a:pPr>
                      <a:endParaRPr lang="en-US" altLang="zh-TW" sz="1400" b="0" i="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4747742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4</a:t>
                      </a: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期中報告</a:t>
                      </a:r>
                      <a:endParaRPr lang="zh-TW" altLang="en-US" sz="1400" b="0" i="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  <a:p>
                      <a:pPr marL="0" lvl="0" indent="0" algn="ctr">
                        <a:buFont typeface="+mj-lt"/>
                        <a:buNone/>
                      </a:pPr>
                      <a:endParaRPr lang="en-US" altLang="zh-TW" sz="1400" b="0" i="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6247268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ED75B16B-2D9B-C71E-BDE4-30C741E9E628}"/>
              </a:ext>
            </a:extLst>
          </p:cNvPr>
          <p:cNvSpPr txBox="1"/>
          <p:nvPr/>
        </p:nvSpPr>
        <p:spPr>
          <a:xfrm>
            <a:off x="8635013" y="1541843"/>
            <a:ext cx="952505" cy="7386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完成</a:t>
            </a:r>
            <a:b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△: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未進行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進行中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2ABD0C2-0327-4104-B1D8-8BFBAFB39656}"/>
              </a:ext>
            </a:extLst>
          </p:cNvPr>
          <p:cNvSpPr/>
          <p:nvPr/>
        </p:nvSpPr>
        <p:spPr>
          <a:xfrm>
            <a:off x="5604934" y="2847301"/>
            <a:ext cx="4022658" cy="258981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74744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537771"/>
            <a:ext cx="8077200" cy="533400"/>
          </a:xfrm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CA232325-2F30-826A-0F33-B3038ABB7C4A}"/>
              </a:ext>
            </a:extLst>
          </p:cNvPr>
          <p:cNvSpPr txBox="1"/>
          <p:nvPr/>
        </p:nvSpPr>
        <p:spPr>
          <a:xfrm>
            <a:off x="490980" y="834067"/>
            <a:ext cx="8924039" cy="5500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OSD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新增驗證</a:t>
            </a:r>
            <a:r>
              <a:rPr lang="en-US" altLang="zh-TW" sz="1600" dirty="0" err="1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ColorTemp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/Gamma/</a:t>
            </a:r>
            <a:r>
              <a:rPr lang="en-US" altLang="zh-TW" sz="1600" dirty="0" err="1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Dicom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顯示</a:t>
            </a: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5400K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原生色溫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</a:p>
          <a:p>
            <a:pPr marL="533400" lvl="1" indent="0">
              <a:lnSpc>
                <a:spcPts val="3000"/>
              </a:lnSpc>
              <a:buNone/>
            </a:pP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色溫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38h 25h=5637</a:t>
            </a:r>
          </a:p>
          <a:p>
            <a:pPr marL="533400" lvl="1" indent="0">
              <a:lnSpc>
                <a:spcPts val="3000"/>
              </a:lnSpc>
              <a:buNone/>
            </a:pP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533400" lvl="1" indent="0">
              <a:lnSpc>
                <a:spcPts val="3000"/>
              </a:lnSpc>
              <a:buNone/>
            </a:pP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6500K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原生色溫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</a:p>
          <a:p>
            <a:pPr marL="533400" lvl="1" indent="0">
              <a:lnSpc>
                <a:spcPts val="3000"/>
              </a:lnSpc>
              <a:buNone/>
            </a:pP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色溫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 41h 08h =6508</a:t>
            </a:r>
          </a:p>
          <a:p>
            <a:pPr marL="533400" lvl="1" indent="0">
              <a:lnSpc>
                <a:spcPts val="3000"/>
              </a:lnSpc>
              <a:buNone/>
            </a:pP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533400" lvl="1" indent="0">
              <a:lnSpc>
                <a:spcPts val="3000"/>
              </a:lnSpc>
              <a:buNone/>
            </a:pP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9300K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原生色溫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</a:p>
          <a:p>
            <a:pPr marL="533400" lvl="1" indent="0">
              <a:lnSpc>
                <a:spcPts val="3000"/>
              </a:lnSpc>
              <a:buNone/>
            </a:pP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色溫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:5Dh 1Ah= 9326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6D0E565-3958-9D88-C5F9-4A2AD323CE3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036" t="31968" r="28711" b="42822"/>
          <a:stretch/>
        </p:blipFill>
        <p:spPr>
          <a:xfrm>
            <a:off x="5822413" y="0"/>
            <a:ext cx="4083587" cy="2786344"/>
          </a:xfrm>
          <a:prstGeom prst="rect">
            <a:avLst/>
          </a:prstGeom>
        </p:spPr>
      </p:pic>
      <p:sp>
        <p:nvSpPr>
          <p:cNvPr id="21" name="矩形 20">
            <a:extLst>
              <a:ext uri="{FF2B5EF4-FFF2-40B4-BE49-F238E27FC236}">
                <a16:creationId xmlns:a16="http://schemas.microsoft.com/office/drawing/2014/main" id="{3AD86050-97D7-F28C-4DAB-342040824376}"/>
              </a:ext>
            </a:extLst>
          </p:cNvPr>
          <p:cNvSpPr/>
          <p:nvPr/>
        </p:nvSpPr>
        <p:spPr>
          <a:xfrm flipH="1">
            <a:off x="6196984" y="1025480"/>
            <a:ext cx="3624524" cy="17608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6" name="文字版面配置區 6">
            <a:extLst>
              <a:ext uri="{FF2B5EF4-FFF2-40B4-BE49-F238E27FC236}">
                <a16:creationId xmlns:a16="http://schemas.microsoft.com/office/drawing/2014/main" id="{88438C30-23F9-B325-1C33-236EBCC794BD}"/>
              </a:ext>
            </a:extLst>
          </p:cNvPr>
          <p:cNvSpPr txBox="1"/>
          <p:nvPr/>
        </p:nvSpPr>
        <p:spPr>
          <a:xfrm>
            <a:off x="9224755" y="834066"/>
            <a:ext cx="822616" cy="559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50800" indent="0">
              <a:lnSpc>
                <a:spcPts val="3000"/>
              </a:lnSpc>
              <a:buNone/>
            </a:pPr>
            <a:r>
              <a:rPr lang="en-US" altLang="zh-TW" sz="16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5637</a:t>
            </a:r>
          </a:p>
        </p:txBody>
      </p:sp>
      <p:sp>
        <p:nvSpPr>
          <p:cNvPr id="8" name="文字版面配置區 6">
            <a:extLst>
              <a:ext uri="{FF2B5EF4-FFF2-40B4-BE49-F238E27FC236}">
                <a16:creationId xmlns:a16="http://schemas.microsoft.com/office/drawing/2014/main" id="{C87900F1-5DE0-D1F6-5A25-CF2213DE59FF}"/>
              </a:ext>
            </a:extLst>
          </p:cNvPr>
          <p:cNvSpPr txBox="1"/>
          <p:nvPr/>
        </p:nvSpPr>
        <p:spPr>
          <a:xfrm>
            <a:off x="9224755" y="1046366"/>
            <a:ext cx="822616" cy="559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50800" indent="0">
              <a:lnSpc>
                <a:spcPts val="3000"/>
              </a:lnSpc>
              <a:buNone/>
            </a:pPr>
            <a:r>
              <a:rPr lang="en-US" altLang="zh-TW" sz="16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6508</a:t>
            </a:r>
          </a:p>
        </p:txBody>
      </p:sp>
      <p:sp>
        <p:nvSpPr>
          <p:cNvPr id="9" name="文字版面配置區 6">
            <a:extLst>
              <a:ext uri="{FF2B5EF4-FFF2-40B4-BE49-F238E27FC236}">
                <a16:creationId xmlns:a16="http://schemas.microsoft.com/office/drawing/2014/main" id="{38381C39-DCF6-4446-ED0C-7530CDEE80B9}"/>
              </a:ext>
            </a:extLst>
          </p:cNvPr>
          <p:cNvSpPr txBox="1"/>
          <p:nvPr/>
        </p:nvSpPr>
        <p:spPr>
          <a:xfrm>
            <a:off x="9224755" y="1258666"/>
            <a:ext cx="822616" cy="559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50800" indent="0">
              <a:lnSpc>
                <a:spcPts val="3000"/>
              </a:lnSpc>
              <a:buNone/>
            </a:pPr>
            <a:r>
              <a:rPr lang="en-US" altLang="zh-TW" sz="16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9326</a:t>
            </a:r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BFBB8A0E-A340-968B-AFF8-794DED305FD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34576"/>
          <a:stretch/>
        </p:blipFill>
        <p:spPr>
          <a:xfrm>
            <a:off x="4916493" y="2892382"/>
            <a:ext cx="4989507" cy="3345220"/>
          </a:xfrm>
          <a:prstGeom prst="rect">
            <a:avLst/>
          </a:prstGeom>
        </p:spPr>
      </p:pic>
      <p:pic>
        <p:nvPicPr>
          <p:cNvPr id="26" name="圖片 25">
            <a:extLst>
              <a:ext uri="{FF2B5EF4-FFF2-40B4-BE49-F238E27FC236}">
                <a16:creationId xmlns:a16="http://schemas.microsoft.com/office/drawing/2014/main" id="{3DED356B-7BE1-2E5C-7F9E-49C1D241DC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735" y="5832733"/>
            <a:ext cx="4382112" cy="809738"/>
          </a:xfrm>
          <a:prstGeom prst="rect">
            <a:avLst/>
          </a:prstGeom>
        </p:spPr>
      </p:pic>
      <p:pic>
        <p:nvPicPr>
          <p:cNvPr id="29" name="圖片 28">
            <a:extLst>
              <a:ext uri="{FF2B5EF4-FFF2-40B4-BE49-F238E27FC236}">
                <a16:creationId xmlns:a16="http://schemas.microsoft.com/office/drawing/2014/main" id="{0417319F-90D5-2E8D-9FB2-9551BA80BAB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27"/>
          <a:stretch/>
        </p:blipFill>
        <p:spPr>
          <a:xfrm>
            <a:off x="513824" y="4046164"/>
            <a:ext cx="4134378" cy="838317"/>
          </a:xfrm>
          <a:prstGeom prst="rect">
            <a:avLst/>
          </a:prstGeom>
        </p:spPr>
      </p:pic>
      <p:pic>
        <p:nvPicPr>
          <p:cNvPr id="31" name="圖片 30">
            <a:extLst>
              <a:ext uri="{FF2B5EF4-FFF2-40B4-BE49-F238E27FC236}">
                <a16:creationId xmlns:a16="http://schemas.microsoft.com/office/drawing/2014/main" id="{8FD59CAC-2C0B-6E3B-A6CF-C9E8B042AFD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7091" y="2250069"/>
            <a:ext cx="4201111" cy="847843"/>
          </a:xfrm>
          <a:prstGeom prst="rect">
            <a:avLst/>
          </a:prstGeom>
        </p:spPr>
      </p:pic>
      <p:sp>
        <p:nvSpPr>
          <p:cNvPr id="32" name="矩形 31">
            <a:extLst>
              <a:ext uri="{FF2B5EF4-FFF2-40B4-BE49-F238E27FC236}">
                <a16:creationId xmlns:a16="http://schemas.microsoft.com/office/drawing/2014/main" id="{757E5CA6-6A04-D783-F461-C3235DC40381}"/>
              </a:ext>
            </a:extLst>
          </p:cNvPr>
          <p:cNvSpPr/>
          <p:nvPr/>
        </p:nvSpPr>
        <p:spPr>
          <a:xfrm flipH="1">
            <a:off x="7072829" y="4607555"/>
            <a:ext cx="2610481" cy="50427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72D370F3-7718-504D-9C4D-5340754880DB}"/>
              </a:ext>
            </a:extLst>
          </p:cNvPr>
          <p:cNvSpPr/>
          <p:nvPr/>
        </p:nvSpPr>
        <p:spPr>
          <a:xfrm flipH="1">
            <a:off x="1896566" y="2786344"/>
            <a:ext cx="2610481" cy="18820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9CA07680-CFA7-8A72-BF2E-DEB31F7755A0}"/>
              </a:ext>
            </a:extLst>
          </p:cNvPr>
          <p:cNvSpPr/>
          <p:nvPr/>
        </p:nvSpPr>
        <p:spPr>
          <a:xfrm flipH="1">
            <a:off x="1896565" y="4592470"/>
            <a:ext cx="2610481" cy="1557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02A69A4B-6503-7C18-2FC6-9FD6EA8B00CE}"/>
              </a:ext>
            </a:extLst>
          </p:cNvPr>
          <p:cNvSpPr/>
          <p:nvPr/>
        </p:nvSpPr>
        <p:spPr>
          <a:xfrm flipH="1">
            <a:off x="1896564" y="6311471"/>
            <a:ext cx="2610481" cy="1557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335982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CA232325-2F30-826A-0F33-B3038ABB7C4A}"/>
              </a:ext>
            </a:extLst>
          </p:cNvPr>
          <p:cNvSpPr txBox="1"/>
          <p:nvPr/>
        </p:nvSpPr>
        <p:spPr>
          <a:xfrm>
            <a:off x="490980" y="1067488"/>
            <a:ext cx="8924039" cy="487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OSD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新增驗證</a:t>
            </a:r>
            <a:r>
              <a:rPr lang="en-US" altLang="zh-TW" sz="1600" dirty="0" err="1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ColorTemp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/Gamma/</a:t>
            </a:r>
            <a:r>
              <a:rPr lang="en-US" altLang="zh-TW" sz="1600" dirty="0" err="1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Dicom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顯示</a:t>
            </a: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Gamma1:</a:t>
            </a:r>
          </a:p>
          <a:p>
            <a:pPr marL="533400" lvl="1" indent="0">
              <a:lnSpc>
                <a:spcPts val="3000"/>
              </a:lnSpc>
              <a:buNone/>
            </a:pP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色溫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41h 58h=6588</a:t>
            </a:r>
          </a:p>
          <a:p>
            <a:pPr marL="533400" lvl="1" indent="0">
              <a:lnSpc>
                <a:spcPts val="3000"/>
              </a:lnSpc>
              <a:buNone/>
            </a:pPr>
            <a:r>
              <a:rPr lang="en-US" altLang="zh-TW" sz="14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7Ch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=(2.24*100)-100=7Ch(124)</a:t>
            </a:r>
          </a:p>
          <a:p>
            <a:pPr lvl="1">
              <a:lnSpc>
                <a:spcPts val="3000"/>
              </a:lnSpc>
            </a:pP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Gamma2:</a:t>
            </a:r>
          </a:p>
          <a:p>
            <a:pPr marL="533400" lvl="1" indent="0">
              <a:lnSpc>
                <a:spcPts val="3000"/>
              </a:lnSpc>
              <a:buNone/>
            </a:pP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色溫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 41h 56h =6586</a:t>
            </a:r>
          </a:p>
          <a:p>
            <a:pPr marL="533400" lvl="1" indent="0">
              <a:lnSpc>
                <a:spcPts val="3000"/>
              </a:lnSpc>
              <a:buNone/>
            </a:pPr>
            <a:r>
              <a:rPr lang="en-US" altLang="zh-TW" sz="14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A2h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=(2.62*100)-100= A2h(162)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6D0E565-3958-9D88-C5F9-4A2AD323CE3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036" t="31968" r="28711" b="42822"/>
          <a:stretch/>
        </p:blipFill>
        <p:spPr>
          <a:xfrm>
            <a:off x="5822413" y="0"/>
            <a:ext cx="4083587" cy="2786344"/>
          </a:xfrm>
          <a:prstGeom prst="rect">
            <a:avLst/>
          </a:prstGeom>
        </p:spPr>
      </p:pic>
      <p:sp>
        <p:nvSpPr>
          <p:cNvPr id="21" name="矩形 20">
            <a:extLst>
              <a:ext uri="{FF2B5EF4-FFF2-40B4-BE49-F238E27FC236}">
                <a16:creationId xmlns:a16="http://schemas.microsoft.com/office/drawing/2014/main" id="{3AD86050-97D7-F28C-4DAB-342040824376}"/>
              </a:ext>
            </a:extLst>
          </p:cNvPr>
          <p:cNvSpPr/>
          <p:nvPr/>
        </p:nvSpPr>
        <p:spPr>
          <a:xfrm flipH="1">
            <a:off x="6196984" y="1025480"/>
            <a:ext cx="3624524" cy="17608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" name="文字版面配置區 6">
            <a:extLst>
              <a:ext uri="{FF2B5EF4-FFF2-40B4-BE49-F238E27FC236}">
                <a16:creationId xmlns:a16="http://schemas.microsoft.com/office/drawing/2014/main" id="{FF6A61ED-16B9-5474-C904-842DFE9B3933}"/>
              </a:ext>
            </a:extLst>
          </p:cNvPr>
          <p:cNvSpPr txBox="1"/>
          <p:nvPr/>
        </p:nvSpPr>
        <p:spPr>
          <a:xfrm>
            <a:off x="7316417" y="1805847"/>
            <a:ext cx="602252" cy="559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50800" indent="0">
              <a:lnSpc>
                <a:spcPts val="3000"/>
              </a:lnSpc>
              <a:buNone/>
            </a:pPr>
            <a:r>
              <a:rPr lang="en-US" altLang="zh-TW" sz="16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224</a:t>
            </a:r>
          </a:p>
        </p:txBody>
      </p:sp>
      <p:sp>
        <p:nvSpPr>
          <p:cNvPr id="6" name="文字版面配置區 6">
            <a:extLst>
              <a:ext uri="{FF2B5EF4-FFF2-40B4-BE49-F238E27FC236}">
                <a16:creationId xmlns:a16="http://schemas.microsoft.com/office/drawing/2014/main" id="{88438C30-23F9-B325-1C33-236EBCC794BD}"/>
              </a:ext>
            </a:extLst>
          </p:cNvPr>
          <p:cNvSpPr txBox="1"/>
          <p:nvPr/>
        </p:nvSpPr>
        <p:spPr>
          <a:xfrm>
            <a:off x="9219257" y="1567603"/>
            <a:ext cx="822616" cy="559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50800" indent="0">
              <a:lnSpc>
                <a:spcPts val="3000"/>
              </a:lnSpc>
              <a:buNone/>
            </a:pPr>
            <a:r>
              <a:rPr lang="en-US" altLang="zh-TW" sz="16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6588</a:t>
            </a:r>
          </a:p>
        </p:txBody>
      </p:sp>
      <p:sp>
        <p:nvSpPr>
          <p:cNvPr id="8" name="文字版面配置區 6">
            <a:extLst>
              <a:ext uri="{FF2B5EF4-FFF2-40B4-BE49-F238E27FC236}">
                <a16:creationId xmlns:a16="http://schemas.microsoft.com/office/drawing/2014/main" id="{C87900F1-5DE0-D1F6-5A25-CF2213DE59FF}"/>
              </a:ext>
            </a:extLst>
          </p:cNvPr>
          <p:cNvSpPr txBox="1"/>
          <p:nvPr/>
        </p:nvSpPr>
        <p:spPr>
          <a:xfrm>
            <a:off x="9224755" y="2151498"/>
            <a:ext cx="822616" cy="559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50800" indent="0">
              <a:lnSpc>
                <a:spcPts val="3000"/>
              </a:lnSpc>
              <a:buNone/>
            </a:pPr>
            <a:r>
              <a:rPr lang="en-US" altLang="zh-TW" sz="16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6586</a:t>
            </a:r>
          </a:p>
        </p:txBody>
      </p:sp>
      <p:sp>
        <p:nvSpPr>
          <p:cNvPr id="9" name="文字版面配置區 6">
            <a:extLst>
              <a:ext uri="{FF2B5EF4-FFF2-40B4-BE49-F238E27FC236}">
                <a16:creationId xmlns:a16="http://schemas.microsoft.com/office/drawing/2014/main" id="{38381C39-DCF6-4446-ED0C-7530CDEE80B9}"/>
              </a:ext>
            </a:extLst>
          </p:cNvPr>
          <p:cNvSpPr txBox="1"/>
          <p:nvPr/>
        </p:nvSpPr>
        <p:spPr>
          <a:xfrm>
            <a:off x="7316417" y="2333276"/>
            <a:ext cx="822616" cy="559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50800" indent="0">
              <a:lnSpc>
                <a:spcPts val="3000"/>
              </a:lnSpc>
              <a:buNone/>
            </a:pPr>
            <a:r>
              <a:rPr lang="en-US" altLang="zh-TW" sz="16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262</a:t>
            </a: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F605CAC7-699C-1624-FD61-2DB5459AD7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361" y="5132257"/>
            <a:ext cx="4382112" cy="847843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BFBB8A0E-A340-968B-AFF8-794DED305FD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34576"/>
          <a:stretch/>
        </p:blipFill>
        <p:spPr>
          <a:xfrm>
            <a:off x="4916493" y="2892382"/>
            <a:ext cx="4989507" cy="3345220"/>
          </a:xfrm>
          <a:prstGeom prst="rect">
            <a:avLst/>
          </a:prstGeom>
        </p:spPr>
      </p:pic>
      <p:pic>
        <p:nvPicPr>
          <p:cNvPr id="24" name="圖片 23">
            <a:extLst>
              <a:ext uri="{FF2B5EF4-FFF2-40B4-BE49-F238E27FC236}">
                <a16:creationId xmlns:a16="http://schemas.microsoft.com/office/drawing/2014/main" id="{2AD6C3B2-790D-9BDE-713E-8047EEB2620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697" y="3036513"/>
            <a:ext cx="4239303" cy="859448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72611B8E-FD91-0703-7062-29B904BD586F}"/>
              </a:ext>
            </a:extLst>
          </p:cNvPr>
          <p:cNvSpPr/>
          <p:nvPr/>
        </p:nvSpPr>
        <p:spPr>
          <a:xfrm flipH="1">
            <a:off x="7017744" y="5132257"/>
            <a:ext cx="2803764" cy="4243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CF4EA1-D111-02AA-B04F-32E105521AB1}"/>
              </a:ext>
            </a:extLst>
          </p:cNvPr>
          <p:cNvSpPr/>
          <p:nvPr/>
        </p:nvSpPr>
        <p:spPr>
          <a:xfrm flipH="1">
            <a:off x="2170323" y="3580482"/>
            <a:ext cx="2634812" cy="13220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505FC51-3174-36FE-1D83-39C6150C65B1}"/>
              </a:ext>
            </a:extLst>
          </p:cNvPr>
          <p:cNvSpPr/>
          <p:nvPr/>
        </p:nvSpPr>
        <p:spPr>
          <a:xfrm flipH="1">
            <a:off x="2170323" y="5657272"/>
            <a:ext cx="2634812" cy="13220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85347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圖片 14">
            <a:extLst>
              <a:ext uri="{FF2B5EF4-FFF2-40B4-BE49-F238E27FC236}">
                <a16:creationId xmlns:a16="http://schemas.microsoft.com/office/drawing/2014/main" id="{6F3F0ACE-B27C-0995-90BA-0DD01A7AFC8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891" t="31011" r="25820" b="45381"/>
          <a:stretch/>
        </p:blipFill>
        <p:spPr>
          <a:xfrm>
            <a:off x="6012751" y="284896"/>
            <a:ext cx="3811836" cy="2484187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CA232325-2F30-826A-0F33-B3038ABB7C4A}"/>
              </a:ext>
            </a:extLst>
          </p:cNvPr>
          <p:cNvSpPr txBox="1"/>
          <p:nvPr/>
        </p:nvSpPr>
        <p:spPr>
          <a:xfrm>
            <a:off x="490980" y="1067488"/>
            <a:ext cx="8924039" cy="487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OSD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新增驗證</a:t>
            </a:r>
            <a:r>
              <a:rPr lang="en-US" altLang="zh-TW" sz="1600" dirty="0" err="1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ColorTemp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/Gamma/</a:t>
            </a:r>
            <a:r>
              <a:rPr lang="en-US" altLang="zh-TW" sz="1600" dirty="0" err="1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Dicom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顯示</a:t>
            </a: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Gamma1:DICOM</a:t>
            </a:r>
          </a:p>
          <a:p>
            <a:pPr marL="533400" lvl="1" indent="0">
              <a:lnSpc>
                <a:spcPts val="3000"/>
              </a:lnSpc>
              <a:buNone/>
            </a:pP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色溫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41h 03h=6503</a:t>
            </a:r>
          </a:p>
          <a:p>
            <a:pPr marL="533400" lvl="1" indent="0">
              <a:lnSpc>
                <a:spcPts val="3000"/>
              </a:lnSpc>
              <a:buNone/>
            </a:pP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44h(6500K)=(16.8*10)-100=44h(68)</a:t>
            </a:r>
          </a:p>
          <a:p>
            <a:pPr lvl="1">
              <a:lnSpc>
                <a:spcPts val="3000"/>
              </a:lnSpc>
            </a:pP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AD86050-97D7-F28C-4DAB-342040824376}"/>
              </a:ext>
            </a:extLst>
          </p:cNvPr>
          <p:cNvSpPr/>
          <p:nvPr/>
        </p:nvSpPr>
        <p:spPr>
          <a:xfrm flipH="1">
            <a:off x="6196984" y="1025480"/>
            <a:ext cx="3624524" cy="17608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8" name="文字版面配置區 6">
            <a:extLst>
              <a:ext uri="{FF2B5EF4-FFF2-40B4-BE49-F238E27FC236}">
                <a16:creationId xmlns:a16="http://schemas.microsoft.com/office/drawing/2014/main" id="{C87900F1-5DE0-D1F6-5A25-CF2213DE59FF}"/>
              </a:ext>
            </a:extLst>
          </p:cNvPr>
          <p:cNvSpPr txBox="1"/>
          <p:nvPr/>
        </p:nvSpPr>
        <p:spPr>
          <a:xfrm>
            <a:off x="9265698" y="2080179"/>
            <a:ext cx="822616" cy="559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50800" indent="0">
              <a:lnSpc>
                <a:spcPts val="3000"/>
              </a:lnSpc>
              <a:buNone/>
            </a:pPr>
            <a:r>
              <a:rPr lang="en-US" altLang="zh-TW" sz="16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6503</a:t>
            </a:r>
          </a:p>
        </p:txBody>
      </p:sp>
      <p:sp>
        <p:nvSpPr>
          <p:cNvPr id="9" name="文字版面配置區 6">
            <a:extLst>
              <a:ext uri="{FF2B5EF4-FFF2-40B4-BE49-F238E27FC236}">
                <a16:creationId xmlns:a16="http://schemas.microsoft.com/office/drawing/2014/main" id="{38381C39-DCF6-4446-ED0C-7530CDEE80B9}"/>
              </a:ext>
            </a:extLst>
          </p:cNvPr>
          <p:cNvSpPr txBox="1"/>
          <p:nvPr/>
        </p:nvSpPr>
        <p:spPr>
          <a:xfrm>
            <a:off x="7411246" y="2288177"/>
            <a:ext cx="822616" cy="559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50800" indent="0">
              <a:lnSpc>
                <a:spcPts val="3000"/>
              </a:lnSpc>
              <a:buNone/>
            </a:pPr>
            <a:r>
              <a:rPr lang="en-US" altLang="zh-TW" sz="16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168</a:t>
            </a:r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BFBB8A0E-A340-968B-AFF8-794DED305FD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34576"/>
          <a:stretch/>
        </p:blipFill>
        <p:spPr>
          <a:xfrm>
            <a:off x="4916493" y="2892382"/>
            <a:ext cx="4989507" cy="334522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72611B8E-FD91-0703-7062-29B904BD586F}"/>
              </a:ext>
            </a:extLst>
          </p:cNvPr>
          <p:cNvSpPr/>
          <p:nvPr/>
        </p:nvSpPr>
        <p:spPr>
          <a:xfrm flipH="1">
            <a:off x="7017744" y="5132257"/>
            <a:ext cx="2803764" cy="4243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pic>
        <p:nvPicPr>
          <p:cNvPr id="19" name="圖片 18">
            <a:extLst>
              <a:ext uri="{FF2B5EF4-FFF2-40B4-BE49-F238E27FC236}">
                <a16:creationId xmlns:a16="http://schemas.microsoft.com/office/drawing/2014/main" id="{052C1651-752F-4124-883B-EF0503965A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2772" y="3093725"/>
            <a:ext cx="4593722" cy="1004550"/>
          </a:xfrm>
          <a:prstGeom prst="rect">
            <a:avLst/>
          </a:prstGeom>
        </p:spPr>
      </p:pic>
      <p:sp>
        <p:nvSpPr>
          <p:cNvPr id="20" name="矩形 19">
            <a:extLst>
              <a:ext uri="{FF2B5EF4-FFF2-40B4-BE49-F238E27FC236}">
                <a16:creationId xmlns:a16="http://schemas.microsoft.com/office/drawing/2014/main" id="{2028D47B-AC43-A43C-1A2E-C85450769E02}"/>
              </a:ext>
            </a:extLst>
          </p:cNvPr>
          <p:cNvSpPr/>
          <p:nvPr/>
        </p:nvSpPr>
        <p:spPr>
          <a:xfrm flipH="1">
            <a:off x="1916935" y="3723701"/>
            <a:ext cx="2731267" cy="15423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F606814-C23D-696B-0696-D171D76CB499}"/>
              </a:ext>
            </a:extLst>
          </p:cNvPr>
          <p:cNvSpPr/>
          <p:nvPr/>
        </p:nvSpPr>
        <p:spPr>
          <a:xfrm flipH="1">
            <a:off x="7017744" y="4010208"/>
            <a:ext cx="2803764" cy="4243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8991284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圖片 10">
            <a:extLst>
              <a:ext uri="{FF2B5EF4-FFF2-40B4-BE49-F238E27FC236}">
                <a16:creationId xmlns:a16="http://schemas.microsoft.com/office/drawing/2014/main" id="{DAF79223-2CEA-EE1D-7F5C-004409E7AE8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824"/>
          <a:stretch/>
        </p:blipFill>
        <p:spPr>
          <a:xfrm>
            <a:off x="793214" y="2765233"/>
            <a:ext cx="6515246" cy="3651453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CA232325-2F30-826A-0F33-B3038ABB7C4A}"/>
              </a:ext>
            </a:extLst>
          </p:cNvPr>
          <p:cNvSpPr txBox="1"/>
          <p:nvPr/>
        </p:nvSpPr>
        <p:spPr>
          <a:xfrm>
            <a:off x="490980" y="1037591"/>
            <a:ext cx="8924039" cy="1463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ALC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新增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USB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Log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檔案不覆蓋功能，修改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Log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內容。</a:t>
            </a: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en-US" altLang="zh-TW" sz="1400" dirty="0" err="1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FatFs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檔名限制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(8.3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格式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、檔名預設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ALC_xxxx.txt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en-US" altLang="zh-TW" sz="1400" dirty="0" err="1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xxxx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為數字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0~9999</a:t>
            </a:r>
          </a:p>
          <a:p>
            <a:pPr lvl="1">
              <a:lnSpc>
                <a:spcPts val="3000"/>
              </a:lnSpc>
            </a:pP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Log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輸出內容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:Lum(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亮度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T(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溫度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K(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補償係數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PWM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comp(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補償後亮度 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PWM * K)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CCR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2611B8E-FD91-0703-7062-29B904BD586F}"/>
              </a:ext>
            </a:extLst>
          </p:cNvPr>
          <p:cNvSpPr/>
          <p:nvPr/>
        </p:nvSpPr>
        <p:spPr>
          <a:xfrm flipH="1">
            <a:off x="793212" y="6126745"/>
            <a:ext cx="4296579" cy="28994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F606814-C23D-696B-0696-D171D76CB499}"/>
              </a:ext>
            </a:extLst>
          </p:cNvPr>
          <p:cNvSpPr/>
          <p:nvPr/>
        </p:nvSpPr>
        <p:spPr>
          <a:xfrm flipH="1">
            <a:off x="793214" y="2986938"/>
            <a:ext cx="3007605" cy="4804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871088D-8155-34B7-D2E1-ABBC8679D262}"/>
              </a:ext>
            </a:extLst>
          </p:cNvPr>
          <p:cNvSpPr/>
          <p:nvPr/>
        </p:nvSpPr>
        <p:spPr>
          <a:xfrm flipH="1">
            <a:off x="793212" y="5065623"/>
            <a:ext cx="1872870" cy="28994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pic>
        <p:nvPicPr>
          <p:cNvPr id="16" name="圖片 15">
            <a:extLst>
              <a:ext uri="{FF2B5EF4-FFF2-40B4-BE49-F238E27FC236}">
                <a16:creationId xmlns:a16="http://schemas.microsoft.com/office/drawing/2014/main" id="{1B8F700A-FECC-15E0-552B-19D7EA523C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6308" y="309336"/>
            <a:ext cx="6382820" cy="851495"/>
          </a:xfrm>
          <a:prstGeom prst="rect">
            <a:avLst/>
          </a:prstGeom>
        </p:spPr>
      </p:pic>
      <p:sp>
        <p:nvSpPr>
          <p:cNvPr id="17" name="矩形 16">
            <a:extLst>
              <a:ext uri="{FF2B5EF4-FFF2-40B4-BE49-F238E27FC236}">
                <a16:creationId xmlns:a16="http://schemas.microsoft.com/office/drawing/2014/main" id="{5844C164-A839-CFB9-C89E-55F12EE4F889}"/>
              </a:ext>
            </a:extLst>
          </p:cNvPr>
          <p:cNvSpPr/>
          <p:nvPr/>
        </p:nvSpPr>
        <p:spPr>
          <a:xfrm flipH="1">
            <a:off x="3449195" y="292707"/>
            <a:ext cx="6382818" cy="8681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689928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CA232325-2F30-826A-0F33-B3038ABB7C4A}"/>
              </a:ext>
            </a:extLst>
          </p:cNvPr>
          <p:cNvSpPr txBox="1"/>
          <p:nvPr/>
        </p:nvSpPr>
        <p:spPr>
          <a:xfrm>
            <a:off x="490980" y="1037590"/>
            <a:ext cx="8924039" cy="19183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校正新增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USB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Log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檔案不覆蓋功能。</a:t>
            </a:r>
            <a:endParaRPr lang="en-US" altLang="zh-TW" sz="16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</a:pP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新增驗證存入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USB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功能。</a:t>
            </a:r>
            <a:endParaRPr lang="en-US" altLang="zh-TW" sz="16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en-US" altLang="zh-TW" sz="1400" dirty="0" err="1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FatFs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檔名限制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(8.3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格式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、檔名預設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ALC_xxxx.txt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en-US" altLang="zh-TW" sz="1400" dirty="0" err="1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xxxx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為數字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0~9999</a:t>
            </a:r>
          </a:p>
          <a:p>
            <a:pPr lvl="1">
              <a:lnSpc>
                <a:spcPts val="3000"/>
              </a:lnSpc>
            </a:pP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校正與驗證的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log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檔案分開。</a:t>
            </a: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A79EBBD3-3A4E-2A98-A0C4-1809CB46644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5635"/>
          <a:stretch/>
        </p:blipFill>
        <p:spPr>
          <a:xfrm>
            <a:off x="5701460" y="2974453"/>
            <a:ext cx="3812711" cy="1344159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72611B8E-FD91-0703-7062-29B904BD586F}"/>
              </a:ext>
            </a:extLst>
          </p:cNvPr>
          <p:cNvSpPr/>
          <p:nvPr/>
        </p:nvSpPr>
        <p:spPr>
          <a:xfrm flipH="1">
            <a:off x="5701459" y="4006602"/>
            <a:ext cx="2384920" cy="33636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CD266C4F-3701-74F5-CABF-6BB2376A81E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269" b="43825"/>
          <a:stretch/>
        </p:blipFill>
        <p:spPr>
          <a:xfrm>
            <a:off x="5701459" y="4527411"/>
            <a:ext cx="3812712" cy="1236098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6871088D-8155-34B7-D2E1-ABBC8679D262}"/>
              </a:ext>
            </a:extLst>
          </p:cNvPr>
          <p:cNvSpPr/>
          <p:nvPr/>
        </p:nvSpPr>
        <p:spPr>
          <a:xfrm flipH="1">
            <a:off x="5827922" y="5473567"/>
            <a:ext cx="2093203" cy="28994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pic>
        <p:nvPicPr>
          <p:cNvPr id="18" name="圖片 17">
            <a:extLst>
              <a:ext uri="{FF2B5EF4-FFF2-40B4-BE49-F238E27FC236}">
                <a16:creationId xmlns:a16="http://schemas.microsoft.com/office/drawing/2014/main" id="{AE7ADC8A-9911-6A45-CC26-EFE588CDD8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2371" y="3109427"/>
            <a:ext cx="5110651" cy="2835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67837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CA232325-2F30-826A-0F33-B3038ABB7C4A}"/>
              </a:ext>
            </a:extLst>
          </p:cNvPr>
          <p:cNvSpPr txBox="1"/>
          <p:nvPr/>
        </p:nvSpPr>
        <p:spPr>
          <a:xfrm>
            <a:off x="490980" y="1037590"/>
            <a:ext cx="8924039" cy="19183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測試面板規格驅動之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LUT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生成。</a:t>
            </a:r>
            <a:endParaRPr lang="en-US" altLang="zh-TW" sz="16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目前測試先把</a:t>
            </a:r>
            <a:r>
              <a:rPr lang="en-US" altLang="zh-TW" sz="1400" dirty="0" err="1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total_entries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=1024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，註解燒入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AD Board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MARS-922 (4K 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面板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：測試 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1024 entries / 2048 Bytes 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生成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LUT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16x128 LUT</a:t>
            </a:r>
          </a:p>
          <a:p>
            <a:pPr lvl="1">
              <a:lnSpc>
                <a:spcPts val="3000"/>
              </a:lnSpc>
            </a:pP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9700 (</a:t>
            </a:r>
            <a:r>
              <a:rPr lang="en-US" altLang="zh-TW" sz="1400" dirty="0" err="1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FullHD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面板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 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256 entries / 512 Bytes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16x32 LUT</a:t>
            </a:r>
          </a:p>
          <a:p>
            <a:pPr lvl="1">
              <a:lnSpc>
                <a:spcPts val="3000"/>
              </a:lnSpc>
            </a:pP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475063BE-A5BE-F761-0E94-CDBEEFA0AA1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6404"/>
          <a:stretch/>
        </p:blipFill>
        <p:spPr>
          <a:xfrm>
            <a:off x="4304991" y="4415495"/>
            <a:ext cx="5487166" cy="2054618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2F924022-5E28-5A5D-00F0-AA3E5E3263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511" y="5152862"/>
            <a:ext cx="3572374" cy="1114581"/>
          </a:xfrm>
          <a:prstGeom prst="rect">
            <a:avLst/>
          </a:prstGeom>
        </p:spPr>
      </p:pic>
      <p:pic>
        <p:nvPicPr>
          <p:cNvPr id="17" name="圖片 16">
            <a:extLst>
              <a:ext uri="{FF2B5EF4-FFF2-40B4-BE49-F238E27FC236}">
                <a16:creationId xmlns:a16="http://schemas.microsoft.com/office/drawing/2014/main" id="{3E739444-5385-A90F-7A35-AEA75FB918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843" y="3570383"/>
            <a:ext cx="3809710" cy="845112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72611B8E-FD91-0703-7062-29B904BD586F}"/>
              </a:ext>
            </a:extLst>
          </p:cNvPr>
          <p:cNvSpPr/>
          <p:nvPr/>
        </p:nvSpPr>
        <p:spPr>
          <a:xfrm flipH="1">
            <a:off x="0" y="3840938"/>
            <a:ext cx="4307595" cy="57632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871088D-8155-34B7-D2E1-ABBC8679D262}"/>
              </a:ext>
            </a:extLst>
          </p:cNvPr>
          <p:cNvSpPr/>
          <p:nvPr/>
        </p:nvSpPr>
        <p:spPr>
          <a:xfrm flipH="1">
            <a:off x="4304991" y="5152862"/>
            <a:ext cx="3973079" cy="28994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776208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BC418-93FB-B85E-3E6C-30CE8CC22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C5B78B-4B53-60CF-F0D2-7AB0EB61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下次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A0E973E-B5E1-BA62-48A3-DFE218619D9F}"/>
              </a:ext>
            </a:extLst>
          </p:cNvPr>
          <p:cNvSpPr txBox="1"/>
          <p:nvPr/>
        </p:nvSpPr>
        <p:spPr>
          <a:xfrm>
            <a:off x="520699" y="1369489"/>
            <a:ext cx="7669813" cy="814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-406400">
              <a:lnSpc>
                <a:spcPts val="3000"/>
              </a:lnSpc>
              <a:spcBef>
                <a:spcPts val="560"/>
              </a:spcBef>
              <a:buClr>
                <a:schemeClr val="accent2"/>
              </a:buClr>
              <a:buSzPts val="2800"/>
              <a:buFont typeface="Noto Sans Symbols"/>
              <a:buChar char="❖"/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根據第三期計畫書中內容進行開發，以下分別為階段一目標和當前開發進度及優先序。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4C713A4-B17F-52DB-4D68-9947ADDEA8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1557398"/>
              </p:ext>
            </p:extLst>
          </p:nvPr>
        </p:nvGraphicFramePr>
        <p:xfrm>
          <a:off x="570104" y="2311400"/>
          <a:ext cx="4903596" cy="23749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2917">
                  <a:extLst>
                    <a:ext uri="{9D8B030D-6E8A-4147-A177-3AD203B41FA5}">
                      <a16:colId xmlns:a16="http://schemas.microsoft.com/office/drawing/2014/main" val="1192615841"/>
                    </a:ext>
                  </a:extLst>
                </a:gridCol>
                <a:gridCol w="1572565">
                  <a:extLst>
                    <a:ext uri="{9D8B030D-6E8A-4147-A177-3AD203B41FA5}">
                      <a16:colId xmlns:a16="http://schemas.microsoft.com/office/drawing/2014/main" val="1364961183"/>
                    </a:ext>
                  </a:extLst>
                </a:gridCol>
                <a:gridCol w="1758114">
                  <a:extLst>
                    <a:ext uri="{9D8B030D-6E8A-4147-A177-3AD203B41FA5}">
                      <a16:colId xmlns:a16="http://schemas.microsoft.com/office/drawing/2014/main" val="2476587428"/>
                    </a:ext>
                  </a:extLst>
                </a:gridCol>
              </a:tblGrid>
              <a:tr h="39548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時間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目標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900139"/>
                  </a:ext>
                </a:extLst>
              </a:tr>
              <a:tr h="1979433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3 month</a:t>
                      </a:r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Gamma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調校功能</a:t>
                      </a:r>
                      <a:endParaRPr lang="zh-TW" alt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DICOM GSDF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調校功能</a:t>
                      </a:r>
                      <a:endParaRPr lang="en-US" altLang="zh-TW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zh-TW" altLang="en-US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產生</a:t>
                      </a:r>
                      <a:r>
                        <a:rPr lang="en-US" altLang="zh-TW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txt</a:t>
                      </a:r>
                      <a:r>
                        <a:rPr lang="zh-TW" altLang="en-US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檔案報告至</a:t>
                      </a:r>
                      <a:r>
                        <a:rPr lang="en-US" altLang="zh-TW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USB2.0</a:t>
                      </a:r>
                      <a:r>
                        <a:rPr lang="zh-TW" altLang="en-US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隨身碟裝置</a:t>
                      </a:r>
                      <a:endParaRPr lang="zh-TW" altLang="zh-TW" sz="1400" b="0" kern="1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4</a:t>
                      </a: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期中報告</a:t>
                      </a:r>
                      <a:endParaRPr lang="zh-TW" altLang="en-US" sz="1400" b="0" i="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17780" marR="17780" marT="0" marB="0"/>
                </a:tc>
                <a:extLst>
                  <a:ext uri="{0D108BD9-81ED-4DB2-BD59-A6C34878D82A}">
                    <a16:rowId xmlns:a16="http://schemas.microsoft.com/office/drawing/2014/main" val="2847363105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ABE2C05B-3128-C4B4-FC74-79C315F3D6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6939589"/>
              </p:ext>
            </p:extLst>
          </p:nvPr>
        </p:nvGraphicFramePr>
        <p:xfrm>
          <a:off x="5604934" y="2353858"/>
          <a:ext cx="4022658" cy="30832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329">
                  <a:extLst>
                    <a:ext uri="{9D8B030D-6E8A-4147-A177-3AD203B41FA5}">
                      <a16:colId xmlns:a16="http://schemas.microsoft.com/office/drawing/2014/main" val="761389866"/>
                    </a:ext>
                  </a:extLst>
                </a:gridCol>
                <a:gridCol w="2011329">
                  <a:extLst>
                    <a:ext uri="{9D8B030D-6E8A-4147-A177-3AD203B41FA5}">
                      <a16:colId xmlns:a16="http://schemas.microsoft.com/office/drawing/2014/main" val="1643138419"/>
                    </a:ext>
                  </a:extLst>
                </a:gridCol>
              </a:tblGrid>
              <a:tr h="459704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目標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進度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917929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Gamma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調校功能</a:t>
                      </a:r>
                      <a:endParaRPr lang="zh-TW" alt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902268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DICOM GSDF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調校功能</a:t>
                      </a:r>
                      <a:endParaRPr lang="en-US" altLang="zh-TW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5210310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zh-TW" altLang="en-US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產生</a:t>
                      </a:r>
                      <a:r>
                        <a:rPr lang="en-US" altLang="zh-TW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txt</a:t>
                      </a:r>
                      <a:r>
                        <a:rPr lang="zh-TW" altLang="en-US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檔案報告至</a:t>
                      </a:r>
                      <a:r>
                        <a:rPr lang="en-US" altLang="zh-TW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USB2.0</a:t>
                      </a:r>
                      <a:r>
                        <a:rPr lang="zh-TW" altLang="en-US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隨身碟裝置</a:t>
                      </a:r>
                      <a:endParaRPr lang="zh-TW" altLang="zh-TW" sz="1400" b="0" kern="1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0" lvl="0" indent="0" algn="ctr">
                        <a:buFont typeface="+mj-lt"/>
                        <a:buNone/>
                      </a:pPr>
                      <a:endParaRPr lang="en-US" altLang="zh-TW" sz="1400" b="0" i="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4747742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4</a:t>
                      </a: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期中報告</a:t>
                      </a:r>
                      <a:endParaRPr lang="zh-TW" altLang="en-US" sz="1400" b="0" i="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  <a:p>
                      <a:pPr marL="0" lvl="0" indent="0" algn="ctr">
                        <a:buFont typeface="+mj-lt"/>
                        <a:buNone/>
                      </a:pPr>
                      <a:endParaRPr lang="en-US" altLang="zh-TW" sz="1400" b="0" i="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6247268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ED75B16B-2D9B-C71E-BDE4-30C741E9E628}"/>
              </a:ext>
            </a:extLst>
          </p:cNvPr>
          <p:cNvSpPr txBox="1"/>
          <p:nvPr/>
        </p:nvSpPr>
        <p:spPr>
          <a:xfrm>
            <a:off x="8635013" y="1541843"/>
            <a:ext cx="952505" cy="7386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完成</a:t>
            </a:r>
            <a:b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△: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未進行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進行中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2ABD0C2-0327-4104-B1D8-8BFBAFB39656}"/>
              </a:ext>
            </a:extLst>
          </p:cNvPr>
          <p:cNvSpPr/>
          <p:nvPr/>
        </p:nvSpPr>
        <p:spPr>
          <a:xfrm>
            <a:off x="5604934" y="2847301"/>
            <a:ext cx="4022658" cy="26631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213873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BC418-93FB-B85E-3E6C-30CE8CC22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C5B78B-4B53-60CF-F0D2-7AB0EB61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JS1500 &amp; AI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Perf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A0E973E-B5E1-BA62-48A3-DFE218619D9F}"/>
              </a:ext>
            </a:extLst>
          </p:cNvPr>
          <p:cNvSpPr txBox="1"/>
          <p:nvPr/>
        </p:nvSpPr>
        <p:spPr>
          <a:xfrm>
            <a:off x="520699" y="1369489"/>
            <a:ext cx="7669813" cy="814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-406400">
              <a:lnSpc>
                <a:spcPts val="3000"/>
              </a:lnSpc>
              <a:spcBef>
                <a:spcPts val="560"/>
              </a:spcBef>
              <a:buClr>
                <a:schemeClr val="accent2"/>
              </a:buClr>
              <a:buSzPts val="2800"/>
              <a:buFont typeface="Noto Sans Symbols"/>
              <a:buChar char="❖"/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根據計畫書中階段一內容進行開發，以下分別為階段一目標和當前開發進度及優先序。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4C713A4-B17F-52DB-4D68-9947ADDEA849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570104" y="2311398"/>
          <a:ext cx="4903596" cy="38999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2796">
                  <a:extLst>
                    <a:ext uri="{9D8B030D-6E8A-4147-A177-3AD203B41FA5}">
                      <a16:colId xmlns:a16="http://schemas.microsoft.com/office/drawing/2014/main" val="1192615841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1364961183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2476587428"/>
                    </a:ext>
                  </a:extLst>
                </a:gridCol>
              </a:tblGrid>
              <a:tr h="318045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時間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目標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900139"/>
                  </a:ext>
                </a:extLst>
              </a:tr>
              <a:tr h="3581894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5 month</a:t>
                      </a:r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BSP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Storage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USB function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Wi-Fi 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與</a:t>
                      </a: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Bluetooth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Ethernet 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QSFP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Audio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TPM2.0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Front panel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RTC function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Capture card 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Membrane Key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/>
                </a:tc>
                <a:extLst>
                  <a:ext uri="{0D108BD9-81ED-4DB2-BD59-A6C34878D82A}">
                    <a16:rowId xmlns:a16="http://schemas.microsoft.com/office/drawing/2014/main" val="2847363105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ED75B16B-2D9B-C71E-BDE4-30C741E9E628}"/>
              </a:ext>
            </a:extLst>
          </p:cNvPr>
          <p:cNvSpPr txBox="1"/>
          <p:nvPr/>
        </p:nvSpPr>
        <p:spPr>
          <a:xfrm>
            <a:off x="8635013" y="1541843"/>
            <a:ext cx="952505" cy="7386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完成</a:t>
            </a:r>
            <a:b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△: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未進行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進行中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375FFB9C-BD2B-41AE-B1FE-7AF521DB6B64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5564860" y="2314096"/>
          <a:ext cx="4022658" cy="38972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329">
                  <a:extLst>
                    <a:ext uri="{9D8B030D-6E8A-4147-A177-3AD203B41FA5}">
                      <a16:colId xmlns:a16="http://schemas.microsoft.com/office/drawing/2014/main" val="761389866"/>
                    </a:ext>
                  </a:extLst>
                </a:gridCol>
                <a:gridCol w="2011329">
                  <a:extLst>
                    <a:ext uri="{9D8B030D-6E8A-4147-A177-3AD203B41FA5}">
                      <a16:colId xmlns:a16="http://schemas.microsoft.com/office/drawing/2014/main" val="1643138419"/>
                    </a:ext>
                  </a:extLst>
                </a:gridCol>
              </a:tblGrid>
              <a:tr h="331582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目標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進度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917929"/>
                  </a:ext>
                </a:extLst>
              </a:tr>
              <a:tr h="66424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BSP</a:t>
                      </a:r>
                      <a:r>
                        <a:rPr lang="zh-TW" alt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建立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902268"/>
                  </a:ext>
                </a:extLst>
              </a:tr>
              <a:tr h="6642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Storage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5210310"/>
                  </a:ext>
                </a:extLst>
              </a:tr>
              <a:tr h="6642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USB function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4747742"/>
                  </a:ext>
                </a:extLst>
              </a:tr>
              <a:tr h="57993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Wi-Fi 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與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Bluetooth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6247268"/>
                  </a:ext>
                </a:extLst>
              </a:tr>
              <a:tr h="51924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Ethernet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3138769"/>
                  </a:ext>
                </a:extLst>
              </a:tr>
              <a:tr h="473733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QSFP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25309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26943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BC418-93FB-B85E-3E6C-30CE8CC22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C5B78B-4B53-60CF-F0D2-7AB0EB61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JS1500 &amp; AI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Perf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A0E973E-B5E1-BA62-48A3-DFE218619D9F}"/>
              </a:ext>
            </a:extLst>
          </p:cNvPr>
          <p:cNvSpPr txBox="1"/>
          <p:nvPr/>
        </p:nvSpPr>
        <p:spPr>
          <a:xfrm>
            <a:off x="520699" y="1369489"/>
            <a:ext cx="7669813" cy="814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-406400">
              <a:lnSpc>
                <a:spcPts val="3000"/>
              </a:lnSpc>
              <a:spcBef>
                <a:spcPts val="560"/>
              </a:spcBef>
              <a:buClr>
                <a:schemeClr val="accent2"/>
              </a:buClr>
              <a:buSzPts val="2800"/>
              <a:buFont typeface="Noto Sans Symbols"/>
              <a:buChar char="❖"/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根據計畫書中階段一內容進行開發，以下分別為階段一目標和當前開發進度及優先序。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4C713A4-B17F-52DB-4D68-9947ADDEA849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570104" y="2311398"/>
          <a:ext cx="4903596" cy="38999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2796">
                  <a:extLst>
                    <a:ext uri="{9D8B030D-6E8A-4147-A177-3AD203B41FA5}">
                      <a16:colId xmlns:a16="http://schemas.microsoft.com/office/drawing/2014/main" val="1192615841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1364961183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2476587428"/>
                    </a:ext>
                  </a:extLst>
                </a:gridCol>
              </a:tblGrid>
              <a:tr h="318045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時間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目標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900139"/>
                  </a:ext>
                </a:extLst>
              </a:tr>
              <a:tr h="3581894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5 month</a:t>
                      </a:r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BSP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Storage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USB function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Wi-Fi 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與</a:t>
                      </a: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Bluetooth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Ethernet 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QSFP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Audio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TPM2.0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Front panel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RTC function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Capture card 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Membrane Key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/>
                </a:tc>
                <a:extLst>
                  <a:ext uri="{0D108BD9-81ED-4DB2-BD59-A6C34878D82A}">
                    <a16:rowId xmlns:a16="http://schemas.microsoft.com/office/drawing/2014/main" val="2847363105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ED75B16B-2D9B-C71E-BDE4-30C741E9E628}"/>
              </a:ext>
            </a:extLst>
          </p:cNvPr>
          <p:cNvSpPr txBox="1"/>
          <p:nvPr/>
        </p:nvSpPr>
        <p:spPr>
          <a:xfrm>
            <a:off x="8635013" y="1541843"/>
            <a:ext cx="952505" cy="7386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完成</a:t>
            </a:r>
            <a:b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△: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未進行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進行中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375FFB9C-BD2B-41AE-B1FE-7AF521DB6B64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5564860" y="2314096"/>
          <a:ext cx="4022658" cy="39000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329">
                  <a:extLst>
                    <a:ext uri="{9D8B030D-6E8A-4147-A177-3AD203B41FA5}">
                      <a16:colId xmlns:a16="http://schemas.microsoft.com/office/drawing/2014/main" val="761389866"/>
                    </a:ext>
                  </a:extLst>
                </a:gridCol>
                <a:gridCol w="2011329">
                  <a:extLst>
                    <a:ext uri="{9D8B030D-6E8A-4147-A177-3AD203B41FA5}">
                      <a16:colId xmlns:a16="http://schemas.microsoft.com/office/drawing/2014/main" val="1643138419"/>
                    </a:ext>
                  </a:extLst>
                </a:gridCol>
              </a:tblGrid>
              <a:tr h="37120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目標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進度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917929"/>
                  </a:ext>
                </a:extLst>
              </a:tr>
              <a:tr h="684929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50000"/>
                        </a:lnSpc>
                        <a:buFont typeface="+mj-lt"/>
                        <a:buNone/>
                      </a:pPr>
                      <a:r>
                        <a:rPr lang="en-US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Audio</a:t>
                      </a:r>
                      <a:endParaRPr lang="zh-TW" altLang="en-US" sz="1400" b="0" i="0" u="none" strike="noStrike" cap="none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902268"/>
                  </a:ext>
                </a:extLst>
              </a:tr>
              <a:tr h="6849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TPM2.0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5210310"/>
                  </a:ext>
                </a:extLst>
              </a:tr>
              <a:tr h="53429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Front panel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  <a:b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</a:b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待</a:t>
                      </a: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JP7.2</a:t>
                      </a:r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修正熱插拔</a:t>
                      </a: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4747742"/>
                  </a:ext>
                </a:extLst>
              </a:tr>
              <a:tr h="59799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RTC function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6247268"/>
                  </a:ext>
                </a:extLst>
              </a:tr>
              <a:tr h="535414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50000"/>
                        </a:lnSpc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Capture card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3138769"/>
                  </a:ext>
                </a:extLst>
              </a:tr>
              <a:tr h="488482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50000"/>
                        </a:lnSpc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Membrane Key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25309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22218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BC418-93FB-B85E-3E6C-30CE8CC22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C5B78B-4B53-60CF-F0D2-7AB0EB61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JS1500 &amp; AI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Perf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A0E973E-B5E1-BA62-48A3-DFE218619D9F}"/>
              </a:ext>
            </a:extLst>
          </p:cNvPr>
          <p:cNvSpPr txBox="1"/>
          <p:nvPr/>
        </p:nvSpPr>
        <p:spPr>
          <a:xfrm>
            <a:off x="520699" y="1369489"/>
            <a:ext cx="7669813" cy="814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-406400">
              <a:lnSpc>
                <a:spcPts val="3000"/>
              </a:lnSpc>
              <a:spcBef>
                <a:spcPts val="560"/>
              </a:spcBef>
              <a:buClr>
                <a:schemeClr val="accent2"/>
              </a:buClr>
              <a:buSzPts val="2800"/>
              <a:buFont typeface="Noto Sans Symbols"/>
              <a:buChar char="❖"/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根據計畫書中階段二內容進行開發，以下分別為階段二目標和當前開發進度及優先序。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4C713A4-B17F-52DB-4D68-9947ADDEA849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570104" y="2311400"/>
          <a:ext cx="4903596" cy="39000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2796">
                  <a:extLst>
                    <a:ext uri="{9D8B030D-6E8A-4147-A177-3AD203B41FA5}">
                      <a16:colId xmlns:a16="http://schemas.microsoft.com/office/drawing/2014/main" val="1192615841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1364961183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2476587428"/>
                    </a:ext>
                  </a:extLst>
                </a:gridCol>
              </a:tblGrid>
              <a:tr h="328191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時間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目標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900139"/>
                  </a:ext>
                </a:extLst>
              </a:tr>
              <a:tr h="3571861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4 month</a:t>
                      </a:r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 algn="l">
                        <a:buFont typeface="+mj-lt"/>
                        <a:buAutoNum type="arabicPeriod"/>
                      </a:pP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模型效能資料蒐集</a:t>
                      </a:r>
                    </a:p>
                    <a:p>
                      <a:pPr marL="342900" lvl="0" indent="-342900" algn="l">
                        <a:buFont typeface="+mj-lt"/>
                        <a:buAutoNum type="arabicPeriod"/>
                      </a:pP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模型效能最佳化</a:t>
                      </a:r>
                    </a:p>
                    <a:p>
                      <a:pPr marL="342900" lvl="0" indent="-342900" algn="l">
                        <a:buFont typeface="+mj-lt"/>
                        <a:buAutoNum type="arabicPeriod"/>
                      </a:pP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模型效能改善</a:t>
                      </a:r>
                    </a:p>
                    <a:p>
                      <a:pPr marL="342900" lvl="0" indent="-342900" algn="l">
                        <a:buFont typeface="+mj-lt"/>
                        <a:buAutoNum type="arabicPeriod"/>
                      </a:pP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記錄所有檢測結果</a:t>
                      </a:r>
                    </a:p>
                  </a:txBody>
                  <a:tcPr marL="17780" marR="17780" marT="0" marB="0"/>
                </a:tc>
                <a:extLst>
                  <a:ext uri="{0D108BD9-81ED-4DB2-BD59-A6C34878D82A}">
                    <a16:rowId xmlns:a16="http://schemas.microsoft.com/office/drawing/2014/main" val="2847363105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ABE2C05B-3128-C4B4-FC74-79C315F3D605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5604934" y="2311400"/>
          <a:ext cx="4022658" cy="39000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329">
                  <a:extLst>
                    <a:ext uri="{9D8B030D-6E8A-4147-A177-3AD203B41FA5}">
                      <a16:colId xmlns:a16="http://schemas.microsoft.com/office/drawing/2014/main" val="761389866"/>
                    </a:ext>
                  </a:extLst>
                </a:gridCol>
                <a:gridCol w="2011329">
                  <a:extLst>
                    <a:ext uri="{9D8B030D-6E8A-4147-A177-3AD203B41FA5}">
                      <a16:colId xmlns:a16="http://schemas.microsoft.com/office/drawing/2014/main" val="1643138419"/>
                    </a:ext>
                  </a:extLst>
                </a:gridCol>
              </a:tblGrid>
              <a:tr h="367529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目標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進度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917929"/>
                  </a:ext>
                </a:extLst>
              </a:tr>
              <a:tr h="883131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模型效能資料蒐集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902268"/>
                  </a:ext>
                </a:extLst>
              </a:tr>
              <a:tr h="883131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模型效能最佳化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5210310"/>
                  </a:ext>
                </a:extLst>
              </a:tr>
              <a:tr h="883131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模型效能改善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4747742"/>
                  </a:ext>
                </a:extLst>
              </a:tr>
              <a:tr h="883131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記錄所有檢測結果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6247268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ED75B16B-2D9B-C71E-BDE4-30C741E9E628}"/>
              </a:ext>
            </a:extLst>
          </p:cNvPr>
          <p:cNvSpPr txBox="1"/>
          <p:nvPr/>
        </p:nvSpPr>
        <p:spPr>
          <a:xfrm>
            <a:off x="8635013" y="1541843"/>
            <a:ext cx="952505" cy="7386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完成</a:t>
            </a:r>
            <a:b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△: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未進行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進行中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15858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字版面配置區 6">
            <a:extLst>
              <a:ext uri="{FF2B5EF4-FFF2-40B4-BE49-F238E27FC236}">
                <a16:creationId xmlns:a16="http://schemas.microsoft.com/office/drawing/2014/main" id="{15E903C2-D7A2-E707-AA22-A5BFEBFCEF2F}"/>
              </a:ext>
            </a:extLst>
          </p:cNvPr>
          <p:cNvSpPr txBox="1"/>
          <p:nvPr/>
        </p:nvSpPr>
        <p:spPr>
          <a:xfrm>
            <a:off x="297457" y="1377878"/>
            <a:ext cx="9311086" cy="5390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順利讓對應選項轉圈圈顯示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Processing</a:t>
            </a:r>
          </a:p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048602" name="標題 6"/>
          <p:cNvSpPr>
            <a:spLocks noGrp="1"/>
          </p:cNvSpPr>
          <p:nvPr>
            <p:ph type="title"/>
          </p:nvPr>
        </p:nvSpPr>
        <p:spPr>
          <a:xfrm>
            <a:off x="684477" y="719049"/>
            <a:ext cx="7923944" cy="533400"/>
          </a:xfrm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上次進度：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Membrane Key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2" name="Screencast">
            <a:hlinkClick r:id="" action="ppaction://media"/>
            <a:extLst>
              <a:ext uri="{FF2B5EF4-FFF2-40B4-BE49-F238E27FC236}">
                <a16:creationId xmlns:a16="http://schemas.microsoft.com/office/drawing/2014/main" id="{5B97E370-4A0B-4EAC-81E3-02D9F7E5037F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end="17934.3615"/>
                </p14:media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358958" y="1717040"/>
            <a:ext cx="3373886" cy="4541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3014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字版面配置區 6">
            <a:extLst>
              <a:ext uri="{FF2B5EF4-FFF2-40B4-BE49-F238E27FC236}">
                <a16:creationId xmlns:a16="http://schemas.microsoft.com/office/drawing/2014/main" id="{15E903C2-D7A2-E707-AA22-A5BFEBFCEF2F}"/>
              </a:ext>
            </a:extLst>
          </p:cNvPr>
          <p:cNvSpPr txBox="1"/>
          <p:nvPr/>
        </p:nvSpPr>
        <p:spPr>
          <a:xfrm>
            <a:off x="297457" y="1377878"/>
            <a:ext cx="9311086" cy="5390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在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Thor devkit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上重新蒐集數據，使用</a:t>
            </a:r>
            <a:r>
              <a:rPr lang="en-US" altLang="zh-TW" sz="14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vllm+vllm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bench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做性能數據蒐集，跑通流程</a:t>
            </a:r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048602" name="標題 6"/>
          <p:cNvSpPr>
            <a:spLocks noGrp="1"/>
          </p:cNvSpPr>
          <p:nvPr>
            <p:ph type="title"/>
          </p:nvPr>
        </p:nvSpPr>
        <p:spPr>
          <a:xfrm>
            <a:off x="684477" y="719049"/>
            <a:ext cx="7923944" cy="533400"/>
          </a:xfrm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本次進度：模型效能資料蒐集</a:t>
            </a:r>
          </a:p>
        </p:txBody>
      </p:sp>
      <p:graphicFrame>
        <p:nvGraphicFramePr>
          <p:cNvPr id="6" name="圖表 5">
            <a:extLst>
              <a:ext uri="{FF2B5EF4-FFF2-40B4-BE49-F238E27FC236}">
                <a16:creationId xmlns:a16="http://schemas.microsoft.com/office/drawing/2014/main" id="{9D28A263-F298-4DDB-80C0-C8F1349B01A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19813536"/>
              </p:ext>
            </p:extLst>
          </p:nvPr>
        </p:nvGraphicFramePr>
        <p:xfrm>
          <a:off x="1750918" y="2105953"/>
          <a:ext cx="6404163" cy="40329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0299426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字版面配置區 6">
            <a:extLst>
              <a:ext uri="{FF2B5EF4-FFF2-40B4-BE49-F238E27FC236}">
                <a16:creationId xmlns:a16="http://schemas.microsoft.com/office/drawing/2014/main" id="{15E903C2-D7A2-E707-AA22-A5BFEBFCEF2F}"/>
              </a:ext>
            </a:extLst>
          </p:cNvPr>
          <p:cNvSpPr txBox="1"/>
          <p:nvPr/>
        </p:nvSpPr>
        <p:spPr>
          <a:xfrm>
            <a:off x="297457" y="1377878"/>
            <a:ext cx="9311086" cy="5390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048602" name="標題 6"/>
          <p:cNvSpPr>
            <a:spLocks noGrp="1"/>
          </p:cNvSpPr>
          <p:nvPr>
            <p:ph type="title"/>
          </p:nvPr>
        </p:nvSpPr>
        <p:spPr>
          <a:xfrm>
            <a:off x="684477" y="719049"/>
            <a:ext cx="7923944" cy="533400"/>
          </a:xfrm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本次進度：</a:t>
            </a:r>
            <a:r>
              <a:rPr lang="en-US" altLang="zh-TW" dirty="0" err="1"/>
              <a:t>JetPack</a:t>
            </a:r>
            <a:r>
              <a:rPr lang="en-US" altLang="zh-TW" dirty="0"/>
              <a:t> SDK 7.2</a:t>
            </a:r>
            <a:r>
              <a:rPr lang="zh-TW" altLang="en-US" dirty="0"/>
              <a:t> </a:t>
            </a:r>
            <a:r>
              <a:rPr lang="en-US" altLang="zh-TW" dirty="0"/>
              <a:t>With Jetson Linux 39.2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1026" name="Picture 2" descr="https://developer-blogs.nvidia.com/wp-content/uploads/2026/06/robotics-jetpack-7-2-1024x576.jpg">
            <a:extLst>
              <a:ext uri="{FF2B5EF4-FFF2-40B4-BE49-F238E27FC236}">
                <a16:creationId xmlns:a16="http://schemas.microsoft.com/office/drawing/2014/main" id="{2875238A-EE98-499A-9C0F-807D5330D4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320" y="1377878"/>
            <a:ext cx="8849360" cy="4977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39565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BC418-93FB-B85E-3E6C-30CE8CC22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C5B78B-4B53-60CF-F0D2-7AB0EB61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下次進度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JS1500 &amp; AI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Perf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A0E973E-B5E1-BA62-48A3-DFE218619D9F}"/>
              </a:ext>
            </a:extLst>
          </p:cNvPr>
          <p:cNvSpPr txBox="1"/>
          <p:nvPr/>
        </p:nvSpPr>
        <p:spPr>
          <a:xfrm>
            <a:off x="520699" y="1369489"/>
            <a:ext cx="7669813" cy="814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-406400">
              <a:lnSpc>
                <a:spcPts val="3000"/>
              </a:lnSpc>
              <a:spcBef>
                <a:spcPts val="560"/>
              </a:spcBef>
              <a:buClr>
                <a:schemeClr val="accent2"/>
              </a:buClr>
              <a:buSzPts val="2800"/>
              <a:buFont typeface="Noto Sans Symbols"/>
              <a:buChar char="❖"/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根據計畫書中階段一內容進行開發，以下分別為階段一目標和當前開發進度及優先序。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4C713A4-B17F-52DB-4D68-9947ADDEA849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570104" y="2311398"/>
          <a:ext cx="4903596" cy="38999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2796">
                  <a:extLst>
                    <a:ext uri="{9D8B030D-6E8A-4147-A177-3AD203B41FA5}">
                      <a16:colId xmlns:a16="http://schemas.microsoft.com/office/drawing/2014/main" val="1192615841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1364961183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2476587428"/>
                    </a:ext>
                  </a:extLst>
                </a:gridCol>
              </a:tblGrid>
              <a:tr h="318045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時間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目標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900139"/>
                  </a:ext>
                </a:extLst>
              </a:tr>
              <a:tr h="3581894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5 month</a:t>
                      </a:r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BSP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Storage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USB function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Wi-Fi 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與</a:t>
                      </a: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Bluetooth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Ethernet 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QSFP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Audio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TPM2.0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Front panel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RTC function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Capture card 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Membrane Key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/>
                </a:tc>
                <a:extLst>
                  <a:ext uri="{0D108BD9-81ED-4DB2-BD59-A6C34878D82A}">
                    <a16:rowId xmlns:a16="http://schemas.microsoft.com/office/drawing/2014/main" val="2847363105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ED75B16B-2D9B-C71E-BDE4-30C741E9E628}"/>
              </a:ext>
            </a:extLst>
          </p:cNvPr>
          <p:cNvSpPr txBox="1"/>
          <p:nvPr/>
        </p:nvSpPr>
        <p:spPr>
          <a:xfrm>
            <a:off x="8635013" y="1541843"/>
            <a:ext cx="952505" cy="7386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完成</a:t>
            </a:r>
            <a:b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△: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未進行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進行中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375FFB9C-BD2B-41AE-B1FE-7AF521DB6B64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5564860" y="2314096"/>
          <a:ext cx="4022658" cy="38972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329">
                  <a:extLst>
                    <a:ext uri="{9D8B030D-6E8A-4147-A177-3AD203B41FA5}">
                      <a16:colId xmlns:a16="http://schemas.microsoft.com/office/drawing/2014/main" val="761389866"/>
                    </a:ext>
                  </a:extLst>
                </a:gridCol>
                <a:gridCol w="2011329">
                  <a:extLst>
                    <a:ext uri="{9D8B030D-6E8A-4147-A177-3AD203B41FA5}">
                      <a16:colId xmlns:a16="http://schemas.microsoft.com/office/drawing/2014/main" val="1643138419"/>
                    </a:ext>
                  </a:extLst>
                </a:gridCol>
              </a:tblGrid>
              <a:tr h="331582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目標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進度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917929"/>
                  </a:ext>
                </a:extLst>
              </a:tr>
              <a:tr h="66424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BSP</a:t>
                      </a:r>
                      <a:r>
                        <a:rPr lang="zh-TW" alt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建立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902268"/>
                  </a:ext>
                </a:extLst>
              </a:tr>
              <a:tr h="6642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Storage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5210310"/>
                  </a:ext>
                </a:extLst>
              </a:tr>
              <a:tr h="6642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USB function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4747742"/>
                  </a:ext>
                </a:extLst>
              </a:tr>
              <a:tr h="57993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Wi-Fi 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與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Bluetooth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6247268"/>
                  </a:ext>
                </a:extLst>
              </a:tr>
              <a:tr h="51924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Ethernet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3138769"/>
                  </a:ext>
                </a:extLst>
              </a:tr>
              <a:tr h="473733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QSFP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25309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3543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BC418-93FB-B85E-3E6C-30CE8CC22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C5B78B-4B53-60CF-F0D2-7AB0EB61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下次進度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JS1500 &amp; AI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Perf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A0E973E-B5E1-BA62-48A3-DFE218619D9F}"/>
              </a:ext>
            </a:extLst>
          </p:cNvPr>
          <p:cNvSpPr txBox="1"/>
          <p:nvPr/>
        </p:nvSpPr>
        <p:spPr>
          <a:xfrm>
            <a:off x="520699" y="1369489"/>
            <a:ext cx="7669813" cy="814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-406400">
              <a:lnSpc>
                <a:spcPts val="3000"/>
              </a:lnSpc>
              <a:spcBef>
                <a:spcPts val="560"/>
              </a:spcBef>
              <a:buClr>
                <a:schemeClr val="accent2"/>
              </a:buClr>
              <a:buSzPts val="2800"/>
              <a:buFont typeface="Noto Sans Symbols"/>
              <a:buChar char="❖"/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根據計畫書中階段一內容進行開發，以下分別為階段一目標和當前開發進度及優先序。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4C713A4-B17F-52DB-4D68-9947ADDEA849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570104" y="2311398"/>
          <a:ext cx="4903596" cy="38999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2796">
                  <a:extLst>
                    <a:ext uri="{9D8B030D-6E8A-4147-A177-3AD203B41FA5}">
                      <a16:colId xmlns:a16="http://schemas.microsoft.com/office/drawing/2014/main" val="1192615841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1364961183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2476587428"/>
                    </a:ext>
                  </a:extLst>
                </a:gridCol>
              </a:tblGrid>
              <a:tr h="318045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時間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目標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900139"/>
                  </a:ext>
                </a:extLst>
              </a:tr>
              <a:tr h="3581894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5 month</a:t>
                      </a:r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BSP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Storage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USB function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Wi-Fi 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與</a:t>
                      </a: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Bluetooth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Ethernet 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QSFP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Audio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TPM2.0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Front panel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RTC function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Capture card 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Membrane Key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/>
                </a:tc>
                <a:extLst>
                  <a:ext uri="{0D108BD9-81ED-4DB2-BD59-A6C34878D82A}">
                    <a16:rowId xmlns:a16="http://schemas.microsoft.com/office/drawing/2014/main" val="2847363105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ED75B16B-2D9B-C71E-BDE4-30C741E9E628}"/>
              </a:ext>
            </a:extLst>
          </p:cNvPr>
          <p:cNvSpPr txBox="1"/>
          <p:nvPr/>
        </p:nvSpPr>
        <p:spPr>
          <a:xfrm>
            <a:off x="8635013" y="1541843"/>
            <a:ext cx="952505" cy="7386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完成</a:t>
            </a:r>
            <a:b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△: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未進行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進行中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375FFB9C-BD2B-41AE-B1FE-7AF521DB6B64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5564860" y="2314096"/>
          <a:ext cx="4022658" cy="39000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329">
                  <a:extLst>
                    <a:ext uri="{9D8B030D-6E8A-4147-A177-3AD203B41FA5}">
                      <a16:colId xmlns:a16="http://schemas.microsoft.com/office/drawing/2014/main" val="761389866"/>
                    </a:ext>
                  </a:extLst>
                </a:gridCol>
                <a:gridCol w="2011329">
                  <a:extLst>
                    <a:ext uri="{9D8B030D-6E8A-4147-A177-3AD203B41FA5}">
                      <a16:colId xmlns:a16="http://schemas.microsoft.com/office/drawing/2014/main" val="1643138419"/>
                    </a:ext>
                  </a:extLst>
                </a:gridCol>
              </a:tblGrid>
              <a:tr h="37120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目標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進度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917929"/>
                  </a:ext>
                </a:extLst>
              </a:tr>
              <a:tr h="684929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50000"/>
                        </a:lnSpc>
                        <a:buFont typeface="+mj-lt"/>
                        <a:buNone/>
                      </a:pPr>
                      <a:r>
                        <a:rPr lang="en-US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Audio</a:t>
                      </a:r>
                      <a:endParaRPr lang="zh-TW" altLang="en-US" sz="1400" b="0" i="0" u="none" strike="noStrike" cap="none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902268"/>
                  </a:ext>
                </a:extLst>
              </a:tr>
              <a:tr h="6849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TPM2.0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5210310"/>
                  </a:ext>
                </a:extLst>
              </a:tr>
              <a:tr h="53429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Front panel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  <a:b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</a:b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待</a:t>
                      </a: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JP7.2</a:t>
                      </a:r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修正熱插拔</a:t>
                      </a: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4747742"/>
                  </a:ext>
                </a:extLst>
              </a:tr>
              <a:tr h="59799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RTC function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6247268"/>
                  </a:ext>
                </a:extLst>
              </a:tr>
              <a:tr h="535414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50000"/>
                        </a:lnSpc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Capture card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3138769"/>
                  </a:ext>
                </a:extLst>
              </a:tr>
              <a:tr h="488482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50000"/>
                        </a:lnSpc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Membrane Key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25309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52318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BC418-93FB-B85E-3E6C-30CE8CC22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C5B78B-4B53-60CF-F0D2-7AB0EB61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下次進度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JS1500 &amp; AI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Perf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A0E973E-B5E1-BA62-48A3-DFE218619D9F}"/>
              </a:ext>
            </a:extLst>
          </p:cNvPr>
          <p:cNvSpPr txBox="1"/>
          <p:nvPr/>
        </p:nvSpPr>
        <p:spPr>
          <a:xfrm>
            <a:off x="520699" y="1369489"/>
            <a:ext cx="7669813" cy="814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-406400">
              <a:lnSpc>
                <a:spcPts val="3000"/>
              </a:lnSpc>
              <a:spcBef>
                <a:spcPts val="560"/>
              </a:spcBef>
              <a:buClr>
                <a:schemeClr val="accent2"/>
              </a:buClr>
              <a:buSzPts val="2800"/>
              <a:buFont typeface="Noto Sans Symbols"/>
              <a:buChar char="❖"/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根據計畫書中階段二內容進行開發，以下分別為階段二目標和當前開發進度及優先序。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4C713A4-B17F-52DB-4D68-9947ADDEA8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9227078"/>
              </p:ext>
            </p:extLst>
          </p:nvPr>
        </p:nvGraphicFramePr>
        <p:xfrm>
          <a:off x="570104" y="2311400"/>
          <a:ext cx="4903596" cy="39000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2796">
                  <a:extLst>
                    <a:ext uri="{9D8B030D-6E8A-4147-A177-3AD203B41FA5}">
                      <a16:colId xmlns:a16="http://schemas.microsoft.com/office/drawing/2014/main" val="1192615841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1364961183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2476587428"/>
                    </a:ext>
                  </a:extLst>
                </a:gridCol>
              </a:tblGrid>
              <a:tr h="328191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時間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目標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900139"/>
                  </a:ext>
                </a:extLst>
              </a:tr>
              <a:tr h="3571861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4 month</a:t>
                      </a:r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 algn="l">
                        <a:buFont typeface="+mj-lt"/>
                        <a:buAutoNum type="arabicPeriod"/>
                      </a:pP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模型效能資料蒐集</a:t>
                      </a:r>
                    </a:p>
                    <a:p>
                      <a:pPr marL="342900" lvl="0" indent="-342900" algn="l">
                        <a:buFont typeface="+mj-lt"/>
                        <a:buAutoNum type="arabicPeriod"/>
                      </a:pP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模型效能最佳化</a:t>
                      </a:r>
                    </a:p>
                    <a:p>
                      <a:pPr marL="342900" lvl="0" indent="-342900" algn="l">
                        <a:buFont typeface="+mj-lt"/>
                        <a:buAutoNum type="arabicPeriod"/>
                      </a:pP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模型效能改善</a:t>
                      </a:r>
                    </a:p>
                    <a:p>
                      <a:pPr marL="342900" lvl="0" indent="-342900" algn="l">
                        <a:buFont typeface="+mj-lt"/>
                        <a:buAutoNum type="arabicPeriod"/>
                      </a:pP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記錄所有檢測結果</a:t>
                      </a:r>
                    </a:p>
                  </a:txBody>
                  <a:tcPr marL="17780" marR="17780" marT="0" marB="0"/>
                </a:tc>
                <a:extLst>
                  <a:ext uri="{0D108BD9-81ED-4DB2-BD59-A6C34878D82A}">
                    <a16:rowId xmlns:a16="http://schemas.microsoft.com/office/drawing/2014/main" val="2847363105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ABE2C05B-3128-C4B4-FC74-79C315F3D6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3940067"/>
              </p:ext>
            </p:extLst>
          </p:nvPr>
        </p:nvGraphicFramePr>
        <p:xfrm>
          <a:off x="5604934" y="2311400"/>
          <a:ext cx="4022658" cy="39000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329">
                  <a:extLst>
                    <a:ext uri="{9D8B030D-6E8A-4147-A177-3AD203B41FA5}">
                      <a16:colId xmlns:a16="http://schemas.microsoft.com/office/drawing/2014/main" val="761389866"/>
                    </a:ext>
                  </a:extLst>
                </a:gridCol>
                <a:gridCol w="2011329">
                  <a:extLst>
                    <a:ext uri="{9D8B030D-6E8A-4147-A177-3AD203B41FA5}">
                      <a16:colId xmlns:a16="http://schemas.microsoft.com/office/drawing/2014/main" val="1643138419"/>
                    </a:ext>
                  </a:extLst>
                </a:gridCol>
              </a:tblGrid>
              <a:tr h="367529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目標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進度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917929"/>
                  </a:ext>
                </a:extLst>
              </a:tr>
              <a:tr h="883131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模型效能資料蒐集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902268"/>
                  </a:ext>
                </a:extLst>
              </a:tr>
              <a:tr h="883131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模型效能最佳化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5210310"/>
                  </a:ext>
                </a:extLst>
              </a:tr>
              <a:tr h="883131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模型效能改善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4747742"/>
                  </a:ext>
                </a:extLst>
              </a:tr>
              <a:tr h="883131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記錄所有檢測結果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6247268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ED75B16B-2D9B-C71E-BDE4-30C741E9E628}"/>
              </a:ext>
            </a:extLst>
          </p:cNvPr>
          <p:cNvSpPr txBox="1"/>
          <p:nvPr/>
        </p:nvSpPr>
        <p:spPr>
          <a:xfrm>
            <a:off x="8635013" y="1541843"/>
            <a:ext cx="952505" cy="7386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完成</a:t>
            </a:r>
            <a:b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△: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未進行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進行中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83241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4" name="圖片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357746" y="3004771"/>
            <a:ext cx="5556738" cy="84845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2097165" name="Picture 2" descr="http://www.secretariat.ntust.edu.tw/ezfiles/20/1020/img/1688/09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64866" y="1628181"/>
            <a:ext cx="6260123" cy="1186962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2097166" name="圖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3650" y="4226628"/>
            <a:ext cx="4266522" cy="93056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plate">
  <a:themeElements>
    <a:clrScheme name="template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228165</TotalTime>
  <Words>1303</Words>
  <Application>Microsoft Office PowerPoint</Application>
  <PresentationFormat>A4 紙張 (210x297 公釐)</PresentationFormat>
  <Paragraphs>323</Paragraphs>
  <Slides>19</Slides>
  <Notes>19</Notes>
  <HiddenSlides>0</HiddenSlides>
  <MMClips>1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19</vt:i4>
      </vt:variant>
    </vt:vector>
  </HeadingPairs>
  <TitlesOfParts>
    <vt:vector size="26" baseType="lpstr">
      <vt:lpstr>Noto Sans Symbols</vt:lpstr>
      <vt:lpstr>新細明體</vt:lpstr>
      <vt:lpstr>標楷體</vt:lpstr>
      <vt:lpstr>Arial</vt:lpstr>
      <vt:lpstr>Calibri</vt:lpstr>
      <vt:lpstr>Times New Roman</vt:lpstr>
      <vt:lpstr>template</vt:lpstr>
      <vt:lpstr>Progress Report</vt:lpstr>
      <vt:lpstr>本次進度: Monitor</vt:lpstr>
      <vt:lpstr>上次進度: Monitor</vt:lpstr>
      <vt:lpstr>上次進度: Monitor</vt:lpstr>
      <vt:lpstr>上次進度: Monitor</vt:lpstr>
      <vt:lpstr>本次進度: Monitor</vt:lpstr>
      <vt:lpstr>本次進度: Monitor</vt:lpstr>
      <vt:lpstr>本次進度: Monitor</vt:lpstr>
      <vt:lpstr>下次進度: Monitor</vt:lpstr>
      <vt:lpstr>上次進度: JS1500 &amp; AI Perf</vt:lpstr>
      <vt:lpstr>上次進度: JS1500 &amp; AI Perf</vt:lpstr>
      <vt:lpstr>上次進度: JS1500 &amp; AI Perf</vt:lpstr>
      <vt:lpstr>上次進度：Membrane Key</vt:lpstr>
      <vt:lpstr>本次進度：模型效能資料蒐集</vt:lpstr>
      <vt:lpstr>本次進度：JetPack SDK 7.2 With Jetson Linux 39.2</vt:lpstr>
      <vt:lpstr>下次進度: JS1500 &amp; AI Perf</vt:lpstr>
      <vt:lpstr>下次進度: JS1500 &amp; AI Perf</vt:lpstr>
      <vt:lpstr>下次進度: JS1500 &amp; AI Perf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Embedded CMOS Image Sensor System Design and Implementation</dc:title>
  <dc:creator>mblin</dc:creator>
  <cp:lastModifiedBy>user</cp:lastModifiedBy>
  <cp:revision>2264</cp:revision>
  <dcterms:created xsi:type="dcterms:W3CDTF">2003-02-17T16:04:03Z</dcterms:created>
  <dcterms:modified xsi:type="dcterms:W3CDTF">2026-06-02T06:05:47Z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c323e086d3b141ca89c275423e00507f</vt:lpwstr>
  </property>
</Properties>
</file>