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9"/>
  </p:notesMasterIdLst>
  <p:sldIdLst>
    <p:sldId id="277" r:id="rId2"/>
    <p:sldId id="1936" r:id="rId3"/>
    <p:sldId id="1989" r:id="rId4"/>
    <p:sldId id="1784" r:id="rId5"/>
    <p:sldId id="1981" r:id="rId6"/>
    <p:sldId id="1982" r:id="rId7"/>
    <p:sldId id="1985" r:id="rId8"/>
    <p:sldId id="1986" r:id="rId9"/>
    <p:sldId id="1988" r:id="rId10"/>
    <p:sldId id="1990" r:id="rId11"/>
    <p:sldId id="1991" r:id="rId12"/>
    <p:sldId id="1992" r:id="rId13"/>
    <p:sldId id="1926" r:id="rId14"/>
    <p:sldId id="1932" r:id="rId15"/>
    <p:sldId id="1934" r:id="rId16"/>
    <p:sldId id="1933" r:id="rId17"/>
    <p:sldId id="286" r:id="rId18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  <p14:sldId id="1936"/>
            <p14:sldId id="1989"/>
            <p14:sldId id="1784"/>
          </p14:sldIdLst>
        </p14:section>
        <p14:section name="Monitor" id="{7925A652-D02A-4F07-B4BA-109FEF573EC6}">
          <p14:sldIdLst>
            <p14:sldId id="1981"/>
            <p14:sldId id="1982"/>
            <p14:sldId id="1985"/>
            <p14:sldId id="1986"/>
            <p14:sldId id="1988"/>
            <p14:sldId id="1990"/>
            <p14:sldId id="1991"/>
            <p14:sldId id="1992"/>
          </p14:sldIdLst>
        </p14:section>
        <p14:section name="JS1500" id="{F71E69A4-C86C-4DAC-B828-42C2D8800267}">
          <p14:sldIdLst>
            <p14:sldId id="1926"/>
            <p14:sldId id="1932"/>
            <p14:sldId id="1934"/>
            <p14:sldId id="1933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9900"/>
    <a:srgbClr val="00B050"/>
    <a:srgbClr val="0057C0"/>
    <a:srgbClr val="FFC000"/>
    <a:srgbClr val="FFFFFF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3" autoAdjust="0"/>
    <p:restoredTop sz="72606" autoAdjust="0"/>
  </p:normalViewPr>
  <p:slideViewPr>
    <p:cSldViewPr snapToGrid="0">
      <p:cViewPr varScale="1">
        <p:scale>
          <a:sx n="80" d="100"/>
          <a:sy n="80" d="100"/>
        </p:scale>
        <p:origin x="2220" y="9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296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87424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這次主要完成</a:t>
            </a:r>
            <a:r>
              <a:rPr lang="en-US" altLang="zh-TW" dirty="0"/>
              <a:t>PC Tool</a:t>
            </a:r>
            <a:r>
              <a:rPr lang="zh-TW" altLang="en-US" dirty="0"/>
              <a:t>到</a:t>
            </a:r>
            <a:r>
              <a:rPr lang="en-US" altLang="zh-TW" dirty="0"/>
              <a:t>MARS-922 Firmware</a:t>
            </a:r>
            <a:r>
              <a:rPr lang="zh-TW" altLang="en-US" dirty="0"/>
              <a:t>的</a:t>
            </a:r>
            <a:r>
              <a:rPr lang="en-US" altLang="zh-TW" dirty="0" err="1"/>
              <a:t>CompressedLUT</a:t>
            </a:r>
            <a:r>
              <a:rPr lang="zh-TW" altLang="en-US" dirty="0"/>
              <a:t>整體架構。</a:t>
            </a:r>
            <a:endParaRPr lang="en-US" altLang="zh-TW" dirty="0"/>
          </a:p>
          <a:p>
            <a:pPr marL="0" indent="0"/>
            <a:r>
              <a:rPr lang="en-US" altLang="zh-TW" dirty="0"/>
              <a:t>PC Tool</a:t>
            </a:r>
            <a:r>
              <a:rPr lang="zh-TW" altLang="en-US" dirty="0"/>
              <a:t>在校正完成後，先將原始</a:t>
            </a:r>
            <a:r>
              <a:rPr lang="en-US" altLang="zh-TW" dirty="0"/>
              <a:t>LUT</a:t>
            </a:r>
            <a:r>
              <a:rPr lang="zh-TW" altLang="en-US" dirty="0"/>
              <a:t>以論文方法壓縮並封裝成</a:t>
            </a:r>
            <a:r>
              <a:rPr lang="en-US" altLang="zh-TW" dirty="0"/>
              <a:t>CLT1</a:t>
            </a:r>
            <a:r>
              <a:rPr lang="zh-TW" altLang="en-US" dirty="0"/>
              <a:t>，再透過</a:t>
            </a:r>
            <a:r>
              <a:rPr lang="en-US" altLang="zh-TW" dirty="0"/>
              <a:t>DDC/CI</a:t>
            </a:r>
            <a:r>
              <a:rPr lang="zh-TW" altLang="en-US" dirty="0"/>
              <a:t>傳送至</a:t>
            </a:r>
            <a:r>
              <a:rPr lang="en-US" altLang="zh-TW" dirty="0"/>
              <a:t>Firmware</a:t>
            </a:r>
            <a:r>
              <a:rPr lang="zh-TW" altLang="en-US" dirty="0"/>
              <a:t>。</a:t>
            </a:r>
            <a:endParaRPr lang="en-US" altLang="zh-TW" dirty="0"/>
          </a:p>
          <a:p>
            <a:pPr marL="0" indent="0"/>
            <a:r>
              <a:rPr lang="en-US" altLang="zh-TW" dirty="0"/>
              <a:t>DDC2Bi.c</a:t>
            </a:r>
            <a:r>
              <a:rPr lang="zh-TW" altLang="en-US" dirty="0"/>
              <a:t>負責接收新增指令，</a:t>
            </a:r>
            <a:r>
              <a:rPr lang="en-US" altLang="zh-TW" dirty="0" err="1"/>
              <a:t>MStarCompressedLut.c</a:t>
            </a:r>
            <a:r>
              <a:rPr lang="zh-TW" altLang="en-US" dirty="0"/>
              <a:t>負責傳輸</a:t>
            </a:r>
            <a:r>
              <a:rPr lang="en-US" altLang="zh-TW" dirty="0"/>
              <a:t>Session</a:t>
            </a:r>
            <a:r>
              <a:rPr lang="zh-TW" altLang="en-US" dirty="0"/>
              <a:t>與封包暫存，最後由</a:t>
            </a:r>
            <a:r>
              <a:rPr lang="en-US" altLang="zh-TW" dirty="0" err="1"/>
              <a:t>CompressedLutDecoder.c</a:t>
            </a:r>
            <a:r>
              <a:rPr lang="zh-TW" altLang="en-US" dirty="0"/>
              <a:t>解析</a:t>
            </a:r>
            <a:r>
              <a:rPr lang="en-US" altLang="zh-TW" dirty="0"/>
              <a:t>CLT1</a:t>
            </a:r>
            <a:r>
              <a:rPr lang="zh-TW" altLang="en-US" dirty="0"/>
              <a:t>、驗證</a:t>
            </a:r>
            <a:r>
              <a:rPr lang="en-US" altLang="zh-TW" dirty="0"/>
              <a:t>CRC</a:t>
            </a:r>
            <a:r>
              <a:rPr lang="zh-TW" altLang="en-US" dirty="0"/>
              <a:t>並解壓縮。</a:t>
            </a:r>
            <a:endParaRPr lang="en-US" altLang="zh-TW" dirty="0"/>
          </a:p>
          <a:p>
            <a:pPr marL="0" indent="0"/>
            <a:r>
              <a:rPr lang="zh-TW" altLang="en-US" dirty="0"/>
              <a:t>只有</a:t>
            </a:r>
            <a:r>
              <a:rPr lang="en-US" altLang="zh-TW" dirty="0"/>
              <a:t>COMMIT</a:t>
            </a:r>
            <a:r>
              <a:rPr lang="zh-TW" altLang="en-US" dirty="0"/>
              <a:t>成功後，解壓出的資料才會寫入原本的</a:t>
            </a:r>
            <a:r>
              <a:rPr lang="en-US" altLang="zh-TW" dirty="0"/>
              <a:t>Gamma Table</a:t>
            </a:r>
            <a:r>
              <a:rPr lang="zh-TW" altLang="en-US" dirty="0"/>
              <a:t>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6814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在</a:t>
            </a:r>
            <a:r>
              <a:rPr lang="en-US" altLang="zh-TW" dirty="0"/>
              <a:t>DDC2Bi.c</a:t>
            </a:r>
            <a:r>
              <a:rPr lang="zh-TW" altLang="en-US" dirty="0"/>
              <a:t>中，我新增</a:t>
            </a:r>
            <a:r>
              <a:rPr lang="en-US" altLang="zh-TW" dirty="0" err="1"/>
              <a:t>ResolveClutTarget</a:t>
            </a:r>
            <a:r>
              <a:rPr lang="zh-TW" altLang="en-US" dirty="0"/>
              <a:t>函式，將</a:t>
            </a:r>
            <a:r>
              <a:rPr lang="en-US" altLang="zh-TW" dirty="0"/>
              <a:t>Gamma Mode</a:t>
            </a:r>
            <a:r>
              <a:rPr lang="zh-TW" altLang="en-US" dirty="0"/>
              <a:t>和色溫</a:t>
            </a:r>
            <a:r>
              <a:rPr lang="en-US" altLang="zh-TW" dirty="0"/>
              <a:t>Code</a:t>
            </a:r>
            <a:r>
              <a:rPr lang="zh-TW" altLang="en-US" dirty="0"/>
              <a:t>換算成對應的</a:t>
            </a:r>
            <a:r>
              <a:rPr lang="en-US" altLang="zh-TW" dirty="0"/>
              <a:t>Gamma Table</a:t>
            </a:r>
            <a:r>
              <a:rPr lang="zh-TW" altLang="en-US" dirty="0"/>
              <a:t>起始位址。</a:t>
            </a: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另外新增五個指令：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BEGIN</a:t>
            </a:r>
            <a:r>
              <a:rPr lang="zh-TW" altLang="en-US" dirty="0"/>
              <a:t>建立傳輸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DATA</a:t>
            </a:r>
            <a:r>
              <a:rPr lang="zh-TW" altLang="en-US" dirty="0"/>
              <a:t>接收</a:t>
            </a:r>
            <a:r>
              <a:rPr lang="en-US" altLang="zh-TW" dirty="0"/>
              <a:t>16-byte</a:t>
            </a:r>
            <a:r>
              <a:rPr lang="zh-TW" altLang="en-US" dirty="0"/>
              <a:t>封包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VALIDATE</a:t>
            </a:r>
            <a:r>
              <a:rPr lang="zh-TW" altLang="en-US" dirty="0"/>
              <a:t>進行解碼和</a:t>
            </a:r>
            <a:r>
              <a:rPr lang="en-US" altLang="zh-TW" dirty="0"/>
              <a:t>CRC</a:t>
            </a:r>
            <a:r>
              <a:rPr lang="zh-TW" altLang="en-US" dirty="0"/>
              <a:t>驗證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COMMIT</a:t>
            </a:r>
            <a:r>
              <a:rPr lang="zh-TW" altLang="en-US" dirty="0"/>
              <a:t>正式寫入</a:t>
            </a:r>
            <a:r>
              <a:rPr lang="en-US" altLang="zh-TW" dirty="0"/>
              <a:t>Gamma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dirty="0"/>
              <a:t>以及</a:t>
            </a:r>
            <a:r>
              <a:rPr lang="en-US" altLang="zh-TW" dirty="0"/>
              <a:t>ABORT</a:t>
            </a:r>
            <a:r>
              <a:rPr lang="zh-TW" altLang="en-US" dirty="0"/>
              <a:t>取消並清除資料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這樣可以確保資料完整驗證通過後才修改原本的</a:t>
            </a:r>
            <a:r>
              <a:rPr lang="en-US" altLang="zh-TW" dirty="0"/>
              <a:t>Gamma</a:t>
            </a:r>
            <a:r>
              <a:rPr lang="zh-TW" altLang="en-US" dirty="0"/>
              <a:t>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8654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E9BD86B3-8EAB-902A-DCF6-698ADFDE9E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本階段的目標是先驗證論文核心方法是否能正確壓縮與無損還原，</a:t>
                </a:r>
                <a:endParaRPr lang="en-US" altLang="zh-TW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因此先完成單層的</a:t>
                </a:r>
                <a:r>
                  <a:rPr lang="en-US" altLang="zh-TW" dirty="0"/>
                  <a:t>Higher-Bit Compression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Lookup Table Decomposition</a:t>
                </a:r>
                <a:r>
                  <a:rPr lang="zh-TW" altLang="en-US" dirty="0"/>
                  <a:t>與</a:t>
                </a:r>
                <a:r>
                  <a:rPr lang="en-US" altLang="zh-TW" dirty="0"/>
                  <a:t>Self-Similarity</a:t>
                </a:r>
                <a:r>
                  <a:rPr lang="zh-TW" altLang="en-US" dirty="0"/>
                  <a:t>。</a:t>
                </a:r>
                <a:endParaRPr lang="en-US" altLang="zh-TW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多層次壓縮需要對分解後的</a:t>
                </a:r>
                <a:r>
                  <a:rPr lang="en-US" altLang="zh-TW" dirty="0" err="1"/>
                  <a:t>T_bias</a:t>
                </a:r>
                <a:r>
                  <a:rPr lang="zh-TW" altLang="en-US" dirty="0"/>
                  <a:t>再次進行遞迴壓縮，會增加資料格式、解碼流程與記憶體管理的複雜度。</a:t>
                </a:r>
                <a:endParaRPr lang="en-US" altLang="zh-TW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sz="1200" b="0" dirty="0" err="1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ws</a:t>
                </a:r>
                <a:r>
                  <a:rPr lang="en-US" altLang="zh-TW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:</a:t>
                </a:r>
                <a:r>
                  <a:rPr lang="zh-TW" altLang="en-US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每個子表內有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𝑤𝑠</m:t>
                        </m:r>
                      </m:sup>
                    </m:sSup>
                  </m:oMath>
                </a14:m>
                <a:r>
                  <a:rPr lang="en-US" altLang="zh-TW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</a:t>
                </a:r>
                <a:r>
                  <a:rPr lang="zh-TW" altLang="en-US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筆資料</a:t>
                </a: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sz="1200" b="0" dirty="0" err="1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wl</a:t>
                </a:r>
                <a:r>
                  <a:rPr lang="en-US" altLang="zh-TW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:</a:t>
                </a:r>
                <a:r>
                  <a:rPr lang="zh-TW" altLang="en-US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</a:t>
                </a:r>
                <a:r>
                  <a:rPr lang="zh-TW" altLang="en-US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不壓縮的低位元數</a:t>
                </a:r>
                <a:r>
                  <a:rPr lang="zh-TW" altLang="en-US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。</a:t>
                </a: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E9BD86B3-8EAB-902A-DCF6-698ADFDE9E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本階段的目標是先驗證論文核心方法是否能正確壓縮與無損還原，</a:t>
                </a:r>
                <a:endParaRPr lang="en-US" altLang="zh-TW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因此先完成單層的</a:t>
                </a:r>
                <a:r>
                  <a:rPr lang="en-US" altLang="zh-TW" dirty="0"/>
                  <a:t>Higher-Bit Compression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Lookup Table Decomposition</a:t>
                </a:r>
                <a:r>
                  <a:rPr lang="zh-TW" altLang="en-US" dirty="0"/>
                  <a:t>與</a:t>
                </a:r>
                <a:r>
                  <a:rPr lang="en-US" altLang="zh-TW" dirty="0"/>
                  <a:t>Self-Similarity</a:t>
                </a:r>
                <a:r>
                  <a:rPr lang="zh-TW" altLang="en-US" dirty="0"/>
                  <a:t>。</a:t>
                </a:r>
                <a:endParaRPr lang="en-US" altLang="zh-TW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多層次壓縮需要對分解後的</a:t>
                </a:r>
                <a:r>
                  <a:rPr lang="en-US" altLang="zh-TW" dirty="0" err="1"/>
                  <a:t>T_bias</a:t>
                </a:r>
                <a:r>
                  <a:rPr lang="zh-TW" altLang="en-US" dirty="0"/>
                  <a:t>再次進行遞迴壓縮，會增加資料格式、解碼流程與記憶體管理的複雜度。</a:t>
                </a:r>
                <a:endParaRPr lang="en-US" altLang="zh-TW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sz="1200" b="0" dirty="0" err="1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ws</a:t>
                </a:r>
                <a:r>
                  <a:rPr lang="en-US" altLang="zh-TW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:</a:t>
                </a:r>
                <a:r>
                  <a:rPr lang="zh-TW" altLang="en-US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每個子表內有</a:t>
                </a:r>
                <a:r>
                  <a:rPr lang="en-US" altLang="zh-TW" sz="1200" b="0" i="0"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2^𝑤𝑠</a:t>
                </a:r>
                <a:r>
                  <a:rPr lang="en-US" altLang="zh-TW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</a:t>
                </a:r>
                <a:r>
                  <a:rPr lang="zh-TW" altLang="en-US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筆資料</a:t>
                </a: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sz="1200" b="0" dirty="0" err="1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wl</a:t>
                </a:r>
                <a:r>
                  <a:rPr lang="en-US" altLang="zh-TW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:</a:t>
                </a:r>
                <a:r>
                  <a:rPr lang="zh-TW" altLang="en-US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</a:t>
                </a:r>
                <a:r>
                  <a:rPr lang="zh-TW" altLang="en-US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不壓縮的低位元數</a:t>
                </a:r>
                <a:r>
                  <a:rPr lang="zh-TW" altLang="en-US" sz="1200" b="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。</a:t>
                </a: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3344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原始</a:t>
            </a:r>
            <a:r>
              <a:rPr lang="en-US" altLang="zh-TW" sz="1200" b="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LUT</a:t>
            </a:r>
            <a:r>
              <a:rPr lang="zh-TW" altLang="en-US" sz="1200" b="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大小為</a:t>
            </a:r>
            <a:r>
              <a:rPr lang="en-US" altLang="zh-TW" sz="1200" b="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:6144bytes(RGB)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83480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paper</a:t>
            </a:r>
            <a:r>
              <a:rPr lang="zh-TW" altLang="en-US" dirty="0"/>
              <a:t>：壓縮方法、</a:t>
            </a:r>
            <a:r>
              <a:rPr lang="en-US" altLang="zh-TW" dirty="0" err="1"/>
              <a:t>ws</a:t>
            </a:r>
            <a:r>
              <a:rPr lang="zh-TW" altLang="en-US" dirty="0"/>
              <a:t>、</a:t>
            </a:r>
            <a:r>
              <a:rPr lang="en-US" altLang="zh-TW" dirty="0" err="1"/>
              <a:t>wl</a:t>
            </a:r>
            <a:r>
              <a:rPr lang="zh-TW" altLang="en-US" dirty="0"/>
              <a:t>等解碼資訊。 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 err="1"/>
              <a:t>paper.Data</a:t>
            </a:r>
            <a:r>
              <a:rPr lang="zh-TW" altLang="en-US" dirty="0"/>
              <a:t>：實際的壓縮資料。 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 err="1"/>
              <a:t>entryCount</a:t>
            </a:r>
            <a:r>
              <a:rPr lang="zh-TW" altLang="en-US" dirty="0"/>
              <a:t>：解壓後應有的 </a:t>
            </a:r>
            <a:r>
              <a:rPr lang="en-US" altLang="zh-TW" dirty="0"/>
              <a:t>LUT </a:t>
            </a:r>
            <a:r>
              <a:rPr lang="zh-TW" altLang="en-US" dirty="0"/>
              <a:t>筆數，例如</a:t>
            </a:r>
            <a:r>
              <a:rPr lang="en-US" altLang="zh-TW" dirty="0"/>
              <a:t>1024</a:t>
            </a:r>
            <a:r>
              <a:rPr lang="zh-TW" altLang="en-US" dirty="0"/>
              <a:t>筆。 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 err="1"/>
              <a:t>outputBits</a:t>
            </a:r>
            <a:r>
              <a:rPr lang="zh-TW" altLang="en-US" dirty="0"/>
              <a:t>：</a:t>
            </a:r>
            <a:r>
              <a:rPr lang="en-US" altLang="zh-TW" dirty="0"/>
              <a:t>LUT</a:t>
            </a:r>
            <a:r>
              <a:rPr lang="zh-TW" altLang="en-US" dirty="0"/>
              <a:t>有效位元寬度，例如</a:t>
            </a:r>
            <a:r>
              <a:rPr lang="en-US" altLang="zh-TW" dirty="0"/>
              <a:t>14-bit</a:t>
            </a:r>
            <a:r>
              <a:rPr lang="zh-TW" altLang="en-US" dirty="0"/>
              <a:t>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7605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目前已完成 </a:t>
            </a:r>
            <a:r>
              <a:rPr lang="en-US" altLang="zh-TW" dirty="0"/>
              <a:t>PC Tool </a:t>
            </a:r>
            <a:r>
              <a:rPr lang="zh-TW" altLang="en-US" dirty="0"/>
              <a:t>端 </a:t>
            </a:r>
            <a:r>
              <a:rPr lang="en-US" altLang="zh-TW" dirty="0"/>
              <a:t>LUT </a:t>
            </a:r>
            <a:r>
              <a:rPr lang="zh-TW" altLang="en-US" dirty="0"/>
              <a:t>壓縮與 </a:t>
            </a:r>
            <a:r>
              <a:rPr lang="en-US" altLang="zh-TW" dirty="0"/>
              <a:t>lossless verification</a:t>
            </a:r>
            <a:r>
              <a:rPr lang="zh-TW" altLang="en-US" dirty="0"/>
              <a:t>，下一步將進行 </a:t>
            </a:r>
            <a:r>
              <a:rPr lang="en-US" altLang="zh-TW" dirty="0"/>
              <a:t>Firmware </a:t>
            </a:r>
            <a:r>
              <a:rPr lang="zh-TW" altLang="en-US" dirty="0"/>
              <a:t>端 </a:t>
            </a:r>
            <a:r>
              <a:rPr lang="en-US" altLang="zh-TW" dirty="0"/>
              <a:t>COMMIT </a:t>
            </a:r>
            <a:r>
              <a:rPr lang="zh-TW" altLang="en-US" dirty="0"/>
              <a:t>寫入與校正時間實測。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30782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386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1884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36455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5590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4292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5997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17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根據本期計畫書中內容進行開發，以下分別為階段一目標和當前開發進度及優先序。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530970"/>
              </p:ext>
            </p:extLst>
          </p:nvPr>
        </p:nvGraphicFramePr>
        <p:xfrm>
          <a:off x="570104" y="2311400"/>
          <a:ext cx="4903596" cy="2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53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51333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MEDDP-822P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 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Onyx Factory Tool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縮短校正時間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 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Onyx Factory Tool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縮短校正時間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使用色彩分析儀器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CA-410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軟體比較校正後數值差異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結果輸出成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Excel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格式報告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443839"/>
              </p:ext>
            </p:extLst>
          </p:nvPr>
        </p:nvGraphicFramePr>
        <p:xfrm>
          <a:off x="5604934" y="2353858"/>
          <a:ext cx="4022658" cy="3613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MEDDP-822P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 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Onyx Factory Tool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縮短校正時間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 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Onyx Factory Tool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縮短校正時間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使用色彩分析儀器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CA-410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軟體比較校正後數值差異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結果輸出成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Excel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格式報告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64127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411661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3119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217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根據本期計畫書中內容進行開發，以下分別為階段二目標和當前開發進度及優先序。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366994"/>
              </p:ext>
            </p:extLst>
          </p:nvPr>
        </p:nvGraphicFramePr>
        <p:xfrm>
          <a:off x="570104" y="2311400"/>
          <a:ext cx="4903596" cy="380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MEDDP-822P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MCU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／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Sensor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自校準效能優化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使用色彩分析儀器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i1Display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CA-410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軟體比較校正後數值差異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工具可檢視編輯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.</a:t>
                      </a:r>
                      <a:r>
                        <a:rPr lang="en-US" altLang="zh-TW" sz="14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TW" sz="14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icm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純色溫校正檔案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650096"/>
              </p:ext>
            </p:extLst>
          </p:nvPr>
        </p:nvGraphicFramePr>
        <p:xfrm>
          <a:off x="5604934" y="2353858"/>
          <a:ext cx="4022658" cy="3814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MEDDP-822P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MCU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／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Sensor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自校準效能優化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使用色彩分析儀器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i1Display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CA-410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軟體比較校正後數值差異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工具可檢視編輯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.</a:t>
                      </a:r>
                      <a:r>
                        <a:rPr lang="en-US" altLang="zh-TW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TW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icm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65141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純色溫校正檔案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257114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33213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882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根據本期計畫書中內容進行開發，以下分別為階段二目標和當前開發進度及優先序。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773279"/>
              </p:ext>
            </p:extLst>
          </p:nvPr>
        </p:nvGraphicFramePr>
        <p:xfrm>
          <a:off x="570104" y="2311400"/>
          <a:ext cx="4903596" cy="3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校正檔案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DICOM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校正檔案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產出報告與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AD board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硬體的校正結果做比較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能將校正結果輸出成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Excel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格式報告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期末報告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15263"/>
              </p:ext>
            </p:extLst>
          </p:nvPr>
        </p:nvGraphicFramePr>
        <p:xfrm>
          <a:off x="5604934" y="2353858"/>
          <a:ext cx="4022658" cy="3613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校正檔案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DICOM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校正檔案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產出報告與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AD board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硬體的校正結果做比較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能將校正結果輸出成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Excel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格式報告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738624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90467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3119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2" y="925868"/>
            <a:ext cx="9296398" cy="2829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⇔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MARS-922 Firmware 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壓縮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 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解壓縮架構</a:t>
            </a: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CLT1 : </a:t>
            </a:r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包含壓縮資料、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規格、壓縮方法及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CRC</a:t>
            </a:r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，讓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FW</a:t>
            </a:r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能正確驗證與解壓</a:t>
            </a:r>
            <a:endParaRPr lang="en-US" altLang="zh-TW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CRC </a:t>
            </a:r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 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</a:p>
          <a:p>
            <a:pPr lvl="2"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端對原始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CRC32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，並將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32-bit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檢查碼寫入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CLT1 Header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FW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解壓後對還原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重新計算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CRC32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，並與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CLT1 Header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內的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CRC32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比較。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CRC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一致才允許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COMMIT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寫入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Table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zh-TW" altLang="en-US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F3C250-94B3-18F0-C237-CAB5254082AC}"/>
              </a:ext>
            </a:extLst>
          </p:cNvPr>
          <p:cNvSpPr/>
          <p:nvPr/>
        </p:nvSpPr>
        <p:spPr>
          <a:xfrm>
            <a:off x="9865" y="4088759"/>
            <a:ext cx="2721685" cy="2231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6B79E6-7005-51B8-4585-75C6EEC50F19}"/>
              </a:ext>
            </a:extLst>
          </p:cNvPr>
          <p:cNvSpPr/>
          <p:nvPr/>
        </p:nvSpPr>
        <p:spPr>
          <a:xfrm>
            <a:off x="192744" y="4458321"/>
            <a:ext cx="2047089" cy="710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LUT </a:t>
            </a:r>
            <a:r>
              <a:rPr lang="zh-TW" alt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壓縮與 </a:t>
            </a:r>
            <a:r>
              <a:rPr lang="en-US" altLang="zh-TW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CLT1 </a:t>
            </a:r>
            <a:r>
              <a:rPr lang="zh-TW" alt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封裝</a:t>
            </a:r>
            <a:endParaRPr lang="en-US" altLang="zh-TW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algn="ctr"/>
            <a:r>
              <a:rPr lang="en-US" altLang="zh-TW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CompressedLutCodec.cs</a:t>
            </a:r>
            <a:endParaRPr lang="zh-TW" altLang="en-US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8321B6-B563-72E1-42D0-5CABD7B99C3D}"/>
              </a:ext>
            </a:extLst>
          </p:cNvPr>
          <p:cNvSpPr/>
          <p:nvPr/>
        </p:nvSpPr>
        <p:spPr>
          <a:xfrm>
            <a:off x="3490412" y="4088758"/>
            <a:ext cx="6415588" cy="22334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1676C0-8923-AF35-670A-E128D4827B39}"/>
              </a:ext>
            </a:extLst>
          </p:cNvPr>
          <p:cNvSpPr/>
          <p:nvPr/>
        </p:nvSpPr>
        <p:spPr>
          <a:xfrm>
            <a:off x="858425" y="4104262"/>
            <a:ext cx="873957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PC</a:t>
            </a:r>
            <a:r>
              <a:rPr lang="zh-TW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TW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Tool</a:t>
            </a:r>
            <a:endParaRPr lang="zh-TW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296C0F-5FF0-F724-E05C-8BC94F3B3B41}"/>
              </a:ext>
            </a:extLst>
          </p:cNvPr>
          <p:cNvSpPr/>
          <p:nvPr/>
        </p:nvSpPr>
        <p:spPr>
          <a:xfrm>
            <a:off x="3693019" y="4458321"/>
            <a:ext cx="1432554" cy="710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新增指令接收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DDC2Bi.c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9AFA61-F097-4B80-EF2B-2C51791B937B}"/>
              </a:ext>
            </a:extLst>
          </p:cNvPr>
          <p:cNvSpPr/>
          <p:nvPr/>
        </p:nvSpPr>
        <p:spPr>
          <a:xfrm>
            <a:off x="5749270" y="4053502"/>
            <a:ext cx="189026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AD Board/Firmware</a:t>
            </a:r>
            <a:endParaRPr lang="zh-TW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A12534-68F6-C0E9-DA84-1EE845E94F5A}"/>
              </a:ext>
            </a:extLst>
          </p:cNvPr>
          <p:cNvSpPr/>
          <p:nvPr/>
        </p:nvSpPr>
        <p:spPr>
          <a:xfrm>
            <a:off x="5460604" y="4458321"/>
            <a:ext cx="1890262" cy="710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傳輸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Session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與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algn="ctr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封包暫存</a:t>
            </a:r>
            <a:r>
              <a:rPr lang="en-US" altLang="zh-TW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MStarCompressedLut.c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D3B148-C145-6607-6735-65AF71B506D5}"/>
              </a:ext>
            </a:extLst>
          </p:cNvPr>
          <p:cNvSpPr/>
          <p:nvPr/>
        </p:nvSpPr>
        <p:spPr>
          <a:xfrm>
            <a:off x="7685896" y="4458321"/>
            <a:ext cx="2207106" cy="710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解壓縮、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CRC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驗證</a:t>
            </a:r>
          </a:p>
          <a:p>
            <a:pPr algn="ctr"/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CompressedLutDecoder.c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50C4C7-7680-A8D0-7AAB-605776C74318}"/>
              </a:ext>
            </a:extLst>
          </p:cNvPr>
          <p:cNvSpPr/>
          <p:nvPr/>
        </p:nvSpPr>
        <p:spPr>
          <a:xfrm>
            <a:off x="7685896" y="5553041"/>
            <a:ext cx="2207106" cy="710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COMMIT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成功後寫入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Gamma Table</a:t>
            </a:r>
            <a:endParaRPr lang="en-US" altLang="zh-TW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3E50068-EA8A-9A89-226F-18652CC14308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>
            <a:off x="2239833" y="4813324"/>
            <a:ext cx="1453186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B97D0F65-6695-8D52-2D2C-ED52ABBC0BA6}"/>
              </a:ext>
            </a:extLst>
          </p:cNvPr>
          <p:cNvCxnSpPr>
            <a:cxnSpLocks/>
          </p:cNvCxnSpPr>
          <p:nvPr/>
        </p:nvCxnSpPr>
        <p:spPr>
          <a:xfrm>
            <a:off x="5125573" y="4813323"/>
            <a:ext cx="335031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3693A9D6-9172-8545-1288-6AAA9CACCE2E}"/>
              </a:ext>
            </a:extLst>
          </p:cNvPr>
          <p:cNvCxnSpPr>
            <a:cxnSpLocks/>
          </p:cNvCxnSpPr>
          <p:nvPr/>
        </p:nvCxnSpPr>
        <p:spPr>
          <a:xfrm>
            <a:off x="7350866" y="4819734"/>
            <a:ext cx="335030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FFA218EB-A2FA-4E10-304D-2708703EE5F2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8789449" y="5168326"/>
            <a:ext cx="0" cy="384715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47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2" y="925869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DDC2Bi.c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新增程式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&amp;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指令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 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ResolveClutTarget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函式負責將：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GAMMA_Mode1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～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CT_Mode1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～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，換算成對應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Table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NVRAM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起始位址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新增五個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DDC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指令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zh-TW" altLang="en-US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5563AA3F-E39F-6AE9-A9F4-817F4DDA6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534666"/>
              </p:ext>
            </p:extLst>
          </p:nvPr>
        </p:nvGraphicFramePr>
        <p:xfrm>
          <a:off x="1346202" y="3276211"/>
          <a:ext cx="6332413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38295">
                  <a:extLst>
                    <a:ext uri="{9D8B030D-6E8A-4147-A177-3AD203B41FA5}">
                      <a16:colId xmlns:a16="http://schemas.microsoft.com/office/drawing/2014/main" val="793616807"/>
                    </a:ext>
                  </a:extLst>
                </a:gridCol>
                <a:gridCol w="4094118">
                  <a:extLst>
                    <a:ext uri="{9D8B030D-6E8A-4147-A177-3AD203B41FA5}">
                      <a16:colId xmlns:a16="http://schemas.microsoft.com/office/drawing/2014/main" val="3396890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指令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419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CLUT_BEGIN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建立傳輸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Session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、設定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Gamma/CCT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與壓縮大小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678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CLUT_DATA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每次接收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16 bytes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701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CLUT_VALIDATE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解碼、檢查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CLT1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格式與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CRC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，不寫入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383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CLUT_COMMIT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再次驗證、解壓並寫入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 Table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632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CLUT_ABORT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清除暫存資料並取消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Session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608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53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0076" y="1032937"/>
            <a:ext cx="8877298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新增</a:t>
            </a:r>
            <a:r>
              <a:rPr lang="en-US" altLang="zh-TW" sz="20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CompressedLutCodec.cs</a:t>
            </a: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依照論文方法把校正完成的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 (R G B)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進行壓縮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zh-TW" altLang="en-US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method-arrow-0">
            <a:extLst>
              <a:ext uri="{FF2B5EF4-FFF2-40B4-BE49-F238E27FC236}">
                <a16:creationId xmlns:a16="http://schemas.microsoft.com/office/drawing/2014/main" id="{4970BB84-53E5-1E73-2715-34FF5BA88B78}"/>
              </a:ext>
            </a:extLst>
          </p:cNvPr>
          <p:cNvSpPr>
            <a:spLocks noGrp="1"/>
          </p:cNvSpPr>
          <p:nvPr/>
        </p:nvSpPr>
        <p:spPr>
          <a:xfrm>
            <a:off x="2901251" y="4349414"/>
            <a:ext cx="552450" cy="323850"/>
          </a:xfrm>
          <a:prstGeom prst="rightArrow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method-node-0">
            <a:extLst>
              <a:ext uri="{FF2B5EF4-FFF2-40B4-BE49-F238E27FC236}">
                <a16:creationId xmlns:a16="http://schemas.microsoft.com/office/drawing/2014/main" id="{2ABD02E4-A5F4-6ECC-D370-D879A64BB30F}"/>
              </a:ext>
            </a:extLst>
          </p:cNvPr>
          <p:cNvSpPr>
            <a:spLocks noGrp="1"/>
          </p:cNvSpPr>
          <p:nvPr/>
        </p:nvSpPr>
        <p:spPr>
          <a:xfrm>
            <a:off x="403799" y="3312488"/>
            <a:ext cx="2240278" cy="260985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0" name="method-num-0">
            <a:extLst>
              <a:ext uri="{FF2B5EF4-FFF2-40B4-BE49-F238E27FC236}">
                <a16:creationId xmlns:a16="http://schemas.microsoft.com/office/drawing/2014/main" id="{2E97D0A0-5C10-776E-ADA8-8EE02DF56D1E}"/>
              </a:ext>
            </a:extLst>
          </p:cNvPr>
          <p:cNvSpPr>
            <a:spLocks noGrp="1"/>
          </p:cNvSpPr>
          <p:nvPr/>
        </p:nvSpPr>
        <p:spPr>
          <a:xfrm>
            <a:off x="1087694" y="3536519"/>
            <a:ext cx="85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3D8DFF"/>
                </a:solidFill>
                <a:latin typeface="Noto Sans TC Thin"/>
                <a:ea typeface="Noto Sans TC Thin"/>
                <a:cs typeface="Noto Sans TC Thin"/>
              </a:defRPr>
            </a:pPr>
            <a:r>
              <a:rPr sz="2100" b="1" dirty="0">
                <a:solidFill>
                  <a:srgbClr val="3D8DFF"/>
                </a:solidFill>
                <a:latin typeface="Noto Sans TC Thin"/>
                <a:ea typeface="Noto Sans TC Thin"/>
                <a:cs typeface="Noto Sans TC Thin"/>
              </a:rPr>
              <a:t>01</a:t>
            </a:r>
          </a:p>
        </p:txBody>
      </p:sp>
      <p:sp>
        <p:nvSpPr>
          <p:cNvPr id="11" name="method-title-0">
            <a:extLst>
              <a:ext uri="{FF2B5EF4-FFF2-40B4-BE49-F238E27FC236}">
                <a16:creationId xmlns:a16="http://schemas.microsoft.com/office/drawing/2014/main" id="{946C72F9-451B-C9A4-89D7-7F1A2286BC22}"/>
              </a:ext>
            </a:extLst>
          </p:cNvPr>
          <p:cNvSpPr>
            <a:spLocks noGrp="1"/>
          </p:cNvSpPr>
          <p:nvPr/>
        </p:nvSpPr>
        <p:spPr>
          <a:xfrm>
            <a:off x="625017" y="3950663"/>
            <a:ext cx="1797842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3000"/>
              </a:lnSpc>
            </a:pP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Higher-Bit Compression</a:t>
            </a:r>
          </a:p>
        </p:txBody>
      </p:sp>
      <p:sp>
        <p:nvSpPr>
          <p:cNvPr id="12" name="method-desc-0">
            <a:extLst>
              <a:ext uri="{FF2B5EF4-FFF2-40B4-BE49-F238E27FC236}">
                <a16:creationId xmlns:a16="http://schemas.microsoft.com/office/drawing/2014/main" id="{F8457095-5659-98D1-EC2F-3F695078CF5F}"/>
              </a:ext>
            </a:extLst>
          </p:cNvPr>
          <p:cNvSpPr>
            <a:spLocks noGrp="1"/>
          </p:cNvSpPr>
          <p:nvPr/>
        </p:nvSpPr>
        <p:spPr>
          <a:xfrm>
            <a:off x="876193" y="4828331"/>
            <a:ext cx="1280251" cy="6648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575" b="0">
                <a:solidFill>
                  <a:srgbClr val="5F6670"/>
                </a:solidFill>
                <a:latin typeface="Noto Sans TC Thin"/>
                <a:ea typeface="Noto Sans TC Thin"/>
                <a:cs typeface="Noto Sans TC Thin"/>
              </a:defRPr>
            </a:pPr>
            <a:r>
              <a:rPr lang="zh-TW" altLang="en-US" sz="1600" b="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保留低位元</a:t>
            </a:r>
            <a:endParaRPr lang="en-US" altLang="zh-TW" sz="1600" b="0" dirty="0">
              <a:solidFill>
                <a:schemeClr val="bg2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buNone/>
              <a:defRPr sz="1575" b="0">
                <a:solidFill>
                  <a:srgbClr val="5F6670"/>
                </a:solidFill>
                <a:latin typeface="Noto Sans TC Thin"/>
                <a:ea typeface="Noto Sans TC Thin"/>
                <a:cs typeface="Noto Sans TC Thin"/>
              </a:defRPr>
            </a:pPr>
            <a:r>
              <a:rPr lang="zh-TW" altLang="en-US" sz="1600" b="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將高位元壓縮</a:t>
            </a:r>
          </a:p>
        </p:txBody>
      </p:sp>
      <p:sp>
        <p:nvSpPr>
          <p:cNvPr id="22" name="method-node-0">
            <a:extLst>
              <a:ext uri="{FF2B5EF4-FFF2-40B4-BE49-F238E27FC236}">
                <a16:creationId xmlns:a16="http://schemas.microsoft.com/office/drawing/2014/main" id="{B6622D45-6062-8F0D-1A76-648B67EF6D50}"/>
              </a:ext>
            </a:extLst>
          </p:cNvPr>
          <p:cNvSpPr>
            <a:spLocks noGrp="1"/>
          </p:cNvSpPr>
          <p:nvPr/>
        </p:nvSpPr>
        <p:spPr>
          <a:xfrm>
            <a:off x="3710875" y="3332145"/>
            <a:ext cx="2240278" cy="260985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23" name="method-num-0">
            <a:extLst>
              <a:ext uri="{FF2B5EF4-FFF2-40B4-BE49-F238E27FC236}">
                <a16:creationId xmlns:a16="http://schemas.microsoft.com/office/drawing/2014/main" id="{4960F366-06BD-6396-2BDF-35267EAC332B}"/>
              </a:ext>
            </a:extLst>
          </p:cNvPr>
          <p:cNvSpPr>
            <a:spLocks noGrp="1"/>
          </p:cNvSpPr>
          <p:nvPr/>
        </p:nvSpPr>
        <p:spPr>
          <a:xfrm>
            <a:off x="4665279" y="3513120"/>
            <a:ext cx="34861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3D8DFF"/>
                </a:solidFill>
                <a:latin typeface="Noto Sans TC Thin"/>
                <a:ea typeface="Noto Sans TC Thin"/>
                <a:cs typeface="Noto Sans TC Thin"/>
              </a:defRPr>
            </a:pPr>
            <a:r>
              <a:rPr sz="2100" b="1" dirty="0">
                <a:solidFill>
                  <a:srgbClr val="3D8DFF"/>
                </a:solidFill>
                <a:latin typeface="Noto Sans TC Thin"/>
                <a:ea typeface="Noto Sans TC Thin"/>
                <a:cs typeface="Noto Sans TC Thin"/>
              </a:rPr>
              <a:t>0</a:t>
            </a:r>
            <a:r>
              <a:rPr lang="en-US" sz="2100" b="1" dirty="0">
                <a:solidFill>
                  <a:srgbClr val="3D8DFF"/>
                </a:solidFill>
                <a:latin typeface="Noto Sans TC Thin"/>
                <a:ea typeface="Noto Sans TC Thin"/>
                <a:cs typeface="Noto Sans TC Thin"/>
              </a:rPr>
              <a:t>2</a:t>
            </a:r>
            <a:endParaRPr sz="2100" b="1" dirty="0">
              <a:solidFill>
                <a:srgbClr val="3D8DFF"/>
              </a:solidFill>
              <a:latin typeface="Noto Sans TC Thin"/>
              <a:ea typeface="Noto Sans TC Thin"/>
              <a:cs typeface="Noto Sans TC Thin"/>
            </a:endParaRPr>
          </a:p>
        </p:txBody>
      </p:sp>
      <p:sp>
        <p:nvSpPr>
          <p:cNvPr id="24" name="method-title-0">
            <a:extLst>
              <a:ext uri="{FF2B5EF4-FFF2-40B4-BE49-F238E27FC236}">
                <a16:creationId xmlns:a16="http://schemas.microsoft.com/office/drawing/2014/main" id="{7857AFA3-1070-3A35-41F7-15FDC4A4C87A}"/>
              </a:ext>
            </a:extLst>
          </p:cNvPr>
          <p:cNvSpPr>
            <a:spLocks noGrp="1"/>
          </p:cNvSpPr>
          <p:nvPr/>
        </p:nvSpPr>
        <p:spPr>
          <a:xfrm>
            <a:off x="3932093" y="3968415"/>
            <a:ext cx="1797842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3000"/>
              </a:lnSpc>
            </a:pP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Lookup Table Decomposition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method-desc-0">
                <a:extLst>
                  <a:ext uri="{FF2B5EF4-FFF2-40B4-BE49-F238E27FC236}">
                    <a16:creationId xmlns:a16="http://schemas.microsoft.com/office/drawing/2014/main" id="{CCEDD449-F6C5-339B-51D1-61C201C45F0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782434" y="4844288"/>
                <a:ext cx="2114307" cy="666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12000"/>
                  </a:lnSpc>
                  <a:buNone/>
                  <a:defRPr sz="1575" b="0">
                    <a:solidFill>
                      <a:srgbClr val="5F6670"/>
                    </a:solidFill>
                    <a:latin typeface="Noto Sans TC Thin"/>
                    <a:ea typeface="Noto Sans TC Thin"/>
                    <a:cs typeface="Noto Sans TC Thin"/>
                  </a:defRPr>
                </a:pPr>
                <a:r>
                  <a:rPr lang="zh-TW" altLang="en-US" sz="1600" b="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每個 </a:t>
                </a:r>
                <a:r>
                  <a:rPr lang="en-US" altLang="zh-TW" sz="16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1600" b="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lock </a:t>
                </a:r>
                <a:r>
                  <a:rPr lang="zh-TW" altLang="en-US" sz="1600" b="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保存最小值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600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600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bias</m:t>
                        </m:r>
                      </m:sub>
                    </m:sSub>
                  </m:oMath>
                </a14:m>
                <a:r>
                  <a:rPr lang="zh-TW" altLang="en-US" sz="1600" b="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:r>
                  <a:rPr lang="zh-TW" altLang="en-US" sz="16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其</a:t>
                </a:r>
                <a:r>
                  <a:rPr lang="zh-TW" altLang="en-US" sz="1600" b="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餘差值寫入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600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600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st</m:t>
                        </m:r>
                      </m:sub>
                    </m:sSub>
                  </m:oMath>
                </a14:m>
                <a:endParaRPr sz="1600" b="0" dirty="0">
                  <a:solidFill>
                    <a:schemeClr val="bg2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" name="method-desc-0">
                <a:extLst>
                  <a:ext uri="{FF2B5EF4-FFF2-40B4-BE49-F238E27FC236}">
                    <a16:creationId xmlns:a16="http://schemas.microsoft.com/office/drawing/2014/main" id="{CCEDD449-F6C5-339B-51D1-61C201C45F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434" y="4844288"/>
                <a:ext cx="2114307" cy="666750"/>
              </a:xfrm>
              <a:prstGeom prst="rect">
                <a:avLst/>
              </a:prstGeom>
              <a:blipFill>
                <a:blip r:embed="rId3"/>
                <a:stretch>
                  <a:fillRect l="-5764" t="-8257" r="-201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method-arrow-0">
            <a:extLst>
              <a:ext uri="{FF2B5EF4-FFF2-40B4-BE49-F238E27FC236}">
                <a16:creationId xmlns:a16="http://schemas.microsoft.com/office/drawing/2014/main" id="{1F74B9E2-C65B-614D-3672-F297A092670E}"/>
              </a:ext>
            </a:extLst>
          </p:cNvPr>
          <p:cNvSpPr>
            <a:spLocks noGrp="1"/>
          </p:cNvSpPr>
          <p:nvPr/>
        </p:nvSpPr>
        <p:spPr>
          <a:xfrm>
            <a:off x="6149270" y="4347509"/>
            <a:ext cx="552450" cy="323850"/>
          </a:xfrm>
          <a:prstGeom prst="rightArrow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8" name="method-node-0">
            <a:extLst>
              <a:ext uri="{FF2B5EF4-FFF2-40B4-BE49-F238E27FC236}">
                <a16:creationId xmlns:a16="http://schemas.microsoft.com/office/drawing/2014/main" id="{C4BB44BA-380D-C47F-9646-4E2932E3BB40}"/>
              </a:ext>
            </a:extLst>
          </p:cNvPr>
          <p:cNvSpPr>
            <a:spLocks noGrp="1"/>
          </p:cNvSpPr>
          <p:nvPr/>
        </p:nvSpPr>
        <p:spPr>
          <a:xfrm>
            <a:off x="6958894" y="3330240"/>
            <a:ext cx="2240278" cy="260985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29" name="method-num-0">
            <a:extLst>
              <a:ext uri="{FF2B5EF4-FFF2-40B4-BE49-F238E27FC236}">
                <a16:creationId xmlns:a16="http://schemas.microsoft.com/office/drawing/2014/main" id="{8AB1630D-5C41-8CCA-9DF0-54E24C5A30CF}"/>
              </a:ext>
            </a:extLst>
          </p:cNvPr>
          <p:cNvSpPr>
            <a:spLocks noGrp="1"/>
          </p:cNvSpPr>
          <p:nvPr/>
        </p:nvSpPr>
        <p:spPr>
          <a:xfrm>
            <a:off x="7913298" y="3511215"/>
            <a:ext cx="34861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3D8DFF"/>
                </a:solidFill>
                <a:latin typeface="Noto Sans TC Thin"/>
                <a:ea typeface="Noto Sans TC Thin"/>
                <a:cs typeface="Noto Sans TC Thin"/>
              </a:defRPr>
            </a:pPr>
            <a:r>
              <a:rPr sz="2100" b="1" dirty="0">
                <a:solidFill>
                  <a:srgbClr val="3D8DFF"/>
                </a:solidFill>
                <a:latin typeface="Noto Sans TC Thin"/>
                <a:ea typeface="Noto Sans TC Thin"/>
                <a:cs typeface="Noto Sans TC Thin"/>
              </a:rPr>
              <a:t>0</a:t>
            </a:r>
            <a:r>
              <a:rPr lang="en-US" sz="2100" b="1" dirty="0">
                <a:solidFill>
                  <a:srgbClr val="3D8DFF"/>
                </a:solidFill>
                <a:latin typeface="Noto Sans TC Thin"/>
                <a:ea typeface="Noto Sans TC Thin"/>
                <a:cs typeface="Noto Sans TC Thin"/>
              </a:rPr>
              <a:t>3</a:t>
            </a:r>
            <a:endParaRPr sz="2100" b="1" dirty="0">
              <a:solidFill>
                <a:srgbClr val="3D8DFF"/>
              </a:solidFill>
              <a:latin typeface="Noto Sans TC Thin"/>
              <a:ea typeface="Noto Sans TC Thin"/>
              <a:cs typeface="Noto Sans TC Thin"/>
            </a:endParaRPr>
          </a:p>
        </p:txBody>
      </p:sp>
      <p:sp>
        <p:nvSpPr>
          <p:cNvPr id="30" name="method-title-0">
            <a:extLst>
              <a:ext uri="{FF2B5EF4-FFF2-40B4-BE49-F238E27FC236}">
                <a16:creationId xmlns:a16="http://schemas.microsoft.com/office/drawing/2014/main" id="{1E86B77D-E541-9713-0BCE-AA235E396CD4}"/>
              </a:ext>
            </a:extLst>
          </p:cNvPr>
          <p:cNvSpPr>
            <a:spLocks noGrp="1"/>
          </p:cNvSpPr>
          <p:nvPr/>
        </p:nvSpPr>
        <p:spPr>
          <a:xfrm>
            <a:off x="7188686" y="4152628"/>
            <a:ext cx="179784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3000"/>
              </a:lnSpc>
            </a:pP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Self-similarities</a:t>
            </a:r>
          </a:p>
        </p:txBody>
      </p:sp>
      <p:sp>
        <p:nvSpPr>
          <p:cNvPr id="31" name="method-desc-0">
            <a:extLst>
              <a:ext uri="{FF2B5EF4-FFF2-40B4-BE49-F238E27FC236}">
                <a16:creationId xmlns:a16="http://schemas.microsoft.com/office/drawing/2014/main" id="{0B290D14-182D-AE88-F681-92F13CB773BF}"/>
              </a:ext>
            </a:extLst>
          </p:cNvPr>
          <p:cNvSpPr>
            <a:spLocks noGrp="1"/>
          </p:cNvSpPr>
          <p:nvPr/>
        </p:nvSpPr>
        <p:spPr>
          <a:xfrm>
            <a:off x="7064386" y="4851882"/>
            <a:ext cx="2046442" cy="682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F6670"/>
                </a:solidFill>
                <a:latin typeface="Noto Sans TC Thin"/>
                <a:ea typeface="Noto Sans TC Thin"/>
                <a:cs typeface="Noto Sans TC Thin"/>
              </a:defRPr>
            </a:pPr>
            <a:r>
              <a:rPr lang="zh-TW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相似子表共用</a:t>
            </a:r>
            <a:r>
              <a:rPr lang="en-US" altLang="zh-TW" sz="160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UST</a:t>
            </a:r>
          </a:p>
          <a:p>
            <a:pPr algn="l">
              <a:lnSpc>
                <a:spcPct val="112000"/>
              </a:lnSpc>
              <a:buNone/>
              <a:defRPr sz="1575" b="0">
                <a:solidFill>
                  <a:srgbClr val="5F6670"/>
                </a:solidFill>
                <a:latin typeface="Noto Sans TC Thin"/>
                <a:ea typeface="Noto Sans TC Thin"/>
                <a:cs typeface="Noto Sans TC Thin"/>
              </a:defRPr>
            </a:pPr>
            <a:r>
              <a:rPr lang="zh-TW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利用索引與位移量還原</a:t>
            </a:r>
            <a:endParaRPr sz="1600" b="0" dirty="0">
              <a:solidFill>
                <a:schemeClr val="bg2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3A2846F-E37A-D4AA-B364-A54C3E49C9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247" r="20614" b="33131"/>
          <a:stretch/>
        </p:blipFill>
        <p:spPr>
          <a:xfrm>
            <a:off x="1619440" y="2008048"/>
            <a:ext cx="5178758" cy="102323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4826C30-6DA2-F5EF-7F83-31A8B3483805}"/>
              </a:ext>
            </a:extLst>
          </p:cNvPr>
          <p:cNvSpPr/>
          <p:nvPr/>
        </p:nvSpPr>
        <p:spPr>
          <a:xfrm>
            <a:off x="3932093" y="2519666"/>
            <a:ext cx="1020907" cy="5116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560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0076" y="1032937"/>
            <a:ext cx="8877298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論文初步壓縮結果</a:t>
            </a: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組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5400K/6500K/9300K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做測試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以平均縮小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67.10%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，只估算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16-byte DATA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封包，會由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384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包降到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127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zh-TW" altLang="en-US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F0EAA2F-45FA-EF9D-54A6-60E52E524F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31" t="5314" r="14910" b="9657"/>
          <a:stretch/>
        </p:blipFill>
        <p:spPr>
          <a:xfrm>
            <a:off x="1245234" y="2469506"/>
            <a:ext cx="7415531" cy="424852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6FBEEA1-0B2A-0FC1-D62F-48595EF7959C}"/>
              </a:ext>
            </a:extLst>
          </p:cNvPr>
          <p:cNvSpPr/>
          <p:nvPr/>
        </p:nvSpPr>
        <p:spPr>
          <a:xfrm>
            <a:off x="3157033" y="4593770"/>
            <a:ext cx="11177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平均縮小 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67.10%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DA7AB3-226F-D041-96C2-2ED52178197E}"/>
              </a:ext>
            </a:extLst>
          </p:cNvPr>
          <p:cNvSpPr/>
          <p:nvPr/>
        </p:nvSpPr>
        <p:spPr>
          <a:xfrm>
            <a:off x="4513395" y="4593770"/>
            <a:ext cx="11177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平均縮小 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71.83%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5C424D-48A5-E126-1C7A-3C9CBEBE474B}"/>
              </a:ext>
            </a:extLst>
          </p:cNvPr>
          <p:cNvSpPr/>
          <p:nvPr/>
        </p:nvSpPr>
        <p:spPr>
          <a:xfrm>
            <a:off x="5869757" y="4593770"/>
            <a:ext cx="11177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平均縮小 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68.93%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50D4E1-BCFB-F5F2-2612-AB130FBFC701}"/>
              </a:ext>
            </a:extLst>
          </p:cNvPr>
          <p:cNvSpPr/>
          <p:nvPr/>
        </p:nvSpPr>
        <p:spPr>
          <a:xfrm>
            <a:off x="7286122" y="4593769"/>
            <a:ext cx="11177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平均縮小 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65.74%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2B744A-8A8B-AF4F-96EA-35BDD83F8FC7}"/>
              </a:ext>
            </a:extLst>
          </p:cNvPr>
          <p:cNvSpPr/>
          <p:nvPr/>
        </p:nvSpPr>
        <p:spPr>
          <a:xfrm>
            <a:off x="1734952" y="2931258"/>
            <a:ext cx="1117787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180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</a:rPr>
              <a:t>100%</a:t>
            </a:r>
            <a:endParaRPr lang="zh-TW" altLang="en-US" sz="180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244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2" y="1007523"/>
            <a:ext cx="6739888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新增</a:t>
            </a:r>
            <a:r>
              <a:rPr lang="en-US" altLang="zh-TW" sz="20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CompressedLutCodec.cs</a:t>
            </a: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將論文方法的壓縮資料解壓縮後，與原始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逐筆比較，確認所有數值完全相同。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TW" sz="20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CompressedLutCodec.cs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整體架構</a:t>
            </a:r>
            <a:endParaRPr lang="en-US" altLang="zh-TW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zh-TW" altLang="en-US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7A1A767-769D-F875-29CB-84AA8AE38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10" y="2339920"/>
            <a:ext cx="7883775" cy="93057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1F6E9BE-D987-F86D-51AB-4D87E8F5D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09" y="4332385"/>
            <a:ext cx="9401175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560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根據本期計畫書中內容進行開發，以下分別為階段一目標和當前開發進度及優先序。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53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51333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MEDDP-822P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 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Onyx Factory Tool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縮短校正時間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 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Onyx Factory Tool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縮短校正時間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使用色彩分析儀器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CA-410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軟體比較校正後數值差異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結果輸出成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Excel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格式報告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3613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MEDDP-822P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 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Onyx Factory Tool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縮短校正時間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 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Onyx Factory Tool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縮短校正時間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使用色彩分析儀器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CA-410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軟體比較校正後數值差異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結果輸出成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Excel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格式報告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64127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411661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3119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6894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根據本期計畫書中內容進行開發，以下分別為階段二目標和當前開發進度及優先序。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380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MEDDP-822P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MCU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／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Sensor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自校準效能優化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使用色彩分析儀器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i1Display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CA-410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軟體比較校正後數值差異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工具可檢視編輯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.</a:t>
                      </a:r>
                      <a:r>
                        <a:rPr lang="en-US" altLang="zh-TW" sz="14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TW" sz="14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icm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純色溫校正檔案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3814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MEDDP-822P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MCU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／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Sensor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自校準效能優化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使用色彩分析儀器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i1Display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CA-410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軟體比較校正後數值差異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工具可檢視編輯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.</a:t>
                      </a:r>
                      <a:r>
                        <a:rPr lang="en-US" altLang="zh-TW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TW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icm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65141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純色溫校正檔案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257114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33213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073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根據本期計畫書中內容進行開發，以下分別為階段二目標和當前開發進度及優先序。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3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校正檔案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DICOM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校正檔案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產出報告與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AD board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硬體的校正結果做比較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能將校正結果輸出成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Excel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格式報告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 startAt="6"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期末報告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3613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校正檔案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ICC Profile DICOM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校正檔案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產出報告與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AD board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硬體的校正結果做比較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能將校正結果輸出成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Excel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格式報告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738624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90467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3119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306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版面配置區 6">
                <a:extLst>
                  <a:ext uri="{FF2B5EF4-FFF2-40B4-BE49-F238E27FC236}">
                    <a16:creationId xmlns:a16="http://schemas.microsoft.com/office/drawing/2014/main" id="{15E903C2-D7A2-E707-AA22-A5BFEBFCEF2F}"/>
                  </a:ext>
                </a:extLst>
              </p:cNvPr>
              <p:cNvSpPr txBox="1"/>
              <p:nvPr/>
            </p:nvSpPr>
            <p:spPr>
              <a:xfrm>
                <a:off x="594914" y="1252449"/>
                <a:ext cx="9311086" cy="53900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accent2"/>
                  </a:buClr>
                  <a:buSzPts val="2800"/>
                  <a:buFont typeface="Noto Sans Symbols"/>
                  <a:buChar char="❖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Noto Sans Symbols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6699FF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[multi-talker ASR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串流輸出文字與區間 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產出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[00:10-00:15] &lt;</a:t>
                </a:r>
                <a:r>
                  <a:rPr lang="en-US" altLang="zh-TW" sz="14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Spk_A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&gt;: “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今天進補如何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...“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根據局部上下文，由小型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LLM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快速修正語句內容與術語替換 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產出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“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今天進度如何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...“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截取原始音訊片段 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截取片段原音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 CAM++ / ECAPA-TDNN (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聲紋提取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算出一筆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Embedding </a:t>
                </a:r>
                <a:r>
                  <a:rPr lang="en-US" altLang="zh-TW" sz="14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embeded_voice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全域聲紋池比對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發現 </a:t>
                </a:r>
                <a:r>
                  <a:rPr lang="en-US" altLang="zh-TW" sz="14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embeded_voice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與全域「講者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」相似度 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0.88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覆寫標籤 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純文字替換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最終輸出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[00:10-00:15] &lt;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講者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1&gt; : "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今天進度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..."</a:t>
                </a:r>
              </a:p>
            </p:txBody>
          </p:sp>
        </mc:Choice>
        <mc:Fallback xmlns="">
          <p:sp>
            <p:nvSpPr>
              <p:cNvPr id="12" name="文字版面配置區 6">
                <a:extLst>
                  <a:ext uri="{FF2B5EF4-FFF2-40B4-BE49-F238E27FC236}">
                    <a16:creationId xmlns:a16="http://schemas.microsoft.com/office/drawing/2014/main" id="{15E903C2-D7A2-E707-AA22-A5BFEBFCE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14" y="1252449"/>
                <a:ext cx="9311086" cy="5390071"/>
              </a:xfrm>
              <a:prstGeom prst="rect">
                <a:avLst/>
              </a:prstGeom>
              <a:blipFill>
                <a:blip r:embed="rId3"/>
                <a:stretch>
                  <a:fillRect l="-1113" t="-38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上次進度：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系統架構研究－即時部分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218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版面配置區 6">
                <a:extLst>
                  <a:ext uri="{FF2B5EF4-FFF2-40B4-BE49-F238E27FC236}">
                    <a16:creationId xmlns:a16="http://schemas.microsoft.com/office/drawing/2014/main" id="{15E903C2-D7A2-E707-AA22-A5BFEBFCEF2F}"/>
                  </a:ext>
                </a:extLst>
              </p:cNvPr>
              <p:cNvSpPr txBox="1"/>
              <p:nvPr/>
            </p:nvSpPr>
            <p:spPr>
              <a:xfrm>
                <a:off x="594914" y="1252449"/>
                <a:ext cx="9311086" cy="53900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accent2"/>
                  </a:buClr>
                  <a:buSzPts val="2800"/>
                  <a:buFont typeface="Noto Sans Symbols"/>
                  <a:buChar char="❖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Noto Sans Symbols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6699FF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完整音訊 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即時逐字稿草稿 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全域聲紋分群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消除即時階段的跳號錯誤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針對重疊時段使用基於聲紋的條件式人聲提取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取得純淨音軌，用離線式高精確度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ASR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提取遺漏字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 </a:t>
                </a:r>
                <a:r>
                  <a:rPr lang="en-US" altLang="zh-TW" sz="1400" dirty="0"/>
                  <a:t>Forced Alignment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基於音素嚴格對齊每個字的時間戳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 LLM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修正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依據完整上下文修正專有名詞、口語贅字、重疊斷句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後續擴展方向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</p:txBody>
          </p:sp>
        </mc:Choice>
        <mc:Fallback xmlns="">
          <p:sp>
            <p:nvSpPr>
              <p:cNvPr id="12" name="文字版面配置區 6">
                <a:extLst>
                  <a:ext uri="{FF2B5EF4-FFF2-40B4-BE49-F238E27FC236}">
                    <a16:creationId xmlns:a16="http://schemas.microsoft.com/office/drawing/2014/main" id="{15E903C2-D7A2-E707-AA22-A5BFEBFCE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14" y="1252449"/>
                <a:ext cx="9311086" cy="5390071"/>
              </a:xfrm>
              <a:prstGeom prst="rect">
                <a:avLst/>
              </a:prstGeom>
              <a:blipFill>
                <a:blip r:embed="rId3"/>
                <a:stretch>
                  <a:fillRect l="-1113" t="-38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上次進度：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系統架構研究－離線部分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954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594914" y="1252449"/>
            <a:ext cx="4358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母語者即興電話錄音</a:t>
            </a:r>
          </a:p>
          <a:p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包含中文、英文、日文、德文、西班牙文</a:t>
            </a:r>
          </a:p>
          <a:p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提供官方逐字稿及與者時間標籤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目前先針對中文、英文各取出幾筆資料做測試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本次進度：資料集－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callhome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CAA0285C-E68B-4199-BC3C-7C4E85E3E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316" y="1568741"/>
            <a:ext cx="4679336" cy="338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54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594914" y="1252449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最常被使用的會議語音資料集</a:t>
            </a:r>
          </a:p>
          <a:p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共計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小時英語會議錄音</a:t>
            </a:r>
          </a:p>
          <a:p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涵蓋多種場景，每種場景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名與會者</a:t>
            </a:r>
          </a:p>
          <a:p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提供官方逐字稿及與者時間標籤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在使用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callhome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評估收斂後改為使用此資料集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本次進度：進階資料集－</a:t>
            </a:r>
            <a:r>
              <a:rPr lang="en-US" altLang="zh-TW" dirty="0"/>
              <a:t>AMI</a:t>
            </a:r>
            <a:r>
              <a:rPr lang="en-US" altLang="zh-TW" sz="2000" dirty="0"/>
              <a:t> (Augmented Multi-party Interaction)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205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312909</TotalTime>
  <Words>1979</Words>
  <Application>Microsoft Office PowerPoint</Application>
  <PresentationFormat>A4 紙張 (210x297 公釐)</PresentationFormat>
  <Paragraphs>350</Paragraphs>
  <Slides>17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4" baseType="lpstr">
      <vt:lpstr>Noto Sans Symbols</vt:lpstr>
      <vt:lpstr>Noto Sans TC Thin</vt:lpstr>
      <vt:lpstr>標楷體</vt:lpstr>
      <vt:lpstr>Arial</vt:lpstr>
      <vt:lpstr>Cambria Math</vt:lpstr>
      <vt:lpstr>Times New Roman</vt:lpstr>
      <vt:lpstr>template</vt:lpstr>
      <vt:lpstr>Progress Report</vt:lpstr>
      <vt:lpstr>本次進度: Monitor</vt:lpstr>
      <vt:lpstr>本次進度: Monitor</vt:lpstr>
      <vt:lpstr>本次進度: Monitor</vt:lpstr>
      <vt:lpstr>上次進度: Monitor - Performance</vt:lpstr>
      <vt:lpstr>上次進度: Monitor - Performance</vt:lpstr>
      <vt:lpstr>本次進度: Monitor - Performance</vt:lpstr>
      <vt:lpstr>本次進度: Monitor - Performance</vt:lpstr>
      <vt:lpstr>本次進度: Monitor - Performance</vt:lpstr>
      <vt:lpstr>下次進度: Monitor</vt:lpstr>
      <vt:lpstr>下次進度: Monitor</vt:lpstr>
      <vt:lpstr>下次進度: Monitor</vt:lpstr>
      <vt:lpstr>上次進度：系統架構研究－即時部分</vt:lpstr>
      <vt:lpstr>上次進度：系統架構研究－離線部分</vt:lpstr>
      <vt:lpstr>本次進度：資料集－callhome</vt:lpstr>
      <vt:lpstr>本次進度：進階資料集－AMI (Augmented Multi-party Interaction)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ian</cp:lastModifiedBy>
  <cp:revision>2417</cp:revision>
  <dcterms:created xsi:type="dcterms:W3CDTF">2003-02-17T16:04:03Z</dcterms:created>
  <dcterms:modified xsi:type="dcterms:W3CDTF">2026-09-01T05:59:35Z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