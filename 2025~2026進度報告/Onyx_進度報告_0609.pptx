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8" r:id="rId1"/>
  </p:sldMasterIdLst>
  <p:notesMasterIdLst>
    <p:notesMasterId r:id="rId22"/>
  </p:notesMasterIdLst>
  <p:sldIdLst>
    <p:sldId id="277" r:id="rId2"/>
    <p:sldId id="1784" r:id="rId3"/>
    <p:sldId id="1918" r:id="rId4"/>
    <p:sldId id="1919" r:id="rId5"/>
    <p:sldId id="1920" r:id="rId6"/>
    <p:sldId id="1921" r:id="rId7"/>
    <p:sldId id="1927" r:id="rId8"/>
    <p:sldId id="1928" r:id="rId9"/>
    <p:sldId id="1929" r:id="rId10"/>
    <p:sldId id="1930" r:id="rId11"/>
    <p:sldId id="1783" r:id="rId12"/>
    <p:sldId id="1864" r:id="rId13"/>
    <p:sldId id="1865" r:id="rId14"/>
    <p:sldId id="1923" r:id="rId15"/>
    <p:sldId id="1924" r:id="rId16"/>
    <p:sldId id="1926" r:id="rId17"/>
    <p:sldId id="1858" r:id="rId18"/>
    <p:sldId id="1859" r:id="rId19"/>
    <p:sldId id="1922" r:id="rId20"/>
    <p:sldId id="286" r:id="rId21"/>
  </p:sldIdLst>
  <p:sldSz cx="9906000" cy="6858000" type="A4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Head" id="{9114FBB3-8B00-422B-ACC9-030F49096E83}">
          <p14:sldIdLst>
            <p14:sldId id="277"/>
          </p14:sldIdLst>
        </p14:section>
        <p14:section name="Monitor" id="{7925A652-D02A-4F07-B4BA-109FEF573EC6}">
          <p14:sldIdLst>
            <p14:sldId id="1784"/>
            <p14:sldId id="1918"/>
            <p14:sldId id="1919"/>
            <p14:sldId id="1920"/>
            <p14:sldId id="1921"/>
            <p14:sldId id="1927"/>
            <p14:sldId id="1928"/>
            <p14:sldId id="1929"/>
            <p14:sldId id="1930"/>
            <p14:sldId id="1783"/>
          </p14:sldIdLst>
        </p14:section>
        <p14:section name="JS1500" id="{F71E69A4-C86C-4DAC-B828-42C2D8800267}">
          <p14:sldIdLst>
            <p14:sldId id="1864"/>
            <p14:sldId id="1865"/>
            <p14:sldId id="1923"/>
            <p14:sldId id="1924"/>
            <p14:sldId id="1926"/>
            <p14:sldId id="1858"/>
            <p14:sldId id="1859"/>
            <p14:sldId id="1922"/>
          </p14:sldIdLst>
        </p14:section>
        <p14:section name="End" id="{33EEDC85-A799-4CB3-BF13-F4955B8630BE}">
          <p14:sldIdLst>
            <p14:sldId id="28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10902143" initials="m" lastIdx="1" clrIdx="0"/>
  <p:cmAuthor id="2" name="James Kuo" initials="JK" lastIdx="1" clrIdx="1"/>
  <p:cmAuthor id="3" name="昇鴻 李" initials="昇鴻" lastIdx="1" clrIdx="2">
    <p:extLst>
      <p:ext uri="{19B8F6BF-5375-455C-9EA6-DF929625EA0E}">
        <p15:presenceInfo xmlns:p15="http://schemas.microsoft.com/office/powerpoint/2012/main" userId="72a70edeaa250c2c" providerId="Windows Live"/>
      </p:ext>
    </p:extLst>
  </p:cmAuthor>
  <p:cmAuthor id="4" name="宏德 林" initials="宏林" lastIdx="2" clrIdx="3">
    <p:extLst>
      <p:ext uri="{19B8F6BF-5375-455C-9EA6-DF929625EA0E}">
        <p15:presenceInfo xmlns:p15="http://schemas.microsoft.com/office/powerpoint/2012/main" userId="933d0002216be5bd" providerId="Windows Live"/>
      </p:ext>
    </p:extLst>
  </p:cmAuthor>
  <p:cmAuthor id="5" name="LI CHIH HSIANG" initials="LCH" lastIdx="6" clrIdx="4">
    <p:extLst>
      <p:ext uri="{19B8F6BF-5375-455C-9EA6-DF929625EA0E}">
        <p15:presenceInfo xmlns:p15="http://schemas.microsoft.com/office/powerpoint/2012/main" userId="LI CHIH HSIA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7C0"/>
    <a:srgbClr val="FF9900"/>
    <a:srgbClr val="FFC000"/>
    <a:srgbClr val="FFFFFF"/>
    <a:srgbClr val="00B050"/>
    <a:srgbClr val="000000"/>
    <a:srgbClr val="8958B1"/>
    <a:srgbClr val="C58DEF"/>
    <a:srgbClr val="993366"/>
    <a:srgbClr val="5814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433FD4-3D7A-4217-8E80-1680D7E9CC69}" styleName="Table_0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rgbClr val="E6E6E6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E6E6E6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 i="off"/>
      <a:tcStyle>
        <a:tcBdr>
          <a:top>
            <a:ln w="508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eCell>
    <a:sw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2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3E919B74-BC6B-4152-9BDB-477648A112FC}" styleName="Table_1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F6EF"/>
          </a:solidFill>
        </a:fill>
      </a:tcStyle>
    </a:wholeTbl>
    <a:band1H>
      <a:tcStyle>
        <a:tcBdr/>
        <a:fill>
          <a:solidFill>
            <a:srgbClr val="CAECDD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AECDD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72833802-FEF1-4C79-8D5D-14CF1EAF98D9}" styleName="淺色樣式 2 - 輔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8603FDC-E32A-4AB5-989C-0864C3EAD2B8}" styleName="佈景主題樣式 2 - 輔色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E3FDE45-AF77-4B5C-9715-49D594BDF05E}" styleName="淺色樣式 1 - 輔色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中等深淺樣式 1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21" autoAdjust="0"/>
    <p:restoredTop sz="95185" autoAdjust="0"/>
  </p:normalViewPr>
  <p:slideViewPr>
    <p:cSldViewPr snapToGrid="0">
      <p:cViewPr varScale="1">
        <p:scale>
          <a:sx n="114" d="100"/>
          <a:sy n="114" d="100"/>
        </p:scale>
        <p:origin x="1380" y="9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ian\moniter\Tool\0413_0424\Monitor_Factory_Tools\MonitorFactoryTool\bin\Debug\Gamma_repor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smoothMarker"/>
        <c:varyColors val="0"/>
        <c:ser>
          <c:idx val="1"/>
          <c:order val="0"/>
          <c:tx>
            <c:v>Measure Data</c:v>
          </c:tx>
          <c:spPr>
            <a:ln w="19050" cap="rnd">
              <a:solidFill>
                <a:srgbClr val="0000FF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00FF"/>
              </a:solidFill>
              <a:ln w="9525">
                <a:solidFill>
                  <a:srgbClr val="0000FF"/>
                </a:solidFill>
              </a:ln>
              <a:effectLst/>
            </c:spPr>
          </c:marker>
          <c:xVal>
            <c:numRef>
              <c:f>[Gamma_report.xlsx]DICOM!$K$22:$K$39</c:f>
              <c:numCache>
                <c:formatCode>General</c:formatCode>
                <c:ptCount val="18"/>
                <c:pt idx="0">
                  <c:v>0</c:v>
                </c:pt>
                <c:pt idx="1">
                  <c:v>15</c:v>
                </c:pt>
                <c:pt idx="2">
                  <c:v>30</c:v>
                </c:pt>
                <c:pt idx="3">
                  <c:v>45</c:v>
                </c:pt>
                <c:pt idx="4">
                  <c:v>60</c:v>
                </c:pt>
                <c:pt idx="5">
                  <c:v>75</c:v>
                </c:pt>
                <c:pt idx="6">
                  <c:v>90</c:v>
                </c:pt>
                <c:pt idx="7">
                  <c:v>105</c:v>
                </c:pt>
                <c:pt idx="8">
                  <c:v>120</c:v>
                </c:pt>
                <c:pt idx="9">
                  <c:v>135</c:v>
                </c:pt>
                <c:pt idx="10">
                  <c:v>150</c:v>
                </c:pt>
                <c:pt idx="11">
                  <c:v>165</c:v>
                </c:pt>
                <c:pt idx="12">
                  <c:v>180</c:v>
                </c:pt>
                <c:pt idx="13">
                  <c:v>195</c:v>
                </c:pt>
                <c:pt idx="14">
                  <c:v>210</c:v>
                </c:pt>
                <c:pt idx="15">
                  <c:v>225</c:v>
                </c:pt>
                <c:pt idx="16">
                  <c:v>240</c:v>
                </c:pt>
                <c:pt idx="17">
                  <c:v>255</c:v>
                </c:pt>
              </c:numCache>
            </c:numRef>
          </c:xVal>
          <c:yVal>
            <c:numRef>
              <c:f>[Gamma_report.xlsx]DICOM!$F$22:$F$39</c:f>
              <c:numCache>
                <c:formatCode>0.0000_ </c:formatCode>
                <c:ptCount val="18"/>
                <c:pt idx="1">
                  <c:v>0.81707930987140176</c:v>
                </c:pt>
                <c:pt idx="2">
                  <c:v>0.66871404472511797</c:v>
                </c:pt>
                <c:pt idx="3">
                  <c:v>0.55214896687669401</c:v>
                </c:pt>
                <c:pt idx="4">
                  <c:v>0.47269969666329625</c:v>
                </c:pt>
                <c:pt idx="5">
                  <c:v>0.41768551593988001</c:v>
                </c:pt>
                <c:pt idx="6">
                  <c:v>0.37373890020612816</c:v>
                </c:pt>
                <c:pt idx="7">
                  <c:v>0.35121971700885929</c:v>
                </c:pt>
                <c:pt idx="8">
                  <c:v>0.3154775781549638</c:v>
                </c:pt>
                <c:pt idx="9">
                  <c:v>0.31837749447553332</c:v>
                </c:pt>
                <c:pt idx="10">
                  <c:v>0.29806063084627388</c:v>
                </c:pt>
                <c:pt idx="11">
                  <c:v>0.29043444128477747</c:v>
                </c:pt>
                <c:pt idx="12">
                  <c:v>0.27011981306044802</c:v>
                </c:pt>
                <c:pt idx="13">
                  <c:v>0.27216569792363232</c:v>
                </c:pt>
                <c:pt idx="14">
                  <c:v>0.26534959118021573</c:v>
                </c:pt>
                <c:pt idx="15">
                  <c:v>0.26215609154182817</c:v>
                </c:pt>
                <c:pt idx="16">
                  <c:v>0.2537878547114536</c:v>
                </c:pt>
                <c:pt idx="17">
                  <c:v>0.25042464089352573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CD97-43AF-8D07-9D5C5C584199}"/>
            </c:ext>
          </c:extLst>
        </c:ser>
        <c:ser>
          <c:idx val="2"/>
          <c:order val="1"/>
          <c:tx>
            <c:v>-10% dL/L</c:v>
          </c:tx>
          <c:spPr>
            <a:ln w="19050" cap="rnd">
              <a:solidFill>
                <a:srgbClr val="FF00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F0000"/>
              </a:solidFill>
              <a:ln w="9525">
                <a:solidFill>
                  <a:srgbClr val="FF0000"/>
                </a:solidFill>
              </a:ln>
              <a:effectLst/>
            </c:spPr>
          </c:marker>
          <c:xVal>
            <c:numRef>
              <c:f>[Gamma_report.xlsx]DICOM!$K$22:$K$39</c:f>
              <c:numCache>
                <c:formatCode>General</c:formatCode>
                <c:ptCount val="18"/>
                <c:pt idx="0">
                  <c:v>0</c:v>
                </c:pt>
                <c:pt idx="1">
                  <c:v>15</c:v>
                </c:pt>
                <c:pt idx="2">
                  <c:v>30</c:v>
                </c:pt>
                <c:pt idx="3">
                  <c:v>45</c:v>
                </c:pt>
                <c:pt idx="4">
                  <c:v>60</c:v>
                </c:pt>
                <c:pt idx="5">
                  <c:v>75</c:v>
                </c:pt>
                <c:pt idx="6">
                  <c:v>90</c:v>
                </c:pt>
                <c:pt idx="7">
                  <c:v>105</c:v>
                </c:pt>
                <c:pt idx="8">
                  <c:v>120</c:v>
                </c:pt>
                <c:pt idx="9">
                  <c:v>135</c:v>
                </c:pt>
                <c:pt idx="10">
                  <c:v>150</c:v>
                </c:pt>
                <c:pt idx="11">
                  <c:v>165</c:v>
                </c:pt>
                <c:pt idx="12">
                  <c:v>180</c:v>
                </c:pt>
                <c:pt idx="13">
                  <c:v>195</c:v>
                </c:pt>
                <c:pt idx="14">
                  <c:v>210</c:v>
                </c:pt>
                <c:pt idx="15">
                  <c:v>225</c:v>
                </c:pt>
                <c:pt idx="16">
                  <c:v>240</c:v>
                </c:pt>
                <c:pt idx="17">
                  <c:v>255</c:v>
                </c:pt>
              </c:numCache>
            </c:numRef>
          </c:xVal>
          <c:yVal>
            <c:numRef>
              <c:f>[Gamma_report.xlsx]DICOM!$Q$22:$Q$39</c:f>
              <c:numCache>
                <c:formatCode>0.0000_ </c:formatCode>
                <c:ptCount val="18"/>
                <c:pt idx="1">
                  <c:v>0.76497597437266418</c:v>
                </c:pt>
                <c:pt idx="2">
                  <c:v>0.58850081956878086</c:v>
                </c:pt>
                <c:pt idx="3">
                  <c:v>0.48495661228740017</c:v>
                </c:pt>
                <c:pt idx="4">
                  <c:v>0.41792530074951179</c:v>
                </c:pt>
                <c:pt idx="5">
                  <c:v>0.37163331530557053</c:v>
                </c:pt>
                <c:pt idx="6">
                  <c:v>0.33817612562458865</c:v>
                </c:pt>
                <c:pt idx="7">
                  <c:v>0.31316482881271185</c:v>
                </c:pt>
                <c:pt idx="8">
                  <c:v>0.29399110528420686</c:v>
                </c:pt>
                <c:pt idx="9">
                  <c:v>0.27900209353298161</c:v>
                </c:pt>
                <c:pt idx="10">
                  <c:v>0.26710889300087443</c:v>
                </c:pt>
                <c:pt idx="11">
                  <c:v>0.25756186543839049</c:v>
                </c:pt>
                <c:pt idx="12">
                  <c:v>0.24983448047965134</c:v>
                </c:pt>
                <c:pt idx="13">
                  <c:v>0.24354205492475678</c:v>
                </c:pt>
                <c:pt idx="14">
                  <c:v>0.23839947468645351</c:v>
                </c:pt>
                <c:pt idx="15">
                  <c:v>0.23419120925681183</c:v>
                </c:pt>
                <c:pt idx="16">
                  <c:v>0.23074964808396439</c:v>
                </c:pt>
                <c:pt idx="17">
                  <c:v>0.22788171100303015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CD97-43AF-8D07-9D5C5C584199}"/>
            </c:ext>
          </c:extLst>
        </c:ser>
        <c:ser>
          <c:idx val="0"/>
          <c:order val="2"/>
          <c:tx>
            <c:v>+10% dL/L</c:v>
          </c:tx>
          <c:spPr>
            <a:ln w="19050" cap="rnd">
              <a:solidFill>
                <a:srgbClr val="00B05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B050"/>
              </a:solidFill>
              <a:ln w="9525">
                <a:solidFill>
                  <a:srgbClr val="00B050"/>
                </a:solidFill>
              </a:ln>
              <a:effectLst/>
            </c:spPr>
          </c:marker>
          <c:xVal>
            <c:numRef>
              <c:f>[Gamma_report.xlsx]DICOM!$K$22:$K$39</c:f>
              <c:numCache>
                <c:formatCode>General</c:formatCode>
                <c:ptCount val="18"/>
                <c:pt idx="0">
                  <c:v>0</c:v>
                </c:pt>
                <c:pt idx="1">
                  <c:v>15</c:v>
                </c:pt>
                <c:pt idx="2">
                  <c:v>30</c:v>
                </c:pt>
                <c:pt idx="3">
                  <c:v>45</c:v>
                </c:pt>
                <c:pt idx="4">
                  <c:v>60</c:v>
                </c:pt>
                <c:pt idx="5">
                  <c:v>75</c:v>
                </c:pt>
                <c:pt idx="6">
                  <c:v>90</c:v>
                </c:pt>
                <c:pt idx="7">
                  <c:v>105</c:v>
                </c:pt>
                <c:pt idx="8">
                  <c:v>120</c:v>
                </c:pt>
                <c:pt idx="9">
                  <c:v>135</c:v>
                </c:pt>
                <c:pt idx="10">
                  <c:v>150</c:v>
                </c:pt>
                <c:pt idx="11">
                  <c:v>165</c:v>
                </c:pt>
                <c:pt idx="12">
                  <c:v>180</c:v>
                </c:pt>
                <c:pt idx="13">
                  <c:v>195</c:v>
                </c:pt>
                <c:pt idx="14">
                  <c:v>210</c:v>
                </c:pt>
                <c:pt idx="15">
                  <c:v>225</c:v>
                </c:pt>
                <c:pt idx="16">
                  <c:v>240</c:v>
                </c:pt>
                <c:pt idx="17">
                  <c:v>255</c:v>
                </c:pt>
              </c:numCache>
            </c:numRef>
          </c:xVal>
          <c:yVal>
            <c:numRef>
              <c:f>[Gamma_report.xlsx]DICOM!$R$22:$R$39</c:f>
              <c:numCache>
                <c:formatCode>0.0000_ </c:formatCode>
                <c:ptCount val="18"/>
                <c:pt idx="1">
                  <c:v>0.93497063534436742</c:v>
                </c:pt>
                <c:pt idx="2">
                  <c:v>0.71927877947295438</c:v>
                </c:pt>
                <c:pt idx="3">
                  <c:v>0.59272474835126687</c:v>
                </c:pt>
                <c:pt idx="4">
                  <c:v>0.51079758980495893</c:v>
                </c:pt>
                <c:pt idx="5">
                  <c:v>0.45421849648458623</c:v>
                </c:pt>
                <c:pt idx="6">
                  <c:v>0.41332637576338616</c:v>
                </c:pt>
                <c:pt idx="7">
                  <c:v>0.38275701299331449</c:v>
                </c:pt>
                <c:pt idx="8">
                  <c:v>0.35932246201403062</c:v>
                </c:pt>
                <c:pt idx="9">
                  <c:v>0.3410025587625331</c:v>
                </c:pt>
                <c:pt idx="10">
                  <c:v>0.32646642477884652</c:v>
                </c:pt>
                <c:pt idx="11">
                  <c:v>0.31479783553581064</c:v>
                </c:pt>
                <c:pt idx="12">
                  <c:v>0.30535325391957391</c:v>
                </c:pt>
                <c:pt idx="13">
                  <c:v>0.29766251157470275</c:v>
                </c:pt>
                <c:pt idx="14">
                  <c:v>0.29137713572788765</c:v>
                </c:pt>
                <c:pt idx="15">
                  <c:v>0.28623370020277006</c:v>
                </c:pt>
                <c:pt idx="16">
                  <c:v>0.28202734765817872</c:v>
                </c:pt>
                <c:pt idx="17">
                  <c:v>0.27852209122592575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CD97-43AF-8D07-9D5C5C5841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70764591"/>
        <c:axId val="770763343"/>
      </c:scatterChart>
      <c:valAx>
        <c:axId val="77076459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770763343"/>
        <c:crosses val="autoZero"/>
        <c:crossBetween val="midCat"/>
      </c:valAx>
      <c:valAx>
        <c:axId val="7707633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00_ 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770764591"/>
        <c:crosses val="autoZero"/>
        <c:crossBetween val="midCat"/>
      </c:valAx>
      <c:spPr>
        <a:noFill/>
        <a:ln w="25400"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0" name="Google Shape;4;n"/>
          <p:cNvSpPr txBox="1">
            <a:spLocks noGrp="1"/>
          </p:cNvSpPr>
          <p:nvPr>
            <p:ph type="dt" idx="10"/>
          </p:nvPr>
        </p:nvSpPr>
        <p:spPr>
          <a:xfrm>
            <a:off x="4138613" y="0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1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062038" y="735013"/>
            <a:ext cx="5197475" cy="35988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62" name="Google Shape;6;n"/>
          <p:cNvSpPr txBox="1">
            <a:spLocks noGrp="1"/>
          </p:cNvSpPr>
          <p:nvPr>
            <p:ph type="body" idx="1"/>
          </p:nvPr>
        </p:nvSpPr>
        <p:spPr>
          <a:xfrm>
            <a:off x="962025" y="4567238"/>
            <a:ext cx="5391150" cy="430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63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34475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4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38613" y="9134475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86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048587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t>1</a:t>
            </a:fld>
            <a:endParaRPr lang="en-US" altLang="zh-TW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710130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b="1" dirty="0"/>
              <a:t>1. FATFS </a:t>
            </a:r>
            <a:r>
              <a:rPr lang="zh-TW" altLang="en-US" b="1" dirty="0"/>
              <a:t>的檔名限制（</a:t>
            </a:r>
            <a:r>
              <a:rPr lang="en-US" altLang="zh-TW" b="1" dirty="0"/>
              <a:t>8.3 </a:t>
            </a:r>
            <a:r>
              <a:rPr lang="zh-TW" altLang="en-US" b="1" dirty="0"/>
              <a:t>格式）</a:t>
            </a:r>
          </a:p>
          <a:p>
            <a:r>
              <a:rPr lang="zh-TW" altLang="en-US" dirty="0"/>
              <a:t>在預設的標準 </a:t>
            </a:r>
            <a:r>
              <a:rPr lang="en-US" altLang="zh-TW" dirty="0"/>
              <a:t>FAT32 </a:t>
            </a:r>
            <a:r>
              <a:rPr lang="zh-TW" altLang="en-US" dirty="0"/>
              <a:t>檔案系統中，傳統的檔案名稱遵循的是 </a:t>
            </a:r>
            <a:r>
              <a:rPr lang="en-US" altLang="zh-TW" b="1" dirty="0"/>
              <a:t>8.3 </a:t>
            </a:r>
            <a:r>
              <a:rPr lang="zh-TW" altLang="en-US" b="1" dirty="0"/>
              <a:t>命名規則</a:t>
            </a:r>
            <a:r>
              <a:rPr lang="zh-TW" altLang="en-US" dirty="0"/>
              <a:t>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/>
              <a:t>檔名主體</a:t>
            </a:r>
            <a:r>
              <a:rPr lang="zh-TW" altLang="en-US" dirty="0"/>
              <a:t>：最多 </a:t>
            </a:r>
            <a:r>
              <a:rPr lang="en-US" altLang="zh-TW" b="1" dirty="0"/>
              <a:t>8 </a:t>
            </a:r>
            <a:r>
              <a:rPr lang="zh-TW" altLang="en-US" b="1" dirty="0"/>
              <a:t>個字元</a:t>
            </a:r>
            <a:r>
              <a:rPr lang="zh-TW" altLang="en-US" dirty="0"/>
              <a:t>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/>
              <a:t>副檔名</a:t>
            </a:r>
            <a:r>
              <a:rPr lang="zh-TW" altLang="en-US" dirty="0"/>
              <a:t>：最多 </a:t>
            </a:r>
            <a:r>
              <a:rPr lang="en-US" altLang="zh-TW" b="1" dirty="0"/>
              <a:t>3 </a:t>
            </a:r>
            <a:r>
              <a:rPr lang="zh-TW" altLang="en-US" b="1" dirty="0"/>
              <a:t>個字元</a:t>
            </a:r>
            <a:r>
              <a:rPr lang="zh-TW" altLang="en-US" dirty="0"/>
              <a:t>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/>
              <a:t>中間的點</a:t>
            </a:r>
            <a:r>
              <a:rPr lang="zh-TW" altLang="en-US" dirty="0"/>
              <a:t>：固定佔用 </a:t>
            </a:r>
            <a:r>
              <a:rPr lang="en-US" altLang="zh-TW" dirty="0"/>
              <a:t>1 </a:t>
            </a:r>
            <a:r>
              <a:rPr lang="zh-TW" altLang="en-US" dirty="0"/>
              <a:t>個字元。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/>
              <a:t>總長度</a:t>
            </a:r>
            <a:r>
              <a:rPr lang="zh-TW" altLang="en-US" dirty="0"/>
              <a:t>：這就是為什麼你常看到舊系統限制檔名為 </a:t>
            </a:r>
            <a:r>
              <a:rPr lang="en-US" altLang="zh-TW" dirty="0"/>
              <a:t>XXXXXXXX.XXX</a:t>
            </a:r>
            <a:r>
              <a:rPr lang="zh-TW" altLang="en-US" dirty="0"/>
              <a:t>（總共 </a:t>
            </a:r>
            <a:r>
              <a:rPr lang="en-US" altLang="zh-TW" dirty="0"/>
              <a:t>12 </a:t>
            </a:r>
            <a:r>
              <a:rPr lang="zh-TW" altLang="en-US" dirty="0"/>
              <a:t>個位元組，包含那個點）。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090169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464012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149139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877450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849030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262080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564941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110AC-F4A0-7D78-93B0-AF6E23C1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D5172F1-B577-25A9-AA74-C6AF676616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BD86B3-8EAB-902A-DCF6-698ADFDE9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A9F744-724B-AE5D-EE31-BDB2E09408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740538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406196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597041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833624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68944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Font typeface="Arial" panose="020B0604020202020204" pitchFamily="34" charset="0"/>
              <a:buNone/>
            </a:pPr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598678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11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Font typeface="Arial" panose="020B0604020202020204" pitchFamily="34" charset="0"/>
              <a:buNone/>
            </a:pPr>
            <a:endParaRPr lang="zh-TW" altLang="en-US" dirty="0"/>
          </a:p>
        </p:txBody>
      </p:sp>
      <p:sp>
        <p:nvSpPr>
          <p:cNvPr id="1048612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336455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225652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265805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B8052-553F-DC52-5D97-20BD2215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8DA0D87-C7FA-7F54-314E-D4295614E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204A75-DF32-18E0-4B4A-BB411D3A90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90C941E-3884-1379-C460-BF93668359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288097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42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None/>
            </a:pPr>
            <a:endParaRPr lang="en-US" altLang="zh-TW" dirty="0"/>
          </a:p>
        </p:txBody>
      </p:sp>
      <p:sp>
        <p:nvSpPr>
          <p:cNvPr id="1048643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t>20</a:t>
            </a:fld>
            <a:endParaRPr lang="en-US" altLang="zh-TW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Google Shape;21;p50"/>
          <p:cNvSpPr txBox="1"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75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37" name="Google Shape;22;p50"/>
          <p:cNvSpPr txBox="1"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390"/>
              </a:spcBef>
              <a:spcAft>
                <a:spcPts val="0"/>
              </a:spcAft>
              <a:buSzPts val="1950"/>
              <a:buNone/>
              <a:defRPr sz="1950"/>
            </a:lvl1pPr>
            <a:lvl2pPr lvl="1" algn="ctr">
              <a:spcBef>
                <a:spcPts val="325"/>
              </a:spcBef>
              <a:spcAft>
                <a:spcPts val="0"/>
              </a:spcAft>
              <a:buSzPts val="1625"/>
              <a:buNone/>
              <a:defRPr sz="1625"/>
            </a:lvl2pPr>
            <a:lvl3pPr lvl="2" algn="ctr">
              <a:spcBef>
                <a:spcPts val="293"/>
              </a:spcBef>
              <a:spcAft>
                <a:spcPts val="0"/>
              </a:spcAft>
              <a:buSzPts val="1463"/>
              <a:buFont typeface="Times New Roman"/>
              <a:buNone/>
              <a:defRPr sz="1463"/>
            </a:lvl3pPr>
            <a:lvl4pPr lvl="3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4pPr>
            <a:lvl5pPr lvl="4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5pPr>
            <a:lvl6pPr lvl="5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6pPr>
            <a:lvl7pPr lvl="6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7pPr>
            <a:lvl8pPr lvl="7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8pPr>
            <a:lvl9pPr lvl="8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9pPr>
          </a:lstStyle>
          <a:p>
            <a:endParaRPr/>
          </a:p>
        </p:txBody>
      </p:sp>
      <p:sp>
        <p:nvSpPr>
          <p:cNvPr id="1048638" name="Google Shape;23;p50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39" name="Google Shape;24;p50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40" name="Google Shape;25;p50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Google Shape;37;p5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7" name="Google Shape;38;p5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48" name="Google Shape;39;p5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  <p:sp>
        <p:nvSpPr>
          <p:cNvPr id="1048649" name="Google Shape;40;p54"/>
          <p:cNvSpPr txBox="1">
            <a:spLocks noGrp="1"/>
          </p:cNvSpPr>
          <p:nvPr>
            <p:ph type="body" idx="3"/>
          </p:nvPr>
        </p:nvSpPr>
        <p:spPr>
          <a:xfrm>
            <a:off x="4645027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50" name="Google Shape;41;p54"/>
          <p:cNvSpPr txBox="1">
            <a:spLocks noGrp="1"/>
          </p:cNvSpPr>
          <p:nvPr>
            <p:ph type="body" idx="4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Google Shape;43;p55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Google Shape;50;p58"/>
          <p:cNvSpPr txBox="1">
            <a:spLocks noGrp="1"/>
          </p:cNvSpPr>
          <p:nvPr>
            <p:ph type="title"/>
          </p:nvPr>
        </p:nvSpPr>
        <p:spPr>
          <a:xfrm>
            <a:off x="1792290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5" name="Google Shape;51;p58"/>
          <p:cNvSpPr>
            <a:spLocks noGrp="1"/>
          </p:cNvSpPr>
          <p:nvPr>
            <p:ph type="pic" idx="2"/>
          </p:nvPr>
        </p:nvSpPr>
        <p:spPr>
          <a:xfrm>
            <a:off x="1792290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rgbClr val="FF5050"/>
              </a:buClr>
              <a:buSzPts val="2800"/>
              <a:buFont typeface="Noto Sans Symbols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rgbClr val="6699FF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56" name="Google Shape;52;p58"/>
          <p:cNvSpPr txBox="1">
            <a:spLocks noGrp="1"/>
          </p:cNvSpPr>
          <p:nvPr>
            <p:ph type="body" idx="1"/>
          </p:nvPr>
        </p:nvSpPr>
        <p:spPr>
          <a:xfrm>
            <a:off x="1792290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Google Shape;54;p59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5" name="Google Shape;55;p59"/>
          <p:cNvSpPr txBox="1">
            <a:spLocks noGrp="1"/>
          </p:cNvSpPr>
          <p:nvPr>
            <p:ph type="body" idx="1"/>
          </p:nvPr>
        </p:nvSpPr>
        <p:spPr>
          <a:xfrm rot="5400000">
            <a:off x="2593975" y="-485775"/>
            <a:ext cx="4800600" cy="866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Google Shape;57;p60"/>
          <p:cNvSpPr txBox="1">
            <a:spLocks noGrp="1"/>
          </p:cNvSpPr>
          <p:nvPr>
            <p:ph type="title"/>
          </p:nvPr>
        </p:nvSpPr>
        <p:spPr>
          <a:xfrm rot="5400000">
            <a:off x="4857751" y="2419350"/>
            <a:ext cx="5638800" cy="20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8" name="Google Shape;58;p60"/>
          <p:cNvSpPr txBox="1">
            <a:spLocks noGrp="1"/>
          </p:cNvSpPr>
          <p:nvPr>
            <p:ph type="body" idx="1"/>
          </p:nvPr>
        </p:nvSpPr>
        <p:spPr>
          <a:xfrm rot="5400000">
            <a:off x="742951" y="476250"/>
            <a:ext cx="5638800" cy="59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1_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9" name="Title 1"/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en-US" dirty="0"/>
          </a:p>
        </p:txBody>
      </p:sp>
      <p:sp>
        <p:nvSpPr>
          <p:cNvPr id="1048580" name="Chart Placeholder 2"/>
          <p:cNvSpPr>
            <a:spLocks noGrp="1"/>
          </p:cNvSpPr>
          <p:nvPr>
            <p:ph type="chart" idx="1"/>
          </p:nvPr>
        </p:nvSpPr>
        <p:spPr>
          <a:xfrm>
            <a:off x="609600" y="1447800"/>
            <a:ext cx="8001000" cy="4800600"/>
          </a:xfrm>
        </p:spPr>
        <p:txBody>
          <a:bodyPr/>
          <a:lstStyle/>
          <a:p>
            <a:pPr lvl="0"/>
            <a:endParaRPr lang="en-US" noProof="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1048652" name="Title 1"/>
          <p:cNvSpPr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altLang="zh-TW" dirty="0"/>
              <a:t>Title of the Slide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10;p48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cxnSp>
        <p:nvCxnSpPr>
          <p:cNvPr id="3145728" name="Google Shape;11;p48"/>
          <p:cNvCxnSpPr>
            <a:cxnSpLocks/>
          </p:cNvCxnSpPr>
          <p:nvPr/>
        </p:nvCxnSpPr>
        <p:spPr>
          <a:xfrm>
            <a:off x="412750" y="533400"/>
            <a:ext cx="899795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29" name="Google Shape;12;p48"/>
          <p:cNvCxnSpPr>
            <a:cxnSpLocks/>
          </p:cNvCxnSpPr>
          <p:nvPr/>
        </p:nvCxnSpPr>
        <p:spPr>
          <a:xfrm>
            <a:off x="577850" y="228600"/>
            <a:ext cx="0" cy="990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30" name="Google Shape;13;p48"/>
          <p:cNvCxnSpPr>
            <a:cxnSpLocks/>
          </p:cNvCxnSpPr>
          <p:nvPr/>
        </p:nvCxnSpPr>
        <p:spPr>
          <a:xfrm>
            <a:off x="495300" y="6400800"/>
            <a:ext cx="8915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8577" name="Google Shape;14;p48"/>
          <p:cNvSpPr txBox="1">
            <a:spLocks noGrp="1"/>
          </p:cNvSpPr>
          <p:nvPr>
            <p:ph type="body" idx="1"/>
          </p:nvPr>
        </p:nvSpPr>
        <p:spPr>
          <a:xfrm>
            <a:off x="660400" y="1447800"/>
            <a:ext cx="866775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48578" name="Google Shape;15;p48"/>
          <p:cNvSpPr txBox="1"/>
          <p:nvPr/>
        </p:nvSpPr>
        <p:spPr>
          <a:xfrm>
            <a:off x="8510587" y="6502400"/>
            <a:ext cx="81756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97152" name="Google Shape;16;p48"/>
          <p:cNvPicPr preferRelativeResize="0">
            <a:picLocks/>
          </p:cNvPicPr>
          <p:nvPr/>
        </p:nvPicPr>
        <p:blipFill rotWithShape="1">
          <a:blip r:embed="rId11">
            <a:alphaModFix/>
          </a:blip>
          <a:srcRect/>
          <a:stretch>
            <a:fillRect/>
          </a:stretch>
        </p:blipFill>
        <p:spPr>
          <a:xfrm>
            <a:off x="57150" y="6446838"/>
            <a:ext cx="1827213" cy="36036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Rectangle 2"/>
          <p:cNvSpPr>
            <a:spLocks noGrp="1" noChangeArrowheads="1"/>
          </p:cNvSpPr>
          <p:nvPr>
            <p:ph type="title"/>
          </p:nvPr>
        </p:nvSpPr>
        <p:spPr>
          <a:xfrm>
            <a:off x="668908" y="1829704"/>
            <a:ext cx="8568183" cy="1728539"/>
          </a:xfrm>
        </p:spPr>
        <p:txBody>
          <a:bodyPr/>
          <a:lstStyle/>
          <a:p>
            <a:pPr algn="ctr" eaLnBrk="1" hangingPunct="1"/>
            <a:r>
              <a:rPr lang="en-US" altLang="zh-TW" sz="3200" b="1" dirty="0">
                <a:solidFill>
                  <a:srgbClr val="0057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Progress Report</a:t>
            </a:r>
          </a:p>
        </p:txBody>
      </p:sp>
      <p:sp>
        <p:nvSpPr>
          <p:cNvPr id="1048582" name="Rectangle 2"/>
          <p:cNvSpPr txBox="1">
            <a:spLocks noChangeArrowheads="1"/>
          </p:cNvSpPr>
          <p:nvPr/>
        </p:nvSpPr>
        <p:spPr bwMode="auto">
          <a:xfrm>
            <a:off x="907104" y="3362630"/>
            <a:ext cx="8568183" cy="17285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9pPr>
          </a:lstStyle>
          <a:p>
            <a:pPr algn="ctr" eaLnBrk="1" hangingPunct="1"/>
            <a:endParaRPr lang="en-US" altLang="zh-TW" kern="0" dirty="0">
              <a:solidFill>
                <a:schemeClr val="tx1"/>
              </a:solidFill>
            </a:endParaRPr>
          </a:p>
        </p:txBody>
      </p:sp>
      <p:sp>
        <p:nvSpPr>
          <p:cNvPr id="1048583" name="Text Box 4"/>
          <p:cNvSpPr txBox="1">
            <a:spLocks noChangeArrowheads="1"/>
          </p:cNvSpPr>
          <p:nvPr/>
        </p:nvSpPr>
        <p:spPr bwMode="auto">
          <a:xfrm>
            <a:off x="1100262" y="4484365"/>
            <a:ext cx="7705476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zh-TW" sz="2000" dirty="0">
                <a:cs typeface="Times New Roman" panose="02020603050405020304" pitchFamily="18" charset="0"/>
              </a:rPr>
              <a:t>Author : </a:t>
            </a:r>
          </a:p>
          <a:p>
            <a:pPr algn="ctr"/>
            <a:r>
              <a:rPr lang="en-US" altLang="zh-TW" sz="2000" dirty="0">
                <a:cs typeface="Times New Roman" panose="02020603050405020304" pitchFamily="18" charset="0"/>
              </a:rPr>
              <a:t>Cheng-Yuan</a:t>
            </a:r>
            <a:r>
              <a:rPr lang="zh-TW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TW" sz="2000" dirty="0">
                <a:cs typeface="Times New Roman" panose="02020603050405020304" pitchFamily="18" charset="0"/>
              </a:rPr>
              <a:t>Sheng-Yao</a:t>
            </a:r>
            <a:r>
              <a:rPr lang="zh-TW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TW" sz="2000" dirty="0">
                <a:cs typeface="Times New Roman" panose="02020603050405020304" pitchFamily="18" charset="0"/>
              </a:rPr>
              <a:t>Che-Chia</a:t>
            </a:r>
          </a:p>
        </p:txBody>
      </p:sp>
      <p:sp>
        <p:nvSpPr>
          <p:cNvPr id="1048584" name="Text Box 4"/>
          <p:cNvSpPr txBox="1">
            <a:spLocks noChangeArrowheads="1"/>
          </p:cNvSpPr>
          <p:nvPr/>
        </p:nvSpPr>
        <p:spPr bwMode="auto">
          <a:xfrm>
            <a:off x="1100262" y="5673486"/>
            <a:ext cx="7705476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zh-TW" b="1" dirty="0">
                <a:solidFill>
                  <a:srgbClr val="0057C0"/>
                </a:solidFill>
              </a:rPr>
              <a:t>Embedded System Software Design</a:t>
            </a:r>
            <a:endParaRPr lang="en-US" altLang="zh-TW" sz="2000" b="1" dirty="0">
              <a:solidFill>
                <a:srgbClr val="0057C0"/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根據第三期計畫書中內容進行開發，以下分別為階段一目標和當前開發進度及優先序。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70104" y="2311400"/>
          <a:ext cx="4903596" cy="2374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917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572565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1758114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9548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19794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Gamma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DICOM GSDF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產生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txt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檔案報告至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USB2.0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隨身碟裝置</a:t>
                      </a:r>
                      <a:endParaRPr lang="zh-TW" altLang="zh-TW" sz="14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604934" y="2353858"/>
          <a:ext cx="4022658" cy="30832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Gamma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DICOM GSDF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產生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txt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檔案報告至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USB2.0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隨身碟裝置</a:t>
                      </a:r>
                      <a:endParaRPr lang="zh-TW" altLang="zh-TW" sz="14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0" lvl="0" indent="0" algn="ctr">
                        <a:buFont typeface="+mj-lt"/>
                        <a:buNone/>
                      </a:pP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0" lvl="0" indent="0" algn="ctr">
                        <a:buFont typeface="+mj-lt"/>
                        <a:buNone/>
                      </a:pP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ABD0C2-0327-4104-B1D8-8BFBAFB39656}"/>
              </a:ext>
            </a:extLst>
          </p:cNvPr>
          <p:cNvSpPr/>
          <p:nvPr/>
        </p:nvSpPr>
        <p:spPr>
          <a:xfrm>
            <a:off x="5604934" y="2847301"/>
            <a:ext cx="4022658" cy="25898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474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>
            <a:extLst>
              <a:ext uri="{FF2B5EF4-FFF2-40B4-BE49-F238E27FC236}">
                <a16:creationId xmlns:a16="http://schemas.microsoft.com/office/drawing/2014/main" id="{DAF79223-2CEA-EE1D-7F5C-004409E7AE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24"/>
          <a:stretch/>
        </p:blipFill>
        <p:spPr>
          <a:xfrm>
            <a:off x="793214" y="2765233"/>
            <a:ext cx="6515246" cy="3651453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0980" y="1037591"/>
            <a:ext cx="8924039" cy="1463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ALC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新增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USB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Log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檔案不覆蓋功能，修改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Log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內容。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FatFs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檔名限制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(8.3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格式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、檔名預設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ALC_xxxx.txt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xxxx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為數字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0~9999</a:t>
            </a: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Log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輸出內容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:Lum(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亮度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T(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溫度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K(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補償係數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PWM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comp(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補償後亮度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PWM * K)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CCR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2611B8E-FD91-0703-7062-29B904BD586F}"/>
              </a:ext>
            </a:extLst>
          </p:cNvPr>
          <p:cNvSpPr/>
          <p:nvPr/>
        </p:nvSpPr>
        <p:spPr>
          <a:xfrm flipH="1">
            <a:off x="793212" y="6126745"/>
            <a:ext cx="4296579" cy="2899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F606814-C23D-696B-0696-D171D76CB499}"/>
              </a:ext>
            </a:extLst>
          </p:cNvPr>
          <p:cNvSpPr/>
          <p:nvPr/>
        </p:nvSpPr>
        <p:spPr>
          <a:xfrm flipH="1">
            <a:off x="793214" y="2986938"/>
            <a:ext cx="3007605" cy="4804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871088D-8155-34B7-D2E1-ABBC8679D262}"/>
              </a:ext>
            </a:extLst>
          </p:cNvPr>
          <p:cNvSpPr/>
          <p:nvPr/>
        </p:nvSpPr>
        <p:spPr>
          <a:xfrm flipH="1">
            <a:off x="793212" y="5065623"/>
            <a:ext cx="1872870" cy="2899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1B8F700A-FECC-15E0-552B-19D7EA523C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6308" y="309336"/>
            <a:ext cx="6382820" cy="851495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5844C164-A839-CFB9-C89E-55F12EE4F889}"/>
              </a:ext>
            </a:extLst>
          </p:cNvPr>
          <p:cNvSpPr/>
          <p:nvPr/>
        </p:nvSpPr>
        <p:spPr>
          <a:xfrm flipH="1">
            <a:off x="3449195" y="292707"/>
            <a:ext cx="6382818" cy="8681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68992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0980" y="1037590"/>
            <a:ext cx="8924039" cy="1918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校正新增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USB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Log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檔案不覆蓋功能。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新增驗證存入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USB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功能。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FatFs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檔名限制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(8.3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格式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、檔名預設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ALC_xxxx.txt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xxxx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為數字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0~9999</a:t>
            </a: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校正與驗證的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log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檔案分開。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A79EBBD3-3A4E-2A98-A0C4-1809CB4664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5635"/>
          <a:stretch/>
        </p:blipFill>
        <p:spPr>
          <a:xfrm>
            <a:off x="5701460" y="2974453"/>
            <a:ext cx="3812711" cy="1344159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72611B8E-FD91-0703-7062-29B904BD586F}"/>
              </a:ext>
            </a:extLst>
          </p:cNvPr>
          <p:cNvSpPr/>
          <p:nvPr/>
        </p:nvSpPr>
        <p:spPr>
          <a:xfrm flipH="1">
            <a:off x="5701459" y="4006602"/>
            <a:ext cx="2384920" cy="3363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CD266C4F-3701-74F5-CABF-6BB2376A81E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269" b="43825"/>
          <a:stretch/>
        </p:blipFill>
        <p:spPr>
          <a:xfrm>
            <a:off x="5701459" y="4527411"/>
            <a:ext cx="3812712" cy="1236098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6871088D-8155-34B7-D2E1-ABBC8679D262}"/>
              </a:ext>
            </a:extLst>
          </p:cNvPr>
          <p:cNvSpPr/>
          <p:nvPr/>
        </p:nvSpPr>
        <p:spPr>
          <a:xfrm flipH="1">
            <a:off x="5827922" y="5473567"/>
            <a:ext cx="2093203" cy="2899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AE7ADC8A-9911-6A45-CC26-EFE588CDD8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371" y="3109427"/>
            <a:ext cx="5110651" cy="2835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783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0980" y="1037590"/>
            <a:ext cx="8924039" cy="1918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測試面板規格驅動之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LUT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生成。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目前測試先把</a:t>
            </a:r>
            <a:r>
              <a:rPr lang="en-US" altLang="zh-TW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total_entries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=1024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，註解燒入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AD Board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MARS-922 (4K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面板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：測試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1024 entries / 2048 Bytes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生成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LUT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16x128 LUT</a:t>
            </a:r>
          </a:p>
          <a:p>
            <a:pPr lvl="1">
              <a:lnSpc>
                <a:spcPts val="3000"/>
              </a:lnSpc>
            </a:pP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9700 (</a:t>
            </a:r>
            <a:r>
              <a:rPr lang="en-US" altLang="zh-TW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FullHD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面板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256 entries / 512 Bytes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16x32 LUT</a:t>
            </a:r>
          </a:p>
          <a:p>
            <a:pPr lvl="1">
              <a:lnSpc>
                <a:spcPts val="3000"/>
              </a:lnSpc>
            </a:pP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75063BE-A5BE-F761-0E94-CDBEEFA0AA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6404"/>
          <a:stretch/>
        </p:blipFill>
        <p:spPr>
          <a:xfrm>
            <a:off x="4304991" y="4415495"/>
            <a:ext cx="5487166" cy="2054618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2F924022-5E28-5A5D-00F0-AA3E5E3263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511" y="5152862"/>
            <a:ext cx="3572374" cy="1114581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3E739444-5385-A90F-7A35-AEA75FB918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843" y="3570383"/>
            <a:ext cx="3809710" cy="845112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72611B8E-FD91-0703-7062-29B904BD586F}"/>
              </a:ext>
            </a:extLst>
          </p:cNvPr>
          <p:cNvSpPr/>
          <p:nvPr/>
        </p:nvSpPr>
        <p:spPr>
          <a:xfrm flipH="1">
            <a:off x="0" y="3840938"/>
            <a:ext cx="4307595" cy="5763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871088D-8155-34B7-D2E1-ABBC8679D262}"/>
              </a:ext>
            </a:extLst>
          </p:cNvPr>
          <p:cNvSpPr/>
          <p:nvPr/>
        </p:nvSpPr>
        <p:spPr>
          <a:xfrm flipH="1">
            <a:off x="4304991" y="5152862"/>
            <a:ext cx="3973079" cy="28994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7620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>
            <a:extLst>
              <a:ext uri="{FF2B5EF4-FFF2-40B4-BE49-F238E27FC236}">
                <a16:creationId xmlns:a16="http://schemas.microsoft.com/office/drawing/2014/main" id="{E6208EDB-FE1F-63DE-44DA-B9A5FCDAE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2" y="2120524"/>
            <a:ext cx="8565616" cy="3928319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0980" y="1037591"/>
            <a:ext cx="8924039" cy="1505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量測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500nits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面板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-DICOM/Gamma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更新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i1_golden_data(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量測原生面板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RGB)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s_i1_gain(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補償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2611B8E-FD91-0703-7062-29B904BD586F}"/>
              </a:ext>
            </a:extLst>
          </p:cNvPr>
          <p:cNvSpPr/>
          <p:nvPr/>
        </p:nvSpPr>
        <p:spPr>
          <a:xfrm flipH="1">
            <a:off x="3216924" y="2321885"/>
            <a:ext cx="936434" cy="3331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E51CDB0-84C1-3011-5182-18DD6029543B}"/>
              </a:ext>
            </a:extLst>
          </p:cNvPr>
          <p:cNvSpPr/>
          <p:nvPr/>
        </p:nvSpPr>
        <p:spPr>
          <a:xfrm flipH="1">
            <a:off x="6345715" y="2971066"/>
            <a:ext cx="978664" cy="2678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13556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0980" y="1037591"/>
            <a:ext cx="8924039" cy="1505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量測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500nits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面板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-DICOM/Gamma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更新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i1_golden_data(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量測原生面板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RGB)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s_i1_gain(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補償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DB5E41D1-310C-D25C-4DDC-AFD8AAD781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718" y="2157183"/>
            <a:ext cx="4826282" cy="3981049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A5BFB852-D708-C59B-719E-5321CFE191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157183"/>
            <a:ext cx="5082031" cy="3208031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72611B8E-FD91-0703-7062-29B904BD586F}"/>
              </a:ext>
            </a:extLst>
          </p:cNvPr>
          <p:cNvSpPr/>
          <p:nvPr/>
        </p:nvSpPr>
        <p:spPr>
          <a:xfrm flipH="1">
            <a:off x="4594032" y="2423369"/>
            <a:ext cx="485685" cy="15054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503FCFD-2F98-F64D-8BEE-422056D59526}"/>
              </a:ext>
            </a:extLst>
          </p:cNvPr>
          <p:cNvSpPr/>
          <p:nvPr/>
        </p:nvSpPr>
        <p:spPr>
          <a:xfrm flipH="1">
            <a:off x="9415018" y="2574935"/>
            <a:ext cx="485685" cy="17399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8E9E7AF-0B36-E59F-69FF-86C0B3BC8684}"/>
              </a:ext>
            </a:extLst>
          </p:cNvPr>
          <p:cNvSpPr/>
          <p:nvPr/>
        </p:nvSpPr>
        <p:spPr>
          <a:xfrm flipH="1">
            <a:off x="12905" y="4147707"/>
            <a:ext cx="5061516" cy="2166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2DE445F-5D31-3DA6-C284-2DD2712DFDD6}"/>
              </a:ext>
            </a:extLst>
          </p:cNvPr>
          <p:cNvSpPr/>
          <p:nvPr/>
        </p:nvSpPr>
        <p:spPr>
          <a:xfrm flipH="1">
            <a:off x="5082031" y="4598702"/>
            <a:ext cx="4697252" cy="2166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85481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>
            <a:extLst>
              <a:ext uri="{FF2B5EF4-FFF2-40B4-BE49-F238E27FC236}">
                <a16:creationId xmlns:a16="http://schemas.microsoft.com/office/drawing/2014/main" id="{CB9A1FCF-7DE5-5DE7-30F7-EFFF31637A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04"/>
          <a:stretch/>
        </p:blipFill>
        <p:spPr>
          <a:xfrm>
            <a:off x="490980" y="2212265"/>
            <a:ext cx="8221050" cy="4074606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0980" y="1037591"/>
            <a:ext cx="8924039" cy="1505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量測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500nits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面板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-DICOM/Gamma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更新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i1_golden_data(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量測原生面板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RGB)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s_i1_gain(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補償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C11A725-CB06-2F4C-6A9D-3060F192A4B4}"/>
              </a:ext>
            </a:extLst>
          </p:cNvPr>
          <p:cNvSpPr/>
          <p:nvPr/>
        </p:nvSpPr>
        <p:spPr>
          <a:xfrm flipH="1">
            <a:off x="801592" y="4206600"/>
            <a:ext cx="7885209" cy="2331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1C81155-BCEB-D572-7A49-79D3B68CA02A}"/>
              </a:ext>
            </a:extLst>
          </p:cNvPr>
          <p:cNvSpPr/>
          <p:nvPr/>
        </p:nvSpPr>
        <p:spPr>
          <a:xfrm flipH="1">
            <a:off x="702439" y="2212265"/>
            <a:ext cx="7494110" cy="2444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1363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0980" y="1037591"/>
            <a:ext cx="8924039" cy="1505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量測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500nits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面板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-DICOM/Gamma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左邊的是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DICOM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6500K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、右邊是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 2.6 6500K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en-US" altLang="zh-TW" sz="14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1" name="圖表 10">
            <a:extLst>
              <a:ext uri="{FF2B5EF4-FFF2-40B4-BE49-F238E27FC236}">
                <a16:creationId xmlns:a16="http://schemas.microsoft.com/office/drawing/2014/main" id="{00000000-0008-0000-0500-000005000000}"/>
              </a:ext>
            </a:extLst>
          </p:cNvPr>
          <p:cNvGraphicFramePr>
            <a:graphicFrameLocks/>
          </p:cNvGraphicFramePr>
          <p:nvPr>
            <p:extLst/>
          </p:nvPr>
        </p:nvGraphicFramePr>
        <p:xfrm>
          <a:off x="228366" y="2371774"/>
          <a:ext cx="4563971" cy="37141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7" name="圖片 16">
            <a:extLst>
              <a:ext uri="{FF2B5EF4-FFF2-40B4-BE49-F238E27FC236}">
                <a16:creationId xmlns:a16="http://schemas.microsoft.com/office/drawing/2014/main" id="{86FD057E-0147-EBE9-CB7E-EFF88B825F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0" y="2459019"/>
            <a:ext cx="4748546" cy="3501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467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396C1-EA64-DABF-AB1E-DAC8812CE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4A029A-1C90-0045-D3C4-09B1AF59B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CA232325-2F30-826A-0F33-B3038ABB7C4A}"/>
              </a:ext>
            </a:extLst>
          </p:cNvPr>
          <p:cNvSpPr txBox="1"/>
          <p:nvPr/>
        </p:nvSpPr>
        <p:spPr>
          <a:xfrm>
            <a:off x="490980" y="1037591"/>
            <a:ext cx="8924039" cy="1505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解決 </a:t>
            </a:r>
            <a:r>
              <a:rPr lang="en-US" altLang="zh-TW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Tool </a:t>
            </a:r>
            <a:r>
              <a:rPr lang="zh-TW" altLang="en-US" sz="16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量測亮度數據浮動（不穩定）問題。</a:t>
            </a:r>
            <a:endParaRPr lang="en-US" altLang="zh-TW" sz="1600" dirty="0">
              <a:solidFill>
                <a:srgbClr val="333333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動態調整當量測亮度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&gt;120 nits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設定 </a:t>
            </a:r>
            <a:r>
              <a:rPr lang="en-US" altLang="zh-TW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TargetLCDTime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0.2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、亮度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&lt;120 nits </a:t>
            </a:r>
            <a:r>
              <a:rPr lang="zh-TW" altLang="en-US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設定 </a:t>
            </a:r>
            <a:r>
              <a:rPr lang="en-US" altLang="zh-TW" sz="1400" dirty="0" err="1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TargetLCDTime</a:t>
            </a:r>
            <a:r>
              <a:rPr lang="en-US" altLang="zh-TW" sz="1400" dirty="0">
                <a:solidFill>
                  <a:srgbClr val="333333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0.02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AE1B39E-0479-0671-4CC2-E5B59CD41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341" y="1956813"/>
            <a:ext cx="7213741" cy="2681287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72611B8E-FD91-0703-7062-29B904BD586F}"/>
              </a:ext>
            </a:extLst>
          </p:cNvPr>
          <p:cNvSpPr/>
          <p:nvPr/>
        </p:nvSpPr>
        <p:spPr>
          <a:xfrm flipH="1">
            <a:off x="5701232" y="2733502"/>
            <a:ext cx="589399" cy="19045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" name="箭號: 向右 5">
            <a:extLst>
              <a:ext uri="{FF2B5EF4-FFF2-40B4-BE49-F238E27FC236}">
                <a16:creationId xmlns:a16="http://schemas.microsoft.com/office/drawing/2014/main" id="{B5AA9523-28BA-828E-DB78-1C30E7D38339}"/>
              </a:ext>
            </a:extLst>
          </p:cNvPr>
          <p:cNvSpPr/>
          <p:nvPr/>
        </p:nvSpPr>
        <p:spPr>
          <a:xfrm>
            <a:off x="3211417" y="3305719"/>
            <a:ext cx="683046" cy="760164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BCCE3CB5-6800-D1F6-EBCD-CDC3E0A8D53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4377"/>
          <a:stretch/>
        </p:blipFill>
        <p:spPr>
          <a:xfrm>
            <a:off x="6381522" y="3919189"/>
            <a:ext cx="3553321" cy="2481814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D95588E4-6CF0-D6ED-0B16-E2C5D2BE0CB3}"/>
              </a:ext>
            </a:extLst>
          </p:cNvPr>
          <p:cNvSpPr/>
          <p:nvPr/>
        </p:nvSpPr>
        <p:spPr>
          <a:xfrm flipH="1">
            <a:off x="6381520" y="5211949"/>
            <a:ext cx="3524479" cy="12880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62C624BA-1567-7C05-B6DB-96D04F65F86F}"/>
              </a:ext>
            </a:extLst>
          </p:cNvPr>
          <p:cNvSpPr txBox="1"/>
          <p:nvPr/>
        </p:nvSpPr>
        <p:spPr>
          <a:xfrm>
            <a:off x="3205909" y="2958902"/>
            <a:ext cx="6885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600" dirty="0">
                <a:solidFill>
                  <a:srgbClr val="FF0000"/>
                </a:solidFill>
              </a:rPr>
              <a:t>After</a:t>
            </a:r>
            <a:endParaRPr lang="zh-TW" alt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40285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下次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Monitor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根據第三期計畫書中內容進行開發，以下分別為階段一目標和當前開發進度及優先序。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70104" y="2311400"/>
          <a:ext cx="4903596" cy="2374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2917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572565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1758114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9548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197943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Gamma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DICOM GSDF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產生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txt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檔案報告至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USB2.0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隨身碟裝置</a:t>
                      </a:r>
                      <a:endParaRPr lang="zh-TW" altLang="zh-TW" sz="14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604934" y="2353858"/>
          <a:ext cx="4022658" cy="30832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45970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Gamma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zh-TW" altLang="zh-TW" sz="14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DICOM GSDF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調校功能</a:t>
                      </a:r>
                      <a:endParaRPr lang="en-US" altLang="zh-TW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產生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txt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檔案報告至</a:t>
                      </a:r>
                      <a:r>
                        <a:rPr lang="en-US" altLang="zh-TW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USB2.0</a:t>
                      </a:r>
                      <a:r>
                        <a:rPr lang="zh-TW" altLang="en-US" sz="1400" b="0" kern="1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隨身碟裝置</a:t>
                      </a:r>
                      <a:endParaRPr lang="zh-TW" altLang="zh-TW" sz="1400" b="0" kern="100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0" lvl="0" indent="0" algn="ctr">
                        <a:buFont typeface="+mj-lt"/>
                        <a:buNone/>
                      </a:pP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630678"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  <a:r>
                        <a:rPr lang="en-US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4</a:t>
                      </a:r>
                      <a:r>
                        <a:rPr lang="zh-TW" altLang="zh-TW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期中報告</a:t>
                      </a:r>
                      <a:endParaRPr lang="zh-TW" alt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  <a:p>
                      <a:pPr marL="0" lvl="0" indent="0" algn="ctr">
                        <a:buFont typeface="+mj-lt"/>
                        <a:buNone/>
                      </a:pPr>
                      <a:endParaRPr lang="en-US" altLang="zh-TW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ABD0C2-0327-4104-B1D8-8BFBAFB39656}"/>
              </a:ext>
            </a:extLst>
          </p:cNvPr>
          <p:cNvSpPr/>
          <p:nvPr/>
        </p:nvSpPr>
        <p:spPr>
          <a:xfrm>
            <a:off x="5604934" y="2847301"/>
            <a:ext cx="4022658" cy="26631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13873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JS1500 &amp; AI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Perf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根據計畫書中階段一內容進行開發，以下分別為階段一目標和當前開發進度及優先序。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70104" y="2311398"/>
          <a:ext cx="4903596" cy="3899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796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18045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358189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BSP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Storage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Wi-Fi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Bluetooth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Ethernet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QSFP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Audio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TPM2.0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panel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RTC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Capture card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Membrane Key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75FFB9C-BD2B-41AE-B1FE-7AF521DB6B6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564860" y="2314096"/>
          <a:ext cx="4022658" cy="38972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331582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6424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BSP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建立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642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Storage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642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function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5799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Wi-Fi 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Bluetooth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  <a:tr h="51924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Ethernet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138769"/>
                  </a:ext>
                </a:extLst>
              </a:tr>
              <a:tr h="473733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QSFP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530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26943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JS1500 &amp; AI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Perf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根據計畫書中階段一內容進行開發，以下分別為階段一目標和當前開發進度及優先序。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70104" y="2311398"/>
          <a:ext cx="4903596" cy="3899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796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18045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358189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BSP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Storage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Wi-Fi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Bluetooth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Ethernet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QSFP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Audio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TPM2.0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panel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RTC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Capture card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Membrane Key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75FFB9C-BD2B-41AE-B1FE-7AF521DB6B6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564860" y="2314096"/>
          <a:ext cx="4022658" cy="39000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37120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84929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Audio</a:t>
                      </a:r>
                      <a:endParaRPr lang="zh-TW" altLang="en-US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849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TPM2.0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5342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panel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  <a:b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</a:b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待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JP7.2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修正熱插拔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59799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RTC function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  <a:tr h="535414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Capture card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138769"/>
                  </a:ext>
                </a:extLst>
              </a:tr>
              <a:tr h="488482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Membrane Key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530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22218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JS1500 &amp; AI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Perf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根據計畫書中階段二內容進行開發，以下分別為階段二目標和當前開發進度及優先序。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70104" y="2311400"/>
          <a:ext cx="4903596" cy="39000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796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28191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3571861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 algn="l">
                        <a:buFont typeface="+mj-lt"/>
                        <a:buAutoNum type="arabicPeriod"/>
                      </a:pP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模型效能資料蒐集</a:t>
                      </a:r>
                    </a:p>
                    <a:p>
                      <a:pPr marL="342900" lvl="0" indent="-342900" algn="l">
                        <a:buFont typeface="+mj-lt"/>
                        <a:buAutoNum type="arabicPeriod"/>
                      </a:pP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模型效能最佳化</a:t>
                      </a:r>
                    </a:p>
                    <a:p>
                      <a:pPr marL="342900" lvl="0" indent="-342900" algn="l">
                        <a:buFont typeface="+mj-lt"/>
                        <a:buAutoNum type="arabicPeriod"/>
                      </a:pP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模型效能改善</a:t>
                      </a:r>
                    </a:p>
                    <a:p>
                      <a:pPr marL="342900" lvl="0" indent="-342900" algn="l">
                        <a:buFont typeface="+mj-lt"/>
                        <a:buAutoNum type="arabicPeriod"/>
                      </a:pP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記錄所有檢測結果</a:t>
                      </a: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604934" y="2311400"/>
          <a:ext cx="4022658" cy="39000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367529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883131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模型效能資料蒐集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883131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模型效能最佳化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883131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模型效能改善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883131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記錄所有檢測結果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15858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15E903C2-D7A2-E707-AA22-A5BFEBFCEF2F}"/>
              </a:ext>
            </a:extLst>
          </p:cNvPr>
          <p:cNvSpPr txBox="1"/>
          <p:nvPr/>
        </p:nvSpPr>
        <p:spPr>
          <a:xfrm>
            <a:off x="297457" y="1377878"/>
            <a:ext cx="9311086" cy="539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684477" y="719049"/>
            <a:ext cx="7923944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上次進度：</a:t>
            </a:r>
            <a:r>
              <a:rPr lang="en-US" altLang="zh-TW" dirty="0" err="1"/>
              <a:t>JetPack</a:t>
            </a:r>
            <a:r>
              <a:rPr lang="en-US" altLang="zh-TW" dirty="0"/>
              <a:t> SDK 7.2</a:t>
            </a:r>
            <a:r>
              <a:rPr lang="zh-TW" altLang="en-US" dirty="0"/>
              <a:t> </a:t>
            </a:r>
            <a:r>
              <a:rPr lang="en-US" altLang="zh-TW" dirty="0"/>
              <a:t>With Jetson Linux 39.2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026" name="Picture 2" descr="https://developer-blogs.nvidia.com/wp-content/uploads/2026/06/robotics-jetpack-7-2-1024x576.jpg">
            <a:extLst>
              <a:ext uri="{FF2B5EF4-FFF2-40B4-BE49-F238E27FC236}">
                <a16:creationId xmlns:a16="http://schemas.microsoft.com/office/drawing/2014/main" id="{2875238A-EE98-499A-9C0F-807D5330D4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320" y="1377878"/>
            <a:ext cx="8849360" cy="4977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39565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字版面配置區 6">
            <a:extLst>
              <a:ext uri="{FF2B5EF4-FFF2-40B4-BE49-F238E27FC236}">
                <a16:creationId xmlns:a16="http://schemas.microsoft.com/office/drawing/2014/main" id="{15E903C2-D7A2-E707-AA22-A5BFEBFCEF2F}"/>
              </a:ext>
            </a:extLst>
          </p:cNvPr>
          <p:cNvSpPr txBox="1"/>
          <p:nvPr/>
        </p:nvSpPr>
        <p:spPr>
          <a:xfrm>
            <a:off x="297457" y="1377878"/>
            <a:ext cx="9311086" cy="5390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HDMI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根本沒修</a:t>
            </a:r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…</a:t>
            </a: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DCB tool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壞了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Multi-Instance GPU</a:t>
            </a:r>
            <a:r>
              <a:rPr lang="zh-TW" altLang="en-US" sz="1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不太正常？</a:t>
            </a:r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1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48602" name="標題 6"/>
          <p:cNvSpPr>
            <a:spLocks noGrp="1"/>
          </p:cNvSpPr>
          <p:nvPr>
            <p:ph type="title"/>
          </p:nvPr>
        </p:nvSpPr>
        <p:spPr>
          <a:xfrm>
            <a:off x="684477" y="719049"/>
            <a:ext cx="7923944" cy="533400"/>
          </a:xfrm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本次進度：</a:t>
            </a:r>
            <a:r>
              <a:rPr lang="en-US" altLang="zh-TW" dirty="0"/>
              <a:t>HDMI</a:t>
            </a:r>
            <a:r>
              <a:rPr lang="zh-TW" altLang="en-US" dirty="0"/>
              <a:t> </a:t>
            </a:r>
            <a:r>
              <a:rPr lang="en-US" altLang="zh-TW" dirty="0"/>
              <a:t>issue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56B2F54-69AD-41E3-B92F-726FFA753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701" y="4177185"/>
            <a:ext cx="5000000" cy="790476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F436C8DB-0AF7-47F9-BFD1-9DD9F0EAEF4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8314"/>
          <a:stretch/>
        </p:blipFill>
        <p:spPr>
          <a:xfrm>
            <a:off x="0" y="1776554"/>
            <a:ext cx="9906000" cy="1817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2180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JS1500 &amp; AI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Perf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根據計畫書中階段一內容進行開發，以下分別為階段一目標和當前開發進度及優先序。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70104" y="2311398"/>
          <a:ext cx="4903596" cy="3899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796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18045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358189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BSP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Storage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Wi-Fi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Bluetooth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Ethernet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QSFP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Audio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TPM2.0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panel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RTC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Capture card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Membrane Key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75FFB9C-BD2B-41AE-B1FE-7AF521DB6B6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564860" y="2314096"/>
          <a:ext cx="4022658" cy="38972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331582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6424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BSP</a:t>
                      </a:r>
                      <a:r>
                        <a:rPr lang="zh-TW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建立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642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Storage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6642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function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5799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Wi-Fi </a:t>
                      </a: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Bluetooth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  <a:tr h="519248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Ethernet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138769"/>
                  </a:ext>
                </a:extLst>
              </a:tr>
              <a:tr h="473733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QSFP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530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3543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JS1500 &amp; AI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Perf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根據計畫書中階段一內容進行開發，以下分別為階段一目標和當前開發進度及優先序。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70104" y="2311398"/>
          <a:ext cx="4903596" cy="3899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796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18045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3581894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BSP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Storage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USB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Wi-Fi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與</a:t>
                      </a: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Bluetooth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Ethernet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QSFP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Audio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TPM2.0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panel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RTC function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Capture card 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Membrane Key</a:t>
                      </a: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功能建立</a:t>
                      </a: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en-US" altLang="zh-TW" sz="18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375FFB9C-BD2B-41AE-B1FE-7AF521DB6B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2552993"/>
              </p:ext>
            </p:extLst>
          </p:nvPr>
        </p:nvGraphicFramePr>
        <p:xfrm>
          <a:off x="5564860" y="2314096"/>
          <a:ext cx="4022658" cy="39000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37120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684929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altLang="zh-TW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Audio</a:t>
                      </a:r>
                      <a:endParaRPr lang="zh-TW" altLang="en-US" sz="1400" b="0" i="0" u="none" strike="noStrike" cap="none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6849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TPM2.0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5342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Front panel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  <a:b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</a:b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待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JP7.3</a:t>
                      </a:r>
                      <a:r>
                        <a:rPr lang="zh-TW" altLang="en-US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修正熱插拔</a:t>
                      </a: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59799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RTC function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  <a:tr h="535414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Capture card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138769"/>
                  </a:ext>
                </a:extLst>
              </a:tr>
              <a:tr h="488482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50000"/>
                        </a:lnSpc>
                        <a:buFont typeface="+mj-lt"/>
                        <a:buNone/>
                      </a:pPr>
                      <a:r>
                        <a:rPr lang="en-US" altLang="zh-TW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Membrane Key</a:t>
                      </a:r>
                      <a:endParaRPr lang="zh-TW" altLang="en-US" sz="14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25309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52318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BC418-93FB-B85E-3E6C-30CE8CC2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C5B78B-4B53-60CF-F0D2-7AB0EB61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下次進度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JS1500 &amp; AI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Perf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A0E973E-B5E1-BA62-48A3-DFE218619D9F}"/>
              </a:ext>
            </a:extLst>
          </p:cNvPr>
          <p:cNvSpPr txBox="1"/>
          <p:nvPr/>
        </p:nvSpPr>
        <p:spPr>
          <a:xfrm>
            <a:off x="520699" y="1369489"/>
            <a:ext cx="7669813" cy="814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-406400">
              <a:lnSpc>
                <a:spcPts val="3000"/>
              </a:lnSpc>
              <a:spcBef>
                <a:spcPts val="560"/>
              </a:spcBef>
              <a:buClr>
                <a:schemeClr val="accent2"/>
              </a:buClr>
              <a:buSzPts val="2800"/>
              <a:buFont typeface="Noto Sans Symbols"/>
              <a:buChar char="❖"/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根據計畫書中階段二內容進行開發，以下分別為階段二目標和當前開發進度及優先序。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4C713A4-B17F-52DB-4D68-9947ADDEA8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9227078"/>
              </p:ext>
            </p:extLst>
          </p:nvPr>
        </p:nvGraphicFramePr>
        <p:xfrm>
          <a:off x="570104" y="2311400"/>
          <a:ext cx="4903596" cy="39000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2796">
                  <a:extLst>
                    <a:ext uri="{9D8B030D-6E8A-4147-A177-3AD203B41FA5}">
                      <a16:colId xmlns:a16="http://schemas.microsoft.com/office/drawing/2014/main" val="119261584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1364961183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476587428"/>
                    </a:ext>
                  </a:extLst>
                </a:gridCol>
              </a:tblGrid>
              <a:tr h="328191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時間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zh-TW" altLang="en-US" sz="1400" b="1" i="0" u="none" strike="noStrike" cap="none" dirty="0">
                          <a:solidFill>
                            <a:schemeClr val="lt1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  <a:sym typeface="Arial"/>
                        </a:rPr>
                        <a:t>目標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900139"/>
                  </a:ext>
                </a:extLst>
              </a:tr>
              <a:tr h="3571861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階段二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 month</a:t>
                      </a:r>
                      <a:endParaRPr lang="zh-TW" altLang="en-US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 algn="l">
                        <a:buFont typeface="+mj-lt"/>
                        <a:buAutoNum type="arabicPeriod"/>
                      </a:pP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模型效能資料蒐集</a:t>
                      </a:r>
                    </a:p>
                    <a:p>
                      <a:pPr marL="342900" lvl="0" indent="-342900" algn="l">
                        <a:buFont typeface="+mj-lt"/>
                        <a:buAutoNum type="arabicPeriod"/>
                      </a:pP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模型效能最佳化</a:t>
                      </a:r>
                    </a:p>
                    <a:p>
                      <a:pPr marL="342900" lvl="0" indent="-342900" algn="l">
                        <a:buFont typeface="+mj-lt"/>
                        <a:buAutoNum type="arabicPeriod"/>
                      </a:pP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模型效能改善</a:t>
                      </a:r>
                    </a:p>
                    <a:p>
                      <a:pPr marL="342900" lvl="0" indent="-342900" algn="l">
                        <a:buFont typeface="+mj-lt"/>
                        <a:buAutoNum type="arabicPeriod"/>
                      </a:pPr>
                      <a:r>
                        <a:rPr lang="zh-TW" altLang="en-US" sz="18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記錄所有檢測結果</a:t>
                      </a:r>
                    </a:p>
                  </a:txBody>
                  <a:tcPr marL="17780" marR="17780" marT="0" marB="0"/>
                </a:tc>
                <a:extLst>
                  <a:ext uri="{0D108BD9-81ED-4DB2-BD59-A6C34878D82A}">
                    <a16:rowId xmlns:a16="http://schemas.microsoft.com/office/drawing/2014/main" val="2847363105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BE2C05B-3128-C4B4-FC74-79C315F3D6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3940067"/>
              </p:ext>
            </p:extLst>
          </p:nvPr>
        </p:nvGraphicFramePr>
        <p:xfrm>
          <a:off x="5604934" y="2311400"/>
          <a:ext cx="4022658" cy="39000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329">
                  <a:extLst>
                    <a:ext uri="{9D8B030D-6E8A-4147-A177-3AD203B41FA5}">
                      <a16:colId xmlns:a16="http://schemas.microsoft.com/office/drawing/2014/main" val="761389866"/>
                    </a:ext>
                  </a:extLst>
                </a:gridCol>
                <a:gridCol w="2011329">
                  <a:extLst>
                    <a:ext uri="{9D8B030D-6E8A-4147-A177-3AD203B41FA5}">
                      <a16:colId xmlns:a16="http://schemas.microsoft.com/office/drawing/2014/main" val="1643138419"/>
                    </a:ext>
                  </a:extLst>
                </a:gridCol>
              </a:tblGrid>
              <a:tr h="367529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917929"/>
                  </a:ext>
                </a:extLst>
              </a:tr>
              <a:tr h="883131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模型效能資料蒐集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902268"/>
                  </a:ext>
                </a:extLst>
              </a:tr>
              <a:tr h="883131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模型效能最佳化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210310"/>
                  </a:ext>
                </a:extLst>
              </a:tr>
              <a:tr h="883131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模型效能改善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747742"/>
                  </a:ext>
                </a:extLst>
              </a:tr>
              <a:tr h="883131">
                <a:tc>
                  <a:txBody>
                    <a:bodyPr/>
                    <a:lstStyle/>
                    <a:p>
                      <a:pPr marL="0" lvl="0" indent="0" algn="ctr">
                        <a:buFont typeface="+mj-lt"/>
                        <a:buNone/>
                      </a:pPr>
                      <a:r>
                        <a:rPr lang="zh-TW" altLang="en-US" sz="14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記錄所有檢測結果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△</a:t>
                      </a:r>
                      <a:endParaRPr lang="en-US" altLang="zh-TW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47268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D75B16B-2D9B-C71E-BDE4-30C741E9E628}"/>
              </a:ext>
            </a:extLst>
          </p:cNvPr>
          <p:cNvSpPr txBox="1"/>
          <p:nvPr/>
        </p:nvSpPr>
        <p:spPr>
          <a:xfrm>
            <a:off x="8635013" y="1541843"/>
            <a:ext cx="952505" cy="7386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</a:t>
            </a:r>
            <a:b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△: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未進行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進行中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83241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4" name="圖片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57746" y="3004771"/>
            <a:ext cx="5556738" cy="84845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097165" name="Picture 2" descr="http://www.secretariat.ntust.edu.tw/ezfiles/20/1020/img/1688/09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64866" y="1628181"/>
            <a:ext cx="6260123" cy="1186962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097166" name="圖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3650" y="4226628"/>
            <a:ext cx="4266522" cy="9305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229642</TotalTime>
  <Words>1315</Words>
  <Application>Microsoft Office PowerPoint</Application>
  <PresentationFormat>A4 紙張 (210x297 公釐)</PresentationFormat>
  <Paragraphs>313</Paragraphs>
  <Slides>20</Slides>
  <Notes>20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27" baseType="lpstr">
      <vt:lpstr>Noto Sans Symbols</vt:lpstr>
      <vt:lpstr>新細明體</vt:lpstr>
      <vt:lpstr>標楷體</vt:lpstr>
      <vt:lpstr>Arial</vt:lpstr>
      <vt:lpstr>Calibri</vt:lpstr>
      <vt:lpstr>Times New Roman</vt:lpstr>
      <vt:lpstr>template</vt:lpstr>
      <vt:lpstr>Progress Report</vt:lpstr>
      <vt:lpstr>本次進度: Monitor</vt:lpstr>
      <vt:lpstr>上次進度: Monitor</vt:lpstr>
      <vt:lpstr>上次進度: Monitor</vt:lpstr>
      <vt:lpstr>上次進度: Monitor</vt:lpstr>
      <vt:lpstr>本次進度: Monitor</vt:lpstr>
      <vt:lpstr>本次進度: Monitor</vt:lpstr>
      <vt:lpstr>本次進度: Monitor</vt:lpstr>
      <vt:lpstr>本次進度: Monitor</vt:lpstr>
      <vt:lpstr>本次進度: Monitor</vt:lpstr>
      <vt:lpstr>下次進度: Monitor</vt:lpstr>
      <vt:lpstr>上次進度: JS1500 &amp; AI Perf</vt:lpstr>
      <vt:lpstr>上次進度: JS1500 &amp; AI Perf</vt:lpstr>
      <vt:lpstr>上次進度: JS1500 &amp; AI Perf</vt:lpstr>
      <vt:lpstr>上次進度：JetPack SDK 7.2 With Jetson Linux 39.2</vt:lpstr>
      <vt:lpstr>本次進度：HDMI issue</vt:lpstr>
      <vt:lpstr>下次進度: JS1500 &amp; AI Perf</vt:lpstr>
      <vt:lpstr>下次進度: JS1500 &amp; AI Perf</vt:lpstr>
      <vt:lpstr>下次進度: JS1500 &amp; AI Perf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Embedded CMOS Image Sensor System Design and Implementation</dc:title>
  <dc:creator>mblin</dc:creator>
  <cp:lastModifiedBy>user</cp:lastModifiedBy>
  <cp:revision>2268</cp:revision>
  <dcterms:created xsi:type="dcterms:W3CDTF">2003-02-17T16:04:03Z</dcterms:created>
  <dcterms:modified xsi:type="dcterms:W3CDTF">2026-06-09T06:07:08Z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c323e086d3b141ca89c275423e00507f</vt:lpwstr>
  </property>
</Properties>
</file>