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6"/>
  </p:notesMasterIdLst>
  <p:sldIdLst>
    <p:sldId id="277" r:id="rId2"/>
    <p:sldId id="1981" r:id="rId3"/>
    <p:sldId id="1982" r:id="rId4"/>
    <p:sldId id="286" r:id="rId5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981"/>
            <p14:sldId id="1982"/>
          </p14:sldIdLst>
        </p14:section>
        <p14:section name="JS1500" id="{F71E69A4-C86C-4DAC-B828-42C2D8800267}">
          <p14:sldIdLst/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9900"/>
    <a:srgbClr val="00B050"/>
    <a:srgbClr val="0057C0"/>
    <a:srgbClr val="FFC000"/>
    <a:srgbClr val="FFFFFF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 autoAdjust="0"/>
    <p:restoredTop sz="76364" autoAdjust="0"/>
  </p:normalViewPr>
  <p:slideViewPr>
    <p:cSldViewPr snapToGrid="0">
      <p:cViewPr varScale="1">
        <p:scale>
          <a:sx n="84" d="100"/>
          <a:sy n="84" d="100"/>
        </p:scale>
        <p:origin x="2088" y="9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en-US" dirty="0"/>
              <a:t>這次主要完成</a:t>
            </a:r>
            <a:r>
              <a:rPr lang="en-US" altLang="zh-TW" dirty="0"/>
              <a:t>PC Tool</a:t>
            </a:r>
            <a:r>
              <a:rPr lang="zh-TW" altLang="en-US" dirty="0"/>
              <a:t>到</a:t>
            </a:r>
            <a:r>
              <a:rPr lang="en-US" altLang="zh-TW" dirty="0"/>
              <a:t>MARS-922 Firmware</a:t>
            </a:r>
            <a:r>
              <a:rPr lang="zh-TW" altLang="en-US" dirty="0"/>
              <a:t>的</a:t>
            </a:r>
            <a:r>
              <a:rPr lang="en-US" altLang="zh-TW" dirty="0" err="1"/>
              <a:t>CompressedLUT</a:t>
            </a:r>
            <a:r>
              <a:rPr lang="zh-TW" altLang="en-US" dirty="0"/>
              <a:t>整體架構。</a:t>
            </a:r>
            <a:endParaRPr lang="en-US" altLang="zh-TW" dirty="0"/>
          </a:p>
          <a:p>
            <a:pPr marL="0" indent="0"/>
            <a:r>
              <a:rPr lang="en-US" altLang="zh-TW" dirty="0"/>
              <a:t>PC Tool</a:t>
            </a:r>
            <a:r>
              <a:rPr lang="zh-TW" altLang="en-US" dirty="0"/>
              <a:t>在校正完成後，先將原始</a:t>
            </a:r>
            <a:r>
              <a:rPr lang="en-US" altLang="zh-TW" dirty="0"/>
              <a:t>LUT</a:t>
            </a:r>
            <a:r>
              <a:rPr lang="zh-TW" altLang="en-US" dirty="0"/>
              <a:t>以論文方法壓縮並封裝成</a:t>
            </a:r>
            <a:r>
              <a:rPr lang="en-US" altLang="zh-TW" dirty="0"/>
              <a:t>CLT1</a:t>
            </a:r>
            <a:r>
              <a:rPr lang="zh-TW" altLang="en-US" dirty="0"/>
              <a:t>，再透過</a:t>
            </a:r>
            <a:r>
              <a:rPr lang="en-US" altLang="zh-TW" dirty="0"/>
              <a:t>DDC/CI</a:t>
            </a:r>
            <a:r>
              <a:rPr lang="zh-TW" altLang="en-US" dirty="0"/>
              <a:t>傳送至</a:t>
            </a:r>
            <a:r>
              <a:rPr lang="en-US" altLang="zh-TW" dirty="0"/>
              <a:t>Firmware</a:t>
            </a:r>
            <a:r>
              <a:rPr lang="zh-TW" altLang="en-US" dirty="0"/>
              <a:t>。</a:t>
            </a:r>
            <a:endParaRPr lang="en-US" altLang="zh-TW" dirty="0"/>
          </a:p>
          <a:p>
            <a:pPr marL="0" indent="0"/>
            <a:r>
              <a:rPr lang="en-US" altLang="zh-TW" dirty="0"/>
              <a:t>DDC2Bi.c</a:t>
            </a:r>
            <a:r>
              <a:rPr lang="zh-TW" altLang="en-US" dirty="0"/>
              <a:t>負責接收新增指令，</a:t>
            </a:r>
            <a:r>
              <a:rPr lang="en-US" altLang="zh-TW" dirty="0" err="1"/>
              <a:t>MStarCompressedLut.c</a:t>
            </a:r>
            <a:r>
              <a:rPr lang="zh-TW" altLang="en-US" dirty="0"/>
              <a:t>負責傳輸</a:t>
            </a:r>
            <a:r>
              <a:rPr lang="en-US" altLang="zh-TW" dirty="0"/>
              <a:t>Session</a:t>
            </a:r>
            <a:r>
              <a:rPr lang="zh-TW" altLang="en-US" dirty="0"/>
              <a:t>與封包暫存，最後由</a:t>
            </a:r>
            <a:r>
              <a:rPr lang="en-US" altLang="zh-TW" dirty="0" err="1"/>
              <a:t>CompressedLutDecoder.c</a:t>
            </a:r>
            <a:r>
              <a:rPr lang="zh-TW" altLang="en-US" dirty="0"/>
              <a:t>解析</a:t>
            </a:r>
            <a:r>
              <a:rPr lang="en-US" altLang="zh-TW" dirty="0"/>
              <a:t>CLT1</a:t>
            </a:r>
            <a:r>
              <a:rPr lang="zh-TW" altLang="en-US" dirty="0"/>
              <a:t>、驗證</a:t>
            </a:r>
            <a:r>
              <a:rPr lang="en-US" altLang="zh-TW" dirty="0"/>
              <a:t>CRC</a:t>
            </a:r>
            <a:r>
              <a:rPr lang="zh-TW" altLang="en-US" dirty="0"/>
              <a:t>並解壓縮。</a:t>
            </a:r>
            <a:endParaRPr lang="en-US" altLang="zh-TW" dirty="0"/>
          </a:p>
          <a:p>
            <a:pPr marL="0" indent="0"/>
            <a:r>
              <a:rPr lang="zh-TW" altLang="en-US" dirty="0"/>
              <a:t>只有</a:t>
            </a:r>
            <a:r>
              <a:rPr lang="en-US" altLang="zh-TW" dirty="0"/>
              <a:t>COMMIT</a:t>
            </a:r>
            <a:r>
              <a:rPr lang="zh-TW" altLang="en-US" dirty="0"/>
              <a:t>成功後，解壓出的資料才會寫入原本的</a:t>
            </a:r>
            <a:r>
              <a:rPr lang="en-US" altLang="zh-TW" dirty="0"/>
              <a:t>Gamma Table</a:t>
            </a:r>
            <a:r>
              <a:rPr lang="zh-TW" altLang="en-US" dirty="0"/>
              <a:t>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6814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在</a:t>
            </a:r>
            <a:r>
              <a:rPr lang="en-US" altLang="zh-TW" dirty="0"/>
              <a:t>DDC2Bi.c</a:t>
            </a:r>
            <a:r>
              <a:rPr lang="zh-TW" altLang="en-US" dirty="0"/>
              <a:t>中，我新增</a:t>
            </a:r>
            <a:r>
              <a:rPr lang="en-US" altLang="zh-TW" dirty="0" err="1"/>
              <a:t>ResolveClutTarget</a:t>
            </a:r>
            <a:r>
              <a:rPr lang="zh-TW" altLang="en-US" dirty="0"/>
              <a:t>函式，將</a:t>
            </a:r>
            <a:r>
              <a:rPr lang="en-US" altLang="zh-TW" dirty="0"/>
              <a:t>Gamma Mode</a:t>
            </a:r>
            <a:r>
              <a:rPr lang="zh-TW" altLang="en-US" dirty="0"/>
              <a:t>和色溫</a:t>
            </a:r>
            <a:r>
              <a:rPr lang="en-US" altLang="zh-TW" dirty="0"/>
              <a:t>Code</a:t>
            </a:r>
            <a:r>
              <a:rPr lang="zh-TW" altLang="en-US" dirty="0"/>
              <a:t>換算成對應的</a:t>
            </a:r>
            <a:r>
              <a:rPr lang="en-US" altLang="zh-TW" dirty="0"/>
              <a:t>Gamma Table</a:t>
            </a:r>
            <a:r>
              <a:rPr lang="zh-TW" altLang="en-US" dirty="0"/>
              <a:t>起始位址。</a:t>
            </a: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另外新增五個指令：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BEGIN</a:t>
            </a:r>
            <a:r>
              <a:rPr lang="zh-TW" altLang="en-US" dirty="0"/>
              <a:t>建立傳輸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DATA</a:t>
            </a:r>
            <a:r>
              <a:rPr lang="zh-TW" altLang="en-US" dirty="0"/>
              <a:t>接收</a:t>
            </a:r>
            <a:r>
              <a:rPr lang="en-US" altLang="zh-TW" dirty="0"/>
              <a:t>16-byte</a:t>
            </a:r>
            <a:r>
              <a:rPr lang="zh-TW" altLang="en-US" dirty="0"/>
              <a:t>封包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VALIDATE</a:t>
            </a:r>
            <a:r>
              <a:rPr lang="zh-TW" altLang="en-US" dirty="0"/>
              <a:t>進行解碼和</a:t>
            </a:r>
            <a:r>
              <a:rPr lang="en-US" altLang="zh-TW" dirty="0"/>
              <a:t>CRC</a:t>
            </a:r>
            <a:r>
              <a:rPr lang="zh-TW" altLang="en-US" dirty="0"/>
              <a:t>驗證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COMMIT</a:t>
            </a:r>
            <a:r>
              <a:rPr lang="zh-TW" altLang="en-US" dirty="0"/>
              <a:t>正式寫入</a:t>
            </a:r>
            <a:r>
              <a:rPr lang="en-US" altLang="zh-TW" dirty="0"/>
              <a:t>Gamma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dirty="0"/>
              <a:t>以及</a:t>
            </a:r>
            <a:r>
              <a:rPr lang="en-US" altLang="zh-TW" dirty="0"/>
              <a:t>ABORT</a:t>
            </a:r>
            <a:r>
              <a:rPr lang="zh-TW" altLang="en-US" dirty="0"/>
              <a:t>取消並清除資料</a:t>
            </a:r>
            <a:endParaRPr lang="en-US" altLang="zh-TW" dirty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zh-TW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這樣可以確保資料完整驗證通過後才修改原本的</a:t>
            </a:r>
            <a:r>
              <a:rPr lang="en-US" altLang="zh-TW" dirty="0"/>
              <a:t>Gamma</a:t>
            </a:r>
            <a:r>
              <a:rPr lang="zh-TW" altLang="en-US" dirty="0"/>
              <a:t>。</a:t>
            </a:r>
            <a:endParaRPr lang="en-US" altLang="zh-TW" sz="1200" b="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8654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4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9602" y="925868"/>
            <a:ext cx="9296398" cy="2829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⇔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MARS-922 Firmware 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壓縮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 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解壓縮架構</a:t>
            </a:r>
            <a:endParaRPr lang="en-US" altLang="zh-TW" sz="20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CLT1 : </a:t>
            </a:r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包含壓縮資料、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</a:t>
            </a:r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規格、壓縮方法及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CRC</a:t>
            </a:r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，讓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FW</a:t>
            </a:r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能正確驗證與解壓</a:t>
            </a:r>
            <a:endParaRPr lang="en-US" altLang="zh-TW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CRC </a:t>
            </a:r>
            <a:r>
              <a:rPr lang="zh-TW" altLang="en-US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 </a:t>
            </a:r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</a:p>
          <a:p>
            <a:pPr lvl="2"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端對原始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CRC32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，並將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32-bit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檢查碼寫入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CLT1 Header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FW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解壓後對還原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重新計算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CRC32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，並與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CLT1 Header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內的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CRC32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比較。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CRC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一致才允許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COMMIT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寫入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Table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zh-TW" altLang="en-US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F3C250-94B3-18F0-C237-CAB5254082AC}"/>
              </a:ext>
            </a:extLst>
          </p:cNvPr>
          <p:cNvSpPr/>
          <p:nvPr/>
        </p:nvSpPr>
        <p:spPr>
          <a:xfrm>
            <a:off x="9865" y="4088759"/>
            <a:ext cx="2721685" cy="2231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6B79E6-7005-51B8-4585-75C6EEC50F19}"/>
              </a:ext>
            </a:extLst>
          </p:cNvPr>
          <p:cNvSpPr/>
          <p:nvPr/>
        </p:nvSpPr>
        <p:spPr>
          <a:xfrm>
            <a:off x="192744" y="4458321"/>
            <a:ext cx="2047089" cy="710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LUT </a:t>
            </a:r>
            <a:r>
              <a:rPr lang="zh-TW" altLang="en-US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壓縮與 </a:t>
            </a:r>
            <a:r>
              <a:rPr lang="en-US" altLang="zh-TW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CLT1 </a:t>
            </a:r>
            <a:r>
              <a:rPr lang="zh-TW" altLang="en-US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封裝</a:t>
            </a:r>
            <a:endParaRPr lang="en-US" altLang="zh-TW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algn="ctr"/>
            <a:r>
              <a:rPr lang="en-US" altLang="zh-TW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CompressedLutCodec.cs</a:t>
            </a:r>
            <a:endParaRPr lang="zh-TW" altLang="en-US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8321B6-B563-72E1-42D0-5CABD7B99C3D}"/>
              </a:ext>
            </a:extLst>
          </p:cNvPr>
          <p:cNvSpPr/>
          <p:nvPr/>
        </p:nvSpPr>
        <p:spPr>
          <a:xfrm>
            <a:off x="3490412" y="4088758"/>
            <a:ext cx="6415588" cy="22334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1676C0-8923-AF35-670A-E128D4827B39}"/>
              </a:ext>
            </a:extLst>
          </p:cNvPr>
          <p:cNvSpPr/>
          <p:nvPr/>
        </p:nvSpPr>
        <p:spPr>
          <a:xfrm>
            <a:off x="858425" y="4104262"/>
            <a:ext cx="873957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PC</a:t>
            </a:r>
            <a:r>
              <a:rPr lang="zh-TW" alt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TW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Tool</a:t>
            </a:r>
            <a:endParaRPr lang="zh-TW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9296C0F-5FF0-F724-E05C-8BC94F3B3B41}"/>
              </a:ext>
            </a:extLst>
          </p:cNvPr>
          <p:cNvSpPr/>
          <p:nvPr/>
        </p:nvSpPr>
        <p:spPr>
          <a:xfrm>
            <a:off x="3693019" y="4458321"/>
            <a:ext cx="1432554" cy="710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新增指令接收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DDC2Bi.c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9AFA61-F097-4B80-EF2B-2C51791B937B}"/>
              </a:ext>
            </a:extLst>
          </p:cNvPr>
          <p:cNvSpPr/>
          <p:nvPr/>
        </p:nvSpPr>
        <p:spPr>
          <a:xfrm>
            <a:off x="5749270" y="4053502"/>
            <a:ext cx="189026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</a:rPr>
              <a:t>AD Board/Firmware</a:t>
            </a:r>
            <a:endParaRPr lang="zh-TW" alt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A12534-68F6-C0E9-DA84-1EE845E94F5A}"/>
              </a:ext>
            </a:extLst>
          </p:cNvPr>
          <p:cNvSpPr/>
          <p:nvPr/>
        </p:nvSpPr>
        <p:spPr>
          <a:xfrm>
            <a:off x="5460604" y="4458321"/>
            <a:ext cx="1890262" cy="710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傳輸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Session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與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algn="ctr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封包暫存</a:t>
            </a:r>
            <a:r>
              <a:rPr lang="en-US" altLang="zh-TW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MStarCompressedLut.c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D3B148-C145-6607-6735-65AF71B506D5}"/>
              </a:ext>
            </a:extLst>
          </p:cNvPr>
          <p:cNvSpPr/>
          <p:nvPr/>
        </p:nvSpPr>
        <p:spPr>
          <a:xfrm>
            <a:off x="7685896" y="4458321"/>
            <a:ext cx="2207106" cy="710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解壓縮、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CRC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驗證</a:t>
            </a:r>
          </a:p>
          <a:p>
            <a:pPr algn="ctr"/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CompressedLutDecoder.c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50C4C7-7680-A8D0-7AAB-605776C74318}"/>
              </a:ext>
            </a:extLst>
          </p:cNvPr>
          <p:cNvSpPr/>
          <p:nvPr/>
        </p:nvSpPr>
        <p:spPr>
          <a:xfrm>
            <a:off x="7685896" y="5553041"/>
            <a:ext cx="2207106" cy="710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COMMIT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成功後寫入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Gamma Table</a:t>
            </a:r>
            <a:endParaRPr lang="en-US" altLang="zh-TW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3E50068-EA8A-9A89-226F-18652CC14308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>
            <a:off x="2239833" y="4813324"/>
            <a:ext cx="1453186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B97D0F65-6695-8D52-2D2C-ED52ABBC0BA6}"/>
              </a:ext>
            </a:extLst>
          </p:cNvPr>
          <p:cNvCxnSpPr>
            <a:cxnSpLocks/>
          </p:cNvCxnSpPr>
          <p:nvPr/>
        </p:nvCxnSpPr>
        <p:spPr>
          <a:xfrm>
            <a:off x="5125573" y="4813323"/>
            <a:ext cx="335031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3693A9D6-9172-8545-1288-6AAA9CACCE2E}"/>
              </a:ext>
            </a:extLst>
          </p:cNvPr>
          <p:cNvCxnSpPr>
            <a:cxnSpLocks/>
          </p:cNvCxnSpPr>
          <p:nvPr/>
        </p:nvCxnSpPr>
        <p:spPr>
          <a:xfrm>
            <a:off x="7350866" y="4819734"/>
            <a:ext cx="335030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FFA218EB-A2FA-4E10-304D-2708703EE5F2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8789449" y="5168326"/>
            <a:ext cx="0" cy="384715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47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Performance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609602" y="925869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DDC2Bi.c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新增程式 </a:t>
            </a:r>
            <a:r>
              <a:rPr lang="en-US" altLang="zh-TW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&amp;</a:t>
            </a:r>
            <a:r>
              <a:rPr lang="zh-TW" altLang="en-US" sz="20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指令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 </a:t>
            </a:r>
            <a:r>
              <a:rPr lang="en-US" altLang="zh-TW" sz="16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ResolveClutTarget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函式負責將：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GAMMA_Mode1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～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CT_Mode1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～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，換算成對應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Table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NVRAM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起始位址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新增五個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DDC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指令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2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zh-TW" altLang="en-US" sz="18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5563AA3F-E39F-6AE9-A9F4-817F4DDA6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534666"/>
              </p:ext>
            </p:extLst>
          </p:nvPr>
        </p:nvGraphicFramePr>
        <p:xfrm>
          <a:off x="1346202" y="3276211"/>
          <a:ext cx="6332413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38295">
                  <a:extLst>
                    <a:ext uri="{9D8B030D-6E8A-4147-A177-3AD203B41FA5}">
                      <a16:colId xmlns:a16="http://schemas.microsoft.com/office/drawing/2014/main" val="793616807"/>
                    </a:ext>
                  </a:extLst>
                </a:gridCol>
                <a:gridCol w="4094118">
                  <a:extLst>
                    <a:ext uri="{9D8B030D-6E8A-4147-A177-3AD203B41FA5}">
                      <a16:colId xmlns:a16="http://schemas.microsoft.com/office/drawing/2014/main" val="3396890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指令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419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CLUT_BEGIN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建立傳輸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Session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、設定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Gamma/CCT 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與壓縮大小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678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CLUT_DATA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每次接收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16 bytes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701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CLUT_VALIDATE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解碼、檢查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CLT1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格式與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CRC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，不寫入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383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CLUT_COMMIT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再次驗證、解壓並寫入 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 Table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632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CLUT_ABORT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清除暫存資料並取消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Session</a:t>
                      </a:r>
                      <a:endParaRPr lang="zh-TW" altLang="en-US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608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53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307096</TotalTime>
  <Words>417</Words>
  <Application>Microsoft Office PowerPoint</Application>
  <PresentationFormat>A4 紙張 (210x297 公釐)</PresentationFormat>
  <Paragraphs>60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Noto Sans Symbols</vt:lpstr>
      <vt:lpstr>Arial</vt:lpstr>
      <vt:lpstr>Times New Roman</vt:lpstr>
      <vt:lpstr>template</vt:lpstr>
      <vt:lpstr>Progress Report</vt:lpstr>
      <vt:lpstr>本次進度: Monitor - Performance</vt:lpstr>
      <vt:lpstr>本次進度: Monitor - Performance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宏德 林</cp:lastModifiedBy>
  <cp:revision>2401</cp:revision>
  <dcterms:created xsi:type="dcterms:W3CDTF">2003-02-17T16:04:03Z</dcterms:created>
  <dcterms:modified xsi:type="dcterms:W3CDTF">2026-08-25T06:25:13Z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