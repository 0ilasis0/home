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7"/>
  </p:notesMasterIdLst>
  <p:sldIdLst>
    <p:sldId id="277" r:id="rId2"/>
    <p:sldId id="1936" r:id="rId3"/>
    <p:sldId id="1989" r:id="rId4"/>
    <p:sldId id="1784" r:id="rId5"/>
    <p:sldId id="1985" r:id="rId6"/>
    <p:sldId id="1986" r:id="rId7"/>
    <p:sldId id="1993" r:id="rId8"/>
    <p:sldId id="1998" r:id="rId9"/>
    <p:sldId id="2000" r:id="rId10"/>
    <p:sldId id="1988" r:id="rId11"/>
    <p:sldId id="1994" r:id="rId12"/>
    <p:sldId id="1995" r:id="rId13"/>
    <p:sldId id="1996" r:id="rId14"/>
    <p:sldId id="1997" r:id="rId15"/>
    <p:sldId id="1990" r:id="rId16"/>
    <p:sldId id="1991" r:id="rId17"/>
    <p:sldId id="1992" r:id="rId18"/>
    <p:sldId id="1926" r:id="rId19"/>
    <p:sldId id="1934" r:id="rId20"/>
    <p:sldId id="1933" r:id="rId21"/>
    <p:sldId id="1939" r:id="rId22"/>
    <p:sldId id="1940" r:id="rId23"/>
    <p:sldId id="1938" r:id="rId24"/>
    <p:sldId id="286" r:id="rId25"/>
    <p:sldId id="1999" r:id="rId26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  <p14:sldId id="1936"/>
            <p14:sldId id="1989"/>
            <p14:sldId id="1784"/>
          </p14:sldIdLst>
        </p14:section>
        <p14:section name="Monitor" id="{7925A652-D02A-4F07-B4BA-109FEF573EC6}">
          <p14:sldIdLst>
            <p14:sldId id="1985"/>
            <p14:sldId id="1986"/>
            <p14:sldId id="1993"/>
            <p14:sldId id="1998"/>
            <p14:sldId id="2000"/>
            <p14:sldId id="1988"/>
            <p14:sldId id="1994"/>
            <p14:sldId id="1995"/>
            <p14:sldId id="1996"/>
            <p14:sldId id="1997"/>
            <p14:sldId id="1990"/>
            <p14:sldId id="1991"/>
            <p14:sldId id="1992"/>
          </p14:sldIdLst>
        </p14:section>
        <p14:section name="JS1500" id="{F71E69A4-C86C-4DAC-B828-42C2D8800267}">
          <p14:sldIdLst>
            <p14:sldId id="1926"/>
            <p14:sldId id="1934"/>
            <p14:sldId id="1933"/>
            <p14:sldId id="1939"/>
            <p14:sldId id="1940"/>
            <p14:sldId id="1938"/>
          </p14:sldIdLst>
        </p14:section>
        <p14:section name="End" id="{33EEDC85-A799-4CB3-BF13-F4955B8630BE}">
          <p14:sldIdLst>
            <p14:sldId id="286"/>
            <p14:sldId id="19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C000"/>
    <a:srgbClr val="000000"/>
    <a:srgbClr val="00B050"/>
    <a:srgbClr val="0057C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71273" autoAdjust="0"/>
  </p:normalViewPr>
  <p:slideViewPr>
    <p:cSldViewPr snapToGrid="0">
      <p:cViewPr varScale="1">
        <p:scale>
          <a:sx n="85" d="100"/>
          <a:sy n="85" d="100"/>
        </p:scale>
        <p:origin x="2052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7424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本階段的目標是先驗證論文核心方法是否能正確壓縮與無損還原，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因此先完成單層的</a:t>
                </a:r>
                <a:r>
                  <a:rPr lang="en-US" altLang="zh-TW" dirty="0"/>
                  <a:t>Higher-Bit Compression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Lookup Table Decomposition</a:t>
                </a:r>
                <a:r>
                  <a:rPr lang="zh-TW" altLang="en-US" dirty="0"/>
                  <a:t>與</a:t>
                </a:r>
                <a:r>
                  <a:rPr lang="en-US" altLang="zh-TW" dirty="0"/>
                  <a:t>Self-Similarity</a:t>
                </a:r>
                <a:r>
                  <a:rPr lang="zh-TW" altLang="en-US" dirty="0"/>
                  <a:t>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多層次壓縮需要對分解後的</a:t>
                </a:r>
                <a:r>
                  <a:rPr lang="en-US" altLang="zh-TW" dirty="0" err="1"/>
                  <a:t>T_bias</a:t>
                </a:r>
                <a:r>
                  <a:rPr lang="zh-TW" altLang="en-US" dirty="0"/>
                  <a:t>再次進行遞迴壓縮，會增加資料格式、解碼流程與記憶體管理的複雜度。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b="0" dirty="0" err="1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ws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: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每個子表內有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𝑤𝑠</m:t>
                        </m:r>
                      </m:sup>
                    </m:sSup>
                  </m:oMath>
                </a14:m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筆資料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b="0" dirty="0" err="1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wl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: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不壓縮的低位元數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。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本階段的目標是先驗證論文核心方法是否能正確壓縮與無損還原，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因此先完成單層的</a:t>
                </a:r>
                <a:r>
                  <a:rPr lang="en-US" altLang="zh-TW" dirty="0"/>
                  <a:t>Higher-Bit Compression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Lookup Table Decomposition</a:t>
                </a:r>
                <a:r>
                  <a:rPr lang="zh-TW" altLang="en-US" dirty="0"/>
                  <a:t>與</a:t>
                </a:r>
                <a:r>
                  <a:rPr lang="en-US" altLang="zh-TW" dirty="0"/>
                  <a:t>Self-Similarity</a:t>
                </a:r>
                <a:r>
                  <a:rPr lang="zh-TW" altLang="en-US" dirty="0"/>
                  <a:t>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多層次壓縮需要對分解後的</a:t>
                </a:r>
                <a:r>
                  <a:rPr lang="en-US" altLang="zh-TW" dirty="0" err="1"/>
                  <a:t>T_bias</a:t>
                </a:r>
                <a:r>
                  <a:rPr lang="zh-TW" altLang="en-US" dirty="0"/>
                  <a:t>再次進行遞迴壓縮，會增加資料格式、解碼流程與記憶體管理的複雜度。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b="0" dirty="0" err="1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ws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: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每個子表內有</a:t>
                </a:r>
                <a:r>
                  <a:rPr lang="en-US" altLang="zh-TW" sz="1200" b="0" i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2^𝑤𝑠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筆資料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b="0" dirty="0" err="1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wl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: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不壓縮的低位元數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。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3344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原始</a:t>
            </a: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LUT</a:t>
            </a:r>
            <a:r>
              <a:rPr lang="zh-TW" altLang="en-US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大小為</a:t>
            </a: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:6144bytes(RGB)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3480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paper</a:t>
            </a:r>
            <a:r>
              <a:rPr lang="zh-TW" altLang="en-US" dirty="0"/>
              <a:t>：壓縮方法、</a:t>
            </a:r>
            <a:r>
              <a:rPr lang="en-US" altLang="zh-TW" dirty="0" err="1"/>
              <a:t>ws</a:t>
            </a:r>
            <a:r>
              <a:rPr lang="zh-TW" altLang="en-US" dirty="0"/>
              <a:t>、</a:t>
            </a:r>
            <a:r>
              <a:rPr lang="en-US" altLang="zh-TW" dirty="0" err="1"/>
              <a:t>wl</a:t>
            </a:r>
            <a:r>
              <a:rPr lang="zh-TW" altLang="en-US" dirty="0"/>
              <a:t>等解碼資訊。 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 err="1"/>
              <a:t>paper.Data</a:t>
            </a:r>
            <a:r>
              <a:rPr lang="zh-TW" altLang="en-US" dirty="0"/>
              <a:t>：實際的壓縮資料。 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 err="1"/>
              <a:t>entryCount</a:t>
            </a:r>
            <a:r>
              <a:rPr lang="zh-TW" altLang="en-US" dirty="0"/>
              <a:t>：解壓後應有的 </a:t>
            </a:r>
            <a:r>
              <a:rPr lang="en-US" altLang="zh-TW" dirty="0"/>
              <a:t>LUT </a:t>
            </a:r>
            <a:r>
              <a:rPr lang="zh-TW" altLang="en-US" dirty="0"/>
              <a:t>筆數，例如</a:t>
            </a:r>
            <a:r>
              <a:rPr lang="en-US" altLang="zh-TW" dirty="0"/>
              <a:t>1024</a:t>
            </a:r>
            <a:r>
              <a:rPr lang="zh-TW" altLang="en-US" dirty="0"/>
              <a:t>筆。 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 err="1"/>
              <a:t>outputBits</a:t>
            </a:r>
            <a:r>
              <a:rPr lang="zh-TW" altLang="en-US" dirty="0"/>
              <a:t>：</a:t>
            </a:r>
            <a:r>
              <a:rPr lang="en-US" altLang="zh-TW" dirty="0"/>
              <a:t>LUT</a:t>
            </a:r>
            <a:r>
              <a:rPr lang="zh-TW" altLang="en-US" dirty="0"/>
              <a:t>有效位元寬度，例如</a:t>
            </a:r>
            <a:r>
              <a:rPr lang="en-US" altLang="zh-TW" dirty="0"/>
              <a:t>14-bit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602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原始</a:t>
            </a: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LUT</a:t>
            </a:r>
            <a:r>
              <a:rPr lang="zh-TW" altLang="en-US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大小為</a:t>
            </a: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:6144bytes(RGB)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5090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0x05 → Internal + 5 modes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0x83 → External + 3 modes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0x85 → External + 5 modes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b="1" dirty="0"/>
              <a:t>Data0 </a:t>
            </a:r>
            <a:r>
              <a:rPr lang="zh-TW" altLang="en-US" b="1" dirty="0"/>
              <a:t>的 </a:t>
            </a:r>
            <a:r>
              <a:rPr lang="en-US" altLang="zh-TW" b="1" dirty="0"/>
              <a:t>bit7 = 1</a:t>
            </a:r>
            <a:r>
              <a:rPr lang="zh-TW" altLang="en-US" b="1" dirty="0"/>
              <a:t>（</a:t>
            </a:r>
            <a:r>
              <a:rPr lang="en-US" altLang="zh-TW" b="1" dirty="0"/>
              <a:t>0x80</a:t>
            </a:r>
            <a:r>
              <a:rPr lang="zh-TW" altLang="en-US" b="1" dirty="0"/>
              <a:t>）代表 </a:t>
            </a:r>
            <a:r>
              <a:rPr lang="en-US" altLang="zh-TW" b="1" dirty="0"/>
              <a:t>External STM32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b="1" dirty="0"/>
              <a:t>Data0 </a:t>
            </a:r>
            <a:r>
              <a:rPr lang="zh-TW" altLang="en-US" b="1" dirty="0"/>
              <a:t>的低 </a:t>
            </a:r>
            <a:r>
              <a:rPr lang="en-US" altLang="zh-TW" b="1" dirty="0"/>
              <a:t>4 bits </a:t>
            </a:r>
            <a:r>
              <a:rPr lang="zh-TW" altLang="en-US" b="1" dirty="0"/>
              <a:t>代表 </a:t>
            </a:r>
            <a:r>
              <a:rPr lang="en-US" altLang="zh-TW" b="1" dirty="0"/>
              <a:t>ALC Mode </a:t>
            </a:r>
            <a:r>
              <a:rPr lang="zh-TW" altLang="en-US" b="1" dirty="0"/>
              <a:t>數量</a:t>
            </a:r>
            <a:endParaRPr lang="en-US" altLang="zh-TW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這次 </a:t>
            </a:r>
            <a:r>
              <a:rPr lang="en-US" altLang="zh-TW" dirty="0"/>
              <a:t>PC Tool </a:t>
            </a:r>
            <a:r>
              <a:rPr lang="zh-TW" altLang="en-US" dirty="0"/>
              <a:t>新增 </a:t>
            </a:r>
            <a:r>
              <a:rPr lang="en-US" altLang="zh-TW" dirty="0"/>
              <a:t>Panel </a:t>
            </a:r>
            <a:r>
              <a:rPr lang="zh-TW" altLang="en-US" dirty="0"/>
              <a:t>類型判斷。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校正到最後一組時，會讀取 </a:t>
            </a:r>
            <a:r>
              <a:rPr lang="en-US" altLang="zh-TW" dirty="0"/>
              <a:t>ALC Detail </a:t>
            </a:r>
            <a:r>
              <a:rPr lang="zh-TW" altLang="en-US" dirty="0"/>
              <a:t>的 </a:t>
            </a:r>
            <a:r>
              <a:rPr lang="en-US" altLang="zh-TW" dirty="0"/>
              <a:t>Data0</a:t>
            </a:r>
            <a:r>
              <a:rPr lang="zh-TW" altLang="en-US" dirty="0"/>
              <a:t>，其中 </a:t>
            </a:r>
            <a:r>
              <a:rPr lang="en-US" altLang="zh-TW" dirty="0"/>
              <a:t>bit7 </a:t>
            </a:r>
            <a:r>
              <a:rPr lang="zh-TW" altLang="en-US" dirty="0"/>
              <a:t>用來判斷是否為 </a:t>
            </a:r>
            <a:r>
              <a:rPr lang="en-US" altLang="zh-TW" dirty="0"/>
              <a:t>External STM32</a:t>
            </a:r>
            <a:r>
              <a:rPr lang="zh-TW" altLang="en-US" dirty="0"/>
              <a:t>，低 </a:t>
            </a:r>
            <a:r>
              <a:rPr lang="en-US" altLang="zh-TW" dirty="0"/>
              <a:t>4 bits </a:t>
            </a:r>
            <a:r>
              <a:rPr lang="zh-TW" altLang="en-US" dirty="0"/>
              <a:t>則代表 </a:t>
            </a:r>
            <a:r>
              <a:rPr lang="en-US" altLang="zh-TW" dirty="0"/>
              <a:t>ALC Mode </a:t>
            </a:r>
            <a:r>
              <a:rPr lang="zh-TW" altLang="en-US" dirty="0"/>
              <a:t>數量。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例如 </a:t>
            </a:r>
            <a:r>
              <a:rPr lang="en-US" altLang="zh-TW" dirty="0"/>
              <a:t>0x85 </a:t>
            </a:r>
            <a:r>
              <a:rPr lang="zh-TW" altLang="en-US" dirty="0"/>
              <a:t>代表 </a:t>
            </a:r>
            <a:r>
              <a:rPr lang="en-US" altLang="zh-TW" dirty="0"/>
              <a:t>External STM32 </a:t>
            </a:r>
            <a:r>
              <a:rPr lang="zh-TW" altLang="en-US" dirty="0"/>
              <a:t>且支援 </a:t>
            </a:r>
            <a:r>
              <a:rPr lang="en-US" altLang="zh-TW" dirty="0"/>
              <a:t>5 </a:t>
            </a:r>
            <a:r>
              <a:rPr lang="zh-TW" altLang="en-US" dirty="0"/>
              <a:t>個 </a:t>
            </a:r>
            <a:r>
              <a:rPr lang="en-US" altLang="zh-TW" dirty="0"/>
              <a:t>ALC Mode</a:t>
            </a:r>
            <a:r>
              <a:rPr lang="zh-TW" altLang="en-US" dirty="0"/>
              <a:t>。若判斷為 </a:t>
            </a:r>
            <a:r>
              <a:rPr lang="en-US" altLang="zh-TW" dirty="0"/>
              <a:t>Internal</a:t>
            </a:r>
            <a:r>
              <a:rPr lang="zh-TW" altLang="en-US" dirty="0"/>
              <a:t>，就跳過 </a:t>
            </a:r>
            <a:r>
              <a:rPr lang="en-US" altLang="zh-TW" dirty="0"/>
              <a:t>Self Calibration i1data</a:t>
            </a:r>
            <a:r>
              <a:rPr lang="zh-TW" altLang="en-US" dirty="0"/>
              <a:t>；</a:t>
            </a:r>
            <a:r>
              <a:rPr lang="en-US" altLang="zh-TW" dirty="0"/>
              <a:t>External </a:t>
            </a:r>
            <a:r>
              <a:rPr lang="zh-TW" altLang="en-US" dirty="0"/>
              <a:t>才會執行寫入</a:t>
            </a:r>
            <a:r>
              <a:rPr lang="en-US" altLang="zh-TW" dirty="0"/>
              <a:t>i1</a:t>
            </a:r>
            <a:r>
              <a:rPr lang="zh-TW" altLang="en-US" dirty="0"/>
              <a:t> </a:t>
            </a:r>
            <a:r>
              <a:rPr lang="en-US" altLang="zh-TW" dirty="0"/>
              <a:t>data</a:t>
            </a:r>
            <a:r>
              <a:rPr lang="zh-TW" altLang="en-US" dirty="0"/>
              <a:t>資料寫入。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8244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這邊以 </a:t>
            </a:r>
            <a:r>
              <a:rPr lang="en-US" altLang="zh-TW" dirty="0"/>
              <a:t>Gamma 1.8</a:t>
            </a:r>
            <a:r>
              <a:rPr lang="zh-TW" altLang="en-US" dirty="0"/>
              <a:t>、</a:t>
            </a:r>
            <a:r>
              <a:rPr lang="en-US" altLang="zh-TW" dirty="0"/>
              <a:t>5400K </a:t>
            </a:r>
            <a:r>
              <a:rPr lang="zh-TW" altLang="en-US" dirty="0"/>
              <a:t>做測試，壓縮後大小是 </a:t>
            </a:r>
            <a:r>
              <a:rPr lang="en-US" altLang="zh-TW" dirty="0"/>
              <a:t>1923 bytes</a:t>
            </a:r>
            <a:r>
              <a:rPr lang="zh-TW" altLang="en-US" dirty="0"/>
              <a:t>，也就是 </a:t>
            </a:r>
            <a:r>
              <a:rPr lang="en-US" altLang="zh-TW" dirty="0"/>
              <a:t>0x0783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所以 </a:t>
            </a:r>
            <a:r>
              <a:rPr lang="en-US" altLang="zh-TW" dirty="0"/>
              <a:t>Data0 </a:t>
            </a:r>
            <a:r>
              <a:rPr lang="zh-TW" altLang="en-US" dirty="0"/>
              <a:t>是 </a:t>
            </a:r>
            <a:r>
              <a:rPr lang="en-US" altLang="zh-TW" dirty="0"/>
              <a:t>Gamma code 0x12</a:t>
            </a:r>
            <a:r>
              <a:rPr lang="zh-TW" altLang="en-US" dirty="0"/>
              <a:t>，</a:t>
            </a:r>
            <a:r>
              <a:rPr lang="en-US" altLang="zh-TW" dirty="0"/>
              <a:t>Data1 </a:t>
            </a:r>
            <a:r>
              <a:rPr lang="zh-TW" altLang="en-US" dirty="0"/>
              <a:t>是 </a:t>
            </a:r>
            <a:r>
              <a:rPr lang="en-US" altLang="zh-TW" dirty="0"/>
              <a:t>5400K </a:t>
            </a:r>
            <a:r>
              <a:rPr lang="zh-TW" altLang="en-US" dirty="0"/>
              <a:t>的 </a:t>
            </a:r>
            <a:r>
              <a:rPr lang="en-US" altLang="zh-TW" dirty="0"/>
              <a:t>CCT code 0x36</a:t>
            </a:r>
            <a:r>
              <a:rPr lang="zh-TW" altLang="en-US" dirty="0"/>
              <a:t>，</a:t>
            </a:r>
            <a:r>
              <a:rPr lang="en-US" altLang="zh-TW" dirty="0"/>
              <a:t>Data2</a:t>
            </a:r>
            <a:r>
              <a:rPr lang="zh-TW" altLang="en-US" dirty="0"/>
              <a:t>、</a:t>
            </a:r>
            <a:r>
              <a:rPr lang="en-US" altLang="zh-TW" dirty="0"/>
              <a:t>Data3 </a:t>
            </a:r>
            <a:r>
              <a:rPr lang="zh-TW" altLang="en-US" dirty="0"/>
              <a:t>則是資料大小的 </a:t>
            </a:r>
            <a:r>
              <a:rPr lang="en-US" altLang="zh-TW" dirty="0"/>
              <a:t>LSB </a:t>
            </a:r>
            <a:r>
              <a:rPr lang="zh-TW" altLang="en-US" dirty="0"/>
              <a:t>和 </a:t>
            </a:r>
            <a:r>
              <a:rPr lang="en-US" altLang="zh-TW" dirty="0"/>
              <a:t>MSB</a:t>
            </a:r>
            <a:r>
              <a:rPr lang="zh-TW" altLang="en-US" dirty="0"/>
              <a:t>，也就是 </a:t>
            </a:r>
            <a:r>
              <a:rPr lang="en-US" altLang="zh-TW" dirty="0"/>
              <a:t>0x83</a:t>
            </a:r>
            <a:r>
              <a:rPr lang="zh-TW" altLang="en-US" dirty="0"/>
              <a:t>、</a:t>
            </a:r>
            <a:r>
              <a:rPr lang="en-US" altLang="zh-TW" dirty="0"/>
              <a:t>0x07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FW </a:t>
            </a:r>
            <a:r>
              <a:rPr lang="zh-TW" altLang="en-US" dirty="0"/>
              <a:t>接受 </a:t>
            </a:r>
            <a:r>
              <a:rPr lang="en-US" altLang="zh-TW" dirty="0"/>
              <a:t>BEGIN </a:t>
            </a:r>
            <a:r>
              <a:rPr lang="zh-TW" altLang="en-US" dirty="0"/>
              <a:t>成功之後，</a:t>
            </a:r>
            <a:r>
              <a:rPr lang="en-US" altLang="zh-TW" dirty="0"/>
              <a:t>PC Tool </a:t>
            </a:r>
            <a:r>
              <a:rPr lang="zh-TW" altLang="en-US" dirty="0"/>
              <a:t>才會開始送後面的 </a:t>
            </a:r>
            <a:r>
              <a:rPr lang="en-US" altLang="zh-TW" dirty="0"/>
              <a:t>DATA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7605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因為目前每一包 </a:t>
            </a:r>
            <a:r>
              <a:rPr lang="en-US" altLang="zh-TW" dirty="0"/>
              <a:t>DATA Payload </a:t>
            </a:r>
            <a:r>
              <a:rPr lang="zh-TW" altLang="en-US" dirty="0"/>
              <a:t>固定傳 </a:t>
            </a:r>
            <a:r>
              <a:rPr lang="en-US" altLang="zh-TW" dirty="0"/>
              <a:t>16 bytes</a:t>
            </a:r>
            <a:r>
              <a:rPr lang="zh-TW" altLang="en-US" dirty="0"/>
              <a:t>，所以 </a:t>
            </a:r>
            <a:r>
              <a:rPr lang="en-US" altLang="zh-TW" dirty="0"/>
              <a:t>PC Tool </a:t>
            </a:r>
            <a:r>
              <a:rPr lang="zh-TW" altLang="en-US" dirty="0"/>
              <a:t>會把完整的 </a:t>
            </a:r>
            <a:r>
              <a:rPr lang="en-US" altLang="zh-TW" dirty="0"/>
              <a:t>CLT1 </a:t>
            </a:r>
            <a:r>
              <a:rPr lang="zh-TW" altLang="en-US" dirty="0"/>
              <a:t>容器切成多個 </a:t>
            </a:r>
            <a:r>
              <a:rPr lang="en-US" altLang="zh-TW" dirty="0"/>
              <a:t>Block</a:t>
            </a:r>
            <a:r>
              <a:rPr lang="zh-TW" altLang="en-US" dirty="0"/>
              <a:t>，利用 </a:t>
            </a:r>
            <a:r>
              <a:rPr lang="en-US" altLang="zh-TW" dirty="0"/>
              <a:t>Block Index </a:t>
            </a:r>
            <a:r>
              <a:rPr lang="zh-TW" altLang="en-US" dirty="0"/>
              <a:t>告訴 </a:t>
            </a:r>
            <a:r>
              <a:rPr lang="en-US" altLang="zh-TW" dirty="0"/>
              <a:t>FW </a:t>
            </a:r>
            <a:r>
              <a:rPr lang="zh-TW" altLang="en-US" dirty="0"/>
              <a:t>目前是哪一包。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可以看到圖中橘色框起來的地方，這是第 </a:t>
            </a:r>
            <a:r>
              <a:rPr lang="en-US" altLang="zh-TW" dirty="0"/>
              <a:t>0 </a:t>
            </a:r>
            <a:r>
              <a:rPr lang="zh-TW" altLang="en-US" dirty="0"/>
              <a:t>包，所以 </a:t>
            </a:r>
            <a:r>
              <a:rPr lang="en-US" altLang="zh-TW" dirty="0"/>
              <a:t>Payload </a:t>
            </a:r>
            <a:r>
              <a:rPr lang="zh-TW" altLang="en-US" dirty="0"/>
              <a:t>一開始可以看到 </a:t>
            </a:r>
            <a:r>
              <a:rPr lang="en-US" altLang="zh-TW" dirty="0"/>
              <a:t>43 4C 54 31</a:t>
            </a:r>
            <a:r>
              <a:rPr lang="zh-TW" altLang="en-US" dirty="0"/>
              <a:t>，這就是 </a:t>
            </a:r>
            <a:r>
              <a:rPr lang="en-US" altLang="zh-TW" dirty="0"/>
              <a:t>CLT1 </a:t>
            </a:r>
            <a:r>
              <a:rPr lang="zh-TW" altLang="en-US" dirty="0"/>
              <a:t>的 </a:t>
            </a:r>
            <a:r>
              <a:rPr lang="en-US" altLang="zh-TW" dirty="0"/>
              <a:t>Magic Code</a:t>
            </a:r>
            <a:r>
              <a:rPr lang="zh-TW" altLang="en-US" dirty="0"/>
              <a:t>，</a:t>
            </a:r>
            <a:r>
              <a:rPr lang="en-US" altLang="zh-TW" dirty="0"/>
              <a:t>FW </a:t>
            </a:r>
            <a:r>
              <a:rPr lang="zh-TW" altLang="en-US" dirty="0"/>
              <a:t>後面會利用它判斷收到的資料是不是正確的 </a:t>
            </a:r>
            <a:r>
              <a:rPr lang="en-US" altLang="zh-TW" dirty="0"/>
              <a:t>CLT1 </a:t>
            </a:r>
            <a:r>
              <a:rPr lang="zh-TW" altLang="en-US" dirty="0"/>
              <a:t>格式。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DATA </a:t>
            </a:r>
            <a:r>
              <a:rPr lang="zh-TW" altLang="en-US" dirty="0"/>
              <a:t>階段 </a:t>
            </a:r>
            <a:r>
              <a:rPr lang="en-US" altLang="zh-TW" dirty="0"/>
              <a:t>FW </a:t>
            </a:r>
            <a:r>
              <a:rPr lang="zh-TW" altLang="en-US" dirty="0"/>
              <a:t>只先把資料暫存在 </a:t>
            </a:r>
            <a:r>
              <a:rPr lang="en-US" altLang="zh-TW" dirty="0"/>
              <a:t>Session Buffer</a:t>
            </a:r>
            <a:r>
              <a:rPr lang="zh-TW" altLang="en-US" dirty="0"/>
              <a:t>，</a:t>
            </a:r>
            <a:r>
              <a:rPr lang="zh-TW" altLang="en-US" b="1" dirty="0"/>
              <a:t>這時候還不會寫入 </a:t>
            </a:r>
            <a:r>
              <a:rPr lang="en-US" altLang="zh-TW" b="1" dirty="0"/>
              <a:t>Gamma Table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1216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FW</a:t>
            </a:r>
            <a:r>
              <a:rPr lang="zh-TW" altLang="en-US" dirty="0"/>
              <a:t>端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檢查</a:t>
            </a:r>
            <a:r>
              <a:rPr lang="en-US" altLang="zh-TW" dirty="0"/>
              <a:t>DATA</a:t>
            </a:r>
            <a:r>
              <a:rPr lang="zh-TW" altLang="en-US" dirty="0"/>
              <a:t>是否收齊 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解壓</a:t>
            </a:r>
            <a:r>
              <a:rPr lang="en-US" altLang="zh-TW" dirty="0"/>
              <a:t>R</a:t>
            </a:r>
            <a:r>
              <a:rPr lang="zh-TW" altLang="en-US" dirty="0"/>
              <a:t>／</a:t>
            </a:r>
            <a:r>
              <a:rPr lang="en-US" altLang="zh-TW" dirty="0"/>
              <a:t>G</a:t>
            </a:r>
            <a:r>
              <a:rPr lang="zh-TW" altLang="en-US" dirty="0"/>
              <a:t>／</a:t>
            </a:r>
            <a:r>
              <a:rPr lang="en-US" altLang="zh-TW" dirty="0"/>
              <a:t>B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檢查</a:t>
            </a:r>
            <a:r>
              <a:rPr lang="en-US" altLang="zh-TW" dirty="0"/>
              <a:t>Channel CRC</a:t>
            </a:r>
            <a:r>
              <a:rPr lang="zh-TW" altLang="en-US" dirty="0"/>
              <a:t>與</a:t>
            </a:r>
            <a:r>
              <a:rPr lang="en-US" altLang="zh-TW" dirty="0"/>
              <a:t>Full CRC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回覆</a:t>
            </a:r>
            <a:r>
              <a:rPr lang="en-US" altLang="zh-TW" dirty="0"/>
              <a:t>VALIDATE</a:t>
            </a:r>
            <a:r>
              <a:rPr lang="zh-TW" altLang="en-US" dirty="0"/>
              <a:t>結果，不寫入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FW </a:t>
            </a:r>
            <a:r>
              <a:rPr lang="zh-TW" altLang="en-US" dirty="0"/>
              <a:t>會先確認所有 </a:t>
            </a:r>
            <a:r>
              <a:rPr lang="en-US" altLang="zh-TW" dirty="0"/>
              <a:t>DATA Block </a:t>
            </a:r>
            <a:r>
              <a:rPr lang="zh-TW" altLang="en-US" dirty="0"/>
              <a:t>有沒有收齊，再檢查 </a:t>
            </a:r>
            <a:r>
              <a:rPr lang="en-US" altLang="zh-TW" dirty="0"/>
              <a:t>CLT1 Magic</a:t>
            </a:r>
            <a:r>
              <a:rPr lang="zh-TW" altLang="en-US" dirty="0"/>
              <a:t>、</a:t>
            </a:r>
            <a:r>
              <a:rPr lang="en-US" altLang="zh-TW" dirty="0"/>
              <a:t>Channel </a:t>
            </a:r>
            <a:r>
              <a:rPr lang="zh-TW" altLang="en-US" dirty="0"/>
              <a:t>數量，以及每個 </a:t>
            </a:r>
            <a:r>
              <a:rPr lang="en-US" altLang="zh-TW" dirty="0"/>
              <a:t>Channel </a:t>
            </a:r>
            <a:r>
              <a:rPr lang="zh-TW" altLang="en-US" dirty="0"/>
              <a:t>的 </a:t>
            </a:r>
            <a:r>
              <a:rPr lang="en-US" altLang="zh-TW" dirty="0"/>
              <a:t>CRC32 </a:t>
            </a:r>
            <a:r>
              <a:rPr lang="zh-TW" altLang="en-US" dirty="0"/>
              <a:t>和整個 </a:t>
            </a:r>
            <a:r>
              <a:rPr lang="en-US" altLang="zh-TW" dirty="0"/>
              <a:t>Container </a:t>
            </a:r>
            <a:r>
              <a:rPr lang="zh-TW" altLang="en-US" dirty="0"/>
              <a:t>的 </a:t>
            </a:r>
            <a:r>
              <a:rPr lang="en-US" altLang="zh-TW" dirty="0"/>
              <a:t>Full CRC32</a:t>
            </a:r>
            <a:r>
              <a:rPr lang="zh-TW" altLang="en-US" dirty="0"/>
              <a:t>，同時進行解壓驗證。</a:t>
            </a:r>
            <a:r>
              <a:rPr lang="en-US" altLang="zh-TW" dirty="0"/>
              <a:t>VALIDATE </a:t>
            </a:r>
            <a:r>
              <a:rPr lang="zh-TW" altLang="en-US" dirty="0"/>
              <a:t>只負責驗證，</a:t>
            </a:r>
            <a:r>
              <a:rPr lang="zh-TW" altLang="en-US" b="1" dirty="0"/>
              <a:t>不會寫入 </a:t>
            </a:r>
            <a:r>
              <a:rPr lang="en-US" altLang="zh-TW" b="1" dirty="0"/>
              <a:t>Gamma Table</a:t>
            </a:r>
            <a:r>
              <a:rPr lang="zh-TW" altLang="en-US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3877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因為 </a:t>
            </a:r>
            <a:r>
              <a:rPr lang="en-US" altLang="zh-TW" dirty="0"/>
              <a:t>VALIDATE </a:t>
            </a:r>
            <a:r>
              <a:rPr lang="zh-TW" altLang="en-US" dirty="0"/>
              <a:t>和 </a:t>
            </a:r>
            <a:r>
              <a:rPr lang="en-US" altLang="zh-TW" dirty="0"/>
              <a:t>COMMIT </a:t>
            </a:r>
            <a:r>
              <a:rPr lang="zh-TW" altLang="en-US" dirty="0"/>
              <a:t>是兩個不同時間點，</a:t>
            </a:r>
            <a:r>
              <a:rPr lang="en-US" altLang="zh-TW" dirty="0"/>
              <a:t>COMMIT </a:t>
            </a:r>
            <a:r>
              <a:rPr lang="zh-TW" altLang="en-US" dirty="0"/>
              <a:t>前再確認一次，可以確保 </a:t>
            </a:r>
            <a:r>
              <a:rPr lang="en-US" altLang="zh-TW" dirty="0"/>
              <a:t>FW Session Buffer </a:t>
            </a:r>
            <a:r>
              <a:rPr lang="zh-TW" altLang="en-US" dirty="0"/>
              <a:t>在 </a:t>
            </a:r>
            <a:r>
              <a:rPr lang="en-US" altLang="zh-TW" dirty="0"/>
              <a:t>VALIDATE </a:t>
            </a:r>
            <a:r>
              <a:rPr lang="zh-TW" altLang="en-US" dirty="0"/>
              <a:t>到真正寫入之間沒有發生資料或狀態異常，所以只有最後確認無誤才真正寫入。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3540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FW </a:t>
            </a:r>
            <a:r>
              <a:rPr lang="zh-TW" altLang="en-US" dirty="0"/>
              <a:t>收到後會清除目前的 </a:t>
            </a:r>
            <a:r>
              <a:rPr lang="en-US" altLang="zh-TW" dirty="0"/>
              <a:t>Compressed LUT Session </a:t>
            </a:r>
            <a:r>
              <a:rPr lang="zh-TW" altLang="en-US" dirty="0"/>
              <a:t>和暫存狀態，中止後面的 </a:t>
            </a:r>
            <a:r>
              <a:rPr lang="en-US" altLang="zh-TW" dirty="0"/>
              <a:t>DATA</a:t>
            </a:r>
            <a:r>
              <a:rPr lang="zh-TW" altLang="en-US" dirty="0"/>
              <a:t>、</a:t>
            </a:r>
            <a:r>
              <a:rPr lang="en-US" altLang="zh-TW" dirty="0"/>
              <a:t>VALIDATE</a:t>
            </a:r>
            <a:r>
              <a:rPr lang="zh-TW" altLang="en-US" dirty="0"/>
              <a:t>、</a:t>
            </a:r>
            <a:r>
              <a:rPr lang="en-US" altLang="zh-TW" dirty="0"/>
              <a:t>COMMIT </a:t>
            </a:r>
            <a:r>
              <a:rPr lang="zh-TW" altLang="en-US" dirty="0"/>
              <a:t>流程，因此不會把這次不完整的資料寫入 </a:t>
            </a:r>
            <a:r>
              <a:rPr lang="en-US" altLang="zh-TW" dirty="0"/>
              <a:t>Gamma Table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3984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目前已完成 </a:t>
            </a:r>
            <a:r>
              <a:rPr lang="en-US" altLang="zh-TW" dirty="0"/>
              <a:t>PC Tool </a:t>
            </a:r>
            <a:r>
              <a:rPr lang="zh-TW" altLang="en-US" dirty="0"/>
              <a:t>端 </a:t>
            </a:r>
            <a:r>
              <a:rPr lang="en-US" altLang="zh-TW" dirty="0"/>
              <a:t>LUT </a:t>
            </a:r>
            <a:r>
              <a:rPr lang="zh-TW" altLang="en-US" dirty="0"/>
              <a:t>壓縮與 </a:t>
            </a:r>
            <a:r>
              <a:rPr lang="en-US" altLang="zh-TW" dirty="0"/>
              <a:t>lossless verification</a:t>
            </a:r>
            <a:r>
              <a:rPr lang="zh-TW" altLang="en-US" dirty="0"/>
              <a:t>，下一步將進行 </a:t>
            </a:r>
            <a:r>
              <a:rPr lang="en-US" altLang="zh-TW" dirty="0"/>
              <a:t>Firmware </a:t>
            </a:r>
            <a:r>
              <a:rPr lang="zh-TW" altLang="en-US" dirty="0"/>
              <a:t>端 </a:t>
            </a:r>
            <a:r>
              <a:rPr lang="en-US" altLang="zh-TW" dirty="0"/>
              <a:t>COMMIT </a:t>
            </a:r>
            <a:r>
              <a:rPr lang="zh-TW" altLang="en-US" dirty="0"/>
              <a:t>寫入與校正時間實測。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3078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386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188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36455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4292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5997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82192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5874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00283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24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原本將</a:t>
            </a:r>
            <a:r>
              <a:rPr lang="en-US" altLang="zh-TW" dirty="0"/>
              <a:t>R</a:t>
            </a:r>
            <a:r>
              <a:rPr lang="zh-TW" altLang="en-US" dirty="0"/>
              <a:t>、</a:t>
            </a:r>
            <a:r>
              <a:rPr lang="en-US" altLang="zh-TW" dirty="0"/>
              <a:t>G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三個未壓縮</a:t>
            </a:r>
            <a:r>
              <a:rPr lang="en-US" altLang="zh-TW" dirty="0"/>
              <a:t>LUT</a:t>
            </a:r>
            <a:r>
              <a:rPr lang="zh-TW" altLang="en-US" dirty="0"/>
              <a:t>分別傳送與寫入；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現在先將三個</a:t>
            </a:r>
            <a:r>
              <a:rPr lang="en-US" altLang="zh-TW" dirty="0"/>
              <a:t>Channel</a:t>
            </a:r>
            <a:r>
              <a:rPr lang="zh-TW" altLang="en-US" dirty="0"/>
              <a:t>壓縮並封裝成一個</a:t>
            </a:r>
            <a:r>
              <a:rPr lang="en-US" altLang="zh-TW" dirty="0"/>
              <a:t>CLT1</a:t>
            </a:r>
            <a:r>
              <a:rPr lang="zh-TW" altLang="en-US" dirty="0"/>
              <a:t>容器，</a:t>
            </a:r>
            <a:r>
              <a:rPr lang="en-US" altLang="zh-TW" dirty="0"/>
              <a:t>FW</a:t>
            </a:r>
            <a:r>
              <a:rPr lang="zh-TW" altLang="en-US" dirty="0"/>
              <a:t>收到完整容器後，再還原成</a:t>
            </a:r>
            <a:r>
              <a:rPr lang="en-US" altLang="zh-TW" dirty="0"/>
              <a:t>R</a:t>
            </a:r>
            <a:r>
              <a:rPr lang="zh-TW" altLang="en-US" dirty="0"/>
              <a:t>、</a:t>
            </a:r>
            <a:r>
              <a:rPr lang="en-US" altLang="zh-TW" dirty="0"/>
              <a:t>G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並寫入原本的</a:t>
            </a:r>
            <a:r>
              <a:rPr lang="en-US" altLang="zh-TW" dirty="0"/>
              <a:t>Gamma Table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因為新的流程需要建立</a:t>
            </a:r>
            <a:r>
              <a:rPr lang="en-US" altLang="zh-TW" dirty="0"/>
              <a:t>Session</a:t>
            </a:r>
            <a:r>
              <a:rPr lang="zh-TW" altLang="en-US" dirty="0"/>
              <a:t>、分包暫存、驗證、正式寫入及取消機制，所以新增了五個</a:t>
            </a:r>
            <a:r>
              <a:rPr lang="en-US" altLang="zh-TW" dirty="0"/>
              <a:t>CLUT_*</a:t>
            </a:r>
            <a:r>
              <a:rPr lang="zh-TW" altLang="en-US" dirty="0"/>
              <a:t>指令。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7254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30970"/>
              </p:ext>
            </p:extLst>
          </p:nvPr>
        </p:nvGraphicFramePr>
        <p:xfrm>
          <a:off x="570104" y="2311400"/>
          <a:ext cx="4903596" cy="2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53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51333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結果輸出成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43839"/>
              </p:ext>
            </p:extLst>
          </p:nvPr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結果輸出成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Excel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格式報告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64127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1166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119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366994"/>
              </p:ext>
            </p:extLst>
          </p:nvPr>
        </p:nvGraphicFramePr>
        <p:xfrm>
          <a:off x="570104" y="2311400"/>
          <a:ext cx="4903596" cy="380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MCU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自校準效能優化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i1Display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工具可檢視編輯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.</a:t>
                      </a:r>
                      <a:r>
                        <a:rPr lang="en-US" altLang="zh-TW" sz="14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4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icm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純色溫校正檔案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650096"/>
              </p:ext>
            </p:extLst>
          </p:nvPr>
        </p:nvGraphicFramePr>
        <p:xfrm>
          <a:off x="5604934" y="2353858"/>
          <a:ext cx="4022658" cy="3814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MCU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自校準效能優化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i1Display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工具可檢視編輯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.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icm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5141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純色溫校正檔案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25711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321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82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773279"/>
              </p:ext>
            </p:extLst>
          </p:nvPr>
        </p:nvGraphicFramePr>
        <p:xfrm>
          <a:off x="570104" y="2311400"/>
          <a:ext cx="4903596" cy="3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DICOM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產出報告與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 board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硬體的校正結果做比較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能將校正結果輸出成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15263"/>
              </p:ext>
            </p:extLst>
          </p:nvPr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DICOM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產出報告與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 board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硬體的校正結果做比較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能將校正結果輸出成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38624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0467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119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0076" y="1032937"/>
            <a:ext cx="8877298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CompressedLutCodec.cs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依照論文方法把校正完成的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 (R G B)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進行壓縮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method-arrow-0">
            <a:extLst>
              <a:ext uri="{FF2B5EF4-FFF2-40B4-BE49-F238E27FC236}">
                <a16:creationId xmlns:a16="http://schemas.microsoft.com/office/drawing/2014/main" id="{4970BB84-53E5-1E73-2715-34FF5BA88B78}"/>
              </a:ext>
            </a:extLst>
          </p:cNvPr>
          <p:cNvSpPr>
            <a:spLocks noGrp="1"/>
          </p:cNvSpPr>
          <p:nvPr/>
        </p:nvSpPr>
        <p:spPr>
          <a:xfrm>
            <a:off x="2901251" y="4349414"/>
            <a:ext cx="552450" cy="32385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method-node-0">
            <a:extLst>
              <a:ext uri="{FF2B5EF4-FFF2-40B4-BE49-F238E27FC236}">
                <a16:creationId xmlns:a16="http://schemas.microsoft.com/office/drawing/2014/main" id="{2ABD02E4-A5F4-6ECC-D370-D879A64BB30F}"/>
              </a:ext>
            </a:extLst>
          </p:cNvPr>
          <p:cNvSpPr>
            <a:spLocks noGrp="1"/>
          </p:cNvSpPr>
          <p:nvPr/>
        </p:nvSpPr>
        <p:spPr>
          <a:xfrm>
            <a:off x="403799" y="3312488"/>
            <a:ext cx="2240278" cy="26098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0" name="method-num-0">
            <a:extLst>
              <a:ext uri="{FF2B5EF4-FFF2-40B4-BE49-F238E27FC236}">
                <a16:creationId xmlns:a16="http://schemas.microsoft.com/office/drawing/2014/main" id="{2E97D0A0-5C10-776E-ADA8-8EE02DF56D1E}"/>
              </a:ext>
            </a:extLst>
          </p:cNvPr>
          <p:cNvSpPr>
            <a:spLocks noGrp="1"/>
          </p:cNvSpPr>
          <p:nvPr/>
        </p:nvSpPr>
        <p:spPr>
          <a:xfrm>
            <a:off x="1087694" y="3536519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01</a:t>
            </a:r>
          </a:p>
        </p:txBody>
      </p:sp>
      <p:sp>
        <p:nvSpPr>
          <p:cNvPr id="11" name="method-title-0">
            <a:extLst>
              <a:ext uri="{FF2B5EF4-FFF2-40B4-BE49-F238E27FC236}">
                <a16:creationId xmlns:a16="http://schemas.microsoft.com/office/drawing/2014/main" id="{946C72F9-451B-C9A4-89D7-7F1A2286BC22}"/>
              </a:ext>
            </a:extLst>
          </p:cNvPr>
          <p:cNvSpPr>
            <a:spLocks noGrp="1"/>
          </p:cNvSpPr>
          <p:nvPr/>
        </p:nvSpPr>
        <p:spPr>
          <a:xfrm>
            <a:off x="625017" y="3950663"/>
            <a:ext cx="1797842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Higher-Bit Compression</a:t>
            </a:r>
          </a:p>
        </p:txBody>
      </p:sp>
      <p:sp>
        <p:nvSpPr>
          <p:cNvPr id="12" name="method-desc-0">
            <a:extLst>
              <a:ext uri="{FF2B5EF4-FFF2-40B4-BE49-F238E27FC236}">
                <a16:creationId xmlns:a16="http://schemas.microsoft.com/office/drawing/2014/main" id="{F8457095-5659-98D1-EC2F-3F695078CF5F}"/>
              </a:ext>
            </a:extLst>
          </p:cNvPr>
          <p:cNvSpPr>
            <a:spLocks noGrp="1"/>
          </p:cNvSpPr>
          <p:nvPr/>
        </p:nvSpPr>
        <p:spPr>
          <a:xfrm>
            <a:off x="876193" y="4828331"/>
            <a:ext cx="1280251" cy="6648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75" b="0">
                <a:solidFill>
                  <a:srgbClr val="5F6670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lang="zh-TW" altLang="en-US" sz="1600" b="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保留低位元</a:t>
            </a:r>
            <a:endParaRPr lang="en-US" altLang="zh-TW" sz="1600" b="0" dirty="0">
              <a:solidFill>
                <a:schemeClr val="bg2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buNone/>
              <a:defRPr sz="1575" b="0">
                <a:solidFill>
                  <a:srgbClr val="5F6670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lang="zh-TW" altLang="en-US" sz="1600" b="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將高位元壓縮</a:t>
            </a:r>
          </a:p>
        </p:txBody>
      </p:sp>
      <p:sp>
        <p:nvSpPr>
          <p:cNvPr id="22" name="method-node-0">
            <a:extLst>
              <a:ext uri="{FF2B5EF4-FFF2-40B4-BE49-F238E27FC236}">
                <a16:creationId xmlns:a16="http://schemas.microsoft.com/office/drawing/2014/main" id="{B6622D45-6062-8F0D-1A76-648B67EF6D50}"/>
              </a:ext>
            </a:extLst>
          </p:cNvPr>
          <p:cNvSpPr>
            <a:spLocks noGrp="1"/>
          </p:cNvSpPr>
          <p:nvPr/>
        </p:nvSpPr>
        <p:spPr>
          <a:xfrm>
            <a:off x="3710875" y="3332145"/>
            <a:ext cx="2240278" cy="26098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23" name="method-num-0">
            <a:extLst>
              <a:ext uri="{FF2B5EF4-FFF2-40B4-BE49-F238E27FC236}">
                <a16:creationId xmlns:a16="http://schemas.microsoft.com/office/drawing/2014/main" id="{4960F366-06BD-6396-2BDF-35267EAC332B}"/>
              </a:ext>
            </a:extLst>
          </p:cNvPr>
          <p:cNvSpPr>
            <a:spLocks noGrp="1"/>
          </p:cNvSpPr>
          <p:nvPr/>
        </p:nvSpPr>
        <p:spPr>
          <a:xfrm>
            <a:off x="4665279" y="3513120"/>
            <a:ext cx="34861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0</a:t>
            </a:r>
            <a:r>
              <a:rPr lang="en-US"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2</a:t>
            </a:r>
            <a:endParaRPr sz="2100" b="1" dirty="0">
              <a:solidFill>
                <a:srgbClr val="3D8DFF"/>
              </a:solidFill>
              <a:latin typeface="Noto Sans TC Thin"/>
              <a:ea typeface="Noto Sans TC Thin"/>
              <a:cs typeface="Noto Sans TC Thin"/>
            </a:endParaRPr>
          </a:p>
        </p:txBody>
      </p:sp>
      <p:sp>
        <p:nvSpPr>
          <p:cNvPr id="24" name="method-title-0">
            <a:extLst>
              <a:ext uri="{FF2B5EF4-FFF2-40B4-BE49-F238E27FC236}">
                <a16:creationId xmlns:a16="http://schemas.microsoft.com/office/drawing/2014/main" id="{7857AFA3-1070-3A35-41F7-15FDC4A4C87A}"/>
              </a:ext>
            </a:extLst>
          </p:cNvPr>
          <p:cNvSpPr>
            <a:spLocks noGrp="1"/>
          </p:cNvSpPr>
          <p:nvPr/>
        </p:nvSpPr>
        <p:spPr>
          <a:xfrm>
            <a:off x="3932093" y="3968415"/>
            <a:ext cx="1797842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Lookup Table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method-desc-0">
                <a:extLst>
                  <a:ext uri="{FF2B5EF4-FFF2-40B4-BE49-F238E27FC236}">
                    <a16:creationId xmlns:a16="http://schemas.microsoft.com/office/drawing/2014/main" id="{CCEDD449-F6C5-339B-51D1-61C201C45F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82434" y="4844288"/>
                <a:ext cx="2114307" cy="666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12000"/>
                  </a:lnSpc>
                  <a:buNone/>
                  <a:defRPr sz="1575" b="0">
                    <a:solidFill>
                      <a:srgbClr val="5F6670"/>
                    </a:solidFill>
                    <a:latin typeface="Noto Sans TC Thin"/>
                    <a:ea typeface="Noto Sans TC Thin"/>
                    <a:cs typeface="Noto Sans TC Thin"/>
                  </a:defRPr>
                </a:pPr>
                <a:r>
                  <a:rPr lang="zh-TW" altLang="en-US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每個 </a:t>
                </a:r>
                <a:r>
                  <a:rPr lang="en-US" altLang="zh-TW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lock </a:t>
                </a:r>
                <a:r>
                  <a:rPr lang="zh-TW" altLang="en-US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保存最小值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600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600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bias</m:t>
                        </m:r>
                      </m:sub>
                    </m:sSub>
                  </m:oMath>
                </a14:m>
                <a:r>
                  <a:rPr lang="zh-TW" altLang="en-US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en-US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</a:t>
                </a:r>
                <a:r>
                  <a:rPr lang="zh-TW" altLang="en-US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餘差值寫入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600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600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st</m:t>
                        </m:r>
                      </m:sub>
                    </m:sSub>
                  </m:oMath>
                </a14:m>
                <a:endParaRPr sz="1600" b="0" dirty="0">
                  <a:solidFill>
                    <a:schemeClr val="bg2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method-desc-0">
                <a:extLst>
                  <a:ext uri="{FF2B5EF4-FFF2-40B4-BE49-F238E27FC236}">
                    <a16:creationId xmlns:a16="http://schemas.microsoft.com/office/drawing/2014/main" id="{CCEDD449-F6C5-339B-51D1-61C201C45F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434" y="4844288"/>
                <a:ext cx="2114307" cy="666750"/>
              </a:xfrm>
              <a:prstGeom prst="rect">
                <a:avLst/>
              </a:prstGeom>
              <a:blipFill>
                <a:blip r:embed="rId3"/>
                <a:stretch>
                  <a:fillRect l="-5764" t="-8257" r="-201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method-arrow-0">
            <a:extLst>
              <a:ext uri="{FF2B5EF4-FFF2-40B4-BE49-F238E27FC236}">
                <a16:creationId xmlns:a16="http://schemas.microsoft.com/office/drawing/2014/main" id="{1F74B9E2-C65B-614D-3672-F297A092670E}"/>
              </a:ext>
            </a:extLst>
          </p:cNvPr>
          <p:cNvSpPr>
            <a:spLocks noGrp="1"/>
          </p:cNvSpPr>
          <p:nvPr/>
        </p:nvSpPr>
        <p:spPr>
          <a:xfrm>
            <a:off x="6149270" y="4347509"/>
            <a:ext cx="552450" cy="32385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8" name="method-node-0">
            <a:extLst>
              <a:ext uri="{FF2B5EF4-FFF2-40B4-BE49-F238E27FC236}">
                <a16:creationId xmlns:a16="http://schemas.microsoft.com/office/drawing/2014/main" id="{C4BB44BA-380D-C47F-9646-4E2932E3BB40}"/>
              </a:ext>
            </a:extLst>
          </p:cNvPr>
          <p:cNvSpPr>
            <a:spLocks noGrp="1"/>
          </p:cNvSpPr>
          <p:nvPr/>
        </p:nvSpPr>
        <p:spPr>
          <a:xfrm>
            <a:off x="6958894" y="3330240"/>
            <a:ext cx="2240278" cy="26098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29" name="method-num-0">
            <a:extLst>
              <a:ext uri="{FF2B5EF4-FFF2-40B4-BE49-F238E27FC236}">
                <a16:creationId xmlns:a16="http://schemas.microsoft.com/office/drawing/2014/main" id="{8AB1630D-5C41-8CCA-9DF0-54E24C5A30CF}"/>
              </a:ext>
            </a:extLst>
          </p:cNvPr>
          <p:cNvSpPr>
            <a:spLocks noGrp="1"/>
          </p:cNvSpPr>
          <p:nvPr/>
        </p:nvSpPr>
        <p:spPr>
          <a:xfrm>
            <a:off x="7913298" y="3511215"/>
            <a:ext cx="34861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0</a:t>
            </a:r>
            <a:r>
              <a:rPr lang="en-US"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3</a:t>
            </a:r>
            <a:endParaRPr sz="2100" b="1" dirty="0">
              <a:solidFill>
                <a:srgbClr val="3D8DFF"/>
              </a:solidFill>
              <a:latin typeface="Noto Sans TC Thin"/>
              <a:ea typeface="Noto Sans TC Thin"/>
              <a:cs typeface="Noto Sans TC Thin"/>
            </a:endParaRPr>
          </a:p>
        </p:txBody>
      </p:sp>
      <p:sp>
        <p:nvSpPr>
          <p:cNvPr id="30" name="method-title-0">
            <a:extLst>
              <a:ext uri="{FF2B5EF4-FFF2-40B4-BE49-F238E27FC236}">
                <a16:creationId xmlns:a16="http://schemas.microsoft.com/office/drawing/2014/main" id="{1E86B77D-E541-9713-0BCE-AA235E396CD4}"/>
              </a:ext>
            </a:extLst>
          </p:cNvPr>
          <p:cNvSpPr>
            <a:spLocks noGrp="1"/>
          </p:cNvSpPr>
          <p:nvPr/>
        </p:nvSpPr>
        <p:spPr>
          <a:xfrm>
            <a:off x="7188686" y="4152628"/>
            <a:ext cx="179784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Self-similarities</a:t>
            </a:r>
          </a:p>
        </p:txBody>
      </p:sp>
      <p:sp>
        <p:nvSpPr>
          <p:cNvPr id="31" name="method-desc-0">
            <a:extLst>
              <a:ext uri="{FF2B5EF4-FFF2-40B4-BE49-F238E27FC236}">
                <a16:creationId xmlns:a16="http://schemas.microsoft.com/office/drawing/2014/main" id="{0B290D14-182D-AE88-F681-92F13CB773BF}"/>
              </a:ext>
            </a:extLst>
          </p:cNvPr>
          <p:cNvSpPr>
            <a:spLocks noGrp="1"/>
          </p:cNvSpPr>
          <p:nvPr/>
        </p:nvSpPr>
        <p:spPr>
          <a:xfrm>
            <a:off x="7064386" y="4851882"/>
            <a:ext cx="2046442" cy="682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F6670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lang="zh-TW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相似子表共用</a:t>
            </a:r>
            <a:r>
              <a:rPr lang="en-US" altLang="zh-TW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UST</a:t>
            </a: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5F6670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lang="zh-TW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利用索引與位移量還原</a:t>
            </a:r>
            <a:endParaRPr sz="1600" b="0" dirty="0">
              <a:solidFill>
                <a:schemeClr val="bg2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3A2846F-E37A-D4AA-B364-A54C3E49C9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47" r="20614" b="33131"/>
          <a:stretch/>
        </p:blipFill>
        <p:spPr>
          <a:xfrm>
            <a:off x="1619440" y="2008048"/>
            <a:ext cx="5178758" cy="102323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4826C30-6DA2-F5EF-7F83-31A8B3483805}"/>
              </a:ext>
            </a:extLst>
          </p:cNvPr>
          <p:cNvSpPr/>
          <p:nvPr/>
        </p:nvSpPr>
        <p:spPr>
          <a:xfrm>
            <a:off x="3932093" y="2519666"/>
            <a:ext cx="1020907" cy="5116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60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0076" y="1032937"/>
            <a:ext cx="8877298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論文初步壓縮結果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5400K/6500K/9300K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做測試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以平均縮小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67.10%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，只估算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16-byte DATA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封包，會由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384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包降到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127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0EAA2F-45FA-EF9D-54A6-60E52E52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31" t="5314" r="14910" b="9657"/>
          <a:stretch/>
        </p:blipFill>
        <p:spPr>
          <a:xfrm>
            <a:off x="1245234" y="2469506"/>
            <a:ext cx="7415531" cy="42485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6FBEEA1-0B2A-0FC1-D62F-48595EF7959C}"/>
              </a:ext>
            </a:extLst>
          </p:cNvPr>
          <p:cNvSpPr/>
          <p:nvPr/>
        </p:nvSpPr>
        <p:spPr>
          <a:xfrm>
            <a:off x="3157033" y="4593770"/>
            <a:ext cx="1117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67.10%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DA7AB3-226F-D041-96C2-2ED52178197E}"/>
              </a:ext>
            </a:extLst>
          </p:cNvPr>
          <p:cNvSpPr/>
          <p:nvPr/>
        </p:nvSpPr>
        <p:spPr>
          <a:xfrm>
            <a:off x="4513395" y="4593770"/>
            <a:ext cx="1117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71.83%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5C424D-48A5-E126-1C7A-3C9CBEBE474B}"/>
              </a:ext>
            </a:extLst>
          </p:cNvPr>
          <p:cNvSpPr/>
          <p:nvPr/>
        </p:nvSpPr>
        <p:spPr>
          <a:xfrm>
            <a:off x="5869757" y="4593770"/>
            <a:ext cx="1117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68.93%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50D4E1-BCFB-F5F2-2612-AB130FBFC701}"/>
              </a:ext>
            </a:extLst>
          </p:cNvPr>
          <p:cNvSpPr/>
          <p:nvPr/>
        </p:nvSpPr>
        <p:spPr>
          <a:xfrm>
            <a:off x="7286122" y="4593769"/>
            <a:ext cx="1117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65.74%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2B744A-8A8B-AF4F-96EA-35BDD83F8FC7}"/>
              </a:ext>
            </a:extLst>
          </p:cNvPr>
          <p:cNvSpPr/>
          <p:nvPr/>
        </p:nvSpPr>
        <p:spPr>
          <a:xfrm>
            <a:off x="1734952" y="2931258"/>
            <a:ext cx="111778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8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</a:rPr>
              <a:t>100%</a:t>
            </a:r>
            <a:endParaRPr lang="zh-TW" altLang="en-US" sz="180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24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1007523"/>
            <a:ext cx="6739888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CompressedLutCodec.cs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將論文方法的壓縮資料解壓縮後，與原始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逐筆比較，確認所有數值完全相同。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CompressedLutCodec.cs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整體架構</a:t>
            </a:r>
            <a:endParaRPr lang="en-US" altLang="zh-TW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7A1A767-769D-F875-29CB-84AA8AE38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10" y="2339920"/>
            <a:ext cx="7883775" cy="93057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1F6E9BE-D987-F86D-51AB-4D87E8F5D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09" y="4332385"/>
            <a:ext cx="940117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63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0076" y="1032937"/>
            <a:ext cx="8877298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論文初步壓縮結果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5400K/6500K/9300K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做測試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以平均縮小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64.12%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，只估算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16-byte DATA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封包，會由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384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包降到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138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B778CCB-7DCB-813B-EE02-F5E9987C5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9" t="4377" r="2802" b="5049"/>
          <a:stretch/>
        </p:blipFill>
        <p:spPr>
          <a:xfrm>
            <a:off x="1454192" y="2478014"/>
            <a:ext cx="6997616" cy="390586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8C2B744A-8A8B-AF4F-96EA-35BDD83F8FC7}"/>
              </a:ext>
            </a:extLst>
          </p:cNvPr>
          <p:cNvSpPr/>
          <p:nvPr/>
        </p:nvSpPr>
        <p:spPr>
          <a:xfrm>
            <a:off x="2169495" y="3013947"/>
            <a:ext cx="111778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8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</a:rPr>
              <a:t>100%</a:t>
            </a:r>
            <a:endParaRPr lang="zh-TW" altLang="en-US" sz="180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50D4E1-BCFB-F5F2-2612-AB130FBFC701}"/>
              </a:ext>
            </a:extLst>
          </p:cNvPr>
          <p:cNvSpPr/>
          <p:nvPr/>
        </p:nvSpPr>
        <p:spPr>
          <a:xfrm>
            <a:off x="2821558" y="4281451"/>
            <a:ext cx="93144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64.26%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3028A3-B4A6-1652-F124-F03788D6ABAA}"/>
              </a:ext>
            </a:extLst>
          </p:cNvPr>
          <p:cNvSpPr/>
          <p:nvPr/>
        </p:nvSpPr>
        <p:spPr>
          <a:xfrm>
            <a:off x="4953000" y="4308838"/>
            <a:ext cx="93144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63.95%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1CB0A0-0C9A-FBAE-AA36-6FDA566C6E5C}"/>
              </a:ext>
            </a:extLst>
          </p:cNvPr>
          <p:cNvSpPr/>
          <p:nvPr/>
        </p:nvSpPr>
        <p:spPr>
          <a:xfrm>
            <a:off x="7084442" y="4308838"/>
            <a:ext cx="93144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64.16%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AB2B16-B0B4-EB03-C04F-0D0737C9EDB2}"/>
              </a:ext>
            </a:extLst>
          </p:cNvPr>
          <p:cNvSpPr/>
          <p:nvPr/>
        </p:nvSpPr>
        <p:spPr>
          <a:xfrm>
            <a:off x="4300936" y="3013947"/>
            <a:ext cx="111778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8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</a:rPr>
              <a:t>100%</a:t>
            </a:r>
            <a:endParaRPr lang="zh-TW" altLang="en-US" sz="180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461FB6-053D-7D7D-F14B-DD878D464FCC}"/>
              </a:ext>
            </a:extLst>
          </p:cNvPr>
          <p:cNvSpPr/>
          <p:nvPr/>
        </p:nvSpPr>
        <p:spPr>
          <a:xfrm>
            <a:off x="6432377" y="3013947"/>
            <a:ext cx="111778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8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</a:rPr>
              <a:t>100%</a:t>
            </a:r>
            <a:endParaRPr lang="zh-TW" altLang="en-US" sz="180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52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0076" y="1032938"/>
            <a:ext cx="8877298" cy="95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Tool 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 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支援判斷機制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完成最後一組校正後，讀取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Detail Data0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，判斷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Panel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Internal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External</a:t>
            </a: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2DEF2A5-CA19-05EB-2C4C-846EF0888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3"/>
          <a:stretch/>
        </p:blipFill>
        <p:spPr>
          <a:xfrm>
            <a:off x="5388176" y="4427245"/>
            <a:ext cx="4380021" cy="211613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B9C5AD74-B9A3-CA6E-655D-49ED78E66E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27" t="48408" b="8067"/>
          <a:stretch/>
        </p:blipFill>
        <p:spPr>
          <a:xfrm>
            <a:off x="5388176" y="2077926"/>
            <a:ext cx="4380021" cy="2258075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89BEDA9-7596-F625-1A56-A9173B42EB2E}"/>
              </a:ext>
            </a:extLst>
          </p:cNvPr>
          <p:cNvSpPr/>
          <p:nvPr/>
        </p:nvSpPr>
        <p:spPr>
          <a:xfrm>
            <a:off x="5388176" y="2548137"/>
            <a:ext cx="3743792" cy="1787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82D2153-81BA-C569-6EAC-C2BA12C33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03" y="2080190"/>
            <a:ext cx="5150064" cy="3744872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6DCF9828-8272-F6D3-0F07-4FE6230F59B6}"/>
              </a:ext>
            </a:extLst>
          </p:cNvPr>
          <p:cNvSpPr/>
          <p:nvPr/>
        </p:nvSpPr>
        <p:spPr>
          <a:xfrm>
            <a:off x="5388176" y="4876800"/>
            <a:ext cx="4251124" cy="1666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596080-DADB-4854-FC5E-55C462ED9A2D}"/>
              </a:ext>
            </a:extLst>
          </p:cNvPr>
          <p:cNvSpPr/>
          <p:nvPr/>
        </p:nvSpPr>
        <p:spPr>
          <a:xfrm>
            <a:off x="2370221" y="2719137"/>
            <a:ext cx="818147" cy="10828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853D748-29A3-0045-7D25-678DE03920B5}"/>
              </a:ext>
            </a:extLst>
          </p:cNvPr>
          <p:cNvSpPr/>
          <p:nvPr/>
        </p:nvSpPr>
        <p:spPr>
          <a:xfrm>
            <a:off x="5420787" y="3513536"/>
            <a:ext cx="3380314" cy="16311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E480A55-75CD-5293-FF71-CE070EACF8C3}"/>
              </a:ext>
            </a:extLst>
          </p:cNvPr>
          <p:cNvSpPr/>
          <p:nvPr/>
        </p:nvSpPr>
        <p:spPr>
          <a:xfrm>
            <a:off x="5420787" y="5743504"/>
            <a:ext cx="3485088" cy="1759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78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1" y="1007523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DDC2Bi.c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指令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CLUT_BEGIN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以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Gamma 1.8 / 5400K /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壓縮大小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: 1923 bytes (0x0783)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做測試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9B025B4-2692-6B24-6F71-AD21383E00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8" t="8438" r="7193" b="5032"/>
          <a:stretch/>
        </p:blipFill>
        <p:spPr>
          <a:xfrm>
            <a:off x="1917783" y="1973726"/>
            <a:ext cx="6070433" cy="460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60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1" y="1007523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DDC2Bi.c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指令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CLUT_DATA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BEGIN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建立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Session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之後，接下來用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CLUT_DATA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傳真正的壓縮資料</a:t>
            </a: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2225736-EC99-DF1C-A126-4BB8242C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1" t="5272" r="2827" b="2118"/>
          <a:stretch/>
        </p:blipFill>
        <p:spPr>
          <a:xfrm>
            <a:off x="2129890" y="1985209"/>
            <a:ext cx="5646220" cy="455340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E8EBF08-FF34-EAAC-300B-8C153F02C945}"/>
              </a:ext>
            </a:extLst>
          </p:cNvPr>
          <p:cNvSpPr/>
          <p:nvPr/>
        </p:nvSpPr>
        <p:spPr>
          <a:xfrm>
            <a:off x="5558589" y="4812632"/>
            <a:ext cx="757990" cy="276726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392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1" y="1007523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DDC2Bi.c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指令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CLUT_VALIDATE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PC Tool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發出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VALIDATE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指令，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FW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會檢查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CLT1 magic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Channel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數量、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Channel CRC32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Full CRC32</a:t>
            </a: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861AE11-D839-5D64-636A-A91364671F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4" t="2825" r="4824" b="7519"/>
          <a:stretch/>
        </p:blipFill>
        <p:spPr>
          <a:xfrm>
            <a:off x="1619668" y="2372307"/>
            <a:ext cx="6666664" cy="401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62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1" y="1007523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DDC2Bi.c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指令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CLUT_COMMIT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VALIDATE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回覆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PASS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PC Tool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才會送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CLUT_COMMIT</a:t>
            </a: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FW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再次驗證及解壓，寫入目標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Gamma Table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，回覆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COMMIT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結果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598F2B3-33B6-0A78-D56A-56CCEC28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3" t="3465" r="8083"/>
          <a:stretch/>
        </p:blipFill>
        <p:spPr>
          <a:xfrm>
            <a:off x="1397919" y="2448600"/>
            <a:ext cx="7110161" cy="440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3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1" y="1007523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DDC2Bi.c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指令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CLUT_ABORT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傳輸／驗證發生錯誤或流程取消時，送出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CLUT_ABORT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清除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Session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並中斷流程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05AE7E5-025B-F422-C81B-58FBBBE336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0" t="6357" r="8616" b="6771"/>
          <a:stretch/>
        </p:blipFill>
        <p:spPr>
          <a:xfrm>
            <a:off x="1291791" y="1922196"/>
            <a:ext cx="7037670" cy="446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5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53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51333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結果輸出成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結果輸出成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Excel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格式報告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64127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1166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119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89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380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MCU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自校準效能優化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i1Display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工具可檢視編輯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.</a:t>
                      </a:r>
                      <a:r>
                        <a:rPr lang="en-US" altLang="zh-TW" sz="14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4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icm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純色溫校正檔案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814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MCU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自校準效能優化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i1Display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工具可檢視編輯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.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icm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5141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純色溫校正檔案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25711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321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073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3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DICOM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產出報告與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 board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硬體的校正結果做比較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能將校正結果輸出成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DICOM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產出報告與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 board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硬體的校正結果做比較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能將校正結果輸出成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38624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0467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119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0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JS-1500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語音轉錄系統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6CA1D10-2B3C-4B96-99C6-FACC242AA46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84477" y="2588750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ASR</a:t>
                      </a: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串流輸出文字與區間 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LLM</a:t>
                      </a: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快速修正</a:t>
                      </a:r>
                      <a:endParaRPr lang="en-US" altLang="zh-TW" sz="1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語句內容與術語替換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全域聲紋池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F1009BB-0E2E-452D-9A19-3272559603F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98867" y="2588750"/>
          <a:ext cx="4022658" cy="2855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345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1586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全域聲紋分群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3319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條件式人聲提取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8409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Forced Alignment 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22927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LLM</a:t>
                      </a: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809063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56B4C7C-2AFF-4696-8747-3C39B58AD635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6B629-E950-43C1-8767-587332AC45CE}"/>
              </a:ext>
            </a:extLst>
          </p:cNvPr>
          <p:cNvSpPr txBox="1"/>
          <p:nvPr/>
        </p:nvSpPr>
        <p:spPr>
          <a:xfrm>
            <a:off x="520699" y="1369489"/>
            <a:ext cx="7669813" cy="429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以下分別為當前開發進度及優先序。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218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594914" y="1252449"/>
            <a:ext cx="4358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母語者即興電話錄音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包含中文、英文、日文、德文、西班牙文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提供官方逐字稿及與者時間標籤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目前先針對中文、英文各取出幾筆資料做測試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上次進度：資料集－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callhome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AA0285C-E68B-4199-BC3C-7C4E85E3E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316" y="1568741"/>
            <a:ext cx="4679336" cy="338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54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594914" y="1252449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最常被使用的會議語音資料集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共計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小時英語會議錄音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涵蓋多種場景，每種場景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名與會者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提供官方逐字稿及與者時間標籤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callhome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評估收斂後改為使用此資料集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上次進度：進階資料集－</a:t>
            </a:r>
            <a:r>
              <a:rPr lang="en-US" altLang="zh-TW" dirty="0"/>
              <a:t>AMI</a:t>
            </a:r>
            <a:r>
              <a:rPr lang="en-US" altLang="zh-TW" sz="2000" dirty="0"/>
              <a:t> (Augmented Multi-party Interaction)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205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594914" y="1252449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及時串流推理帶來高頻率共同前綴請求，可以使用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prefix cache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緩解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		Block 1                  	Block 2                  	Block 3</a:t>
            </a:r>
          </a:p>
          <a:p>
            <a:pPr marL="50800" indent="0">
              <a:buNone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		[A gentle breeze stirred] 	[the leaves as children] 	[laughed in the distance]</a:t>
            </a:r>
          </a:p>
          <a:p>
            <a:pPr marL="50800" indent="0">
              <a:buNone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Block 1: 	|&lt;--- block tokens ----&gt;|</a:t>
            </a:r>
          </a:p>
          <a:p>
            <a:pPr marL="50800" indent="0">
              <a:buNone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Block 2: 	|&lt;-------- prefix -------&gt;| 	|&lt;--- block tokens ---&gt;|</a:t>
            </a:r>
          </a:p>
          <a:p>
            <a:pPr marL="50800" indent="0">
              <a:buNone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Block 3: 	|&lt;-------------------- prefix -------------------------&gt;| 	|&lt;--- block tokens ----&gt;|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具有高性能的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Automatic prefix caching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，因此使用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作為基底推理引擎，同時還可用於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推理加速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whisper-large-v3-turbo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作為環境建立的測試模型</a:t>
            </a: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ASR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環境建立</a:t>
            </a:r>
          </a:p>
        </p:txBody>
      </p:sp>
    </p:spTree>
    <p:extLst>
      <p:ext uri="{BB962C8B-B14F-4D97-AF65-F5344CB8AC3E}">
        <p14:creationId xmlns:p14="http://schemas.microsoft.com/office/powerpoint/2010/main" val="359552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594914" y="1252449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uv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環境管理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安裝好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、從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huggingface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下載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whisper-large-v3-turbo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初次載入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發現因為缺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ninja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導致初始化失敗，修改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PATH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後修正完成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啟動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後在載入中超過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分鐘明顯異常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transformers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可以使用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正常推理，確認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環境沒有問題，需要更深入測試釐清問題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ASR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環境建立</a:t>
            </a:r>
          </a:p>
        </p:txBody>
      </p:sp>
    </p:spTree>
    <p:extLst>
      <p:ext uri="{BB962C8B-B14F-4D97-AF65-F5344CB8AC3E}">
        <p14:creationId xmlns:p14="http://schemas.microsoft.com/office/powerpoint/2010/main" val="1812409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JS-1500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語音轉錄系統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6CA1D10-2B3C-4B96-99C6-FACC242AA46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84477" y="2588750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ASR</a:t>
                      </a: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串流輸出文字與區間 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LLM</a:t>
                      </a: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快速修正</a:t>
                      </a:r>
                      <a:endParaRPr lang="en-US" altLang="zh-TW" sz="1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語句內容與術語替換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全域聲紋池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F1009BB-0E2E-452D-9A19-3272559603F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98867" y="2588750"/>
          <a:ext cx="4022658" cy="2855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345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1586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全域聲紋分群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3319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條件式人聲提取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8409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Forced Alignment 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22927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LLM</a:t>
                      </a:r>
                      <a:r>
                        <a:rPr lang="zh-TW" altLang="en-US" sz="14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809063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56B4C7C-2AFF-4696-8747-3C39B58AD635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6B629-E950-43C1-8767-587332AC45CE}"/>
              </a:ext>
            </a:extLst>
          </p:cNvPr>
          <p:cNvSpPr txBox="1"/>
          <p:nvPr/>
        </p:nvSpPr>
        <p:spPr>
          <a:xfrm>
            <a:off x="520699" y="1369489"/>
            <a:ext cx="7669813" cy="429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以下分別為當前開發進度及優先序。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78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0076" y="1032937"/>
            <a:ext cx="8877298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更改燒入方式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E1E1D14-5889-FC16-E8ED-EF0C99A6F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34303"/>
              </p:ext>
            </p:extLst>
          </p:nvPr>
        </p:nvGraphicFramePr>
        <p:xfrm>
          <a:off x="609602" y="1697444"/>
          <a:ext cx="8965963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94590">
                  <a:extLst>
                    <a:ext uri="{9D8B030D-6E8A-4147-A177-3AD203B41FA5}">
                      <a16:colId xmlns:a16="http://schemas.microsoft.com/office/drawing/2014/main" val="2905631016"/>
                    </a:ext>
                  </a:extLst>
                </a:gridCol>
                <a:gridCol w="2643543">
                  <a:extLst>
                    <a:ext uri="{9D8B030D-6E8A-4147-A177-3AD203B41FA5}">
                      <a16:colId xmlns:a16="http://schemas.microsoft.com/office/drawing/2014/main" val="693351135"/>
                    </a:ext>
                  </a:extLst>
                </a:gridCol>
                <a:gridCol w="4227830">
                  <a:extLst>
                    <a:ext uri="{9D8B030D-6E8A-4147-A177-3AD203B41FA5}">
                      <a16:colId xmlns:a16="http://schemas.microsoft.com/office/drawing/2014/main" val="749450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項目</a:t>
                      </a:r>
                      <a:endParaRPr lang="zh-TW" alt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原本學長作法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CompressedLUT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作法</a:t>
                      </a:r>
                      <a:endParaRPr lang="zh-TW" alt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68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傳送資料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</a:t>
                      </a:r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</a:t>
                      </a:r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</a:t>
                      </a:r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分別傳送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封裝成一個</a:t>
                      </a:r>
                      <a:r>
                        <a:rPr lang="en-US" altLang="zh-TW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CLT1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容器</a:t>
                      </a:r>
                      <a:endParaRPr lang="zh-TW" alt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400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資料大小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6144 bytes</a:t>
                      </a:r>
                      <a:endParaRPr 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約</a:t>
                      </a:r>
                      <a:r>
                        <a:rPr lang="en-US" altLang="zh-TW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1923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～</a:t>
                      </a:r>
                      <a:r>
                        <a:rPr lang="en-US" altLang="zh-TW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2200 </a:t>
                      </a:r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bytes</a:t>
                      </a:r>
                      <a:endParaRPr 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770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傳送方式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每次</a:t>
                      </a:r>
                      <a:r>
                        <a:rPr lang="en-US" altLang="zh-TW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 </a:t>
                      </a:r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bytes</a:t>
                      </a:r>
                      <a:endParaRPr 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每次</a:t>
                      </a:r>
                      <a:r>
                        <a:rPr lang="en-US" altLang="zh-TW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 </a:t>
                      </a:r>
                      <a:r>
                        <a:rPr 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bytes</a:t>
                      </a:r>
                      <a:endParaRPr 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37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DATA</a:t>
                      </a:r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階段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每包直接寫入</a:t>
                      </a:r>
                      <a:r>
                        <a:rPr 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NVRAM</a:t>
                      </a:r>
                      <a:endParaRPr 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先暫存在</a:t>
                      </a:r>
                      <a:r>
                        <a:rPr lang="en-US" altLang="zh-TW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FW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記憶體</a:t>
                      </a:r>
                      <a:endParaRPr lang="zh-TW" alt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123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完整性檢查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每包</a:t>
                      </a:r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XOR Checksum</a:t>
                      </a:r>
                      <a:endParaRPr 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封包回覆＋</a:t>
                      </a:r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Channel CRC32＋Full CRC32</a:t>
                      </a:r>
                      <a:endParaRPr 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66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正式寫入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傳送過程逐包寫入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VALIDATE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成功後才</a:t>
                      </a:r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COMMIT</a:t>
                      </a:r>
                      <a:endParaRPr 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87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錯誤處理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可能已寫入部分資料</a:t>
                      </a:r>
                      <a:endParaRPr lang="zh-TW" altLang="en-US" sz="1800" b="0" i="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COMMIT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前可</a:t>
                      </a:r>
                      <a:r>
                        <a:rPr 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ABORT</a:t>
                      </a:r>
                      <a:r>
                        <a:rPr lang="zh-TW" altLang="en-US" sz="18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取消</a:t>
                      </a:r>
                      <a:endParaRPr lang="zh-TW" altLang="en-US" sz="1800" b="0" i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553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71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320193</TotalTime>
  <Words>2542</Words>
  <Application>Microsoft Office PowerPoint</Application>
  <PresentationFormat>A4 紙張 (210x297 公釐)</PresentationFormat>
  <Paragraphs>427</Paragraphs>
  <Slides>25</Slides>
  <Notes>25</Notes>
  <HiddenSlides>1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3" baseType="lpstr">
      <vt:lpstr>Noto Sans Symbols</vt:lpstr>
      <vt:lpstr>Noto Sans TC Thin</vt:lpstr>
      <vt:lpstr>新細明體</vt:lpstr>
      <vt:lpstr>標楷體</vt:lpstr>
      <vt:lpstr>Arial</vt:lpstr>
      <vt:lpstr>Cambria Math</vt:lpstr>
      <vt:lpstr>Times New Roman</vt:lpstr>
      <vt:lpstr>template</vt:lpstr>
      <vt:lpstr>Progress Report</vt:lpstr>
      <vt:lpstr>本次進度: Monitor</vt:lpstr>
      <vt:lpstr>本次進度: Monitor</vt:lpstr>
      <vt:lpstr>本次進度: Monitor</vt:lpstr>
      <vt:lpstr>上次進度: Monitor - Performance</vt:lpstr>
      <vt:lpstr>上次進度: Monitor - Performance</vt:lpstr>
      <vt:lpstr>上次進度: Monitor - Performance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下次進度: Monitor</vt:lpstr>
      <vt:lpstr>下次進度: Monitor</vt:lpstr>
      <vt:lpstr>下次進度: Monitor</vt:lpstr>
      <vt:lpstr>上次進度：JS-1500 語音轉錄系統</vt:lpstr>
      <vt:lpstr>上次進度：資料集－callhome</vt:lpstr>
      <vt:lpstr>上次進度：進階資料集－AMI (Augmented Multi-party Interaction)</vt:lpstr>
      <vt:lpstr>本次進度：ASR環境建立</vt:lpstr>
      <vt:lpstr>本次進度：ASR環境建立</vt:lpstr>
      <vt:lpstr>下次進度：JS-1500 語音轉錄系統</vt:lpstr>
      <vt:lpstr>PowerPoint 簡報</vt:lpstr>
      <vt:lpstr>本次進度: Monitor -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2428</cp:revision>
  <dcterms:created xsi:type="dcterms:W3CDTF">2003-02-17T16:04:03Z</dcterms:created>
  <dcterms:modified xsi:type="dcterms:W3CDTF">2026-09-08T06:23:11Z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