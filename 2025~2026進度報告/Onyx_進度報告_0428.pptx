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4"/>
  </p:notesMasterIdLst>
  <p:sldIdLst>
    <p:sldId id="277" r:id="rId2"/>
    <p:sldId id="1784" r:id="rId3"/>
    <p:sldId id="1860" r:id="rId4"/>
    <p:sldId id="1888" r:id="rId5"/>
    <p:sldId id="1885" r:id="rId6"/>
    <p:sldId id="1886" r:id="rId7"/>
    <p:sldId id="1889" r:id="rId8"/>
    <p:sldId id="1853" r:id="rId9"/>
    <p:sldId id="1890" r:id="rId10"/>
    <p:sldId id="1891" r:id="rId11"/>
    <p:sldId id="1892" r:id="rId12"/>
    <p:sldId id="1893" r:id="rId13"/>
    <p:sldId id="1894" r:id="rId14"/>
    <p:sldId id="1895" r:id="rId15"/>
    <p:sldId id="1783" r:id="rId16"/>
    <p:sldId id="1864" r:id="rId17"/>
    <p:sldId id="1865" r:id="rId18"/>
    <p:sldId id="1863" r:id="rId19"/>
    <p:sldId id="1866" r:id="rId20"/>
    <p:sldId id="1858" r:id="rId21"/>
    <p:sldId id="1859" r:id="rId22"/>
    <p:sldId id="286" r:id="rId23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860"/>
            <p14:sldId id="1888"/>
            <p14:sldId id="1885"/>
            <p14:sldId id="1886"/>
            <p14:sldId id="1889"/>
            <p14:sldId id="1853"/>
            <p14:sldId id="1890"/>
            <p14:sldId id="1891"/>
            <p14:sldId id="1892"/>
            <p14:sldId id="1893"/>
            <p14:sldId id="1894"/>
            <p14:sldId id="1895"/>
            <p14:sldId id="1783"/>
          </p14:sldIdLst>
        </p14:section>
        <p14:section name="JS1500" id="{F71E69A4-C86C-4DAC-B828-42C2D8800267}">
          <p14:sldIdLst>
            <p14:sldId id="1864"/>
            <p14:sldId id="1865"/>
            <p14:sldId id="1863"/>
            <p14:sldId id="1866"/>
            <p14:sldId id="1858"/>
            <p14:sldId id="1859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1" autoAdjust="0"/>
    <p:restoredTop sz="88970" autoAdjust="0"/>
  </p:normalViewPr>
  <p:slideViewPr>
    <p:cSldViewPr snapToGrid="0">
      <p:cViewPr varScale="1">
        <p:scale>
          <a:sx n="98" d="100"/>
          <a:sy n="98" d="100"/>
        </p:scale>
        <p:origin x="1866" y="9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0511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075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3760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803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966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7212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3812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503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9031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7664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6056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07 16 (VCP Code)</a:t>
            </a:r>
            <a:r>
              <a:rPr lang="zh-TW" altLang="en-US" b="1" dirty="0"/>
              <a:t>：</a:t>
            </a:r>
            <a:r>
              <a:rPr lang="en-US" altLang="zh-TW" dirty="0"/>
              <a:t> </a:t>
            </a:r>
            <a:r>
              <a:rPr lang="en-US" altLang="zh-TW" b="1" dirty="0"/>
              <a:t>Self Calibration </a:t>
            </a:r>
            <a:r>
              <a:rPr lang="zh-TW" altLang="en-US" b="1" dirty="0"/>
              <a:t>的專屬功能代號</a:t>
            </a:r>
            <a:r>
              <a:rPr lang="zh-TW" altLang="en-US" dirty="0"/>
              <a:t>！</a:t>
            </a:r>
            <a:endParaRPr lang="en-US" altLang="zh-TW" dirty="0"/>
          </a:p>
          <a:p>
            <a:r>
              <a:rPr lang="zh-TW" altLang="en-US" dirty="0"/>
              <a:t>你貼的那張規格書截圖 </a:t>
            </a:r>
            <a:r>
              <a:rPr lang="en-US" altLang="zh-TW" dirty="0"/>
              <a:t>6E 51 86 C0 63 07 16 00 01 0A:</a:t>
            </a:r>
            <a:r>
              <a:rPr lang="zh-TW" altLang="en-US" dirty="0"/>
              <a:t>這是一封由電腦 </a:t>
            </a:r>
            <a:r>
              <a:rPr lang="en-US" altLang="zh-TW" dirty="0"/>
              <a:t>(51) </a:t>
            </a:r>
            <a:r>
              <a:rPr lang="zh-TW" altLang="en-US" dirty="0"/>
              <a:t>寄給螢幕 </a:t>
            </a:r>
            <a:r>
              <a:rPr lang="en-US" altLang="zh-TW" dirty="0"/>
              <a:t>(6E) </a:t>
            </a:r>
            <a:r>
              <a:rPr lang="zh-TW" altLang="en-US" dirty="0"/>
              <a:t>的信，信件長度為 </a:t>
            </a:r>
            <a:r>
              <a:rPr lang="en-US" altLang="zh-TW" dirty="0"/>
              <a:t>6 (86)</a:t>
            </a:r>
            <a:r>
              <a:rPr lang="zh-TW" altLang="en-US" dirty="0"/>
              <a:t>，內容是叫你打開 </a:t>
            </a:r>
            <a:r>
              <a:rPr lang="en-US" altLang="zh-TW" dirty="0"/>
              <a:t>Self Calibration (C0 63 07 16 00 01)</a:t>
            </a:r>
            <a:r>
              <a:rPr lang="zh-TW" altLang="en-US" dirty="0"/>
              <a:t>，檢查碼為 </a:t>
            </a:r>
            <a:r>
              <a:rPr lang="en-US" altLang="zh-TW" dirty="0"/>
              <a:t>0A</a:t>
            </a:r>
            <a:r>
              <a:rPr lang="zh-TW" altLang="en-US" dirty="0"/>
              <a:t>！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6122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619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97041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3624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2121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37676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25652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5805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22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95043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1234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D0504FF-E441-D7A9-C67C-AD2DB0476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520" y="2557719"/>
            <a:ext cx="4744480" cy="3797246"/>
          </a:xfrm>
          <a:prstGeom prst="rect">
            <a:avLst/>
          </a:prstGeom>
        </p:spPr>
      </p:pic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86661" y="1060362"/>
            <a:ext cx="7844926" cy="167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 色溫不準問題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校正完後，把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量到的面板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的值寫入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ADbroad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至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5400K(Y)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裡面。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[20~22]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[24~26]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[28~30]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9300K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E38792-5F07-43D1-92FF-E90C3FC34B8B}"/>
              </a:ext>
            </a:extLst>
          </p:cNvPr>
          <p:cNvSpPr/>
          <p:nvPr/>
        </p:nvSpPr>
        <p:spPr>
          <a:xfrm flipH="1">
            <a:off x="5243675" y="4692560"/>
            <a:ext cx="4580170" cy="603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01FB233-7447-1D72-BA9A-9DC05F2E08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76"/>
          <a:stretch/>
        </p:blipFill>
        <p:spPr>
          <a:xfrm>
            <a:off x="326584" y="3034366"/>
            <a:ext cx="4324612" cy="78619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EFDD0F2-7300-79AB-F911-F3EE4581B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84" y="3978138"/>
            <a:ext cx="4357529" cy="68116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CBBB5C4-3B5F-884D-E3A1-C115B6369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84" y="4917184"/>
            <a:ext cx="4357529" cy="75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86661" y="1060362"/>
            <a:ext cx="7844926" cy="167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 色溫不準問題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校正完後，把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量到的面板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的值寫入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ADbroad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至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5400K(Y)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裡面。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[20~22]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[24~26]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[28~30]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9300K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01FB233-7447-1D72-BA9A-9DC05F2E08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6"/>
          <a:stretch/>
        </p:blipFill>
        <p:spPr>
          <a:xfrm>
            <a:off x="326584" y="3034366"/>
            <a:ext cx="4324612" cy="78619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EFDD0F2-7300-79AB-F911-F3EE4581B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84" y="3978138"/>
            <a:ext cx="4357529" cy="68116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CBBB5C4-3B5F-884D-E3A1-C115B6369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84" y="4917184"/>
            <a:ext cx="4357529" cy="75738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668EEA3-83F0-E051-9936-3B7F8A44AA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1590" y="3050123"/>
            <a:ext cx="4118887" cy="77043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2AB82E6-5706-F5B0-599D-60A114691C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1590" y="4103102"/>
            <a:ext cx="4118887" cy="72599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16D4839-ACFD-4A3E-08E2-28AFE5A5B0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4518" y="5287787"/>
            <a:ext cx="4214753" cy="77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86247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色溫正常，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offset=0.02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4" name="表格 24">
            <a:extLst>
              <a:ext uri="{FF2B5EF4-FFF2-40B4-BE49-F238E27FC236}">
                <a16:creationId xmlns:a16="http://schemas.microsoft.com/office/drawing/2014/main" id="{983C4F25-1319-45C1-88D5-1C3A51D09F6A}"/>
              </a:ext>
            </a:extLst>
          </p:cNvPr>
          <p:cNvGraphicFramePr>
            <a:graphicFrameLocks noGrp="1"/>
          </p:cNvGraphicFramePr>
          <p:nvPr/>
        </p:nvGraphicFramePr>
        <p:xfrm>
          <a:off x="167641" y="2381794"/>
          <a:ext cx="4785359" cy="3962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902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15035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99106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602198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C000"/>
                          </a:solidFill>
                        </a:rPr>
                        <a:t>256</a:t>
                      </a:r>
                      <a:r>
                        <a:rPr lang="zh-TW" altLang="en-US" dirty="0">
                          <a:solidFill>
                            <a:srgbClr val="FFC000"/>
                          </a:solidFill>
                        </a:rPr>
                        <a:t>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5495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6694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9538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 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5497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6690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2.01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9540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5500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2.19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6699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9560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2.6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2.59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5488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2.59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6685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2.58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9525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  <p:graphicFrame>
        <p:nvGraphicFramePr>
          <p:cNvPr id="4" name="表格 24">
            <a:extLst>
              <a:ext uri="{FF2B5EF4-FFF2-40B4-BE49-F238E27FC236}">
                <a16:creationId xmlns:a16="http://schemas.microsoft.com/office/drawing/2014/main" id="{9D2AAE05-80AC-E759-AE44-FF7B069FFB62}"/>
              </a:ext>
            </a:extLst>
          </p:cNvPr>
          <p:cNvGraphicFramePr>
            <a:graphicFrameLocks noGrp="1"/>
          </p:cNvGraphicFramePr>
          <p:nvPr/>
        </p:nvGraphicFramePr>
        <p:xfrm>
          <a:off x="5036820" y="2381794"/>
          <a:ext cx="4785359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902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15035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99106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602198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C000"/>
                          </a:solidFill>
                        </a:rPr>
                        <a:t>256</a:t>
                      </a:r>
                      <a:r>
                        <a:rPr lang="zh-TW" altLang="en-US" dirty="0">
                          <a:solidFill>
                            <a:srgbClr val="FFC000"/>
                          </a:solidFill>
                        </a:rPr>
                        <a:t>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DICOM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5447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6643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9530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52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86247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版本更新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V0.12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按鍵在沒有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Ddebug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下停用。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D343A0B-BAF2-1942-78E3-69CC0A0F1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31" y="1981152"/>
            <a:ext cx="8077200" cy="367331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624223D-746C-6376-BB94-6CD7F573F423}"/>
              </a:ext>
            </a:extLst>
          </p:cNvPr>
          <p:cNvSpPr/>
          <p:nvPr/>
        </p:nvSpPr>
        <p:spPr>
          <a:xfrm flipH="1">
            <a:off x="3693813" y="3087232"/>
            <a:ext cx="896294" cy="226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0C64C0-C8BF-5B49-8D19-73FAE2CE7EAA}"/>
              </a:ext>
            </a:extLst>
          </p:cNvPr>
          <p:cNvSpPr/>
          <p:nvPr/>
        </p:nvSpPr>
        <p:spPr>
          <a:xfrm flipH="1">
            <a:off x="1711104" y="1978085"/>
            <a:ext cx="677501" cy="226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994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86247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加前框玻璃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Gamma1.8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2.6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，以及三組色溫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4" name="表格 24">
            <a:extLst>
              <a:ext uri="{FF2B5EF4-FFF2-40B4-BE49-F238E27FC236}">
                <a16:creationId xmlns:a16="http://schemas.microsoft.com/office/drawing/2014/main" id="{983C4F25-1319-45C1-88D5-1C3A51D09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466066"/>
              </p:ext>
            </p:extLst>
          </p:nvPr>
        </p:nvGraphicFramePr>
        <p:xfrm>
          <a:off x="609602" y="2182618"/>
          <a:ext cx="4785359" cy="3048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902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15035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99106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602198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C000"/>
                          </a:solidFill>
                        </a:rPr>
                        <a:t>256</a:t>
                      </a:r>
                      <a:r>
                        <a:rPr lang="zh-TW" altLang="en-US" dirty="0">
                          <a:solidFill>
                            <a:srgbClr val="FFC000"/>
                          </a:solidFill>
                        </a:rPr>
                        <a:t>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1.79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5608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1.79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6873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1.79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9457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2.17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5567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2.18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6807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2.18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9407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DICOM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5141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6536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9433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872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0C4D1BF-7AB6-A3A8-F30B-94198724B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553" y="1523733"/>
            <a:ext cx="5608081" cy="381053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FF8C6B7-3FF7-03DD-A0A5-2CF8D2431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74" y="1752366"/>
            <a:ext cx="3524742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36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D0776B9-1D8D-2E4A-4601-D39AB9897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734" y="1548351"/>
            <a:ext cx="6185470" cy="37841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B8B97C0-9CF0-C00F-CF56-6B6CB4C57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6" y="1751985"/>
            <a:ext cx="3534268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91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056D97-9713-5864-3CF0-F564FBBC9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905" y="1676400"/>
            <a:ext cx="6129377" cy="379183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A90B996-7F6F-64DE-9B14-358DE2831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18" y="1632411"/>
            <a:ext cx="3477110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67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57741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54C3844-17F5-46BD-CAE9-914BA04CB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338" y="1676399"/>
            <a:ext cx="6205662" cy="387662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9379242-603D-6F3B-D08E-36D6063C6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78" y="1603743"/>
            <a:ext cx="2971437" cy="469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08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6BA25BB-F679-8D36-C72B-098D83A00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316" y="1658951"/>
            <a:ext cx="5937367" cy="312127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A89BF16-97DD-F684-36A8-C7B37F241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5" y="1676400"/>
            <a:ext cx="2837894" cy="468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99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5A65DD1-881C-041C-D6D8-9D66F4DBE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784" y="1523734"/>
            <a:ext cx="6150077" cy="392357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139D7C1-A2EF-4B94-AA53-EC3FFD7F8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05" y="1676400"/>
            <a:ext cx="2716920" cy="455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99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780076C-B5D1-4545-1910-538E71AD7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97" t="11749" r="27841" b="38481"/>
          <a:stretch/>
        </p:blipFill>
        <p:spPr>
          <a:xfrm>
            <a:off x="0" y="1868784"/>
            <a:ext cx="2879002" cy="3413157"/>
          </a:xfrm>
          <a:prstGeom prst="rect">
            <a:avLst/>
          </a:prstGeom>
        </p:spPr>
      </p:pic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008186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Calibration(ON)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時，才開始做校正。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24223D-746C-6376-BB94-6CD7F573F423}"/>
              </a:ext>
            </a:extLst>
          </p:cNvPr>
          <p:cNvSpPr/>
          <p:nvPr/>
        </p:nvSpPr>
        <p:spPr>
          <a:xfrm flipH="1">
            <a:off x="235389" y="4402479"/>
            <a:ext cx="264361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E7B6EFD0-F554-BEF6-5862-FE4D3DEAA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154" y="1605670"/>
            <a:ext cx="4816447" cy="182333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8CBFB822-4720-C1C0-0240-FD294DBD0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154" y="3711820"/>
            <a:ext cx="4914292" cy="191038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468E5A9-C0A4-3771-FCC8-BC2AA44DC96E}"/>
              </a:ext>
            </a:extLst>
          </p:cNvPr>
          <p:cNvSpPr/>
          <p:nvPr/>
        </p:nvSpPr>
        <p:spPr>
          <a:xfrm flipH="1">
            <a:off x="5875505" y="3167836"/>
            <a:ext cx="1113769" cy="178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7A7C11-34E8-C38E-E966-D97262A3B243}"/>
              </a:ext>
            </a:extLst>
          </p:cNvPr>
          <p:cNvSpPr/>
          <p:nvPr/>
        </p:nvSpPr>
        <p:spPr>
          <a:xfrm flipH="1">
            <a:off x="6989273" y="4032746"/>
            <a:ext cx="1376512" cy="189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6658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2317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19221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12259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87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694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221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audio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jack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狀態讀取會失效，嘗試使用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alsa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重新初始化也沒用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懷疑是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ALC5640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在睡眠後斷電，在重開後沒有正確初始化導致的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建議先移除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選項避免問題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r>
              <a:rPr lang="zh-TW" altLang="en-US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抓不到</a:t>
            </a:r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HID</a:t>
            </a:r>
            <a:r>
              <a:rPr lang="zh-TW" altLang="en-US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report</a:t>
            </a:r>
            <a:r>
              <a:rPr lang="zh-TW" altLang="en-US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，正在排除問題</a:t>
            </a: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Audio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700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透過將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dev_dbg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覆蓋為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dev_warn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來觀察輸出，在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前都會正確反映耳機插入事件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後喚醒就沒再收到任何輸出，可以確定即使是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driver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也沒辦法在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後正確接收事件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r>
              <a:rPr lang="zh-TW" altLang="en-US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</a:t>
            </a:r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GD32+HID</a:t>
            </a:r>
            <a:r>
              <a:rPr lang="zh-TW" altLang="en-US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已正常運作，同時支援音量調整</a:t>
            </a: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Audio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469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54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231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199927</TotalTime>
  <Words>1230</Words>
  <Application>Microsoft Office PowerPoint</Application>
  <PresentationFormat>A4 紙張 (210x297 公釐)</PresentationFormat>
  <Paragraphs>353</Paragraphs>
  <Slides>22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8" baseType="lpstr">
      <vt:lpstr>Noto Sans Symbols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上次進度：Audio &amp; mem key</vt:lpstr>
      <vt:lpstr>本次進度：Audio &amp; mem key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2229</cp:revision>
  <dcterms:created xsi:type="dcterms:W3CDTF">2003-02-17T16:04:03Z</dcterms:created>
  <dcterms:modified xsi:type="dcterms:W3CDTF">2026-04-28T05:44:58Z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