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5"/>
  </p:notesMasterIdLst>
  <p:sldIdLst>
    <p:sldId id="277" r:id="rId2"/>
    <p:sldId id="1784" r:id="rId3"/>
    <p:sldId id="1902" r:id="rId4"/>
    <p:sldId id="1900" r:id="rId5"/>
    <p:sldId id="1903" r:id="rId6"/>
    <p:sldId id="1904" r:id="rId7"/>
    <p:sldId id="1906" r:id="rId8"/>
    <p:sldId id="1907" r:id="rId9"/>
    <p:sldId id="1908" r:id="rId10"/>
    <p:sldId id="1905" r:id="rId11"/>
    <p:sldId id="1909" r:id="rId12"/>
    <p:sldId id="1911" r:id="rId13"/>
    <p:sldId id="1912" r:id="rId14"/>
    <p:sldId id="1913" r:id="rId15"/>
    <p:sldId id="1910" r:id="rId16"/>
    <p:sldId id="1783" r:id="rId17"/>
    <p:sldId id="1864" r:id="rId18"/>
    <p:sldId id="1865" r:id="rId19"/>
    <p:sldId id="1867" r:id="rId20"/>
    <p:sldId id="1914" r:id="rId21"/>
    <p:sldId id="1858" r:id="rId22"/>
    <p:sldId id="1859" r:id="rId23"/>
    <p:sldId id="286" r:id="rId2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902"/>
            <p14:sldId id="1900"/>
            <p14:sldId id="1903"/>
            <p14:sldId id="1904"/>
            <p14:sldId id="1906"/>
            <p14:sldId id="1907"/>
            <p14:sldId id="1908"/>
            <p14:sldId id="1905"/>
            <p14:sldId id="1909"/>
            <p14:sldId id="1911"/>
            <p14:sldId id="1912"/>
            <p14:sldId id="1913"/>
            <p14:sldId id="1910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867"/>
            <p14:sldId id="1914"/>
            <p14:sldId id="1858"/>
            <p14:sldId id="185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1" autoAdjust="0"/>
    <p:restoredTop sz="78545" autoAdjust="0"/>
  </p:normalViewPr>
  <p:slideViewPr>
    <p:cSldViewPr snapToGrid="0">
      <p:cViewPr varScale="1">
        <p:scale>
          <a:sx n="87" d="100"/>
          <a:sy n="87" d="100"/>
        </p:scale>
        <p:origin x="2226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先插 </a:t>
            </a:r>
            <a:r>
              <a:rPr lang="en-US" altLang="zh-TW" dirty="0"/>
              <a:t>USB</a:t>
            </a:r>
            <a:r>
              <a:rPr lang="zh-TW" altLang="en-US" dirty="0"/>
              <a:t>，等到 </a:t>
            </a:r>
            <a:r>
              <a:rPr lang="en-US" altLang="zh-TW" dirty="0"/>
              <a:t>MCU </a:t>
            </a:r>
            <a:r>
              <a:rPr lang="zh-TW" altLang="en-US" dirty="0"/>
              <a:t>辨識到並印出 </a:t>
            </a:r>
            <a:r>
              <a:rPr lang="en-US" altLang="zh-TW" dirty="0"/>
              <a:t>USB Ready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OSD</a:t>
            </a:r>
            <a:r>
              <a:rPr lang="zh-TW" altLang="en-US" dirty="0"/>
              <a:t>切換完成後呼叫 </a:t>
            </a:r>
            <a:r>
              <a:rPr lang="en-US" altLang="zh-TW" dirty="0" err="1"/>
              <a:t>f_open</a:t>
            </a:r>
            <a:r>
              <a:rPr lang="en-US" altLang="zh-TW" dirty="0"/>
              <a:t> </a:t>
            </a:r>
            <a:r>
              <a:rPr lang="zh-TW" altLang="en-US" dirty="0"/>
              <a:t>建立檔案並寫入，常駐開啟。</a:t>
            </a:r>
            <a:endParaRPr lang="en-US" altLang="zh-TW" dirty="0"/>
          </a:p>
          <a:p>
            <a:r>
              <a:rPr lang="zh-TW" altLang="en-US" dirty="0"/>
              <a:t>當這 </a:t>
            </a:r>
            <a:r>
              <a:rPr lang="en-US" altLang="zh-TW" dirty="0"/>
              <a:t>4KB </a:t>
            </a:r>
            <a:r>
              <a:rPr lang="zh-TW" altLang="en-US" dirty="0"/>
              <a:t>的 </a:t>
            </a:r>
            <a:r>
              <a:rPr lang="en-US" altLang="zh-TW" dirty="0"/>
              <a:t>RAM </a:t>
            </a:r>
            <a:r>
              <a:rPr lang="zh-TW" altLang="en-US" dirty="0"/>
              <a:t>塞滿時，</a:t>
            </a:r>
            <a:r>
              <a:rPr lang="en-US" altLang="zh-TW" dirty="0" err="1"/>
              <a:t>FatFS</a:t>
            </a:r>
            <a:r>
              <a:rPr lang="en-US" altLang="zh-TW" dirty="0"/>
              <a:t> </a:t>
            </a:r>
            <a:r>
              <a:rPr lang="zh-TW" altLang="en-US" dirty="0"/>
              <a:t>會在背景「瞬間」把這 </a:t>
            </a:r>
            <a:r>
              <a:rPr lang="en-US" altLang="zh-TW" dirty="0"/>
              <a:t>4KB </a:t>
            </a:r>
            <a:r>
              <a:rPr lang="zh-TW" altLang="en-US" dirty="0"/>
              <a:t>整塊搬進 </a:t>
            </a:r>
            <a:r>
              <a:rPr lang="en-US" altLang="zh-TW" dirty="0"/>
              <a:t>USB </a:t>
            </a:r>
            <a:r>
              <a:rPr lang="zh-TW" altLang="en-US" dirty="0"/>
              <a:t>實體空間裡，然後清空 </a:t>
            </a:r>
            <a:r>
              <a:rPr lang="en-US" altLang="zh-TW" dirty="0"/>
              <a:t>RAM</a:t>
            </a:r>
          </a:p>
          <a:p>
            <a:r>
              <a:rPr lang="zh-TW" altLang="en-US" dirty="0"/>
              <a:t>結束時呼叫 </a:t>
            </a:r>
            <a:r>
              <a:rPr lang="en-US" altLang="zh-TW" b="1" dirty="0" err="1"/>
              <a:t>f_close</a:t>
            </a:r>
            <a:r>
              <a:rPr lang="zh-TW" altLang="en-US" b="1" dirty="0"/>
              <a:t>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1474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1045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panel initialization(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面板初始化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648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415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5201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3124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0974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5410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null</a:t>
            </a:r>
            <a:r>
              <a:rPr lang="zh-TW" altLang="en-US" b="1" dirty="0"/>
              <a:t>這邊的</a:t>
            </a:r>
            <a:r>
              <a:rPr lang="en-US" altLang="zh-TW" b="1" dirty="0"/>
              <a:t>%</a:t>
            </a:r>
            <a:r>
              <a:rPr lang="zh-TW" altLang="en-US" b="1" dirty="0"/>
              <a:t>比例是根據 </a:t>
            </a:r>
            <a:r>
              <a:rPr lang="en-US" altLang="zh-TW" b="1" dirty="0"/>
              <a:t>DICOM Part 14 GSDF </a:t>
            </a:r>
            <a:r>
              <a:rPr lang="zh-TW" altLang="en-US" b="1" dirty="0"/>
              <a:t>國際標準函數計算出「標準答案」，再與感測器量到的「實際數值」進行精準比對後，所得到的「亮度偏差百分比（</a:t>
            </a:r>
            <a:r>
              <a:rPr lang="en-US" altLang="zh-TW" b="1" dirty="0"/>
              <a:t>Luminance Deviation</a:t>
            </a:r>
            <a:r>
              <a:rPr lang="zh-TW" altLang="en-US" b="1" dirty="0"/>
              <a:t>）」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6125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10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820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拿出儲存在 </a:t>
            </a:r>
            <a:r>
              <a:rPr lang="en-US" altLang="zh-TW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Flash </a:t>
            </a:r>
            <a:r>
              <a:rPr lang="zh-TW" alt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裡的數據前，開檔案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3470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 err="1"/>
              <a:t>MaxDev</a:t>
            </a:r>
            <a:r>
              <a:rPr lang="en-US" altLang="zh-TW" dirty="0"/>
              <a:t> </a:t>
            </a:r>
            <a:r>
              <a:rPr lang="zh-TW" altLang="en-US" dirty="0"/>
              <a:t>的全名是 </a:t>
            </a:r>
            <a:r>
              <a:rPr lang="en-US" altLang="zh-TW" b="1" dirty="0"/>
              <a:t>Maximum Deviation</a:t>
            </a:r>
            <a:r>
              <a:rPr lang="zh-TW" altLang="en-US" dirty="0"/>
              <a:t>，中文翻譯為「最大偏差率」。</a:t>
            </a:r>
            <a:endParaRPr lang="en-US" altLang="zh-TW" dirty="0"/>
          </a:p>
          <a:p>
            <a:r>
              <a:rPr lang="zh-TW" altLang="en-US" dirty="0"/>
              <a:t>代表的是：整條 </a:t>
            </a:r>
            <a:r>
              <a:rPr lang="en-US" altLang="zh-TW" dirty="0"/>
              <a:t>DICOM </a:t>
            </a:r>
            <a:r>
              <a:rPr lang="zh-TW" altLang="en-US" dirty="0"/>
              <a:t>曲線中，實測亮度與國際標準答案「差得最遠、錯得最離譜的那一個點的誤差百分比。」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5833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0420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0885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23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239847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67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6" y="1066800"/>
            <a:ext cx="580506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檔案報告至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USB2.0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隨身碟裝置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內建的軟體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背景查看執行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4KB RAM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空間夠不夠。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Measurement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矩陣，有使用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f_sync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強迫把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資料立即存入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圖表, 行, 平行 的圖片&#10;&#10;AI 產生的內容可能不正確。">
            <a:extLst>
              <a:ext uri="{FF2B5EF4-FFF2-40B4-BE49-F238E27FC236}">
                <a16:creationId xmlns:a16="http://schemas.microsoft.com/office/drawing/2014/main" id="{BF89A361-C14F-C30B-48ED-6342D4B1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426" y="347031"/>
            <a:ext cx="2773200" cy="616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7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73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產生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txt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檔案報告至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USB2.0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隨身碟裝置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存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 Measurement Data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measure_native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ColorCalib_BuildTargets_FromCTGammaTable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Gamma / DICOM Calibration &amp; Burn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的時間與校正時間。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91BCDCE-2680-0BC1-41A7-65EBB9DADE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"/>
          <a:stretch/>
        </p:blipFill>
        <p:spPr>
          <a:xfrm>
            <a:off x="4953000" y="3283660"/>
            <a:ext cx="4601217" cy="12981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E79BF0B-6185-379B-2789-1389800C2F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27"/>
          <a:stretch/>
        </p:blipFill>
        <p:spPr>
          <a:xfrm>
            <a:off x="145972" y="3478673"/>
            <a:ext cx="4601217" cy="75314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ACEBD03-8761-DD65-2060-7F47E3E291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535" r="50009"/>
          <a:stretch/>
        </p:blipFill>
        <p:spPr>
          <a:xfrm>
            <a:off x="145972" y="4463016"/>
            <a:ext cx="3820101" cy="1741112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F8C7C5F-8A71-F920-67B1-187663B6BD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7"/>
          <a:stretch/>
        </p:blipFill>
        <p:spPr>
          <a:xfrm>
            <a:off x="4953000" y="4769310"/>
            <a:ext cx="4601216" cy="114771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85C3DF4-F54A-9486-6FCB-18B05D6FB1DB}"/>
              </a:ext>
            </a:extLst>
          </p:cNvPr>
          <p:cNvSpPr/>
          <p:nvPr/>
        </p:nvSpPr>
        <p:spPr>
          <a:xfrm flipH="1">
            <a:off x="207766" y="3451034"/>
            <a:ext cx="2392214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05C47-3235-9E10-04A3-752882852A65}"/>
              </a:ext>
            </a:extLst>
          </p:cNvPr>
          <p:cNvSpPr/>
          <p:nvPr/>
        </p:nvSpPr>
        <p:spPr>
          <a:xfrm flipH="1">
            <a:off x="207766" y="4400950"/>
            <a:ext cx="2392213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933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73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&amp;Gamma/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驗證功能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校正跑完後直接進行驗證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3E207EC-7AE3-CD03-22B9-502C75845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440" y="2045339"/>
            <a:ext cx="5425119" cy="40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1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做對齊，取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11~31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階做計算。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= i1_center[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/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VEML_value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，得到補償倍數。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計算過程中需要最大亮度與最小亮度的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range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B20C7C-B59D-C4DF-93E2-F64BC0E3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3" y="3037028"/>
            <a:ext cx="6980983" cy="117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2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做對齊，取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11~31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階做計算。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C34348A-061F-5C76-7EB7-9E5DF8F3A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437" y="2028936"/>
            <a:ext cx="6217125" cy="455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做對齊，取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11~31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階做計算。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250460F-84D8-A34F-4460-2D38F6E1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374" y="2018843"/>
            <a:ext cx="6154620" cy="458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7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做對齊，取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11~31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階做計算。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EFF170A-E9DE-98FE-71C5-1BB03111D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20" y="1975889"/>
            <a:ext cx="6529160" cy="467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7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71BF610-9255-31A9-DC39-271B1C83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20" y="4094852"/>
            <a:ext cx="4531340" cy="22492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D4D700A-65F0-A0C7-D191-BAEDB17F7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77" y="4522050"/>
            <a:ext cx="4865167" cy="17263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E1974B2-F686-399D-2129-51CEF76EE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77" y="1946053"/>
            <a:ext cx="4079701" cy="237714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2D389B7-271E-FD80-9D53-CB3909FDFAA7}"/>
              </a:ext>
            </a:extLst>
          </p:cNvPr>
          <p:cNvSpPr/>
          <p:nvPr/>
        </p:nvSpPr>
        <p:spPr>
          <a:xfrm flipH="1">
            <a:off x="5335319" y="5385225"/>
            <a:ext cx="163835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0D7522-048B-212B-93EC-3BA2E1D1FA13}"/>
              </a:ext>
            </a:extLst>
          </p:cNvPr>
          <p:cNvSpPr/>
          <p:nvPr/>
        </p:nvSpPr>
        <p:spPr>
          <a:xfrm flipH="1">
            <a:off x="353859" y="5323357"/>
            <a:ext cx="163835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F45B45-3FC2-6366-6029-ED0D8ED2E19F}"/>
              </a:ext>
            </a:extLst>
          </p:cNvPr>
          <p:cNvSpPr/>
          <p:nvPr/>
        </p:nvSpPr>
        <p:spPr>
          <a:xfrm flipH="1">
            <a:off x="7426687" y="5419085"/>
            <a:ext cx="2312223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FA1C7A-7C0B-D459-147E-8D92486C3E27}"/>
              </a:ext>
            </a:extLst>
          </p:cNvPr>
          <p:cNvSpPr/>
          <p:nvPr/>
        </p:nvSpPr>
        <p:spPr>
          <a:xfrm flipH="1">
            <a:off x="2531724" y="5358680"/>
            <a:ext cx="2606319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197342-2BE0-8036-6B11-769C0E91A80F}"/>
              </a:ext>
            </a:extLst>
          </p:cNvPr>
          <p:cNvSpPr/>
          <p:nvPr/>
        </p:nvSpPr>
        <p:spPr>
          <a:xfrm flipH="1">
            <a:off x="5335319" y="4459672"/>
            <a:ext cx="2312223" cy="2335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版面配置區 6">
            <a:extLst>
              <a:ext uri="{FF2B5EF4-FFF2-40B4-BE49-F238E27FC236}">
                <a16:creationId xmlns:a16="http://schemas.microsoft.com/office/drawing/2014/main" id="{0EA79875-3760-1D91-DABA-A9B792138935}"/>
              </a:ext>
            </a:extLst>
          </p:cNvPr>
          <p:cNvSpPr txBox="1"/>
          <p:nvPr/>
        </p:nvSpPr>
        <p:spPr>
          <a:xfrm>
            <a:off x="490980" y="1007708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驗證的結果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總驗證時間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:230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秒。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71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224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0~17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階量測後，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一樣，取最小亮度第二階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(level 30)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，從第三階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(level 45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開始計算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容許的誤差值在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72A6447-DE46-5482-B42D-6D7DFF1A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5" y="3013115"/>
            <a:ext cx="3653987" cy="209701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A3D41C4-F7AD-C042-30D9-68D361C74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818" y="3013113"/>
            <a:ext cx="3452221" cy="2097011"/>
          </a:xfrm>
          <a:prstGeom prst="rect">
            <a:avLst/>
          </a:prstGeom>
        </p:spPr>
      </p:pic>
      <p:sp>
        <p:nvSpPr>
          <p:cNvPr id="16" name="文字版面配置區 6">
            <a:extLst>
              <a:ext uri="{FF2B5EF4-FFF2-40B4-BE49-F238E27FC236}">
                <a16:creationId xmlns:a16="http://schemas.microsoft.com/office/drawing/2014/main" id="{D28B660A-100D-FB8E-631A-973EE0C420FD}"/>
              </a:ext>
            </a:extLst>
          </p:cNvPr>
          <p:cNvSpPr txBox="1"/>
          <p:nvPr/>
        </p:nvSpPr>
        <p:spPr>
          <a:xfrm>
            <a:off x="1396492" y="4908015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</a:p>
        </p:txBody>
      </p:sp>
      <p:sp>
        <p:nvSpPr>
          <p:cNvPr id="17" name="文字版面配置區 6">
            <a:extLst>
              <a:ext uri="{FF2B5EF4-FFF2-40B4-BE49-F238E27FC236}">
                <a16:creationId xmlns:a16="http://schemas.microsoft.com/office/drawing/2014/main" id="{587F6EF0-D63E-9F2C-1C89-4477B967AB92}"/>
              </a:ext>
            </a:extLst>
          </p:cNvPr>
          <p:cNvSpPr txBox="1"/>
          <p:nvPr/>
        </p:nvSpPr>
        <p:spPr>
          <a:xfrm>
            <a:off x="4648202" y="4908015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B7712CF-9ACD-5109-2585-E839B4872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147" y="80717"/>
            <a:ext cx="3727298" cy="2106131"/>
          </a:xfrm>
          <a:prstGeom prst="rect">
            <a:avLst/>
          </a:prstGeom>
        </p:spPr>
      </p:pic>
      <p:sp>
        <p:nvSpPr>
          <p:cNvPr id="20" name="文字版面配置區 6">
            <a:extLst>
              <a:ext uri="{FF2B5EF4-FFF2-40B4-BE49-F238E27FC236}">
                <a16:creationId xmlns:a16="http://schemas.microsoft.com/office/drawing/2014/main" id="{89831CBC-44B7-6A4A-DDA5-D53317E5BD0B}"/>
              </a:ext>
            </a:extLst>
          </p:cNvPr>
          <p:cNvSpPr txBox="1"/>
          <p:nvPr/>
        </p:nvSpPr>
        <p:spPr>
          <a:xfrm>
            <a:off x="7321307" y="2464180"/>
            <a:ext cx="1491685" cy="70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lnSpc>
                <a:spcPts val="3000"/>
              </a:lnSpc>
              <a:buNone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5400K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86050-97D7-F28C-4DAB-342040824376}"/>
              </a:ext>
            </a:extLst>
          </p:cNvPr>
          <p:cNvSpPr/>
          <p:nvPr/>
        </p:nvSpPr>
        <p:spPr>
          <a:xfrm flipH="1">
            <a:off x="218964" y="3141642"/>
            <a:ext cx="1638357" cy="1000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BC02A8-81FB-1FCE-5587-4E69F4837AFD}"/>
              </a:ext>
            </a:extLst>
          </p:cNvPr>
          <p:cNvSpPr/>
          <p:nvPr/>
        </p:nvSpPr>
        <p:spPr>
          <a:xfrm flipH="1">
            <a:off x="3995215" y="3141641"/>
            <a:ext cx="1638357" cy="1000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F9C3B2-5B86-1E87-1D48-0C80254B6098}"/>
              </a:ext>
            </a:extLst>
          </p:cNvPr>
          <p:cNvSpPr/>
          <p:nvPr/>
        </p:nvSpPr>
        <p:spPr>
          <a:xfrm flipH="1">
            <a:off x="5984448" y="82628"/>
            <a:ext cx="1638357" cy="1123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447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9470097-8516-A7CD-ADA3-6E1C3F10F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84" y="2152246"/>
            <a:ext cx="8427045" cy="409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41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35CFEB-87F0-99FD-CCFC-49DF24B82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24" y="2020043"/>
            <a:ext cx="8323442" cy="422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4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6185" y="1066801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驗證的方式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VEML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Lux(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i1_gain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做對齊。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34CA36-52E9-5105-8DBF-E8977A2E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42" y="2072212"/>
            <a:ext cx="7261427" cy="44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0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B93086-6FA2-0427-5F7A-7E9ABF068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0" y="2513497"/>
            <a:ext cx="7078063" cy="26102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6F45B45-3FC2-6366-6029-ED0D8ED2E19F}"/>
              </a:ext>
            </a:extLst>
          </p:cNvPr>
          <p:cNvSpPr/>
          <p:nvPr/>
        </p:nvSpPr>
        <p:spPr>
          <a:xfrm flipH="1">
            <a:off x="609602" y="4251290"/>
            <a:ext cx="2615777" cy="925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5263ED2E-C6EE-A0BD-47A2-E654182971C3}"/>
              </a:ext>
            </a:extLst>
          </p:cNvPr>
          <p:cNvSpPr txBox="1"/>
          <p:nvPr/>
        </p:nvSpPr>
        <p:spPr>
          <a:xfrm>
            <a:off x="521467" y="1123537"/>
            <a:ext cx="8924039" cy="13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驗證的結果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總驗證時間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:93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秒。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914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5718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909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重構部分多餘程式碼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對命令執行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handler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加上信號，限制執行中無法重新進入函數，並且鎖定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互動，確保不會重複、同時執行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預計實作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”processing…”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的提醒，避免被當成沒有回應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發現多螢幕時無法固定在指定螢幕，待修復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80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新增了基於物理接口綁定的視窗定位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註冊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事件讓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可以在調整解析度、相對位置時自動觸發重定位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Processing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提示難產，正在重構渲染事件循環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590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216093</TotalTime>
  <Words>1486</Words>
  <Application>Microsoft Office PowerPoint</Application>
  <PresentationFormat>A4 紙張 (210x297 公釐)</PresentationFormat>
  <Paragraphs>296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上次進度：Membrane Key</vt:lpstr>
      <vt:lpstr>本次進度：Membrane Key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2250</cp:revision>
  <dcterms:created xsi:type="dcterms:W3CDTF">2003-02-17T16:04:03Z</dcterms:created>
  <dcterms:modified xsi:type="dcterms:W3CDTF">2026-05-19T06:03:08Z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