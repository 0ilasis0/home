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9"/>
  </p:notesMasterIdLst>
  <p:sldIdLst>
    <p:sldId id="277" r:id="rId2"/>
    <p:sldId id="1652" r:id="rId3"/>
    <p:sldId id="1644" r:id="rId4"/>
    <p:sldId id="1655" r:id="rId5"/>
    <p:sldId id="1656" r:id="rId6"/>
    <p:sldId id="1657" r:id="rId7"/>
    <p:sldId id="1658" r:id="rId8"/>
    <p:sldId id="1661" r:id="rId9"/>
    <p:sldId id="1662" r:id="rId10"/>
    <p:sldId id="1659" r:id="rId11"/>
    <p:sldId id="1660" r:id="rId12"/>
    <p:sldId id="1663" r:id="rId13"/>
    <p:sldId id="1664" r:id="rId14"/>
    <p:sldId id="1665" r:id="rId15"/>
    <p:sldId id="1666" r:id="rId16"/>
    <p:sldId id="1602" r:id="rId17"/>
    <p:sldId id="1603" r:id="rId18"/>
    <p:sldId id="1626" r:id="rId19"/>
    <p:sldId id="1568" r:id="rId20"/>
    <p:sldId id="1569" r:id="rId21"/>
    <p:sldId id="1570" r:id="rId22"/>
    <p:sldId id="1625" r:id="rId23"/>
    <p:sldId id="1627" r:id="rId24"/>
    <p:sldId id="1628" r:id="rId25"/>
    <p:sldId id="1629" r:id="rId26"/>
    <p:sldId id="1630" r:id="rId27"/>
    <p:sldId id="286" r:id="rId28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4B9006A0-4997-461B-8B2E-DC8DC17E63E0}">
          <p14:sldIdLst>
            <p14:sldId id="1652"/>
            <p14:sldId id="1644"/>
            <p14:sldId id="1655"/>
            <p14:sldId id="1656"/>
            <p14:sldId id="1657"/>
            <p14:sldId id="1658"/>
            <p14:sldId id="1661"/>
            <p14:sldId id="1662"/>
            <p14:sldId id="1659"/>
            <p14:sldId id="1660"/>
            <p14:sldId id="1663"/>
            <p14:sldId id="1664"/>
            <p14:sldId id="1665"/>
            <p14:sldId id="1666"/>
            <p14:sldId id="1602"/>
            <p14:sldId id="1603"/>
          </p14:sldIdLst>
        </p14:section>
        <p14:section name="JS1100" id="{3F90DB17-D0DE-4CE1-9751-0249A1C3B38D}">
          <p14:sldIdLst>
            <p14:sldId id="1626"/>
            <p14:sldId id="1568"/>
            <p14:sldId id="1569"/>
            <p14:sldId id="1570"/>
            <p14:sldId id="1625"/>
            <p14:sldId id="1627"/>
            <p14:sldId id="1628"/>
            <p14:sldId id="1629"/>
            <p14:sldId id="1630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9900"/>
    <a:srgbClr val="FFC000"/>
    <a:srgbClr val="0057C0"/>
    <a:srgbClr val="000000"/>
    <a:srgbClr val="8958B1"/>
    <a:srgbClr val="C58DEF"/>
    <a:srgbClr val="993366"/>
    <a:srgbClr val="58148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3" autoAdjust="0"/>
    <p:restoredTop sz="85049" autoAdjust="0"/>
  </p:normalViewPr>
  <p:slideViewPr>
    <p:cSldViewPr snapToGrid="0">
      <p:cViewPr>
        <p:scale>
          <a:sx n="100" d="100"/>
          <a:sy n="100" d="100"/>
        </p:scale>
        <p:origin x="1512" y="-23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C501-A084-033B-7712-B43A80FF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4F4005-5AF6-DC77-DA34-31B95C77B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716261-9DA9-146D-1DFC-475AB3020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1AC72C-57DD-7A85-754E-94C9FB9683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6337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A4A44-540B-0A68-85D8-989F8397F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1C95834-00A1-D861-F4DA-1B8ED4AB3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2A6366F-C776-78B2-ECA1-746285799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24EB6-4C52-A7F8-52D2-ED0EF6FFFC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5008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E31A4-9731-93D8-7060-0D2C530F1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45D23B5-EF65-F1A1-B21C-3EA48C32E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4E8283-42FF-E348-7FEB-9B27FCD34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58194C-BCAF-F1D5-8077-DE642E88D1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7952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3FA8-A473-5535-788A-AFCB1045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BCFE1DB-FEAE-6DFC-1C9F-5A903B54A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41D29FB-44C9-881F-AC22-25CD5ADAF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99AAD5-2DE1-6C3F-6CB8-8FEA6C4DF3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5027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D9D32-46D1-327E-7E94-BECC17DF9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0C49466-4EB2-83EB-FA8F-0FC64E14B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2AAEFC9-9755-D7A4-F4C5-A855F2374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4D6777-5313-0E99-04AB-6CD70DD3E5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7986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B9BFA-57F5-AAEB-99B5-3A1C18F4B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1DC4E29-4AAC-F628-28FD-0EC5A8EC4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CE6700-5D1B-E99E-BF9E-75B64220A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DD7F63-CCF9-F001-E0E0-CD9C4BF21F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1509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9ECFE-53B3-0713-6671-C8FE7EEF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2B60BB7-3570-D33A-2182-ED0BC6DFA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268995-DF50-7508-85C1-55D852C39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9E1C09-6145-C905-769C-E280A021C0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1313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31D7-6812-8735-32B7-6A44148C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E6F950D-CD49-F57D-0699-94FA89E55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4E2DBE3-3A52-C393-F834-E93E2F48F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186953-E795-6E0D-5811-1DAEF8FF54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4187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539BF-54C4-A497-693F-459820EB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40B48A4-FDAF-94C0-2AB9-F514ABC91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32A56ED-4464-5D53-BD50-03460E01F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ACE401-F7E7-09D0-23D2-D53F3435CE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6944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0B087-C824-AFDA-9DFE-ADAAAE10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D574490-A522-BCAA-82E3-C4A7E29D6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64D6383-CA1D-7ACF-2A03-304DF574C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31B3AE-4993-4069-00F5-97AF56AD14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8014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F76D1-771A-8310-3049-6B400CDA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BC01AA-2AA9-3780-B40B-73B20E75E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DC12E2-931F-C11E-EA1F-43E811419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7DE146-60B5-55EB-06E4-DA92669958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3876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F76D1-771A-8310-3049-6B400CDA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BC01AA-2AA9-3780-B40B-73B20E75E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DC12E2-931F-C11E-EA1F-43E811419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7DE146-60B5-55EB-06E4-DA92669958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9634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F76D1-771A-8310-3049-6B400CDA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BC01AA-2AA9-3780-B40B-73B20E75E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DC12E2-931F-C11E-EA1F-43E811419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7DE146-60B5-55EB-06E4-DA92669958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7440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F76D1-771A-8310-3049-6B400CDA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BC01AA-2AA9-3780-B40B-73B20E75E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DC12E2-931F-C11E-EA1F-43E811419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7DE146-60B5-55EB-06E4-DA92669958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7608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507B-5721-158A-D4EB-84B52022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C0FEB19-6981-0A35-44BC-72E030744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282819B-7E99-A345-44B9-437C6E065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6EE7D2-F115-86D5-7BB0-D9B11678EC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3248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BD48B-366E-4196-8702-CDD72B56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C5C3666-8293-FE4A-E6A8-746D8E70D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BB9B9FF-AD11-40ED-A156-7CA339CF6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251B80-7110-AC50-8BF2-EC7B372BE9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5002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822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3446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0099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86822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78480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87901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68292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9775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26</a:t>
            </a:fld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65666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27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Hong-De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Wei-Xin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Guan-Ting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E9B9-DC38-E8A1-F60B-7FFB6D75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598FEC-C99E-F0DF-E423-D1EC3315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Monitor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9EBAB26-65EC-3D07-C1B4-D52C414EBFE4}"/>
              </a:ext>
            </a:extLst>
          </p:cNvPr>
          <p:cNvSpPr txBox="1"/>
          <p:nvPr/>
        </p:nvSpPr>
        <p:spPr>
          <a:xfrm>
            <a:off x="520699" y="1369489"/>
            <a:ext cx="7669813" cy="429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根據計畫書中內容進行開發，以下分別為階段二目標和當前開發進度及優先序。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E380A06-A847-64F7-E32F-AAA7BAE03F31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Measure tool (CA-410 and i1Display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顯示亮度、色溫、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CIE1931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x,y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資訊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量測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Gamma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和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DICOM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曲線驗證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功能建立和測試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RGB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純色畫板功能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期末報告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F2C0E0D-91D3-CC05-0B54-9266974E7EF0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371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RGB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純色畫板功能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8692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顯示亮度、色溫、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CIE1931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x,y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資訊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Measure tool (CA-410 and i1Display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183915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量測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Gamma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和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DICOM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曲線驗證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68554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功能建立和測試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(ALC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功能之溫箱實驗分析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8212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96BFD2D-0AB1-809B-B9B1-5CB9E0D8D854}"/>
              </a:ext>
            </a:extLst>
          </p:cNvPr>
          <p:cNvSpPr txBox="1"/>
          <p:nvPr/>
        </p:nvSpPr>
        <p:spPr>
          <a:xfrm>
            <a:off x="8635013" y="1541843"/>
            <a:ext cx="992579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06C740-5D14-BCA7-EB8D-384EC4D86B83}"/>
              </a:ext>
            </a:extLst>
          </p:cNvPr>
          <p:cNvSpPr/>
          <p:nvPr/>
        </p:nvSpPr>
        <p:spPr>
          <a:xfrm>
            <a:off x="5604934" y="5316157"/>
            <a:ext cx="4022658" cy="7516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9621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48AE8-A380-AFDD-8767-3C383C109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7C8D65-0960-226F-512D-BD4C1732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Monitor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AAD799C-7E78-5E28-4C27-3CB04B7CD4B5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根據第二期計畫書中內容進行開發，以下分別為階段一目標和當前開發進度及優先序。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05D2586-44B5-DF63-3433-BA3C020A51FE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Calibration Tool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色溫調校功能和測試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期中報告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4DB2915-8171-FADF-140B-3E64E3DAD6F9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Calibration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(Layout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介面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色溫調校功能和測試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81843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F651A1AC-0ED1-7309-7DAD-180F88C3F4BE}"/>
              </a:ext>
            </a:extLst>
          </p:cNvPr>
          <p:cNvSpPr txBox="1"/>
          <p:nvPr/>
        </p:nvSpPr>
        <p:spPr>
          <a:xfrm>
            <a:off x="8635013" y="1541843"/>
            <a:ext cx="992579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36855B-C6D3-3CB1-84B9-EA6DEDA23BDA}"/>
              </a:ext>
            </a:extLst>
          </p:cNvPr>
          <p:cNvSpPr/>
          <p:nvPr/>
        </p:nvSpPr>
        <p:spPr>
          <a:xfrm>
            <a:off x="5604934" y="3428999"/>
            <a:ext cx="4022658" cy="6477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04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6214E-4D6D-DA9B-D7CB-F92F33AA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ACBDFE76-B860-1120-4754-88675E02708E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function use LUT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 raw data of measurement to create LUT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Take the average of each temperature point (T-0.25 &lt;= T &lt; T+0.25)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temperature compensation factor for room temperature is 1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307E2BC-51DA-16A2-0CD2-567ECAB9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99C73C-BA6A-22F1-E724-A2A98325C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15" y="3116495"/>
            <a:ext cx="3191319" cy="259850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985361C-AC16-90BC-CA95-775D6FD38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3" y="3114312"/>
            <a:ext cx="3191320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50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EED40-90CF-9C46-C630-2CDE7B92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0E8DCC79-E125-0077-7CAE-8C9F979C49BD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function use LUT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Write ALC LUT in factory tool 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Calculate compensation using interpolation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03330C7-C98D-93BB-E7E3-269A639C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8970E13-98AB-3EB3-C52D-EF1A233C8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190" y="2092400"/>
            <a:ext cx="6242677" cy="223302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BB19B35-34E6-A236-16E8-14ABA07C3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190" y="4815131"/>
            <a:ext cx="6411220" cy="126700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0D32A98-984A-40BB-4220-DC667E0611BC}"/>
              </a:ext>
            </a:extLst>
          </p:cNvPr>
          <p:cNvSpPr/>
          <p:nvPr/>
        </p:nvSpPr>
        <p:spPr>
          <a:xfrm>
            <a:off x="2311685" y="3000054"/>
            <a:ext cx="410967" cy="143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B39B-01F9-42DD-B444-59DF209866A0}"/>
              </a:ext>
            </a:extLst>
          </p:cNvPr>
          <p:cNvSpPr/>
          <p:nvPr/>
        </p:nvSpPr>
        <p:spPr>
          <a:xfrm>
            <a:off x="6316894" y="2856216"/>
            <a:ext cx="410967" cy="143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045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6D48F-6127-995E-B8E6-86D6069D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0AB4DAF4-C1B0-6939-EEEC-0BEF58BD3307}"/>
                  </a:ext>
                </a:extLst>
              </p:cNvPr>
              <p:cNvSpPr txBox="1"/>
              <p:nvPr/>
            </p:nvSpPr>
            <p:spPr>
              <a:xfrm>
                <a:off x="496186" y="1143000"/>
                <a:ext cx="8800212" cy="49391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pPr>
                  <a:lnSpc>
                    <a:spcPts val="3000"/>
                  </a:lnSpc>
                </a:pP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ALC function use LUT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Example : Temperature is 10.3</a:t>
                </a:r>
                <a:r>
                  <a:rPr lang="zh-TW" altLang="en-US" sz="1100" b="0" i="0" dirty="0">
                    <a:solidFill>
                      <a:srgbClr val="1F1F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℃</a:t>
                </a:r>
                <a:endParaRPr lang="en-US" altLang="zh-TW" sz="14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Factor 1 (a1)is 1.0775 (10</a:t>
                </a:r>
                <a:r>
                  <a:rPr lang="zh-TW" altLang="en-US" sz="1400" b="0" i="0" dirty="0">
                    <a:solidFill>
                      <a:srgbClr val="1F1F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℃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Factor 2 (a2)is 1.0752 (10.5</a:t>
                </a:r>
                <a:r>
                  <a:rPr lang="zh-TW" altLang="en-US" sz="1400" b="0" i="0" dirty="0">
                    <a:solidFill>
                      <a:srgbClr val="1F1F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℃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Interpolation factor rate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4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10.3 −10</m:t>
                        </m:r>
                      </m:num>
                      <m:den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10.5 −10</m:t>
                        </m:r>
                      </m:den>
                    </m:f>
                    <m:r>
                      <a:rPr lang="en-US" altLang="zh-TW" sz="14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=0.6</m:t>
                    </m:r>
                  </m:oMath>
                </a14:m>
                <a:endParaRPr lang="en-US" altLang="zh-TW" sz="14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Interpolation temperature compensation is </a:t>
                </a:r>
                <a:r>
                  <a:rPr lang="el-GR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</a:t>
                </a:r>
                <a14:m>
                  <m:oMath xmlns:m="http://schemas.openxmlformats.org/officeDocument/2006/math">
                    <m:r>
                      <a:rPr lang="en-US" altLang="zh-TW" sz="140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14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sz="14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1+</m:t>
                    </m:r>
                    <m:r>
                      <m:rPr>
                        <m:nor/>
                      </m:rPr>
                      <a:rPr lang="en-US" altLang="zh-TW" sz="1400" b="0" i="0" smtClean="0">
                        <a:solidFill>
                          <a:srgbClr val="333333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TW" sz="1400" dirty="0">
                        <a:solidFill>
                          <a:srgbClr val="333333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Interpolation</m:t>
                    </m:r>
                    <m:r>
                      <m:rPr>
                        <m:nor/>
                      </m:rPr>
                      <a:rPr lang="en-US" altLang="zh-TW" sz="1400" dirty="0">
                        <a:solidFill>
                          <a:srgbClr val="333333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 dirty="0">
                        <a:solidFill>
                          <a:srgbClr val="333333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factor</m:t>
                    </m:r>
                    <m:r>
                      <m:rPr>
                        <m:nor/>
                      </m:rPr>
                      <a:rPr lang="en-US" altLang="zh-TW" sz="1400" dirty="0">
                        <a:solidFill>
                          <a:srgbClr val="333333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 dirty="0">
                        <a:solidFill>
                          <a:srgbClr val="333333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rate</m:t>
                    </m:r>
                    <m:r>
                      <m:rPr>
                        <m:nor/>
                      </m:rPr>
                      <a:rPr lang="en-US" altLang="zh-TW" sz="1400" b="0" i="0" dirty="0" smtClean="0">
                        <a:solidFill>
                          <a:srgbClr val="333333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2−</m:t>
                        </m:r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14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=1.07612</m:t>
                    </m:r>
                  </m:oMath>
                </a14:m>
                <a:endParaRPr lang="en-US" altLang="zh-TW" sz="14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400" dirty="0">
                        <a:solidFill>
                          <a:srgbClr val="333333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Adjust</m:t>
                    </m:r>
                    <m:r>
                      <m:rPr>
                        <m:nor/>
                      </m:rPr>
                      <a:rPr lang="en-US" altLang="zh-TW" sz="1400" dirty="0">
                        <a:solidFill>
                          <a:srgbClr val="333333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 dirty="0">
                        <a:solidFill>
                          <a:srgbClr val="333333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PWM</m:t>
                    </m:r>
                    <m:r>
                      <a:rPr lang="en-US" altLang="zh-TW" sz="140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α</m:t>
                    </m:r>
                    <m:r>
                      <a:rPr lang="en-US" altLang="zh-TW" sz="14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𝑡𝑎𝑟𝑔𝑒𝑡</m:t>
                        </m:r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𝑃𝑊𝑀</m:t>
                        </m:r>
                      </m:e>
                    </m:d>
                  </m:oMath>
                </a14:m>
                <a:endParaRPr lang="en-US" altLang="zh-TW" sz="14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0AB4DAF4-C1B0-6939-EEEC-0BEF58BD3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6" y="1143000"/>
                <a:ext cx="8800212" cy="4939133"/>
              </a:xfrm>
              <a:prstGeom prst="rect">
                <a:avLst/>
              </a:prstGeom>
              <a:blipFill>
                <a:blip r:embed="rId3"/>
                <a:stretch>
                  <a:fillRect l="-1108" t="-20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CAACF1E4-6582-49BB-DBFB-559C4623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22A9FB10-88BC-2C0E-1259-C66BCD7E43CB}"/>
              </a:ext>
            </a:extLst>
          </p:cNvPr>
          <p:cNvCxnSpPr/>
          <p:nvPr/>
        </p:nvCxnSpPr>
        <p:spPr>
          <a:xfrm>
            <a:off x="3021458" y="5407222"/>
            <a:ext cx="38630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0903A53F-938E-2611-90A8-F4AC41F24106}"/>
              </a:ext>
            </a:extLst>
          </p:cNvPr>
          <p:cNvCxnSpPr/>
          <p:nvPr/>
        </p:nvCxnSpPr>
        <p:spPr>
          <a:xfrm>
            <a:off x="3021458" y="5119545"/>
            <a:ext cx="0" cy="606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51918F7-8188-8E21-8877-9EE3764BCB36}"/>
              </a:ext>
            </a:extLst>
          </p:cNvPr>
          <p:cNvCxnSpPr/>
          <p:nvPr/>
        </p:nvCxnSpPr>
        <p:spPr>
          <a:xfrm>
            <a:off x="6884541" y="5104134"/>
            <a:ext cx="0" cy="606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AA856490-AA86-4F0E-50BA-ABEF221D2812}"/>
              </a:ext>
            </a:extLst>
          </p:cNvPr>
          <p:cNvSpPr txBox="1"/>
          <p:nvPr/>
        </p:nvSpPr>
        <p:spPr>
          <a:xfrm>
            <a:off x="2829739" y="59406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212FF6C-2F41-610B-972C-4A87025639EF}"/>
              </a:ext>
            </a:extLst>
          </p:cNvPr>
          <p:cNvSpPr txBox="1"/>
          <p:nvPr/>
        </p:nvSpPr>
        <p:spPr>
          <a:xfrm>
            <a:off x="6618282" y="5935933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D06F75A2-89F3-CB6C-71D2-5D6A29B8EA30}"/>
              </a:ext>
            </a:extLst>
          </p:cNvPr>
          <p:cNvCxnSpPr/>
          <p:nvPr/>
        </p:nvCxnSpPr>
        <p:spPr>
          <a:xfrm>
            <a:off x="5042298" y="5119545"/>
            <a:ext cx="0" cy="606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18319C0-9C2E-A0A8-940E-0F83559C8C71}"/>
              </a:ext>
            </a:extLst>
          </p:cNvPr>
          <p:cNvCxnSpPr>
            <a:cxnSpLocks/>
          </p:cNvCxnSpPr>
          <p:nvPr/>
        </p:nvCxnSpPr>
        <p:spPr>
          <a:xfrm>
            <a:off x="5230002" y="5263384"/>
            <a:ext cx="0" cy="2774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7602435-A9E1-DA2F-6E01-126519FE82BD}"/>
              </a:ext>
            </a:extLst>
          </p:cNvPr>
          <p:cNvSpPr txBox="1"/>
          <p:nvPr/>
        </p:nvSpPr>
        <p:spPr>
          <a:xfrm>
            <a:off x="5040986" y="5849290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10.3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19D01AE-EFB3-ACF2-48BB-EBB016646988}"/>
              </a:ext>
            </a:extLst>
          </p:cNvPr>
          <p:cNvSpPr txBox="1"/>
          <p:nvPr/>
        </p:nvSpPr>
        <p:spPr>
          <a:xfrm>
            <a:off x="2682262" y="4750754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1.0775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321CF5C-058B-93E8-431D-CB1A4710488F}"/>
              </a:ext>
            </a:extLst>
          </p:cNvPr>
          <p:cNvSpPr txBox="1"/>
          <p:nvPr/>
        </p:nvSpPr>
        <p:spPr>
          <a:xfrm>
            <a:off x="6545345" y="4750753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1.0752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69CA815-9812-B62D-346A-99840AC2219C}"/>
              </a:ext>
            </a:extLst>
          </p:cNvPr>
          <p:cNvSpPr txBox="1"/>
          <p:nvPr/>
        </p:nvSpPr>
        <p:spPr>
          <a:xfrm>
            <a:off x="4945833" y="4800359"/>
            <a:ext cx="768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1.07612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91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76E0D-3781-FAC9-DE10-E734A829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0D03181B-AE20-2708-B418-34DFB81A0B29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function chamber experiment conclusion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在上週實驗中亮度整體下降可能是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 sensor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沒黏好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發現右下角為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LED connector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的連接處溫度較面板其他部位高約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4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℃</a:t>
            </a:r>
            <a:endParaRPr lang="en-US" altLang="zh-TW" sz="1400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目前改用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Factory tool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但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 Board firmware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未修改到導致部分溫度點量測錯誤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改用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的方式是因為後期要調整誤差較為容易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function chamber experiment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adjustment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先以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i1Display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量測螢幕中心避免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 sensor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的量測誤差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temperature sensor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改為左下角量測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確保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 Board firmware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已關閉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F08657A-434C-16F9-3851-A72E43553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629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B22D-B182-03D8-123A-A0283EB7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BAE07D36-1CF4-21F5-ABE0-965A04A69B27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function chamber experiment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using LUT1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 PWM is 227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Auto calculate target nits of room temperature (25</a:t>
            </a:r>
            <a:r>
              <a:rPr lang="zh-TW" altLang="en-US" sz="14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℃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from data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5CB5F04-ADE6-2023-2001-DB622B0C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B8596D4-2650-6F77-4686-D1398E41A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88" y="2924336"/>
            <a:ext cx="6544588" cy="29150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39F72DD-8DDF-8ED8-A226-93C5548B8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976" y="3429000"/>
            <a:ext cx="3095625" cy="187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4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F3EC6-E592-ECC5-B821-BA0F3F9C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DC56F3A0-B62C-D548-885E-CFFA6905D18E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function chamber experiment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using LUT2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 PWM is 224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Auto calculate target nits of room temperature (25</a:t>
            </a:r>
            <a:r>
              <a:rPr lang="zh-TW" altLang="en-US" sz="14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℃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from data (fist round)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8F5FBE6-A667-D019-0EE7-932F4D24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DEE8A1D-3EF7-0694-9C39-F1E27C2BE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36" y="3038694"/>
            <a:ext cx="6382641" cy="290553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32CE994-D03E-1426-629C-47A5C194C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977" y="3428999"/>
            <a:ext cx="3315048" cy="20097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EFC4F5B-7214-3A1B-43DB-0CFD7B4F55EF}"/>
              </a:ext>
            </a:extLst>
          </p:cNvPr>
          <p:cNvSpPr/>
          <p:nvPr/>
        </p:nvSpPr>
        <p:spPr>
          <a:xfrm>
            <a:off x="6781800" y="3428999"/>
            <a:ext cx="742950" cy="16954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296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1E243-BCFB-A08A-45F8-39084EA9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AF1844E2-92BD-2BE0-37A4-113AE8726B4F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function chamber experiment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using LUT1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8DBF3A4-350E-FB1D-563A-DD061311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6987E70-6A35-15C4-4918-69A074967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86" y="1810409"/>
            <a:ext cx="8589196" cy="443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36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BE62D-F25D-1BC2-1593-646CCD84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E41B9D77-32EE-F869-EE0B-0D194B2BD99A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function chamber experiment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using LUT2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4606EBF-EF24-8112-F57A-77172042C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216C9FD-9730-F643-C1C4-A9E017A12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470" y="1657350"/>
            <a:ext cx="7389060" cy="46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50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2F9C-EE14-BBE3-474B-C4BDFE28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4882CA49-570E-E1FB-CC08-3A90BF7F43A6}"/>
              </a:ext>
            </a:extLst>
          </p:cNvPr>
          <p:cNvSpPr txBox="1"/>
          <p:nvPr/>
        </p:nvSpPr>
        <p:spPr>
          <a:xfrm>
            <a:off x="552894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不使用之前做的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畫面，統一在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Blackwindow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使用白色方框進行色階變化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修正白色方框在不同螢幕上產生白邊的問題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可按照螢幕尺寸、解析度自適應大小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已知問題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仍會受到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Windows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設定的比例大小影響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醫揚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吋螢幕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:150%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自適應為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9x9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 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100%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自適應為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6x6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3F3ADA-C61E-3DB0-DDA7-24AE082C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23D165B-C4FC-4CBE-8EE9-3FF32639E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36" y="3599765"/>
            <a:ext cx="5870711" cy="329959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03D9D53-94F2-4530-BF94-C7712E980438}"/>
              </a:ext>
            </a:extLst>
          </p:cNvPr>
          <p:cNvSpPr/>
          <p:nvPr/>
        </p:nvSpPr>
        <p:spPr>
          <a:xfrm>
            <a:off x="2604052" y="4651513"/>
            <a:ext cx="1226280" cy="11961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ABA9A8B-7529-4688-832F-ECBD0EEA4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717" y="6124888"/>
            <a:ext cx="7971389" cy="49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58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2F9C-EE14-BBE3-474B-C4BDFE28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4882CA49-570E-E1FB-CC08-3A90BF7F43A6}"/>
              </a:ext>
            </a:extLst>
          </p:cNvPr>
          <p:cNvSpPr txBox="1"/>
          <p:nvPr/>
        </p:nvSpPr>
        <p:spPr>
          <a:xfrm>
            <a:off x="552894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色溫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新增數據判斷標準並以紅綠色區分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excel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輸出功能紀錄測量數據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3F3ADA-C61E-3DB0-DDA7-24AE082C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B8D547-021C-4C02-A8D7-BA70267B7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74" y="2584432"/>
            <a:ext cx="6439568" cy="390658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03D9D53-94F2-4530-BF94-C7712E980438}"/>
              </a:ext>
            </a:extLst>
          </p:cNvPr>
          <p:cNvSpPr/>
          <p:nvPr/>
        </p:nvSpPr>
        <p:spPr>
          <a:xfrm>
            <a:off x="3846443" y="2961861"/>
            <a:ext cx="3577098" cy="1010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74DFAD-BE2A-4E0C-85E0-F4FC938E18A5}"/>
              </a:ext>
            </a:extLst>
          </p:cNvPr>
          <p:cNvSpPr/>
          <p:nvPr/>
        </p:nvSpPr>
        <p:spPr>
          <a:xfrm>
            <a:off x="1109486" y="4123956"/>
            <a:ext cx="4545880" cy="1806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FF5D796-FEF4-4820-B3AD-601D7F83C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140" y="927144"/>
            <a:ext cx="4637105" cy="129032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06CBF27-1222-404B-9578-0232AE34455A}"/>
              </a:ext>
            </a:extLst>
          </p:cNvPr>
          <p:cNvSpPr/>
          <p:nvPr/>
        </p:nvSpPr>
        <p:spPr>
          <a:xfrm flipV="1">
            <a:off x="1109486" y="5930854"/>
            <a:ext cx="3134523" cy="5182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512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2F9C-EE14-BBE3-474B-C4BDFE28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4882CA49-570E-E1FB-CC08-3A90BF7F43A6}"/>
              </a:ext>
            </a:extLst>
          </p:cNvPr>
          <p:cNvSpPr txBox="1"/>
          <p:nvPr/>
        </p:nvSpPr>
        <p:spPr>
          <a:xfrm>
            <a:off x="552893" y="1143000"/>
            <a:ext cx="8743505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DIN 6868-157</a:t>
            </a: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德國標準協會（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Deutsches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Institut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für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Normung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DIN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）訂定的標準，屬於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DIN 6868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系列，該系列專注於放射醫學領域的品質保證與測試規範。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3F3ADA-C61E-3DB0-DDA7-24AE082C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5125EC3E-6A1B-46B0-AECE-99B302360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1791"/>
            <a:ext cx="6042382" cy="217568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674DFAD-BE2A-4E0C-85E0-F4FC938E18A5}"/>
              </a:ext>
            </a:extLst>
          </p:cNvPr>
          <p:cNvSpPr/>
          <p:nvPr/>
        </p:nvSpPr>
        <p:spPr>
          <a:xfrm>
            <a:off x="1969428" y="2857999"/>
            <a:ext cx="1594884" cy="4134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872A0599-5EDA-4A06-B322-D8D9EB1F193A}"/>
              </a:ext>
            </a:extLst>
          </p:cNvPr>
          <p:cNvGraphicFramePr>
            <a:graphicFrameLocks noGrp="1"/>
          </p:cNvGraphicFramePr>
          <p:nvPr/>
        </p:nvGraphicFramePr>
        <p:xfrm>
          <a:off x="6227092" y="2856155"/>
          <a:ext cx="3418959" cy="2346960"/>
        </p:xfrm>
        <a:graphic>
          <a:graphicData uri="http://schemas.openxmlformats.org/drawingml/2006/table">
            <a:tbl>
              <a:tblPr/>
              <a:tblGrid>
                <a:gridCol w="3418959">
                  <a:extLst>
                    <a:ext uri="{9D8B030D-6E8A-4147-A177-3AD203B41FA5}">
                      <a16:colId xmlns:a16="http://schemas.microsoft.com/office/drawing/2014/main" val="36160179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測試類別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622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Acceptance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783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Constancy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21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灰階呈現（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Luminance Response）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702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最大與最小亮度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4785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均勻性（</a:t>
                      </a:r>
                      <a:r>
                        <a:rPr lang="en-US" sz="1600" baseline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Uniformity）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363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解析度與雜訊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735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518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2F9C-EE14-BBE3-474B-C4BDFE28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4882CA49-570E-E1FB-CC08-3A90BF7F43A6}"/>
              </a:ext>
            </a:extLst>
          </p:cNvPr>
          <p:cNvSpPr txBox="1"/>
          <p:nvPr/>
        </p:nvSpPr>
        <p:spPr>
          <a:xfrm>
            <a:off x="552893" y="1143000"/>
            <a:ext cx="3577099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Uniformity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依照</a:t>
            </a:r>
            <a:r>
              <a:rPr lang="en-US" altLang="zh-TW" sz="1600" b="1" i="0" u="none" strike="noStrike" baseline="0" dirty="0">
                <a:latin typeface="Times New Roman" panose="02020603050405020304" pitchFamily="18" charset="0"/>
                <a:ea typeface="標楷體" panose="03000509000000000000" pitchFamily="65" charset="-120"/>
              </a:rPr>
              <a:t>DIN 6868-157</a:t>
            </a:r>
            <a:r>
              <a:rPr lang="zh-TW" altLang="en-US" sz="1600" i="0" u="none" strike="noStrike" baseline="0" dirty="0">
                <a:latin typeface="Times New Roman" panose="02020603050405020304" pitchFamily="18" charset="0"/>
                <a:ea typeface="標楷體" panose="03000509000000000000" pitchFamily="65" charset="-120"/>
              </a:rPr>
              <a:t>中的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公式計算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亮度不使用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100%, 0%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，而是使用亮度的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80%,10% (204,25)</a:t>
            </a: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超過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25%:FAIL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3F3ADA-C61E-3DB0-DDA7-24AE082C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4A8D52-32D0-45F0-8F2A-D1A8C6CBC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860" y="5376731"/>
            <a:ext cx="4625741" cy="32006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F24064F-D037-44CF-B1E2-FFBB90E7A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727" y="3013626"/>
            <a:ext cx="6906274" cy="170627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3E81123-9A55-4495-8D84-FBF7D2F04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044" y="33839"/>
            <a:ext cx="4907354" cy="274479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674DFAD-BE2A-4E0C-85E0-F4FC938E18A5}"/>
              </a:ext>
            </a:extLst>
          </p:cNvPr>
          <p:cNvSpPr/>
          <p:nvPr/>
        </p:nvSpPr>
        <p:spPr>
          <a:xfrm>
            <a:off x="5204505" y="692333"/>
            <a:ext cx="3227114" cy="21161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3D9D53-94F2-4530-BF94-C7712E980438}"/>
              </a:ext>
            </a:extLst>
          </p:cNvPr>
          <p:cNvSpPr/>
          <p:nvPr/>
        </p:nvSpPr>
        <p:spPr>
          <a:xfrm>
            <a:off x="3265623" y="4491443"/>
            <a:ext cx="2624814" cy="320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6CBF27-1222-404B-9578-0232AE34455A}"/>
              </a:ext>
            </a:extLst>
          </p:cNvPr>
          <p:cNvSpPr/>
          <p:nvPr/>
        </p:nvSpPr>
        <p:spPr>
          <a:xfrm flipV="1">
            <a:off x="4019107" y="5253301"/>
            <a:ext cx="1871330" cy="615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4611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EB32A-446E-D6C5-C9D0-D7BB9025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E711A-2028-BDFB-18C0-CA44A073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下次進度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Monitor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19D59E0-5AFB-A43E-8082-7E3558DCA242}"/>
              </a:ext>
            </a:extLst>
          </p:cNvPr>
          <p:cNvSpPr txBox="1"/>
          <p:nvPr/>
        </p:nvSpPr>
        <p:spPr>
          <a:xfrm>
            <a:off x="520699" y="1369489"/>
            <a:ext cx="7669813" cy="429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根據計畫書中內容進行開發，以下分別為階段二目標和當前開發進度及優先序。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A14A265-D3B4-3EED-5C61-DD24AFAC66F7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Measure tool (CA-410 and i1Display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顯示亮度、色溫、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CIE1931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x,y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資訊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量測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Gamma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和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DICOM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曲線驗證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功能建立和測試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RGB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純色畫板功能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期末報告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D03CF93-37F1-7D12-F268-15E61A91B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749340"/>
              </p:ext>
            </p:extLst>
          </p:nvPr>
        </p:nvGraphicFramePr>
        <p:xfrm>
          <a:off x="5604934" y="2353858"/>
          <a:ext cx="4022658" cy="371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RGB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純色畫板功能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8692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顯示亮度、色溫、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CIE1931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x,y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資訊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Measure tool (CA-410 and i1Display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183915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量測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Gamma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和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DICOM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曲線驗證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68554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功能建立和測試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(ALC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功能之溫箱實驗調整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8212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21400902-7646-8901-3AB4-0881D01D31AB}"/>
              </a:ext>
            </a:extLst>
          </p:cNvPr>
          <p:cNvSpPr txBox="1"/>
          <p:nvPr/>
        </p:nvSpPr>
        <p:spPr>
          <a:xfrm>
            <a:off x="8635013" y="1541843"/>
            <a:ext cx="992579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DAD14C-9DA7-9E14-34FF-AEB08173AD31}"/>
              </a:ext>
            </a:extLst>
          </p:cNvPr>
          <p:cNvSpPr/>
          <p:nvPr/>
        </p:nvSpPr>
        <p:spPr>
          <a:xfrm>
            <a:off x="5604934" y="5316157"/>
            <a:ext cx="4022658" cy="7516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92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5269F-EE01-93D1-D82C-B5693B42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0703DE-5600-88F1-303E-ED60A4382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下次進度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Monitor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D12053-B37E-8FA6-3C59-EFD9841D1B77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根據第二期計畫書中內容進行開發，以下分別為階段一目標和當前開發進度及優先序。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39F156E-D456-134C-55DA-692CC219BC1F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Calibration Tool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色溫調校功能和測試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期中報告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FEA2BEE-33B3-3F49-05B7-A17F6C619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452081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Calibration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(Sample Report 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生成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色溫調校功能和測試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81843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2DF69B-FBF3-6544-79D8-6710E1F9B468}"/>
              </a:ext>
            </a:extLst>
          </p:cNvPr>
          <p:cNvSpPr txBox="1"/>
          <p:nvPr/>
        </p:nvSpPr>
        <p:spPr>
          <a:xfrm>
            <a:off x="8635013" y="1541843"/>
            <a:ext cx="992579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122239-662C-2453-6DB2-0B3A5ED1E403}"/>
              </a:ext>
            </a:extLst>
          </p:cNvPr>
          <p:cNvSpPr/>
          <p:nvPr/>
        </p:nvSpPr>
        <p:spPr>
          <a:xfrm>
            <a:off x="5604934" y="3428999"/>
            <a:ext cx="4022658" cy="6477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534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58018" y="657066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電池外觀破損偵測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BB20D9-FF08-ADFE-0239-2A0A725A79B8}"/>
              </a:ext>
            </a:extLst>
          </p:cNvPr>
          <p:cNvGraphicFramePr>
            <a:graphicFrameLocks noGrp="1"/>
          </p:cNvGraphicFramePr>
          <p:nvPr/>
        </p:nvGraphicFramePr>
        <p:xfrm>
          <a:off x="4853584" y="2466731"/>
          <a:ext cx="4960792" cy="2329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396">
                  <a:extLst>
                    <a:ext uri="{9D8B030D-6E8A-4147-A177-3AD203B41FA5}">
                      <a16:colId xmlns:a16="http://schemas.microsoft.com/office/drawing/2014/main" val="1386511907"/>
                    </a:ext>
                  </a:extLst>
                </a:gridCol>
                <a:gridCol w="2480396">
                  <a:extLst>
                    <a:ext uri="{9D8B030D-6E8A-4147-A177-3AD203B41FA5}">
                      <a16:colId xmlns:a16="http://schemas.microsoft.com/office/drawing/2014/main" val="3728400076"/>
                    </a:ext>
                  </a:extLst>
                </a:gridCol>
              </a:tblGrid>
              <a:tr h="2672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623179"/>
                  </a:ext>
                </a:extLst>
              </a:tr>
              <a:tr h="489012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破損檢測結果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顯示</a:t>
                      </a:r>
                      <a:endParaRPr lang="en-US" alt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P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786410"/>
                  </a:ext>
                </a:extLst>
              </a:tr>
              <a:tr h="50854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紀錄結果，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並匯出報表</a:t>
                      </a: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086582"/>
                  </a:ext>
                </a:extLst>
              </a:tr>
              <a:tr h="50854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支援異常警告</a:t>
                      </a: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004940"/>
                  </a:ext>
                </a:extLst>
              </a:tr>
              <a:tr h="50854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優化模型</a:t>
                      </a: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906160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202C1B06-2573-A628-C341-BB16D30DF0FC}"/>
              </a:ext>
            </a:extLst>
          </p:cNvPr>
          <p:cNvCxnSpPr>
            <a:cxnSpLocks/>
          </p:cNvCxnSpPr>
          <p:nvPr/>
        </p:nvCxnSpPr>
        <p:spPr>
          <a:xfrm>
            <a:off x="4953000" y="2669329"/>
            <a:ext cx="0" cy="21034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50390" y="1004661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Noto Sans Symbols"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Noto Sans Symbols"/>
              <a:buChar char="❖"/>
              <a:tabLst/>
              <a:defRPr/>
            </a:pP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Times New Roman"/>
              </a:rPr>
              <a:t>根據計畫書中內容進行開發，以下分別為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Noto Sans Symbols"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Times New Roman"/>
              </a:rPr>
              <a:t>        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Times New Roman"/>
              </a:rPr>
              <a:t>階段二目標和當前開發進度及優先序。</a:t>
            </a: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914400" marR="0" lvl="1" indent="-3810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533400" marR="0" lvl="1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Noto Sans Symbols"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914400" marR="0" lvl="1" indent="-3810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914400" marR="0" lvl="1" indent="-3810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914400" marR="0" lvl="1" indent="-3810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914400" marR="0" lvl="1" indent="-3810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533400" marR="0" lvl="1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533400" marR="0" lvl="1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E5DB677-FC1E-C918-4DE8-5A29E7BE7399}"/>
              </a:ext>
            </a:extLst>
          </p:cNvPr>
          <p:cNvGraphicFramePr>
            <a:graphicFrameLocks noGrp="1"/>
          </p:cNvGraphicFramePr>
          <p:nvPr/>
        </p:nvGraphicFramePr>
        <p:xfrm>
          <a:off x="173997" y="2163725"/>
          <a:ext cx="4664952" cy="3744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924">
                  <a:extLst>
                    <a:ext uri="{9D8B030D-6E8A-4147-A177-3AD203B41FA5}">
                      <a16:colId xmlns:a16="http://schemas.microsoft.com/office/drawing/2014/main" val="2214116554"/>
                    </a:ext>
                  </a:extLst>
                </a:gridCol>
                <a:gridCol w="1497874">
                  <a:extLst>
                    <a:ext uri="{9D8B030D-6E8A-4147-A177-3AD203B41FA5}">
                      <a16:colId xmlns:a16="http://schemas.microsoft.com/office/drawing/2014/main" val="2817570406"/>
                    </a:ext>
                  </a:extLst>
                </a:gridCol>
                <a:gridCol w="2011154">
                  <a:extLst>
                    <a:ext uri="{9D8B030D-6E8A-4147-A177-3AD203B41FA5}">
                      <a16:colId xmlns:a16="http://schemas.microsoft.com/office/drawing/2014/main" val="4218185479"/>
                    </a:ext>
                  </a:extLst>
                </a:gridCol>
              </a:tblGrid>
              <a:tr h="33099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粗估時間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011215"/>
                  </a:ext>
                </a:extLst>
              </a:tr>
              <a:tr h="231696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2025/5/01</a:t>
                      </a:r>
                    </a:p>
                    <a:p>
                      <a:pPr algn="ctr"/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2025/7/31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破損檢測結果以百分比或分數顯示準確度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zh-TW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記錄所有檢測結果，可追溯並匯出報表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zh-TW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支援異常警告，當發現嚴重破損時可出現警示或自動標記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可透過機器學習方式持續優化模型，提高準確率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42669574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BA6358A-B91C-0A9C-B975-0BA97AC554AC}"/>
              </a:ext>
            </a:extLst>
          </p:cNvPr>
          <p:cNvSpPr txBox="1"/>
          <p:nvPr/>
        </p:nvSpPr>
        <p:spPr>
          <a:xfrm>
            <a:off x="5067053" y="5395158"/>
            <a:ext cx="992578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/>
              </a:rPr>
              <a:t>O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: 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完成</a:t>
            </a:r>
            <a:b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</a:b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△: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未進行</a:t>
            </a: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/>
              </a:rPr>
              <a:t>P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: 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進行中</a:t>
            </a: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F145CB5-95AF-08DE-16F2-85EEE64553C4}"/>
              </a:ext>
            </a:extLst>
          </p:cNvPr>
          <p:cNvSpPr txBox="1"/>
          <p:nvPr/>
        </p:nvSpPr>
        <p:spPr>
          <a:xfrm rot="16200000">
            <a:off x="1922945" y="2727305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~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534E871-5256-D06E-A5DC-74EDD2EFEFBD}"/>
              </a:ext>
            </a:extLst>
          </p:cNvPr>
          <p:cNvSpPr txBox="1"/>
          <p:nvPr/>
        </p:nvSpPr>
        <p:spPr>
          <a:xfrm>
            <a:off x="4853584" y="4772735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priority</a:t>
            </a:r>
            <a:endParaRPr kumimoji="0" lang="zh-TW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F9184C-368B-4A6B-A7DB-FEFE2CE0E635}"/>
              </a:ext>
            </a:extLst>
          </p:cNvPr>
          <p:cNvSpPr txBox="1"/>
          <p:nvPr/>
        </p:nvSpPr>
        <p:spPr>
          <a:xfrm>
            <a:off x="5052416" y="2746004"/>
            <a:ext cx="4563849" cy="4594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2592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6407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Jetson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平台使用模型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46343" y="913227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AGX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ORIN(JS221)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上使用模型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可在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Orin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上正常使用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9A0EFEF-8D1C-4BD1-86ED-DDE8754740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03" t="38048" r="52637" b="28189"/>
          <a:stretch/>
        </p:blipFill>
        <p:spPr>
          <a:xfrm>
            <a:off x="339166" y="2791837"/>
            <a:ext cx="5574274" cy="240273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86D9816-7196-4213-A3BB-21055D406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128" y="892735"/>
            <a:ext cx="4081633" cy="544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99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6407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Jetson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平台使用模型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46343" y="890253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AGX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Orin Nano 4G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上使用模型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Nano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上無法使用，由於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Memory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只有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4G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 of memory</a:t>
            </a: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C1DA125-ED91-4664-A01F-8A8E9F4C6A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283" t="42580" r="11428" b="45635"/>
          <a:stretch/>
        </p:blipFill>
        <p:spPr>
          <a:xfrm>
            <a:off x="1102765" y="2617588"/>
            <a:ext cx="4793393" cy="251671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BB9A582-8370-48C4-B4B2-2995D82F0C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67" t="86590" r="-2967" b="2269"/>
          <a:stretch/>
        </p:blipFill>
        <p:spPr>
          <a:xfrm>
            <a:off x="1253057" y="5403266"/>
            <a:ext cx="6252022" cy="76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66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6407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Jetson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平台使用模型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46343" y="836326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AGX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Orin Nano 4G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上使用模型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ssh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連線，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Nano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須登出才可使用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14195AA-308A-45FA-A8F5-97F2115F9F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29" r="29052"/>
          <a:stretch/>
        </p:blipFill>
        <p:spPr>
          <a:xfrm>
            <a:off x="515566" y="2498987"/>
            <a:ext cx="4980561" cy="407907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A44409E-5EF3-4CFE-9B92-647D38E504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691" t="41326" r="12789" b="32331"/>
          <a:stretch/>
        </p:blipFill>
        <p:spPr>
          <a:xfrm>
            <a:off x="5729035" y="2749658"/>
            <a:ext cx="3794951" cy="357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37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64070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呈現模型方式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46343" y="1030770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Vue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建立網站來呈現結果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前端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使用者介面以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vuetify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實作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後端 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使用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FastAPI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來實作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pPr lvl="1"/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pPr marL="533400" lvl="1" indent="0">
              <a:buNone/>
            </a:pPr>
            <a:endParaRPr lang="zh-TW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5D6AAC7-C94D-442B-A0F4-6599278AD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879" y="2793740"/>
            <a:ext cx="6270610" cy="344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27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64070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呈現模型方式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46343" y="869996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後端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FastAPI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Pyhon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框架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uvicorn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伺服器來啟用網站服務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定義一個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的端點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(“/predict”)</a:t>
            </a: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當呼叫這個端點時就會做模型分析的動作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後端建立完成，利用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uvicorn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伺服器來啟動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的服務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pPr lvl="1"/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pPr marL="533400" lvl="1" indent="0">
              <a:buNone/>
            </a:pPr>
            <a:endParaRPr lang="zh-TW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464CFEE-FACF-44EF-A1F7-9FC1E994F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504" y="4489489"/>
            <a:ext cx="5507446" cy="364361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7539E6D9-0957-4D23-A885-DE18C3961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227" y="2810048"/>
            <a:ext cx="251495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58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64070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呈現模型方式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46343" y="869996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後端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撰寫一個測試程式來看後端功能是否正確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首先呼叫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的端點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(“/predict)</a:t>
            </a: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輸入一張破損的照片看回傳的預測值是否正確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執行結果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pPr lvl="1"/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pPr marL="533400" lvl="1" indent="0">
              <a:buNone/>
            </a:pPr>
            <a:endParaRPr lang="zh-TW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8201EAE-B466-4C37-B619-EEC91AD0D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62" y="2923320"/>
            <a:ext cx="3385242" cy="28210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3557D02-B69B-4959-96E6-2E3810B49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063" y="3858667"/>
            <a:ext cx="5174690" cy="82757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66C1BC4-BB9E-4296-9540-06322F529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062" y="5159578"/>
            <a:ext cx="8089357" cy="65214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F449FA6-8897-4F53-94D0-376CF9FF6F5E}"/>
              </a:ext>
            </a:extLst>
          </p:cNvPr>
          <p:cNvSpPr/>
          <p:nvPr/>
        </p:nvSpPr>
        <p:spPr>
          <a:xfrm>
            <a:off x="1125415" y="5466303"/>
            <a:ext cx="2743200" cy="282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6580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6407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呈現模型方式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552894" y="1030770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研究前端介面如何撰寫，將前端與後端串聯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pPr lvl="1"/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pPr marL="533400" lvl="1" indent="0">
              <a:buNone/>
            </a:pPr>
            <a:endParaRPr lang="zh-TW" altLang="zh-TW" sz="1600" dirty="0">
              <a:latin typeface="標楷體" panose="03000509000000000000" pitchFamily="65" charset="-120"/>
              <a:ea typeface="標楷體" panose="03000509000000000000" pitchFamily="65" charset="-120"/>
              <a:sym typeface="Arial"/>
            </a:endParaRPr>
          </a:p>
          <a:p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829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58018" y="657066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電池外觀破損偵測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BB20D9-FF08-ADFE-0239-2A0A725A79B8}"/>
              </a:ext>
            </a:extLst>
          </p:cNvPr>
          <p:cNvGraphicFramePr>
            <a:graphicFrameLocks noGrp="1"/>
          </p:cNvGraphicFramePr>
          <p:nvPr/>
        </p:nvGraphicFramePr>
        <p:xfrm>
          <a:off x="4853584" y="2466731"/>
          <a:ext cx="4960792" cy="2329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396">
                  <a:extLst>
                    <a:ext uri="{9D8B030D-6E8A-4147-A177-3AD203B41FA5}">
                      <a16:colId xmlns:a16="http://schemas.microsoft.com/office/drawing/2014/main" val="1386511907"/>
                    </a:ext>
                  </a:extLst>
                </a:gridCol>
                <a:gridCol w="2480396">
                  <a:extLst>
                    <a:ext uri="{9D8B030D-6E8A-4147-A177-3AD203B41FA5}">
                      <a16:colId xmlns:a16="http://schemas.microsoft.com/office/drawing/2014/main" val="3728400076"/>
                    </a:ext>
                  </a:extLst>
                </a:gridCol>
              </a:tblGrid>
              <a:tr h="2672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623179"/>
                  </a:ext>
                </a:extLst>
              </a:tr>
              <a:tr h="489012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破損檢測結果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顯示</a:t>
                      </a:r>
                      <a:endParaRPr lang="en-US" alt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P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786410"/>
                  </a:ext>
                </a:extLst>
              </a:tr>
              <a:tr h="50854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紀錄結果，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並匯出報表</a:t>
                      </a: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086582"/>
                  </a:ext>
                </a:extLst>
              </a:tr>
              <a:tr h="50854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支援異常警告</a:t>
                      </a: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004940"/>
                  </a:ext>
                </a:extLst>
              </a:tr>
              <a:tr h="50854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優化模型</a:t>
                      </a: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TW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906160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202C1B06-2573-A628-C341-BB16D30DF0FC}"/>
              </a:ext>
            </a:extLst>
          </p:cNvPr>
          <p:cNvCxnSpPr>
            <a:cxnSpLocks/>
          </p:cNvCxnSpPr>
          <p:nvPr/>
        </p:nvCxnSpPr>
        <p:spPr>
          <a:xfrm>
            <a:off x="4953000" y="2669329"/>
            <a:ext cx="0" cy="21034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50390" y="1004661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Noto Sans Symbols"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Noto Sans Symbols"/>
              <a:buChar char="❖"/>
              <a:tabLst/>
              <a:defRPr/>
            </a:pP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Times New Roman"/>
              </a:rPr>
              <a:t>根據計畫書中內容進行開發，以下分別為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Noto Sans Symbols"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Times New Roman"/>
              </a:rPr>
              <a:t>        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Times New Roman"/>
              </a:rPr>
              <a:t>階段二目標和當前開發進度及優先序。</a:t>
            </a: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914400" marR="0" lvl="1" indent="-3810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533400" marR="0" lvl="1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Noto Sans Symbols"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914400" marR="0" lvl="1" indent="-3810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914400" marR="0" lvl="1" indent="-3810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914400" marR="0" lvl="1" indent="-3810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914400" marR="0" lvl="1" indent="-3810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533400" marR="0" lvl="1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  <a:p>
            <a:pPr marL="533400" marR="0" lvl="1" indent="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E5DB677-FC1E-C918-4DE8-5A29E7BE7399}"/>
              </a:ext>
            </a:extLst>
          </p:cNvPr>
          <p:cNvGraphicFramePr>
            <a:graphicFrameLocks noGrp="1"/>
          </p:cNvGraphicFramePr>
          <p:nvPr/>
        </p:nvGraphicFramePr>
        <p:xfrm>
          <a:off x="173997" y="2163725"/>
          <a:ext cx="4664952" cy="3744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924">
                  <a:extLst>
                    <a:ext uri="{9D8B030D-6E8A-4147-A177-3AD203B41FA5}">
                      <a16:colId xmlns:a16="http://schemas.microsoft.com/office/drawing/2014/main" val="2214116554"/>
                    </a:ext>
                  </a:extLst>
                </a:gridCol>
                <a:gridCol w="1497874">
                  <a:extLst>
                    <a:ext uri="{9D8B030D-6E8A-4147-A177-3AD203B41FA5}">
                      <a16:colId xmlns:a16="http://schemas.microsoft.com/office/drawing/2014/main" val="2817570406"/>
                    </a:ext>
                  </a:extLst>
                </a:gridCol>
                <a:gridCol w="2011154">
                  <a:extLst>
                    <a:ext uri="{9D8B030D-6E8A-4147-A177-3AD203B41FA5}">
                      <a16:colId xmlns:a16="http://schemas.microsoft.com/office/drawing/2014/main" val="4218185479"/>
                    </a:ext>
                  </a:extLst>
                </a:gridCol>
              </a:tblGrid>
              <a:tr h="33099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粗估時間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011215"/>
                  </a:ext>
                </a:extLst>
              </a:tr>
              <a:tr h="231696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2025/5/01</a:t>
                      </a:r>
                    </a:p>
                    <a:p>
                      <a:pPr algn="ctr"/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2025/7/31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破損檢測結果以百分比或分數顯示準確度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zh-TW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記錄所有檢測結果，可追溯並匯出報表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zh-TW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支援異常警告，當發現嚴重破損時可出現警示或自動標記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可透過機器學習方式持續優化模型，提高準確率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42669574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BA6358A-B91C-0A9C-B975-0BA97AC554AC}"/>
              </a:ext>
            </a:extLst>
          </p:cNvPr>
          <p:cNvSpPr txBox="1"/>
          <p:nvPr/>
        </p:nvSpPr>
        <p:spPr>
          <a:xfrm>
            <a:off x="5067053" y="5395158"/>
            <a:ext cx="992578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/>
              </a:rPr>
              <a:t>O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: 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完成</a:t>
            </a:r>
            <a:b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</a:b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△: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未進行</a:t>
            </a: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Arial"/>
              </a:rPr>
              <a:t>P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: 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進行中</a:t>
            </a: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Arial"/>
              <a:sym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F145CB5-95AF-08DE-16F2-85EEE64553C4}"/>
              </a:ext>
            </a:extLst>
          </p:cNvPr>
          <p:cNvSpPr txBox="1"/>
          <p:nvPr/>
        </p:nvSpPr>
        <p:spPr>
          <a:xfrm rot="16200000">
            <a:off x="1922945" y="2727305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~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534E871-5256-D06E-A5DC-74EDD2EFEFBD}"/>
              </a:ext>
            </a:extLst>
          </p:cNvPr>
          <p:cNvSpPr txBox="1"/>
          <p:nvPr/>
        </p:nvSpPr>
        <p:spPr>
          <a:xfrm>
            <a:off x="4853584" y="4772735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priority</a:t>
            </a:r>
            <a:endParaRPr kumimoji="0" lang="zh-TW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F9184C-368B-4A6B-A7DB-FEFE2CE0E635}"/>
              </a:ext>
            </a:extLst>
          </p:cNvPr>
          <p:cNvSpPr txBox="1"/>
          <p:nvPr/>
        </p:nvSpPr>
        <p:spPr>
          <a:xfrm>
            <a:off x="5052416" y="2746004"/>
            <a:ext cx="4563849" cy="4594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4840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83294</TotalTime>
  <Words>1477</Words>
  <Application>Microsoft Office PowerPoint</Application>
  <PresentationFormat>A4 紙張 (210x297 公釐)</PresentationFormat>
  <Paragraphs>440</Paragraphs>
  <Slides>27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3" baseType="lpstr">
      <vt:lpstr>Noto Sans Symbols</vt:lpstr>
      <vt:lpstr>標楷體</vt:lpstr>
      <vt:lpstr>Arial</vt:lpstr>
      <vt:lpstr>Cambria Math</vt:lpstr>
      <vt:lpstr>Times New Roman</vt:lpstr>
      <vt:lpstr>template</vt:lpstr>
      <vt:lpstr>Progress Report</vt:lpstr>
      <vt:lpstr>本次進度: Monitor</vt:lpstr>
      <vt:lpstr>本次進度: Monitor</vt:lpstr>
      <vt:lpstr>上次進度: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本次進度: Monitor</vt:lpstr>
      <vt:lpstr>上次進度: Monitor</vt:lpstr>
      <vt:lpstr>上次進度: Monitor</vt:lpstr>
      <vt:lpstr>本次進度: Monitor</vt:lpstr>
      <vt:lpstr>本次進度: Monitor</vt:lpstr>
      <vt:lpstr>下次進度: Monitor</vt:lpstr>
      <vt:lpstr>下次進度: Monitor</vt:lpstr>
      <vt:lpstr>電池外觀破損偵測</vt:lpstr>
      <vt:lpstr>上次進度 : 在Jetson平台使用模型</vt:lpstr>
      <vt:lpstr>上次進度 : 在Jetson平台使用模型</vt:lpstr>
      <vt:lpstr>上次進度 : 在Jetson平台使用模型</vt:lpstr>
      <vt:lpstr>本次進度 : 呈現模型方式</vt:lpstr>
      <vt:lpstr>本次進度 : 呈現模型方式</vt:lpstr>
      <vt:lpstr>本次進度 : 呈現模型方式</vt:lpstr>
      <vt:lpstr>下次進度 : 呈現模型方式</vt:lpstr>
      <vt:lpstr>電池外觀破損偵測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931</cp:revision>
  <dcterms:created xsi:type="dcterms:W3CDTF">2003-02-17T16:04:03Z</dcterms:created>
  <dcterms:modified xsi:type="dcterms:W3CDTF">2025-04-22T07:22:33Z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