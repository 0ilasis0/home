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8" r:id="rId1"/>
  </p:sldMasterIdLst>
  <p:notesMasterIdLst>
    <p:notesMasterId r:id="rId15"/>
  </p:notesMasterIdLst>
  <p:sldIdLst>
    <p:sldId id="277" r:id="rId2"/>
    <p:sldId id="1784" r:id="rId3"/>
    <p:sldId id="1870" r:id="rId4"/>
    <p:sldId id="1869" r:id="rId5"/>
    <p:sldId id="1871" r:id="rId6"/>
    <p:sldId id="1872" r:id="rId7"/>
    <p:sldId id="1826" r:id="rId8"/>
    <p:sldId id="1850" r:id="rId9"/>
    <p:sldId id="1849" r:id="rId10"/>
    <p:sldId id="1853" r:id="rId11"/>
    <p:sldId id="1851" r:id="rId12"/>
    <p:sldId id="1852" r:id="rId13"/>
    <p:sldId id="286" r:id="rId14"/>
  </p:sldIdLst>
  <p:sldSz cx="9906000" cy="6858000" type="A4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Head" id="{9114FBB3-8B00-422B-ACC9-030F49096E83}">
          <p14:sldIdLst>
            <p14:sldId id="277"/>
          </p14:sldIdLst>
        </p14:section>
        <p14:section name="Monitor" id="{7925A652-D02A-4F07-B4BA-109FEF573EC6}">
          <p14:sldIdLst>
            <p14:sldId id="1784"/>
            <p14:sldId id="1870"/>
            <p14:sldId id="1869"/>
            <p14:sldId id="1871"/>
            <p14:sldId id="1872"/>
          </p14:sldIdLst>
        </p14:section>
        <p14:section name="JS1500" id="{F71E69A4-C86C-4DAC-B828-42C2D8800267}">
          <p14:sldIdLst>
            <p14:sldId id="1826"/>
            <p14:sldId id="1850"/>
            <p14:sldId id="1849"/>
            <p14:sldId id="1853"/>
            <p14:sldId id="1851"/>
            <p14:sldId id="1852"/>
          </p14:sldIdLst>
        </p14:section>
        <p14:section name="End" id="{33EEDC85-A799-4CB3-BF13-F4955B8630BE}">
          <p14:sldIdLst>
            <p14:sldId id="28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10902143" initials="m" lastIdx="1" clrIdx="0"/>
  <p:cmAuthor id="2" name="James Kuo" initials="JK" lastIdx="1" clrIdx="1"/>
  <p:cmAuthor id="3" name="昇鴻 李" initials="昇鴻" lastIdx="1" clrIdx="2">
    <p:extLst>
      <p:ext uri="{19B8F6BF-5375-455C-9EA6-DF929625EA0E}">
        <p15:presenceInfo xmlns:p15="http://schemas.microsoft.com/office/powerpoint/2012/main" userId="72a70edeaa250c2c" providerId="Windows Live"/>
      </p:ext>
    </p:extLst>
  </p:cmAuthor>
  <p:cmAuthor id="4" name="宏德 林" initials="宏林" lastIdx="2" clrIdx="3">
    <p:extLst>
      <p:ext uri="{19B8F6BF-5375-455C-9EA6-DF929625EA0E}">
        <p15:presenceInfo xmlns:p15="http://schemas.microsoft.com/office/powerpoint/2012/main" userId="933d0002216be5bd" providerId="Windows Live"/>
      </p:ext>
    </p:extLst>
  </p:cmAuthor>
  <p:cmAuthor id="5" name="LI CHIH HSIANG" initials="LCH" lastIdx="6" clrIdx="4">
    <p:extLst>
      <p:ext uri="{19B8F6BF-5375-455C-9EA6-DF929625EA0E}">
        <p15:presenceInfo xmlns:p15="http://schemas.microsoft.com/office/powerpoint/2012/main" userId="LI CHIH HSIANG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7C0"/>
    <a:srgbClr val="FF9900"/>
    <a:srgbClr val="FFC000"/>
    <a:srgbClr val="FFFFFF"/>
    <a:srgbClr val="00B050"/>
    <a:srgbClr val="000000"/>
    <a:srgbClr val="8958B1"/>
    <a:srgbClr val="C58DEF"/>
    <a:srgbClr val="993366"/>
    <a:srgbClr val="5814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D433FD4-3D7A-4217-8E80-1680D7E9CC69}" styleName="Table_0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rgbClr val="E6E6E6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E6E6E6"/>
          </a:solidFill>
        </a:fill>
      </a:tcStyle>
    </a:band1V>
    <a:band2V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 i="off"/>
      <a:tcStyle>
        <a:tcBdr>
          <a:top>
            <a:ln w="508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lt1"/>
          </a:solidFill>
        </a:fill>
      </a:tcStyle>
    </a:lastRow>
    <a:seCell>
      <a:tcTxStyle b="on" i="off">
        <a:font>
          <a:latin typeface="Times New Roman"/>
          <a:ea typeface="Times New Roman"/>
          <a:cs typeface="Times New Roman"/>
        </a:font>
        <a:schemeClr val="dk1"/>
      </a:tcTxStyle>
      <a:tcStyle>
        <a:tcBdr/>
      </a:tcStyle>
    </a:seCell>
    <a:swCell>
      <a:tcTxStyle b="on" i="off">
        <a:font>
          <a:latin typeface="Times New Roman"/>
          <a:ea typeface="Times New Roman"/>
          <a:cs typeface="Times New Roman"/>
        </a:font>
        <a:schemeClr val="dk1"/>
      </a:tcTxStyle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2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3E919B74-BC6B-4152-9BDB-477648A112FC}" styleName="Table_1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F6EF"/>
          </a:solidFill>
        </a:fill>
      </a:tcStyle>
    </a:wholeTbl>
    <a:band1H>
      <a:tcStyle>
        <a:tcBdr/>
        <a:fill>
          <a:solidFill>
            <a:srgbClr val="CAECDD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AECDD"/>
          </a:solidFill>
        </a:fill>
      </a:tcStyle>
    </a:band1V>
    <a:band2V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72833802-FEF1-4C79-8D5D-14CF1EAF98D9}" styleName="淺色樣式 2 - 輔色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佈景主題樣式 1 - 輔色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佈景主題樣式 1 - 輔色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8603FDC-E32A-4AB5-989C-0864C3EAD2B8}" styleName="佈景主題樣式 2 - 輔色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E3FDE45-AF77-4B5C-9715-49D594BDF05E}" styleName="淺色樣式 1 - 輔色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中等深淺樣式 1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421" autoAdjust="0"/>
    <p:restoredTop sz="95153" autoAdjust="0"/>
  </p:normalViewPr>
  <p:slideViewPr>
    <p:cSldViewPr snapToGrid="0">
      <p:cViewPr varScale="1">
        <p:scale>
          <a:sx n="98" d="100"/>
          <a:sy n="98" d="100"/>
        </p:scale>
        <p:origin x="1316" y="6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7658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0" name="Google Shape;4;n"/>
          <p:cNvSpPr txBox="1">
            <a:spLocks noGrp="1"/>
          </p:cNvSpPr>
          <p:nvPr>
            <p:ph type="dt" idx="10"/>
          </p:nvPr>
        </p:nvSpPr>
        <p:spPr>
          <a:xfrm>
            <a:off x="4138613" y="0"/>
            <a:ext cx="317658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1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062038" y="735013"/>
            <a:ext cx="5197475" cy="35988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62" name="Google Shape;6;n"/>
          <p:cNvSpPr txBox="1">
            <a:spLocks noGrp="1"/>
          </p:cNvSpPr>
          <p:nvPr>
            <p:ph type="body" idx="1"/>
          </p:nvPr>
        </p:nvSpPr>
        <p:spPr>
          <a:xfrm>
            <a:off x="962025" y="4567238"/>
            <a:ext cx="5391150" cy="430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63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34475"/>
            <a:ext cx="317658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4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38613" y="9134475"/>
            <a:ext cx="317658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586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1048587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t>1</a:t>
            </a:fld>
            <a:endParaRPr lang="en-US" altLang="zh-TW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710130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386476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206010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473669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918955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283196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476759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1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Font typeface="Arial" panose="020B0604020202020204" pitchFamily="34" charset="0"/>
              <a:buNone/>
            </a:pPr>
            <a:r>
              <a:rPr lang="zh-TW" altLang="en-US" dirty="0"/>
              <a:t>我們提供了一個工具 </a:t>
            </a:r>
            <a:r>
              <a:rPr lang="en-US" altLang="zh-TW" dirty="0"/>
              <a:t>front-keys-tool</a:t>
            </a:r>
            <a:r>
              <a:rPr lang="zh-TW" altLang="en-US" dirty="0"/>
              <a:t>，讓系統或使用者可以直接操作前面板按鍵的行為，而不需要碰核心程式。</a:t>
            </a:r>
            <a:endParaRPr lang="en-US" altLang="zh-TW" dirty="0"/>
          </a:p>
          <a:p>
            <a:r>
              <a:rPr lang="en-US" altLang="zh-TW" dirty="0"/>
              <a:t>get-count</a:t>
            </a:r>
            <a:r>
              <a:rPr lang="zh-TW" altLang="en-US" dirty="0"/>
              <a:t>：查詢目前系統有幾顆可用按鍵</a:t>
            </a:r>
          </a:p>
          <a:p>
            <a:r>
              <a:rPr lang="en-US" altLang="zh-TW" dirty="0"/>
              <a:t>get-config</a:t>
            </a:r>
            <a:r>
              <a:rPr lang="zh-TW" altLang="en-US" dirty="0"/>
              <a:t>：查看每顆按鍵目前的設定</a:t>
            </a:r>
          </a:p>
          <a:p>
            <a:r>
              <a:rPr lang="en-US" altLang="zh-TW" dirty="0"/>
              <a:t>unset</a:t>
            </a:r>
            <a:r>
              <a:rPr lang="zh-TW" altLang="en-US" dirty="0"/>
              <a:t>：重置所有按鍵設定</a:t>
            </a:r>
          </a:p>
          <a:p>
            <a:r>
              <a:rPr lang="en-US" altLang="zh-TW" dirty="0"/>
              <a:t>Set: </a:t>
            </a:r>
          </a:p>
          <a:p>
            <a:r>
              <a:rPr lang="en-US" altLang="zh-TW" dirty="0"/>
              <a:t>-m</a:t>
            </a:r>
            <a:r>
              <a:rPr lang="zh-TW" altLang="en-US" dirty="0"/>
              <a:t>：設定按鍵要對應的 </a:t>
            </a:r>
            <a:r>
              <a:rPr lang="en-US" altLang="zh-TW" b="1" dirty="0"/>
              <a:t>Key Code</a:t>
            </a:r>
            <a:endParaRPr lang="zh-TW" altLang="en-US" dirty="0"/>
          </a:p>
          <a:p>
            <a:pPr marL="228600" indent="0">
              <a:buFont typeface="Arial" panose="020B0604020202020204" pitchFamily="34" charset="0"/>
              <a:buNone/>
            </a:pPr>
            <a:r>
              <a:rPr lang="en-US" altLang="zh-TW" dirty="0"/>
              <a:t>-s</a:t>
            </a:r>
            <a:r>
              <a:rPr lang="zh-TW" altLang="en-US" dirty="0"/>
              <a:t>：設定按鍵被按下時要執行的 </a:t>
            </a:r>
            <a:r>
              <a:rPr lang="en-US" altLang="zh-TW" b="1" dirty="0"/>
              <a:t>Script</a:t>
            </a:r>
          </a:p>
          <a:p>
            <a:pPr marL="228600" indent="0">
              <a:buFont typeface="Arial" panose="020B0604020202020204" pitchFamily="34" charset="0"/>
              <a:buNone/>
            </a:pPr>
            <a:endParaRPr lang="zh-TW" altLang="en-US" dirty="0"/>
          </a:p>
          <a:p>
            <a:pPr marL="228600" indent="0">
              <a:buFont typeface="Arial" panose="020B0604020202020204" pitchFamily="34" charset="0"/>
              <a:buNone/>
            </a:pPr>
            <a:endParaRPr lang="zh-TW" altLang="en-US" dirty="0"/>
          </a:p>
        </p:txBody>
      </p:sp>
      <p:sp>
        <p:nvSpPr>
          <p:cNvPr id="1048612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671424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1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Font typeface="Arial" panose="020B0604020202020204" pitchFamily="34" charset="0"/>
              <a:buNone/>
            </a:pPr>
            <a:r>
              <a:rPr lang="zh-TW" altLang="en-US" dirty="0"/>
              <a:t>我們提供了一個工具 </a:t>
            </a:r>
            <a:r>
              <a:rPr lang="en-US" altLang="zh-TW" dirty="0"/>
              <a:t>front-keys-tool</a:t>
            </a:r>
            <a:r>
              <a:rPr lang="zh-TW" altLang="en-US" dirty="0"/>
              <a:t>，讓系統或使用者可以直接操作前面板按鍵的行為，而不需要碰核心程式。</a:t>
            </a:r>
            <a:endParaRPr lang="en-US" altLang="zh-TW" dirty="0"/>
          </a:p>
          <a:p>
            <a:r>
              <a:rPr lang="en-US" altLang="zh-TW" dirty="0"/>
              <a:t>get-count</a:t>
            </a:r>
            <a:r>
              <a:rPr lang="zh-TW" altLang="en-US" dirty="0"/>
              <a:t>：查詢目前系統有幾顆可用按鍵</a:t>
            </a:r>
          </a:p>
          <a:p>
            <a:r>
              <a:rPr lang="en-US" altLang="zh-TW" dirty="0"/>
              <a:t>get-config</a:t>
            </a:r>
            <a:r>
              <a:rPr lang="zh-TW" altLang="en-US" dirty="0"/>
              <a:t>：查看每顆按鍵目前的設定</a:t>
            </a:r>
          </a:p>
          <a:p>
            <a:r>
              <a:rPr lang="en-US" altLang="zh-TW" dirty="0"/>
              <a:t>unset</a:t>
            </a:r>
            <a:r>
              <a:rPr lang="zh-TW" altLang="en-US" dirty="0"/>
              <a:t>：重置所有按鍵設定</a:t>
            </a:r>
          </a:p>
          <a:p>
            <a:r>
              <a:rPr lang="en-US" altLang="zh-TW" dirty="0"/>
              <a:t>Set: </a:t>
            </a:r>
          </a:p>
          <a:p>
            <a:r>
              <a:rPr lang="en-US" altLang="zh-TW" dirty="0"/>
              <a:t>-m</a:t>
            </a:r>
            <a:r>
              <a:rPr lang="zh-TW" altLang="en-US" dirty="0"/>
              <a:t>：設定按鍵要對應的 </a:t>
            </a:r>
            <a:r>
              <a:rPr lang="en-US" altLang="zh-TW" b="1" dirty="0"/>
              <a:t>Key Code</a:t>
            </a:r>
            <a:endParaRPr lang="zh-TW" altLang="en-US" dirty="0"/>
          </a:p>
          <a:p>
            <a:pPr marL="228600" indent="0">
              <a:buFont typeface="Arial" panose="020B0604020202020204" pitchFamily="34" charset="0"/>
              <a:buNone/>
            </a:pPr>
            <a:r>
              <a:rPr lang="en-US" altLang="zh-TW" dirty="0"/>
              <a:t>-s</a:t>
            </a:r>
            <a:r>
              <a:rPr lang="zh-TW" altLang="en-US" dirty="0"/>
              <a:t>：設定按鍵被按下時要執行的 </a:t>
            </a:r>
            <a:r>
              <a:rPr lang="en-US" altLang="zh-TW" b="1" dirty="0"/>
              <a:t>Script</a:t>
            </a:r>
          </a:p>
          <a:p>
            <a:pPr marL="228600" indent="0">
              <a:buFont typeface="Arial" panose="020B0604020202020204" pitchFamily="34" charset="0"/>
              <a:buNone/>
            </a:pPr>
            <a:endParaRPr lang="zh-TW" altLang="en-US" dirty="0"/>
          </a:p>
          <a:p>
            <a:pPr marL="228600" indent="0">
              <a:buFont typeface="Arial" panose="020B0604020202020204" pitchFamily="34" charset="0"/>
              <a:buNone/>
            </a:pPr>
            <a:endParaRPr lang="zh-TW" altLang="en-US" dirty="0"/>
          </a:p>
        </p:txBody>
      </p:sp>
      <p:sp>
        <p:nvSpPr>
          <p:cNvPr id="1048612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076164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24908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87177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42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None/>
            </a:pPr>
            <a:endParaRPr lang="en-US" altLang="zh-TW" dirty="0"/>
          </a:p>
        </p:txBody>
      </p:sp>
      <p:sp>
        <p:nvSpPr>
          <p:cNvPr id="1048643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t>13</a:t>
            </a:fld>
            <a:endParaRPr lang="en-US" altLang="zh-TW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type="title">
  <p:cSld name="TITL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Google Shape;21;p50"/>
          <p:cNvSpPr txBox="1"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875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37" name="Google Shape;22;p50"/>
          <p:cNvSpPr txBox="1"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390"/>
              </a:spcBef>
              <a:spcAft>
                <a:spcPts val="0"/>
              </a:spcAft>
              <a:buSzPts val="1950"/>
              <a:buNone/>
              <a:defRPr sz="1950"/>
            </a:lvl1pPr>
            <a:lvl2pPr lvl="1" algn="ctr">
              <a:spcBef>
                <a:spcPts val="325"/>
              </a:spcBef>
              <a:spcAft>
                <a:spcPts val="0"/>
              </a:spcAft>
              <a:buSzPts val="1625"/>
              <a:buNone/>
              <a:defRPr sz="1625"/>
            </a:lvl2pPr>
            <a:lvl3pPr lvl="2" algn="ctr">
              <a:spcBef>
                <a:spcPts val="293"/>
              </a:spcBef>
              <a:spcAft>
                <a:spcPts val="0"/>
              </a:spcAft>
              <a:buSzPts val="1463"/>
              <a:buFont typeface="Times New Roman"/>
              <a:buNone/>
              <a:defRPr sz="1463"/>
            </a:lvl3pPr>
            <a:lvl4pPr lvl="3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4pPr>
            <a:lvl5pPr lvl="4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5pPr>
            <a:lvl6pPr lvl="5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6pPr>
            <a:lvl7pPr lvl="6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7pPr>
            <a:lvl8pPr lvl="7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8pPr>
            <a:lvl9pPr lvl="8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9pPr>
          </a:lstStyle>
          <a:p>
            <a:endParaRPr/>
          </a:p>
        </p:txBody>
      </p:sp>
      <p:sp>
        <p:nvSpPr>
          <p:cNvPr id="1048638" name="Google Shape;23;p50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39" name="Google Shape;24;p50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40" name="Google Shape;25;p50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Google Shape;37;p5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7" name="Google Shape;38;p5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1048648" name="Google Shape;39;p5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9pPr>
          </a:lstStyle>
          <a:p>
            <a:endParaRPr/>
          </a:p>
        </p:txBody>
      </p:sp>
      <p:sp>
        <p:nvSpPr>
          <p:cNvPr id="1048649" name="Google Shape;40;p54"/>
          <p:cNvSpPr txBox="1">
            <a:spLocks noGrp="1"/>
          </p:cNvSpPr>
          <p:nvPr>
            <p:ph type="body" idx="3"/>
          </p:nvPr>
        </p:nvSpPr>
        <p:spPr>
          <a:xfrm>
            <a:off x="4645027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1048650" name="Google Shape;41;p54"/>
          <p:cNvSpPr txBox="1">
            <a:spLocks noGrp="1"/>
          </p:cNvSpPr>
          <p:nvPr>
            <p:ph type="body" idx="4"/>
          </p:nvPr>
        </p:nvSpPr>
        <p:spPr>
          <a:xfrm>
            <a:off x="4645027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Google Shape;43;p55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Google Shape;50;p58"/>
          <p:cNvSpPr txBox="1">
            <a:spLocks noGrp="1"/>
          </p:cNvSpPr>
          <p:nvPr>
            <p:ph type="title"/>
          </p:nvPr>
        </p:nvSpPr>
        <p:spPr>
          <a:xfrm>
            <a:off x="1792290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5" name="Google Shape;51;p58"/>
          <p:cNvSpPr>
            <a:spLocks noGrp="1"/>
          </p:cNvSpPr>
          <p:nvPr>
            <p:ph type="pic" idx="2"/>
          </p:nvPr>
        </p:nvSpPr>
        <p:spPr>
          <a:xfrm>
            <a:off x="1792290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None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rgbClr val="FF5050"/>
              </a:buClr>
              <a:buSzPts val="2800"/>
              <a:buFont typeface="Noto Sans Symbols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rgbClr val="6699FF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56" name="Google Shape;52;p58"/>
          <p:cNvSpPr txBox="1">
            <a:spLocks noGrp="1"/>
          </p:cNvSpPr>
          <p:nvPr>
            <p:ph type="body" idx="1"/>
          </p:nvPr>
        </p:nvSpPr>
        <p:spPr>
          <a:xfrm>
            <a:off x="1792290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Google Shape;54;p59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5" name="Google Shape;55;p59"/>
          <p:cNvSpPr txBox="1">
            <a:spLocks noGrp="1"/>
          </p:cNvSpPr>
          <p:nvPr>
            <p:ph type="body" idx="1"/>
          </p:nvPr>
        </p:nvSpPr>
        <p:spPr>
          <a:xfrm rot="5400000">
            <a:off x="2593975" y="-485775"/>
            <a:ext cx="4800600" cy="866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Google Shape;57;p60"/>
          <p:cNvSpPr txBox="1">
            <a:spLocks noGrp="1"/>
          </p:cNvSpPr>
          <p:nvPr>
            <p:ph type="title"/>
          </p:nvPr>
        </p:nvSpPr>
        <p:spPr>
          <a:xfrm rot="5400000">
            <a:off x="4857751" y="2419350"/>
            <a:ext cx="5638800" cy="20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8" name="Google Shape;58;p60"/>
          <p:cNvSpPr txBox="1">
            <a:spLocks noGrp="1"/>
          </p:cNvSpPr>
          <p:nvPr>
            <p:ph type="body" idx="1"/>
          </p:nvPr>
        </p:nvSpPr>
        <p:spPr>
          <a:xfrm rot="5400000">
            <a:off x="742951" y="476250"/>
            <a:ext cx="5638800" cy="59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1_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9" name="Title 1"/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en-US" dirty="0"/>
          </a:p>
        </p:txBody>
      </p:sp>
      <p:sp>
        <p:nvSpPr>
          <p:cNvPr id="1048580" name="Chart Placeholder 2"/>
          <p:cNvSpPr>
            <a:spLocks noGrp="1"/>
          </p:cNvSpPr>
          <p:nvPr>
            <p:ph type="chart" idx="1"/>
          </p:nvPr>
        </p:nvSpPr>
        <p:spPr>
          <a:xfrm>
            <a:off x="609600" y="1447800"/>
            <a:ext cx="8001000" cy="4800600"/>
          </a:xfrm>
        </p:spPr>
        <p:txBody>
          <a:bodyPr/>
          <a:lstStyle/>
          <a:p>
            <a:pPr lvl="0"/>
            <a:endParaRPr lang="en-US" noProof="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1048652" name="Title 1"/>
          <p:cNvSpPr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altLang="zh-TW" dirty="0"/>
              <a:t>Title of the Slide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Google Shape;10;p48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cxnSp>
        <p:nvCxnSpPr>
          <p:cNvPr id="3145728" name="Google Shape;11;p48"/>
          <p:cNvCxnSpPr>
            <a:cxnSpLocks/>
          </p:cNvCxnSpPr>
          <p:nvPr/>
        </p:nvCxnSpPr>
        <p:spPr>
          <a:xfrm>
            <a:off x="412750" y="533400"/>
            <a:ext cx="899795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5729" name="Google Shape;12;p48"/>
          <p:cNvCxnSpPr>
            <a:cxnSpLocks/>
          </p:cNvCxnSpPr>
          <p:nvPr/>
        </p:nvCxnSpPr>
        <p:spPr>
          <a:xfrm>
            <a:off x="577850" y="228600"/>
            <a:ext cx="0" cy="990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5730" name="Google Shape;13;p48"/>
          <p:cNvCxnSpPr>
            <a:cxnSpLocks/>
          </p:cNvCxnSpPr>
          <p:nvPr/>
        </p:nvCxnSpPr>
        <p:spPr>
          <a:xfrm>
            <a:off x="495300" y="6400800"/>
            <a:ext cx="8915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8577" name="Google Shape;14;p48"/>
          <p:cNvSpPr txBox="1">
            <a:spLocks noGrp="1"/>
          </p:cNvSpPr>
          <p:nvPr>
            <p:ph type="body" idx="1"/>
          </p:nvPr>
        </p:nvSpPr>
        <p:spPr>
          <a:xfrm>
            <a:off x="660400" y="1447800"/>
            <a:ext cx="866775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48578" name="Google Shape;15;p48"/>
          <p:cNvSpPr txBox="1"/>
          <p:nvPr/>
        </p:nvSpPr>
        <p:spPr>
          <a:xfrm>
            <a:off x="8510587" y="6502400"/>
            <a:ext cx="81756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97152" name="Google Shape;16;p48"/>
          <p:cNvPicPr preferRelativeResize="0">
            <a:picLocks/>
          </p:cNvPicPr>
          <p:nvPr/>
        </p:nvPicPr>
        <p:blipFill rotWithShape="1">
          <a:blip r:embed="rId11">
            <a:alphaModFix/>
          </a:blip>
          <a:srcRect/>
          <a:stretch>
            <a:fillRect/>
          </a:stretch>
        </p:blipFill>
        <p:spPr>
          <a:xfrm>
            <a:off x="57150" y="6446838"/>
            <a:ext cx="1827213" cy="36036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Rectangle 2"/>
          <p:cNvSpPr>
            <a:spLocks noGrp="1" noChangeArrowheads="1"/>
          </p:cNvSpPr>
          <p:nvPr>
            <p:ph type="title"/>
          </p:nvPr>
        </p:nvSpPr>
        <p:spPr>
          <a:xfrm>
            <a:off x="668908" y="1829704"/>
            <a:ext cx="8568183" cy="1728539"/>
          </a:xfrm>
        </p:spPr>
        <p:txBody>
          <a:bodyPr/>
          <a:lstStyle/>
          <a:p>
            <a:pPr algn="ctr" eaLnBrk="1" hangingPunct="1"/>
            <a:r>
              <a:rPr lang="en-US" altLang="zh-TW" sz="3200" b="1" dirty="0">
                <a:solidFill>
                  <a:srgbClr val="0057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Progress Report</a:t>
            </a:r>
          </a:p>
        </p:txBody>
      </p:sp>
      <p:sp>
        <p:nvSpPr>
          <p:cNvPr id="1048582" name="Rectangle 2"/>
          <p:cNvSpPr txBox="1">
            <a:spLocks noChangeArrowheads="1"/>
          </p:cNvSpPr>
          <p:nvPr/>
        </p:nvSpPr>
        <p:spPr bwMode="auto">
          <a:xfrm>
            <a:off x="907104" y="3362630"/>
            <a:ext cx="8568183" cy="17285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9pPr>
          </a:lstStyle>
          <a:p>
            <a:pPr algn="ctr" eaLnBrk="1" hangingPunct="1"/>
            <a:endParaRPr lang="en-US" altLang="zh-TW" kern="0" dirty="0">
              <a:solidFill>
                <a:schemeClr val="tx1"/>
              </a:solidFill>
            </a:endParaRPr>
          </a:p>
        </p:txBody>
      </p:sp>
      <p:sp>
        <p:nvSpPr>
          <p:cNvPr id="1048583" name="Text Box 4"/>
          <p:cNvSpPr txBox="1">
            <a:spLocks noChangeArrowheads="1"/>
          </p:cNvSpPr>
          <p:nvPr/>
        </p:nvSpPr>
        <p:spPr bwMode="auto">
          <a:xfrm>
            <a:off x="1100262" y="4484365"/>
            <a:ext cx="7705476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zh-TW" sz="2000" dirty="0">
                <a:cs typeface="Times New Roman" panose="02020603050405020304" pitchFamily="18" charset="0"/>
              </a:rPr>
              <a:t>Author : </a:t>
            </a:r>
          </a:p>
          <a:p>
            <a:pPr algn="ctr"/>
            <a:r>
              <a:rPr lang="en-US" altLang="zh-TW" sz="2000" dirty="0">
                <a:cs typeface="Times New Roman" panose="02020603050405020304" pitchFamily="18" charset="0"/>
              </a:rPr>
              <a:t>Cheng-Yuan</a:t>
            </a:r>
            <a:r>
              <a:rPr lang="zh-TW" altLang="en-US" sz="2000" dirty="0">
                <a:cs typeface="Times New Roman" panose="02020603050405020304" pitchFamily="18" charset="0"/>
              </a:rPr>
              <a:t>、</a:t>
            </a:r>
            <a:r>
              <a:rPr lang="en-US" altLang="zh-TW" sz="2000" dirty="0">
                <a:cs typeface="Times New Roman" panose="02020603050405020304" pitchFamily="18" charset="0"/>
              </a:rPr>
              <a:t>Sheng-Yao</a:t>
            </a:r>
            <a:r>
              <a:rPr lang="zh-TW" altLang="en-US" sz="2000" dirty="0">
                <a:cs typeface="Times New Roman" panose="02020603050405020304" pitchFamily="18" charset="0"/>
              </a:rPr>
              <a:t>、</a:t>
            </a:r>
            <a:r>
              <a:rPr lang="en-US" altLang="zh-TW" sz="2000" dirty="0">
                <a:cs typeface="Times New Roman" panose="02020603050405020304" pitchFamily="18" charset="0"/>
              </a:rPr>
              <a:t>Che-Chia</a:t>
            </a:r>
          </a:p>
        </p:txBody>
      </p:sp>
      <p:sp>
        <p:nvSpPr>
          <p:cNvPr id="1048584" name="Text Box 4"/>
          <p:cNvSpPr txBox="1">
            <a:spLocks noChangeArrowheads="1"/>
          </p:cNvSpPr>
          <p:nvPr/>
        </p:nvSpPr>
        <p:spPr bwMode="auto">
          <a:xfrm>
            <a:off x="1100262" y="5673486"/>
            <a:ext cx="7705476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zh-TW" b="1" dirty="0">
                <a:solidFill>
                  <a:srgbClr val="0057C0"/>
                </a:solidFill>
              </a:rPr>
              <a:t>Embedded System Software Design</a:t>
            </a:r>
            <a:endParaRPr lang="en-US" altLang="zh-TW" sz="2000" b="1" dirty="0">
              <a:solidFill>
                <a:srgbClr val="0057C0"/>
              </a:solidFill>
              <a:latin typeface="+mn-lt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根據第四期計畫書中內容進行開發，以下分別為階段一目標和當前開發進度及優先序。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150574"/>
              </p:ext>
            </p:extLst>
          </p:nvPr>
        </p:nvGraphicFramePr>
        <p:xfrm>
          <a:off x="570104" y="2311400"/>
          <a:ext cx="4903596" cy="2374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917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572565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1758114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9548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197943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溝通驗證小型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STM32F4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集成電路控制板</a:t>
                      </a:r>
                      <a:endParaRPr lang="zh-TW" alt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 ALC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功能驗證</a:t>
                      </a:r>
                      <a:endParaRPr lang="zh-TW" altLang="zh-TW" sz="1400" b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期中報告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BE2C05B-3128-C4B4-FC74-79C315F3D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3953392"/>
              </p:ext>
            </p:extLst>
          </p:nvPr>
        </p:nvGraphicFramePr>
        <p:xfrm>
          <a:off x="5604934" y="2353858"/>
          <a:ext cx="4022658" cy="2452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45970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溝通驗證小型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STM32F4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集成電路控制板</a:t>
                      </a:r>
                      <a:endParaRPr lang="zh-TW" alt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 ALC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功能驗證</a:t>
                      </a:r>
                      <a:endParaRPr lang="zh-TW" altLang="zh-TW" sz="1400" b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4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期中報告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0" lvl="0" indent="0" algn="ctr">
                        <a:buFont typeface="+mj-lt"/>
                        <a:buNone/>
                      </a:pP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ABD0C2-0327-4104-B1D8-8BFBAFB39656}"/>
              </a:ext>
            </a:extLst>
          </p:cNvPr>
          <p:cNvSpPr/>
          <p:nvPr/>
        </p:nvSpPr>
        <p:spPr>
          <a:xfrm>
            <a:off x="5604934" y="2847301"/>
            <a:ext cx="4022658" cy="19591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474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字版面配置區 6">
            <a:extLst>
              <a:ext uri="{FF2B5EF4-FFF2-40B4-BE49-F238E27FC236}">
                <a16:creationId xmlns:a16="http://schemas.microsoft.com/office/drawing/2014/main" id="{DE6AAB9B-D443-48F5-B6F2-5FD2AE697528}"/>
              </a:ext>
            </a:extLst>
          </p:cNvPr>
          <p:cNvSpPr txBox="1"/>
          <p:nvPr/>
        </p:nvSpPr>
        <p:spPr>
          <a:xfrm>
            <a:off x="496186" y="1143000"/>
            <a:ext cx="9409814" cy="4395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新增功能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Save/Load Script </a:t>
            </a: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Script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新增儲存項目數值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88E3626-8014-4984-841A-999D9B0D3E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8889" y="2223245"/>
            <a:ext cx="6378026" cy="3848436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1EBDB9D9-A8A6-4C36-AB83-E76DED958DA1}"/>
              </a:ext>
            </a:extLst>
          </p:cNvPr>
          <p:cNvSpPr/>
          <p:nvPr/>
        </p:nvSpPr>
        <p:spPr>
          <a:xfrm>
            <a:off x="3265254" y="2436051"/>
            <a:ext cx="723086" cy="8518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C2982AC-1FFD-42B6-BF55-AD9CBC277A0B}"/>
              </a:ext>
            </a:extLst>
          </p:cNvPr>
          <p:cNvSpPr/>
          <p:nvPr/>
        </p:nvSpPr>
        <p:spPr>
          <a:xfrm>
            <a:off x="3988340" y="3340640"/>
            <a:ext cx="440988" cy="8518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2986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字版面配置區 6">
            <a:extLst>
              <a:ext uri="{FF2B5EF4-FFF2-40B4-BE49-F238E27FC236}">
                <a16:creationId xmlns:a16="http://schemas.microsoft.com/office/drawing/2014/main" id="{DE6AAB9B-D443-48F5-B6F2-5FD2AE697528}"/>
              </a:ext>
            </a:extLst>
          </p:cNvPr>
          <p:cNvSpPr txBox="1"/>
          <p:nvPr/>
        </p:nvSpPr>
        <p:spPr>
          <a:xfrm>
            <a:off x="496186" y="1143000"/>
            <a:ext cx="9409814" cy="4395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新增功能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Save/Load Script </a:t>
            </a: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Save/Load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XML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文件新增一個項目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en-US" altLang="zh-TW" sz="14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currentValue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09B6021-2377-4C58-A5ED-E66DC65A4B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507" y="2125588"/>
            <a:ext cx="2851460" cy="4654589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3D5563FE-AE53-441F-B954-51A9228ABD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0873" y="2117482"/>
            <a:ext cx="2675510" cy="4667203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9D2F98D8-84A0-496F-9C54-1CCAB0CE0B9A}"/>
              </a:ext>
            </a:extLst>
          </p:cNvPr>
          <p:cNvSpPr/>
          <p:nvPr/>
        </p:nvSpPr>
        <p:spPr>
          <a:xfrm flipH="1">
            <a:off x="5651769" y="6512763"/>
            <a:ext cx="1676400" cy="1948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EBDB9D9-A8A6-4C36-AB83-E76DED958DA1}"/>
              </a:ext>
            </a:extLst>
          </p:cNvPr>
          <p:cNvSpPr/>
          <p:nvPr/>
        </p:nvSpPr>
        <p:spPr>
          <a:xfrm flipH="1">
            <a:off x="5651769" y="4390416"/>
            <a:ext cx="1624520" cy="1556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1833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字版面配置區 6">
            <a:extLst>
              <a:ext uri="{FF2B5EF4-FFF2-40B4-BE49-F238E27FC236}">
                <a16:creationId xmlns:a16="http://schemas.microsoft.com/office/drawing/2014/main" id="{DE6AAB9B-D443-48F5-B6F2-5FD2AE697528}"/>
              </a:ext>
            </a:extLst>
          </p:cNvPr>
          <p:cNvSpPr txBox="1"/>
          <p:nvPr/>
        </p:nvSpPr>
        <p:spPr>
          <a:xfrm>
            <a:off x="496186" y="1143000"/>
            <a:ext cx="9409814" cy="4395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STM32F11CEU6</a:t>
            </a: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本週目標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規劃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pin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腳、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debug  mode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ALC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PWM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測試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94DC0D9-1EE2-42C6-96CA-AE5DDD2237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8646" y="2649082"/>
            <a:ext cx="7504871" cy="2889199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6C2982AC-1FFD-42B6-BF55-AD9CBC277A0B}"/>
              </a:ext>
            </a:extLst>
          </p:cNvPr>
          <p:cNvSpPr/>
          <p:nvPr/>
        </p:nvSpPr>
        <p:spPr>
          <a:xfrm>
            <a:off x="6763964" y="2751305"/>
            <a:ext cx="2003900" cy="27869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0929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根據第四期計畫書中內容進行開發，以下分別為階段一目標和當前開發進度及優先序。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/>
        </p:nvGraphicFramePr>
        <p:xfrm>
          <a:off x="570104" y="2311400"/>
          <a:ext cx="4903596" cy="2374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917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572565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1758114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9548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197943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溝通驗證小型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STM32F4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集成電路控制板</a:t>
                      </a:r>
                      <a:endParaRPr lang="zh-TW" alt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 ALC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功能驗證</a:t>
                      </a:r>
                      <a:endParaRPr lang="zh-TW" altLang="zh-TW" sz="1400" b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期中報告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BE2C05B-3128-C4B4-FC74-79C315F3D605}"/>
              </a:ext>
            </a:extLst>
          </p:cNvPr>
          <p:cNvGraphicFramePr>
            <a:graphicFrameLocks noGrp="1"/>
          </p:cNvGraphicFramePr>
          <p:nvPr/>
        </p:nvGraphicFramePr>
        <p:xfrm>
          <a:off x="5604934" y="2353858"/>
          <a:ext cx="4022658" cy="2452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45970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溝通驗證小型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STM32F4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集成電路控制板</a:t>
                      </a:r>
                      <a:endParaRPr lang="zh-TW" alt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 ALC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功能驗證</a:t>
                      </a:r>
                      <a:endParaRPr lang="zh-TW" altLang="zh-TW" sz="1400" b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4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期中報告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0" lvl="0" indent="0" algn="ctr">
                        <a:buFont typeface="+mj-lt"/>
                        <a:buNone/>
                      </a:pP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ABD0C2-0327-4104-B1D8-8BFBAFB39656}"/>
              </a:ext>
            </a:extLst>
          </p:cNvPr>
          <p:cNvSpPr/>
          <p:nvPr/>
        </p:nvSpPr>
        <p:spPr>
          <a:xfrm>
            <a:off x="5604934" y="2847301"/>
            <a:ext cx="4022658" cy="19591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215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JS1500 &amp; AI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Perf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根據計畫書中階段一內容進行開發，以下分別為階段一目標和當前開發進度及優先序。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/>
        </p:nvGraphicFramePr>
        <p:xfrm>
          <a:off x="570104" y="2311398"/>
          <a:ext cx="4903596" cy="3899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2796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18045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358189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BSP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Storage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Wi-Fi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與</a:t>
                      </a: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Bluetooth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Ethernet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QSFP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Audio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TPM2.0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Front panel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RTC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Capture card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Membrane Key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375FFB9C-BD2B-41AE-B1FE-7AF521DB6B64}"/>
              </a:ext>
            </a:extLst>
          </p:cNvPr>
          <p:cNvGraphicFramePr>
            <a:graphicFrameLocks noGrp="1"/>
          </p:cNvGraphicFramePr>
          <p:nvPr/>
        </p:nvGraphicFramePr>
        <p:xfrm>
          <a:off x="5564860" y="2314096"/>
          <a:ext cx="4022658" cy="38972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331582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6424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BSP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建立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642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Storage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642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function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747742"/>
                  </a:ext>
                </a:extLst>
              </a:tr>
              <a:tr h="5799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Wi-Fi 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與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Bluetooth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  <a:tr h="51924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Ethernet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138769"/>
                  </a:ext>
                </a:extLst>
              </a:tr>
              <a:tr h="473733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QSFP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5309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48312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JS1500 &amp; AI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Perf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根據計畫書中階段一內容進行開發，以下分別為階段一目標和當前開發進度及優先序。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/>
        </p:nvGraphicFramePr>
        <p:xfrm>
          <a:off x="570104" y="2311398"/>
          <a:ext cx="4903596" cy="3899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2796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18045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358189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BSP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Storage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Wi-Fi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與</a:t>
                      </a: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Bluetooth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Ethernet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QSFP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Audio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TPM2.0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Front panel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RTC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Capture card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Membrane Key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375FFB9C-BD2B-41AE-B1FE-7AF521DB6B64}"/>
              </a:ext>
            </a:extLst>
          </p:cNvPr>
          <p:cNvGraphicFramePr>
            <a:graphicFrameLocks noGrp="1"/>
          </p:cNvGraphicFramePr>
          <p:nvPr/>
        </p:nvGraphicFramePr>
        <p:xfrm>
          <a:off x="5564860" y="2314096"/>
          <a:ext cx="4022658" cy="38972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331582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6424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Audio</a:t>
                      </a:r>
                      <a:endParaRPr lang="zh-TW" altLang="en-US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642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TPM2.0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642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Front panel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747742"/>
                  </a:ext>
                </a:extLst>
              </a:tr>
              <a:tr h="5799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RTC function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  <a:tr h="51924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Capture card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138769"/>
                  </a:ext>
                </a:extLst>
              </a:tr>
              <a:tr h="473733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Membrane Key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5309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12620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15E903C2-D7A2-E707-AA22-A5BFEBFCEF2F}"/>
              </a:ext>
            </a:extLst>
          </p:cNvPr>
          <p:cNvSpPr txBox="1"/>
          <p:nvPr/>
        </p:nvSpPr>
        <p:spPr>
          <a:xfrm>
            <a:off x="297457" y="853327"/>
            <a:ext cx="9311086" cy="5390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基於</a:t>
            </a:r>
            <a:r>
              <a:rPr lang="en-US" altLang="zh-TW" sz="1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eframe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rust overlay</a:t>
            </a: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48602" name="標題 6"/>
          <p:cNvSpPr>
            <a:spLocks noGrp="1"/>
          </p:cNvSpPr>
          <p:nvPr>
            <p:ph type="title"/>
          </p:nvPr>
        </p:nvSpPr>
        <p:spPr>
          <a:xfrm>
            <a:off x="684477" y="719049"/>
            <a:ext cx="7923944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上次進度：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OSD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DB58D29-FB48-41EA-AC63-E656405CDD9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0702" r="37814" b="23872"/>
          <a:stretch/>
        </p:blipFill>
        <p:spPr>
          <a:xfrm>
            <a:off x="914401" y="1587177"/>
            <a:ext cx="7867938" cy="4656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6589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15E903C2-D7A2-E707-AA22-A5BFEBFCEF2F}"/>
              </a:ext>
            </a:extLst>
          </p:cNvPr>
          <p:cNvSpPr txBox="1"/>
          <p:nvPr/>
        </p:nvSpPr>
        <p:spPr>
          <a:xfrm>
            <a:off x="297457" y="853327"/>
            <a:ext cx="9311086" cy="5390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修復了滑鼠無法穿透的錯誤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將按鈕換成背景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+label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組合，使得無法與滑鼠互動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實作了一個提權用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wrapper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，用法如下：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0800" indent="0">
              <a:buNone/>
            </a:pP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目前用於打開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input device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直接接收系統事件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還可在切換觸控時使用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(WIP)</a:t>
            </a:r>
          </a:p>
          <a:p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新增了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config loader</a:t>
            </a:r>
          </a:p>
          <a:p>
            <a:pPr marL="50800" indent="0">
              <a:buNone/>
            </a:pP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zh-TW" altLang="en-US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48602" name="標題 6"/>
          <p:cNvSpPr>
            <a:spLocks noGrp="1"/>
          </p:cNvSpPr>
          <p:nvPr>
            <p:ph type="title"/>
          </p:nvPr>
        </p:nvSpPr>
        <p:spPr>
          <a:xfrm>
            <a:off x="684477" y="719049"/>
            <a:ext cx="7923944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本次進度：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OSD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2052D47F-0FEA-49B9-B206-39BC6D85CA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238" y="2138598"/>
            <a:ext cx="4104762" cy="1000000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EFD6F546-E518-43C9-AC54-70F0EB327D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7121" y="3548362"/>
            <a:ext cx="3923809" cy="11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9579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JS1500 &amp; AI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Perf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根據計畫書中階段一內容進行開發，以下分別為階段一目標和當前開發進度及優先序。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/>
        </p:nvGraphicFramePr>
        <p:xfrm>
          <a:off x="570104" y="2311398"/>
          <a:ext cx="4903596" cy="3899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2796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18045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358189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BSP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Storage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Wi-Fi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與</a:t>
                      </a: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Bluetooth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Ethernet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QSFP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Audio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TPM2.0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Front panel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RTC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Capture card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Membrane Key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375FFB9C-BD2B-41AE-B1FE-7AF521DB6B64}"/>
              </a:ext>
            </a:extLst>
          </p:cNvPr>
          <p:cNvGraphicFramePr>
            <a:graphicFrameLocks noGrp="1"/>
          </p:cNvGraphicFramePr>
          <p:nvPr/>
        </p:nvGraphicFramePr>
        <p:xfrm>
          <a:off x="5564860" y="2314096"/>
          <a:ext cx="4022658" cy="38972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331582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6424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BSP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建立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642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Storage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642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function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747742"/>
                  </a:ext>
                </a:extLst>
              </a:tr>
              <a:tr h="5799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Wi-Fi 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與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Bluetooth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  <a:tr h="51924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Ethernet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138769"/>
                  </a:ext>
                </a:extLst>
              </a:tr>
              <a:tr h="473733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QSFP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5309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82687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JS1500 &amp; AI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Perf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根據計畫書中階段一內容進行開發，以下分別為階段一目標和當前開發進度及優先序。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/>
        </p:nvGraphicFramePr>
        <p:xfrm>
          <a:off x="570104" y="2311398"/>
          <a:ext cx="4903596" cy="3899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2796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18045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358189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BSP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Storage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Wi-Fi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與</a:t>
                      </a: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Bluetooth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Ethernet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QSFP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Audio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TPM2.0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Front panel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RTC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Capture card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Membrane Key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375FFB9C-BD2B-41AE-B1FE-7AF521DB6B64}"/>
              </a:ext>
            </a:extLst>
          </p:cNvPr>
          <p:cNvGraphicFramePr>
            <a:graphicFrameLocks noGrp="1"/>
          </p:cNvGraphicFramePr>
          <p:nvPr/>
        </p:nvGraphicFramePr>
        <p:xfrm>
          <a:off x="5564860" y="2314096"/>
          <a:ext cx="4022658" cy="38972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331582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6424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Audio</a:t>
                      </a:r>
                      <a:endParaRPr lang="zh-TW" altLang="en-US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642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TPM2.0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642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Front panel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747742"/>
                  </a:ext>
                </a:extLst>
              </a:tr>
              <a:tr h="5799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RTC function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  <a:tr h="51924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Capture card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138769"/>
                  </a:ext>
                </a:extLst>
              </a:tr>
              <a:tr h="473733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Membrane Key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5309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06601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4" name="圖片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57746" y="3004771"/>
            <a:ext cx="5556738" cy="84845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097165" name="Picture 2" descr="http://www.secretariat.ntust.edu.tw/ezfiles/20/1020/img/1688/09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64866" y="1628181"/>
            <a:ext cx="6260123" cy="1186962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097166" name="圖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3650" y="4226628"/>
            <a:ext cx="4266522" cy="9305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templat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172653</TotalTime>
  <Words>914</Words>
  <Application>Microsoft Office PowerPoint</Application>
  <PresentationFormat>A4 紙張 (210x297 公釐)</PresentationFormat>
  <Paragraphs>241</Paragraphs>
  <Slides>13</Slides>
  <Notes>13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9" baseType="lpstr">
      <vt:lpstr>Noto Sans Symbols</vt:lpstr>
      <vt:lpstr>標楷體</vt:lpstr>
      <vt:lpstr>Arial</vt:lpstr>
      <vt:lpstr>Calibri</vt:lpstr>
      <vt:lpstr>Times New Roman</vt:lpstr>
      <vt:lpstr>template</vt:lpstr>
      <vt:lpstr>Progress Report</vt:lpstr>
      <vt:lpstr>本次進度: Monitor</vt:lpstr>
      <vt:lpstr>上次進度: Monitor</vt:lpstr>
      <vt:lpstr>上次進度: Monitor</vt:lpstr>
      <vt:lpstr>本次進度: Monitor</vt:lpstr>
      <vt:lpstr>下次進度: Monitor</vt:lpstr>
      <vt:lpstr>上次進度: JS1500 &amp; AI Perf</vt:lpstr>
      <vt:lpstr>上次進度: JS1500 &amp; AI Perf</vt:lpstr>
      <vt:lpstr>上次進度：OSD </vt:lpstr>
      <vt:lpstr>本次進度：OSD </vt:lpstr>
      <vt:lpstr>下次進度: JS1500 &amp; AI Perf</vt:lpstr>
      <vt:lpstr>下次進度: JS1500 &amp; AI Perf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Embedded CMOS Image Sensor System Design and Implementation</dc:title>
  <dc:creator>mblin</dc:creator>
  <cp:lastModifiedBy>LI CHIH HSIANG</cp:lastModifiedBy>
  <cp:revision>2232</cp:revision>
  <dcterms:created xsi:type="dcterms:W3CDTF">2003-02-17T16:04:03Z</dcterms:created>
  <dcterms:modified xsi:type="dcterms:W3CDTF">2026-03-10T06:01:42Z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c323e086d3b141ca89c275423e00507f</vt:lpwstr>
  </property>
</Properties>
</file>