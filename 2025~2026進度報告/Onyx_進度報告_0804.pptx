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8" r:id="rId1"/>
  </p:sldMasterIdLst>
  <p:notesMasterIdLst>
    <p:notesMasterId r:id="rId19"/>
  </p:notesMasterIdLst>
  <p:sldIdLst>
    <p:sldId id="277" r:id="rId2"/>
    <p:sldId id="1936" r:id="rId3"/>
    <p:sldId id="1784" r:id="rId4"/>
    <p:sldId id="1959" r:id="rId5"/>
    <p:sldId id="1960" r:id="rId6"/>
    <p:sldId id="1966" r:id="rId7"/>
    <p:sldId id="1967" r:id="rId8"/>
    <p:sldId id="1970" r:id="rId9"/>
    <p:sldId id="1972" r:id="rId10"/>
    <p:sldId id="1971" r:id="rId11"/>
    <p:sldId id="1973" r:id="rId12"/>
    <p:sldId id="1976" r:id="rId13"/>
    <p:sldId id="1975" r:id="rId14"/>
    <p:sldId id="1951" r:id="rId15"/>
    <p:sldId id="1952" r:id="rId16"/>
    <p:sldId id="286" r:id="rId17"/>
    <p:sldId id="1974" r:id="rId18"/>
  </p:sldIdLst>
  <p:sldSz cx="9906000" cy="6858000" type="A4"/>
  <p:notesSz cx="7315200" cy="96012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521415D9-36F7-43E2-AB2F-B90AF26B5E84}">
      <p14:sectionLst xmlns:p14="http://schemas.microsoft.com/office/powerpoint/2010/main">
        <p14:section name="Head" id="{9114FBB3-8B00-422B-ACC9-030F49096E83}">
          <p14:sldIdLst>
            <p14:sldId id="277"/>
          </p14:sldIdLst>
        </p14:section>
        <p14:section name="Monitor" id="{7925A652-D02A-4F07-B4BA-109FEF573EC6}">
          <p14:sldIdLst>
            <p14:sldId id="1936"/>
            <p14:sldId id="1784"/>
            <p14:sldId id="1959"/>
            <p14:sldId id="1960"/>
            <p14:sldId id="1966"/>
            <p14:sldId id="1967"/>
            <p14:sldId id="1970"/>
            <p14:sldId id="1972"/>
            <p14:sldId id="1971"/>
            <p14:sldId id="1973"/>
            <p14:sldId id="1976"/>
            <p14:sldId id="1975"/>
            <p14:sldId id="1951"/>
            <p14:sldId id="1952"/>
          </p14:sldIdLst>
        </p14:section>
        <p14:section name="JS1500" id="{F71E69A4-C86C-4DAC-B828-42C2D8800267}">
          <p14:sldIdLst/>
        </p14:section>
        <p14:section name="End" id="{33EEDC85-A799-4CB3-BF13-F4955B8630BE}">
          <p14:sldIdLst>
            <p14:sldId id="286"/>
            <p14:sldId id="1974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12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24">
          <p15:clr>
            <a:srgbClr val="A4A3A4"/>
          </p15:clr>
        </p15:guide>
        <p15:guide id="2" pos="2304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10902143" initials="m" lastIdx="1" clrIdx="0"/>
  <p:cmAuthor id="2" name="James Kuo" initials="JK" lastIdx="1" clrIdx="1"/>
  <p:cmAuthor id="3" name="昇鴻 李" initials="昇鴻" lastIdx="1" clrIdx="2">
    <p:extLst>
      <p:ext uri="{19B8F6BF-5375-455C-9EA6-DF929625EA0E}">
        <p15:presenceInfo xmlns:p15="http://schemas.microsoft.com/office/powerpoint/2012/main" userId="72a70edeaa250c2c" providerId="Windows Live"/>
      </p:ext>
    </p:extLst>
  </p:cmAuthor>
  <p:cmAuthor id="4" name="宏德 林" initials="宏林" lastIdx="2" clrIdx="3">
    <p:extLst>
      <p:ext uri="{19B8F6BF-5375-455C-9EA6-DF929625EA0E}">
        <p15:presenceInfo xmlns:p15="http://schemas.microsoft.com/office/powerpoint/2012/main" userId="933d0002216be5bd" providerId="Windows Live"/>
      </p:ext>
    </p:extLst>
  </p:cmAuthor>
  <p:cmAuthor id="5" name="LI CHIH HSIANG" initials="LCH" lastIdx="6" clrIdx="4">
    <p:extLst>
      <p:ext uri="{19B8F6BF-5375-455C-9EA6-DF929625EA0E}">
        <p15:presenceInfo xmlns:p15="http://schemas.microsoft.com/office/powerpoint/2012/main" userId="LI CHIH HSIANG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9900"/>
    <a:srgbClr val="00B050"/>
    <a:srgbClr val="0057C0"/>
    <a:srgbClr val="FFC000"/>
    <a:srgbClr val="FFFFFF"/>
    <a:srgbClr val="000000"/>
    <a:srgbClr val="8958B1"/>
    <a:srgbClr val="C58DEF"/>
    <a:srgbClr val="993366"/>
    <a:srgbClr val="58148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BD433FD4-3D7A-4217-8E80-1680D7E9CC69}" styleName="Table_0">
    <a:wholeTbl>
      <a:tcTxStyle b="off" i="off">
        <a:font>
          <a:latin typeface="Times New Roman"/>
          <a:ea typeface="Times New Roman"/>
          <a:cs typeface="Times New Roman"/>
        </a:font>
        <a:schemeClr val="dk1"/>
      </a:tcTxStyle>
      <a:tcStyle>
        <a:tcBdr>
          <a:lef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rgbClr val="E6E6E6"/>
          </a:solidFill>
        </a:fill>
      </a:tcStyle>
    </a:band1H>
    <a:band2H>
      <a:tcStyle>
        <a:tcBdr/>
      </a:tcStyle>
    </a:band2H>
    <a:band1V>
      <a:tcStyle>
        <a:tcBdr/>
        <a:fill>
          <a:solidFill>
            <a:srgbClr val="E6E6E6"/>
          </a:solidFill>
        </a:fill>
      </a:tcStyle>
    </a:band1V>
    <a:band2V>
      <a:tcStyle>
        <a:tcBdr/>
      </a:tcStyle>
    </a:band2V>
    <a:lastCol>
      <a:tcTxStyle b="on" i="off">
        <a:font>
          <a:latin typeface="Times New Roman"/>
          <a:ea typeface="Times New Roman"/>
          <a:cs typeface="Times New Roman"/>
        </a:font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 i="off">
        <a:font>
          <a:latin typeface="Times New Roman"/>
          <a:ea typeface="Times New Roman"/>
          <a:cs typeface="Times New Roman"/>
        </a:font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 i="off"/>
      <a:tcStyle>
        <a:tcBdr>
          <a:top>
            <a:ln w="508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lt1"/>
          </a:solidFill>
        </a:fill>
      </a:tcStyle>
    </a:lastRow>
    <a:seCell>
      <a:tcTxStyle b="on" i="off">
        <a:font>
          <a:latin typeface="Times New Roman"/>
          <a:ea typeface="Times New Roman"/>
          <a:cs typeface="Times New Roman"/>
        </a:font>
        <a:schemeClr val="dk1"/>
      </a:tcTxStyle>
      <a:tcStyle>
        <a:tcBdr/>
      </a:tcStyle>
    </a:seCell>
    <a:swCell>
      <a:tcTxStyle b="on" i="off">
        <a:font>
          <a:latin typeface="Times New Roman"/>
          <a:ea typeface="Times New Roman"/>
          <a:cs typeface="Times New Roman"/>
        </a:font>
        <a:schemeClr val="dk1"/>
      </a:tcTxStyle>
      <a:tcStyle>
        <a:tcBdr/>
      </a:tcStyle>
    </a:swCell>
    <a:firstRow>
      <a:tcTxStyle b="on" i="off">
        <a:font>
          <a:latin typeface="Times New Roman"/>
          <a:ea typeface="Times New Roman"/>
          <a:cs typeface="Times New Roman"/>
        </a:font>
        <a:schemeClr val="lt1"/>
      </a:tcTxStyle>
      <a:tcStyle>
        <a:tcBdr>
          <a:bottom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2"/>
          </a:solidFill>
        </a:fill>
      </a:tcStyle>
    </a:firstRow>
    <a:neCell>
      <a:tcStyle>
        <a:tcBdr/>
      </a:tcStyle>
    </a:neCell>
    <a:nwCell>
      <a:tcStyle>
        <a:tcBdr/>
      </a:tcStyle>
    </a:nwCell>
  </a:tblStyle>
  <a:tblStyle styleId="{3E919B74-BC6B-4152-9BDB-477648A112FC}" styleName="Table_1">
    <a:wholeTbl>
      <a:tcTxStyle b="off" i="off">
        <a:font>
          <a:latin typeface="Times New Roman"/>
          <a:ea typeface="Times New Roman"/>
          <a:cs typeface="Times New Roman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6F6EF"/>
          </a:solidFill>
        </a:fill>
      </a:tcStyle>
    </a:wholeTbl>
    <a:band1H>
      <a:tcStyle>
        <a:tcBdr/>
        <a:fill>
          <a:solidFill>
            <a:srgbClr val="CAECDD"/>
          </a:solidFill>
        </a:fill>
      </a:tcStyle>
    </a:band1H>
    <a:band2H>
      <a:tcStyle>
        <a:tcBdr/>
      </a:tcStyle>
    </a:band2H>
    <a:band1V>
      <a:tcStyle>
        <a:tcBdr/>
        <a:fill>
          <a:solidFill>
            <a:srgbClr val="CAECDD"/>
          </a:solidFill>
        </a:fill>
      </a:tcStyle>
    </a:band1V>
    <a:band2V>
      <a:tcStyle>
        <a:tcBdr/>
      </a:tcStyle>
    </a:band2V>
    <a:lastCol>
      <a:tcTxStyle b="on" i="off">
        <a:font>
          <a:latin typeface="Times New Roman"/>
          <a:ea typeface="Times New Roman"/>
          <a:cs typeface="Times New Roman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Times New Roman"/>
          <a:ea typeface="Times New Roman"/>
          <a:cs typeface="Times New Roman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Times New Roman"/>
          <a:ea typeface="Times New Roman"/>
          <a:cs typeface="Times New Roman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Style>
        <a:tcBdr/>
      </a:tcStyle>
    </a:seCell>
    <a:swCell>
      <a:tcStyle>
        <a:tcBdr/>
      </a:tcStyle>
    </a:swCell>
    <a:firstRow>
      <a:tcTxStyle b="on" i="off">
        <a:font>
          <a:latin typeface="Times New Roman"/>
          <a:ea typeface="Times New Roman"/>
          <a:cs typeface="Times New Roman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Style>
        <a:tcBdr/>
      </a:tcStyle>
    </a:neCell>
    <a:nwCell>
      <a:tcStyle>
        <a:tcBdr/>
      </a:tcStyle>
    </a:nwCell>
  </a:tblStyle>
  <a:tblStyle styleId="{72833802-FEF1-4C79-8D5D-14CF1EAF98D9}" styleName="淺色樣式 2 - 輔色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69C7853C-536D-4A76-A0AE-DD22124D55A5}" styleName="佈景主題樣式 1 - 輔色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2D5ABB26-0587-4C30-8999-92F81FD0307C}" styleName="無樣式、無格線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775DCB02-9BB8-47FD-8907-85C794F793BA}" styleName="佈景主題樣式 1 - 輔色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284E427A-3D55-4303-BF80-6455036E1DE7}" styleName="佈景主題樣式 1 - 輔色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3C2FFA5D-87B4-456A-9821-1D502468CF0F}" styleName="佈景主題樣式 1 - 輔色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18603FDC-E32A-4AB5-989C-0864C3EAD2B8}" styleName="佈景主題樣式 2 - 輔色 2">
    <a:tblBg>
      <a:fillRef idx="3">
        <a:schemeClr val="accent2"/>
      </a:fillRef>
      <a:effectRef idx="3">
        <a:schemeClr val="accent2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2">
                <a:tint val="50000"/>
              </a:schemeClr>
            </a:lnRef>
          </a:left>
          <a:right>
            <a:lnRef idx="1">
              <a:schemeClr val="accent2">
                <a:tint val="50000"/>
              </a:schemeClr>
            </a:lnRef>
          </a:right>
          <a:top>
            <a:lnRef idx="1">
              <a:schemeClr val="accent2">
                <a:tint val="50000"/>
              </a:schemeClr>
            </a:lnRef>
          </a:top>
          <a:bottom>
            <a:lnRef idx="1">
              <a:schemeClr val="accent2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0E3FDE45-AF77-4B5C-9715-49D594BDF05E}" styleName="淺色樣式 1 - 輔色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0A1B5D5-9B99-4C35-A422-299274C87663}" styleName="中等深淺樣式 1 - 輔色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21E4AEA4-8DFA-4A89-87EB-49C32662AFE0}" styleName="中等深淺樣式 2 - 輔色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0A15C55-8517-42AA-B614-E9B94910E393}" styleName="中等深淺樣式 2 - 輔色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F5AB1C69-6EDB-4FF4-983F-18BD219EF322}" styleName="中等深淺樣式 2 - 輔色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0545" autoAdjust="0"/>
  </p:normalViewPr>
  <p:slideViewPr>
    <p:cSldViewPr snapToGrid="0">
      <p:cViewPr varScale="1">
        <p:scale>
          <a:sx n="100" d="100"/>
          <a:sy n="100" d="100"/>
        </p:scale>
        <p:origin x="1710" y="84"/>
      </p:cViewPr>
      <p:guideLst>
        <p:guide orient="horz" pos="2160"/>
        <p:guide pos="312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50" d="100"/>
        <a:sy n="150" d="100"/>
      </p:scale>
      <p:origin x="0" y="0"/>
    </p:cViewPr>
  </p:notesTextViewPr>
  <p:notesViewPr>
    <p:cSldViewPr snapToGrid="0">
      <p:cViewPr varScale="1">
        <p:scale>
          <a:sx n="100" d="100"/>
          <a:sy n="100" d="100"/>
        </p:scale>
        <p:origin x="0" y="0"/>
      </p:cViewPr>
      <p:guideLst>
        <p:guide orient="horz" pos="3024"/>
        <p:guide pos="2304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commentAuthors" Target="commentAuthor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9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176588" cy="466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2350" tIns="51175" rIns="102350" bIns="51175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 dirty="0"/>
          </a:p>
        </p:txBody>
      </p:sp>
      <p:sp>
        <p:nvSpPr>
          <p:cNvPr id="1048660" name="Google Shape;4;n"/>
          <p:cNvSpPr txBox="1">
            <a:spLocks noGrp="1"/>
          </p:cNvSpPr>
          <p:nvPr>
            <p:ph type="dt" idx="10"/>
          </p:nvPr>
        </p:nvSpPr>
        <p:spPr>
          <a:xfrm>
            <a:off x="4138613" y="0"/>
            <a:ext cx="3176587" cy="466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2350" tIns="51175" rIns="102350" bIns="51175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 dirty="0"/>
          </a:p>
        </p:txBody>
      </p:sp>
      <p:sp>
        <p:nvSpPr>
          <p:cNvPr id="1048661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1062038" y="735013"/>
            <a:ext cx="5197475" cy="359886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1048662" name="Google Shape;6;n"/>
          <p:cNvSpPr txBox="1">
            <a:spLocks noGrp="1"/>
          </p:cNvSpPr>
          <p:nvPr>
            <p:ph type="body" idx="1"/>
          </p:nvPr>
        </p:nvSpPr>
        <p:spPr>
          <a:xfrm>
            <a:off x="962025" y="4567238"/>
            <a:ext cx="5391150" cy="43005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2350" tIns="51175" rIns="102350" bIns="51175" anchor="t" anchorCtr="0">
            <a:noAutofit/>
          </a:bodyPr>
          <a:lstStyle>
            <a:lvl1pPr marL="457200" marR="0" lvl="0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48663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9134475"/>
            <a:ext cx="3176588" cy="466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2350" tIns="51175" rIns="102350" bIns="51175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 dirty="0"/>
          </a:p>
        </p:txBody>
      </p:sp>
      <p:sp>
        <p:nvSpPr>
          <p:cNvPr id="1048664" name="Google Shape;8;n"/>
          <p:cNvSpPr txBox="1">
            <a:spLocks noGrp="1"/>
          </p:cNvSpPr>
          <p:nvPr>
            <p:ph type="sldNum" idx="12"/>
          </p:nvPr>
        </p:nvSpPr>
        <p:spPr>
          <a:xfrm>
            <a:off x="4138613" y="9134475"/>
            <a:ext cx="3176587" cy="466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2350" tIns="51175" rIns="102350" bIns="51175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20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5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1048586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1048587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753A29-9D77-4C26-8BEC-432FE5D4B0A4}" type="slidenum">
              <a:rPr lang="en-US" altLang="zh-TW" smtClean="0"/>
              <a:t>1</a:t>
            </a:fld>
            <a:endParaRPr lang="en-US" altLang="zh-TW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FB8052-553F-DC52-5D97-20BD22157A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F8DA0D87-C7FA-7F54-314E-D4295614EED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39204A75-DF32-18E0-4B4A-BB411D3A904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A90C941E-3884-1379-C460-BF93668359D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000" b="0" i="0" u="none" strike="noStrike" cap="none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fld>
            <a:endParaRPr lang="en-US" sz="20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6929639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FB8052-553F-DC52-5D97-20BD22157A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F8DA0D87-C7FA-7F54-314E-D4295614EED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39204A75-DF32-18E0-4B4A-BB411D3A904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A90C941E-3884-1379-C460-BF93668359D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000" b="0" i="0" u="none" strike="noStrike" cap="none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fld>
            <a:endParaRPr lang="en-US" sz="20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77101302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E110AC-F4A0-7D78-93B0-AF6E23C1C8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AD5172F1-B577-25A9-AA74-C6AF6766164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E9BD86B3-8EAB-902A-DCF6-698ADFDE9E8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69A9F744-724B-AE5D-EE31-BDB2E094083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000" b="0" i="0" u="none" strike="noStrike" cap="none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fld>
            <a:endParaRPr lang="en-US" sz="20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18397777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E110AC-F4A0-7D78-93B0-AF6E23C1C8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AD5172F1-B577-25A9-AA74-C6AF6766164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E9BD86B3-8EAB-902A-DCF6-698ADFDE9E8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69A9F744-724B-AE5D-EE31-BDB2E094083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000" b="0" i="0" u="none" strike="noStrike" cap="none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fld>
            <a:endParaRPr lang="en-US" sz="20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1222196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E110AC-F4A0-7D78-93B0-AF6E23C1C8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AD5172F1-B577-25A9-AA74-C6AF6766164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E9BD86B3-8EAB-902A-DCF6-698ADFDE9E8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69A9F744-724B-AE5D-EE31-BDB2E094083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000" b="0" i="0" u="none" strike="noStrike" cap="none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6</a:t>
            </a:fld>
            <a:endParaRPr lang="en-US" sz="20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57686807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E110AC-F4A0-7D78-93B0-AF6E23C1C8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AD5172F1-B577-25A9-AA74-C6AF6766164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E9BD86B3-8EAB-902A-DCF6-698ADFDE9E8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69A9F744-724B-AE5D-EE31-BDB2E094083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000" b="0" i="0" u="none" strike="noStrike" cap="none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7</a:t>
            </a:fld>
            <a:endParaRPr lang="en-US" sz="20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24255326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E110AC-F4A0-7D78-93B0-AF6E23C1C8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AD5172F1-B577-25A9-AA74-C6AF6766164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E9BD86B3-8EAB-902A-DCF6-698ADFDE9E8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69A9F744-724B-AE5D-EE31-BDB2E094083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000" b="0" i="0" u="none" strike="noStrike" cap="none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8</a:t>
            </a:fld>
            <a:endParaRPr lang="en-US" sz="20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72889696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E110AC-F4A0-7D78-93B0-AF6E23C1C8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AD5172F1-B577-25A9-AA74-C6AF6766164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E9BD86B3-8EAB-902A-DCF6-698ADFDE9E8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/>
              <a:t>Gamma</a:t>
            </a:r>
            <a:r>
              <a:rPr lang="zh-TW" altLang="en-US" dirty="0"/>
              <a:t>計算使用亮度；</a:t>
            </a:r>
            <a:r>
              <a:rPr lang="en-US" altLang="zh-TW" dirty="0"/>
              <a:t>DICOM</a:t>
            </a:r>
            <a:r>
              <a:rPr lang="zh-TW" altLang="en-US" dirty="0"/>
              <a:t>與</a:t>
            </a:r>
            <a:r>
              <a:rPr lang="en-US" altLang="zh-TW" dirty="0"/>
              <a:t>EEPROM</a:t>
            </a:r>
            <a:r>
              <a:rPr lang="zh-TW" altLang="en-US" dirty="0"/>
              <a:t>資料則使用絕對亮度。</a:t>
            </a:r>
            <a:endParaRPr lang="en-US" altLang="zh-TW" dirty="0"/>
          </a:p>
          <a:p>
            <a:r>
              <a:rPr lang="zh-TW" altLang="en-US" dirty="0"/>
              <a:t>修正後，</a:t>
            </a:r>
            <a:r>
              <a:rPr lang="en-US" altLang="zh-TW" dirty="0"/>
              <a:t>MCU</a:t>
            </a:r>
            <a:r>
              <a:rPr lang="zh-TW" altLang="en-US" dirty="0"/>
              <a:t>可取得正確的 </a:t>
            </a:r>
            <a:r>
              <a:rPr lang="en-US" altLang="zh-TW" dirty="0" err="1"/>
              <a:t>Lmin</a:t>
            </a:r>
            <a:r>
              <a:rPr lang="en-US" altLang="zh-TW" dirty="0"/>
              <a:t>​ </a:t>
            </a:r>
            <a:r>
              <a:rPr lang="zh-TW" altLang="en-US" dirty="0"/>
              <a:t>與 </a:t>
            </a:r>
            <a:r>
              <a:rPr lang="en-US" altLang="zh-TW" dirty="0" err="1"/>
              <a:t>Lmax</a:t>
            </a:r>
            <a:r>
              <a:rPr lang="en-US" altLang="zh-TW" dirty="0"/>
              <a:t>​</a:t>
            </a:r>
            <a:r>
              <a:rPr lang="zh-TW" altLang="en-US" dirty="0"/>
              <a:t>，並建立正確的</a:t>
            </a:r>
            <a:r>
              <a:rPr lang="en-US" altLang="zh-TW" dirty="0"/>
              <a:t>DICOM JND</a:t>
            </a:r>
            <a:r>
              <a:rPr lang="zh-TW" altLang="en-US" dirty="0"/>
              <a:t>範圍。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69A9F744-724B-AE5D-EE31-BDB2E094083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000" b="0" i="0" u="none" strike="noStrike" cap="none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9</a:t>
            </a:fld>
            <a:endParaRPr lang="en-US" sz="20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88949234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E110AC-F4A0-7D78-93B0-AF6E23C1C8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AD5172F1-B577-25A9-AA74-C6AF6766164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E9BD86B3-8EAB-902A-DCF6-698ADFDE9E8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69A9F744-724B-AE5D-EE31-BDB2E094083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000" b="0" i="0" u="none" strike="noStrike" cap="none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10</a:t>
            </a:fld>
            <a:endParaRPr lang="en-US" sz="20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8569442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E110AC-F4A0-7D78-93B0-AF6E23C1C8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AD5172F1-B577-25A9-AA74-C6AF6766164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E9BD86B3-8EAB-902A-DCF6-698ADFDE9E8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69A9F744-724B-AE5D-EE31-BDB2E094083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000" b="0" i="0" u="none" strike="noStrike" cap="none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11</a:t>
            </a:fld>
            <a:endParaRPr lang="en-US" sz="20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60227171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E110AC-F4A0-7D78-93B0-AF6E23C1C8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AD5172F1-B577-25A9-AA74-C6AF6766164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E9BD86B3-8EAB-902A-DCF6-698ADFDE9E8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69A9F744-724B-AE5D-EE31-BDB2E094083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000" b="0" i="0" u="none" strike="noStrike" cap="none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12</a:t>
            </a:fld>
            <a:endParaRPr lang="en-US" sz="20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88481548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E110AC-F4A0-7D78-93B0-AF6E23C1C8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AD5172F1-B577-25A9-AA74-C6AF6766164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E9BD86B3-8EAB-902A-DCF6-698ADFDE9E8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69A9F744-724B-AE5D-EE31-BDB2E094083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000" b="0" i="0" u="none" strike="noStrike" cap="none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13</a:t>
            </a:fld>
            <a:endParaRPr lang="en-US" sz="20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46841597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FB8052-553F-DC52-5D97-20BD22157A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F8DA0D87-C7FA-7F54-314E-D4295614EED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39204A75-DF32-18E0-4B4A-BB411D3A904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A90C941E-3884-1379-C460-BF93668359D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000" b="0" i="0" u="none" strike="noStrike" cap="none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14</a:t>
            </a:fld>
            <a:endParaRPr lang="en-US" sz="20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6254962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FB8052-553F-DC52-5D97-20BD22157A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F8DA0D87-C7FA-7F54-314E-D4295614EED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39204A75-DF32-18E0-4B4A-BB411D3A904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A90C941E-3884-1379-C460-BF93668359D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000" b="0" i="0" u="none" strike="noStrike" cap="none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15</a:t>
            </a:fld>
            <a:endParaRPr lang="en-US" sz="20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54518030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1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1048642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0">
              <a:buNone/>
            </a:pPr>
            <a:endParaRPr lang="en-US" altLang="zh-TW" dirty="0"/>
          </a:p>
        </p:txBody>
      </p:sp>
      <p:sp>
        <p:nvSpPr>
          <p:cNvPr id="1048643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753A29-9D77-4C26-8BEC-432FE5D4B0A4}" type="slidenum">
              <a:rPr lang="en-US" altLang="zh-TW" smtClean="0"/>
              <a:t>16</a:t>
            </a:fld>
            <a:endParaRPr lang="en-US" altLang="zh-TW" dirty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E110AC-F4A0-7D78-93B0-AF6E23C1C8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AD5172F1-B577-25A9-AA74-C6AF6766164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E9BD86B3-8EAB-902A-DCF6-698ADFDE9E8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69A9F744-724B-AE5D-EE31-BDB2E094083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000" b="0" i="0" u="none" strike="noStrike" cap="none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17</a:t>
            </a:fld>
            <a:endParaRPr lang="en-US" sz="20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70190151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標題投影片" type="title">
  <p:cSld name="TITLE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6" name="Google Shape;21;p50"/>
          <p:cNvSpPr txBox="1">
            <a:spLocks noGrp="1"/>
          </p:cNvSpPr>
          <p:nvPr>
            <p:ph type="ctrTitle"/>
          </p:nvPr>
        </p:nvSpPr>
        <p:spPr>
          <a:xfrm>
            <a:off x="1238250" y="1122363"/>
            <a:ext cx="74295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4875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637" name="Google Shape;22;p50"/>
          <p:cNvSpPr txBox="1"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spcBef>
                <a:spcPts val="390"/>
              </a:spcBef>
              <a:spcAft>
                <a:spcPts val="0"/>
              </a:spcAft>
              <a:buSzPts val="1950"/>
              <a:buNone/>
              <a:defRPr sz="1950"/>
            </a:lvl1pPr>
            <a:lvl2pPr lvl="1" algn="ctr">
              <a:spcBef>
                <a:spcPts val="325"/>
              </a:spcBef>
              <a:spcAft>
                <a:spcPts val="0"/>
              </a:spcAft>
              <a:buSzPts val="1625"/>
              <a:buNone/>
              <a:defRPr sz="1625"/>
            </a:lvl2pPr>
            <a:lvl3pPr lvl="2" algn="ctr">
              <a:spcBef>
                <a:spcPts val="293"/>
              </a:spcBef>
              <a:spcAft>
                <a:spcPts val="0"/>
              </a:spcAft>
              <a:buSzPts val="1463"/>
              <a:buFont typeface="Times New Roman"/>
              <a:buNone/>
              <a:defRPr sz="1463"/>
            </a:lvl3pPr>
            <a:lvl4pPr lvl="3" algn="ctr">
              <a:spcBef>
                <a:spcPts val="260"/>
              </a:spcBef>
              <a:spcAft>
                <a:spcPts val="0"/>
              </a:spcAft>
              <a:buSzPts val="1300"/>
              <a:buFont typeface="Times New Roman"/>
              <a:buNone/>
              <a:defRPr sz="1300"/>
            </a:lvl4pPr>
            <a:lvl5pPr lvl="4" algn="ctr">
              <a:spcBef>
                <a:spcPts val="260"/>
              </a:spcBef>
              <a:spcAft>
                <a:spcPts val="0"/>
              </a:spcAft>
              <a:buSzPts val="1300"/>
              <a:buFont typeface="Times New Roman"/>
              <a:buNone/>
              <a:defRPr sz="1300"/>
            </a:lvl5pPr>
            <a:lvl6pPr lvl="5" algn="ctr">
              <a:spcBef>
                <a:spcPts val="260"/>
              </a:spcBef>
              <a:spcAft>
                <a:spcPts val="0"/>
              </a:spcAft>
              <a:buSzPts val="1300"/>
              <a:buFont typeface="Times New Roman"/>
              <a:buNone/>
              <a:defRPr sz="1300"/>
            </a:lvl6pPr>
            <a:lvl7pPr lvl="6" algn="ctr">
              <a:spcBef>
                <a:spcPts val="260"/>
              </a:spcBef>
              <a:spcAft>
                <a:spcPts val="0"/>
              </a:spcAft>
              <a:buSzPts val="1300"/>
              <a:buFont typeface="Times New Roman"/>
              <a:buNone/>
              <a:defRPr sz="1300"/>
            </a:lvl7pPr>
            <a:lvl8pPr lvl="7" algn="ctr">
              <a:spcBef>
                <a:spcPts val="260"/>
              </a:spcBef>
              <a:spcAft>
                <a:spcPts val="0"/>
              </a:spcAft>
              <a:buSzPts val="1300"/>
              <a:buFont typeface="Times New Roman"/>
              <a:buNone/>
              <a:defRPr sz="1300"/>
            </a:lvl8pPr>
            <a:lvl9pPr lvl="8" algn="ctr">
              <a:spcBef>
                <a:spcPts val="260"/>
              </a:spcBef>
              <a:spcAft>
                <a:spcPts val="0"/>
              </a:spcAft>
              <a:buSzPts val="1300"/>
              <a:buFont typeface="Times New Roman"/>
              <a:buNone/>
              <a:defRPr sz="1300"/>
            </a:lvl9pPr>
          </a:lstStyle>
          <a:p>
            <a:endParaRPr/>
          </a:p>
        </p:txBody>
      </p:sp>
      <p:sp>
        <p:nvSpPr>
          <p:cNvPr id="1048638" name="Google Shape;23;p50"/>
          <p:cNvSpPr txBox="1">
            <a:spLocks noGrp="1"/>
          </p:cNvSpPr>
          <p:nvPr>
            <p:ph type="dt" idx="10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 dirty="0"/>
          </a:p>
        </p:txBody>
      </p:sp>
      <p:sp>
        <p:nvSpPr>
          <p:cNvPr id="1048639" name="Google Shape;24;p50"/>
          <p:cNvSpPr txBox="1">
            <a:spLocks noGrp="1"/>
          </p:cNvSpPr>
          <p:nvPr>
            <p:ph type="ftr" idx="1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 dirty="0"/>
          </a:p>
        </p:txBody>
      </p:sp>
      <p:sp>
        <p:nvSpPr>
          <p:cNvPr id="1048640" name="Google Shape;25;p50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lvl="1" indent="0" algn="l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marR="0" lvl="2" indent="0" algn="l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marR="0" lvl="3" indent="0" algn="l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marR="0" lvl="4" indent="0" algn="l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marR="0" lvl="5" indent="0" algn="l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marR="0" lvl="6" indent="0" algn="l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marR="0" lvl="7" indent="0" algn="l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marR="0" lvl="8" indent="0" algn="l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6" name="Google Shape;37;p5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647" name="Google Shape;38;p54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SzPts val="1800"/>
              <a:buFont typeface="Times New Roman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None/>
              <a:defRPr sz="1600" b="1"/>
            </a:lvl9pPr>
          </a:lstStyle>
          <a:p>
            <a:endParaRPr/>
          </a:p>
        </p:txBody>
      </p:sp>
      <p:sp>
        <p:nvSpPr>
          <p:cNvPr id="1048648" name="Google Shape;39;p54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SzPts val="2400"/>
              <a:buChar char="❖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SzPts val="2000"/>
              <a:buChar char="▪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SzPts val="1800"/>
              <a:buFont typeface="Times New Roman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Char char="o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Char char="o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Char char="o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Char char="o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Char char="o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Char char="o"/>
              <a:defRPr sz="1600"/>
            </a:lvl9pPr>
          </a:lstStyle>
          <a:p>
            <a:endParaRPr/>
          </a:p>
        </p:txBody>
      </p:sp>
      <p:sp>
        <p:nvSpPr>
          <p:cNvPr id="1048649" name="Google Shape;40;p54"/>
          <p:cNvSpPr txBox="1">
            <a:spLocks noGrp="1"/>
          </p:cNvSpPr>
          <p:nvPr>
            <p:ph type="body" idx="3"/>
          </p:nvPr>
        </p:nvSpPr>
        <p:spPr>
          <a:xfrm>
            <a:off x="4645027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SzPts val="1800"/>
              <a:buFont typeface="Times New Roman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None/>
              <a:defRPr sz="1600" b="1"/>
            </a:lvl9pPr>
          </a:lstStyle>
          <a:p>
            <a:endParaRPr/>
          </a:p>
        </p:txBody>
      </p:sp>
      <p:sp>
        <p:nvSpPr>
          <p:cNvPr id="1048650" name="Google Shape;41;p54"/>
          <p:cNvSpPr txBox="1">
            <a:spLocks noGrp="1"/>
          </p:cNvSpPr>
          <p:nvPr>
            <p:ph type="body" idx="4"/>
          </p:nvPr>
        </p:nvSpPr>
        <p:spPr>
          <a:xfrm>
            <a:off x="4645027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SzPts val="2400"/>
              <a:buChar char="❖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SzPts val="2000"/>
              <a:buChar char="▪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SzPts val="1800"/>
              <a:buFont typeface="Times New Roman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Char char="o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Char char="o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Char char="o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Char char="o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Char char="o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Char char="o"/>
              <a:defRPr sz="16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3" name="Google Shape;43;p55"/>
          <p:cNvSpPr txBox="1">
            <a:spLocks noGrp="1"/>
          </p:cNvSpPr>
          <p:nvPr>
            <p:ph type="title"/>
          </p:nvPr>
        </p:nvSpPr>
        <p:spPr>
          <a:xfrm>
            <a:off x="660400" y="609600"/>
            <a:ext cx="87503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4" name="Google Shape;50;p58"/>
          <p:cNvSpPr txBox="1">
            <a:spLocks noGrp="1"/>
          </p:cNvSpPr>
          <p:nvPr>
            <p:ph type="title"/>
          </p:nvPr>
        </p:nvSpPr>
        <p:spPr>
          <a:xfrm>
            <a:off x="1792290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655" name="Google Shape;51;p58"/>
          <p:cNvSpPr>
            <a:spLocks noGrp="1"/>
          </p:cNvSpPr>
          <p:nvPr>
            <p:ph type="pic" idx="2"/>
          </p:nvPr>
        </p:nvSpPr>
        <p:spPr>
          <a:xfrm>
            <a:off x="1792290" y="612775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640"/>
              </a:spcBef>
              <a:spcAft>
                <a:spcPts val="0"/>
              </a:spcAft>
              <a:buClr>
                <a:schemeClr val="accent2"/>
              </a:buClr>
              <a:buSzPts val="3200"/>
              <a:buFont typeface="Noto Sans Symbols"/>
              <a:buNone/>
              <a:defRPr sz="3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560"/>
              </a:spcBef>
              <a:spcAft>
                <a:spcPts val="0"/>
              </a:spcAft>
              <a:buClr>
                <a:srgbClr val="FF5050"/>
              </a:buClr>
              <a:buSzPts val="2800"/>
              <a:buFont typeface="Noto Sans Symbols"/>
              <a:buNone/>
              <a:defRPr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spcBef>
                <a:spcPts val="480"/>
              </a:spcBef>
              <a:spcAft>
                <a:spcPts val="0"/>
              </a:spcAft>
              <a:buClr>
                <a:srgbClr val="6699FF"/>
              </a:buClr>
              <a:buSzPts val="2400"/>
              <a:buFont typeface="Times New Roman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None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None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None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None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None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None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 dirty="0"/>
          </a:p>
        </p:txBody>
      </p:sp>
      <p:sp>
        <p:nvSpPr>
          <p:cNvPr id="1048656" name="Google Shape;52;p58"/>
          <p:cNvSpPr txBox="1">
            <a:spLocks noGrp="1"/>
          </p:cNvSpPr>
          <p:nvPr>
            <p:ph type="body" idx="1"/>
          </p:nvPr>
        </p:nvSpPr>
        <p:spPr>
          <a:xfrm>
            <a:off x="1792290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SzPts val="1000"/>
              <a:buFont typeface="Times New Roman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SzPts val="900"/>
              <a:buFont typeface="Times New Roman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SzPts val="900"/>
              <a:buFont typeface="Times New Roman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SzPts val="900"/>
              <a:buFont typeface="Times New Roman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SzPts val="900"/>
              <a:buFont typeface="Times New Roman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SzPts val="900"/>
              <a:buFont typeface="Times New Roman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SzPts val="900"/>
              <a:buFont typeface="Times New Roman"/>
              <a:buNone/>
              <a:defRPr sz="9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4" name="Google Shape;54;p59"/>
          <p:cNvSpPr txBox="1">
            <a:spLocks noGrp="1"/>
          </p:cNvSpPr>
          <p:nvPr>
            <p:ph type="title"/>
          </p:nvPr>
        </p:nvSpPr>
        <p:spPr>
          <a:xfrm>
            <a:off x="660400" y="609600"/>
            <a:ext cx="87503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645" name="Google Shape;55;p59"/>
          <p:cNvSpPr txBox="1">
            <a:spLocks noGrp="1"/>
          </p:cNvSpPr>
          <p:nvPr>
            <p:ph type="body" idx="1"/>
          </p:nvPr>
        </p:nvSpPr>
        <p:spPr>
          <a:xfrm rot="5400000">
            <a:off x="2593975" y="-485775"/>
            <a:ext cx="4800600" cy="8667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SzPts val="1800"/>
              <a:buChar char="❖"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SzPts val="1800"/>
              <a:buChar char="▪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SzPts val="1800"/>
              <a:buChar char="o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SzPts val="1800"/>
              <a:buChar char="o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SzPts val="1800"/>
              <a:buChar char="o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SzPts val="1800"/>
              <a:buChar char="o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SzPts val="1800"/>
              <a:buChar char="o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SzPts val="1800"/>
              <a:buChar char="o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7" name="Google Shape;57;p60"/>
          <p:cNvSpPr txBox="1">
            <a:spLocks noGrp="1"/>
          </p:cNvSpPr>
          <p:nvPr>
            <p:ph type="title"/>
          </p:nvPr>
        </p:nvSpPr>
        <p:spPr>
          <a:xfrm rot="5400000">
            <a:off x="4857751" y="2419350"/>
            <a:ext cx="5638800" cy="201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658" name="Google Shape;58;p60"/>
          <p:cNvSpPr txBox="1">
            <a:spLocks noGrp="1"/>
          </p:cNvSpPr>
          <p:nvPr>
            <p:ph type="body" idx="1"/>
          </p:nvPr>
        </p:nvSpPr>
        <p:spPr>
          <a:xfrm rot="5400000">
            <a:off x="742951" y="476250"/>
            <a:ext cx="5638800" cy="590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SzPts val="1800"/>
              <a:buChar char="❖"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SzPts val="1800"/>
              <a:buChar char="▪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SzPts val="1800"/>
              <a:buChar char="o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SzPts val="1800"/>
              <a:buChar char="o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SzPts val="1800"/>
              <a:buChar char="o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SzPts val="1800"/>
              <a:buChar char="o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SzPts val="1800"/>
              <a:buChar char="o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SzPts val="1800"/>
              <a:buChar char="o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chart">
  <p:cSld name="1_Title and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79" name="Title 1"/>
          <p:cNvSpPr>
            <a:spLocks noGrp="1"/>
          </p:cNvSpPr>
          <p:nvPr>
            <p:ph type="title"/>
          </p:nvPr>
        </p:nvSpPr>
        <p:spPr>
          <a:xfrm>
            <a:off x="609602" y="609600"/>
            <a:ext cx="8077200" cy="533400"/>
          </a:xfrm>
        </p:spPr>
        <p:txBody>
          <a:bodyPr/>
          <a:lstStyle/>
          <a:p>
            <a:r>
              <a:rPr lang="en-US" altLang="zh-TW" dirty="0"/>
              <a:t>Click to edit Master title style</a:t>
            </a:r>
            <a:endParaRPr lang="en-US" dirty="0"/>
          </a:p>
        </p:txBody>
      </p:sp>
      <p:sp>
        <p:nvSpPr>
          <p:cNvPr id="1048580" name="Chart Placeholder 2"/>
          <p:cNvSpPr>
            <a:spLocks noGrp="1"/>
          </p:cNvSpPr>
          <p:nvPr>
            <p:ph type="chart" idx="1"/>
          </p:nvPr>
        </p:nvSpPr>
        <p:spPr>
          <a:xfrm>
            <a:off x="609600" y="1447800"/>
            <a:ext cx="8001000" cy="4800600"/>
          </a:xfrm>
        </p:spPr>
        <p:txBody>
          <a:bodyPr/>
          <a:lstStyle/>
          <a:p>
            <a:pPr lvl="0"/>
            <a:endParaRPr lang="en-US" noProof="0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1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en-US"/>
          </a:p>
        </p:txBody>
      </p:sp>
      <p:sp>
        <p:nvSpPr>
          <p:cNvPr id="1048652" name="Title 1"/>
          <p:cNvSpPr>
            <a:spLocks noGrp="1"/>
          </p:cNvSpPr>
          <p:nvPr>
            <p:ph type="title"/>
          </p:nvPr>
        </p:nvSpPr>
        <p:spPr>
          <a:xfrm>
            <a:off x="660400" y="609600"/>
            <a:ext cx="8750300" cy="533400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 altLang="zh-TW" dirty="0"/>
              <a:t>Title of the Slide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jpe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76" name="Google Shape;10;p48"/>
          <p:cNvSpPr txBox="1">
            <a:spLocks noGrp="1"/>
          </p:cNvSpPr>
          <p:nvPr>
            <p:ph type="title"/>
          </p:nvPr>
        </p:nvSpPr>
        <p:spPr>
          <a:xfrm>
            <a:off x="660400" y="609600"/>
            <a:ext cx="87503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0" i="0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0" i="0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0" i="0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0" i="0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cxnSp>
        <p:nvCxnSpPr>
          <p:cNvPr id="3145728" name="Google Shape;11;p48"/>
          <p:cNvCxnSpPr>
            <a:cxnSpLocks/>
          </p:cNvCxnSpPr>
          <p:nvPr/>
        </p:nvCxnSpPr>
        <p:spPr>
          <a:xfrm>
            <a:off x="412750" y="533400"/>
            <a:ext cx="899795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145729" name="Google Shape;12;p48"/>
          <p:cNvCxnSpPr>
            <a:cxnSpLocks/>
          </p:cNvCxnSpPr>
          <p:nvPr/>
        </p:nvCxnSpPr>
        <p:spPr>
          <a:xfrm>
            <a:off x="577850" y="228600"/>
            <a:ext cx="0" cy="9906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145730" name="Google Shape;13;p48"/>
          <p:cNvCxnSpPr>
            <a:cxnSpLocks/>
          </p:cNvCxnSpPr>
          <p:nvPr/>
        </p:nvCxnSpPr>
        <p:spPr>
          <a:xfrm>
            <a:off x="495300" y="6400800"/>
            <a:ext cx="89154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048577" name="Google Shape;14;p48"/>
          <p:cNvSpPr txBox="1">
            <a:spLocks noGrp="1"/>
          </p:cNvSpPr>
          <p:nvPr>
            <p:ph type="body" idx="1"/>
          </p:nvPr>
        </p:nvSpPr>
        <p:spPr>
          <a:xfrm>
            <a:off x="660400" y="1447800"/>
            <a:ext cx="8667750" cy="48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Noto Sans Symbols"/>
              <a:buChar char="❖"/>
              <a:defRPr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381000" algn="l" rtl="0">
              <a:spcBef>
                <a:spcPts val="480"/>
              </a:spcBef>
              <a:spcAft>
                <a:spcPts val="0"/>
              </a:spcAft>
              <a:buClr>
                <a:srgbClr val="FF5050"/>
              </a:buClr>
              <a:buSzPts val="2400"/>
              <a:buFont typeface="Noto Sans Symbols"/>
              <a:buChar char="▪"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355600" algn="l" rtl="0">
              <a:spcBef>
                <a:spcPts val="400"/>
              </a:spcBef>
              <a:spcAft>
                <a:spcPts val="0"/>
              </a:spcAft>
              <a:buClr>
                <a:srgbClr val="6699FF"/>
              </a:buClr>
              <a:buSzPts val="2000"/>
              <a:buFont typeface="Times New Roman"/>
              <a:buChar char="•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1048578" name="Google Shape;15;p48"/>
          <p:cNvSpPr txBox="1"/>
          <p:nvPr/>
        </p:nvSpPr>
        <p:spPr>
          <a:xfrm>
            <a:off x="8510587" y="6502400"/>
            <a:ext cx="817563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4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097152" name="Google Shape;16;p48"/>
          <p:cNvPicPr preferRelativeResize="0">
            <a:picLocks/>
          </p:cNvPicPr>
          <p:nvPr/>
        </p:nvPicPr>
        <p:blipFill rotWithShape="1">
          <a:blip r:embed="rId11">
            <a:alphaModFix/>
          </a:blip>
          <a:srcRect/>
          <a:stretch>
            <a:fillRect/>
          </a:stretch>
        </p:blipFill>
        <p:spPr>
          <a:xfrm>
            <a:off x="57150" y="6446838"/>
            <a:ext cx="1827213" cy="360362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2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6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8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8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2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22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1" name="Rectangle 2"/>
          <p:cNvSpPr>
            <a:spLocks noGrp="1" noChangeArrowheads="1"/>
          </p:cNvSpPr>
          <p:nvPr>
            <p:ph type="title"/>
          </p:nvPr>
        </p:nvSpPr>
        <p:spPr>
          <a:xfrm>
            <a:off x="668908" y="1829704"/>
            <a:ext cx="8568183" cy="1728539"/>
          </a:xfrm>
        </p:spPr>
        <p:txBody>
          <a:bodyPr/>
          <a:lstStyle/>
          <a:p>
            <a:pPr algn="ctr" eaLnBrk="1" hangingPunct="1"/>
            <a:r>
              <a:rPr lang="en-US" altLang="zh-TW" sz="3200" b="1" dirty="0">
                <a:solidFill>
                  <a:srgbClr val="0057C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Progress Report</a:t>
            </a:r>
          </a:p>
        </p:txBody>
      </p:sp>
      <p:sp>
        <p:nvSpPr>
          <p:cNvPr id="1048582" name="Rectangle 2"/>
          <p:cNvSpPr txBox="1">
            <a:spLocks noChangeArrowheads="1"/>
          </p:cNvSpPr>
          <p:nvPr/>
        </p:nvSpPr>
        <p:spPr bwMode="auto">
          <a:xfrm>
            <a:off x="907104" y="3362630"/>
            <a:ext cx="8568183" cy="172853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accent2"/>
                </a:solidFill>
                <a:latin typeface="+mn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accent2"/>
                </a:solidFill>
                <a:latin typeface="Times New Roman" charset="0"/>
                <a:ea typeface="新細明體" charset="-120"/>
                <a:cs typeface="新細明體" charset="-12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accent2"/>
                </a:solidFill>
                <a:latin typeface="Times New Roman" charset="0"/>
                <a:ea typeface="新細明體" charset="-120"/>
                <a:cs typeface="新細明體" charset="-12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accent2"/>
                </a:solidFill>
                <a:latin typeface="Times New Roman" charset="0"/>
                <a:ea typeface="新細明體" charset="-120"/>
                <a:cs typeface="新細明體" charset="-12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accent2"/>
                </a:solidFill>
                <a:latin typeface="Times New Roman" charset="0"/>
                <a:ea typeface="新細明體" charset="-120"/>
                <a:cs typeface="新細明體" charset="-12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accent2"/>
                </a:solidFill>
                <a:latin typeface="Times New Roman" charset="0"/>
                <a:ea typeface="新細明體" charset="-120"/>
                <a:cs typeface="新細明體" charset="-12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accent2"/>
                </a:solidFill>
                <a:latin typeface="Times New Roman" charset="0"/>
                <a:ea typeface="新細明體" charset="-120"/>
                <a:cs typeface="新細明體" charset="-12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accent2"/>
                </a:solidFill>
                <a:latin typeface="Times New Roman" charset="0"/>
                <a:ea typeface="新細明體" charset="-120"/>
                <a:cs typeface="新細明體" charset="-12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accent2"/>
                </a:solidFill>
                <a:latin typeface="Times New Roman" charset="0"/>
                <a:ea typeface="新細明體" charset="-120"/>
                <a:cs typeface="新細明體" charset="-120"/>
              </a:defRPr>
            </a:lvl9pPr>
          </a:lstStyle>
          <a:p>
            <a:pPr algn="ctr" eaLnBrk="1" hangingPunct="1"/>
            <a:endParaRPr lang="en-US" altLang="zh-TW" kern="0" dirty="0">
              <a:solidFill>
                <a:schemeClr val="tx1"/>
              </a:solidFill>
            </a:endParaRPr>
          </a:p>
        </p:txBody>
      </p:sp>
      <p:sp>
        <p:nvSpPr>
          <p:cNvPr id="1048583" name="Text Box 4"/>
          <p:cNvSpPr txBox="1">
            <a:spLocks noChangeArrowheads="1"/>
          </p:cNvSpPr>
          <p:nvPr/>
        </p:nvSpPr>
        <p:spPr bwMode="auto">
          <a:xfrm>
            <a:off x="1100262" y="4484365"/>
            <a:ext cx="7705476" cy="707886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algn="ctr"/>
            <a:r>
              <a:rPr lang="en-US" altLang="zh-TW" sz="2000" dirty="0">
                <a:cs typeface="Times New Roman" panose="02020603050405020304" pitchFamily="18" charset="0"/>
              </a:rPr>
              <a:t>Author : </a:t>
            </a:r>
          </a:p>
          <a:p>
            <a:pPr algn="ctr"/>
            <a:r>
              <a:rPr lang="en-US" altLang="zh-TW" sz="2000" dirty="0">
                <a:cs typeface="Times New Roman" panose="02020603050405020304" pitchFamily="18" charset="0"/>
              </a:rPr>
              <a:t>Cheng-Yuan</a:t>
            </a:r>
            <a:r>
              <a:rPr lang="zh-TW" altLang="en-US" sz="2000" dirty="0">
                <a:cs typeface="Times New Roman" panose="02020603050405020304" pitchFamily="18" charset="0"/>
              </a:rPr>
              <a:t>、</a:t>
            </a:r>
            <a:r>
              <a:rPr lang="en-US" altLang="zh-TW" sz="2000" dirty="0">
                <a:cs typeface="Times New Roman" panose="02020603050405020304" pitchFamily="18" charset="0"/>
              </a:rPr>
              <a:t>Sheng-Yao</a:t>
            </a:r>
            <a:r>
              <a:rPr lang="zh-TW" altLang="en-US" sz="2000" dirty="0">
                <a:cs typeface="Times New Roman" panose="02020603050405020304" pitchFamily="18" charset="0"/>
              </a:rPr>
              <a:t>、</a:t>
            </a:r>
            <a:r>
              <a:rPr lang="en-US" altLang="zh-TW" sz="2000" dirty="0">
                <a:cs typeface="Times New Roman" panose="02020603050405020304" pitchFamily="18" charset="0"/>
              </a:rPr>
              <a:t>Che-Chia</a:t>
            </a:r>
          </a:p>
        </p:txBody>
      </p:sp>
      <p:sp>
        <p:nvSpPr>
          <p:cNvPr id="1048584" name="Text Box 4"/>
          <p:cNvSpPr txBox="1">
            <a:spLocks noChangeArrowheads="1"/>
          </p:cNvSpPr>
          <p:nvPr/>
        </p:nvSpPr>
        <p:spPr bwMode="auto">
          <a:xfrm>
            <a:off x="1100262" y="5673486"/>
            <a:ext cx="7705476" cy="461665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algn="ctr"/>
            <a:r>
              <a:rPr lang="en-US" altLang="zh-TW" b="1" dirty="0">
                <a:solidFill>
                  <a:srgbClr val="0057C0"/>
                </a:solidFill>
              </a:rPr>
              <a:t>Embedded System Software Design</a:t>
            </a:r>
            <a:endParaRPr lang="en-US" altLang="zh-TW" sz="2000" b="1" dirty="0">
              <a:solidFill>
                <a:srgbClr val="0057C0"/>
              </a:solidFill>
              <a:latin typeface="+mn-lt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FBC418-93FB-B85E-3E6C-30CE8CC225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7C5B78B-4B53-60CF-F0D2-7AB0EB61FB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本次進度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: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Monitor</a:t>
            </a:r>
            <a:endParaRPr lang="zh-TW" altLang="en-US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4A0E973E-B5E1-BA62-48A3-DFE218619D9F}"/>
              </a:ext>
            </a:extLst>
          </p:cNvPr>
          <p:cNvSpPr txBox="1"/>
          <p:nvPr/>
        </p:nvSpPr>
        <p:spPr>
          <a:xfrm>
            <a:off x="520699" y="1369489"/>
            <a:ext cx="7669813" cy="814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lvl="1" indent="-406400">
              <a:lnSpc>
                <a:spcPts val="3000"/>
              </a:lnSpc>
              <a:spcBef>
                <a:spcPts val="560"/>
              </a:spcBef>
              <a:buClr>
                <a:schemeClr val="accent2"/>
              </a:buClr>
              <a:buSzPts val="2800"/>
              <a:buFont typeface="Noto Sans Symbols"/>
              <a:buChar char="❖"/>
            </a:pPr>
            <a:r>
              <a:rPr lang="zh-TW" altLang="en-US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根據第四期計畫書中內容進行開發，以下分別為階段一目標和當前開發進度及優先序。</a:t>
            </a:r>
            <a:endParaRPr lang="en-US" altLang="zh-TW" sz="16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04C713A4-B17F-52DB-4D68-9947ADDEA84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51340437"/>
              </p:ext>
            </p:extLst>
          </p:nvPr>
        </p:nvGraphicFramePr>
        <p:xfrm>
          <a:off x="570104" y="2311400"/>
          <a:ext cx="4903596" cy="237491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2917">
                  <a:extLst>
                    <a:ext uri="{9D8B030D-6E8A-4147-A177-3AD203B41FA5}">
                      <a16:colId xmlns:a16="http://schemas.microsoft.com/office/drawing/2014/main" val="1192615841"/>
                    </a:ext>
                  </a:extLst>
                </a:gridCol>
                <a:gridCol w="1079150">
                  <a:extLst>
                    <a:ext uri="{9D8B030D-6E8A-4147-A177-3AD203B41FA5}">
                      <a16:colId xmlns:a16="http://schemas.microsoft.com/office/drawing/2014/main" val="1364961183"/>
                    </a:ext>
                  </a:extLst>
                </a:gridCol>
                <a:gridCol w="2251529">
                  <a:extLst>
                    <a:ext uri="{9D8B030D-6E8A-4147-A177-3AD203B41FA5}">
                      <a16:colId xmlns:a16="http://schemas.microsoft.com/office/drawing/2014/main" val="2476587428"/>
                    </a:ext>
                  </a:extLst>
                </a:gridCol>
              </a:tblGrid>
              <a:tr h="395480"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階段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zh-TW" altLang="en-US" sz="1400" b="1" i="0" u="none" strike="noStrike" cap="none" dirty="0">
                          <a:solidFill>
                            <a:schemeClr val="lt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  <a:sym typeface="Arial"/>
                        </a:rPr>
                        <a:t>時間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zh-TW" altLang="en-US" sz="1400" b="1" i="0" u="none" strike="noStrike" cap="none" dirty="0">
                          <a:solidFill>
                            <a:schemeClr val="lt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  <a:sym typeface="Arial"/>
                        </a:rPr>
                        <a:t>目標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00900139"/>
                  </a:ext>
                </a:extLst>
              </a:tr>
              <a:tr h="1979433"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階段一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3 month</a:t>
                      </a:r>
                      <a:endParaRPr lang="zh-TW" altLang="en-US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42900" lvl="0" indent="-342900">
                        <a:buFont typeface="+mj-lt"/>
                        <a:buAutoNum type="arabicPeriod"/>
                      </a:pPr>
                      <a:r>
                        <a:rPr lang="en-US" altLang="zh-TW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MARS-922</a:t>
                      </a:r>
                      <a:r>
                        <a:rPr lang="zh-TW" altLang="en-US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溝通驗證小型</a:t>
                      </a:r>
                      <a:r>
                        <a:rPr lang="en-US" altLang="zh-TW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STM32F4</a:t>
                      </a:r>
                      <a:r>
                        <a:rPr lang="zh-TW" altLang="en-US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集成電路控制板</a:t>
                      </a:r>
                      <a:endParaRPr lang="zh-TW" altLang="zh-TW" sz="14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marL="342900" lvl="0" indent="-342900">
                        <a:buFont typeface="+mj-lt"/>
                        <a:buAutoNum type="arabicPeriod"/>
                      </a:pPr>
                      <a:r>
                        <a:rPr lang="en-US" altLang="zh-TW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MARS-922 ALC</a:t>
                      </a:r>
                      <a:r>
                        <a:rPr lang="zh-TW" altLang="en-US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功能驗證</a:t>
                      </a:r>
                      <a:endParaRPr lang="en-US" altLang="zh-TW" sz="14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  <a:p>
                      <a:pPr marL="342900" lvl="0" indent="-342900">
                        <a:buFont typeface="+mj-lt"/>
                        <a:buAutoNum type="arabicPeriod"/>
                      </a:pPr>
                      <a:r>
                        <a:rPr lang="zh-TW" altLang="zh-TW" sz="14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階段</a:t>
                      </a:r>
                      <a:r>
                        <a:rPr lang="zh-TW" altLang="en-US" sz="14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五</a:t>
                      </a:r>
                      <a:r>
                        <a:rPr lang="zh-TW" altLang="zh-TW" sz="14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期中報告</a:t>
                      </a:r>
                      <a:endParaRPr lang="zh-TW" altLang="en-US" sz="1400" b="0" i="0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 marL="17780" marR="17780" marT="0" marB="0"/>
                </a:tc>
                <a:extLst>
                  <a:ext uri="{0D108BD9-81ED-4DB2-BD59-A6C34878D82A}">
                    <a16:rowId xmlns:a16="http://schemas.microsoft.com/office/drawing/2014/main" val="2847363105"/>
                  </a:ext>
                </a:extLst>
              </a:tr>
            </a:tbl>
          </a:graphicData>
        </a:graphic>
      </p:graphicFrame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ABE2C05B-3128-C4B4-FC74-79C315F3D60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31618391"/>
              </p:ext>
            </p:extLst>
          </p:nvPr>
        </p:nvGraphicFramePr>
        <p:xfrm>
          <a:off x="5604934" y="2353858"/>
          <a:ext cx="4022658" cy="235173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06655">
                  <a:extLst>
                    <a:ext uri="{9D8B030D-6E8A-4147-A177-3AD203B41FA5}">
                      <a16:colId xmlns:a16="http://schemas.microsoft.com/office/drawing/2014/main" val="761389866"/>
                    </a:ext>
                  </a:extLst>
                </a:gridCol>
                <a:gridCol w="1816003">
                  <a:extLst>
                    <a:ext uri="{9D8B030D-6E8A-4147-A177-3AD203B41FA5}">
                      <a16:colId xmlns:a16="http://schemas.microsoft.com/office/drawing/2014/main" val="1643138419"/>
                    </a:ext>
                  </a:extLst>
                </a:gridCol>
              </a:tblGrid>
              <a:tr h="459704"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目標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進度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84917929"/>
                  </a:ext>
                </a:extLst>
              </a:tr>
              <a:tr h="630678">
                <a:tc>
                  <a:txBody>
                    <a:bodyPr/>
                    <a:lstStyle/>
                    <a:p>
                      <a:pPr marL="0" lvl="0" indent="0" algn="ctr">
                        <a:buFont typeface="+mj-lt"/>
                        <a:buNone/>
                      </a:pPr>
                      <a:r>
                        <a:rPr lang="en-US" altLang="zh-TW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MARS-922</a:t>
                      </a:r>
                      <a:r>
                        <a:rPr lang="zh-TW" altLang="en-US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溝通驗證小型</a:t>
                      </a:r>
                      <a:r>
                        <a:rPr lang="en-US" altLang="zh-TW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STM32F4</a:t>
                      </a:r>
                      <a:r>
                        <a:rPr lang="zh-TW" altLang="en-US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積體電路控制板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74902268"/>
                  </a:ext>
                </a:extLst>
              </a:tr>
              <a:tr h="630678">
                <a:tc>
                  <a:txBody>
                    <a:bodyPr/>
                    <a:lstStyle/>
                    <a:p>
                      <a:pPr marL="0" lvl="0" indent="0" algn="ctr">
                        <a:buFont typeface="+mj-lt"/>
                        <a:buNone/>
                      </a:pPr>
                      <a:r>
                        <a:rPr lang="en-US" altLang="zh-TW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MARS-922 ALC</a:t>
                      </a:r>
                      <a:r>
                        <a:rPr lang="zh-TW" altLang="en-US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功能驗證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05210310"/>
                  </a:ext>
                </a:extLst>
              </a:tr>
              <a:tr h="630678">
                <a:tc>
                  <a:txBody>
                    <a:bodyPr/>
                    <a:lstStyle/>
                    <a:p>
                      <a:pPr marL="0" indent="0" algn="ctr">
                        <a:buFont typeface="+mj-lt"/>
                        <a:buNone/>
                      </a:pPr>
                      <a:r>
                        <a:rPr lang="zh-TW" altLang="zh-TW" sz="14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階段</a:t>
                      </a:r>
                      <a:r>
                        <a:rPr lang="zh-TW" altLang="en-US" sz="14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五</a:t>
                      </a:r>
                      <a:r>
                        <a:rPr lang="zh-TW" altLang="zh-TW" sz="14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期中報告</a:t>
                      </a:r>
                      <a:endParaRPr lang="zh-TW" altLang="en-US" sz="1400" b="0" i="0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  <a:sym typeface="Arial"/>
                      </a:endParaRPr>
                    </a:p>
                    <a:p>
                      <a:pPr marL="0" lvl="0" indent="0" algn="ctr">
                        <a:buFont typeface="+mj-lt"/>
                        <a:buNone/>
                      </a:pPr>
                      <a:endParaRPr lang="en-US" altLang="zh-TW" sz="1400" b="0" i="0" u="none" strike="noStrike" cap="none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O</a:t>
                      </a:r>
                      <a:endParaRPr lang="en-US" altLang="zh-TW" baseline="0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16247268"/>
                  </a:ext>
                </a:extLst>
              </a:tr>
            </a:tbl>
          </a:graphicData>
        </a:graphic>
      </p:graphicFrame>
      <p:sp>
        <p:nvSpPr>
          <p:cNvPr id="12" name="文字方塊 11">
            <a:extLst>
              <a:ext uri="{FF2B5EF4-FFF2-40B4-BE49-F238E27FC236}">
                <a16:creationId xmlns:a16="http://schemas.microsoft.com/office/drawing/2014/main" id="{ED75B16B-2D9B-C71E-BDE4-30C741E9E628}"/>
              </a:ext>
            </a:extLst>
          </p:cNvPr>
          <p:cNvSpPr txBox="1"/>
          <p:nvPr/>
        </p:nvSpPr>
        <p:spPr>
          <a:xfrm>
            <a:off x="8635013" y="1541843"/>
            <a:ext cx="952505" cy="73866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O: 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完成</a:t>
            </a:r>
            <a:b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</a:b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△: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未進行</a:t>
            </a:r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P: 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進行中</a:t>
            </a:r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E2ABD0C2-0327-4104-B1D8-8BFBAFB39656}"/>
              </a:ext>
            </a:extLst>
          </p:cNvPr>
          <p:cNvSpPr/>
          <p:nvPr/>
        </p:nvSpPr>
        <p:spPr>
          <a:xfrm>
            <a:off x="5604934" y="2847301"/>
            <a:ext cx="4022658" cy="185829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462170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FBC418-93FB-B85E-3E6C-30CE8CC225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7C5B78B-4B53-60CF-F0D2-7AB0EB61FB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本次進度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: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Monitor</a:t>
            </a:r>
            <a:endParaRPr lang="zh-TW" altLang="en-US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4A0E973E-B5E1-BA62-48A3-DFE218619D9F}"/>
              </a:ext>
            </a:extLst>
          </p:cNvPr>
          <p:cNvSpPr txBox="1"/>
          <p:nvPr/>
        </p:nvSpPr>
        <p:spPr>
          <a:xfrm>
            <a:off x="520699" y="1369489"/>
            <a:ext cx="7669813" cy="814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lvl="1" indent="-406400">
              <a:lnSpc>
                <a:spcPts val="3000"/>
              </a:lnSpc>
              <a:spcBef>
                <a:spcPts val="560"/>
              </a:spcBef>
              <a:buClr>
                <a:schemeClr val="accent2"/>
              </a:buClr>
              <a:buSzPts val="2800"/>
              <a:buFont typeface="Noto Sans Symbols"/>
              <a:buChar char="❖"/>
            </a:pPr>
            <a:r>
              <a:rPr lang="zh-TW" altLang="en-US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根據第四期計畫書中內容進行開發，以下分別為階段二目標和當前開發進度及優先序。</a:t>
            </a:r>
            <a:endParaRPr lang="en-US" altLang="zh-TW" sz="16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04C713A4-B17F-52DB-4D68-9947ADDEA84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44786919"/>
              </p:ext>
            </p:extLst>
          </p:nvPr>
        </p:nvGraphicFramePr>
        <p:xfrm>
          <a:off x="570104" y="2311400"/>
          <a:ext cx="4903596" cy="237491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2917">
                  <a:extLst>
                    <a:ext uri="{9D8B030D-6E8A-4147-A177-3AD203B41FA5}">
                      <a16:colId xmlns:a16="http://schemas.microsoft.com/office/drawing/2014/main" val="1192615841"/>
                    </a:ext>
                  </a:extLst>
                </a:gridCol>
                <a:gridCol w="1079150">
                  <a:extLst>
                    <a:ext uri="{9D8B030D-6E8A-4147-A177-3AD203B41FA5}">
                      <a16:colId xmlns:a16="http://schemas.microsoft.com/office/drawing/2014/main" val="1364961183"/>
                    </a:ext>
                  </a:extLst>
                </a:gridCol>
                <a:gridCol w="2251529">
                  <a:extLst>
                    <a:ext uri="{9D8B030D-6E8A-4147-A177-3AD203B41FA5}">
                      <a16:colId xmlns:a16="http://schemas.microsoft.com/office/drawing/2014/main" val="2476587428"/>
                    </a:ext>
                  </a:extLst>
                </a:gridCol>
              </a:tblGrid>
              <a:tr h="395480"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階段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zh-TW" altLang="en-US" sz="1400" b="1" i="0" u="none" strike="noStrike" cap="none" dirty="0">
                          <a:solidFill>
                            <a:schemeClr val="lt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  <a:sym typeface="Arial"/>
                        </a:rPr>
                        <a:t>時間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zh-TW" altLang="en-US" sz="1400" b="1" i="0" u="none" strike="noStrike" cap="none" dirty="0">
                          <a:solidFill>
                            <a:schemeClr val="lt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  <a:sym typeface="Arial"/>
                        </a:rPr>
                        <a:t>目標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00900139"/>
                  </a:ext>
                </a:extLst>
              </a:tr>
              <a:tr h="1979433"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階段二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3 month</a:t>
                      </a:r>
                      <a:endParaRPr lang="zh-TW" altLang="en-US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42900" lvl="0" indent="-342900">
                        <a:buFont typeface="+mj-lt"/>
                        <a:buAutoNum type="arabicPeriod"/>
                      </a:pPr>
                      <a:r>
                        <a:rPr lang="en-US" altLang="zh-TW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MARS-922 Auto Self Calibration</a:t>
                      </a:r>
                      <a:r>
                        <a:rPr lang="zh-TW" altLang="en-US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功能驗證</a:t>
                      </a:r>
                      <a:endParaRPr lang="en-US" altLang="zh-TW" sz="14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  <a:p>
                      <a:pPr marL="342900" lvl="0" indent="-342900">
                        <a:buFont typeface="+mj-lt"/>
                        <a:buAutoNum type="arabicPeriod"/>
                      </a:pPr>
                      <a:r>
                        <a:rPr lang="en-US" altLang="zh-TW" sz="14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MARS-922</a:t>
                      </a:r>
                      <a:r>
                        <a:rPr lang="zh-TW" altLang="en-US" sz="14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優化細節報告，產生</a:t>
                      </a:r>
                      <a:r>
                        <a:rPr lang="en-US" altLang="zh-TW" sz="14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txt</a:t>
                      </a:r>
                      <a:r>
                        <a:rPr lang="zh-TW" altLang="en-US" sz="14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檔報告至</a:t>
                      </a:r>
                      <a:r>
                        <a:rPr lang="en-US" altLang="zh-TW" sz="14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USB 2.0</a:t>
                      </a:r>
                      <a:r>
                        <a:rPr lang="zh-TW" altLang="en-US" sz="14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隨身碟裝置</a:t>
                      </a:r>
                      <a:endParaRPr lang="en-US" altLang="zh-TW" sz="14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  <a:p>
                      <a:pPr marL="342900" lvl="0" indent="-342900">
                        <a:buFont typeface="+mj-lt"/>
                        <a:buAutoNum type="arabicPeriod"/>
                      </a:pPr>
                      <a:r>
                        <a:rPr lang="zh-TW" altLang="zh-TW" sz="14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階段</a:t>
                      </a:r>
                      <a:r>
                        <a:rPr lang="zh-TW" altLang="en-US" sz="14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五</a:t>
                      </a:r>
                      <a:r>
                        <a:rPr lang="zh-TW" altLang="zh-TW" sz="14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期</a:t>
                      </a:r>
                      <a:r>
                        <a:rPr lang="zh-TW" altLang="en-US" sz="14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末</a:t>
                      </a:r>
                      <a:r>
                        <a:rPr lang="zh-TW" altLang="zh-TW" sz="14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報告</a:t>
                      </a:r>
                      <a:endParaRPr lang="zh-TW" altLang="en-US" sz="1400" b="0" i="0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 marL="17780" marR="17780" marT="0" marB="0"/>
                </a:tc>
                <a:extLst>
                  <a:ext uri="{0D108BD9-81ED-4DB2-BD59-A6C34878D82A}">
                    <a16:rowId xmlns:a16="http://schemas.microsoft.com/office/drawing/2014/main" val="2847363105"/>
                  </a:ext>
                </a:extLst>
              </a:tr>
            </a:tbl>
          </a:graphicData>
        </a:graphic>
      </p:graphicFrame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ABE2C05B-3128-C4B4-FC74-79C315F3D60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46801548"/>
              </p:ext>
            </p:extLst>
          </p:nvPr>
        </p:nvGraphicFramePr>
        <p:xfrm>
          <a:off x="5604934" y="2353858"/>
          <a:ext cx="4022658" cy="24525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36986">
                  <a:extLst>
                    <a:ext uri="{9D8B030D-6E8A-4147-A177-3AD203B41FA5}">
                      <a16:colId xmlns:a16="http://schemas.microsoft.com/office/drawing/2014/main" val="761389866"/>
                    </a:ext>
                  </a:extLst>
                </a:gridCol>
                <a:gridCol w="1885672">
                  <a:extLst>
                    <a:ext uri="{9D8B030D-6E8A-4147-A177-3AD203B41FA5}">
                      <a16:colId xmlns:a16="http://schemas.microsoft.com/office/drawing/2014/main" val="1643138419"/>
                    </a:ext>
                  </a:extLst>
                </a:gridCol>
              </a:tblGrid>
              <a:tr h="459704"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目標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進度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84917929"/>
                  </a:ext>
                </a:extLst>
              </a:tr>
              <a:tr h="630678">
                <a:tc>
                  <a:txBody>
                    <a:bodyPr/>
                    <a:lstStyle/>
                    <a:p>
                      <a:pPr marL="0" lvl="0" indent="0" algn="ctr">
                        <a:buFont typeface="+mj-lt"/>
                        <a:buNone/>
                      </a:pPr>
                      <a:r>
                        <a:rPr lang="en-US" altLang="zh-TW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MARS-922 Auto Self Calibration</a:t>
                      </a:r>
                      <a:r>
                        <a:rPr lang="zh-TW" altLang="en-US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功能驗證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74902268"/>
                  </a:ext>
                </a:extLst>
              </a:tr>
              <a:tr h="630678">
                <a:tc>
                  <a:txBody>
                    <a:bodyPr/>
                    <a:lstStyle/>
                    <a:p>
                      <a:pPr marL="0" lvl="0" indent="0" algn="ctr">
                        <a:buFont typeface="+mj-lt"/>
                        <a:buNone/>
                      </a:pPr>
                      <a:r>
                        <a:rPr lang="en-US" altLang="zh-TW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MARS-922</a:t>
                      </a:r>
                      <a:r>
                        <a:rPr lang="zh-TW" altLang="en-US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優化細節報告，產生</a:t>
                      </a:r>
                      <a:r>
                        <a:rPr lang="en-US" altLang="zh-TW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txt</a:t>
                      </a:r>
                      <a:r>
                        <a:rPr lang="zh-TW" altLang="en-US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檔報告至</a:t>
                      </a:r>
                      <a:r>
                        <a:rPr lang="en-US" altLang="zh-TW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USB 2.0</a:t>
                      </a:r>
                      <a:r>
                        <a:rPr lang="zh-TW" altLang="en-US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隨身碟裝置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P</a:t>
                      </a:r>
                      <a:endParaRPr lang="en-US" altLang="zh-TW" baseline="0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05210310"/>
                  </a:ext>
                </a:extLst>
              </a:tr>
              <a:tr h="630678">
                <a:tc>
                  <a:txBody>
                    <a:bodyPr/>
                    <a:lstStyle/>
                    <a:p>
                      <a:pPr marL="0" indent="0" algn="ctr">
                        <a:buFont typeface="+mj-lt"/>
                        <a:buNone/>
                      </a:pPr>
                      <a:r>
                        <a:rPr lang="zh-TW" altLang="en-US" sz="14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階段五期末報告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P</a:t>
                      </a:r>
                      <a:endParaRPr lang="en-US" altLang="zh-TW" baseline="0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16247268"/>
                  </a:ext>
                </a:extLst>
              </a:tr>
            </a:tbl>
          </a:graphicData>
        </a:graphic>
      </p:graphicFrame>
      <p:sp>
        <p:nvSpPr>
          <p:cNvPr id="12" name="文字方塊 11">
            <a:extLst>
              <a:ext uri="{FF2B5EF4-FFF2-40B4-BE49-F238E27FC236}">
                <a16:creationId xmlns:a16="http://schemas.microsoft.com/office/drawing/2014/main" id="{ED75B16B-2D9B-C71E-BDE4-30C741E9E628}"/>
              </a:ext>
            </a:extLst>
          </p:cNvPr>
          <p:cNvSpPr txBox="1"/>
          <p:nvPr/>
        </p:nvSpPr>
        <p:spPr>
          <a:xfrm>
            <a:off x="8635013" y="1541843"/>
            <a:ext cx="952505" cy="73866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O: 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完成</a:t>
            </a:r>
            <a:b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</a:b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△: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未進行</a:t>
            </a:r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P: 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進行中</a:t>
            </a:r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E2ABD0C2-0327-4104-B1D8-8BFBAFB39656}"/>
              </a:ext>
            </a:extLst>
          </p:cNvPr>
          <p:cNvSpPr/>
          <p:nvPr/>
        </p:nvSpPr>
        <p:spPr>
          <a:xfrm>
            <a:off x="5604934" y="2847301"/>
            <a:ext cx="4022658" cy="195913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74744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0396C1-EA64-DABF-AB1E-DAC8812CEA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F4A029A-1C90-0045-D3C4-09B1AF59BE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2" y="474123"/>
            <a:ext cx="8077200" cy="533400"/>
          </a:xfrm>
        </p:spPr>
        <p:txBody>
          <a:bodyPr/>
          <a:lstStyle/>
          <a:p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上次進度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: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Monitor</a:t>
            </a:r>
            <a:endParaRPr lang="zh-TW" altLang="en-US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7" name="文字版面配置區 6">
            <a:extLst>
              <a:ext uri="{FF2B5EF4-FFF2-40B4-BE49-F238E27FC236}">
                <a16:creationId xmlns:a16="http://schemas.microsoft.com/office/drawing/2014/main" id="{CA232325-2F30-826A-0F33-B3038ABB7C4A}"/>
              </a:ext>
            </a:extLst>
          </p:cNvPr>
          <p:cNvSpPr txBox="1"/>
          <p:nvPr/>
        </p:nvSpPr>
        <p:spPr>
          <a:xfrm>
            <a:off x="490980" y="765568"/>
            <a:ext cx="8924039" cy="147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Noto Sans Symbols"/>
              <a:buChar char="❖"/>
              <a:defRPr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F5050"/>
              </a:buClr>
              <a:buSzPts val="2400"/>
              <a:buFont typeface="Noto Sans Symbols"/>
              <a:buChar char="▪"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6699FF"/>
              </a:buClr>
              <a:buSzPts val="2000"/>
              <a:buFont typeface="Times New Roman"/>
              <a:buChar char="•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>
              <a:lnSpc>
                <a:spcPts val="3000"/>
              </a:lnSpc>
            </a:pPr>
            <a:r>
              <a:rPr lang="en-US" altLang="zh-TW" sz="16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Gamma</a:t>
            </a:r>
            <a:r>
              <a:rPr lang="zh-TW" altLang="en-US" sz="16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校正</a:t>
            </a:r>
            <a:r>
              <a:rPr lang="en-US" altLang="zh-TW" sz="16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(MCU)</a:t>
            </a:r>
            <a:endParaRPr lang="zh-TW" altLang="en-US" sz="1600" dirty="0">
              <a:solidFill>
                <a:srgbClr val="333333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1">
              <a:lnSpc>
                <a:spcPts val="3000"/>
              </a:lnSpc>
            </a:pP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MTK_9700</a:t>
            </a: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與</a:t>
            </a: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MARS_922</a:t>
            </a: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校正比較，</a:t>
            </a: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Gamma offset</a:t>
            </a: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</a:t>
            </a: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校正補償</a:t>
            </a: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)=0.02</a:t>
            </a:r>
          </a:p>
        </p:txBody>
      </p:sp>
      <p:graphicFrame>
        <p:nvGraphicFramePr>
          <p:cNvPr id="9" name="表格 8">
            <a:extLst>
              <a:ext uri="{FF2B5EF4-FFF2-40B4-BE49-F238E27FC236}">
                <a16:creationId xmlns:a16="http://schemas.microsoft.com/office/drawing/2014/main" id="{38314231-389A-5A14-56D0-3EECDA446C6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5171186"/>
              </p:ext>
            </p:extLst>
          </p:nvPr>
        </p:nvGraphicFramePr>
        <p:xfrm>
          <a:off x="807857" y="2241368"/>
          <a:ext cx="3600812" cy="3566160"/>
        </p:xfrm>
        <a:graphic>
          <a:graphicData uri="http://schemas.openxmlformats.org/drawingml/2006/table">
            <a:tbl>
              <a:tblPr/>
              <a:tblGrid>
                <a:gridCol w="742269">
                  <a:extLst>
                    <a:ext uri="{9D8B030D-6E8A-4147-A177-3AD203B41FA5}">
                      <a16:colId xmlns:a16="http://schemas.microsoft.com/office/drawing/2014/main" val="1280648839"/>
                    </a:ext>
                  </a:extLst>
                </a:gridCol>
                <a:gridCol w="824551">
                  <a:extLst>
                    <a:ext uri="{9D8B030D-6E8A-4147-A177-3AD203B41FA5}">
                      <a16:colId xmlns:a16="http://schemas.microsoft.com/office/drawing/2014/main" val="138896537"/>
                    </a:ext>
                  </a:extLst>
                </a:gridCol>
                <a:gridCol w="826534">
                  <a:extLst>
                    <a:ext uri="{9D8B030D-6E8A-4147-A177-3AD203B41FA5}">
                      <a16:colId xmlns:a16="http://schemas.microsoft.com/office/drawing/2014/main" val="114248355"/>
                    </a:ext>
                  </a:extLst>
                </a:gridCol>
                <a:gridCol w="1207458">
                  <a:extLst>
                    <a:ext uri="{9D8B030D-6E8A-4147-A177-3AD203B41FA5}">
                      <a16:colId xmlns:a16="http://schemas.microsoft.com/office/drawing/2014/main" val="1501684541"/>
                    </a:ext>
                  </a:extLst>
                </a:gridCol>
              </a:tblGrid>
              <a:tr h="221482">
                <a:tc>
                  <a:txBody>
                    <a:bodyPr/>
                    <a:lstStyle/>
                    <a:p>
                      <a:pPr algn="ctr" fontAlgn="auto"/>
                      <a:r>
                        <a:rPr lang="zh-TW" altLang="en-US" sz="1200" b="1" i="0" u="none" strike="noStrike" baseline="0" dirty="0">
                          <a:solidFill>
                            <a:srgbClr val="FFFF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​</a:t>
                      </a:r>
                      <a:r>
                        <a:rPr lang="en-US" altLang="zh-TW" sz="1200" baseline="0" dirty="0">
                          <a:solidFill>
                            <a:srgbClr val="FFFF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9700</a:t>
                      </a:r>
                      <a:endParaRPr lang="zh-TW" altLang="en-US" sz="1200" b="1" i="0" u="none" strike="noStrike" baseline="0" dirty="0">
                        <a:solidFill>
                          <a:srgbClr val="FFFF00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</a:endParaRPr>
                    </a:p>
                  </a:txBody>
                  <a:tcPr>
                    <a:lnL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439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3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zh-TW" altLang="en-US" sz="1200" b="1" i="0" u="none" strike="noStrike" baseline="0" dirty="0"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色溫</a:t>
                      </a:r>
                      <a:r>
                        <a:rPr lang="zh-TW" altLang="en-US" sz="1200" b="1" i="0" baseline="0" dirty="0"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​</a:t>
                      </a:r>
                    </a:p>
                  </a:txBody>
                  <a:tcPr>
                    <a:lnL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439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3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US" altLang="zh-TW" sz="1200" b="1" i="0" u="none" strike="noStrike" baseline="0" dirty="0">
                          <a:solidFill>
                            <a:srgbClr val="FFC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256</a:t>
                      </a:r>
                      <a:r>
                        <a:rPr lang="zh-TW" altLang="en-US" sz="1200" b="1" i="0" u="none" strike="noStrike" baseline="0" dirty="0">
                          <a:solidFill>
                            <a:srgbClr val="FFC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階</a:t>
                      </a:r>
                      <a:r>
                        <a:rPr lang="zh-TW" altLang="en-US" sz="1200" b="1" i="0" baseline="0" dirty="0"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​</a:t>
                      </a:r>
                    </a:p>
                  </a:txBody>
                  <a:tcPr>
                    <a:lnL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439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3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zh-TW" altLang="en-US" sz="1200" b="1" i="0" u="none" strike="noStrike" baseline="0" dirty="0"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色溫</a:t>
                      </a:r>
                      <a:r>
                        <a:rPr lang="zh-TW" altLang="en-US" sz="1200" b="1" i="0" baseline="0" dirty="0"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​</a:t>
                      </a:r>
                    </a:p>
                  </a:txBody>
                  <a:tcPr>
                    <a:lnL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439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3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76011860"/>
                  </a:ext>
                </a:extLst>
              </a:tr>
              <a:tr h="221482">
                <a:tc>
                  <a:txBody>
                    <a:bodyPr/>
                    <a:lstStyle/>
                    <a:p>
                      <a:pPr algn="ctr" fontAlgn="base"/>
                      <a:r>
                        <a:rPr lang="en-US" sz="1200" b="0" i="0" u="none" strike="noStrike" baseline="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1.8</a:t>
                      </a:r>
                      <a:r>
                        <a:rPr lang="en-US" altLang="zh-TW" sz="1200" b="0" i="0" baseline="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​</a:t>
                      </a:r>
                    </a:p>
                  </a:txBody>
                  <a:tcPr>
                    <a:lnL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439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CDE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US" sz="12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5400</a:t>
                      </a:r>
                      <a:r>
                        <a:rPr lang="en-US" altLang="zh-TW" sz="1200" b="0" i="0" baseline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​</a:t>
                      </a:r>
                    </a:p>
                  </a:txBody>
                  <a:tcPr>
                    <a:lnL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439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CDE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US" sz="12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1.81</a:t>
                      </a:r>
                      <a:r>
                        <a:rPr lang="en-US" altLang="zh-TW" sz="1200" b="0" i="0" baseline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​</a:t>
                      </a:r>
                    </a:p>
                  </a:txBody>
                  <a:tcPr>
                    <a:lnL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439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CDE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US" sz="12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5495</a:t>
                      </a:r>
                      <a:r>
                        <a:rPr lang="en-US" altLang="zh-TW" sz="1200" b="0" i="0" baseline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​</a:t>
                      </a:r>
                    </a:p>
                  </a:txBody>
                  <a:tcPr>
                    <a:lnL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439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CD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13265698"/>
                  </a:ext>
                </a:extLst>
              </a:tr>
              <a:tr h="248697">
                <a:tc>
                  <a:txBody>
                    <a:bodyPr/>
                    <a:lstStyle/>
                    <a:p>
                      <a:pPr marR="0" algn="ctr" rtl="0" fontAlgn="base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zh-TW" altLang="en-US" sz="1200" b="0" i="0" u="none" strike="noStrike" cap="none" baseline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  <a:sym typeface="Arial"/>
                        </a:rPr>
                        <a:t>​</a:t>
                      </a:r>
                    </a:p>
                  </a:txBody>
                  <a:tcPr>
                    <a:lnL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F6"/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base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200" b="0" i="0" u="none" strike="noStrike" cap="none" baseline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  <a:sym typeface="Arial"/>
                        </a:rPr>
                        <a:t>6500</a:t>
                      </a:r>
                      <a:r>
                        <a:rPr lang="en-US" altLang="zh-TW" sz="1200" b="0" i="0" u="none" strike="noStrike" cap="none" baseline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  <a:sym typeface="Arial"/>
                        </a:rPr>
                        <a:t>​</a:t>
                      </a:r>
                    </a:p>
                  </a:txBody>
                  <a:tcPr>
                    <a:lnL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F6"/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base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200" b="0" i="0" u="none" strike="noStrike" cap="none" baseline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  <a:sym typeface="Arial"/>
                        </a:rPr>
                        <a:t>1.80</a:t>
                      </a:r>
                      <a:r>
                        <a:rPr lang="en-US" altLang="zh-TW" sz="1200" b="0" i="0" u="none" strike="noStrike" cap="none" baseline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  <a:sym typeface="Arial"/>
                        </a:rPr>
                        <a:t>​</a:t>
                      </a:r>
                    </a:p>
                  </a:txBody>
                  <a:tcPr>
                    <a:lnL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F6"/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base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200" b="0" i="0" u="none" strike="noStrike" cap="none" baseline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  <a:sym typeface="Arial"/>
                        </a:rPr>
                        <a:t>6694</a:t>
                      </a:r>
                      <a:r>
                        <a:rPr lang="en-US" altLang="zh-TW" sz="1200" b="0" i="0" u="none" strike="noStrike" cap="none" baseline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  <a:sym typeface="Arial"/>
                        </a:rPr>
                        <a:t>​</a:t>
                      </a:r>
                    </a:p>
                  </a:txBody>
                  <a:tcPr>
                    <a:lnL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0835195"/>
                  </a:ext>
                </a:extLst>
              </a:tr>
              <a:tr h="221482">
                <a:tc>
                  <a:txBody>
                    <a:bodyPr/>
                    <a:lstStyle/>
                    <a:p>
                      <a:pPr algn="ctr" fontAlgn="auto"/>
                      <a:r>
                        <a:rPr lang="zh-TW" altLang="en-US" sz="12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​</a:t>
                      </a:r>
                    </a:p>
                  </a:txBody>
                  <a:tcPr>
                    <a:lnL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CDE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US" sz="12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9300</a:t>
                      </a:r>
                      <a:r>
                        <a:rPr lang="en-US" altLang="zh-TW" sz="1200" b="0" i="0" baseline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​</a:t>
                      </a:r>
                    </a:p>
                  </a:txBody>
                  <a:tcPr>
                    <a:lnL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CDE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US" sz="1200" b="0" i="0" u="none" strike="noStrike" baseline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1.81</a:t>
                      </a:r>
                      <a:r>
                        <a:rPr lang="en-US" altLang="zh-TW" sz="1200" b="0" i="0" baseline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​</a:t>
                      </a:r>
                    </a:p>
                  </a:txBody>
                  <a:tcPr>
                    <a:lnL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CDE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US" sz="12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9538</a:t>
                      </a:r>
                      <a:r>
                        <a:rPr lang="en-US" altLang="zh-TW" sz="1200" b="0" i="0" baseline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​</a:t>
                      </a:r>
                    </a:p>
                  </a:txBody>
                  <a:tcPr>
                    <a:lnL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CD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86202100"/>
                  </a:ext>
                </a:extLst>
              </a:tr>
              <a:tr h="221482">
                <a:tc>
                  <a:txBody>
                    <a:bodyPr/>
                    <a:lstStyle/>
                    <a:p>
                      <a:pPr marR="0" algn="ctr" rtl="0" fontAlgn="auto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200" b="0" i="0" u="none" strike="noStrike" cap="none" baseline="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  <a:sym typeface="Arial"/>
                        </a:rPr>
                        <a:t>2.0 </a:t>
                      </a:r>
                      <a:r>
                        <a:rPr lang="en-US" altLang="zh-TW" sz="1200" b="0" i="0" u="none" strike="noStrike" cap="none" baseline="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  <a:sym typeface="Arial"/>
                        </a:rPr>
                        <a:t>​</a:t>
                      </a:r>
                    </a:p>
                  </a:txBody>
                  <a:tcPr>
                    <a:lnL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F6"/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auto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200" b="0" i="0" u="none" strike="noStrike" cap="none" baseline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  <a:sym typeface="Arial"/>
                        </a:rPr>
                        <a:t>5400</a:t>
                      </a:r>
                      <a:r>
                        <a:rPr lang="en-US" altLang="zh-TW" sz="1200" b="0" i="0" u="none" strike="noStrike" cap="none" baseline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  <a:sym typeface="Arial"/>
                        </a:rPr>
                        <a:t>​</a:t>
                      </a:r>
                    </a:p>
                  </a:txBody>
                  <a:tcPr>
                    <a:lnL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F6"/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base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200" b="0" i="0" u="none" strike="noStrike" cap="none" baseline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  <a:sym typeface="Arial"/>
                        </a:rPr>
                        <a:t>2.01</a:t>
                      </a:r>
                      <a:r>
                        <a:rPr lang="en-US" altLang="zh-TW" sz="1200" b="0" i="0" u="none" strike="noStrike" cap="none" baseline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  <a:sym typeface="Arial"/>
                        </a:rPr>
                        <a:t>​</a:t>
                      </a:r>
                    </a:p>
                  </a:txBody>
                  <a:tcPr>
                    <a:lnL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F6"/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base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200" b="0" i="0" u="none" strike="noStrike" cap="none" baseline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  <a:sym typeface="Arial"/>
                        </a:rPr>
                        <a:t>5497</a:t>
                      </a:r>
                      <a:r>
                        <a:rPr lang="en-US" altLang="zh-TW" sz="1200" b="0" i="0" u="none" strike="noStrike" cap="none" baseline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  <a:sym typeface="Arial"/>
                        </a:rPr>
                        <a:t>​</a:t>
                      </a:r>
                    </a:p>
                  </a:txBody>
                  <a:tcPr>
                    <a:lnL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62232550"/>
                  </a:ext>
                </a:extLst>
              </a:tr>
              <a:tr h="221482">
                <a:tc>
                  <a:txBody>
                    <a:bodyPr/>
                    <a:lstStyle/>
                    <a:p>
                      <a:pPr algn="ctr" fontAlgn="auto"/>
                      <a:r>
                        <a:rPr lang="zh-TW" altLang="en-US" sz="1200" b="0" i="0" u="none" strike="noStrike" baseline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​</a:t>
                      </a:r>
                    </a:p>
                  </a:txBody>
                  <a:tcPr>
                    <a:lnL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CDE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US" sz="1200" b="0" i="0" u="none" strike="noStrike" baseline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6500</a:t>
                      </a:r>
                      <a:r>
                        <a:rPr lang="en-US" altLang="zh-TW" sz="1200" b="0" i="0" baseline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​</a:t>
                      </a:r>
                    </a:p>
                  </a:txBody>
                  <a:tcPr>
                    <a:lnL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CDE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US" sz="12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2.00</a:t>
                      </a:r>
                      <a:r>
                        <a:rPr lang="en-US" altLang="zh-TW" sz="1200" b="0" i="0" baseline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​</a:t>
                      </a:r>
                    </a:p>
                  </a:txBody>
                  <a:tcPr>
                    <a:lnL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CDE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US" sz="12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6690</a:t>
                      </a:r>
                      <a:r>
                        <a:rPr lang="en-US" altLang="zh-TW" sz="1200" b="0" i="0" baseline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​</a:t>
                      </a:r>
                    </a:p>
                  </a:txBody>
                  <a:tcPr>
                    <a:lnL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CD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2535661"/>
                  </a:ext>
                </a:extLst>
              </a:tr>
              <a:tr h="221482">
                <a:tc>
                  <a:txBody>
                    <a:bodyPr/>
                    <a:lstStyle/>
                    <a:p>
                      <a:pPr algn="ctr" fontAlgn="auto"/>
                      <a:r>
                        <a:rPr lang="zh-TW" altLang="en-US" sz="1200" b="0" i="0" u="none" strike="noStrike" baseline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​</a:t>
                      </a:r>
                    </a:p>
                  </a:txBody>
                  <a:tcPr>
                    <a:lnL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F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US" sz="1200" b="0" i="0" u="none" strike="noStrike" baseline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9300</a:t>
                      </a:r>
                      <a:r>
                        <a:rPr lang="en-US" altLang="zh-TW" sz="1200" b="0" i="0" baseline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​</a:t>
                      </a:r>
                    </a:p>
                  </a:txBody>
                  <a:tcPr>
                    <a:lnL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F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US" sz="12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2.01</a:t>
                      </a:r>
                      <a:r>
                        <a:rPr lang="en-US" altLang="zh-TW" sz="1200" b="0" i="0" baseline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​</a:t>
                      </a:r>
                    </a:p>
                  </a:txBody>
                  <a:tcPr>
                    <a:lnL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F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US" sz="1200" b="0" i="0" u="none" strike="noStrike" baseline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9540</a:t>
                      </a:r>
                      <a:r>
                        <a:rPr lang="en-US" altLang="zh-TW" sz="1200" b="0" i="0" baseline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​</a:t>
                      </a:r>
                    </a:p>
                  </a:txBody>
                  <a:tcPr>
                    <a:lnL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60412582"/>
                  </a:ext>
                </a:extLst>
              </a:tr>
              <a:tr h="221482">
                <a:tc>
                  <a:txBody>
                    <a:bodyPr/>
                    <a:lstStyle/>
                    <a:p>
                      <a:pPr algn="ctr" fontAlgn="base"/>
                      <a:r>
                        <a:rPr lang="en-US" sz="1200" b="0" i="0" u="none" strike="noStrike" baseline="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2.2</a:t>
                      </a:r>
                      <a:r>
                        <a:rPr lang="en-US" altLang="zh-TW" sz="1200" b="0" i="0" baseline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​</a:t>
                      </a:r>
                    </a:p>
                  </a:txBody>
                  <a:tcPr>
                    <a:lnL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CDE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US" sz="1200" b="0" i="0" u="none" strike="noStrike" baseline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5400</a:t>
                      </a:r>
                      <a:r>
                        <a:rPr lang="en-US" altLang="zh-TW" sz="1200" b="0" i="0" baseline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​</a:t>
                      </a:r>
                    </a:p>
                  </a:txBody>
                  <a:tcPr>
                    <a:lnL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CDE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US" sz="1200" b="0" i="0" u="none" strike="noStrike" baseline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2.20</a:t>
                      </a:r>
                      <a:r>
                        <a:rPr lang="en-US" altLang="zh-TW" sz="1200" b="0" i="0" baseline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​</a:t>
                      </a:r>
                    </a:p>
                  </a:txBody>
                  <a:tcPr>
                    <a:lnL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CDE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US" sz="1200" b="0" i="0" u="none" strike="noStrike" baseline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5500</a:t>
                      </a:r>
                      <a:r>
                        <a:rPr lang="en-US" altLang="zh-TW" sz="1200" b="0" i="0" baseline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​</a:t>
                      </a:r>
                    </a:p>
                  </a:txBody>
                  <a:tcPr>
                    <a:lnL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CD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63169574"/>
                  </a:ext>
                </a:extLst>
              </a:tr>
              <a:tr h="221482">
                <a:tc>
                  <a:txBody>
                    <a:bodyPr/>
                    <a:lstStyle/>
                    <a:p>
                      <a:pPr algn="ctr" fontAlgn="auto"/>
                      <a:r>
                        <a:rPr lang="zh-TW" altLang="en-US" sz="1200" b="0" i="0" u="none" strike="noStrike" baseline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​</a:t>
                      </a:r>
                    </a:p>
                  </a:txBody>
                  <a:tcPr>
                    <a:lnL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F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US" sz="1200" b="0" i="0" u="none" strike="noStrike" baseline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6500</a:t>
                      </a:r>
                      <a:r>
                        <a:rPr lang="en-US" altLang="zh-TW" sz="1200" b="0" i="0" baseline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​</a:t>
                      </a:r>
                    </a:p>
                  </a:txBody>
                  <a:tcPr>
                    <a:lnL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F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US" sz="12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2.19</a:t>
                      </a:r>
                      <a:r>
                        <a:rPr lang="en-US" altLang="zh-TW" sz="1200" b="0" i="0" baseline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​</a:t>
                      </a:r>
                    </a:p>
                  </a:txBody>
                  <a:tcPr>
                    <a:lnL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F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US" sz="12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6699</a:t>
                      </a:r>
                      <a:r>
                        <a:rPr lang="en-US" altLang="zh-TW" sz="1200" b="0" i="0" baseline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​</a:t>
                      </a:r>
                    </a:p>
                  </a:txBody>
                  <a:tcPr>
                    <a:lnL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7115609"/>
                  </a:ext>
                </a:extLst>
              </a:tr>
              <a:tr h="221482">
                <a:tc>
                  <a:txBody>
                    <a:bodyPr/>
                    <a:lstStyle/>
                    <a:p>
                      <a:pPr algn="ctr" fontAlgn="auto"/>
                      <a:r>
                        <a:rPr lang="zh-TW" altLang="en-US" sz="1200" b="0" i="0" u="none" strike="noStrike" baseline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​</a:t>
                      </a:r>
                    </a:p>
                  </a:txBody>
                  <a:tcPr>
                    <a:lnL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CDE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US" sz="1200" b="0" i="0" u="none" strike="noStrike" baseline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9300</a:t>
                      </a:r>
                      <a:r>
                        <a:rPr lang="en-US" altLang="zh-TW" sz="1200" b="0" i="0" baseline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​</a:t>
                      </a:r>
                    </a:p>
                  </a:txBody>
                  <a:tcPr>
                    <a:lnL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CDE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US" sz="1200" b="0" i="0" u="none" strike="noStrike" baseline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2.20</a:t>
                      </a:r>
                      <a:r>
                        <a:rPr lang="en-US" altLang="zh-TW" sz="1200" b="0" i="0" baseline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​</a:t>
                      </a:r>
                    </a:p>
                  </a:txBody>
                  <a:tcPr>
                    <a:lnL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CDE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US" sz="12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9560</a:t>
                      </a:r>
                      <a:r>
                        <a:rPr lang="en-US" altLang="zh-TW" sz="1200" b="0" i="0" baseline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​</a:t>
                      </a:r>
                    </a:p>
                  </a:txBody>
                  <a:tcPr>
                    <a:lnL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CD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26184476"/>
                  </a:ext>
                </a:extLst>
              </a:tr>
              <a:tr h="221482">
                <a:tc>
                  <a:txBody>
                    <a:bodyPr/>
                    <a:lstStyle/>
                    <a:p>
                      <a:pPr algn="ctr" fontAlgn="base"/>
                      <a:r>
                        <a:rPr lang="en-US" sz="1200" b="0" i="0" u="none" strike="noStrike" baseline="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2.6</a:t>
                      </a:r>
                      <a:r>
                        <a:rPr lang="en-US" altLang="zh-TW" sz="1200" b="0" i="0" baseline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​</a:t>
                      </a:r>
                    </a:p>
                  </a:txBody>
                  <a:tcPr>
                    <a:lnL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F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US" sz="1200" b="0" i="0" u="none" strike="noStrike" baseline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5400</a:t>
                      </a:r>
                      <a:r>
                        <a:rPr lang="en-US" altLang="zh-TW" sz="1200" b="0" i="0" baseline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​</a:t>
                      </a:r>
                    </a:p>
                  </a:txBody>
                  <a:tcPr>
                    <a:lnL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F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US" sz="1200" b="0" i="0" u="none" strike="noStrike" baseline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2.59</a:t>
                      </a:r>
                      <a:r>
                        <a:rPr lang="en-US" altLang="zh-TW" sz="1200" b="0" i="0" baseline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​</a:t>
                      </a:r>
                    </a:p>
                  </a:txBody>
                  <a:tcPr>
                    <a:lnL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F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US" sz="12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5488</a:t>
                      </a:r>
                      <a:r>
                        <a:rPr lang="en-US" altLang="zh-TW" sz="1200" b="0" i="0" baseline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​</a:t>
                      </a:r>
                    </a:p>
                  </a:txBody>
                  <a:tcPr>
                    <a:lnL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98639936"/>
                  </a:ext>
                </a:extLst>
              </a:tr>
              <a:tr h="221482">
                <a:tc>
                  <a:txBody>
                    <a:bodyPr/>
                    <a:lstStyle/>
                    <a:p>
                      <a:pPr algn="ctr" fontAlgn="auto"/>
                      <a:r>
                        <a:rPr lang="zh-TW" altLang="en-US" sz="1200" b="0" i="0" u="none" strike="noStrike" baseline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​</a:t>
                      </a:r>
                    </a:p>
                  </a:txBody>
                  <a:tcPr>
                    <a:lnL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CDE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US" sz="1200" b="0" i="0" u="none" strike="noStrike" baseline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6500</a:t>
                      </a:r>
                      <a:r>
                        <a:rPr lang="en-US" altLang="zh-TW" sz="1200" b="0" i="0" baseline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​</a:t>
                      </a:r>
                    </a:p>
                  </a:txBody>
                  <a:tcPr>
                    <a:lnL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CDE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US" sz="1200" b="0" i="0" u="none" strike="noStrike" baseline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2.59</a:t>
                      </a:r>
                      <a:r>
                        <a:rPr lang="en-US" altLang="zh-TW" sz="1200" b="0" i="0" baseline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​</a:t>
                      </a:r>
                    </a:p>
                  </a:txBody>
                  <a:tcPr>
                    <a:lnL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CDE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US" sz="12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6685</a:t>
                      </a:r>
                      <a:r>
                        <a:rPr lang="en-US" altLang="zh-TW" sz="1200" b="0" i="0" baseline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​</a:t>
                      </a:r>
                    </a:p>
                  </a:txBody>
                  <a:tcPr>
                    <a:lnL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CD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73694682"/>
                  </a:ext>
                </a:extLst>
              </a:tr>
              <a:tr h="221482">
                <a:tc>
                  <a:txBody>
                    <a:bodyPr/>
                    <a:lstStyle/>
                    <a:p>
                      <a:pPr algn="ctr" fontAlgn="auto"/>
                      <a:r>
                        <a:rPr lang="zh-TW" altLang="en-US" sz="12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​</a:t>
                      </a:r>
                    </a:p>
                  </a:txBody>
                  <a:tcPr>
                    <a:lnL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F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US" sz="1200" b="0" i="0" u="none" strike="noStrike" baseline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9300</a:t>
                      </a:r>
                      <a:r>
                        <a:rPr lang="en-US" altLang="zh-TW" sz="1200" b="0" i="0" baseline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​</a:t>
                      </a:r>
                    </a:p>
                  </a:txBody>
                  <a:tcPr>
                    <a:lnL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F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US" sz="1200" b="0" i="0" u="none" strike="noStrike" baseline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2.58</a:t>
                      </a:r>
                      <a:r>
                        <a:rPr lang="en-US" altLang="zh-TW" sz="1200" b="0" i="0" baseline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​</a:t>
                      </a:r>
                    </a:p>
                  </a:txBody>
                  <a:tcPr>
                    <a:lnL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F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US" sz="12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9525</a:t>
                      </a:r>
                      <a:r>
                        <a:rPr lang="en-US" altLang="zh-TW" sz="1200" b="0" i="0" baseline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​</a:t>
                      </a:r>
                    </a:p>
                  </a:txBody>
                  <a:tcPr>
                    <a:lnL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8232718"/>
                  </a:ext>
                </a:extLst>
              </a:tr>
            </a:tbl>
          </a:graphicData>
        </a:graphic>
      </p:graphicFrame>
      <p:sp>
        <p:nvSpPr>
          <p:cNvPr id="11" name="Rectangle 2">
            <a:extLst>
              <a:ext uri="{FF2B5EF4-FFF2-40B4-BE49-F238E27FC236}">
                <a16:creationId xmlns:a16="http://schemas.microsoft.com/office/drawing/2014/main" id="{2F5CF38A-4C16-7F84-C947-6F490AD311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08263" y="1866900"/>
            <a:ext cx="9906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914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371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828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286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743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200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657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TW" altLang="zh-TW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TW" altLang="zh-TW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13" name="表格 12">
            <a:extLst>
              <a:ext uri="{FF2B5EF4-FFF2-40B4-BE49-F238E27FC236}">
                <a16:creationId xmlns:a16="http://schemas.microsoft.com/office/drawing/2014/main" id="{9749347C-1412-C3DA-1072-25E3D6DDD41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00724306"/>
              </p:ext>
            </p:extLst>
          </p:nvPr>
        </p:nvGraphicFramePr>
        <p:xfrm>
          <a:off x="5314543" y="2241368"/>
          <a:ext cx="3600812" cy="3566160"/>
        </p:xfrm>
        <a:graphic>
          <a:graphicData uri="http://schemas.openxmlformats.org/drawingml/2006/table">
            <a:tbl>
              <a:tblPr/>
              <a:tblGrid>
                <a:gridCol w="725912">
                  <a:extLst>
                    <a:ext uri="{9D8B030D-6E8A-4147-A177-3AD203B41FA5}">
                      <a16:colId xmlns:a16="http://schemas.microsoft.com/office/drawing/2014/main" val="1280648839"/>
                    </a:ext>
                  </a:extLst>
                </a:gridCol>
                <a:gridCol w="840908">
                  <a:extLst>
                    <a:ext uri="{9D8B030D-6E8A-4147-A177-3AD203B41FA5}">
                      <a16:colId xmlns:a16="http://schemas.microsoft.com/office/drawing/2014/main" val="138896537"/>
                    </a:ext>
                  </a:extLst>
                </a:gridCol>
                <a:gridCol w="826534">
                  <a:extLst>
                    <a:ext uri="{9D8B030D-6E8A-4147-A177-3AD203B41FA5}">
                      <a16:colId xmlns:a16="http://schemas.microsoft.com/office/drawing/2014/main" val="114248355"/>
                    </a:ext>
                  </a:extLst>
                </a:gridCol>
                <a:gridCol w="1207458">
                  <a:extLst>
                    <a:ext uri="{9D8B030D-6E8A-4147-A177-3AD203B41FA5}">
                      <a16:colId xmlns:a16="http://schemas.microsoft.com/office/drawing/2014/main" val="1501684541"/>
                    </a:ext>
                  </a:extLst>
                </a:gridCol>
              </a:tblGrid>
              <a:tr h="221482">
                <a:tc>
                  <a:txBody>
                    <a:bodyPr/>
                    <a:lstStyle/>
                    <a:p>
                      <a:pPr algn="ctr" fontAlgn="auto"/>
                      <a:r>
                        <a:rPr lang="zh-TW" altLang="en-US" sz="1200" b="1" i="0" u="none" strike="noStrike" baseline="0" dirty="0">
                          <a:solidFill>
                            <a:srgbClr val="FFFF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​</a:t>
                      </a:r>
                      <a:r>
                        <a:rPr lang="en-US" altLang="zh-TW" sz="1200" baseline="0" dirty="0">
                          <a:solidFill>
                            <a:srgbClr val="FFFF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922</a:t>
                      </a:r>
                      <a:endParaRPr lang="zh-TW" altLang="en-US" sz="1200" b="1" i="0" u="none" strike="noStrike" baseline="0" dirty="0">
                        <a:solidFill>
                          <a:srgbClr val="FFFF00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</a:endParaRPr>
                    </a:p>
                  </a:txBody>
                  <a:tcPr>
                    <a:lnL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439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3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zh-TW" altLang="en-US" sz="1200" b="1" i="0" u="none" strike="noStrike" baseline="0" dirty="0"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色溫</a:t>
                      </a:r>
                      <a:r>
                        <a:rPr lang="zh-TW" altLang="en-US" sz="1200" b="1" i="0" baseline="0" dirty="0"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​</a:t>
                      </a:r>
                    </a:p>
                  </a:txBody>
                  <a:tcPr>
                    <a:lnL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439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3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US" altLang="zh-TW" sz="1200" b="1" i="0" u="none" strike="noStrike" baseline="0" dirty="0">
                          <a:solidFill>
                            <a:srgbClr val="FFC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256</a:t>
                      </a:r>
                      <a:r>
                        <a:rPr lang="zh-TW" altLang="en-US" sz="1200" b="1" i="0" u="none" strike="noStrike" baseline="0" dirty="0">
                          <a:solidFill>
                            <a:srgbClr val="FFC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階</a:t>
                      </a:r>
                      <a:r>
                        <a:rPr lang="zh-TW" altLang="en-US" sz="1200" b="1" i="0" baseline="0" dirty="0"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​</a:t>
                      </a:r>
                    </a:p>
                  </a:txBody>
                  <a:tcPr>
                    <a:lnL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439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3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zh-TW" altLang="en-US" sz="1200" b="1" i="0" u="none" strike="noStrike" baseline="0" dirty="0"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色溫</a:t>
                      </a:r>
                      <a:r>
                        <a:rPr lang="zh-TW" altLang="en-US" sz="1200" b="1" i="0" baseline="0" dirty="0"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​</a:t>
                      </a:r>
                    </a:p>
                  </a:txBody>
                  <a:tcPr>
                    <a:lnL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439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3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76011860"/>
                  </a:ext>
                </a:extLst>
              </a:tr>
              <a:tr h="221482">
                <a:tc>
                  <a:txBody>
                    <a:bodyPr/>
                    <a:lstStyle/>
                    <a:p>
                      <a:pPr algn="ctr" fontAlgn="base"/>
                      <a:r>
                        <a:rPr lang="en-US" sz="1200" b="0" i="0" u="none" strike="noStrike" baseline="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1.8</a:t>
                      </a:r>
                      <a:r>
                        <a:rPr lang="en-US" altLang="zh-TW" sz="1200" b="0" i="0" baseline="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​</a:t>
                      </a:r>
                    </a:p>
                  </a:txBody>
                  <a:tcPr>
                    <a:lnL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439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CDE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US" sz="12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5400</a:t>
                      </a:r>
                      <a:r>
                        <a:rPr lang="en-US" altLang="zh-TW" sz="1200" b="0" i="0" baseline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​</a:t>
                      </a:r>
                    </a:p>
                  </a:txBody>
                  <a:tcPr>
                    <a:lnL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439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CDE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US" altLang="zh-TW" sz="1200" b="0" i="0" baseline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1.80</a:t>
                      </a:r>
                    </a:p>
                  </a:txBody>
                  <a:tcPr>
                    <a:lnL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439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CDE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US" altLang="zh-TW" sz="1200" b="0" i="0" baseline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5463</a:t>
                      </a:r>
                    </a:p>
                  </a:txBody>
                  <a:tcPr>
                    <a:lnL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439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CD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13265698"/>
                  </a:ext>
                </a:extLst>
              </a:tr>
              <a:tr h="221482">
                <a:tc>
                  <a:txBody>
                    <a:bodyPr/>
                    <a:lstStyle/>
                    <a:p>
                      <a:pPr marR="0" algn="ctr" rtl="0" fontAlgn="base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zh-TW" altLang="en-US" sz="1200" b="0" i="0" u="none" strike="noStrike" cap="none" baseline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  <a:sym typeface="Arial"/>
                        </a:rPr>
                        <a:t>​</a:t>
                      </a:r>
                    </a:p>
                  </a:txBody>
                  <a:tcPr>
                    <a:lnL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F6"/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base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200" b="0" i="0" u="none" strike="noStrike" cap="none" baseline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  <a:sym typeface="Arial"/>
                        </a:rPr>
                        <a:t>6500</a:t>
                      </a:r>
                      <a:r>
                        <a:rPr lang="en-US" altLang="zh-TW" sz="1200" b="0" i="0" u="none" strike="noStrike" cap="none" baseline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  <a:sym typeface="Arial"/>
                        </a:rPr>
                        <a:t>​</a:t>
                      </a:r>
                    </a:p>
                  </a:txBody>
                  <a:tcPr>
                    <a:lnL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F6"/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base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altLang="zh-TW" sz="1200" b="0" i="0" u="none" strike="noStrike" cap="none" baseline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  <a:sym typeface="Arial"/>
                        </a:rPr>
                        <a:t>1.80</a:t>
                      </a:r>
                    </a:p>
                  </a:txBody>
                  <a:tcPr>
                    <a:lnL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F6"/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base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altLang="zh-TW" sz="1200" b="0" i="0" u="none" strike="noStrike" cap="none" baseline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  <a:sym typeface="Arial"/>
                        </a:rPr>
                        <a:t>6518</a:t>
                      </a:r>
                    </a:p>
                  </a:txBody>
                  <a:tcPr>
                    <a:lnL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0835195"/>
                  </a:ext>
                </a:extLst>
              </a:tr>
              <a:tr h="221482">
                <a:tc>
                  <a:txBody>
                    <a:bodyPr/>
                    <a:lstStyle/>
                    <a:p>
                      <a:pPr algn="ctr" fontAlgn="auto"/>
                      <a:r>
                        <a:rPr lang="zh-TW" altLang="en-US" sz="12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​</a:t>
                      </a:r>
                    </a:p>
                  </a:txBody>
                  <a:tcPr>
                    <a:lnL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CDE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US" sz="12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9300</a:t>
                      </a:r>
                      <a:r>
                        <a:rPr lang="en-US" altLang="zh-TW" sz="1200" b="0" i="0" baseline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​</a:t>
                      </a:r>
                    </a:p>
                  </a:txBody>
                  <a:tcPr>
                    <a:lnL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CDE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US" altLang="zh-TW" sz="1200" b="0" i="0" baseline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1.81</a:t>
                      </a:r>
                    </a:p>
                  </a:txBody>
                  <a:tcPr>
                    <a:lnL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CDE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US" altLang="zh-TW" sz="1200" b="0" i="0" baseline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9077</a:t>
                      </a:r>
                    </a:p>
                  </a:txBody>
                  <a:tcPr>
                    <a:lnL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CD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86202100"/>
                  </a:ext>
                </a:extLst>
              </a:tr>
              <a:tr h="221482">
                <a:tc>
                  <a:txBody>
                    <a:bodyPr/>
                    <a:lstStyle/>
                    <a:p>
                      <a:pPr marR="0" algn="ctr" rtl="0" fontAlgn="auto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200" b="0" i="0" u="none" strike="noStrike" cap="none" baseline="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  <a:sym typeface="Arial"/>
                        </a:rPr>
                        <a:t>2.0 </a:t>
                      </a:r>
                      <a:r>
                        <a:rPr lang="en-US" altLang="zh-TW" sz="1200" b="0" i="0" u="none" strike="noStrike" cap="none" baseline="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  <a:sym typeface="Arial"/>
                        </a:rPr>
                        <a:t>​</a:t>
                      </a:r>
                    </a:p>
                  </a:txBody>
                  <a:tcPr>
                    <a:lnL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F6"/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auto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200" b="0" i="0" u="none" strike="noStrike" cap="none" baseline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  <a:sym typeface="Arial"/>
                        </a:rPr>
                        <a:t>5400</a:t>
                      </a:r>
                      <a:r>
                        <a:rPr lang="en-US" altLang="zh-TW" sz="1200" b="0" i="0" u="none" strike="noStrike" cap="none" baseline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  <a:sym typeface="Arial"/>
                        </a:rPr>
                        <a:t>​</a:t>
                      </a:r>
                    </a:p>
                  </a:txBody>
                  <a:tcPr>
                    <a:lnL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F6"/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base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altLang="zh-TW" sz="1200" b="0" i="0" u="none" strike="noStrike" cap="none" baseline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  <a:sym typeface="Arial"/>
                        </a:rPr>
                        <a:t>2.00</a:t>
                      </a:r>
                    </a:p>
                  </a:txBody>
                  <a:tcPr>
                    <a:lnL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F6"/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base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altLang="zh-TW" sz="1200" b="0" i="0" u="none" strike="noStrike" cap="none" baseline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  <a:sym typeface="Arial"/>
                        </a:rPr>
                        <a:t>5470</a:t>
                      </a:r>
                    </a:p>
                  </a:txBody>
                  <a:tcPr>
                    <a:lnL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62232550"/>
                  </a:ext>
                </a:extLst>
              </a:tr>
              <a:tr h="221482">
                <a:tc>
                  <a:txBody>
                    <a:bodyPr/>
                    <a:lstStyle/>
                    <a:p>
                      <a:pPr algn="ctr" fontAlgn="auto"/>
                      <a:r>
                        <a:rPr lang="zh-TW" altLang="en-US" sz="1200" b="0" i="0" u="none" strike="noStrike" baseline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​</a:t>
                      </a:r>
                    </a:p>
                  </a:txBody>
                  <a:tcPr>
                    <a:lnL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CDE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US" sz="1200" b="0" i="0" u="none" strike="noStrike" baseline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6500</a:t>
                      </a:r>
                      <a:r>
                        <a:rPr lang="en-US" altLang="zh-TW" sz="1200" b="0" i="0" baseline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​</a:t>
                      </a:r>
                    </a:p>
                  </a:txBody>
                  <a:tcPr>
                    <a:lnL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CDE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US" altLang="zh-TW" sz="1200" b="0" i="0" baseline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2.00</a:t>
                      </a:r>
                    </a:p>
                  </a:txBody>
                  <a:tcPr>
                    <a:lnL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CDE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US" altLang="zh-TW" sz="1200" b="0" i="0" baseline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6531</a:t>
                      </a:r>
                    </a:p>
                  </a:txBody>
                  <a:tcPr>
                    <a:lnL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CD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2535661"/>
                  </a:ext>
                </a:extLst>
              </a:tr>
              <a:tr h="221482">
                <a:tc>
                  <a:txBody>
                    <a:bodyPr/>
                    <a:lstStyle/>
                    <a:p>
                      <a:pPr algn="ctr" fontAlgn="auto"/>
                      <a:r>
                        <a:rPr lang="zh-TW" altLang="en-US" sz="1200" b="0" i="0" u="none" strike="noStrike" baseline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​</a:t>
                      </a:r>
                    </a:p>
                  </a:txBody>
                  <a:tcPr>
                    <a:lnL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F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US" sz="1200" b="0" i="0" u="none" strike="noStrike" baseline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9300</a:t>
                      </a:r>
                      <a:r>
                        <a:rPr lang="en-US" altLang="zh-TW" sz="1200" b="0" i="0" baseline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​</a:t>
                      </a:r>
                    </a:p>
                  </a:txBody>
                  <a:tcPr>
                    <a:lnL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F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US" altLang="zh-TW" sz="1200" b="0" i="0" baseline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2.01</a:t>
                      </a:r>
                    </a:p>
                  </a:txBody>
                  <a:tcPr>
                    <a:lnL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F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US" altLang="zh-TW" sz="1200" b="0" i="0" baseline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9103</a:t>
                      </a:r>
                    </a:p>
                  </a:txBody>
                  <a:tcPr>
                    <a:lnL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60412582"/>
                  </a:ext>
                </a:extLst>
              </a:tr>
              <a:tr h="221482">
                <a:tc>
                  <a:txBody>
                    <a:bodyPr/>
                    <a:lstStyle/>
                    <a:p>
                      <a:pPr algn="ctr" fontAlgn="base"/>
                      <a:r>
                        <a:rPr lang="en-US" sz="1200" b="0" i="0" u="none" strike="noStrike" baseline="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2.2</a:t>
                      </a:r>
                      <a:r>
                        <a:rPr lang="en-US" altLang="zh-TW" sz="1200" b="0" i="0" baseline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​</a:t>
                      </a:r>
                    </a:p>
                  </a:txBody>
                  <a:tcPr>
                    <a:lnL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CDE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US" sz="1200" b="0" i="0" u="none" strike="noStrike" baseline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5400</a:t>
                      </a:r>
                      <a:r>
                        <a:rPr lang="en-US" altLang="zh-TW" sz="1200" b="0" i="0" baseline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​</a:t>
                      </a:r>
                    </a:p>
                  </a:txBody>
                  <a:tcPr>
                    <a:lnL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CDE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US" altLang="zh-TW" sz="1200" b="0" i="0" baseline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2.20</a:t>
                      </a:r>
                    </a:p>
                  </a:txBody>
                  <a:tcPr>
                    <a:lnL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CDE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US" altLang="zh-TW" sz="1200" b="0" i="0" baseline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5725</a:t>
                      </a:r>
                    </a:p>
                  </a:txBody>
                  <a:tcPr>
                    <a:lnL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CD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63169574"/>
                  </a:ext>
                </a:extLst>
              </a:tr>
              <a:tr h="221482">
                <a:tc>
                  <a:txBody>
                    <a:bodyPr/>
                    <a:lstStyle/>
                    <a:p>
                      <a:pPr algn="ctr" fontAlgn="auto"/>
                      <a:r>
                        <a:rPr lang="zh-TW" altLang="en-US" sz="1200" b="0" i="0" u="none" strike="noStrike" baseline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​</a:t>
                      </a:r>
                    </a:p>
                  </a:txBody>
                  <a:tcPr>
                    <a:lnL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F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US" sz="1200" b="0" i="0" u="none" strike="noStrike" baseline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6500</a:t>
                      </a:r>
                      <a:r>
                        <a:rPr lang="en-US" altLang="zh-TW" sz="1200" b="0" i="0" baseline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​</a:t>
                      </a:r>
                    </a:p>
                  </a:txBody>
                  <a:tcPr>
                    <a:lnL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F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US" altLang="zh-TW" sz="1200" b="0" i="0" baseline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2.20</a:t>
                      </a:r>
                    </a:p>
                  </a:txBody>
                  <a:tcPr>
                    <a:lnL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F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US" altLang="zh-TW" sz="1200" b="0" i="0" baseline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6553</a:t>
                      </a:r>
                    </a:p>
                  </a:txBody>
                  <a:tcPr>
                    <a:lnL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7115609"/>
                  </a:ext>
                </a:extLst>
              </a:tr>
              <a:tr h="221482">
                <a:tc>
                  <a:txBody>
                    <a:bodyPr/>
                    <a:lstStyle/>
                    <a:p>
                      <a:pPr algn="ctr" fontAlgn="auto"/>
                      <a:r>
                        <a:rPr lang="zh-TW" altLang="en-US" sz="1200" b="0" i="0" u="none" strike="noStrike" baseline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​</a:t>
                      </a:r>
                    </a:p>
                  </a:txBody>
                  <a:tcPr>
                    <a:lnL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CDE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US" sz="1200" b="0" i="0" u="none" strike="noStrike" baseline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9300</a:t>
                      </a:r>
                      <a:r>
                        <a:rPr lang="en-US" altLang="zh-TW" sz="1200" b="0" i="0" baseline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​</a:t>
                      </a:r>
                    </a:p>
                  </a:txBody>
                  <a:tcPr>
                    <a:lnL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CDE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US" altLang="zh-TW" sz="1200" b="0" i="0" baseline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2.20</a:t>
                      </a:r>
                    </a:p>
                  </a:txBody>
                  <a:tcPr>
                    <a:lnL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CDE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US" altLang="zh-TW" sz="1200" b="0" i="0" baseline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9214</a:t>
                      </a:r>
                    </a:p>
                  </a:txBody>
                  <a:tcPr>
                    <a:lnL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CD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26184476"/>
                  </a:ext>
                </a:extLst>
              </a:tr>
              <a:tr h="221482">
                <a:tc>
                  <a:txBody>
                    <a:bodyPr/>
                    <a:lstStyle/>
                    <a:p>
                      <a:pPr algn="ctr" fontAlgn="base"/>
                      <a:r>
                        <a:rPr lang="en-US" sz="1200" b="0" i="0" u="none" strike="noStrike" baseline="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2.6</a:t>
                      </a:r>
                      <a:r>
                        <a:rPr lang="en-US" altLang="zh-TW" sz="1200" b="0" i="0" baseline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​</a:t>
                      </a:r>
                    </a:p>
                  </a:txBody>
                  <a:tcPr>
                    <a:lnL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F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US" sz="1200" b="0" i="0" u="none" strike="noStrike" baseline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5400</a:t>
                      </a:r>
                      <a:r>
                        <a:rPr lang="en-US" altLang="zh-TW" sz="1200" b="0" i="0" baseline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​</a:t>
                      </a:r>
                    </a:p>
                  </a:txBody>
                  <a:tcPr>
                    <a:lnL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F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US" altLang="zh-TW" sz="1200" b="0" i="0" baseline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2.59</a:t>
                      </a:r>
                    </a:p>
                  </a:txBody>
                  <a:tcPr>
                    <a:lnL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F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US" altLang="zh-TW" sz="1200" b="0" i="0" baseline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5505</a:t>
                      </a:r>
                    </a:p>
                  </a:txBody>
                  <a:tcPr>
                    <a:lnL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98639936"/>
                  </a:ext>
                </a:extLst>
              </a:tr>
              <a:tr h="221482">
                <a:tc>
                  <a:txBody>
                    <a:bodyPr/>
                    <a:lstStyle/>
                    <a:p>
                      <a:pPr algn="ctr" fontAlgn="auto"/>
                      <a:r>
                        <a:rPr lang="zh-TW" altLang="en-US" sz="1200" b="0" i="0" u="none" strike="noStrike" baseline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​</a:t>
                      </a:r>
                    </a:p>
                  </a:txBody>
                  <a:tcPr>
                    <a:lnL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CDE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US" sz="1200" b="0" i="0" u="none" strike="noStrike" baseline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6500</a:t>
                      </a:r>
                      <a:r>
                        <a:rPr lang="en-US" altLang="zh-TW" sz="1200" b="0" i="0" baseline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​</a:t>
                      </a:r>
                    </a:p>
                  </a:txBody>
                  <a:tcPr>
                    <a:lnL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CDE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US" altLang="zh-TW" sz="1200" b="0" i="0" baseline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2.59</a:t>
                      </a:r>
                    </a:p>
                  </a:txBody>
                  <a:tcPr>
                    <a:lnL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CDE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US" altLang="zh-TW" sz="1200" b="0" i="0" baseline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6813</a:t>
                      </a:r>
                    </a:p>
                  </a:txBody>
                  <a:tcPr>
                    <a:lnL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CD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73694682"/>
                  </a:ext>
                </a:extLst>
              </a:tr>
              <a:tr h="221482">
                <a:tc>
                  <a:txBody>
                    <a:bodyPr/>
                    <a:lstStyle/>
                    <a:p>
                      <a:pPr algn="ctr" fontAlgn="auto"/>
                      <a:r>
                        <a:rPr lang="zh-TW" altLang="en-US" sz="1200" b="0" i="0" u="none" strike="noStrike" baseline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​</a:t>
                      </a:r>
                    </a:p>
                  </a:txBody>
                  <a:tcPr>
                    <a:lnL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F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US" sz="1200" b="0" i="0" u="none" strike="noStrike" baseline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9300</a:t>
                      </a:r>
                      <a:r>
                        <a:rPr lang="en-US" altLang="zh-TW" sz="1200" b="0" i="0" baseline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​</a:t>
                      </a:r>
                    </a:p>
                  </a:txBody>
                  <a:tcPr>
                    <a:lnL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F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US" altLang="zh-TW" sz="1200" b="0" i="0" baseline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2.60</a:t>
                      </a:r>
                    </a:p>
                  </a:txBody>
                  <a:tcPr>
                    <a:lnL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F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US" altLang="zh-TW" sz="1200" b="0" i="0" baseline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9193</a:t>
                      </a:r>
                    </a:p>
                  </a:txBody>
                  <a:tcPr>
                    <a:lnL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823271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834313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0396C1-EA64-DABF-AB1E-DAC8812CEA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F4A029A-1C90-0045-D3C4-09B1AF59BE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2" y="474123"/>
            <a:ext cx="8077200" cy="533400"/>
          </a:xfrm>
        </p:spPr>
        <p:txBody>
          <a:bodyPr/>
          <a:lstStyle/>
          <a:p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上次進度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: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Monitor</a:t>
            </a:r>
            <a:endParaRPr lang="zh-TW" altLang="en-US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7" name="文字版面配置區 6">
            <a:extLst>
              <a:ext uri="{FF2B5EF4-FFF2-40B4-BE49-F238E27FC236}">
                <a16:creationId xmlns:a16="http://schemas.microsoft.com/office/drawing/2014/main" id="{CA232325-2F30-826A-0F33-B3038ABB7C4A}"/>
              </a:ext>
            </a:extLst>
          </p:cNvPr>
          <p:cNvSpPr txBox="1"/>
          <p:nvPr/>
        </p:nvSpPr>
        <p:spPr>
          <a:xfrm>
            <a:off x="490980" y="843945"/>
            <a:ext cx="8924039" cy="147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Noto Sans Symbols"/>
              <a:buChar char="❖"/>
              <a:defRPr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F5050"/>
              </a:buClr>
              <a:buSzPts val="2400"/>
              <a:buFont typeface="Noto Sans Symbols"/>
              <a:buChar char="▪"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6699FF"/>
              </a:buClr>
              <a:buSzPts val="2000"/>
              <a:buFont typeface="Times New Roman"/>
              <a:buChar char="•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>
              <a:lnSpc>
                <a:spcPts val="3000"/>
              </a:lnSpc>
            </a:pPr>
            <a:r>
              <a:rPr lang="en-US" altLang="zh-TW" sz="16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Gamma</a:t>
            </a:r>
            <a:r>
              <a:rPr lang="zh-TW" altLang="en-US" sz="16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校正時間</a:t>
            </a:r>
          </a:p>
          <a:p>
            <a:pPr lvl="1">
              <a:lnSpc>
                <a:spcPts val="3000"/>
              </a:lnSpc>
            </a:pP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MTK_9700</a:t>
            </a: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與</a:t>
            </a: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MARS_922</a:t>
            </a: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校正時間比較 </a:t>
            </a: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</a:t>
            </a: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燒入到 </a:t>
            </a: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EEPROM)</a:t>
            </a:r>
          </a:p>
        </p:txBody>
      </p:sp>
      <p:sp>
        <p:nvSpPr>
          <p:cNvPr id="11" name="Rectangle 2">
            <a:extLst>
              <a:ext uri="{FF2B5EF4-FFF2-40B4-BE49-F238E27FC236}">
                <a16:creationId xmlns:a16="http://schemas.microsoft.com/office/drawing/2014/main" id="{2F5CF38A-4C16-7F84-C947-6F490AD311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08263" y="1866900"/>
            <a:ext cx="9906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914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371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828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286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743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200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657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TW" altLang="zh-TW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TW" altLang="zh-TW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10" name="表格 9">
            <a:extLst>
              <a:ext uri="{FF2B5EF4-FFF2-40B4-BE49-F238E27FC236}">
                <a16:creationId xmlns:a16="http://schemas.microsoft.com/office/drawing/2014/main" id="{741963A7-B4AB-80FA-AF1D-620E484E855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36526509"/>
              </p:ext>
            </p:extLst>
          </p:nvPr>
        </p:nvGraphicFramePr>
        <p:xfrm>
          <a:off x="1771056" y="1791789"/>
          <a:ext cx="5754291" cy="1920240"/>
        </p:xfrm>
        <a:graphic>
          <a:graphicData uri="http://schemas.openxmlformats.org/drawingml/2006/table">
            <a:tbl>
              <a:tblPr/>
              <a:tblGrid>
                <a:gridCol w="1678305">
                  <a:extLst>
                    <a:ext uri="{9D8B030D-6E8A-4147-A177-3AD203B41FA5}">
                      <a16:colId xmlns:a16="http://schemas.microsoft.com/office/drawing/2014/main" val="1280648839"/>
                    </a:ext>
                  </a:extLst>
                </a:gridCol>
                <a:gridCol w="1084580">
                  <a:extLst>
                    <a:ext uri="{9D8B030D-6E8A-4147-A177-3AD203B41FA5}">
                      <a16:colId xmlns:a16="http://schemas.microsoft.com/office/drawing/2014/main" val="138896537"/>
                    </a:ext>
                  </a:extLst>
                </a:gridCol>
                <a:gridCol w="1084580">
                  <a:extLst>
                    <a:ext uri="{9D8B030D-6E8A-4147-A177-3AD203B41FA5}">
                      <a16:colId xmlns:a16="http://schemas.microsoft.com/office/drawing/2014/main" val="114248355"/>
                    </a:ext>
                  </a:extLst>
                </a:gridCol>
                <a:gridCol w="932180">
                  <a:extLst>
                    <a:ext uri="{9D8B030D-6E8A-4147-A177-3AD203B41FA5}">
                      <a16:colId xmlns:a16="http://schemas.microsoft.com/office/drawing/2014/main" val="1501684541"/>
                    </a:ext>
                  </a:extLst>
                </a:gridCol>
                <a:gridCol w="974646">
                  <a:extLst>
                    <a:ext uri="{9D8B030D-6E8A-4147-A177-3AD203B41FA5}">
                      <a16:colId xmlns:a16="http://schemas.microsoft.com/office/drawing/2014/main" val="3985466103"/>
                    </a:ext>
                  </a:extLst>
                </a:gridCol>
              </a:tblGrid>
              <a:tr h="221482">
                <a:tc>
                  <a:txBody>
                    <a:bodyPr/>
                    <a:lstStyle/>
                    <a:p>
                      <a:pPr algn="ctr" fontAlgn="auto"/>
                      <a:r>
                        <a:rPr lang="en-US" altLang="zh-TW" sz="1200" b="1" i="0" u="none" strike="noStrike" baseline="0" dirty="0">
                          <a:solidFill>
                            <a:srgbClr val="FFFF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MTK_</a:t>
                      </a:r>
                      <a:r>
                        <a:rPr lang="zh-TW" altLang="en-US" sz="1200" b="1" i="0" u="none" strike="noStrike" baseline="0" dirty="0">
                          <a:solidFill>
                            <a:srgbClr val="FFFF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​</a:t>
                      </a:r>
                      <a:r>
                        <a:rPr lang="en-US" altLang="zh-TW" sz="1200" baseline="0" dirty="0">
                          <a:solidFill>
                            <a:srgbClr val="FFFF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9700</a:t>
                      </a:r>
                      <a:endParaRPr lang="zh-TW" altLang="en-US" sz="1200" b="1" i="0" u="none" strike="noStrike" baseline="0" dirty="0">
                        <a:solidFill>
                          <a:srgbClr val="FFFF00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</a:endParaRPr>
                    </a:p>
                  </a:txBody>
                  <a:tcPr>
                    <a:lnL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439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3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zh-TW" altLang="en-US" sz="1200" b="1" i="0" u="none" strike="noStrike" baseline="0" dirty="0"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校正時間</a:t>
                      </a:r>
                      <a:r>
                        <a:rPr lang="zh-TW" altLang="en-US" sz="1200" b="1" i="0" baseline="0" dirty="0"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​</a:t>
                      </a:r>
                      <a:r>
                        <a:rPr lang="en-US" altLang="zh-TW" sz="1200" b="1" i="0" baseline="0" dirty="0"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(</a:t>
                      </a:r>
                      <a:r>
                        <a:rPr lang="zh-TW" altLang="en-US" sz="1200" b="1" i="0" baseline="0" dirty="0"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秒</a:t>
                      </a:r>
                      <a:r>
                        <a:rPr lang="en-US" altLang="zh-TW" sz="1200" b="1" i="0" baseline="0" dirty="0"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)</a:t>
                      </a:r>
                      <a:endParaRPr lang="zh-TW" altLang="en-US" sz="1200" b="1" i="0" baseline="0" dirty="0">
                        <a:solidFill>
                          <a:srgbClr val="FFFFFF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</a:endParaRPr>
                    </a:p>
                  </a:txBody>
                  <a:tcPr>
                    <a:lnL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439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3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zh-TW" altLang="en-US" sz="1200" b="1" i="0" u="none" strike="noStrike" baseline="0" dirty="0">
                          <a:solidFill>
                            <a:srgbClr val="FFC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驗證時間</a:t>
                      </a:r>
                      <a:r>
                        <a:rPr lang="en-US" altLang="zh-TW" sz="1200" b="1" i="0" u="none" strike="noStrike" baseline="0" dirty="0">
                          <a:solidFill>
                            <a:srgbClr val="FFC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(</a:t>
                      </a:r>
                      <a:r>
                        <a:rPr lang="zh-TW" altLang="en-US" sz="1200" b="1" i="0" u="none" strike="noStrike" baseline="0" dirty="0">
                          <a:solidFill>
                            <a:srgbClr val="FFC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秒</a:t>
                      </a:r>
                      <a:r>
                        <a:rPr lang="en-US" altLang="zh-TW" sz="1200" b="1" i="0" u="none" strike="noStrike" baseline="0" dirty="0">
                          <a:solidFill>
                            <a:srgbClr val="FFC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)</a:t>
                      </a:r>
                      <a:endParaRPr lang="zh-TW" altLang="en-US" sz="1200" b="1" i="0" baseline="0" dirty="0">
                        <a:solidFill>
                          <a:srgbClr val="FFFFFF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</a:endParaRPr>
                    </a:p>
                  </a:txBody>
                  <a:tcPr>
                    <a:lnL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439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3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zh-TW" altLang="en-US" sz="1200" b="1" i="0" u="none" strike="noStrike" baseline="0" dirty="0"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總時間</a:t>
                      </a:r>
                      <a:r>
                        <a:rPr lang="en-US" altLang="zh-TW" sz="1200" b="1" i="0" u="none" strike="noStrike" baseline="0" dirty="0"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(</a:t>
                      </a:r>
                      <a:r>
                        <a:rPr lang="zh-TW" altLang="en-US" sz="1200" b="1" i="0" u="none" strike="noStrike" baseline="0" dirty="0"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秒</a:t>
                      </a:r>
                      <a:r>
                        <a:rPr lang="en-US" altLang="zh-TW" sz="1200" b="1" i="0" u="none" strike="noStrike" baseline="0" dirty="0"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)</a:t>
                      </a:r>
                      <a:endParaRPr lang="zh-TW" altLang="en-US" sz="1200" b="1" i="0" baseline="0" dirty="0">
                        <a:solidFill>
                          <a:srgbClr val="FFFFFF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</a:endParaRPr>
                    </a:p>
                  </a:txBody>
                  <a:tcPr>
                    <a:lnL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439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3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zh-TW" altLang="en-US" sz="1200" b="1" i="0" baseline="0" dirty="0"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總時間</a:t>
                      </a:r>
                      <a:r>
                        <a:rPr lang="en-US" altLang="zh-TW" sz="1200" b="1" i="0" baseline="0" dirty="0"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(</a:t>
                      </a:r>
                      <a:r>
                        <a:rPr lang="zh-TW" altLang="en-US" sz="1200" b="1" i="0" baseline="0" dirty="0"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分</a:t>
                      </a:r>
                      <a:r>
                        <a:rPr lang="en-US" altLang="zh-TW" sz="1200" b="1" i="0" baseline="0" dirty="0"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)</a:t>
                      </a:r>
                      <a:endParaRPr lang="zh-TW" altLang="en-US" sz="1200" b="1" i="0" baseline="0" dirty="0">
                        <a:solidFill>
                          <a:srgbClr val="FFFFFF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</a:endParaRPr>
                    </a:p>
                  </a:txBody>
                  <a:tcPr>
                    <a:lnL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439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3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76011860"/>
                  </a:ext>
                </a:extLst>
              </a:tr>
              <a:tr h="221482">
                <a:tc>
                  <a:txBody>
                    <a:bodyPr/>
                    <a:lstStyle/>
                    <a:p>
                      <a:pPr algn="l" fontAlgn="base"/>
                      <a:r>
                        <a:rPr lang="en-US" altLang="zh-TW" sz="1200" b="0" i="0" u="none" strike="noStrike" baseline="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1</a:t>
                      </a:r>
                      <a:r>
                        <a:rPr lang="zh-TW" altLang="en-US" sz="1200" b="0" i="0" u="none" strike="noStrike" baseline="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組 </a:t>
                      </a:r>
                      <a:r>
                        <a:rPr lang="en-US" altLang="zh-TW" sz="1200" b="0" i="0" u="none" strike="noStrike" baseline="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Gamma</a:t>
                      </a:r>
                      <a:r>
                        <a:rPr lang="en-US" altLang="zh-TW" sz="1200" b="0" i="0" baseline="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​</a:t>
                      </a:r>
                    </a:p>
                  </a:txBody>
                  <a:tcPr>
                    <a:lnL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439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CDE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altLang="zh-TW" sz="1200" b="0" i="0" baseline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348.58</a:t>
                      </a:r>
                    </a:p>
                  </a:txBody>
                  <a:tcPr>
                    <a:lnL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439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CDE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altLang="zh-TW" sz="1200" b="0" i="0" baseline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145.87</a:t>
                      </a:r>
                    </a:p>
                  </a:txBody>
                  <a:tcPr>
                    <a:lnL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439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CDE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2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494.45</a:t>
                      </a:r>
                      <a:endParaRPr lang="en-US" altLang="zh-TW" sz="1200" b="0" i="0" baseline="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</a:endParaRPr>
                    </a:p>
                  </a:txBody>
                  <a:tcPr>
                    <a:lnL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439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CDE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altLang="zh-TW" sz="1200" b="0" i="0" baseline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8</a:t>
                      </a:r>
                    </a:p>
                  </a:txBody>
                  <a:tcPr>
                    <a:lnL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439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CD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13265698"/>
                  </a:ext>
                </a:extLst>
              </a:tr>
              <a:tr h="248697">
                <a:tc>
                  <a:txBody>
                    <a:bodyPr/>
                    <a:lstStyle/>
                    <a:p>
                      <a:pPr marR="0" algn="l" rtl="0" fontAlgn="base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zh-TW" altLang="en-US" sz="1200" b="0" i="0" u="none" strike="noStrike" cap="none" baseline="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  <a:sym typeface="Arial"/>
                        </a:rPr>
                        <a:t>​</a:t>
                      </a:r>
                      <a:r>
                        <a:rPr lang="en-US" altLang="zh-TW" sz="1200" b="0" i="0" u="none" strike="noStrike" cap="none" baseline="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  <a:sym typeface="Arial"/>
                        </a:rPr>
                        <a:t>1</a:t>
                      </a:r>
                      <a:r>
                        <a:rPr lang="zh-TW" altLang="en-US" sz="1200" b="0" i="0" u="none" strike="noStrike" cap="none" baseline="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  <a:sym typeface="Arial"/>
                        </a:rPr>
                        <a:t>組 </a:t>
                      </a:r>
                      <a:r>
                        <a:rPr lang="en-US" altLang="zh-TW" sz="1200" b="0" i="0" u="none" strike="noStrike" cap="none" baseline="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  <a:sym typeface="Arial"/>
                        </a:rPr>
                        <a:t>DICOM</a:t>
                      </a:r>
                      <a:endParaRPr lang="zh-TW" altLang="en-US" sz="1200" b="0" i="0" u="none" strike="noStrike" cap="none" baseline="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+mn-cs"/>
                        <a:sym typeface="Arial"/>
                      </a:endParaRPr>
                    </a:p>
                  </a:txBody>
                  <a:tcPr>
                    <a:lnL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F6"/>
                    </a:solidFill>
                  </a:tcPr>
                </a:tc>
                <a:tc>
                  <a:txBody>
                    <a:bodyPr/>
                    <a:lstStyle/>
                    <a:p>
                      <a:pPr marR="0" algn="l" rtl="0" fontAlgn="base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200" b="0" i="0" u="none" strike="noStrike" cap="none" baseline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  <a:sym typeface="Arial"/>
                        </a:rPr>
                        <a:t>235.38</a:t>
                      </a:r>
                      <a:endParaRPr lang="en-US" altLang="zh-TW" sz="1200" b="0" i="0" u="none" strike="noStrike" cap="none" baseline="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+mn-cs"/>
                        <a:sym typeface="Arial"/>
                      </a:endParaRPr>
                    </a:p>
                  </a:txBody>
                  <a:tcPr>
                    <a:lnL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F6"/>
                    </a:solidFill>
                  </a:tcPr>
                </a:tc>
                <a:tc>
                  <a:txBody>
                    <a:bodyPr/>
                    <a:lstStyle/>
                    <a:p>
                      <a:pPr marR="0" algn="l" rtl="0" fontAlgn="base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200" b="0" i="0" u="none" strike="noStrike" cap="none" baseline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  <a:sym typeface="Arial"/>
                        </a:rPr>
                        <a:t>148.82</a:t>
                      </a:r>
                      <a:endParaRPr lang="en-US" altLang="zh-TW" sz="1200" b="0" i="0" u="none" strike="noStrike" cap="none" baseline="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+mn-cs"/>
                        <a:sym typeface="Arial"/>
                      </a:endParaRPr>
                    </a:p>
                  </a:txBody>
                  <a:tcPr>
                    <a:lnL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F6"/>
                    </a:solidFill>
                  </a:tcPr>
                </a:tc>
                <a:tc>
                  <a:txBody>
                    <a:bodyPr/>
                    <a:lstStyle/>
                    <a:p>
                      <a:pPr marR="0" algn="l" rtl="0" fontAlgn="base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200" b="0" i="0" u="none" strike="noStrike" cap="none" baseline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  <a:sym typeface="Arial"/>
                        </a:rPr>
                        <a:t>384.2</a:t>
                      </a:r>
                      <a:endParaRPr lang="en-US" altLang="zh-TW" sz="1200" b="0" i="0" u="none" strike="noStrike" cap="none" baseline="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+mn-cs"/>
                        <a:sym typeface="Arial"/>
                      </a:endParaRPr>
                    </a:p>
                  </a:txBody>
                  <a:tcPr>
                    <a:lnL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F6"/>
                    </a:solidFill>
                  </a:tcPr>
                </a:tc>
                <a:tc>
                  <a:txBody>
                    <a:bodyPr/>
                    <a:lstStyle/>
                    <a:p>
                      <a:pPr marR="0" algn="l" rtl="0" fontAlgn="base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altLang="zh-TW" sz="1200" b="0" i="0" u="none" strike="noStrike" cap="none" baseline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  <a:sym typeface="Arial"/>
                        </a:rPr>
                        <a:t>6</a:t>
                      </a:r>
                    </a:p>
                  </a:txBody>
                  <a:tcPr>
                    <a:lnL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0835195"/>
                  </a:ext>
                </a:extLst>
              </a:tr>
              <a:tr h="221482">
                <a:tc>
                  <a:txBody>
                    <a:bodyPr/>
                    <a:lstStyle/>
                    <a:p>
                      <a:pPr algn="l" fontAlgn="auto"/>
                      <a:r>
                        <a:rPr lang="zh-TW" altLang="en-US" sz="1200" b="0" i="0" u="none" strike="noStrike" baseline="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​</a:t>
                      </a:r>
                    </a:p>
                  </a:txBody>
                  <a:tcPr>
                    <a:lnL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CDE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endParaRPr lang="en-US" altLang="zh-TW" sz="1200" b="0" i="0" baseline="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</a:endParaRPr>
                    </a:p>
                  </a:txBody>
                  <a:tcPr>
                    <a:lnL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CDE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endParaRPr lang="en-US" altLang="zh-TW" sz="1200" b="0" i="0" baseline="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</a:endParaRPr>
                    </a:p>
                  </a:txBody>
                  <a:tcPr>
                    <a:lnL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CDE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endParaRPr lang="en-US" altLang="zh-TW" sz="1200" b="0" i="0" baseline="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</a:endParaRPr>
                    </a:p>
                  </a:txBody>
                  <a:tcPr>
                    <a:lnL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CDE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endParaRPr lang="en-US" altLang="zh-TW" sz="1200" b="0" i="0" baseline="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</a:endParaRPr>
                    </a:p>
                  </a:txBody>
                  <a:tcPr>
                    <a:lnL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CD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86202100"/>
                  </a:ext>
                </a:extLst>
              </a:tr>
              <a:tr h="221482">
                <a:tc>
                  <a:txBody>
                    <a:bodyPr/>
                    <a:lstStyle/>
                    <a:p>
                      <a:pPr marR="0" algn="l" rtl="0" fontAlgn="auto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200" b="0" i="0" u="none" strike="noStrike" cap="none" baseline="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  <a:sym typeface="Arial"/>
                        </a:rPr>
                        <a:t>1</a:t>
                      </a:r>
                      <a:r>
                        <a:rPr lang="zh-TW" altLang="en-US" sz="1200" b="0" i="0" u="none" strike="noStrike" cap="none" baseline="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  <a:sym typeface="Arial"/>
                        </a:rPr>
                        <a:t>組 </a:t>
                      </a:r>
                      <a:r>
                        <a:rPr lang="en-US" altLang="zh-TW" sz="1200" b="0" i="0" u="none" strike="noStrike" cap="none" baseline="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  <a:sym typeface="Arial"/>
                        </a:rPr>
                        <a:t>DICOM + Gamma</a:t>
                      </a:r>
                      <a:r>
                        <a:rPr lang="en-US" sz="1200" b="0" i="0" u="none" strike="noStrike" cap="none" baseline="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  <a:sym typeface="Arial"/>
                        </a:rPr>
                        <a:t> </a:t>
                      </a:r>
                      <a:r>
                        <a:rPr lang="en-US" altLang="zh-TW" sz="1200" b="0" i="0" u="none" strike="noStrike" cap="none" baseline="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  <a:sym typeface="Arial"/>
                        </a:rPr>
                        <a:t>​</a:t>
                      </a:r>
                    </a:p>
                  </a:txBody>
                  <a:tcPr>
                    <a:lnL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F6"/>
                    </a:solidFill>
                  </a:tcPr>
                </a:tc>
                <a:tc>
                  <a:txBody>
                    <a:bodyPr/>
                    <a:lstStyle/>
                    <a:p>
                      <a:pPr marR="0" algn="l" rtl="0" fontAlgn="auto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200" b="0" i="0" u="none" strike="noStrike" cap="none" baseline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  <a:sym typeface="Arial"/>
                        </a:rPr>
                        <a:t>587.94</a:t>
                      </a:r>
                      <a:r>
                        <a:rPr lang="en-US" altLang="zh-TW" sz="1200" b="0" i="0" u="none" strike="noStrike" cap="none" baseline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  <a:sym typeface="Arial"/>
                        </a:rPr>
                        <a:t>​</a:t>
                      </a:r>
                    </a:p>
                  </a:txBody>
                  <a:tcPr>
                    <a:lnL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F6"/>
                    </a:solidFill>
                  </a:tcPr>
                </a:tc>
                <a:tc>
                  <a:txBody>
                    <a:bodyPr/>
                    <a:lstStyle/>
                    <a:p>
                      <a:pPr marR="0" algn="l" rtl="0" fontAlgn="base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200" b="0" i="0" u="none" strike="noStrike" cap="none" baseline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  <a:sym typeface="Arial"/>
                        </a:rPr>
                        <a:t>295.98</a:t>
                      </a:r>
                      <a:endParaRPr lang="en-US" altLang="zh-TW" sz="1200" b="0" i="0" u="none" strike="noStrike" cap="none" baseline="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+mn-cs"/>
                        <a:sym typeface="Arial"/>
                      </a:endParaRPr>
                    </a:p>
                  </a:txBody>
                  <a:tcPr>
                    <a:lnL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F6"/>
                    </a:solidFill>
                  </a:tcPr>
                </a:tc>
                <a:tc>
                  <a:txBody>
                    <a:bodyPr/>
                    <a:lstStyle/>
                    <a:p>
                      <a:pPr marR="0" algn="l" rtl="0" fontAlgn="base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200" b="0" i="0" u="none" strike="noStrike" cap="none" baseline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  <a:sym typeface="Arial"/>
                        </a:rPr>
                        <a:t>883.92</a:t>
                      </a:r>
                      <a:endParaRPr lang="en-US" altLang="zh-TW" sz="1200" b="0" i="0" u="none" strike="noStrike" cap="none" baseline="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+mn-cs"/>
                        <a:sym typeface="Arial"/>
                      </a:endParaRPr>
                    </a:p>
                  </a:txBody>
                  <a:tcPr>
                    <a:lnL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F6"/>
                    </a:solidFill>
                  </a:tcPr>
                </a:tc>
                <a:tc>
                  <a:txBody>
                    <a:bodyPr/>
                    <a:lstStyle/>
                    <a:p>
                      <a:pPr marR="0" algn="l" rtl="0" fontAlgn="base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altLang="zh-TW" sz="1200" b="0" i="0" u="none" strike="noStrike" cap="none" baseline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  <a:sym typeface="Arial"/>
                        </a:rPr>
                        <a:t>14</a:t>
                      </a:r>
                    </a:p>
                  </a:txBody>
                  <a:tcPr>
                    <a:lnL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62232550"/>
                  </a:ext>
                </a:extLst>
              </a:tr>
              <a:tr h="221482">
                <a:tc>
                  <a:txBody>
                    <a:bodyPr/>
                    <a:lstStyle/>
                    <a:p>
                      <a:pPr algn="l" fontAlgn="auto"/>
                      <a:r>
                        <a:rPr lang="zh-TW" altLang="en-US" sz="1200" b="0" i="0" u="none" strike="noStrike" baseline="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​</a:t>
                      </a:r>
                    </a:p>
                  </a:txBody>
                  <a:tcPr>
                    <a:lnL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CDE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endParaRPr lang="en-US" altLang="zh-TW" sz="1200" b="0" i="0" baseline="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</a:endParaRPr>
                    </a:p>
                  </a:txBody>
                  <a:tcPr>
                    <a:lnL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CDE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endParaRPr lang="en-US" altLang="zh-TW" sz="1200" b="0" i="0" baseline="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</a:endParaRPr>
                    </a:p>
                  </a:txBody>
                  <a:tcPr>
                    <a:lnL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CDE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endParaRPr lang="en-US" altLang="zh-TW" sz="1200" b="0" i="0" baseline="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</a:endParaRPr>
                    </a:p>
                  </a:txBody>
                  <a:tcPr>
                    <a:lnL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CDE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endParaRPr lang="en-US" altLang="zh-TW" sz="1200" b="0" i="0" baseline="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</a:endParaRPr>
                    </a:p>
                  </a:txBody>
                  <a:tcPr>
                    <a:lnL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CD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2535661"/>
                  </a:ext>
                </a:extLst>
              </a:tr>
              <a:tr h="221482">
                <a:tc>
                  <a:txBody>
                    <a:bodyPr/>
                    <a:lstStyle/>
                    <a:p>
                      <a:pPr algn="l" fontAlgn="auto"/>
                      <a:r>
                        <a:rPr lang="en-US" altLang="zh-TW" sz="1200" b="0" i="0" u="none" strike="noStrike" cap="none" baseline="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  <a:sym typeface="Arial"/>
                        </a:rPr>
                        <a:t>2</a:t>
                      </a:r>
                      <a:r>
                        <a:rPr lang="zh-TW" altLang="en-US" sz="1200" b="0" i="0" u="none" strike="noStrike" cap="none" baseline="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  <a:sym typeface="Arial"/>
                        </a:rPr>
                        <a:t>組 </a:t>
                      </a:r>
                      <a:r>
                        <a:rPr lang="en-US" altLang="zh-TW" sz="1200" b="0" i="0" u="none" strike="noStrike" cap="none" baseline="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  <a:sym typeface="Arial"/>
                        </a:rPr>
                        <a:t>Gamma </a:t>
                      </a:r>
                      <a:r>
                        <a:rPr lang="zh-TW" altLang="en-US" sz="1200" b="0" i="0" u="none" strike="noStrike" baseline="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​</a:t>
                      </a:r>
                    </a:p>
                  </a:txBody>
                  <a:tcPr>
                    <a:lnL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F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2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574.40</a:t>
                      </a:r>
                      <a:endParaRPr lang="en-US" altLang="zh-TW" sz="1200" b="0" i="0" baseline="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</a:endParaRPr>
                    </a:p>
                  </a:txBody>
                  <a:tcPr>
                    <a:lnL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F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2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244.25</a:t>
                      </a:r>
                      <a:endParaRPr lang="en-US" altLang="zh-TW" sz="1200" b="0" i="0" baseline="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</a:endParaRPr>
                    </a:p>
                  </a:txBody>
                  <a:tcPr>
                    <a:lnL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F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2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818.65</a:t>
                      </a:r>
                      <a:endParaRPr lang="en-US" altLang="zh-TW" sz="1200" b="0" i="0" baseline="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</a:endParaRPr>
                    </a:p>
                  </a:txBody>
                  <a:tcPr>
                    <a:lnL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F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altLang="zh-TW" sz="1200" b="0" i="0" baseline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13</a:t>
                      </a:r>
                    </a:p>
                  </a:txBody>
                  <a:tcPr>
                    <a:lnL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60412582"/>
                  </a:ext>
                </a:extLst>
              </a:tr>
            </a:tbl>
          </a:graphicData>
        </a:graphic>
      </p:graphicFrame>
      <p:graphicFrame>
        <p:nvGraphicFramePr>
          <p:cNvPr id="12" name="表格 11">
            <a:extLst>
              <a:ext uri="{FF2B5EF4-FFF2-40B4-BE49-F238E27FC236}">
                <a16:creationId xmlns:a16="http://schemas.microsoft.com/office/drawing/2014/main" id="{C55765E2-2183-0520-3900-A10D9BB9DB3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90489519"/>
              </p:ext>
            </p:extLst>
          </p:nvPr>
        </p:nvGraphicFramePr>
        <p:xfrm>
          <a:off x="1771056" y="3928353"/>
          <a:ext cx="5796757" cy="2743200"/>
        </p:xfrm>
        <a:graphic>
          <a:graphicData uri="http://schemas.openxmlformats.org/drawingml/2006/table">
            <a:tbl>
              <a:tblPr/>
              <a:tblGrid>
                <a:gridCol w="1678305">
                  <a:extLst>
                    <a:ext uri="{9D8B030D-6E8A-4147-A177-3AD203B41FA5}">
                      <a16:colId xmlns:a16="http://schemas.microsoft.com/office/drawing/2014/main" val="1280648839"/>
                    </a:ext>
                  </a:extLst>
                </a:gridCol>
                <a:gridCol w="1084580">
                  <a:extLst>
                    <a:ext uri="{9D8B030D-6E8A-4147-A177-3AD203B41FA5}">
                      <a16:colId xmlns:a16="http://schemas.microsoft.com/office/drawing/2014/main" val="138896537"/>
                    </a:ext>
                  </a:extLst>
                </a:gridCol>
                <a:gridCol w="1084580">
                  <a:extLst>
                    <a:ext uri="{9D8B030D-6E8A-4147-A177-3AD203B41FA5}">
                      <a16:colId xmlns:a16="http://schemas.microsoft.com/office/drawing/2014/main" val="114248355"/>
                    </a:ext>
                  </a:extLst>
                </a:gridCol>
                <a:gridCol w="974646">
                  <a:extLst>
                    <a:ext uri="{9D8B030D-6E8A-4147-A177-3AD203B41FA5}">
                      <a16:colId xmlns:a16="http://schemas.microsoft.com/office/drawing/2014/main" val="1501684541"/>
                    </a:ext>
                  </a:extLst>
                </a:gridCol>
                <a:gridCol w="974646">
                  <a:extLst>
                    <a:ext uri="{9D8B030D-6E8A-4147-A177-3AD203B41FA5}">
                      <a16:colId xmlns:a16="http://schemas.microsoft.com/office/drawing/2014/main" val="4189185256"/>
                    </a:ext>
                  </a:extLst>
                </a:gridCol>
              </a:tblGrid>
              <a:tr h="221482">
                <a:tc>
                  <a:txBody>
                    <a:bodyPr/>
                    <a:lstStyle/>
                    <a:p>
                      <a:pPr algn="ctr" fontAlgn="auto"/>
                      <a:r>
                        <a:rPr lang="en-US" altLang="zh-TW" sz="1200" b="1" i="0" u="none" strike="noStrike" baseline="0" dirty="0">
                          <a:solidFill>
                            <a:srgbClr val="FFFF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MARS_922</a:t>
                      </a:r>
                      <a:endParaRPr lang="zh-TW" altLang="en-US" sz="1200" b="1" i="0" u="none" strike="noStrike" baseline="0" dirty="0">
                        <a:solidFill>
                          <a:srgbClr val="FFFF00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</a:endParaRPr>
                    </a:p>
                  </a:txBody>
                  <a:tcPr>
                    <a:lnL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439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3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zh-TW" altLang="en-US" sz="1200" b="1" i="0" u="none" strike="noStrike" baseline="0" dirty="0"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校正時間</a:t>
                      </a:r>
                      <a:r>
                        <a:rPr lang="zh-TW" altLang="en-US" sz="1200" b="1" i="0" baseline="0" dirty="0"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​</a:t>
                      </a:r>
                      <a:r>
                        <a:rPr lang="en-US" altLang="zh-TW" sz="1200" b="1" i="0" baseline="0" dirty="0"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(</a:t>
                      </a:r>
                      <a:r>
                        <a:rPr lang="zh-TW" altLang="en-US" sz="1200" b="1" i="0" baseline="0" dirty="0"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秒</a:t>
                      </a:r>
                      <a:r>
                        <a:rPr lang="en-US" altLang="zh-TW" sz="1200" b="1" i="0" baseline="0" dirty="0"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)</a:t>
                      </a:r>
                      <a:endParaRPr lang="zh-TW" altLang="en-US" sz="1200" b="1" i="0" baseline="0" dirty="0">
                        <a:solidFill>
                          <a:srgbClr val="FFFFFF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</a:endParaRPr>
                    </a:p>
                  </a:txBody>
                  <a:tcPr>
                    <a:lnL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439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3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zh-TW" altLang="en-US" sz="1200" b="1" i="0" u="none" strike="noStrike" baseline="0" dirty="0">
                          <a:solidFill>
                            <a:srgbClr val="FFC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驗證時間</a:t>
                      </a:r>
                      <a:r>
                        <a:rPr lang="en-US" altLang="zh-TW" sz="1200" b="1" i="0" u="none" strike="noStrike" baseline="0" dirty="0">
                          <a:solidFill>
                            <a:srgbClr val="FFC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(</a:t>
                      </a:r>
                      <a:r>
                        <a:rPr lang="zh-TW" altLang="en-US" sz="1200" b="1" i="0" u="none" strike="noStrike" baseline="0" dirty="0">
                          <a:solidFill>
                            <a:srgbClr val="FFC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秒</a:t>
                      </a:r>
                      <a:r>
                        <a:rPr lang="en-US" altLang="zh-TW" sz="1200" b="1" i="0" u="none" strike="noStrike" baseline="0" dirty="0">
                          <a:solidFill>
                            <a:srgbClr val="FFC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)</a:t>
                      </a:r>
                      <a:endParaRPr lang="zh-TW" altLang="en-US" sz="1200" b="1" i="0" baseline="0" dirty="0">
                        <a:solidFill>
                          <a:srgbClr val="FFFFFF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</a:endParaRPr>
                    </a:p>
                  </a:txBody>
                  <a:tcPr>
                    <a:lnL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439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3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zh-TW" altLang="en-US" sz="1200" b="1" i="0" u="none" strike="noStrike" baseline="0" dirty="0"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總時間</a:t>
                      </a:r>
                      <a:r>
                        <a:rPr lang="en-US" altLang="zh-TW" sz="1200" b="1" i="0" u="none" strike="noStrike" baseline="0" dirty="0"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(</a:t>
                      </a:r>
                      <a:r>
                        <a:rPr lang="zh-TW" altLang="en-US" sz="1200" b="1" i="0" u="none" strike="noStrike" baseline="0" dirty="0"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秒</a:t>
                      </a:r>
                      <a:r>
                        <a:rPr lang="en-US" altLang="zh-TW" sz="1200" b="1" i="0" u="none" strike="noStrike" baseline="0" dirty="0"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)</a:t>
                      </a:r>
                      <a:endParaRPr lang="zh-TW" altLang="en-US" sz="1200" b="1" i="0" baseline="0" dirty="0">
                        <a:solidFill>
                          <a:srgbClr val="FFFFFF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</a:endParaRPr>
                    </a:p>
                  </a:txBody>
                  <a:tcPr>
                    <a:lnL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439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3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zh-TW" altLang="en-US" sz="1200" b="1" i="0" baseline="0" dirty="0"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總時間</a:t>
                      </a:r>
                      <a:r>
                        <a:rPr lang="en-US" altLang="zh-TW" sz="1200" b="1" i="0" baseline="0" dirty="0"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(</a:t>
                      </a:r>
                      <a:r>
                        <a:rPr lang="zh-TW" altLang="en-US" sz="1200" b="1" i="0" baseline="0" dirty="0"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分</a:t>
                      </a:r>
                      <a:r>
                        <a:rPr lang="en-US" altLang="zh-TW" sz="1200" b="1" i="0" baseline="0" dirty="0"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)</a:t>
                      </a:r>
                      <a:endParaRPr lang="zh-TW" altLang="en-US" sz="1200" b="1" i="0" baseline="0" dirty="0">
                        <a:solidFill>
                          <a:srgbClr val="FFFFFF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</a:endParaRPr>
                    </a:p>
                  </a:txBody>
                  <a:tcPr>
                    <a:lnL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439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3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76011860"/>
                  </a:ext>
                </a:extLst>
              </a:tr>
              <a:tr h="221482">
                <a:tc>
                  <a:txBody>
                    <a:bodyPr/>
                    <a:lstStyle/>
                    <a:p>
                      <a:pPr algn="l" fontAlgn="base"/>
                      <a:r>
                        <a:rPr lang="en-US" altLang="zh-TW" sz="1200" b="0" i="0" u="none" strike="noStrike" baseline="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1</a:t>
                      </a:r>
                      <a:r>
                        <a:rPr lang="zh-TW" altLang="en-US" sz="1200" b="0" i="0" u="none" strike="noStrike" baseline="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組 </a:t>
                      </a:r>
                      <a:r>
                        <a:rPr lang="en-US" altLang="zh-TW" sz="1200" b="0" i="0" u="none" strike="noStrike" baseline="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Gamma</a:t>
                      </a:r>
                      <a:r>
                        <a:rPr lang="en-US" altLang="zh-TW" sz="1200" b="0" i="0" baseline="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​</a:t>
                      </a:r>
                    </a:p>
                  </a:txBody>
                  <a:tcPr>
                    <a:lnL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439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CDE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altLang="zh-TW" sz="1200" b="0" i="0" baseline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1022.40</a:t>
                      </a:r>
                    </a:p>
                  </a:txBody>
                  <a:tcPr>
                    <a:lnL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439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CDE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altLang="zh-TW" sz="1200" b="0" i="0" baseline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134.71 </a:t>
                      </a:r>
                    </a:p>
                  </a:txBody>
                  <a:tcPr>
                    <a:lnL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439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CDE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altLang="zh-TW" sz="1200" b="0" i="0" baseline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1,157.11</a:t>
                      </a:r>
                    </a:p>
                  </a:txBody>
                  <a:tcPr>
                    <a:lnL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439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CDE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altLang="zh-TW" sz="1200" b="0" i="0" baseline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19</a:t>
                      </a:r>
                    </a:p>
                  </a:txBody>
                  <a:tcPr>
                    <a:lnL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439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CD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13265698"/>
                  </a:ext>
                </a:extLst>
              </a:tr>
              <a:tr h="248697">
                <a:tc>
                  <a:txBody>
                    <a:bodyPr/>
                    <a:lstStyle/>
                    <a:p>
                      <a:pPr marR="0" algn="l" rtl="0" fontAlgn="base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zh-TW" altLang="en-US" sz="1200" b="0" i="0" u="none" strike="noStrike" cap="none" baseline="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  <a:sym typeface="Arial"/>
                        </a:rPr>
                        <a:t>​</a:t>
                      </a:r>
                      <a:r>
                        <a:rPr lang="en-US" altLang="zh-TW" sz="1200" b="0" i="0" u="none" strike="noStrike" cap="none" baseline="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  <a:sym typeface="Arial"/>
                        </a:rPr>
                        <a:t>1</a:t>
                      </a:r>
                      <a:r>
                        <a:rPr lang="zh-TW" altLang="en-US" sz="1200" b="0" i="0" u="none" strike="noStrike" cap="none" baseline="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  <a:sym typeface="Arial"/>
                        </a:rPr>
                        <a:t>組 </a:t>
                      </a:r>
                      <a:r>
                        <a:rPr lang="en-US" altLang="zh-TW" sz="1200" b="0" i="0" u="none" strike="noStrike" cap="none" baseline="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  <a:sym typeface="Arial"/>
                        </a:rPr>
                        <a:t>DICOM</a:t>
                      </a:r>
                      <a:endParaRPr lang="zh-TW" altLang="en-US" sz="1200" b="0" i="0" u="none" strike="noStrike" cap="none" baseline="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+mn-cs"/>
                        <a:sym typeface="Arial"/>
                      </a:endParaRPr>
                    </a:p>
                  </a:txBody>
                  <a:tcPr>
                    <a:lnL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F6"/>
                    </a:solidFill>
                  </a:tcPr>
                </a:tc>
                <a:tc>
                  <a:txBody>
                    <a:bodyPr/>
                    <a:lstStyle/>
                    <a:p>
                      <a:pPr marR="0" algn="l" rtl="0" fontAlgn="base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altLang="zh-TW" sz="1200" b="0" i="0" u="none" strike="noStrike" cap="none" baseline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  <a:sym typeface="Arial"/>
                        </a:rPr>
                        <a:t>1027.92</a:t>
                      </a:r>
                    </a:p>
                  </a:txBody>
                  <a:tcPr>
                    <a:lnL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F6"/>
                    </a:solidFill>
                  </a:tcPr>
                </a:tc>
                <a:tc>
                  <a:txBody>
                    <a:bodyPr/>
                    <a:lstStyle/>
                    <a:p>
                      <a:pPr marR="0" algn="l" rtl="0" fontAlgn="base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altLang="zh-TW" sz="1200" b="0" i="0" u="none" strike="noStrike" cap="none" baseline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  <a:sym typeface="Arial"/>
                        </a:rPr>
                        <a:t>178.14</a:t>
                      </a:r>
                    </a:p>
                  </a:txBody>
                  <a:tcPr>
                    <a:lnL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F6"/>
                    </a:solidFill>
                  </a:tcPr>
                </a:tc>
                <a:tc>
                  <a:txBody>
                    <a:bodyPr/>
                    <a:lstStyle/>
                    <a:p>
                      <a:pPr marR="0" algn="l" rtl="0" fontAlgn="base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altLang="zh-TW" sz="1200" b="0" i="0" u="none" strike="noStrike" cap="none" baseline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  <a:sym typeface="Arial"/>
                        </a:rPr>
                        <a:t>1,206.06</a:t>
                      </a:r>
                    </a:p>
                  </a:txBody>
                  <a:tcPr>
                    <a:lnL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F6"/>
                    </a:solidFill>
                  </a:tcPr>
                </a:tc>
                <a:tc>
                  <a:txBody>
                    <a:bodyPr/>
                    <a:lstStyle/>
                    <a:p>
                      <a:pPr marR="0" algn="l" rtl="0" fontAlgn="base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altLang="zh-TW" sz="1200" b="0" i="0" u="none" strike="noStrike" cap="none" baseline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  <a:sym typeface="Arial"/>
                        </a:rPr>
                        <a:t>20</a:t>
                      </a:r>
                    </a:p>
                  </a:txBody>
                  <a:tcPr>
                    <a:lnL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0835195"/>
                  </a:ext>
                </a:extLst>
              </a:tr>
              <a:tr h="221482">
                <a:tc>
                  <a:txBody>
                    <a:bodyPr/>
                    <a:lstStyle/>
                    <a:p>
                      <a:pPr algn="l" fontAlgn="auto"/>
                      <a:r>
                        <a:rPr lang="zh-TW" altLang="en-US" sz="1200" b="0" i="0" u="none" strike="noStrike" baseline="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​</a:t>
                      </a:r>
                    </a:p>
                  </a:txBody>
                  <a:tcPr>
                    <a:lnL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CDE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endParaRPr lang="en-US" altLang="zh-TW" sz="1200" b="0" i="0" baseline="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</a:endParaRPr>
                    </a:p>
                  </a:txBody>
                  <a:tcPr>
                    <a:lnL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CDE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endParaRPr lang="en-US" altLang="zh-TW" sz="1200" b="0" i="0" baseline="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</a:endParaRPr>
                    </a:p>
                  </a:txBody>
                  <a:tcPr>
                    <a:lnL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CDE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endParaRPr lang="en-US" altLang="zh-TW" sz="1200" b="0" i="0" baseline="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</a:endParaRPr>
                    </a:p>
                  </a:txBody>
                  <a:tcPr>
                    <a:lnL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CDE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endParaRPr lang="en-US" altLang="zh-TW" sz="1200" b="0" i="0" baseline="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</a:endParaRPr>
                    </a:p>
                  </a:txBody>
                  <a:tcPr>
                    <a:lnL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CD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86202100"/>
                  </a:ext>
                </a:extLst>
              </a:tr>
              <a:tr h="221482">
                <a:tc>
                  <a:txBody>
                    <a:bodyPr/>
                    <a:lstStyle/>
                    <a:p>
                      <a:pPr marR="0" algn="l" rtl="0" fontAlgn="auto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200" b="0" i="0" u="none" strike="noStrike" cap="none" baseline="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  <a:sym typeface="Arial"/>
                        </a:rPr>
                        <a:t>1</a:t>
                      </a:r>
                      <a:r>
                        <a:rPr lang="zh-TW" altLang="en-US" sz="1200" b="0" i="0" u="none" strike="noStrike" cap="none" baseline="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  <a:sym typeface="Arial"/>
                        </a:rPr>
                        <a:t>組 </a:t>
                      </a:r>
                      <a:r>
                        <a:rPr lang="en-US" altLang="zh-TW" sz="1200" b="0" i="0" u="none" strike="noStrike" cap="none" baseline="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  <a:sym typeface="Arial"/>
                        </a:rPr>
                        <a:t>DICOM + Gamma</a:t>
                      </a:r>
                      <a:r>
                        <a:rPr lang="en-US" sz="1200" b="0" i="0" u="none" strike="noStrike" cap="none" baseline="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  <a:sym typeface="Arial"/>
                        </a:rPr>
                        <a:t> </a:t>
                      </a:r>
                      <a:r>
                        <a:rPr lang="en-US" altLang="zh-TW" sz="1200" b="0" i="0" u="none" strike="noStrike" cap="none" baseline="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  <a:sym typeface="Arial"/>
                        </a:rPr>
                        <a:t>​</a:t>
                      </a:r>
                    </a:p>
                  </a:txBody>
                  <a:tcPr>
                    <a:lnL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F6"/>
                    </a:solidFill>
                  </a:tcPr>
                </a:tc>
                <a:tc>
                  <a:txBody>
                    <a:bodyPr/>
                    <a:lstStyle/>
                    <a:p>
                      <a:pPr marR="0" algn="l" rtl="0" fontAlgn="auto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altLang="zh-TW" sz="1200" b="0" i="0" u="none" strike="noStrike" cap="none" baseline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  <a:sym typeface="Arial"/>
                        </a:rPr>
                        <a:t>1956.51</a:t>
                      </a:r>
                    </a:p>
                  </a:txBody>
                  <a:tcPr>
                    <a:lnL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F6"/>
                    </a:solidFill>
                  </a:tcPr>
                </a:tc>
                <a:tc>
                  <a:txBody>
                    <a:bodyPr/>
                    <a:lstStyle/>
                    <a:p>
                      <a:pPr marR="0" algn="l" rtl="0" fontAlgn="base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altLang="zh-TW" sz="1200" b="0" i="0" u="none" strike="noStrike" cap="none" baseline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  <a:sym typeface="Arial"/>
                        </a:rPr>
                        <a:t>304.20</a:t>
                      </a:r>
                    </a:p>
                  </a:txBody>
                  <a:tcPr>
                    <a:lnL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F6"/>
                    </a:solidFill>
                  </a:tcPr>
                </a:tc>
                <a:tc>
                  <a:txBody>
                    <a:bodyPr/>
                    <a:lstStyle/>
                    <a:p>
                      <a:pPr marR="0" algn="l" rtl="0" fontAlgn="base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altLang="zh-TW" sz="1200" b="0" i="0" u="none" strike="noStrike" cap="none" baseline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  <a:sym typeface="Arial"/>
                        </a:rPr>
                        <a:t>2,260.71</a:t>
                      </a:r>
                    </a:p>
                  </a:txBody>
                  <a:tcPr>
                    <a:lnL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F6"/>
                    </a:solidFill>
                  </a:tcPr>
                </a:tc>
                <a:tc>
                  <a:txBody>
                    <a:bodyPr/>
                    <a:lstStyle/>
                    <a:p>
                      <a:pPr marR="0" algn="l" rtl="0" fontAlgn="base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altLang="zh-TW" sz="1200" b="0" i="0" u="none" strike="noStrike" cap="none" baseline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  <a:sym typeface="Arial"/>
                        </a:rPr>
                        <a:t>37</a:t>
                      </a:r>
                    </a:p>
                  </a:txBody>
                  <a:tcPr>
                    <a:lnL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62232550"/>
                  </a:ext>
                </a:extLst>
              </a:tr>
              <a:tr h="221482">
                <a:tc>
                  <a:txBody>
                    <a:bodyPr/>
                    <a:lstStyle/>
                    <a:p>
                      <a:pPr algn="l" fontAlgn="auto"/>
                      <a:r>
                        <a:rPr lang="zh-TW" altLang="en-US" sz="1200" b="0" i="0" u="none" strike="noStrike" baseline="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​</a:t>
                      </a:r>
                    </a:p>
                  </a:txBody>
                  <a:tcPr>
                    <a:lnL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CDE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endParaRPr lang="en-US" altLang="zh-TW" sz="1200" b="0" i="0" baseline="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</a:endParaRPr>
                    </a:p>
                  </a:txBody>
                  <a:tcPr>
                    <a:lnL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CDE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endParaRPr lang="en-US" altLang="zh-TW" sz="1200" b="0" i="0" baseline="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</a:endParaRPr>
                    </a:p>
                  </a:txBody>
                  <a:tcPr>
                    <a:lnL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CDE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endParaRPr lang="en-US" altLang="zh-TW" sz="1200" b="0" i="0" baseline="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</a:endParaRPr>
                    </a:p>
                  </a:txBody>
                  <a:tcPr>
                    <a:lnL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CDE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endParaRPr lang="en-US" altLang="zh-TW" sz="1200" b="0" i="0" baseline="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</a:endParaRPr>
                    </a:p>
                  </a:txBody>
                  <a:tcPr>
                    <a:lnL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CD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2535661"/>
                  </a:ext>
                </a:extLst>
              </a:tr>
              <a:tr h="221482">
                <a:tc>
                  <a:txBody>
                    <a:bodyPr/>
                    <a:lstStyle/>
                    <a:p>
                      <a:pPr algn="l" fontAlgn="auto"/>
                      <a:r>
                        <a:rPr lang="en-US" altLang="zh-TW" sz="1200" b="0" i="0" u="none" strike="noStrike" cap="none" baseline="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  <a:sym typeface="Arial"/>
                        </a:rPr>
                        <a:t>2</a:t>
                      </a:r>
                      <a:r>
                        <a:rPr lang="zh-TW" altLang="en-US" sz="1200" b="0" i="0" u="none" strike="noStrike" cap="none" baseline="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  <a:sym typeface="Arial"/>
                        </a:rPr>
                        <a:t>組 </a:t>
                      </a:r>
                      <a:r>
                        <a:rPr lang="en-US" altLang="zh-TW" sz="1200" b="0" i="0" u="none" strike="noStrike" cap="none" baseline="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  <a:sym typeface="Arial"/>
                        </a:rPr>
                        <a:t>Gamma </a:t>
                      </a:r>
                      <a:r>
                        <a:rPr lang="zh-TW" altLang="en-US" sz="1200" b="0" i="0" u="none" strike="noStrike" baseline="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​</a:t>
                      </a:r>
                    </a:p>
                  </a:txBody>
                  <a:tcPr>
                    <a:lnL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F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altLang="zh-TW" sz="1200" b="0" i="0" baseline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1960.46</a:t>
                      </a:r>
                    </a:p>
                  </a:txBody>
                  <a:tcPr>
                    <a:lnL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F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altLang="zh-TW" sz="1200" b="0" i="0" baseline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269.46</a:t>
                      </a:r>
                    </a:p>
                  </a:txBody>
                  <a:tcPr>
                    <a:lnL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F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altLang="zh-TW" sz="1200" b="0" i="0" baseline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2,229.92</a:t>
                      </a:r>
                    </a:p>
                  </a:txBody>
                  <a:tcPr>
                    <a:lnL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F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altLang="zh-TW" sz="1200" b="0" i="0" baseline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37</a:t>
                      </a:r>
                    </a:p>
                  </a:txBody>
                  <a:tcPr>
                    <a:lnL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60412582"/>
                  </a:ext>
                </a:extLst>
              </a:tr>
              <a:tr h="221482">
                <a:tc>
                  <a:txBody>
                    <a:bodyPr/>
                    <a:lstStyle/>
                    <a:p>
                      <a:pPr algn="l" fontAlgn="auto"/>
                      <a:endParaRPr lang="zh-TW" altLang="en-US" sz="1200" b="0" i="0" u="none" strike="noStrike" baseline="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</a:endParaRPr>
                    </a:p>
                  </a:txBody>
                  <a:tcPr>
                    <a:lnL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F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endParaRPr lang="en-US" altLang="zh-TW" sz="1200" b="0" i="0" baseline="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</a:endParaRPr>
                    </a:p>
                  </a:txBody>
                  <a:tcPr>
                    <a:lnL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F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endParaRPr lang="en-US" altLang="zh-TW" sz="1200" b="0" i="0" baseline="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</a:endParaRPr>
                    </a:p>
                  </a:txBody>
                  <a:tcPr>
                    <a:lnL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F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endParaRPr lang="en-US" altLang="zh-TW" sz="1200" b="0" i="0" baseline="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</a:endParaRPr>
                    </a:p>
                  </a:txBody>
                  <a:tcPr>
                    <a:lnL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F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endParaRPr lang="en-US" altLang="zh-TW" sz="1200" b="0" i="0" baseline="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</a:endParaRPr>
                    </a:p>
                  </a:txBody>
                  <a:tcPr>
                    <a:lnL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81379274"/>
                  </a:ext>
                </a:extLst>
              </a:tr>
              <a:tr h="221482">
                <a:tc>
                  <a:txBody>
                    <a:bodyPr/>
                    <a:lstStyle/>
                    <a:p>
                      <a:pPr algn="l" fontAlgn="base"/>
                      <a:r>
                        <a:rPr lang="en-US" altLang="zh-TW" sz="1200" b="0" i="0" u="none" strike="noStrike" baseline="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4</a:t>
                      </a:r>
                      <a:r>
                        <a:rPr lang="zh-TW" altLang="en-US" sz="1200" b="0" i="0" u="none" strike="noStrike" baseline="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組 </a:t>
                      </a:r>
                      <a:r>
                        <a:rPr lang="en-US" altLang="zh-TW" sz="1200" b="0" i="0" u="none" strike="noStrike" baseline="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Gamma</a:t>
                      </a:r>
                      <a:r>
                        <a:rPr lang="en-US" altLang="zh-TW" sz="1200" b="0" i="0" baseline="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​</a:t>
                      </a:r>
                    </a:p>
                  </a:txBody>
                  <a:tcPr>
                    <a:lnL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F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altLang="zh-TW" sz="1200" b="0" i="0" baseline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3819.97</a:t>
                      </a:r>
                    </a:p>
                  </a:txBody>
                  <a:tcPr>
                    <a:lnL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F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altLang="zh-TW" sz="1200" b="0" i="0" baseline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518.63 </a:t>
                      </a:r>
                    </a:p>
                  </a:txBody>
                  <a:tcPr>
                    <a:lnL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F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altLang="zh-TW" sz="1200" b="0" i="0" baseline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4,338.6</a:t>
                      </a:r>
                    </a:p>
                  </a:txBody>
                  <a:tcPr>
                    <a:lnL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F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altLang="zh-TW" sz="1200" b="0" i="0" baseline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72</a:t>
                      </a:r>
                    </a:p>
                  </a:txBody>
                  <a:tcPr>
                    <a:lnL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74582716"/>
                  </a:ext>
                </a:extLst>
              </a:tr>
              <a:tr h="22148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zh-TW" altLang="en-US" sz="1200" b="0" i="0" u="none" strike="noStrike" cap="none" baseline="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  <a:sym typeface="Arial"/>
                        </a:rPr>
                        <a:t>​</a:t>
                      </a:r>
                      <a:r>
                        <a:rPr lang="en-US" altLang="zh-TW" sz="1200" b="0" i="0" u="none" strike="noStrike" baseline="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4</a:t>
                      </a:r>
                      <a:r>
                        <a:rPr lang="zh-TW" altLang="en-US" sz="1200" b="0" i="0" u="none" strike="noStrike" baseline="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組 </a:t>
                      </a:r>
                      <a:r>
                        <a:rPr lang="en-US" altLang="zh-TW" sz="1200" b="0" i="0" u="none" strike="noStrike" baseline="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Gamma</a:t>
                      </a:r>
                      <a:r>
                        <a:rPr lang="en-US" altLang="zh-TW" sz="1200" b="0" i="0" baseline="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​ </a:t>
                      </a:r>
                      <a:r>
                        <a:rPr lang="en-US" altLang="zh-TW" sz="1200" b="0" i="0" u="none" strike="noStrike" cap="none" baseline="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  <a:sym typeface="Arial"/>
                        </a:rPr>
                        <a:t>+ DICOM</a:t>
                      </a:r>
                      <a:endParaRPr lang="en-US" altLang="zh-TW" sz="1200" b="0" i="0" baseline="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</a:endParaRPr>
                    </a:p>
                  </a:txBody>
                  <a:tcPr>
                    <a:lnL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F6"/>
                    </a:solidFill>
                  </a:tcPr>
                </a:tc>
                <a:tc>
                  <a:txBody>
                    <a:bodyPr/>
                    <a:lstStyle/>
                    <a:p>
                      <a:pPr marR="0" algn="l" rtl="0" fontAlgn="base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altLang="zh-TW" sz="1200" b="0" i="0" u="none" strike="noStrike" cap="none" baseline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  <a:sym typeface="Arial"/>
                        </a:rPr>
                        <a:t>4731.45</a:t>
                      </a:r>
                    </a:p>
                  </a:txBody>
                  <a:tcPr>
                    <a:lnL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F6"/>
                    </a:solidFill>
                  </a:tcPr>
                </a:tc>
                <a:tc>
                  <a:txBody>
                    <a:bodyPr/>
                    <a:lstStyle/>
                    <a:p>
                      <a:pPr marR="0" algn="l" rtl="0" fontAlgn="base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altLang="zh-TW" sz="1200" b="0" i="0" u="none" strike="noStrike" cap="none" baseline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  <a:sym typeface="Arial"/>
                        </a:rPr>
                        <a:t>677.32</a:t>
                      </a:r>
                    </a:p>
                  </a:txBody>
                  <a:tcPr>
                    <a:lnL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F6"/>
                    </a:solidFill>
                  </a:tcPr>
                </a:tc>
                <a:tc>
                  <a:txBody>
                    <a:bodyPr/>
                    <a:lstStyle/>
                    <a:p>
                      <a:pPr marR="0" algn="l" rtl="0" fontAlgn="base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altLang="zh-TW" sz="1200" b="0" i="0" u="none" strike="noStrike" cap="none" baseline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  <a:sym typeface="Arial"/>
                        </a:rPr>
                        <a:t>5,408.77</a:t>
                      </a:r>
                    </a:p>
                  </a:txBody>
                  <a:tcPr>
                    <a:lnL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F6"/>
                    </a:solidFill>
                  </a:tcPr>
                </a:tc>
                <a:tc>
                  <a:txBody>
                    <a:bodyPr/>
                    <a:lstStyle/>
                    <a:p>
                      <a:pPr marR="0" algn="l" rtl="0" fontAlgn="base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altLang="zh-TW" sz="1200" b="0" i="0" u="none" strike="noStrike" cap="none" baseline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  <a:sym typeface="Arial"/>
                        </a:rPr>
                        <a:t>90</a:t>
                      </a:r>
                    </a:p>
                  </a:txBody>
                  <a:tcPr>
                    <a:lnL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48578856"/>
                  </a:ext>
                </a:extLst>
              </a:tr>
            </a:tbl>
          </a:graphicData>
        </a:graphic>
      </p:graphicFrame>
      <p:sp>
        <p:nvSpPr>
          <p:cNvPr id="3" name="矩形 2">
            <a:extLst>
              <a:ext uri="{FF2B5EF4-FFF2-40B4-BE49-F238E27FC236}">
                <a16:creationId xmlns:a16="http://schemas.microsoft.com/office/drawing/2014/main" id="{42698DE9-A688-2B66-8CCC-FB8D1CFCBDC7}"/>
              </a:ext>
            </a:extLst>
          </p:cNvPr>
          <p:cNvSpPr/>
          <p:nvPr/>
        </p:nvSpPr>
        <p:spPr>
          <a:xfrm flipH="1">
            <a:off x="3439884" y="1791789"/>
            <a:ext cx="1114697" cy="192024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bg2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383204BE-6648-4080-F443-35E5315CD640}"/>
              </a:ext>
            </a:extLst>
          </p:cNvPr>
          <p:cNvSpPr/>
          <p:nvPr/>
        </p:nvSpPr>
        <p:spPr>
          <a:xfrm flipH="1">
            <a:off x="3439884" y="3928353"/>
            <a:ext cx="1114698" cy="192024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bg2">
                  <a:lumMod val="95000"/>
                  <a:lumOff val="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784905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0396C1-EA64-DABF-AB1E-DAC8812CEA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F4A029A-1C90-0045-D3C4-09B1AF59BE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2" y="474123"/>
            <a:ext cx="8077200" cy="533400"/>
          </a:xfrm>
        </p:spPr>
        <p:txBody>
          <a:bodyPr/>
          <a:lstStyle/>
          <a:p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上次進度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: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Monitor</a:t>
            </a:r>
            <a:endParaRPr lang="zh-TW" altLang="en-US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字版面配置區 6">
                <a:extLst>
                  <a:ext uri="{FF2B5EF4-FFF2-40B4-BE49-F238E27FC236}">
                    <a16:creationId xmlns:a16="http://schemas.microsoft.com/office/drawing/2014/main" id="{CA232325-2F30-826A-0F33-B3038ABB7C4A}"/>
                  </a:ext>
                </a:extLst>
              </p:cNvPr>
              <p:cNvSpPr txBox="1"/>
              <p:nvPr/>
            </p:nvSpPr>
            <p:spPr>
              <a:xfrm>
                <a:off x="490980" y="843944"/>
                <a:ext cx="8924039" cy="23608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L="457200" marR="0" lvl="0" indent="-406400" algn="l" rtl="0">
                  <a:lnSpc>
                    <a:spcPct val="100000"/>
                  </a:lnSpc>
                  <a:spcBef>
                    <a:spcPts val="560"/>
                  </a:spcBef>
                  <a:spcAft>
                    <a:spcPts val="0"/>
                  </a:spcAft>
                  <a:buClr>
                    <a:schemeClr val="accent2"/>
                  </a:buClr>
                  <a:buSzPts val="2800"/>
                  <a:buFont typeface="Noto Sans Symbols"/>
                  <a:buChar char="❖"/>
                  <a:defRPr sz="2800" b="0" i="0" u="none" strike="noStrike" cap="non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lvl1pPr>
                <a:lvl2pPr marL="914400" marR="0" lvl="1" indent="-381000" algn="l" rtl="0">
                  <a:lnSpc>
                    <a:spcPct val="100000"/>
                  </a:lnSpc>
                  <a:spcBef>
                    <a:spcPts val="480"/>
                  </a:spcBef>
                  <a:spcAft>
                    <a:spcPts val="0"/>
                  </a:spcAft>
                  <a:buClr>
                    <a:srgbClr val="FF5050"/>
                  </a:buClr>
                  <a:buSzPts val="2400"/>
                  <a:buFont typeface="Noto Sans Symbols"/>
                  <a:buChar char="▪"/>
                  <a:defRPr sz="2400" b="0" i="0" u="none" strike="noStrike" cap="non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lvl2pPr>
                <a:lvl3pPr marL="1371600" marR="0" lvl="2" indent="-355600" algn="l" rtl="0">
                  <a:lnSpc>
                    <a:spcPct val="100000"/>
                  </a:lnSpc>
                  <a:spcBef>
                    <a:spcPts val="400"/>
                  </a:spcBef>
                  <a:spcAft>
                    <a:spcPts val="0"/>
                  </a:spcAft>
                  <a:buClr>
                    <a:srgbClr val="6699FF"/>
                  </a:buClr>
                  <a:buSzPts val="2000"/>
                  <a:buFont typeface="Times New Roman"/>
                  <a:buChar char="•"/>
                  <a:defRPr sz="2000" b="0" i="0" u="none" strike="noStrike" cap="non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lvl3pPr>
                <a:lvl4pPr marL="1828800" marR="0" lvl="3" indent="-355600" algn="l" rtl="0">
                  <a:lnSpc>
                    <a:spcPct val="100000"/>
                  </a:lnSpc>
                  <a:spcBef>
                    <a:spcPts val="400"/>
                  </a:spcBef>
                  <a:spcAft>
                    <a:spcPts val="0"/>
                  </a:spcAft>
                  <a:buClr>
                    <a:srgbClr val="FF5050"/>
                  </a:buClr>
                  <a:buSzPts val="2000"/>
                  <a:buFont typeface="Times New Roman"/>
                  <a:buChar char="o"/>
                  <a:defRPr sz="2000" b="0" i="0" u="none" strike="noStrike" cap="non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lvl4pPr>
                <a:lvl5pPr marL="2286000" marR="0" lvl="4" indent="-355600" algn="l" rtl="0">
                  <a:lnSpc>
                    <a:spcPct val="100000"/>
                  </a:lnSpc>
                  <a:spcBef>
                    <a:spcPts val="400"/>
                  </a:spcBef>
                  <a:spcAft>
                    <a:spcPts val="0"/>
                  </a:spcAft>
                  <a:buClr>
                    <a:srgbClr val="FF5050"/>
                  </a:buClr>
                  <a:buSzPts val="2000"/>
                  <a:buFont typeface="Times New Roman"/>
                  <a:buChar char="o"/>
                  <a:defRPr sz="2000" b="0" i="0" u="none" strike="noStrike" cap="non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lvl5pPr>
                <a:lvl6pPr marL="2743200" marR="0" lvl="5" indent="-355600" algn="l" rtl="0">
                  <a:lnSpc>
                    <a:spcPct val="100000"/>
                  </a:lnSpc>
                  <a:spcBef>
                    <a:spcPts val="400"/>
                  </a:spcBef>
                  <a:spcAft>
                    <a:spcPts val="0"/>
                  </a:spcAft>
                  <a:buClr>
                    <a:srgbClr val="FF5050"/>
                  </a:buClr>
                  <a:buSzPts val="2000"/>
                  <a:buFont typeface="Times New Roman"/>
                  <a:buChar char="o"/>
                  <a:defRPr sz="2000" b="0" i="0" u="none" strike="noStrike" cap="non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lvl6pPr>
                <a:lvl7pPr marL="3200400" marR="0" lvl="6" indent="-355600" algn="l" rtl="0">
                  <a:lnSpc>
                    <a:spcPct val="100000"/>
                  </a:lnSpc>
                  <a:spcBef>
                    <a:spcPts val="400"/>
                  </a:spcBef>
                  <a:spcAft>
                    <a:spcPts val="0"/>
                  </a:spcAft>
                  <a:buClr>
                    <a:srgbClr val="FF5050"/>
                  </a:buClr>
                  <a:buSzPts val="2000"/>
                  <a:buFont typeface="Times New Roman"/>
                  <a:buChar char="o"/>
                  <a:defRPr sz="2000" b="0" i="0" u="none" strike="noStrike" cap="non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lvl7pPr>
                <a:lvl8pPr marL="3657600" marR="0" lvl="7" indent="-355600" algn="l" rtl="0">
                  <a:lnSpc>
                    <a:spcPct val="100000"/>
                  </a:lnSpc>
                  <a:spcBef>
                    <a:spcPts val="400"/>
                  </a:spcBef>
                  <a:spcAft>
                    <a:spcPts val="0"/>
                  </a:spcAft>
                  <a:buClr>
                    <a:srgbClr val="FF5050"/>
                  </a:buClr>
                  <a:buSzPts val="2000"/>
                  <a:buFont typeface="Times New Roman"/>
                  <a:buChar char="o"/>
                  <a:defRPr sz="2000" b="0" i="0" u="none" strike="noStrike" cap="non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lvl8pPr>
                <a:lvl9pPr marL="4114800" marR="0" lvl="8" indent="-355600" algn="l" rtl="0">
                  <a:lnSpc>
                    <a:spcPct val="100000"/>
                  </a:lnSpc>
                  <a:spcBef>
                    <a:spcPts val="400"/>
                  </a:spcBef>
                  <a:spcAft>
                    <a:spcPts val="0"/>
                  </a:spcAft>
                  <a:buClr>
                    <a:srgbClr val="FF5050"/>
                  </a:buClr>
                  <a:buSzPts val="2000"/>
                  <a:buFont typeface="Times New Roman"/>
                  <a:buChar char="o"/>
                  <a:defRPr sz="2000" b="0" i="0" u="none" strike="noStrike" cap="non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lvl9pPr>
              </a:lstStyle>
              <a:p>
                <a:pPr>
                  <a:lnSpc>
                    <a:spcPts val="3000"/>
                  </a:lnSpc>
                </a:pPr>
                <a:r>
                  <a:rPr lang="en-US" altLang="zh-TW" sz="1600" dirty="0">
                    <a:solidFill>
                      <a:srgbClr val="333333"/>
                    </a:solidFill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MTK_9700</a:t>
                </a:r>
                <a:r>
                  <a:rPr lang="zh-TW" altLang="en-US" sz="1600" dirty="0">
                    <a:solidFill>
                      <a:srgbClr val="333333"/>
                    </a:solidFill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與</a:t>
                </a:r>
                <a:r>
                  <a:rPr lang="en-US" altLang="zh-TW" sz="1600" dirty="0">
                    <a:solidFill>
                      <a:srgbClr val="333333"/>
                    </a:solidFill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MARS_922</a:t>
                </a:r>
                <a:r>
                  <a:rPr lang="zh-TW" altLang="en-US" sz="1600" dirty="0">
                    <a:solidFill>
                      <a:srgbClr val="333333"/>
                    </a:solidFill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、</a:t>
                </a:r>
                <a:r>
                  <a:rPr lang="en-US" altLang="zh-TW" sz="1600" dirty="0">
                    <a:solidFill>
                      <a:srgbClr val="333333"/>
                    </a:solidFill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LUT </a:t>
                </a:r>
                <a:r>
                  <a:rPr lang="zh-TW" altLang="en-US" sz="1600" dirty="0">
                    <a:solidFill>
                      <a:srgbClr val="333333"/>
                    </a:solidFill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大小比較</a:t>
                </a:r>
              </a:p>
              <a:p>
                <a:pPr lvl="1">
                  <a:lnSpc>
                    <a:spcPts val="3000"/>
                  </a:lnSpc>
                </a:pPr>
                <a:r>
                  <a:rPr lang="en-US" altLang="zh-TW" sz="1400" dirty="0">
                    <a:solidFill>
                      <a:srgbClr val="333333"/>
                    </a:solidFill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LUT </a:t>
                </a:r>
                <a:r>
                  <a:rPr lang="zh-TW" altLang="en-US" sz="1400" dirty="0">
                    <a:solidFill>
                      <a:srgbClr val="333333"/>
                    </a:solidFill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輸入位元數是 𝑤</a:t>
                </a:r>
                <a:r>
                  <a:rPr lang="en-US" altLang="zh-TW" sz="1400" dirty="0">
                    <a:solidFill>
                      <a:srgbClr val="333333"/>
                    </a:solidFill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_</a:t>
                </a:r>
                <a:r>
                  <a:rPr lang="zh-TW" altLang="en-US" sz="1400" dirty="0">
                    <a:solidFill>
                      <a:srgbClr val="333333"/>
                    </a:solidFill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𝑖𝑛  ，輸出位元數是𝑤</a:t>
                </a:r>
                <a:r>
                  <a:rPr lang="en-US" altLang="zh-TW" sz="1400" dirty="0">
                    <a:solidFill>
                      <a:srgbClr val="333333"/>
                    </a:solidFill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_</a:t>
                </a:r>
                <a:r>
                  <a:rPr lang="zh-TW" altLang="en-US" sz="1400" dirty="0">
                    <a:solidFill>
                      <a:srgbClr val="333333"/>
                    </a:solidFill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𝑜𝑢𝑡  ，完整大小為：</a:t>
                </a:r>
              </a:p>
              <a:p>
                <a:pPr marL="533400" lvl="1" indent="0">
                  <a:lnSpc>
                    <a:spcPts val="3000"/>
                  </a:lnSpc>
                  <a:buNone/>
                </a:pPr>
                <a:endParaRPr lang="zh-TW" altLang="en-US" sz="1400" dirty="0">
                  <a:solidFill>
                    <a:srgbClr val="333333"/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endParaRPr>
              </a:p>
              <a:p>
                <a:pPr lvl="1">
                  <a:lnSpc>
                    <a:spcPts val="3000"/>
                  </a:lnSpc>
                </a:pPr>
                <a:r>
                  <a:rPr lang="en-US" altLang="zh-TW" sz="1400" dirty="0">
                    <a:solidFill>
                      <a:srgbClr val="333333"/>
                    </a:solidFill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MTK_9700 : </a:t>
                </a:r>
                <a:r>
                  <a:rPr lang="zh-TW" altLang="en-US" sz="1400" dirty="0">
                    <a:solidFill>
                      <a:srgbClr val="333333"/>
                    </a:solidFill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TW" sz="1400" i="1" smtClean="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TW" sz="1400" b="0" i="1" smtClean="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  <m:t>2</m:t>
                        </m:r>
                      </m:e>
                      <m:sup>
                        <m:r>
                          <a:rPr lang="en-US" altLang="zh-TW" sz="1400" b="0" i="1" smtClean="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  <m:t>8</m:t>
                        </m:r>
                      </m:sup>
                    </m:sSup>
                  </m:oMath>
                </a14:m>
                <a:r>
                  <a:rPr lang="en-US" altLang="zh-TW" sz="1400" dirty="0">
                    <a:solidFill>
                      <a:srgbClr val="333333"/>
                    </a:solidFill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  x 16(bit) x 3 = 12,288</a:t>
                </a:r>
                <a:r>
                  <a:rPr lang="zh-TW" altLang="en-US" sz="1400" dirty="0">
                    <a:solidFill>
                      <a:srgbClr val="333333"/>
                    </a:solidFill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 </a:t>
                </a:r>
                <a:r>
                  <a:rPr lang="en-US" altLang="zh-TW" sz="1400" dirty="0">
                    <a:solidFill>
                      <a:srgbClr val="333333"/>
                    </a:solidFill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bit =1536 bytes</a:t>
                </a:r>
              </a:p>
              <a:p>
                <a:pPr lvl="1">
                  <a:lnSpc>
                    <a:spcPts val="3000"/>
                  </a:lnSpc>
                </a:pPr>
                <a:r>
                  <a:rPr lang="en-US" altLang="zh-TW" sz="1400" dirty="0">
                    <a:solidFill>
                      <a:srgbClr val="333333"/>
                    </a:solidFill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MARS_922 :</a:t>
                </a:r>
                <a:r>
                  <a:rPr lang="en-US" altLang="zh-TW" sz="1400" dirty="0">
                    <a:solidFill>
                      <a:srgbClr val="333333"/>
                    </a:solidFill>
                    <a:ea typeface="標楷體" panose="03000509000000000000" pitchFamily="65" charset="-120"/>
                    <a:cs typeface="Times New Roman" panose="02020603050405020304" pitchFamily="18" charset="0"/>
                  </a:rPr>
                  <a:t>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TW" sz="1400" i="1" smtClean="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TW" sz="1400" b="0" i="1" smtClean="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  <m:t>2</m:t>
                        </m:r>
                      </m:e>
                      <m:sup>
                        <m:r>
                          <a:rPr lang="en-US" altLang="zh-TW" sz="1400" b="0" i="1" smtClean="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  <m:t>10</m:t>
                        </m:r>
                      </m:sup>
                    </m:sSup>
                  </m:oMath>
                </a14:m>
                <a:r>
                  <a:rPr lang="en-US" altLang="zh-TW" sz="1400" dirty="0">
                    <a:solidFill>
                      <a:srgbClr val="333333"/>
                    </a:solidFill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  x 16(bit) x 3 = 49,152</a:t>
                </a:r>
                <a:r>
                  <a:rPr lang="zh-TW" altLang="en-US" sz="1400" dirty="0">
                    <a:solidFill>
                      <a:srgbClr val="333333"/>
                    </a:solidFill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 </a:t>
                </a:r>
                <a:r>
                  <a:rPr lang="en-US" altLang="zh-TW" sz="1400" dirty="0">
                    <a:solidFill>
                      <a:srgbClr val="333333"/>
                    </a:solidFill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bit = 6144 bytes</a:t>
                </a:r>
              </a:p>
            </p:txBody>
          </p:sp>
        </mc:Choice>
        <mc:Fallback xmlns="">
          <p:sp>
            <p:nvSpPr>
              <p:cNvPr id="7" name="文字版面配置區 6">
                <a:extLst>
                  <a:ext uri="{FF2B5EF4-FFF2-40B4-BE49-F238E27FC236}">
                    <a16:creationId xmlns:a16="http://schemas.microsoft.com/office/drawing/2014/main" id="{CA232325-2F30-826A-0F33-B3038ABB7C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0980" y="843944"/>
                <a:ext cx="8924039" cy="2360807"/>
              </a:xfrm>
              <a:prstGeom prst="rect">
                <a:avLst/>
              </a:prstGeom>
              <a:blipFill>
                <a:blip r:embed="rId3"/>
                <a:stretch>
                  <a:fillRect l="-1162" t="-4124" b="-3866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Rectangle 2">
            <a:extLst>
              <a:ext uri="{FF2B5EF4-FFF2-40B4-BE49-F238E27FC236}">
                <a16:creationId xmlns:a16="http://schemas.microsoft.com/office/drawing/2014/main" id="{2F5CF38A-4C16-7F84-C947-6F490AD311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08263" y="1866900"/>
            <a:ext cx="9906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914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371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828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286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743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200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657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TW" altLang="zh-TW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TW" altLang="zh-TW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表格 2">
                <a:extLst>
                  <a:ext uri="{FF2B5EF4-FFF2-40B4-BE49-F238E27FC236}">
                    <a16:creationId xmlns:a16="http://schemas.microsoft.com/office/drawing/2014/main" id="{286A894F-71D5-0A22-D3F4-08BD366C509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499173335"/>
                  </p:ext>
                </p:extLst>
              </p:nvPr>
            </p:nvGraphicFramePr>
            <p:xfrm>
              <a:off x="2059010" y="1808191"/>
              <a:ext cx="5787978" cy="514857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5787978">
                      <a:extLst>
                        <a:ext uri="{9D8B030D-6E8A-4147-A177-3AD203B41FA5}">
                          <a16:colId xmlns:a16="http://schemas.microsoft.com/office/drawing/2014/main" val="1779073380"/>
                        </a:ext>
                      </a:extLst>
                    </a:gridCol>
                  </a:tblGrid>
                  <a:tr h="514857">
                    <a:tc>
                      <a:txBody>
                        <a:bodyPr/>
                        <a:lstStyle/>
                        <a:p>
                          <a:pPr indent="127000" algn="ctr">
                            <a:lnSpc>
                              <a:spcPct val="125000"/>
                            </a:lnSpc>
                          </a:pP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altLang="zh-TW" sz="1800" b="0" i="1" kern="100" baseline="0" smtClean="0">
                                      <a:effectLst/>
                                      <a:latin typeface="Cambria Math" panose="02040503050406030204" pitchFamily="18" charset="0"/>
                                      <a:ea typeface="標楷體" panose="03000509000000000000" pitchFamily="65" charset="-120"/>
                                      <a:cs typeface="Arial" panose="020B0604020202020204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zh-TW" sz="1800" b="0" i="1" kern="100" baseline="0" smtClean="0">
                                      <a:effectLst/>
                                      <a:latin typeface="Cambria Math" panose="02040503050406030204" pitchFamily="18" charset="0"/>
                                      <a:ea typeface="標楷體" panose="03000509000000000000" pitchFamily="65" charset="-120"/>
                                      <a:cs typeface="Arial" panose="020B0604020202020204" pitchFamily="34" charset="0"/>
                                    </a:rPr>
                                    <m:t>S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US" altLang="zh-TW" sz="1800" b="0" i="1" kern="100" baseline="0" smtClean="0">
                                      <a:effectLst/>
                                      <a:latin typeface="Cambria Math" panose="02040503050406030204" pitchFamily="18" charset="0"/>
                                      <a:ea typeface="標楷體" panose="03000509000000000000" pitchFamily="65" charset="-120"/>
                                      <a:cs typeface="Arial" panose="020B0604020202020204" pitchFamily="34" charset="0"/>
                                    </a:rPr>
                                    <m:t>LUT</m:t>
                                  </m:r>
                                </m:sub>
                              </m:sSub>
                              <m:r>
                                <a:rPr lang="en-US" altLang="zh-TW" sz="1800" b="0" i="1" kern="100" baseline="0" smtClean="0">
                                  <a:effectLst/>
                                  <a:latin typeface="Cambria Math" panose="02040503050406030204" pitchFamily="18" charset="0"/>
                                  <a:ea typeface="標楷體" panose="03000509000000000000" pitchFamily="65" charset="-120"/>
                                  <a:cs typeface="Arial" panose="020B0604020202020204" pitchFamily="34" charset="0"/>
                                </a:rPr>
                                <m:t>=</m:t>
                              </m:r>
                              <m:sSup>
                                <m:sSupPr>
                                  <m:ctrlPr>
                                    <a:rPr lang="en-US" altLang="zh-TW" sz="1800" b="0" i="1" kern="100" baseline="0" smtClean="0">
                                      <a:effectLst/>
                                      <a:latin typeface="Cambria Math" panose="02040503050406030204" pitchFamily="18" charset="0"/>
                                      <a:ea typeface="標楷體" panose="03000509000000000000" pitchFamily="65" charset="-120"/>
                                      <a:cs typeface="Arial" panose="020B0604020202020204" pitchFamily="34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TW" sz="1800" b="0" i="1" kern="100" baseline="0" smtClean="0">
                                      <a:effectLst/>
                                      <a:latin typeface="Cambria Math" panose="02040503050406030204" pitchFamily="18" charset="0"/>
                                      <a:ea typeface="標楷體" panose="03000509000000000000" pitchFamily="65" charset="-120"/>
                                      <a:cs typeface="Arial" panose="020B0604020202020204" pitchFamily="34" charset="0"/>
                                    </a:rPr>
                                    <m:t>2</m:t>
                                  </m:r>
                                </m:e>
                                <m:sup>
                                  <m:sSub>
                                    <m:sSubPr>
                                      <m:ctrlPr>
                                        <a:rPr lang="en-US" altLang="zh-TW" sz="1800" b="0" i="1" kern="100" baseline="0" smtClean="0">
                                          <a:effectLst/>
                                          <a:latin typeface="Cambria Math" panose="02040503050406030204" pitchFamily="18" charset="0"/>
                                          <a:ea typeface="標楷體" panose="03000509000000000000" pitchFamily="65" charset="-120"/>
                                          <a:cs typeface="Arial" panose="020B0604020202020204" pitchFamily="34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1800" b="0" i="1" kern="100" baseline="0" smtClean="0">
                                          <a:effectLst/>
                                          <a:latin typeface="Cambria Math" panose="02040503050406030204" pitchFamily="18" charset="0"/>
                                          <a:ea typeface="標楷體" panose="03000509000000000000" pitchFamily="65" charset="-120"/>
                                          <a:cs typeface="Arial" panose="020B0604020202020204" pitchFamily="34" charset="0"/>
                                        </a:rPr>
                                        <m:t>𝑊</m:t>
                                      </m:r>
                                    </m:e>
                                    <m:sub>
                                      <m:r>
                                        <a:rPr lang="en-US" altLang="zh-TW" sz="1800" b="0" i="1" kern="100" baseline="0" smtClean="0">
                                          <a:effectLst/>
                                          <a:latin typeface="Cambria Math" panose="02040503050406030204" pitchFamily="18" charset="0"/>
                                          <a:ea typeface="標楷體" panose="03000509000000000000" pitchFamily="65" charset="-120"/>
                                          <a:cs typeface="Arial" panose="020B0604020202020204" pitchFamily="34" charset="0"/>
                                        </a:rPr>
                                        <m:t>𝑖𝑛</m:t>
                                      </m:r>
                                    </m:sub>
                                  </m:sSub>
                                </m:sup>
                              </m:sSup>
                            </m:oMath>
                          </a14:m>
                          <a:r>
                            <a:rPr lang="en-US" altLang="zh-TW" sz="1800" kern="100" baseline="0" dirty="0">
                              <a:effectLst/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 x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altLang="zh-TW" sz="1800" i="1" kern="100" baseline="0" smtClean="0">
                                      <a:effectLst/>
                                      <a:latin typeface="Cambria Math" panose="02040503050406030204" pitchFamily="18" charset="0"/>
                                      <a:ea typeface="標楷體" panose="03000509000000000000" pitchFamily="65" charset="-12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1800" b="0" i="1" kern="100" baseline="0" smtClean="0">
                                      <a:effectLst/>
                                      <a:latin typeface="Cambria Math" panose="02040503050406030204" pitchFamily="18" charset="0"/>
                                      <a:ea typeface="標楷體" panose="03000509000000000000" pitchFamily="65" charset="-120"/>
                                      <a:cs typeface="Times New Roman" panose="020206030504050203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en-US" altLang="zh-TW" sz="1800" b="0" i="1" kern="100" baseline="0" smtClean="0">
                                      <a:effectLst/>
                                      <a:latin typeface="Cambria Math" panose="02040503050406030204" pitchFamily="18" charset="0"/>
                                      <a:ea typeface="標楷體" panose="03000509000000000000" pitchFamily="65" charset="-120"/>
                                      <a:cs typeface="Times New Roman" panose="02020603050405020304" pitchFamily="18" charset="0"/>
                                    </a:rPr>
                                    <m:t>𝑜𝑢𝑡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altLang="zh-TW" sz="1800" kern="100" baseline="0" dirty="0">
                              <a:effectLst/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  bits</a:t>
                          </a:r>
                        </a:p>
                      </a:txBody>
                      <a:tcPr marL="68580" marR="68580" marT="0" marB="0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33668108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表格 2">
                <a:extLst>
                  <a:ext uri="{FF2B5EF4-FFF2-40B4-BE49-F238E27FC236}">
                    <a16:creationId xmlns:a16="http://schemas.microsoft.com/office/drawing/2014/main" id="{286A894F-71D5-0A22-D3F4-08BD366C509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499173335"/>
                  </p:ext>
                </p:extLst>
              </p:nvPr>
            </p:nvGraphicFramePr>
            <p:xfrm>
              <a:off x="2059010" y="1808191"/>
              <a:ext cx="5787978" cy="514857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5787978">
                      <a:extLst>
                        <a:ext uri="{9D8B030D-6E8A-4147-A177-3AD203B41FA5}">
                          <a16:colId xmlns:a16="http://schemas.microsoft.com/office/drawing/2014/main" val="1779073380"/>
                        </a:ext>
                      </a:extLst>
                    </a:gridCol>
                  </a:tblGrid>
                  <a:tr h="514857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marL="68580" marR="68580" marT="0" marB="0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blipFill>
                          <a:blip r:embed="rId4"/>
                          <a:stretch>
                            <a:fillRect b="-697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36681086"/>
                      </a:ext>
                    </a:extLst>
                  </a:tr>
                </a:tbl>
              </a:graphicData>
            </a:graphic>
          </p:graphicFrame>
        </mc:Fallback>
      </mc:AlternateContent>
      <p:pic>
        <p:nvPicPr>
          <p:cNvPr id="16" name="圖片 15">
            <a:extLst>
              <a:ext uri="{FF2B5EF4-FFF2-40B4-BE49-F238E27FC236}">
                <a16:creationId xmlns:a16="http://schemas.microsoft.com/office/drawing/2014/main" id="{E96EF210-5733-74E4-F446-ABCE767E2528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r="41571"/>
          <a:stretch/>
        </p:blipFill>
        <p:spPr>
          <a:xfrm>
            <a:off x="4952999" y="3574572"/>
            <a:ext cx="4733396" cy="1567099"/>
          </a:xfrm>
          <a:prstGeom prst="rect">
            <a:avLst/>
          </a:prstGeom>
        </p:spPr>
      </p:pic>
      <p:sp>
        <p:nvSpPr>
          <p:cNvPr id="13" name="矩形 12">
            <a:extLst>
              <a:ext uri="{FF2B5EF4-FFF2-40B4-BE49-F238E27FC236}">
                <a16:creationId xmlns:a16="http://schemas.microsoft.com/office/drawing/2014/main" id="{5B6A8587-1992-AEF9-FFB7-35B19E0446F0}"/>
              </a:ext>
            </a:extLst>
          </p:cNvPr>
          <p:cNvSpPr/>
          <p:nvPr/>
        </p:nvSpPr>
        <p:spPr>
          <a:xfrm flipH="1">
            <a:off x="4952999" y="4753021"/>
            <a:ext cx="4733396" cy="37127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bg2">
                  <a:lumMod val="95000"/>
                  <a:lumOff val="5000"/>
                </a:schemeClr>
              </a:solidFill>
            </a:endParaRPr>
          </a:p>
        </p:txBody>
      </p:sp>
      <p:pic>
        <p:nvPicPr>
          <p:cNvPr id="18" name="圖片 17">
            <a:extLst>
              <a:ext uri="{FF2B5EF4-FFF2-40B4-BE49-F238E27FC236}">
                <a16:creationId xmlns:a16="http://schemas.microsoft.com/office/drawing/2014/main" id="{0C5FF135-C554-94D3-F693-C06FE9A88962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r="39858"/>
          <a:stretch/>
        </p:blipFill>
        <p:spPr>
          <a:xfrm>
            <a:off x="0" y="3602966"/>
            <a:ext cx="4733396" cy="1538705"/>
          </a:xfrm>
          <a:prstGeom prst="rect">
            <a:avLst/>
          </a:prstGeom>
        </p:spPr>
      </p:pic>
      <p:sp>
        <p:nvSpPr>
          <p:cNvPr id="19" name="矩形 18">
            <a:extLst>
              <a:ext uri="{FF2B5EF4-FFF2-40B4-BE49-F238E27FC236}">
                <a16:creationId xmlns:a16="http://schemas.microsoft.com/office/drawing/2014/main" id="{08AD769C-E3AF-12D2-BC55-2F9C71458F46}"/>
              </a:ext>
            </a:extLst>
          </p:cNvPr>
          <p:cNvSpPr/>
          <p:nvPr/>
        </p:nvSpPr>
        <p:spPr>
          <a:xfrm flipH="1">
            <a:off x="0" y="4771555"/>
            <a:ext cx="4733396" cy="37127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bg2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22154571-D9E7-EE3F-3B6D-7EF229C2E511}"/>
              </a:ext>
            </a:extLst>
          </p:cNvPr>
          <p:cNvSpPr/>
          <p:nvPr/>
        </p:nvSpPr>
        <p:spPr>
          <a:xfrm>
            <a:off x="1729344" y="5141671"/>
            <a:ext cx="1274708" cy="3693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TW" sz="18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MTK_9700</a:t>
            </a:r>
            <a:endParaRPr lang="zh-TW" altLang="en-US" sz="18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BB529C5D-BBF0-5CF0-2FA8-01E89D4E4992}"/>
              </a:ext>
            </a:extLst>
          </p:cNvPr>
          <p:cNvSpPr/>
          <p:nvPr/>
        </p:nvSpPr>
        <p:spPr>
          <a:xfrm>
            <a:off x="6669519" y="5141671"/>
            <a:ext cx="1300356" cy="3693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TW" sz="18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MARS_922</a:t>
            </a:r>
            <a:endParaRPr lang="zh-TW" altLang="en-US" sz="18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1212792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0396C1-EA64-DABF-AB1E-DAC8812CEA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F4A029A-1C90-0045-D3C4-09B1AF59BE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2" y="474123"/>
            <a:ext cx="8077200" cy="533400"/>
          </a:xfrm>
        </p:spPr>
        <p:txBody>
          <a:bodyPr/>
          <a:lstStyle/>
          <a:p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上次進度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: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Monitor</a:t>
            </a:r>
            <a:endParaRPr lang="zh-TW" altLang="en-US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7" name="文字版面配置區 6">
            <a:extLst>
              <a:ext uri="{FF2B5EF4-FFF2-40B4-BE49-F238E27FC236}">
                <a16:creationId xmlns:a16="http://schemas.microsoft.com/office/drawing/2014/main" id="{CA232325-2F30-826A-0F33-B3038ABB7C4A}"/>
              </a:ext>
            </a:extLst>
          </p:cNvPr>
          <p:cNvSpPr txBox="1"/>
          <p:nvPr/>
        </p:nvSpPr>
        <p:spPr>
          <a:xfrm>
            <a:off x="490980" y="843945"/>
            <a:ext cx="8924039" cy="147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Noto Sans Symbols"/>
              <a:buChar char="❖"/>
              <a:defRPr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F5050"/>
              </a:buClr>
              <a:buSzPts val="2400"/>
              <a:buFont typeface="Noto Sans Symbols"/>
              <a:buChar char="▪"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6699FF"/>
              </a:buClr>
              <a:buSzPts val="2000"/>
              <a:buFont typeface="Times New Roman"/>
              <a:buChar char="•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>
              <a:lnSpc>
                <a:spcPts val="3000"/>
              </a:lnSpc>
            </a:pPr>
            <a:r>
              <a:rPr lang="en-US" altLang="zh-TW" sz="16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DICOM</a:t>
            </a:r>
            <a:r>
              <a:rPr lang="zh-TW" altLang="en-US" sz="16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校正</a:t>
            </a: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47451CEA-BDAD-8224-ADF8-D99044E9F2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36380" y="1584710"/>
            <a:ext cx="3274469" cy="2679718"/>
          </a:xfrm>
          <a:prstGeom prst="rect">
            <a:avLst/>
          </a:prstGeom>
        </p:spPr>
      </p:pic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8F08D897-DEEF-FE1A-0961-74FFF6DF9FC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65343001"/>
              </p:ext>
            </p:extLst>
          </p:nvPr>
        </p:nvGraphicFramePr>
        <p:xfrm>
          <a:off x="2403418" y="4829741"/>
          <a:ext cx="5099164" cy="1383188"/>
        </p:xfrm>
        <a:graphic>
          <a:graphicData uri="http://schemas.openxmlformats.org/drawingml/2006/table">
            <a:tbl>
              <a:tblPr/>
              <a:tblGrid>
                <a:gridCol w="1282709">
                  <a:extLst>
                    <a:ext uri="{9D8B030D-6E8A-4147-A177-3AD203B41FA5}">
                      <a16:colId xmlns:a16="http://schemas.microsoft.com/office/drawing/2014/main" val="1280648839"/>
                    </a:ext>
                  </a:extLst>
                </a:gridCol>
                <a:gridCol w="1100862">
                  <a:extLst>
                    <a:ext uri="{9D8B030D-6E8A-4147-A177-3AD203B41FA5}">
                      <a16:colId xmlns:a16="http://schemas.microsoft.com/office/drawing/2014/main" val="138896537"/>
                    </a:ext>
                  </a:extLst>
                </a:gridCol>
                <a:gridCol w="1103510">
                  <a:extLst>
                    <a:ext uri="{9D8B030D-6E8A-4147-A177-3AD203B41FA5}">
                      <a16:colId xmlns:a16="http://schemas.microsoft.com/office/drawing/2014/main" val="114248355"/>
                    </a:ext>
                  </a:extLst>
                </a:gridCol>
                <a:gridCol w="1612083">
                  <a:extLst>
                    <a:ext uri="{9D8B030D-6E8A-4147-A177-3AD203B41FA5}">
                      <a16:colId xmlns:a16="http://schemas.microsoft.com/office/drawing/2014/main" val="1501684541"/>
                    </a:ext>
                  </a:extLst>
                </a:gridCol>
              </a:tblGrid>
              <a:tr h="345797">
                <a:tc>
                  <a:txBody>
                    <a:bodyPr/>
                    <a:lstStyle/>
                    <a:p>
                      <a:pPr algn="ctr" fontAlgn="auto"/>
                      <a:r>
                        <a:rPr lang="zh-TW" altLang="en-US" sz="1200" b="1" i="0" u="none" strike="noStrike" dirty="0">
                          <a:solidFill>
                            <a:srgbClr val="FFFF00"/>
                          </a:solidFill>
                          <a:effectLst/>
                          <a:ea typeface="PMingLiU" panose="02020500000000000000" pitchFamily="18" charset="-120"/>
                        </a:rPr>
                        <a:t>​</a:t>
                      </a:r>
                      <a:r>
                        <a:rPr lang="en-US" altLang="zh-TW" sz="1200" dirty="0">
                          <a:solidFill>
                            <a:srgbClr val="FFFF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MARS_922</a:t>
                      </a:r>
                      <a:endParaRPr lang="zh-TW" altLang="en-US" sz="1200" b="1" i="0" u="none" strike="noStrike" dirty="0">
                        <a:solidFill>
                          <a:srgbClr val="FFFF00"/>
                        </a:solidFill>
                        <a:effectLst/>
                        <a:ea typeface="PMingLiU" panose="02020500000000000000" pitchFamily="18" charset="-120"/>
                      </a:endParaRPr>
                    </a:p>
                  </a:txBody>
                  <a:tcPr>
                    <a:lnL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439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3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zh-TW" altLang="en-US" sz="1200" b="1" i="0" u="none" strike="noStrike" dirty="0">
                          <a:solidFill>
                            <a:srgbClr val="FFFFFF"/>
                          </a:solidFill>
                          <a:effectLst/>
                          <a:ea typeface="PMingLiU" panose="02020500000000000000" pitchFamily="18" charset="-120"/>
                        </a:rPr>
                        <a:t>色溫</a:t>
                      </a:r>
                      <a:r>
                        <a:rPr lang="zh-TW" altLang="en-US" sz="1200" b="1" i="0" dirty="0">
                          <a:solidFill>
                            <a:srgbClr val="FFFFFF"/>
                          </a:solidFill>
                          <a:effectLst/>
                          <a:latin typeface="PMingLiU" panose="02020500000000000000" pitchFamily="18" charset="-120"/>
                        </a:rPr>
                        <a:t>​</a:t>
                      </a:r>
                      <a:endParaRPr lang="zh-TW" altLang="en-US" sz="1200" b="1" i="0" dirty="0">
                        <a:solidFill>
                          <a:srgbClr val="FFFFFF"/>
                        </a:solidFill>
                        <a:effectLst/>
                      </a:endParaRPr>
                    </a:p>
                  </a:txBody>
                  <a:tcPr>
                    <a:lnL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439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3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US" altLang="zh-TW" sz="1200" b="1" i="0" u="none" strike="noStrike" dirty="0">
                          <a:solidFill>
                            <a:srgbClr val="FFC000"/>
                          </a:solidFill>
                          <a:effectLst/>
                          <a:ea typeface="PMingLiU" panose="02020500000000000000" pitchFamily="18" charset="-120"/>
                        </a:rPr>
                        <a:t>18</a:t>
                      </a:r>
                      <a:r>
                        <a:rPr lang="zh-TW" altLang="en-US" sz="1200" b="1" i="0" u="none" strike="noStrike" dirty="0">
                          <a:solidFill>
                            <a:srgbClr val="FFC000"/>
                          </a:solidFill>
                          <a:effectLst/>
                          <a:ea typeface="PMingLiU" panose="02020500000000000000" pitchFamily="18" charset="-120"/>
                        </a:rPr>
                        <a:t>階</a:t>
                      </a:r>
                      <a:r>
                        <a:rPr lang="zh-TW" altLang="en-US" sz="1200" b="1" i="0" dirty="0">
                          <a:solidFill>
                            <a:srgbClr val="FFFFFF"/>
                          </a:solidFill>
                          <a:effectLst/>
                          <a:latin typeface="PMingLiU" panose="02020500000000000000" pitchFamily="18" charset="-120"/>
                        </a:rPr>
                        <a:t>​</a:t>
                      </a:r>
                      <a:endParaRPr lang="zh-TW" altLang="en-US" sz="1200" b="1" i="0" dirty="0">
                        <a:solidFill>
                          <a:srgbClr val="FFFFFF"/>
                        </a:solidFill>
                        <a:effectLst/>
                      </a:endParaRPr>
                    </a:p>
                  </a:txBody>
                  <a:tcPr>
                    <a:lnL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439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3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zh-TW" altLang="en-US" sz="1200" b="1" i="0" u="none" strike="noStrike" dirty="0">
                          <a:solidFill>
                            <a:srgbClr val="FFFFFF"/>
                          </a:solidFill>
                          <a:effectLst/>
                          <a:ea typeface="PMingLiU" panose="02020500000000000000" pitchFamily="18" charset="-120"/>
                        </a:rPr>
                        <a:t>色溫</a:t>
                      </a:r>
                      <a:r>
                        <a:rPr lang="zh-TW" altLang="en-US" sz="1200" b="1" i="0" dirty="0">
                          <a:solidFill>
                            <a:srgbClr val="FFFFFF"/>
                          </a:solidFill>
                          <a:effectLst/>
                          <a:latin typeface="PMingLiU" panose="02020500000000000000" pitchFamily="18" charset="-120"/>
                        </a:rPr>
                        <a:t>​</a:t>
                      </a:r>
                      <a:endParaRPr lang="zh-TW" altLang="en-US" sz="1200" b="1" i="0" dirty="0">
                        <a:solidFill>
                          <a:srgbClr val="FFFFFF"/>
                        </a:solidFill>
                        <a:effectLst/>
                      </a:endParaRPr>
                    </a:p>
                  </a:txBody>
                  <a:tcPr>
                    <a:lnL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439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3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76011860"/>
                  </a:ext>
                </a:extLst>
              </a:tr>
              <a:tr h="345797">
                <a:tc>
                  <a:txBody>
                    <a:bodyPr/>
                    <a:lstStyle/>
                    <a:p>
                      <a:pPr algn="ctr" fontAlgn="base"/>
                      <a:r>
                        <a:rPr lang="en-US" altLang="zh-TW" sz="1200" b="0" i="0" u="none" strike="noStrike" dirty="0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</a:rPr>
                        <a:t>DICOM</a:t>
                      </a:r>
                      <a:endParaRPr lang="en-US" altLang="zh-TW" sz="1200" b="0" i="0" dirty="0">
                        <a:solidFill>
                          <a:srgbClr val="FF0000"/>
                        </a:solidFill>
                        <a:effectLst/>
                      </a:endParaRPr>
                    </a:p>
                  </a:txBody>
                  <a:tcPr>
                    <a:lnL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439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CDE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5400</a:t>
                      </a:r>
                      <a:r>
                        <a:rPr lang="en-US" altLang="zh-TW" sz="1200" b="0" i="0" dirty="0">
                          <a:solidFill>
                            <a:srgbClr val="000000"/>
                          </a:solidFill>
                          <a:effectLst/>
                          <a:ea typeface="Arial" panose="020B0604020202020204" pitchFamily="34" charset="0"/>
                        </a:rPr>
                        <a:t>​</a:t>
                      </a:r>
                      <a:endParaRPr lang="en-US" altLang="zh-TW" sz="1200" b="0" i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>
                    <a:lnL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439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CDE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US" altLang="zh-TW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PASS</a:t>
                      </a:r>
                      <a:endParaRPr lang="en-US" altLang="zh-TW" sz="1200" b="0" i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>
                    <a:lnL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439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CDE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5495</a:t>
                      </a:r>
                      <a:r>
                        <a:rPr lang="en-US" altLang="zh-TW" sz="1200" b="0" i="0" dirty="0">
                          <a:solidFill>
                            <a:srgbClr val="000000"/>
                          </a:solidFill>
                          <a:effectLst/>
                          <a:ea typeface="Arial" panose="020B0604020202020204" pitchFamily="34" charset="0"/>
                        </a:rPr>
                        <a:t>​</a:t>
                      </a:r>
                      <a:endParaRPr lang="en-US" altLang="zh-TW" sz="1200" b="0" i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>
                    <a:lnL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439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CD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13265698"/>
                  </a:ext>
                </a:extLst>
              </a:tr>
              <a:tr h="345797">
                <a:tc>
                  <a:txBody>
                    <a:bodyPr/>
                    <a:lstStyle/>
                    <a:p>
                      <a:pPr marR="0" algn="ctr" rtl="0" fontAlgn="base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zh-TW" altLang="en-US" sz="12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  <a:sym typeface="Arial"/>
                        </a:rPr>
                        <a:t>​</a:t>
                      </a:r>
                    </a:p>
                  </a:txBody>
                  <a:tcPr>
                    <a:lnL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F6"/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base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2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  <a:sym typeface="Arial"/>
                        </a:rPr>
                        <a:t>6500</a:t>
                      </a:r>
                      <a:r>
                        <a:rPr lang="en-US" altLang="zh-TW" sz="12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  <a:sym typeface="Arial"/>
                        </a:rPr>
                        <a:t>​</a:t>
                      </a:r>
                    </a:p>
                  </a:txBody>
                  <a:tcPr>
                    <a:lnL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F6"/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base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2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  <a:sym typeface="Arial"/>
                        </a:rPr>
                        <a:t>PASS</a:t>
                      </a:r>
                      <a:endParaRPr lang="en-US" altLang="zh-TW" sz="1200" b="0" i="0" u="none" strike="noStrike" cap="non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+mn-cs"/>
                        <a:sym typeface="Arial"/>
                      </a:endParaRPr>
                    </a:p>
                  </a:txBody>
                  <a:tcPr>
                    <a:lnL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F6"/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base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2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  <a:sym typeface="Arial"/>
                        </a:rPr>
                        <a:t>6277</a:t>
                      </a:r>
                      <a:endParaRPr lang="en-US" altLang="zh-TW" sz="1200" b="0" i="0" u="none" strike="noStrike" cap="non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+mn-cs"/>
                        <a:sym typeface="Arial"/>
                      </a:endParaRPr>
                    </a:p>
                  </a:txBody>
                  <a:tcPr>
                    <a:lnL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0835195"/>
                  </a:ext>
                </a:extLst>
              </a:tr>
              <a:tr h="345797">
                <a:tc>
                  <a:txBody>
                    <a:bodyPr/>
                    <a:lstStyle/>
                    <a:p>
                      <a:pPr algn="ctr" fontAlgn="auto"/>
                      <a:r>
                        <a:rPr lang="zh-TW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ea typeface="PMingLiU" panose="02020500000000000000" pitchFamily="18" charset="-120"/>
                        </a:rPr>
                        <a:t>​</a:t>
                      </a:r>
                    </a:p>
                  </a:txBody>
                  <a:tcPr>
                    <a:lnL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CDE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9300</a:t>
                      </a:r>
                      <a:r>
                        <a:rPr lang="en-US" altLang="zh-TW" sz="1200" b="0" i="0" dirty="0">
                          <a:solidFill>
                            <a:srgbClr val="000000"/>
                          </a:solidFill>
                          <a:effectLst/>
                          <a:ea typeface="Arial" panose="020B0604020202020204" pitchFamily="34" charset="0"/>
                        </a:rPr>
                        <a:t>​</a:t>
                      </a:r>
                      <a:endParaRPr lang="en-US" altLang="zh-TW" sz="1200" b="0" i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>
                    <a:lnL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CDE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US" sz="1200" b="0" i="0" u="none" strike="noStrike" dirty="0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</a:rPr>
                        <a:t>FAILED</a:t>
                      </a:r>
                      <a:endParaRPr lang="en-US" altLang="zh-TW" sz="1200" b="0" i="0" dirty="0">
                        <a:solidFill>
                          <a:srgbClr val="FF0000"/>
                        </a:solidFill>
                        <a:effectLst/>
                      </a:endParaRPr>
                    </a:p>
                  </a:txBody>
                  <a:tcPr>
                    <a:lnL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CDE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9304</a:t>
                      </a:r>
                      <a:endParaRPr lang="en-US" altLang="zh-TW" sz="1200" b="0" i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>
                    <a:lnL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CD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86202100"/>
                  </a:ext>
                </a:extLst>
              </a:tr>
            </a:tbl>
          </a:graphicData>
        </a:graphic>
      </p:graphicFrame>
      <p:pic>
        <p:nvPicPr>
          <p:cNvPr id="9" name="圖片 8">
            <a:extLst>
              <a:ext uri="{FF2B5EF4-FFF2-40B4-BE49-F238E27FC236}">
                <a16:creationId xmlns:a16="http://schemas.microsoft.com/office/drawing/2014/main" id="{0C5C277B-858B-45B7-94AB-85F705CA13D5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1180"/>
          <a:stretch/>
        </p:blipFill>
        <p:spPr>
          <a:xfrm>
            <a:off x="3311862" y="1578773"/>
            <a:ext cx="3282278" cy="2679718"/>
          </a:xfrm>
          <a:prstGeom prst="rect">
            <a:avLst/>
          </a:prstGeom>
        </p:spPr>
      </p:pic>
      <p:pic>
        <p:nvPicPr>
          <p:cNvPr id="11" name="圖片 10">
            <a:extLst>
              <a:ext uri="{FF2B5EF4-FFF2-40B4-BE49-F238E27FC236}">
                <a16:creationId xmlns:a16="http://schemas.microsoft.com/office/drawing/2014/main" id="{65E11587-B91A-F3B4-903B-F82F565F11A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179" y="1545199"/>
            <a:ext cx="3284166" cy="2679718"/>
          </a:xfrm>
          <a:prstGeom prst="rect">
            <a:avLst/>
          </a:prstGeom>
        </p:spPr>
      </p:pic>
      <p:sp>
        <p:nvSpPr>
          <p:cNvPr id="13" name="矩形 12">
            <a:extLst>
              <a:ext uri="{FF2B5EF4-FFF2-40B4-BE49-F238E27FC236}">
                <a16:creationId xmlns:a16="http://schemas.microsoft.com/office/drawing/2014/main" id="{A9EB0DC9-5699-5167-7C55-B397F92600E5}"/>
              </a:ext>
            </a:extLst>
          </p:cNvPr>
          <p:cNvSpPr/>
          <p:nvPr/>
        </p:nvSpPr>
        <p:spPr>
          <a:xfrm>
            <a:off x="7502582" y="4227513"/>
            <a:ext cx="1749197" cy="3693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TW" sz="18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DICOM_9300K</a:t>
            </a:r>
            <a:endParaRPr lang="zh-TW" altLang="en-US" sz="18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B10CEEEE-DEBA-C52A-B8C9-5A6CDBF74230}"/>
              </a:ext>
            </a:extLst>
          </p:cNvPr>
          <p:cNvSpPr/>
          <p:nvPr/>
        </p:nvSpPr>
        <p:spPr>
          <a:xfrm>
            <a:off x="4078400" y="4224917"/>
            <a:ext cx="1749197" cy="3693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TW" sz="18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DICOM_6500K</a:t>
            </a:r>
            <a:endParaRPr lang="zh-TW" altLang="en-US" sz="18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021AEE27-C6A7-D35D-59DF-AAFD56C60FA6}"/>
              </a:ext>
            </a:extLst>
          </p:cNvPr>
          <p:cNvSpPr/>
          <p:nvPr/>
        </p:nvSpPr>
        <p:spPr>
          <a:xfrm>
            <a:off x="796122" y="4203623"/>
            <a:ext cx="1749197" cy="3693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TW" sz="18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DICOM_5400K</a:t>
            </a:r>
            <a:endParaRPr lang="zh-TW" altLang="en-US" sz="18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6100904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0396C1-EA64-DABF-AB1E-DAC8812CEA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F4A029A-1C90-0045-D3C4-09B1AF59BE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2" y="474123"/>
            <a:ext cx="8077200" cy="533400"/>
          </a:xfrm>
        </p:spPr>
        <p:txBody>
          <a:bodyPr/>
          <a:lstStyle/>
          <a:p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本次進度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: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Monitor</a:t>
            </a:r>
            <a:endParaRPr lang="zh-TW" altLang="en-US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7" name="文字版面配置區 6">
            <a:extLst>
              <a:ext uri="{FF2B5EF4-FFF2-40B4-BE49-F238E27FC236}">
                <a16:creationId xmlns:a16="http://schemas.microsoft.com/office/drawing/2014/main" id="{CA232325-2F30-826A-0F33-B3038ABB7C4A}"/>
              </a:ext>
            </a:extLst>
          </p:cNvPr>
          <p:cNvSpPr txBox="1"/>
          <p:nvPr/>
        </p:nvSpPr>
        <p:spPr>
          <a:xfrm>
            <a:off x="490980" y="843945"/>
            <a:ext cx="8924039" cy="1771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Noto Sans Symbols"/>
              <a:buChar char="❖"/>
              <a:defRPr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F5050"/>
              </a:buClr>
              <a:buSzPts val="2400"/>
              <a:buFont typeface="Noto Sans Symbols"/>
              <a:buChar char="▪"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6699FF"/>
              </a:buClr>
              <a:buSzPts val="2000"/>
              <a:buFont typeface="Times New Roman"/>
              <a:buChar char="•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>
              <a:lnSpc>
                <a:spcPts val="3000"/>
              </a:lnSpc>
            </a:pPr>
            <a:r>
              <a:rPr lang="en-US" altLang="zh-TW" sz="16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DICOM</a:t>
            </a:r>
            <a:r>
              <a:rPr lang="zh-TW" altLang="en-US" sz="16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校正錯誤原因</a:t>
            </a:r>
            <a:endParaRPr lang="en-US" altLang="zh-TW" sz="1200" dirty="0">
              <a:solidFill>
                <a:srgbClr val="333333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1">
              <a:lnSpc>
                <a:spcPts val="3000"/>
              </a:lnSpc>
            </a:pPr>
            <a:r>
              <a:rPr lang="zh-TW" altLang="en-US" sz="12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實際亮度應該為</a:t>
            </a:r>
            <a:r>
              <a:rPr lang="en-US" altLang="zh-TW" sz="12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0.52 nits</a:t>
            </a:r>
            <a:r>
              <a:rPr lang="zh-TW" altLang="en-US" sz="12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，但</a:t>
            </a:r>
            <a:r>
              <a:rPr lang="en-US" altLang="zh-TW" sz="12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MCU</a:t>
            </a:r>
            <a:r>
              <a:rPr lang="zh-TW" altLang="en-US" sz="12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讀取為 </a:t>
            </a:r>
            <a:r>
              <a:rPr lang="en-US" altLang="zh-TW" sz="12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0.05 nits</a:t>
            </a:r>
            <a:r>
              <a:rPr lang="zh-TW" altLang="en-US" sz="12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，造成</a:t>
            </a:r>
            <a:r>
              <a:rPr lang="en-US" altLang="zh-TW" sz="12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DICOM</a:t>
            </a:r>
            <a:r>
              <a:rPr lang="zh-TW" altLang="en-US" sz="12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的</a:t>
            </a:r>
            <a:r>
              <a:rPr lang="en-US" altLang="zh-TW" sz="12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JND</a:t>
            </a:r>
            <a:r>
              <a:rPr lang="zh-TW" altLang="en-US" sz="12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範圍與</a:t>
            </a:r>
            <a:r>
              <a:rPr lang="en-US" altLang="zh-TW" sz="12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LUT</a:t>
            </a:r>
            <a:r>
              <a:rPr lang="zh-TW" altLang="en-US" sz="12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計算錯誤。</a:t>
            </a:r>
            <a:endParaRPr lang="en-US" altLang="zh-TW" sz="1200" dirty="0">
              <a:solidFill>
                <a:srgbClr val="333333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1">
              <a:lnSpc>
                <a:spcPts val="3000"/>
              </a:lnSpc>
            </a:pPr>
            <a:endParaRPr lang="en-US" altLang="zh-TW" sz="1200" dirty="0">
              <a:solidFill>
                <a:srgbClr val="FF0000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pic>
        <p:nvPicPr>
          <p:cNvPr id="16" name="圖片 15">
            <a:extLst>
              <a:ext uri="{FF2B5EF4-FFF2-40B4-BE49-F238E27FC236}">
                <a16:creationId xmlns:a16="http://schemas.microsoft.com/office/drawing/2014/main" id="{DB8A2F64-140E-2AE5-EE81-CEFE63B9E6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42642" y="2147973"/>
            <a:ext cx="4576939" cy="3046241"/>
          </a:xfrm>
          <a:prstGeom prst="rect">
            <a:avLst/>
          </a:prstGeom>
        </p:spPr>
      </p:pic>
      <p:pic>
        <p:nvPicPr>
          <p:cNvPr id="18" name="圖片 17">
            <a:extLst>
              <a:ext uri="{FF2B5EF4-FFF2-40B4-BE49-F238E27FC236}">
                <a16:creationId xmlns:a16="http://schemas.microsoft.com/office/drawing/2014/main" id="{148479BD-126B-CC7E-FCBA-B85D92053F0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4909" y="2147974"/>
            <a:ext cx="4630286" cy="3046241"/>
          </a:xfrm>
          <a:prstGeom prst="rect">
            <a:avLst/>
          </a:prstGeom>
        </p:spPr>
      </p:pic>
      <p:sp>
        <p:nvSpPr>
          <p:cNvPr id="19" name="矩形 18">
            <a:extLst>
              <a:ext uri="{FF2B5EF4-FFF2-40B4-BE49-F238E27FC236}">
                <a16:creationId xmlns:a16="http://schemas.microsoft.com/office/drawing/2014/main" id="{2F718F22-3550-67D6-672C-6CC6563EAF55}"/>
              </a:ext>
            </a:extLst>
          </p:cNvPr>
          <p:cNvSpPr/>
          <p:nvPr/>
        </p:nvSpPr>
        <p:spPr>
          <a:xfrm flipH="1">
            <a:off x="286418" y="3233709"/>
            <a:ext cx="2590131" cy="15675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bg2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205CD74E-D80D-B6DB-F329-EDEF5FC0CF0D}"/>
              </a:ext>
            </a:extLst>
          </p:cNvPr>
          <p:cNvSpPr/>
          <p:nvPr/>
        </p:nvSpPr>
        <p:spPr>
          <a:xfrm flipH="1">
            <a:off x="5115650" y="3233709"/>
            <a:ext cx="2571025" cy="15675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bg2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0173D09E-B293-C4B0-2380-B21F57AB37DA}"/>
              </a:ext>
            </a:extLst>
          </p:cNvPr>
          <p:cNvSpPr/>
          <p:nvPr/>
        </p:nvSpPr>
        <p:spPr>
          <a:xfrm>
            <a:off x="1794495" y="5194212"/>
            <a:ext cx="1491114" cy="276999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zh-TW" altLang="en-US" sz="12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ea typeface="標楷體" panose="03000509000000000000" pitchFamily="65" charset="-120"/>
              </a:rPr>
              <a:t>修正前，</a:t>
            </a:r>
            <a:r>
              <a:rPr lang="en-US" altLang="zh-TW" sz="1200" b="0" cap="none" spc="0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ea typeface="標楷體" panose="03000509000000000000" pitchFamily="65" charset="-120"/>
              </a:rPr>
              <a:t>Lmin</a:t>
            </a:r>
            <a:r>
              <a:rPr lang="en-US" altLang="zh-TW" sz="12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ea typeface="標楷體" panose="03000509000000000000" pitchFamily="65" charset="-120"/>
              </a:rPr>
              <a:t>=0.05</a:t>
            </a:r>
            <a:endParaRPr lang="zh-TW" altLang="en-US" sz="12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8864EA62-4B31-8934-7A69-72947A5FC061}"/>
              </a:ext>
            </a:extLst>
          </p:cNvPr>
          <p:cNvSpPr/>
          <p:nvPr/>
        </p:nvSpPr>
        <p:spPr>
          <a:xfrm>
            <a:off x="6525141" y="5155810"/>
            <a:ext cx="1491114" cy="276999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zh-TW" altLang="en-US" sz="12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ea typeface="標楷體" panose="03000509000000000000" pitchFamily="65" charset="-120"/>
              </a:rPr>
              <a:t>修正後，</a:t>
            </a:r>
            <a:r>
              <a:rPr lang="en-US" altLang="zh-TW" sz="1200" b="0" cap="none" spc="0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ea typeface="標楷體" panose="03000509000000000000" pitchFamily="65" charset="-120"/>
              </a:rPr>
              <a:t>Lmin</a:t>
            </a:r>
            <a:r>
              <a:rPr lang="en-US" altLang="zh-TW" sz="12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ea typeface="標楷體" panose="03000509000000000000" pitchFamily="65" charset="-120"/>
              </a:rPr>
              <a:t>=0.52</a:t>
            </a:r>
            <a:endParaRPr lang="zh-TW" altLang="en-US" sz="12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5F159641-2B19-B9FD-8AE3-39056FB2CCBF}"/>
              </a:ext>
            </a:extLst>
          </p:cNvPr>
          <p:cNvSpPr/>
          <p:nvPr/>
        </p:nvSpPr>
        <p:spPr>
          <a:xfrm flipH="1">
            <a:off x="267425" y="4340778"/>
            <a:ext cx="3914050" cy="65032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bg2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EBC8F785-0BF5-CD52-CBEA-21B4A53C9B96}"/>
              </a:ext>
            </a:extLst>
          </p:cNvPr>
          <p:cNvSpPr/>
          <p:nvPr/>
        </p:nvSpPr>
        <p:spPr>
          <a:xfrm flipH="1">
            <a:off x="5115650" y="4340778"/>
            <a:ext cx="3914050" cy="65032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bg2">
                  <a:lumMod val="95000"/>
                  <a:lumOff val="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653125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0396C1-EA64-DABF-AB1E-DAC8812CEA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F4A029A-1C90-0045-D3C4-09B1AF59BE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2" y="474123"/>
            <a:ext cx="8077200" cy="533400"/>
          </a:xfrm>
        </p:spPr>
        <p:txBody>
          <a:bodyPr/>
          <a:lstStyle/>
          <a:p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本次進度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: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Monitor</a:t>
            </a:r>
            <a:endParaRPr lang="zh-TW" altLang="en-US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7" name="文字版面配置區 6">
            <a:extLst>
              <a:ext uri="{FF2B5EF4-FFF2-40B4-BE49-F238E27FC236}">
                <a16:creationId xmlns:a16="http://schemas.microsoft.com/office/drawing/2014/main" id="{CA232325-2F30-826A-0F33-B3038ABB7C4A}"/>
              </a:ext>
            </a:extLst>
          </p:cNvPr>
          <p:cNvSpPr txBox="1"/>
          <p:nvPr/>
        </p:nvSpPr>
        <p:spPr>
          <a:xfrm>
            <a:off x="490980" y="843945"/>
            <a:ext cx="8924039" cy="147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Noto Sans Symbols"/>
              <a:buChar char="❖"/>
              <a:defRPr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F5050"/>
              </a:buClr>
              <a:buSzPts val="2400"/>
              <a:buFont typeface="Noto Sans Symbols"/>
              <a:buChar char="▪"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6699FF"/>
              </a:buClr>
              <a:buSzPts val="2000"/>
              <a:buFont typeface="Times New Roman"/>
              <a:buChar char="•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>
              <a:lnSpc>
                <a:spcPts val="3000"/>
              </a:lnSpc>
            </a:pPr>
            <a:r>
              <a:rPr lang="en-US" altLang="zh-TW" sz="16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DICOM</a:t>
            </a:r>
            <a:r>
              <a:rPr lang="zh-TW" altLang="en-US" sz="16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校正錯誤原因</a:t>
            </a:r>
            <a:endParaRPr lang="en-US" altLang="zh-TW" sz="1600" dirty="0">
              <a:solidFill>
                <a:srgbClr val="333333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1">
              <a:lnSpc>
                <a:spcPts val="3000"/>
              </a:lnSpc>
            </a:pPr>
            <a:r>
              <a:rPr lang="en-US" altLang="zh-TW" sz="12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Tool</a:t>
            </a:r>
            <a:r>
              <a:rPr lang="zh-TW" altLang="en-US" sz="12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校正</a:t>
            </a:r>
            <a:r>
              <a:rPr lang="en-US" altLang="zh-TW" sz="12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Gamma</a:t>
            </a:r>
            <a:r>
              <a:rPr lang="zh-TW" altLang="en-US" sz="12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時，會把原本面板亮度</a:t>
            </a:r>
            <a:r>
              <a:rPr lang="en-US" altLang="zh-TW" sz="12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-</a:t>
            </a:r>
            <a:r>
              <a:rPr lang="zh-TW" altLang="en-US" sz="12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黑點後的亮度拿來做校正</a:t>
            </a:r>
            <a:endParaRPr lang="en-US" altLang="zh-TW" sz="1200" dirty="0">
              <a:solidFill>
                <a:srgbClr val="333333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1">
              <a:lnSpc>
                <a:spcPts val="3000"/>
              </a:lnSpc>
            </a:pPr>
            <a:r>
              <a:rPr lang="zh-TW" altLang="en-US" sz="12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寫入</a:t>
            </a:r>
            <a:r>
              <a:rPr lang="en-US" altLang="zh-TW" sz="12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AD Board EEPROM</a:t>
            </a:r>
            <a:r>
              <a:rPr lang="zh-TW" altLang="en-US" sz="12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的</a:t>
            </a:r>
            <a:r>
              <a:rPr lang="en-US" altLang="zh-TW" sz="12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i1 Measurement Data</a:t>
            </a:r>
            <a:r>
              <a:rPr lang="zh-TW" altLang="en-US" sz="12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前，將黑點亮度加回</a:t>
            </a:r>
            <a:endParaRPr lang="en-US" altLang="zh-TW" sz="1200" dirty="0">
              <a:solidFill>
                <a:srgbClr val="333333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1">
              <a:lnSpc>
                <a:spcPts val="3000"/>
              </a:lnSpc>
            </a:pPr>
            <a:endParaRPr lang="en-US" altLang="zh-TW" sz="1200" dirty="0">
              <a:solidFill>
                <a:srgbClr val="333333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1">
              <a:lnSpc>
                <a:spcPts val="3000"/>
              </a:lnSpc>
            </a:pPr>
            <a:endParaRPr lang="en-US" altLang="zh-TW" sz="1200" dirty="0">
              <a:solidFill>
                <a:srgbClr val="333333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1">
              <a:lnSpc>
                <a:spcPts val="3000"/>
              </a:lnSpc>
            </a:pPr>
            <a:endParaRPr lang="en-US" altLang="zh-TW" sz="1200" dirty="0">
              <a:solidFill>
                <a:srgbClr val="333333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1">
              <a:lnSpc>
                <a:spcPts val="3000"/>
              </a:lnSpc>
            </a:pPr>
            <a:endParaRPr lang="en-US" altLang="zh-TW" sz="1200" dirty="0">
              <a:solidFill>
                <a:srgbClr val="333333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1">
              <a:lnSpc>
                <a:spcPts val="3000"/>
              </a:lnSpc>
            </a:pPr>
            <a:endParaRPr lang="en-US" altLang="zh-TW" sz="1200" dirty="0">
              <a:solidFill>
                <a:srgbClr val="333333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1">
              <a:lnSpc>
                <a:spcPts val="3000"/>
              </a:lnSpc>
            </a:pPr>
            <a:endParaRPr lang="en-US" altLang="zh-TW" sz="1200" dirty="0">
              <a:solidFill>
                <a:srgbClr val="333333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1">
              <a:lnSpc>
                <a:spcPts val="3000"/>
              </a:lnSpc>
            </a:pPr>
            <a:endParaRPr lang="en-US" altLang="zh-TW" sz="1200" dirty="0">
              <a:solidFill>
                <a:srgbClr val="333333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1">
              <a:lnSpc>
                <a:spcPts val="3000"/>
              </a:lnSpc>
            </a:pPr>
            <a:endParaRPr lang="en-US" altLang="zh-TW" sz="1200" dirty="0">
              <a:solidFill>
                <a:srgbClr val="333333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533400" lvl="1" indent="0">
              <a:lnSpc>
                <a:spcPts val="3000"/>
              </a:lnSpc>
              <a:buNone/>
            </a:pPr>
            <a:endParaRPr lang="en-US" altLang="zh-TW" sz="1200" dirty="0">
              <a:solidFill>
                <a:srgbClr val="333333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6B8CDE7C-1B09-5634-F296-DB37CAE694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65064" y="2389413"/>
            <a:ext cx="6175872" cy="3844783"/>
          </a:xfrm>
          <a:prstGeom prst="rect">
            <a:avLst/>
          </a:prstGeom>
        </p:spPr>
      </p:pic>
      <p:pic>
        <p:nvPicPr>
          <p:cNvPr id="4" name="圖片 3">
            <a:extLst>
              <a:ext uri="{FF2B5EF4-FFF2-40B4-BE49-F238E27FC236}">
                <a16:creationId xmlns:a16="http://schemas.microsoft.com/office/drawing/2014/main" id="{DC2FBBA1-7D60-8F44-ADB4-BB5F60B2CD6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41" t="-177" r="47732" b="52749"/>
          <a:stretch/>
        </p:blipFill>
        <p:spPr>
          <a:xfrm>
            <a:off x="6627223" y="1108573"/>
            <a:ext cx="3122023" cy="1153008"/>
          </a:xfrm>
          <a:prstGeom prst="rect">
            <a:avLst/>
          </a:prstGeom>
        </p:spPr>
      </p:pic>
      <p:sp>
        <p:nvSpPr>
          <p:cNvPr id="8" name="矩形 7">
            <a:extLst>
              <a:ext uri="{FF2B5EF4-FFF2-40B4-BE49-F238E27FC236}">
                <a16:creationId xmlns:a16="http://schemas.microsoft.com/office/drawing/2014/main" id="{109566C4-3200-40A0-36B0-4952CDDAC61B}"/>
              </a:ext>
            </a:extLst>
          </p:cNvPr>
          <p:cNvSpPr/>
          <p:nvPr/>
        </p:nvSpPr>
        <p:spPr>
          <a:xfrm flipH="1">
            <a:off x="6810102" y="1942011"/>
            <a:ext cx="2757903" cy="13933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bg2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ECA8487F-50ED-8F6D-9DB0-209D20475115}"/>
              </a:ext>
            </a:extLst>
          </p:cNvPr>
          <p:cNvSpPr/>
          <p:nvPr/>
        </p:nvSpPr>
        <p:spPr>
          <a:xfrm flipH="1">
            <a:off x="1865064" y="4442461"/>
            <a:ext cx="791051" cy="167966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bg2">
                  <a:lumMod val="95000"/>
                  <a:lumOff val="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9475848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0396C1-EA64-DABF-AB1E-DAC8812CEA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F4A029A-1C90-0045-D3C4-09B1AF59BE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2" y="474123"/>
            <a:ext cx="8077200" cy="533400"/>
          </a:xfrm>
        </p:spPr>
        <p:txBody>
          <a:bodyPr/>
          <a:lstStyle/>
          <a:p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本次進度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: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Monitor</a:t>
            </a:r>
            <a:endParaRPr lang="zh-TW" altLang="en-US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7" name="文字版面配置區 6">
            <a:extLst>
              <a:ext uri="{FF2B5EF4-FFF2-40B4-BE49-F238E27FC236}">
                <a16:creationId xmlns:a16="http://schemas.microsoft.com/office/drawing/2014/main" id="{CA232325-2F30-826A-0F33-B3038ABB7C4A}"/>
              </a:ext>
            </a:extLst>
          </p:cNvPr>
          <p:cNvSpPr txBox="1"/>
          <p:nvPr/>
        </p:nvSpPr>
        <p:spPr>
          <a:xfrm>
            <a:off x="490980" y="843537"/>
            <a:ext cx="8924039" cy="147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Noto Sans Symbols"/>
              <a:buChar char="❖"/>
              <a:defRPr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F5050"/>
              </a:buClr>
              <a:buSzPts val="2400"/>
              <a:buFont typeface="Noto Sans Symbols"/>
              <a:buChar char="▪"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6699FF"/>
              </a:buClr>
              <a:buSzPts val="2000"/>
              <a:buFont typeface="Times New Roman"/>
              <a:buChar char="•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>
              <a:lnSpc>
                <a:spcPts val="3000"/>
              </a:lnSpc>
            </a:pPr>
            <a:r>
              <a:rPr lang="en-US" altLang="zh-TW" sz="16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MARS-922</a:t>
            </a:r>
            <a:r>
              <a:rPr lang="zh-TW" altLang="en-US" sz="16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，</a:t>
            </a:r>
            <a:r>
              <a:rPr lang="en-US" altLang="zh-TW" sz="16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DICOM</a:t>
            </a:r>
            <a:r>
              <a:rPr lang="zh-TW" altLang="en-US" sz="16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校正與驗證結果</a:t>
            </a:r>
            <a:r>
              <a:rPr lang="en-US" altLang="zh-TW" sz="16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(MCU)</a:t>
            </a:r>
          </a:p>
          <a:p>
            <a:pPr lvl="1">
              <a:lnSpc>
                <a:spcPts val="3000"/>
              </a:lnSpc>
            </a:pPr>
            <a:r>
              <a:rPr lang="en-US" altLang="zh-TW" sz="12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X</a:t>
            </a:r>
            <a:r>
              <a:rPr lang="zh-TW" altLang="en-US" sz="12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軸為灰階輸入值</a:t>
            </a:r>
            <a:r>
              <a:rPr lang="en-US" altLang="zh-TW" sz="12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0</a:t>
            </a:r>
            <a:r>
              <a:rPr lang="zh-TW" altLang="en-US" sz="12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～</a:t>
            </a:r>
            <a:r>
              <a:rPr lang="en-US" altLang="zh-TW" sz="12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255</a:t>
            </a:r>
            <a:r>
              <a:rPr lang="zh-TW" altLang="en-US" sz="12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，</a:t>
            </a:r>
            <a:r>
              <a:rPr lang="en-US" altLang="zh-TW" sz="12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Y</a:t>
            </a:r>
            <a:r>
              <a:rPr lang="zh-TW" altLang="en-US" sz="12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軸是相鄰兩階的亮度變化率</a:t>
            </a:r>
            <a:r>
              <a:rPr lang="en-US" altLang="zh-TW" sz="12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dL/L</a:t>
            </a:r>
            <a:endParaRPr lang="zh-TW" altLang="en-US" sz="1200" dirty="0">
              <a:solidFill>
                <a:srgbClr val="333333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8F08D897-DEEF-FE1A-0961-74FFF6DF9FC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66352301"/>
              </p:ext>
            </p:extLst>
          </p:nvPr>
        </p:nvGraphicFramePr>
        <p:xfrm>
          <a:off x="2403416" y="5016343"/>
          <a:ext cx="5099164" cy="1383188"/>
        </p:xfrm>
        <a:graphic>
          <a:graphicData uri="http://schemas.openxmlformats.org/drawingml/2006/table">
            <a:tbl>
              <a:tblPr/>
              <a:tblGrid>
                <a:gridCol w="1282709">
                  <a:extLst>
                    <a:ext uri="{9D8B030D-6E8A-4147-A177-3AD203B41FA5}">
                      <a16:colId xmlns:a16="http://schemas.microsoft.com/office/drawing/2014/main" val="1280648839"/>
                    </a:ext>
                  </a:extLst>
                </a:gridCol>
                <a:gridCol w="1100862">
                  <a:extLst>
                    <a:ext uri="{9D8B030D-6E8A-4147-A177-3AD203B41FA5}">
                      <a16:colId xmlns:a16="http://schemas.microsoft.com/office/drawing/2014/main" val="138896537"/>
                    </a:ext>
                  </a:extLst>
                </a:gridCol>
                <a:gridCol w="1103510">
                  <a:extLst>
                    <a:ext uri="{9D8B030D-6E8A-4147-A177-3AD203B41FA5}">
                      <a16:colId xmlns:a16="http://schemas.microsoft.com/office/drawing/2014/main" val="114248355"/>
                    </a:ext>
                  </a:extLst>
                </a:gridCol>
                <a:gridCol w="1612083">
                  <a:extLst>
                    <a:ext uri="{9D8B030D-6E8A-4147-A177-3AD203B41FA5}">
                      <a16:colId xmlns:a16="http://schemas.microsoft.com/office/drawing/2014/main" val="1501684541"/>
                    </a:ext>
                  </a:extLst>
                </a:gridCol>
              </a:tblGrid>
              <a:tr h="345797">
                <a:tc>
                  <a:txBody>
                    <a:bodyPr/>
                    <a:lstStyle/>
                    <a:p>
                      <a:pPr algn="ctr" fontAlgn="auto"/>
                      <a:r>
                        <a:rPr lang="zh-TW" altLang="en-US" sz="1200" b="1" i="0" u="none" strike="noStrike" baseline="0" dirty="0">
                          <a:solidFill>
                            <a:srgbClr val="FFFF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​</a:t>
                      </a:r>
                      <a:r>
                        <a:rPr lang="en-US" altLang="zh-TW" sz="1200" baseline="0" dirty="0">
                          <a:solidFill>
                            <a:srgbClr val="FFFF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MARS_922</a:t>
                      </a:r>
                      <a:endParaRPr lang="zh-TW" altLang="en-US" sz="1200" b="1" i="0" u="none" strike="noStrike" baseline="0" dirty="0">
                        <a:solidFill>
                          <a:srgbClr val="FFFF00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</a:endParaRPr>
                    </a:p>
                  </a:txBody>
                  <a:tcPr>
                    <a:lnL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439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3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zh-TW" altLang="en-US" sz="1200" b="1" i="0" u="none" strike="noStrike" baseline="0" dirty="0"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色溫</a:t>
                      </a:r>
                      <a:r>
                        <a:rPr lang="zh-TW" altLang="en-US" sz="1200" b="1" i="0" baseline="0" dirty="0"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​</a:t>
                      </a:r>
                    </a:p>
                  </a:txBody>
                  <a:tcPr>
                    <a:lnL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439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3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US" altLang="zh-TW" sz="1200" b="1" i="0" u="none" strike="noStrike" baseline="0" dirty="0">
                          <a:solidFill>
                            <a:srgbClr val="FFC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18</a:t>
                      </a:r>
                      <a:r>
                        <a:rPr lang="zh-TW" altLang="en-US" sz="1200" b="1" i="0" u="none" strike="noStrike" baseline="0" dirty="0">
                          <a:solidFill>
                            <a:srgbClr val="FFC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階</a:t>
                      </a:r>
                      <a:r>
                        <a:rPr lang="zh-TW" altLang="en-US" sz="1200" b="1" i="0" baseline="0" dirty="0"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​</a:t>
                      </a:r>
                    </a:p>
                  </a:txBody>
                  <a:tcPr>
                    <a:lnL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439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3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zh-TW" altLang="en-US" sz="1200" b="1" i="0" u="none" strike="noStrike" baseline="0" dirty="0"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色溫</a:t>
                      </a:r>
                      <a:r>
                        <a:rPr lang="zh-TW" altLang="en-US" sz="1200" b="1" i="0" baseline="0" dirty="0"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​</a:t>
                      </a:r>
                    </a:p>
                  </a:txBody>
                  <a:tcPr>
                    <a:lnL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439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3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76011860"/>
                  </a:ext>
                </a:extLst>
              </a:tr>
              <a:tr h="345797">
                <a:tc>
                  <a:txBody>
                    <a:bodyPr/>
                    <a:lstStyle/>
                    <a:p>
                      <a:pPr algn="ctr" fontAlgn="base"/>
                      <a:r>
                        <a:rPr lang="en-US" altLang="zh-TW" sz="1200" b="0" i="0" u="none" strike="noStrike" baseline="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DICOM</a:t>
                      </a:r>
                      <a:endParaRPr lang="en-US" altLang="zh-TW" sz="1200" b="0" i="0" baseline="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</a:endParaRPr>
                    </a:p>
                  </a:txBody>
                  <a:tcPr>
                    <a:lnL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439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CDE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US" sz="12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5400</a:t>
                      </a:r>
                      <a:r>
                        <a:rPr lang="en-US" altLang="zh-TW" sz="1200" b="0" i="0" baseline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​</a:t>
                      </a:r>
                    </a:p>
                  </a:txBody>
                  <a:tcPr>
                    <a:lnL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439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CDE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US" altLang="zh-TW" sz="12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PASS</a:t>
                      </a:r>
                      <a:endParaRPr lang="en-US" altLang="zh-TW" sz="1200" b="0" i="0" baseline="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</a:endParaRPr>
                    </a:p>
                  </a:txBody>
                  <a:tcPr>
                    <a:lnL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439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CDE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US" sz="12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5495</a:t>
                      </a:r>
                      <a:r>
                        <a:rPr lang="en-US" altLang="zh-TW" sz="1200" b="0" i="0" baseline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​</a:t>
                      </a:r>
                    </a:p>
                  </a:txBody>
                  <a:tcPr>
                    <a:lnL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439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CD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13265698"/>
                  </a:ext>
                </a:extLst>
              </a:tr>
              <a:tr h="345797">
                <a:tc>
                  <a:txBody>
                    <a:bodyPr/>
                    <a:lstStyle/>
                    <a:p>
                      <a:pPr marR="0" algn="ctr" rtl="0" fontAlgn="base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zh-TW" altLang="en-US" sz="1200" b="0" i="0" u="none" strike="noStrike" cap="none" baseline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  <a:sym typeface="Arial"/>
                        </a:rPr>
                        <a:t>​</a:t>
                      </a:r>
                    </a:p>
                  </a:txBody>
                  <a:tcPr>
                    <a:lnL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F6"/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base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200" b="0" i="0" u="none" strike="noStrike" cap="none" baseline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  <a:sym typeface="Arial"/>
                        </a:rPr>
                        <a:t>6500</a:t>
                      </a:r>
                      <a:r>
                        <a:rPr lang="en-US" altLang="zh-TW" sz="1200" b="0" i="0" u="none" strike="noStrike" cap="none" baseline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  <a:sym typeface="Arial"/>
                        </a:rPr>
                        <a:t>​</a:t>
                      </a:r>
                    </a:p>
                  </a:txBody>
                  <a:tcPr>
                    <a:lnL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F6"/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base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200" b="0" i="0" u="none" strike="noStrike" cap="none" baseline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  <a:sym typeface="Arial"/>
                        </a:rPr>
                        <a:t>PASS</a:t>
                      </a:r>
                      <a:endParaRPr lang="en-US" altLang="zh-TW" sz="1200" b="0" i="0" u="none" strike="noStrike" cap="none" baseline="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+mn-cs"/>
                        <a:sym typeface="Arial"/>
                      </a:endParaRPr>
                    </a:p>
                  </a:txBody>
                  <a:tcPr>
                    <a:lnL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F6"/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base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200" b="0" i="0" u="none" strike="noStrike" cap="none" baseline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  <a:sym typeface="Arial"/>
                        </a:rPr>
                        <a:t>6277</a:t>
                      </a:r>
                      <a:endParaRPr lang="en-US" altLang="zh-TW" sz="1200" b="0" i="0" u="none" strike="noStrike" cap="none" baseline="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+mn-cs"/>
                        <a:sym typeface="Arial"/>
                      </a:endParaRPr>
                    </a:p>
                  </a:txBody>
                  <a:tcPr>
                    <a:lnL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0835195"/>
                  </a:ext>
                </a:extLst>
              </a:tr>
              <a:tr h="345797">
                <a:tc>
                  <a:txBody>
                    <a:bodyPr/>
                    <a:lstStyle/>
                    <a:p>
                      <a:pPr algn="ctr" fontAlgn="auto"/>
                      <a:r>
                        <a:rPr lang="zh-TW" altLang="en-US" sz="12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​</a:t>
                      </a:r>
                    </a:p>
                  </a:txBody>
                  <a:tcPr>
                    <a:lnL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CDE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US" sz="12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9300</a:t>
                      </a:r>
                      <a:r>
                        <a:rPr lang="en-US" altLang="zh-TW" sz="1200" b="0" i="0" baseline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​</a:t>
                      </a:r>
                    </a:p>
                  </a:txBody>
                  <a:tcPr>
                    <a:lnL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CDEC"/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base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altLang="zh-TW" sz="1200" b="0" i="0" u="none" strike="noStrike" cap="none" baseline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  <a:sym typeface="Arial"/>
                        </a:rPr>
                        <a:t>PASS</a:t>
                      </a:r>
                    </a:p>
                  </a:txBody>
                  <a:tcPr>
                    <a:lnL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CDE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US" sz="12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9304</a:t>
                      </a:r>
                      <a:endParaRPr lang="en-US" altLang="zh-TW" sz="1200" b="0" i="0" baseline="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</a:endParaRPr>
                    </a:p>
                  </a:txBody>
                  <a:tcPr>
                    <a:lnL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CD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86202100"/>
                  </a:ext>
                </a:extLst>
              </a:tr>
            </a:tbl>
          </a:graphicData>
        </a:graphic>
      </p:graphicFrame>
      <p:sp>
        <p:nvSpPr>
          <p:cNvPr id="13" name="矩形 12">
            <a:extLst>
              <a:ext uri="{FF2B5EF4-FFF2-40B4-BE49-F238E27FC236}">
                <a16:creationId xmlns:a16="http://schemas.microsoft.com/office/drawing/2014/main" id="{A9EB0DC9-5699-5167-7C55-B397F92600E5}"/>
              </a:ext>
            </a:extLst>
          </p:cNvPr>
          <p:cNvSpPr/>
          <p:nvPr/>
        </p:nvSpPr>
        <p:spPr>
          <a:xfrm>
            <a:off x="7589946" y="4604121"/>
            <a:ext cx="1574469" cy="338554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TW" sz="16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</a:rPr>
              <a:t>DICOM_9300K</a:t>
            </a:r>
            <a:endParaRPr lang="zh-TW" altLang="en-US" sz="16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imes New Roman" panose="02020603050405020304" pitchFamily="18" charset="0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B10CEEEE-DEBA-C52A-B8C9-5A6CDBF74230}"/>
              </a:ext>
            </a:extLst>
          </p:cNvPr>
          <p:cNvSpPr/>
          <p:nvPr/>
        </p:nvSpPr>
        <p:spPr>
          <a:xfrm>
            <a:off x="4165764" y="4601525"/>
            <a:ext cx="1574469" cy="338554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TW" sz="16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</a:rPr>
              <a:t>DICOM_6500K</a:t>
            </a:r>
            <a:endParaRPr lang="zh-TW" altLang="en-US" sz="16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imes New Roman" panose="02020603050405020304" pitchFamily="18" charset="0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021AEE27-C6A7-D35D-59DF-AAFD56C60FA6}"/>
              </a:ext>
            </a:extLst>
          </p:cNvPr>
          <p:cNvSpPr/>
          <p:nvPr/>
        </p:nvSpPr>
        <p:spPr>
          <a:xfrm>
            <a:off x="883486" y="4580231"/>
            <a:ext cx="1574469" cy="338554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TW" sz="16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</a:rPr>
              <a:t>DICOM_5400K</a:t>
            </a:r>
            <a:endParaRPr lang="zh-TW" altLang="en-US" sz="16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imes New Roman" panose="02020603050405020304" pitchFamily="18" charset="0"/>
            </a:endParaRP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568BB671-E342-B026-9D36-C03A96E6D8E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960"/>
          <a:stretch/>
        </p:blipFill>
        <p:spPr>
          <a:xfrm>
            <a:off x="6631531" y="1949949"/>
            <a:ext cx="3274469" cy="2651576"/>
          </a:xfrm>
          <a:prstGeom prst="rect">
            <a:avLst/>
          </a:prstGeom>
        </p:spPr>
      </p:pic>
      <p:pic>
        <p:nvPicPr>
          <p:cNvPr id="8" name="圖片 7">
            <a:extLst>
              <a:ext uri="{FF2B5EF4-FFF2-40B4-BE49-F238E27FC236}">
                <a16:creationId xmlns:a16="http://schemas.microsoft.com/office/drawing/2014/main" id="{BE71692A-9E65-A2FF-9B47-F690E9BAA8D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6704" t="7684" r="17140" b="18295"/>
          <a:stretch/>
        </p:blipFill>
        <p:spPr>
          <a:xfrm>
            <a:off x="3353006" y="1949949"/>
            <a:ext cx="3199987" cy="2630282"/>
          </a:xfrm>
          <a:prstGeom prst="rect">
            <a:avLst/>
          </a:prstGeom>
        </p:spPr>
      </p:pic>
      <p:pic>
        <p:nvPicPr>
          <p:cNvPr id="12" name="圖片 11">
            <a:extLst>
              <a:ext uri="{FF2B5EF4-FFF2-40B4-BE49-F238E27FC236}">
                <a16:creationId xmlns:a16="http://schemas.microsoft.com/office/drawing/2014/main" id="{4ACE592C-7F07-AAAF-4617-6A60417F2AB3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10057" t="10411" r="27087" b="17651"/>
          <a:stretch/>
        </p:blipFill>
        <p:spPr>
          <a:xfrm>
            <a:off x="167640" y="1949949"/>
            <a:ext cx="3106828" cy="25153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312215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0396C1-EA64-DABF-AB1E-DAC8812CEA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F4A029A-1C90-0045-D3C4-09B1AF59BE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2" y="474123"/>
            <a:ext cx="8077200" cy="533400"/>
          </a:xfrm>
        </p:spPr>
        <p:txBody>
          <a:bodyPr/>
          <a:lstStyle/>
          <a:p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本次進度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: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Monitor</a:t>
            </a:r>
            <a:endParaRPr lang="zh-TW" altLang="en-US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7" name="文字版面配置區 6">
            <a:extLst>
              <a:ext uri="{FF2B5EF4-FFF2-40B4-BE49-F238E27FC236}">
                <a16:creationId xmlns:a16="http://schemas.microsoft.com/office/drawing/2014/main" id="{CA232325-2F30-826A-0F33-B3038ABB7C4A}"/>
              </a:ext>
            </a:extLst>
          </p:cNvPr>
          <p:cNvSpPr txBox="1"/>
          <p:nvPr/>
        </p:nvSpPr>
        <p:spPr>
          <a:xfrm>
            <a:off x="490980" y="843944"/>
            <a:ext cx="8924039" cy="18456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Noto Sans Symbols"/>
              <a:buChar char="❖"/>
              <a:defRPr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F5050"/>
              </a:buClr>
              <a:buSzPts val="2400"/>
              <a:buFont typeface="Noto Sans Symbols"/>
              <a:buChar char="▪"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6699FF"/>
              </a:buClr>
              <a:buSzPts val="2000"/>
              <a:buFont typeface="Times New Roman"/>
              <a:buChar char="•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>
              <a:lnSpc>
                <a:spcPts val="3000"/>
              </a:lnSpc>
            </a:pPr>
            <a:r>
              <a:rPr lang="en-US" altLang="zh-TW" sz="16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MARS-922</a:t>
            </a:r>
            <a:r>
              <a:rPr lang="zh-TW" altLang="en-US" sz="16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，</a:t>
            </a:r>
            <a:r>
              <a:rPr lang="en-US" altLang="zh-TW" sz="16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Gamma &amp; DICOM</a:t>
            </a:r>
            <a:r>
              <a:rPr lang="zh-TW" altLang="en-US" sz="16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驗證</a:t>
            </a:r>
            <a:endParaRPr lang="en-US" altLang="zh-TW" sz="1600" dirty="0">
              <a:solidFill>
                <a:srgbClr val="333333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1">
              <a:lnSpc>
                <a:spcPts val="3000"/>
              </a:lnSpc>
            </a:pPr>
            <a:r>
              <a:rPr lang="zh-TW" altLang="en-US" sz="12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在</a:t>
            </a:r>
            <a:r>
              <a:rPr lang="en-US" altLang="zh-TW" sz="12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MARS-922</a:t>
            </a:r>
            <a:r>
              <a:rPr lang="zh-TW" altLang="en-US" sz="12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，</a:t>
            </a:r>
            <a:r>
              <a:rPr lang="en-US" altLang="zh-TW" sz="12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Gamma</a:t>
            </a:r>
            <a:r>
              <a:rPr lang="zh-TW" altLang="en-US" sz="12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驗證時</a:t>
            </a:r>
            <a:r>
              <a:rPr lang="zh-TW" altLang="en-US" sz="1200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拿掉</a:t>
            </a:r>
            <a:r>
              <a:rPr lang="en-US" altLang="zh-TW" sz="12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i1_gain</a:t>
            </a:r>
            <a:r>
              <a:rPr lang="zh-TW" altLang="en-US" sz="12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補償，直接用</a:t>
            </a:r>
            <a:r>
              <a:rPr lang="en-US" altLang="zh-TW" sz="12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VEML</a:t>
            </a:r>
            <a:r>
              <a:rPr lang="zh-TW" altLang="en-US" sz="12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的原始亮度量測</a:t>
            </a:r>
            <a:endParaRPr lang="en-US" altLang="zh-TW" sz="1200" dirty="0">
              <a:solidFill>
                <a:srgbClr val="333333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1">
              <a:lnSpc>
                <a:spcPts val="3000"/>
              </a:lnSpc>
            </a:pPr>
            <a:r>
              <a:rPr lang="en-US" altLang="zh-TW" sz="12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DICOM</a:t>
            </a:r>
            <a:r>
              <a:rPr lang="zh-TW" altLang="en-US" sz="12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驗證會</a:t>
            </a:r>
            <a:r>
              <a:rPr lang="zh-TW" altLang="en-US" sz="1200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套用</a:t>
            </a:r>
            <a:r>
              <a:rPr lang="en-US" altLang="zh-TW" sz="12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i1_gain_DICOM</a:t>
            </a:r>
            <a:r>
              <a:rPr lang="zh-TW" altLang="en-US" sz="12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數值，改善</a:t>
            </a:r>
            <a:r>
              <a:rPr lang="en-US" altLang="zh-TW" sz="12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VEML</a:t>
            </a:r>
            <a:r>
              <a:rPr lang="zh-TW" altLang="en-US" sz="12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量到灰階暗處亮度太亮 </a:t>
            </a:r>
            <a:r>
              <a:rPr lang="en-US" altLang="zh-TW" sz="12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(5.4 nits)</a:t>
            </a:r>
          </a:p>
          <a:p>
            <a:pPr lvl="1">
              <a:lnSpc>
                <a:spcPts val="3000"/>
              </a:lnSpc>
            </a:pPr>
            <a:r>
              <a:rPr lang="en-US" altLang="zh-TW" sz="12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i1_gain_DICOM =  DICOM</a:t>
            </a:r>
            <a:r>
              <a:rPr lang="zh-TW" altLang="en-US" sz="12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sz="12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6500K</a:t>
            </a:r>
            <a:r>
              <a:rPr lang="zh-TW" altLang="en-US" sz="12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中的 </a:t>
            </a:r>
            <a:r>
              <a:rPr lang="en-US" altLang="zh-TW" sz="12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i1[</a:t>
            </a:r>
            <a:r>
              <a:rPr lang="en-US" altLang="zh-TW" sz="1200" dirty="0" err="1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i</a:t>
            </a:r>
            <a:r>
              <a:rPr lang="en-US" altLang="zh-TW" sz="12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] / VEML[</a:t>
            </a:r>
            <a:r>
              <a:rPr lang="en-US" altLang="zh-TW" sz="1200" dirty="0" err="1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i</a:t>
            </a:r>
            <a:r>
              <a:rPr lang="en-US" altLang="zh-TW" sz="12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]</a:t>
            </a:r>
            <a:r>
              <a:rPr lang="zh-TW" altLang="en-US" sz="12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，對齊</a:t>
            </a:r>
            <a:r>
              <a:rPr lang="en-US" altLang="zh-TW" sz="12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i1</a:t>
            </a:r>
            <a:r>
              <a:rPr lang="zh-TW" altLang="en-US" sz="12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的亮度</a:t>
            </a:r>
            <a:endParaRPr lang="en-US" altLang="zh-TW" sz="1200" dirty="0">
              <a:solidFill>
                <a:srgbClr val="333333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1">
              <a:lnSpc>
                <a:spcPts val="3000"/>
              </a:lnSpc>
            </a:pPr>
            <a:endParaRPr lang="zh-TW" altLang="en-US" sz="1200" dirty="0">
              <a:solidFill>
                <a:srgbClr val="333333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pic>
        <p:nvPicPr>
          <p:cNvPr id="17" name="圖片 16">
            <a:extLst>
              <a:ext uri="{FF2B5EF4-FFF2-40B4-BE49-F238E27FC236}">
                <a16:creationId xmlns:a16="http://schemas.microsoft.com/office/drawing/2014/main" id="{BB5FA3EB-97A5-C4E8-B584-BACB9A07B7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71661" y="2830185"/>
            <a:ext cx="6353082" cy="16796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46694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0396C1-EA64-DABF-AB1E-DAC8812CEA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F4A029A-1C90-0045-D3C4-09B1AF59BE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2" y="474123"/>
            <a:ext cx="8077200" cy="533400"/>
          </a:xfrm>
        </p:spPr>
        <p:txBody>
          <a:bodyPr/>
          <a:lstStyle/>
          <a:p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本次進度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: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Monitor</a:t>
            </a:r>
            <a:endParaRPr lang="zh-TW" altLang="en-US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字版面配置區 6">
                <a:extLst>
                  <a:ext uri="{FF2B5EF4-FFF2-40B4-BE49-F238E27FC236}">
                    <a16:creationId xmlns:a16="http://schemas.microsoft.com/office/drawing/2014/main" id="{CA232325-2F30-826A-0F33-B3038ABB7C4A}"/>
                  </a:ext>
                </a:extLst>
              </p:cNvPr>
              <p:cNvSpPr txBox="1"/>
              <p:nvPr/>
            </p:nvSpPr>
            <p:spPr>
              <a:xfrm>
                <a:off x="490980" y="843944"/>
                <a:ext cx="8924039" cy="184562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L="457200" marR="0" lvl="0" indent="-406400" algn="l" rtl="0">
                  <a:lnSpc>
                    <a:spcPct val="100000"/>
                  </a:lnSpc>
                  <a:spcBef>
                    <a:spcPts val="560"/>
                  </a:spcBef>
                  <a:spcAft>
                    <a:spcPts val="0"/>
                  </a:spcAft>
                  <a:buClr>
                    <a:schemeClr val="accent2"/>
                  </a:buClr>
                  <a:buSzPts val="2800"/>
                  <a:buFont typeface="Noto Sans Symbols"/>
                  <a:buChar char="❖"/>
                  <a:defRPr sz="2800" b="0" i="0" u="none" strike="noStrike" cap="non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lvl1pPr>
                <a:lvl2pPr marL="914400" marR="0" lvl="1" indent="-381000" algn="l" rtl="0">
                  <a:lnSpc>
                    <a:spcPct val="100000"/>
                  </a:lnSpc>
                  <a:spcBef>
                    <a:spcPts val="480"/>
                  </a:spcBef>
                  <a:spcAft>
                    <a:spcPts val="0"/>
                  </a:spcAft>
                  <a:buClr>
                    <a:srgbClr val="FF5050"/>
                  </a:buClr>
                  <a:buSzPts val="2400"/>
                  <a:buFont typeface="Noto Sans Symbols"/>
                  <a:buChar char="▪"/>
                  <a:defRPr sz="2400" b="0" i="0" u="none" strike="noStrike" cap="non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lvl2pPr>
                <a:lvl3pPr marL="1371600" marR="0" lvl="2" indent="-355600" algn="l" rtl="0">
                  <a:lnSpc>
                    <a:spcPct val="100000"/>
                  </a:lnSpc>
                  <a:spcBef>
                    <a:spcPts val="400"/>
                  </a:spcBef>
                  <a:spcAft>
                    <a:spcPts val="0"/>
                  </a:spcAft>
                  <a:buClr>
                    <a:srgbClr val="6699FF"/>
                  </a:buClr>
                  <a:buSzPts val="2000"/>
                  <a:buFont typeface="Times New Roman"/>
                  <a:buChar char="•"/>
                  <a:defRPr sz="2000" b="0" i="0" u="none" strike="noStrike" cap="non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lvl3pPr>
                <a:lvl4pPr marL="1828800" marR="0" lvl="3" indent="-355600" algn="l" rtl="0">
                  <a:lnSpc>
                    <a:spcPct val="100000"/>
                  </a:lnSpc>
                  <a:spcBef>
                    <a:spcPts val="400"/>
                  </a:spcBef>
                  <a:spcAft>
                    <a:spcPts val="0"/>
                  </a:spcAft>
                  <a:buClr>
                    <a:srgbClr val="FF5050"/>
                  </a:buClr>
                  <a:buSzPts val="2000"/>
                  <a:buFont typeface="Times New Roman"/>
                  <a:buChar char="o"/>
                  <a:defRPr sz="2000" b="0" i="0" u="none" strike="noStrike" cap="non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lvl4pPr>
                <a:lvl5pPr marL="2286000" marR="0" lvl="4" indent="-355600" algn="l" rtl="0">
                  <a:lnSpc>
                    <a:spcPct val="100000"/>
                  </a:lnSpc>
                  <a:spcBef>
                    <a:spcPts val="400"/>
                  </a:spcBef>
                  <a:spcAft>
                    <a:spcPts val="0"/>
                  </a:spcAft>
                  <a:buClr>
                    <a:srgbClr val="FF5050"/>
                  </a:buClr>
                  <a:buSzPts val="2000"/>
                  <a:buFont typeface="Times New Roman"/>
                  <a:buChar char="o"/>
                  <a:defRPr sz="2000" b="0" i="0" u="none" strike="noStrike" cap="non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lvl5pPr>
                <a:lvl6pPr marL="2743200" marR="0" lvl="5" indent="-355600" algn="l" rtl="0">
                  <a:lnSpc>
                    <a:spcPct val="100000"/>
                  </a:lnSpc>
                  <a:spcBef>
                    <a:spcPts val="400"/>
                  </a:spcBef>
                  <a:spcAft>
                    <a:spcPts val="0"/>
                  </a:spcAft>
                  <a:buClr>
                    <a:srgbClr val="FF5050"/>
                  </a:buClr>
                  <a:buSzPts val="2000"/>
                  <a:buFont typeface="Times New Roman"/>
                  <a:buChar char="o"/>
                  <a:defRPr sz="2000" b="0" i="0" u="none" strike="noStrike" cap="non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lvl6pPr>
                <a:lvl7pPr marL="3200400" marR="0" lvl="6" indent="-355600" algn="l" rtl="0">
                  <a:lnSpc>
                    <a:spcPct val="100000"/>
                  </a:lnSpc>
                  <a:spcBef>
                    <a:spcPts val="400"/>
                  </a:spcBef>
                  <a:spcAft>
                    <a:spcPts val="0"/>
                  </a:spcAft>
                  <a:buClr>
                    <a:srgbClr val="FF5050"/>
                  </a:buClr>
                  <a:buSzPts val="2000"/>
                  <a:buFont typeface="Times New Roman"/>
                  <a:buChar char="o"/>
                  <a:defRPr sz="2000" b="0" i="0" u="none" strike="noStrike" cap="non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lvl7pPr>
                <a:lvl8pPr marL="3657600" marR="0" lvl="7" indent="-355600" algn="l" rtl="0">
                  <a:lnSpc>
                    <a:spcPct val="100000"/>
                  </a:lnSpc>
                  <a:spcBef>
                    <a:spcPts val="400"/>
                  </a:spcBef>
                  <a:spcAft>
                    <a:spcPts val="0"/>
                  </a:spcAft>
                  <a:buClr>
                    <a:srgbClr val="FF5050"/>
                  </a:buClr>
                  <a:buSzPts val="2000"/>
                  <a:buFont typeface="Times New Roman"/>
                  <a:buChar char="o"/>
                  <a:defRPr sz="2000" b="0" i="0" u="none" strike="noStrike" cap="non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lvl8pPr>
                <a:lvl9pPr marL="4114800" marR="0" lvl="8" indent="-355600" algn="l" rtl="0">
                  <a:lnSpc>
                    <a:spcPct val="100000"/>
                  </a:lnSpc>
                  <a:spcBef>
                    <a:spcPts val="400"/>
                  </a:spcBef>
                  <a:spcAft>
                    <a:spcPts val="0"/>
                  </a:spcAft>
                  <a:buClr>
                    <a:srgbClr val="FF5050"/>
                  </a:buClr>
                  <a:buSzPts val="2000"/>
                  <a:buFont typeface="Times New Roman"/>
                  <a:buChar char="o"/>
                  <a:defRPr sz="2000" b="0" i="0" u="none" strike="noStrike" cap="non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lvl9pPr>
              </a:lstStyle>
              <a:p>
                <a:pPr>
                  <a:lnSpc>
                    <a:spcPts val="3000"/>
                  </a:lnSpc>
                </a:pPr>
                <a:r>
                  <a:rPr lang="en-US" altLang="zh-TW" sz="1600" dirty="0">
                    <a:solidFill>
                      <a:srgbClr val="333333"/>
                    </a:solidFill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MARS-922</a:t>
                </a:r>
                <a:r>
                  <a:rPr lang="zh-TW" altLang="en-US" sz="1600" dirty="0">
                    <a:solidFill>
                      <a:srgbClr val="333333"/>
                    </a:solidFill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，</a:t>
                </a:r>
                <a:r>
                  <a:rPr lang="en-US" altLang="zh-TW" sz="1600" dirty="0">
                    <a:solidFill>
                      <a:srgbClr val="333333"/>
                    </a:solidFill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Gamma &amp; DICOM</a:t>
                </a:r>
                <a:r>
                  <a:rPr lang="zh-TW" altLang="en-US" sz="1600" dirty="0">
                    <a:solidFill>
                      <a:srgbClr val="333333"/>
                    </a:solidFill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 驗證</a:t>
                </a:r>
                <a:endParaRPr lang="en-US" altLang="zh-TW" sz="1600" dirty="0">
                  <a:solidFill>
                    <a:srgbClr val="333333"/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endParaRPr>
              </a:p>
              <a:p>
                <a:pPr lvl="1">
                  <a:lnSpc>
                    <a:spcPts val="3000"/>
                  </a:lnSpc>
                </a:pPr>
                <a:r>
                  <a:rPr lang="en-US" altLang="zh-TW" sz="1200" dirty="0">
                    <a:solidFill>
                      <a:srgbClr val="333333"/>
                    </a:solidFill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4</a:t>
                </a:r>
                <a:r>
                  <a:rPr lang="zh-TW" altLang="en-US" sz="1200" dirty="0">
                    <a:solidFill>
                      <a:srgbClr val="333333"/>
                    </a:solidFill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組</a:t>
                </a:r>
                <a:r>
                  <a:rPr lang="en-US" altLang="zh-TW" sz="1200" dirty="0">
                    <a:solidFill>
                      <a:srgbClr val="333333"/>
                    </a:solidFill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Gamma + DICOM </a:t>
                </a:r>
                <a:r>
                  <a:rPr lang="zh-TW" altLang="en-US" sz="1200" dirty="0">
                    <a:solidFill>
                      <a:srgbClr val="333333"/>
                    </a:solidFill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的驗證報告</a:t>
                </a:r>
                <a:endParaRPr lang="en-US" altLang="zh-TW" sz="1200" dirty="0">
                  <a:solidFill>
                    <a:srgbClr val="333333"/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endParaRPr>
              </a:p>
              <a:p>
                <a:pPr lvl="1">
                  <a:lnSpc>
                    <a:spcPts val="3000"/>
                  </a:lnSpc>
                </a:pPr>
                <a:r>
                  <a:rPr lang="en-US" altLang="zh-TW" sz="1200" dirty="0">
                    <a:solidFill>
                      <a:srgbClr val="333333"/>
                    </a:solidFill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Gamma Pass </a:t>
                </a:r>
                <a:r>
                  <a:rPr lang="zh-TW" altLang="en-US" sz="1200" dirty="0">
                    <a:solidFill>
                      <a:srgbClr val="333333"/>
                    </a:solidFill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範圍</a:t>
                </a:r>
                <a14:m>
                  <m:oMath xmlns:m="http://schemas.openxmlformats.org/officeDocument/2006/math">
                    <m:r>
                      <a:rPr lang="en-US" altLang="zh-TW" sz="1200" i="1" smtClean="0">
                        <a:solidFill>
                          <a:srgbClr val="333333"/>
                        </a:solidFill>
                        <a:latin typeface="Cambria Math" panose="020405030504060302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rPr>
                      <m:t>±</m:t>
                    </m:r>
                  </m:oMath>
                </a14:m>
                <a:r>
                  <a:rPr lang="zh-TW" altLang="en-US" sz="1200" dirty="0">
                    <a:solidFill>
                      <a:srgbClr val="333333"/>
                    </a:solidFill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 </a:t>
                </a:r>
                <a:r>
                  <a:rPr lang="en-US" altLang="zh-TW" sz="1200" dirty="0">
                    <a:solidFill>
                      <a:srgbClr val="333333"/>
                    </a:solidFill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0.1</a:t>
                </a:r>
                <a:r>
                  <a:rPr lang="zh-TW" altLang="en-US" sz="1200" dirty="0">
                    <a:solidFill>
                      <a:srgbClr val="333333"/>
                    </a:solidFill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、</a:t>
                </a:r>
                <a:r>
                  <a:rPr lang="en-US" altLang="zh-TW" sz="1200" dirty="0">
                    <a:solidFill>
                      <a:srgbClr val="333333"/>
                    </a:solidFill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DICOM </a:t>
                </a:r>
                <a:r>
                  <a:rPr lang="zh-TW" altLang="en-US" sz="1200" dirty="0">
                    <a:solidFill>
                      <a:srgbClr val="333333"/>
                    </a:solidFill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範圍 </a:t>
                </a:r>
                <a:r>
                  <a:rPr lang="en-US" altLang="zh-TW" sz="1200" dirty="0">
                    <a:solidFill>
                      <a:srgbClr val="333333"/>
                    </a:solidFill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Pass </a:t>
                </a:r>
                <a14:m>
                  <m:oMath xmlns:m="http://schemas.openxmlformats.org/officeDocument/2006/math">
                    <m:r>
                      <a:rPr lang="en-US" altLang="zh-TW" sz="1200" i="1">
                        <a:solidFill>
                          <a:srgbClr val="333333"/>
                        </a:solidFill>
                        <a:latin typeface="Cambria Math" panose="020405030504060302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rPr>
                      <m:t>± </m:t>
                    </m:r>
                  </m:oMath>
                </a14:m>
                <a:r>
                  <a:rPr lang="en-US" altLang="zh-TW" sz="1200" dirty="0">
                    <a:solidFill>
                      <a:srgbClr val="333333"/>
                    </a:solidFill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15%</a:t>
                </a:r>
                <a:r>
                  <a:rPr lang="zh-TW" altLang="en-US" sz="1200" dirty="0">
                    <a:solidFill>
                      <a:srgbClr val="333333"/>
                    </a:solidFill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、色溫 </a:t>
                </a:r>
                <a:r>
                  <a:rPr lang="en-US" altLang="zh-TW" sz="1200" dirty="0">
                    <a:solidFill>
                      <a:srgbClr val="333333"/>
                    </a:solidFill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Pass</a:t>
                </a:r>
                <a:r>
                  <a:rPr lang="zh-TW" altLang="en-US" sz="1200" dirty="0">
                    <a:solidFill>
                      <a:srgbClr val="333333"/>
                    </a:solidFill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範圍</a:t>
                </a:r>
                <a14:m>
                  <m:oMath xmlns:m="http://schemas.openxmlformats.org/officeDocument/2006/math">
                    <m:r>
                      <a:rPr lang="en-US" altLang="zh-TW" sz="1200" i="1">
                        <a:solidFill>
                          <a:srgbClr val="333333"/>
                        </a:solidFill>
                        <a:latin typeface="Cambria Math" panose="020405030504060302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rPr>
                      <m:t>±</m:t>
                    </m:r>
                  </m:oMath>
                </a14:m>
                <a:r>
                  <a:rPr lang="en-US" altLang="zh-TW" sz="1200" dirty="0">
                    <a:solidFill>
                      <a:srgbClr val="333333"/>
                    </a:solidFill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1000K</a:t>
                </a:r>
              </a:p>
              <a:p>
                <a:pPr lvl="1">
                  <a:lnSpc>
                    <a:spcPts val="3000"/>
                  </a:lnSpc>
                </a:pPr>
                <a:endParaRPr lang="en-US" altLang="zh-TW" sz="1200" dirty="0">
                  <a:solidFill>
                    <a:srgbClr val="333333"/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7" name="文字版面配置區 6">
                <a:extLst>
                  <a:ext uri="{FF2B5EF4-FFF2-40B4-BE49-F238E27FC236}">
                    <a16:creationId xmlns:a16="http://schemas.microsoft.com/office/drawing/2014/main" id="{CA232325-2F30-826A-0F33-B3038ABB7C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0980" y="843944"/>
                <a:ext cx="8924039" cy="1845623"/>
              </a:xfrm>
              <a:prstGeom prst="rect">
                <a:avLst/>
              </a:prstGeom>
              <a:blipFill>
                <a:blip r:embed="rId3"/>
                <a:stretch>
                  <a:fillRect l="-1162" t="-5281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圖片 4">
            <a:extLst>
              <a:ext uri="{FF2B5EF4-FFF2-40B4-BE49-F238E27FC236}">
                <a16:creationId xmlns:a16="http://schemas.microsoft.com/office/drawing/2014/main" id="{3E88EC79-5C1A-BF1D-E6B3-E53A9439430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-356"/>
          <a:stretch/>
        </p:blipFill>
        <p:spPr>
          <a:xfrm>
            <a:off x="1745677" y="2428875"/>
            <a:ext cx="5866777" cy="3955002"/>
          </a:xfrm>
          <a:prstGeom prst="rect">
            <a:avLst/>
          </a:prstGeom>
        </p:spPr>
      </p:pic>
      <p:sp>
        <p:nvSpPr>
          <p:cNvPr id="9" name="矩形 8">
            <a:extLst>
              <a:ext uri="{FF2B5EF4-FFF2-40B4-BE49-F238E27FC236}">
                <a16:creationId xmlns:a16="http://schemas.microsoft.com/office/drawing/2014/main" id="{2D04B09D-5D7F-BEDE-F3E7-67962F2638C3}"/>
              </a:ext>
            </a:extLst>
          </p:cNvPr>
          <p:cNvSpPr/>
          <p:nvPr/>
        </p:nvSpPr>
        <p:spPr>
          <a:xfrm flipH="1">
            <a:off x="3737639" y="3867150"/>
            <a:ext cx="2272636" cy="160972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bg2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83111F10-10DF-829D-C09C-20E7B99DE601}"/>
              </a:ext>
            </a:extLst>
          </p:cNvPr>
          <p:cNvSpPr/>
          <p:nvPr/>
        </p:nvSpPr>
        <p:spPr>
          <a:xfrm flipH="1">
            <a:off x="2590873" y="5715000"/>
            <a:ext cx="1228649" cy="37147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bg2">
                  <a:lumMod val="95000"/>
                  <a:lumOff val="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9064038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0396C1-EA64-DABF-AB1E-DAC8812CEA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F4A029A-1C90-0045-D3C4-09B1AF59BE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2" y="474123"/>
            <a:ext cx="8077200" cy="533400"/>
          </a:xfrm>
        </p:spPr>
        <p:txBody>
          <a:bodyPr/>
          <a:lstStyle/>
          <a:p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本次進度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: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Monitor</a:t>
            </a:r>
            <a:endParaRPr lang="zh-TW" altLang="en-US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7" name="文字版面配置區 6">
            <a:extLst>
              <a:ext uri="{FF2B5EF4-FFF2-40B4-BE49-F238E27FC236}">
                <a16:creationId xmlns:a16="http://schemas.microsoft.com/office/drawing/2014/main" id="{CA232325-2F30-826A-0F33-B3038ABB7C4A}"/>
              </a:ext>
            </a:extLst>
          </p:cNvPr>
          <p:cNvSpPr txBox="1"/>
          <p:nvPr/>
        </p:nvSpPr>
        <p:spPr>
          <a:xfrm>
            <a:off x="490980" y="843945"/>
            <a:ext cx="8924039" cy="5413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Noto Sans Symbols"/>
              <a:buChar char="❖"/>
              <a:defRPr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F5050"/>
              </a:buClr>
              <a:buSzPts val="2400"/>
              <a:buFont typeface="Noto Sans Symbols"/>
              <a:buChar char="▪"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6699FF"/>
              </a:buClr>
              <a:buSzPts val="2000"/>
              <a:buFont typeface="Times New Roman"/>
              <a:buChar char="•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>
              <a:lnSpc>
                <a:spcPts val="3000"/>
              </a:lnSpc>
            </a:pPr>
            <a:r>
              <a:rPr lang="en-US" altLang="zh-TW" sz="16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USB-</a:t>
            </a:r>
            <a:r>
              <a:rPr lang="zh-TW" altLang="en-US" sz="1600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校正</a:t>
            </a:r>
            <a:r>
              <a:rPr lang="zh-TW" altLang="en-US" sz="16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資料</a:t>
            </a:r>
            <a:endParaRPr lang="en-US" altLang="zh-TW" sz="1600" dirty="0">
              <a:solidFill>
                <a:srgbClr val="333333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1">
              <a:lnSpc>
                <a:spcPts val="3000"/>
              </a:lnSpc>
            </a:pPr>
            <a:r>
              <a:rPr lang="en-US" altLang="zh-TW" sz="12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I1 Measurement Data : </a:t>
            </a:r>
            <a:r>
              <a:rPr lang="zh-TW" altLang="en-US" sz="12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記錄使用 </a:t>
            </a:r>
            <a:r>
              <a:rPr lang="en-US" altLang="zh-TW" sz="12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i1 </a:t>
            </a:r>
            <a:r>
              <a:rPr lang="zh-TW" altLang="en-US" sz="12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量測之原生面板亮度資料</a:t>
            </a:r>
          </a:p>
          <a:p>
            <a:pPr lvl="1">
              <a:lnSpc>
                <a:spcPts val="3000"/>
              </a:lnSpc>
            </a:pPr>
            <a:r>
              <a:rPr lang="en-US" altLang="zh-TW" sz="1200" dirty="0" err="1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Get_Calib_Item</a:t>
            </a:r>
            <a:r>
              <a:rPr lang="en-US" altLang="zh-TW" sz="12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: </a:t>
            </a:r>
            <a:r>
              <a:rPr lang="zh-TW" altLang="en-US" sz="12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記錄本次的校正項目、目標色溫及 </a:t>
            </a:r>
            <a:r>
              <a:rPr lang="en-US" altLang="zh-TW" sz="12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Gamma</a:t>
            </a:r>
            <a:r>
              <a:rPr lang="zh-TW" altLang="en-US" sz="12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／</a:t>
            </a:r>
            <a:r>
              <a:rPr lang="en-US" altLang="zh-TW" sz="12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DICOM </a:t>
            </a:r>
            <a:r>
              <a:rPr lang="zh-TW" altLang="en-US" sz="12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設定</a:t>
            </a:r>
          </a:p>
          <a:p>
            <a:pPr lvl="1">
              <a:lnSpc>
                <a:spcPts val="3000"/>
              </a:lnSpc>
            </a:pPr>
            <a:r>
              <a:rPr lang="en-US" altLang="zh-TW" sz="1200" dirty="0" err="1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measure_native</a:t>
            </a:r>
            <a:r>
              <a:rPr lang="en-US" altLang="zh-TW" sz="12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: </a:t>
            </a:r>
            <a:r>
              <a:rPr lang="zh-TW" altLang="en-US" sz="12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記錄 </a:t>
            </a:r>
            <a:r>
              <a:rPr lang="en-US" altLang="zh-TW" sz="12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VEML6046 </a:t>
            </a:r>
            <a:r>
              <a:rPr lang="zh-TW" altLang="en-US" sz="12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量測的原生面板亮度與色彩資料</a:t>
            </a:r>
          </a:p>
          <a:p>
            <a:pPr lvl="1">
              <a:lnSpc>
                <a:spcPts val="3000"/>
              </a:lnSpc>
            </a:pPr>
            <a:r>
              <a:rPr lang="en-US" altLang="zh-TW" sz="1200" dirty="0" err="1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ColorCalib_BuildTargets_FromCTGammaTable</a:t>
            </a:r>
            <a:r>
              <a:rPr lang="en-US" altLang="zh-TW" sz="12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: </a:t>
            </a:r>
            <a:r>
              <a:rPr lang="zh-TW" altLang="en-US" sz="12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記錄依照目標色溫及 </a:t>
            </a:r>
            <a:r>
              <a:rPr lang="en-US" altLang="zh-TW" sz="12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Gamma</a:t>
            </a:r>
            <a:r>
              <a:rPr lang="zh-TW" altLang="en-US" sz="12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／</a:t>
            </a:r>
            <a:r>
              <a:rPr lang="en-US" altLang="zh-TW" sz="12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DICOM </a:t>
            </a:r>
            <a:r>
              <a:rPr lang="zh-TW" altLang="en-US" sz="12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模式建立的目標曲線、亮度</a:t>
            </a:r>
          </a:p>
          <a:p>
            <a:pPr lvl="1">
              <a:lnSpc>
                <a:spcPts val="3000"/>
              </a:lnSpc>
            </a:pPr>
            <a:r>
              <a:rPr lang="en-US" altLang="zh-TW" sz="12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Start Gamma/DICOM Calibration &amp; Burn : </a:t>
            </a:r>
            <a:r>
              <a:rPr lang="zh-TW" altLang="en-US" sz="12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記錄校正過程、</a:t>
            </a:r>
            <a:r>
              <a:rPr lang="en-US" altLang="zh-TW" sz="12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LUT </a:t>
            </a:r>
            <a:r>
              <a:rPr lang="zh-TW" altLang="en-US" sz="12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燒錄狀態、校正結果，以及校正與燒錄所需時間</a:t>
            </a:r>
          </a:p>
          <a:p>
            <a:pPr>
              <a:lnSpc>
                <a:spcPts val="3000"/>
              </a:lnSpc>
            </a:pPr>
            <a:r>
              <a:rPr lang="en-US" altLang="zh-TW" sz="16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USB-</a:t>
            </a:r>
            <a:r>
              <a:rPr lang="zh-TW" altLang="en-US" sz="1600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驗證</a:t>
            </a:r>
            <a:r>
              <a:rPr lang="zh-TW" altLang="en-US" sz="16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資料</a:t>
            </a:r>
            <a:endParaRPr lang="en-US" altLang="zh-TW" sz="1600" dirty="0">
              <a:solidFill>
                <a:srgbClr val="333333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1">
              <a:lnSpc>
                <a:spcPts val="3000"/>
              </a:lnSpc>
            </a:pPr>
            <a:r>
              <a:rPr lang="en-US" altLang="zh-TW" sz="12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DICOM</a:t>
            </a:r>
            <a:r>
              <a:rPr lang="zh-TW" altLang="en-US" sz="12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sz="12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GSDF Deviations </a:t>
            </a:r>
            <a:r>
              <a:rPr lang="zh-TW" altLang="en-US" sz="12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表格</a:t>
            </a:r>
            <a:endParaRPr lang="en-US" altLang="zh-TW" sz="1200" dirty="0">
              <a:solidFill>
                <a:srgbClr val="333333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1">
              <a:lnSpc>
                <a:spcPts val="3000"/>
              </a:lnSpc>
            </a:pPr>
            <a:r>
              <a:rPr lang="en-US" altLang="zh-TW" sz="12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Gamma &amp; DICOM </a:t>
            </a:r>
            <a:r>
              <a:rPr lang="zh-TW" altLang="en-US" sz="12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驗證報告</a:t>
            </a:r>
            <a:r>
              <a:rPr lang="en-US" altLang="zh-TW" sz="12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</a:t>
            </a:r>
            <a:r>
              <a:rPr lang="zh-TW" altLang="en-US" sz="12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色溫驗證結果 </a:t>
            </a:r>
            <a:r>
              <a:rPr lang="en-US" altLang="zh-TW" sz="12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+ </a:t>
            </a:r>
            <a:r>
              <a:rPr lang="zh-TW" altLang="en-US" sz="12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驗證結果 </a:t>
            </a:r>
            <a:r>
              <a:rPr lang="en-US" altLang="zh-TW" sz="12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Pass</a:t>
            </a:r>
            <a:r>
              <a:rPr lang="zh-TW" altLang="en-US" sz="12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sz="12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or Fail +</a:t>
            </a:r>
            <a:r>
              <a:rPr lang="zh-TW" altLang="en-US" sz="12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驗證時間</a:t>
            </a:r>
            <a:r>
              <a:rPr lang="en-US" altLang="zh-TW" sz="12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)</a:t>
            </a:r>
          </a:p>
          <a:p>
            <a:pPr>
              <a:lnSpc>
                <a:spcPts val="3000"/>
              </a:lnSpc>
            </a:pPr>
            <a:r>
              <a:rPr lang="zh-TW" altLang="en-US" sz="16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校正前會先確認有沒有插入</a:t>
            </a:r>
            <a:r>
              <a:rPr lang="en-US" altLang="zh-TW" sz="16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USB</a:t>
            </a:r>
            <a:r>
              <a:rPr lang="zh-TW" altLang="en-US" sz="16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再開始進行校正 </a:t>
            </a:r>
            <a:r>
              <a:rPr lang="en-US" altLang="zh-TW" sz="16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+</a:t>
            </a:r>
            <a:r>
              <a:rPr lang="zh-TW" altLang="en-US" sz="16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驗證</a:t>
            </a:r>
            <a:endParaRPr lang="en-US" altLang="zh-TW" sz="1600" dirty="0">
              <a:solidFill>
                <a:srgbClr val="333333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533400" lvl="1" indent="0">
              <a:lnSpc>
                <a:spcPts val="3000"/>
              </a:lnSpc>
              <a:buNone/>
            </a:pPr>
            <a:endParaRPr lang="en-US" altLang="zh-TW" sz="1200" dirty="0">
              <a:solidFill>
                <a:srgbClr val="333333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6498356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FBC418-93FB-B85E-3E6C-30CE8CC225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7C5B78B-4B53-60CF-F0D2-7AB0EB61FB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下次進度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: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Monitor</a:t>
            </a:r>
            <a:endParaRPr lang="zh-TW" altLang="en-US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4A0E973E-B5E1-BA62-48A3-DFE218619D9F}"/>
              </a:ext>
            </a:extLst>
          </p:cNvPr>
          <p:cNvSpPr txBox="1"/>
          <p:nvPr/>
        </p:nvSpPr>
        <p:spPr>
          <a:xfrm>
            <a:off x="520699" y="1369489"/>
            <a:ext cx="7669813" cy="814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lvl="1" indent="-406400">
              <a:lnSpc>
                <a:spcPts val="3000"/>
              </a:lnSpc>
              <a:spcBef>
                <a:spcPts val="560"/>
              </a:spcBef>
              <a:buClr>
                <a:schemeClr val="accent2"/>
              </a:buClr>
              <a:buSzPts val="2800"/>
              <a:buFont typeface="Noto Sans Symbols"/>
              <a:buChar char="❖"/>
            </a:pPr>
            <a:r>
              <a:rPr lang="zh-TW" altLang="en-US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根據第四期計畫書中內容進行開發，以下分別為階段一目標和當前開發進度及優先序。</a:t>
            </a:r>
            <a:endParaRPr lang="en-US" altLang="zh-TW" sz="16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04C713A4-B17F-52DB-4D68-9947ADDEA84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63419006"/>
              </p:ext>
            </p:extLst>
          </p:nvPr>
        </p:nvGraphicFramePr>
        <p:xfrm>
          <a:off x="570104" y="2311400"/>
          <a:ext cx="4903596" cy="237491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2917">
                  <a:extLst>
                    <a:ext uri="{9D8B030D-6E8A-4147-A177-3AD203B41FA5}">
                      <a16:colId xmlns:a16="http://schemas.microsoft.com/office/drawing/2014/main" val="1192615841"/>
                    </a:ext>
                  </a:extLst>
                </a:gridCol>
                <a:gridCol w="1079150">
                  <a:extLst>
                    <a:ext uri="{9D8B030D-6E8A-4147-A177-3AD203B41FA5}">
                      <a16:colId xmlns:a16="http://schemas.microsoft.com/office/drawing/2014/main" val="1364961183"/>
                    </a:ext>
                  </a:extLst>
                </a:gridCol>
                <a:gridCol w="2251529">
                  <a:extLst>
                    <a:ext uri="{9D8B030D-6E8A-4147-A177-3AD203B41FA5}">
                      <a16:colId xmlns:a16="http://schemas.microsoft.com/office/drawing/2014/main" val="2476587428"/>
                    </a:ext>
                  </a:extLst>
                </a:gridCol>
              </a:tblGrid>
              <a:tr h="395480"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階段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zh-TW" altLang="en-US" sz="1400" b="1" i="0" u="none" strike="noStrike" cap="none" dirty="0">
                          <a:solidFill>
                            <a:schemeClr val="lt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  <a:sym typeface="Arial"/>
                        </a:rPr>
                        <a:t>時間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zh-TW" altLang="en-US" sz="1400" b="1" i="0" u="none" strike="noStrike" cap="none" dirty="0">
                          <a:solidFill>
                            <a:schemeClr val="lt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  <a:sym typeface="Arial"/>
                        </a:rPr>
                        <a:t>目標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00900139"/>
                  </a:ext>
                </a:extLst>
              </a:tr>
              <a:tr h="1979433"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階段一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3 month</a:t>
                      </a:r>
                      <a:endParaRPr lang="zh-TW" altLang="en-US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42900" lvl="0" indent="-342900">
                        <a:buFont typeface="+mj-lt"/>
                        <a:buAutoNum type="arabicPeriod"/>
                      </a:pPr>
                      <a:r>
                        <a:rPr lang="en-US" altLang="zh-TW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MARS-922</a:t>
                      </a:r>
                      <a:r>
                        <a:rPr lang="zh-TW" altLang="en-US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溝通驗證小型</a:t>
                      </a:r>
                      <a:r>
                        <a:rPr lang="en-US" altLang="zh-TW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STM32F4</a:t>
                      </a:r>
                      <a:r>
                        <a:rPr lang="zh-TW" altLang="en-US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集成電路控制板</a:t>
                      </a:r>
                      <a:endParaRPr lang="zh-TW" altLang="zh-TW" sz="14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marL="342900" lvl="0" indent="-342900">
                        <a:buFont typeface="+mj-lt"/>
                        <a:buAutoNum type="arabicPeriod"/>
                      </a:pPr>
                      <a:r>
                        <a:rPr lang="en-US" altLang="zh-TW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MARS-922 ALC</a:t>
                      </a:r>
                      <a:r>
                        <a:rPr lang="zh-TW" altLang="en-US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功能驗證</a:t>
                      </a:r>
                      <a:endParaRPr lang="en-US" altLang="zh-TW" sz="14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  <a:p>
                      <a:pPr marL="342900" lvl="0" indent="-342900">
                        <a:buFont typeface="+mj-lt"/>
                        <a:buAutoNum type="arabicPeriod"/>
                      </a:pPr>
                      <a:r>
                        <a:rPr lang="zh-TW" altLang="zh-TW" sz="14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階段</a:t>
                      </a:r>
                      <a:r>
                        <a:rPr lang="zh-TW" altLang="en-US" sz="14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五</a:t>
                      </a:r>
                      <a:r>
                        <a:rPr lang="zh-TW" altLang="zh-TW" sz="14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期中報告</a:t>
                      </a:r>
                      <a:endParaRPr lang="zh-TW" altLang="en-US" sz="1400" b="0" i="0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 marL="17780" marR="17780" marT="0" marB="0"/>
                </a:tc>
                <a:extLst>
                  <a:ext uri="{0D108BD9-81ED-4DB2-BD59-A6C34878D82A}">
                    <a16:rowId xmlns:a16="http://schemas.microsoft.com/office/drawing/2014/main" val="2847363105"/>
                  </a:ext>
                </a:extLst>
              </a:tr>
            </a:tbl>
          </a:graphicData>
        </a:graphic>
      </p:graphicFrame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ABE2C05B-3128-C4B4-FC74-79C315F3D60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1861897"/>
              </p:ext>
            </p:extLst>
          </p:nvPr>
        </p:nvGraphicFramePr>
        <p:xfrm>
          <a:off x="5604934" y="2353858"/>
          <a:ext cx="4022658" cy="235173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06655">
                  <a:extLst>
                    <a:ext uri="{9D8B030D-6E8A-4147-A177-3AD203B41FA5}">
                      <a16:colId xmlns:a16="http://schemas.microsoft.com/office/drawing/2014/main" val="761389866"/>
                    </a:ext>
                  </a:extLst>
                </a:gridCol>
                <a:gridCol w="1816003">
                  <a:extLst>
                    <a:ext uri="{9D8B030D-6E8A-4147-A177-3AD203B41FA5}">
                      <a16:colId xmlns:a16="http://schemas.microsoft.com/office/drawing/2014/main" val="1643138419"/>
                    </a:ext>
                  </a:extLst>
                </a:gridCol>
              </a:tblGrid>
              <a:tr h="459704"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目標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進度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84917929"/>
                  </a:ext>
                </a:extLst>
              </a:tr>
              <a:tr h="630678">
                <a:tc>
                  <a:txBody>
                    <a:bodyPr/>
                    <a:lstStyle/>
                    <a:p>
                      <a:pPr marL="0" lvl="0" indent="0" algn="ctr">
                        <a:buFont typeface="+mj-lt"/>
                        <a:buNone/>
                      </a:pPr>
                      <a:r>
                        <a:rPr lang="en-US" altLang="zh-TW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MARS-922</a:t>
                      </a:r>
                      <a:r>
                        <a:rPr lang="zh-TW" altLang="en-US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溝通驗證小型</a:t>
                      </a:r>
                      <a:r>
                        <a:rPr lang="en-US" altLang="zh-TW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STM32F4</a:t>
                      </a:r>
                      <a:r>
                        <a:rPr lang="zh-TW" altLang="en-US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積體電路控制板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74902268"/>
                  </a:ext>
                </a:extLst>
              </a:tr>
              <a:tr h="630678">
                <a:tc>
                  <a:txBody>
                    <a:bodyPr/>
                    <a:lstStyle/>
                    <a:p>
                      <a:pPr marL="0" lvl="0" indent="0" algn="ctr">
                        <a:buFont typeface="+mj-lt"/>
                        <a:buNone/>
                      </a:pPr>
                      <a:r>
                        <a:rPr lang="en-US" altLang="zh-TW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MARS-922 ALC</a:t>
                      </a:r>
                      <a:r>
                        <a:rPr lang="zh-TW" altLang="en-US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功能驗證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05210310"/>
                  </a:ext>
                </a:extLst>
              </a:tr>
              <a:tr h="630678">
                <a:tc>
                  <a:txBody>
                    <a:bodyPr/>
                    <a:lstStyle/>
                    <a:p>
                      <a:pPr marL="0" indent="0" algn="ctr">
                        <a:buFont typeface="+mj-lt"/>
                        <a:buNone/>
                      </a:pPr>
                      <a:r>
                        <a:rPr lang="zh-TW" altLang="zh-TW" sz="14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階段</a:t>
                      </a:r>
                      <a:r>
                        <a:rPr lang="zh-TW" altLang="en-US" sz="14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五</a:t>
                      </a:r>
                      <a:r>
                        <a:rPr lang="zh-TW" altLang="zh-TW" sz="14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期中報告</a:t>
                      </a:r>
                      <a:endParaRPr lang="zh-TW" altLang="en-US" sz="1400" b="0" i="0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  <a:sym typeface="Arial"/>
                      </a:endParaRPr>
                    </a:p>
                    <a:p>
                      <a:pPr marL="0" lvl="0" indent="0" algn="ctr">
                        <a:buFont typeface="+mj-lt"/>
                        <a:buNone/>
                      </a:pPr>
                      <a:endParaRPr lang="en-US" altLang="zh-TW" sz="1400" b="0" i="0" u="none" strike="noStrike" cap="none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O</a:t>
                      </a:r>
                      <a:endParaRPr lang="en-US" altLang="zh-TW" baseline="0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16247268"/>
                  </a:ext>
                </a:extLst>
              </a:tr>
            </a:tbl>
          </a:graphicData>
        </a:graphic>
      </p:graphicFrame>
      <p:sp>
        <p:nvSpPr>
          <p:cNvPr id="12" name="文字方塊 11">
            <a:extLst>
              <a:ext uri="{FF2B5EF4-FFF2-40B4-BE49-F238E27FC236}">
                <a16:creationId xmlns:a16="http://schemas.microsoft.com/office/drawing/2014/main" id="{ED75B16B-2D9B-C71E-BDE4-30C741E9E628}"/>
              </a:ext>
            </a:extLst>
          </p:cNvPr>
          <p:cNvSpPr txBox="1"/>
          <p:nvPr/>
        </p:nvSpPr>
        <p:spPr>
          <a:xfrm>
            <a:off x="8635013" y="1541843"/>
            <a:ext cx="952505" cy="73866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O: 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完成</a:t>
            </a:r>
            <a:b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</a:b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△: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未進行</a:t>
            </a:r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P: 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進行中</a:t>
            </a:r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E2ABD0C2-0327-4104-B1D8-8BFBAFB39656}"/>
              </a:ext>
            </a:extLst>
          </p:cNvPr>
          <p:cNvSpPr/>
          <p:nvPr/>
        </p:nvSpPr>
        <p:spPr>
          <a:xfrm>
            <a:off x="5604934" y="2847301"/>
            <a:ext cx="4022658" cy="185829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1591589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FBC418-93FB-B85E-3E6C-30CE8CC225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7C5B78B-4B53-60CF-F0D2-7AB0EB61FB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下次進度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: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Monitor</a:t>
            </a:r>
            <a:endParaRPr lang="zh-TW" altLang="en-US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4A0E973E-B5E1-BA62-48A3-DFE218619D9F}"/>
              </a:ext>
            </a:extLst>
          </p:cNvPr>
          <p:cNvSpPr txBox="1"/>
          <p:nvPr/>
        </p:nvSpPr>
        <p:spPr>
          <a:xfrm>
            <a:off x="520699" y="1369489"/>
            <a:ext cx="7669813" cy="814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lvl="1" indent="-406400">
              <a:lnSpc>
                <a:spcPts val="3000"/>
              </a:lnSpc>
              <a:spcBef>
                <a:spcPts val="560"/>
              </a:spcBef>
              <a:buClr>
                <a:schemeClr val="accent2"/>
              </a:buClr>
              <a:buSzPts val="2800"/>
              <a:buFont typeface="Noto Sans Symbols"/>
              <a:buChar char="❖"/>
            </a:pPr>
            <a:r>
              <a:rPr lang="zh-TW" altLang="en-US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根據第四期計畫書中內容進行開發，以下分別為階段二目標和當前開發進度及優先序。</a:t>
            </a:r>
            <a:endParaRPr lang="en-US" altLang="zh-TW" sz="16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04C713A4-B17F-52DB-4D68-9947ADDEA84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37550029"/>
              </p:ext>
            </p:extLst>
          </p:nvPr>
        </p:nvGraphicFramePr>
        <p:xfrm>
          <a:off x="570104" y="2311400"/>
          <a:ext cx="4903596" cy="237491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2917">
                  <a:extLst>
                    <a:ext uri="{9D8B030D-6E8A-4147-A177-3AD203B41FA5}">
                      <a16:colId xmlns:a16="http://schemas.microsoft.com/office/drawing/2014/main" val="1192615841"/>
                    </a:ext>
                  </a:extLst>
                </a:gridCol>
                <a:gridCol w="1079150">
                  <a:extLst>
                    <a:ext uri="{9D8B030D-6E8A-4147-A177-3AD203B41FA5}">
                      <a16:colId xmlns:a16="http://schemas.microsoft.com/office/drawing/2014/main" val="1364961183"/>
                    </a:ext>
                  </a:extLst>
                </a:gridCol>
                <a:gridCol w="2251529">
                  <a:extLst>
                    <a:ext uri="{9D8B030D-6E8A-4147-A177-3AD203B41FA5}">
                      <a16:colId xmlns:a16="http://schemas.microsoft.com/office/drawing/2014/main" val="2476587428"/>
                    </a:ext>
                  </a:extLst>
                </a:gridCol>
              </a:tblGrid>
              <a:tr h="395480"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階段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zh-TW" altLang="en-US" sz="1400" b="1" i="0" u="none" strike="noStrike" cap="none" dirty="0">
                          <a:solidFill>
                            <a:schemeClr val="lt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  <a:sym typeface="Arial"/>
                        </a:rPr>
                        <a:t>時間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zh-TW" altLang="en-US" sz="1400" b="1" i="0" u="none" strike="noStrike" cap="none" dirty="0">
                          <a:solidFill>
                            <a:schemeClr val="lt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  <a:sym typeface="Arial"/>
                        </a:rPr>
                        <a:t>目標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00900139"/>
                  </a:ext>
                </a:extLst>
              </a:tr>
              <a:tr h="1979433"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階段二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3 month</a:t>
                      </a:r>
                      <a:endParaRPr lang="zh-TW" altLang="en-US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42900" lvl="0" indent="-342900">
                        <a:buFont typeface="+mj-lt"/>
                        <a:buAutoNum type="arabicPeriod"/>
                      </a:pPr>
                      <a:r>
                        <a:rPr lang="en-US" altLang="zh-TW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MARS-922 Auto Self Calibration</a:t>
                      </a:r>
                      <a:r>
                        <a:rPr lang="zh-TW" altLang="en-US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功能驗證</a:t>
                      </a:r>
                      <a:endParaRPr lang="en-US" altLang="zh-TW" sz="14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  <a:p>
                      <a:pPr marL="342900" lvl="0" indent="-342900">
                        <a:buFont typeface="+mj-lt"/>
                        <a:buAutoNum type="arabicPeriod"/>
                      </a:pPr>
                      <a:r>
                        <a:rPr lang="en-US" altLang="zh-TW" sz="14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MARS-922</a:t>
                      </a:r>
                      <a:r>
                        <a:rPr lang="zh-TW" altLang="en-US" sz="14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優化細節報告，產生</a:t>
                      </a:r>
                      <a:r>
                        <a:rPr lang="en-US" altLang="zh-TW" sz="14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txt</a:t>
                      </a:r>
                      <a:r>
                        <a:rPr lang="zh-TW" altLang="en-US" sz="14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檔報告至</a:t>
                      </a:r>
                      <a:r>
                        <a:rPr lang="en-US" altLang="zh-TW" sz="14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USB 2.0</a:t>
                      </a:r>
                      <a:r>
                        <a:rPr lang="zh-TW" altLang="en-US" sz="14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隨身碟裝置</a:t>
                      </a:r>
                      <a:endParaRPr lang="en-US" altLang="zh-TW" sz="14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  <a:p>
                      <a:pPr marL="342900" lvl="0" indent="-342900">
                        <a:buFont typeface="+mj-lt"/>
                        <a:buAutoNum type="arabicPeriod"/>
                      </a:pPr>
                      <a:r>
                        <a:rPr lang="zh-TW" altLang="zh-TW" sz="14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階段</a:t>
                      </a:r>
                      <a:r>
                        <a:rPr lang="zh-TW" altLang="en-US" sz="14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五</a:t>
                      </a:r>
                      <a:r>
                        <a:rPr lang="zh-TW" altLang="zh-TW" sz="14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期</a:t>
                      </a:r>
                      <a:r>
                        <a:rPr lang="zh-TW" altLang="en-US" sz="14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末</a:t>
                      </a:r>
                      <a:r>
                        <a:rPr lang="zh-TW" altLang="zh-TW" sz="14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報告</a:t>
                      </a:r>
                      <a:endParaRPr lang="zh-TW" altLang="en-US" sz="1400" b="0" i="0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 marL="17780" marR="17780" marT="0" marB="0"/>
                </a:tc>
                <a:extLst>
                  <a:ext uri="{0D108BD9-81ED-4DB2-BD59-A6C34878D82A}">
                    <a16:rowId xmlns:a16="http://schemas.microsoft.com/office/drawing/2014/main" val="2847363105"/>
                  </a:ext>
                </a:extLst>
              </a:tr>
            </a:tbl>
          </a:graphicData>
        </a:graphic>
      </p:graphicFrame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ABE2C05B-3128-C4B4-FC74-79C315F3D60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99746576"/>
              </p:ext>
            </p:extLst>
          </p:nvPr>
        </p:nvGraphicFramePr>
        <p:xfrm>
          <a:off x="5604934" y="2353858"/>
          <a:ext cx="4022658" cy="24525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36986">
                  <a:extLst>
                    <a:ext uri="{9D8B030D-6E8A-4147-A177-3AD203B41FA5}">
                      <a16:colId xmlns:a16="http://schemas.microsoft.com/office/drawing/2014/main" val="761389866"/>
                    </a:ext>
                  </a:extLst>
                </a:gridCol>
                <a:gridCol w="1885672">
                  <a:extLst>
                    <a:ext uri="{9D8B030D-6E8A-4147-A177-3AD203B41FA5}">
                      <a16:colId xmlns:a16="http://schemas.microsoft.com/office/drawing/2014/main" val="1643138419"/>
                    </a:ext>
                  </a:extLst>
                </a:gridCol>
              </a:tblGrid>
              <a:tr h="459704"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目標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進度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84917929"/>
                  </a:ext>
                </a:extLst>
              </a:tr>
              <a:tr h="630678">
                <a:tc>
                  <a:txBody>
                    <a:bodyPr/>
                    <a:lstStyle/>
                    <a:p>
                      <a:pPr marL="0" lvl="0" indent="0" algn="ctr">
                        <a:buFont typeface="+mj-lt"/>
                        <a:buNone/>
                      </a:pPr>
                      <a:r>
                        <a:rPr lang="en-US" altLang="zh-TW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MARS-922 Auto Self Calibration</a:t>
                      </a:r>
                      <a:r>
                        <a:rPr lang="zh-TW" altLang="en-US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功能驗證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74902268"/>
                  </a:ext>
                </a:extLst>
              </a:tr>
              <a:tr h="630678">
                <a:tc>
                  <a:txBody>
                    <a:bodyPr/>
                    <a:lstStyle/>
                    <a:p>
                      <a:pPr marL="0" lvl="0" indent="0" algn="ctr">
                        <a:buFont typeface="+mj-lt"/>
                        <a:buNone/>
                      </a:pPr>
                      <a:r>
                        <a:rPr lang="en-US" altLang="zh-TW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MARS-922</a:t>
                      </a:r>
                      <a:r>
                        <a:rPr lang="zh-TW" altLang="en-US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優化細節報告，產生</a:t>
                      </a:r>
                      <a:r>
                        <a:rPr lang="en-US" altLang="zh-TW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txt</a:t>
                      </a:r>
                      <a:r>
                        <a:rPr lang="zh-TW" altLang="en-US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檔報告至</a:t>
                      </a:r>
                      <a:r>
                        <a:rPr lang="en-US" altLang="zh-TW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USB 2.0</a:t>
                      </a:r>
                      <a:r>
                        <a:rPr lang="zh-TW" altLang="en-US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隨身碟裝置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05210310"/>
                  </a:ext>
                </a:extLst>
              </a:tr>
              <a:tr h="630678">
                <a:tc>
                  <a:txBody>
                    <a:bodyPr/>
                    <a:lstStyle/>
                    <a:p>
                      <a:pPr marL="0" indent="0" algn="ctr">
                        <a:buFont typeface="+mj-lt"/>
                        <a:buNone/>
                      </a:pPr>
                      <a:r>
                        <a:rPr lang="zh-TW" altLang="en-US" sz="14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階段五期末報告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P</a:t>
                      </a:r>
                      <a:endParaRPr lang="en-US" altLang="zh-TW" baseline="0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16247268"/>
                  </a:ext>
                </a:extLst>
              </a:tr>
            </a:tbl>
          </a:graphicData>
        </a:graphic>
      </p:graphicFrame>
      <p:sp>
        <p:nvSpPr>
          <p:cNvPr id="12" name="文字方塊 11">
            <a:extLst>
              <a:ext uri="{FF2B5EF4-FFF2-40B4-BE49-F238E27FC236}">
                <a16:creationId xmlns:a16="http://schemas.microsoft.com/office/drawing/2014/main" id="{ED75B16B-2D9B-C71E-BDE4-30C741E9E628}"/>
              </a:ext>
            </a:extLst>
          </p:cNvPr>
          <p:cNvSpPr txBox="1"/>
          <p:nvPr/>
        </p:nvSpPr>
        <p:spPr>
          <a:xfrm>
            <a:off x="8635013" y="1541843"/>
            <a:ext cx="952505" cy="73866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O: 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完成</a:t>
            </a:r>
            <a:b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</a:b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△: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未進行</a:t>
            </a:r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P: 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進行中</a:t>
            </a:r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E2ABD0C2-0327-4104-B1D8-8BFBAFB39656}"/>
              </a:ext>
            </a:extLst>
          </p:cNvPr>
          <p:cNvSpPr/>
          <p:nvPr/>
        </p:nvSpPr>
        <p:spPr>
          <a:xfrm>
            <a:off x="5604934" y="2847301"/>
            <a:ext cx="4022658" cy="195913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1387256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64" name="圖片 6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357746" y="3004771"/>
            <a:ext cx="5556738" cy="848458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pic>
        <p:nvPicPr>
          <p:cNvPr id="2097165" name="Picture 2" descr="http://www.secretariat.ntust.edu.tw/ezfiles/20/1020/img/1688/09.pn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964866" y="1628181"/>
            <a:ext cx="6260123" cy="1186962"/>
          </a:xfrm>
          <a:prstGeom prst="rect">
            <a:avLst/>
          </a:prstGeom>
          <a:noFill/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2097166" name="圖片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93650" y="4226628"/>
            <a:ext cx="4266522" cy="930565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9F0396C1-EA64-DABF-AB1E-DAC8812CEA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F4A029A-1C90-0045-D3C4-09B1AF59BE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2" y="474123"/>
            <a:ext cx="8077200" cy="533400"/>
          </a:xfrm>
        </p:spPr>
        <p:txBody>
          <a:bodyPr/>
          <a:lstStyle/>
          <a:p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本次進度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: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Monitor</a:t>
            </a:r>
            <a:endParaRPr lang="zh-TW" altLang="en-US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7" name="文字版面配置區 6">
            <a:extLst>
              <a:ext uri="{FF2B5EF4-FFF2-40B4-BE49-F238E27FC236}">
                <a16:creationId xmlns:a16="http://schemas.microsoft.com/office/drawing/2014/main" id="{CA232325-2F30-826A-0F33-B3038ABB7C4A}"/>
              </a:ext>
            </a:extLst>
          </p:cNvPr>
          <p:cNvSpPr txBox="1"/>
          <p:nvPr/>
        </p:nvSpPr>
        <p:spPr>
          <a:xfrm>
            <a:off x="490980" y="814962"/>
            <a:ext cx="8924039" cy="147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Noto Sans Symbols"/>
              <a:buChar char="❖"/>
              <a:defRPr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F5050"/>
              </a:buClr>
              <a:buSzPts val="2400"/>
              <a:buFont typeface="Noto Sans Symbols"/>
              <a:buChar char="▪"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6699FF"/>
              </a:buClr>
              <a:buSzPts val="2000"/>
              <a:buFont typeface="Times New Roman"/>
              <a:buChar char="•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>
              <a:lnSpc>
                <a:spcPts val="3000"/>
              </a:lnSpc>
            </a:pPr>
            <a:r>
              <a:rPr lang="en-US" altLang="zh-TW" sz="16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DICOM</a:t>
            </a:r>
            <a:r>
              <a:rPr lang="zh-TW" altLang="en-US" sz="16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校正</a:t>
            </a:r>
            <a:endParaRPr lang="en-US" altLang="zh-TW" sz="1600" dirty="0">
              <a:solidFill>
                <a:srgbClr val="333333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1">
              <a:lnSpc>
                <a:spcPts val="3000"/>
              </a:lnSpc>
            </a:pPr>
            <a:r>
              <a:rPr lang="en-US" altLang="zh-TW" sz="12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X</a:t>
            </a:r>
            <a:r>
              <a:rPr lang="zh-TW" altLang="en-US" sz="12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軸是量測的次數</a:t>
            </a:r>
            <a:r>
              <a:rPr lang="en-US" altLang="zh-TW" sz="12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0~255</a:t>
            </a:r>
            <a:r>
              <a:rPr lang="zh-TW" altLang="en-US" sz="12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sz="12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(32</a:t>
            </a:r>
            <a:r>
              <a:rPr lang="zh-TW" altLang="en-US" sz="12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階</a:t>
            </a:r>
            <a:r>
              <a:rPr lang="en-US" altLang="zh-TW" sz="12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)</a:t>
            </a:r>
            <a:r>
              <a:rPr lang="zh-TW" altLang="en-US" sz="12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，</a:t>
            </a:r>
            <a:r>
              <a:rPr lang="en-US" altLang="zh-TW" sz="12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Y</a:t>
            </a:r>
            <a:r>
              <a:rPr lang="zh-TW" altLang="en-US" sz="12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軸是相鄰兩階的亮度變化率</a:t>
            </a:r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8F08D897-DEEF-FE1A-0961-74FFF6DF9FCA}"/>
              </a:ext>
            </a:extLst>
          </p:cNvPr>
          <p:cNvGraphicFramePr>
            <a:graphicFrameLocks noGrp="1"/>
          </p:cNvGraphicFramePr>
          <p:nvPr/>
        </p:nvGraphicFramePr>
        <p:xfrm>
          <a:off x="2403418" y="5064447"/>
          <a:ext cx="5099164" cy="1383188"/>
        </p:xfrm>
        <a:graphic>
          <a:graphicData uri="http://schemas.openxmlformats.org/drawingml/2006/table">
            <a:tbl>
              <a:tblPr/>
              <a:tblGrid>
                <a:gridCol w="1282709">
                  <a:extLst>
                    <a:ext uri="{9D8B030D-6E8A-4147-A177-3AD203B41FA5}">
                      <a16:colId xmlns:a16="http://schemas.microsoft.com/office/drawing/2014/main" val="1280648839"/>
                    </a:ext>
                  </a:extLst>
                </a:gridCol>
                <a:gridCol w="1100862">
                  <a:extLst>
                    <a:ext uri="{9D8B030D-6E8A-4147-A177-3AD203B41FA5}">
                      <a16:colId xmlns:a16="http://schemas.microsoft.com/office/drawing/2014/main" val="138896537"/>
                    </a:ext>
                  </a:extLst>
                </a:gridCol>
                <a:gridCol w="1103510">
                  <a:extLst>
                    <a:ext uri="{9D8B030D-6E8A-4147-A177-3AD203B41FA5}">
                      <a16:colId xmlns:a16="http://schemas.microsoft.com/office/drawing/2014/main" val="114248355"/>
                    </a:ext>
                  </a:extLst>
                </a:gridCol>
                <a:gridCol w="1612083">
                  <a:extLst>
                    <a:ext uri="{9D8B030D-6E8A-4147-A177-3AD203B41FA5}">
                      <a16:colId xmlns:a16="http://schemas.microsoft.com/office/drawing/2014/main" val="1501684541"/>
                    </a:ext>
                  </a:extLst>
                </a:gridCol>
              </a:tblGrid>
              <a:tr h="345797">
                <a:tc>
                  <a:txBody>
                    <a:bodyPr/>
                    <a:lstStyle/>
                    <a:p>
                      <a:pPr algn="ctr" fontAlgn="auto"/>
                      <a:r>
                        <a:rPr lang="zh-TW" altLang="en-US" sz="1200" b="1" i="0" u="none" strike="noStrike" baseline="0" dirty="0">
                          <a:solidFill>
                            <a:srgbClr val="FFFF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​</a:t>
                      </a:r>
                      <a:r>
                        <a:rPr lang="en-US" altLang="zh-TW" sz="1200" baseline="0" dirty="0">
                          <a:solidFill>
                            <a:srgbClr val="FFFF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MARS_922</a:t>
                      </a:r>
                      <a:endParaRPr lang="zh-TW" altLang="en-US" sz="1200" b="1" i="0" u="none" strike="noStrike" baseline="0" dirty="0">
                        <a:solidFill>
                          <a:srgbClr val="FFFF00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</a:endParaRPr>
                    </a:p>
                  </a:txBody>
                  <a:tcPr>
                    <a:lnL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439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3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zh-TW" altLang="en-US" sz="1200" b="1" i="0" u="none" strike="noStrike" baseline="0" dirty="0"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色溫</a:t>
                      </a:r>
                      <a:r>
                        <a:rPr lang="zh-TW" altLang="en-US" sz="1200" b="1" i="0" baseline="0" dirty="0"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​</a:t>
                      </a:r>
                    </a:p>
                  </a:txBody>
                  <a:tcPr>
                    <a:lnL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439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3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US" altLang="zh-TW" sz="1200" b="1" i="0" u="none" strike="noStrike" baseline="0" dirty="0">
                          <a:solidFill>
                            <a:srgbClr val="FFC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32</a:t>
                      </a:r>
                      <a:r>
                        <a:rPr lang="zh-TW" altLang="en-US" sz="1200" b="1" i="0" u="none" strike="noStrike" baseline="0" dirty="0">
                          <a:solidFill>
                            <a:srgbClr val="FFC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階</a:t>
                      </a:r>
                      <a:r>
                        <a:rPr lang="zh-TW" altLang="en-US" sz="1200" b="1" i="0" baseline="0" dirty="0"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​</a:t>
                      </a:r>
                    </a:p>
                  </a:txBody>
                  <a:tcPr>
                    <a:lnL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439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3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zh-TW" altLang="en-US" sz="1200" b="1" i="0" u="none" strike="noStrike" baseline="0" dirty="0"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色溫</a:t>
                      </a:r>
                      <a:r>
                        <a:rPr lang="zh-TW" altLang="en-US" sz="1200" b="1" i="0" baseline="0" dirty="0"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​</a:t>
                      </a:r>
                    </a:p>
                  </a:txBody>
                  <a:tcPr>
                    <a:lnL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439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3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76011860"/>
                  </a:ext>
                </a:extLst>
              </a:tr>
              <a:tr h="345797">
                <a:tc>
                  <a:txBody>
                    <a:bodyPr/>
                    <a:lstStyle/>
                    <a:p>
                      <a:pPr algn="ctr" fontAlgn="base"/>
                      <a:r>
                        <a:rPr lang="en-US" altLang="zh-TW" sz="1200" b="0" i="0" u="none" strike="noStrike" baseline="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DICOM</a:t>
                      </a:r>
                      <a:endParaRPr lang="en-US" altLang="zh-TW" sz="1200" b="0" i="0" baseline="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</a:endParaRPr>
                    </a:p>
                  </a:txBody>
                  <a:tcPr>
                    <a:lnL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439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CDE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US" sz="12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5400</a:t>
                      </a:r>
                      <a:r>
                        <a:rPr lang="en-US" altLang="zh-TW" sz="1200" b="0" i="0" baseline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​</a:t>
                      </a:r>
                    </a:p>
                  </a:txBody>
                  <a:tcPr>
                    <a:lnL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439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CDE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US" altLang="zh-TW" sz="12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PASS</a:t>
                      </a:r>
                      <a:endParaRPr lang="en-US" altLang="zh-TW" sz="1200" b="0" i="0" baseline="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</a:endParaRPr>
                    </a:p>
                  </a:txBody>
                  <a:tcPr>
                    <a:lnL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439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CDE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US" sz="12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5495</a:t>
                      </a:r>
                      <a:r>
                        <a:rPr lang="en-US" altLang="zh-TW" sz="1200" b="0" i="0" baseline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​</a:t>
                      </a:r>
                    </a:p>
                  </a:txBody>
                  <a:tcPr>
                    <a:lnL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439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CD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13265698"/>
                  </a:ext>
                </a:extLst>
              </a:tr>
              <a:tr h="345797">
                <a:tc>
                  <a:txBody>
                    <a:bodyPr/>
                    <a:lstStyle/>
                    <a:p>
                      <a:pPr marR="0" algn="ctr" rtl="0" fontAlgn="base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zh-TW" altLang="en-US" sz="1200" b="0" i="0" u="none" strike="noStrike" cap="none" baseline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  <a:sym typeface="Arial"/>
                        </a:rPr>
                        <a:t>​</a:t>
                      </a:r>
                    </a:p>
                  </a:txBody>
                  <a:tcPr>
                    <a:lnL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F6"/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base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200" b="0" i="0" u="none" strike="noStrike" cap="none" baseline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  <a:sym typeface="Arial"/>
                        </a:rPr>
                        <a:t>6500</a:t>
                      </a:r>
                      <a:r>
                        <a:rPr lang="en-US" altLang="zh-TW" sz="1200" b="0" i="0" u="none" strike="noStrike" cap="none" baseline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  <a:sym typeface="Arial"/>
                        </a:rPr>
                        <a:t>​</a:t>
                      </a:r>
                    </a:p>
                  </a:txBody>
                  <a:tcPr>
                    <a:lnL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F6"/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base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200" b="0" i="0" u="none" strike="noStrike" cap="none" baseline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  <a:sym typeface="Arial"/>
                        </a:rPr>
                        <a:t>PASS</a:t>
                      </a:r>
                      <a:endParaRPr lang="en-US" altLang="zh-TW" sz="1200" b="0" i="0" u="none" strike="noStrike" cap="none" baseline="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+mn-cs"/>
                        <a:sym typeface="Arial"/>
                      </a:endParaRPr>
                    </a:p>
                  </a:txBody>
                  <a:tcPr>
                    <a:lnL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F6"/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base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200" b="0" i="0" u="none" strike="noStrike" cap="none" baseline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  <a:sym typeface="Arial"/>
                        </a:rPr>
                        <a:t>6277</a:t>
                      </a:r>
                      <a:endParaRPr lang="en-US" altLang="zh-TW" sz="1200" b="0" i="0" u="none" strike="noStrike" cap="none" baseline="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+mn-cs"/>
                        <a:sym typeface="Arial"/>
                      </a:endParaRPr>
                    </a:p>
                  </a:txBody>
                  <a:tcPr>
                    <a:lnL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0835195"/>
                  </a:ext>
                </a:extLst>
              </a:tr>
              <a:tr h="345797">
                <a:tc>
                  <a:txBody>
                    <a:bodyPr/>
                    <a:lstStyle/>
                    <a:p>
                      <a:pPr algn="ctr" fontAlgn="auto"/>
                      <a:r>
                        <a:rPr lang="zh-TW" altLang="en-US" sz="12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​</a:t>
                      </a:r>
                    </a:p>
                  </a:txBody>
                  <a:tcPr>
                    <a:lnL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CDE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US" sz="12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9300</a:t>
                      </a:r>
                      <a:r>
                        <a:rPr lang="en-US" altLang="zh-TW" sz="1200" b="0" i="0" baseline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​</a:t>
                      </a:r>
                    </a:p>
                  </a:txBody>
                  <a:tcPr>
                    <a:lnL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CDEC"/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base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altLang="zh-TW" sz="1200" b="0" i="0" u="none" strike="noStrike" cap="none" baseline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  <a:sym typeface="Arial"/>
                        </a:rPr>
                        <a:t>PASS</a:t>
                      </a:r>
                    </a:p>
                  </a:txBody>
                  <a:tcPr>
                    <a:lnL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CDE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US" sz="12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9304</a:t>
                      </a:r>
                      <a:endParaRPr lang="en-US" altLang="zh-TW" sz="1200" b="0" i="0" baseline="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</a:endParaRPr>
                    </a:p>
                  </a:txBody>
                  <a:tcPr>
                    <a:lnL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CD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86202100"/>
                  </a:ext>
                </a:extLst>
              </a:tr>
            </a:tbl>
          </a:graphicData>
        </a:graphic>
      </p:graphicFrame>
      <p:sp>
        <p:nvSpPr>
          <p:cNvPr id="13" name="矩形 12">
            <a:extLst>
              <a:ext uri="{FF2B5EF4-FFF2-40B4-BE49-F238E27FC236}">
                <a16:creationId xmlns:a16="http://schemas.microsoft.com/office/drawing/2014/main" id="{A9EB0DC9-5699-5167-7C55-B397F92600E5}"/>
              </a:ext>
            </a:extLst>
          </p:cNvPr>
          <p:cNvSpPr/>
          <p:nvPr/>
        </p:nvSpPr>
        <p:spPr>
          <a:xfrm>
            <a:off x="7589946" y="4604121"/>
            <a:ext cx="1574469" cy="338554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TW" sz="16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</a:rPr>
              <a:t>DICOM_9300K</a:t>
            </a:r>
            <a:endParaRPr lang="zh-TW" altLang="en-US" sz="16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imes New Roman" panose="02020603050405020304" pitchFamily="18" charset="0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B10CEEEE-DEBA-C52A-B8C9-5A6CDBF74230}"/>
              </a:ext>
            </a:extLst>
          </p:cNvPr>
          <p:cNvSpPr/>
          <p:nvPr/>
        </p:nvSpPr>
        <p:spPr>
          <a:xfrm>
            <a:off x="4165764" y="4601525"/>
            <a:ext cx="1574469" cy="338554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TW" sz="16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</a:rPr>
              <a:t>DICOM_6500K</a:t>
            </a:r>
            <a:endParaRPr lang="zh-TW" altLang="en-US" sz="16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imes New Roman" panose="02020603050405020304" pitchFamily="18" charset="0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021AEE27-C6A7-D35D-59DF-AAFD56C60FA6}"/>
              </a:ext>
            </a:extLst>
          </p:cNvPr>
          <p:cNvSpPr/>
          <p:nvPr/>
        </p:nvSpPr>
        <p:spPr>
          <a:xfrm>
            <a:off x="883486" y="4580231"/>
            <a:ext cx="1574469" cy="338554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TW" sz="16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</a:rPr>
              <a:t>DICOM_5400K</a:t>
            </a:r>
            <a:endParaRPr lang="zh-TW" altLang="en-US" sz="16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imes New Roman" panose="02020603050405020304" pitchFamily="18" charset="0"/>
            </a:endParaRP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568BB671-E342-B026-9D36-C03A96E6D8E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960"/>
          <a:stretch/>
        </p:blipFill>
        <p:spPr>
          <a:xfrm>
            <a:off x="6631531" y="1949949"/>
            <a:ext cx="3274469" cy="2651576"/>
          </a:xfrm>
          <a:prstGeom prst="rect">
            <a:avLst/>
          </a:prstGeom>
        </p:spPr>
      </p:pic>
      <p:pic>
        <p:nvPicPr>
          <p:cNvPr id="8" name="圖片 7">
            <a:extLst>
              <a:ext uri="{FF2B5EF4-FFF2-40B4-BE49-F238E27FC236}">
                <a16:creationId xmlns:a16="http://schemas.microsoft.com/office/drawing/2014/main" id="{BE71692A-9E65-A2FF-9B47-F690E9BAA8D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6704" t="7684" r="17140" b="18295"/>
          <a:stretch/>
        </p:blipFill>
        <p:spPr>
          <a:xfrm>
            <a:off x="3353006" y="1949949"/>
            <a:ext cx="3199987" cy="2630282"/>
          </a:xfrm>
          <a:prstGeom prst="rect">
            <a:avLst/>
          </a:prstGeom>
        </p:spPr>
      </p:pic>
      <p:pic>
        <p:nvPicPr>
          <p:cNvPr id="12" name="圖片 11">
            <a:extLst>
              <a:ext uri="{FF2B5EF4-FFF2-40B4-BE49-F238E27FC236}">
                <a16:creationId xmlns:a16="http://schemas.microsoft.com/office/drawing/2014/main" id="{4ACE592C-7F07-AAAF-4617-6A60417F2AB3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10057" t="10411" r="27087" b="17651"/>
          <a:stretch/>
        </p:blipFill>
        <p:spPr>
          <a:xfrm>
            <a:off x="167640" y="1949949"/>
            <a:ext cx="3106828" cy="2515398"/>
          </a:xfrm>
          <a:prstGeom prst="rect">
            <a:avLst/>
          </a:prstGeom>
        </p:spPr>
      </p:pic>
      <p:pic>
        <p:nvPicPr>
          <p:cNvPr id="17" name="圖片 16">
            <a:extLst>
              <a:ext uri="{FF2B5EF4-FFF2-40B4-BE49-F238E27FC236}">
                <a16:creationId xmlns:a16="http://schemas.microsoft.com/office/drawing/2014/main" id="{C1C63756-0A78-D6CB-2206-E699C7D95F8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74468" y="592314"/>
            <a:ext cx="2343477" cy="657317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字版面配置區 6">
                <a:extLst>
                  <a:ext uri="{FF2B5EF4-FFF2-40B4-BE49-F238E27FC236}">
                    <a16:creationId xmlns:a16="http://schemas.microsoft.com/office/drawing/2014/main" id="{1F0CE85D-C9FA-1D10-E1BD-E816A1769142}"/>
                  </a:ext>
                </a:extLst>
              </p:cNvPr>
              <p:cNvSpPr txBox="1"/>
              <p:nvPr/>
            </p:nvSpPr>
            <p:spPr>
              <a:xfrm>
                <a:off x="5941285" y="817815"/>
                <a:ext cx="3797074" cy="7888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L="457200" marR="0" lvl="0" indent="-406400" algn="l" rtl="0">
                  <a:lnSpc>
                    <a:spcPct val="100000"/>
                  </a:lnSpc>
                  <a:spcBef>
                    <a:spcPts val="560"/>
                  </a:spcBef>
                  <a:spcAft>
                    <a:spcPts val="0"/>
                  </a:spcAft>
                  <a:buClr>
                    <a:schemeClr val="accent2"/>
                  </a:buClr>
                  <a:buSzPts val="2800"/>
                  <a:buFont typeface="Noto Sans Symbols"/>
                  <a:buChar char="❖"/>
                  <a:defRPr sz="2800" b="0" i="0" u="none" strike="noStrike" cap="non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lvl1pPr>
                <a:lvl2pPr marL="914400" marR="0" lvl="1" indent="-381000" algn="l" rtl="0">
                  <a:lnSpc>
                    <a:spcPct val="100000"/>
                  </a:lnSpc>
                  <a:spcBef>
                    <a:spcPts val="480"/>
                  </a:spcBef>
                  <a:spcAft>
                    <a:spcPts val="0"/>
                  </a:spcAft>
                  <a:buClr>
                    <a:srgbClr val="FF5050"/>
                  </a:buClr>
                  <a:buSzPts val="2400"/>
                  <a:buFont typeface="Noto Sans Symbols"/>
                  <a:buChar char="▪"/>
                  <a:defRPr sz="2400" b="0" i="0" u="none" strike="noStrike" cap="non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lvl2pPr>
                <a:lvl3pPr marL="1371600" marR="0" lvl="2" indent="-355600" algn="l" rtl="0">
                  <a:lnSpc>
                    <a:spcPct val="100000"/>
                  </a:lnSpc>
                  <a:spcBef>
                    <a:spcPts val="400"/>
                  </a:spcBef>
                  <a:spcAft>
                    <a:spcPts val="0"/>
                  </a:spcAft>
                  <a:buClr>
                    <a:srgbClr val="6699FF"/>
                  </a:buClr>
                  <a:buSzPts val="2000"/>
                  <a:buFont typeface="Times New Roman"/>
                  <a:buChar char="•"/>
                  <a:defRPr sz="2000" b="0" i="0" u="none" strike="noStrike" cap="non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lvl3pPr>
                <a:lvl4pPr marL="1828800" marR="0" lvl="3" indent="-355600" algn="l" rtl="0">
                  <a:lnSpc>
                    <a:spcPct val="100000"/>
                  </a:lnSpc>
                  <a:spcBef>
                    <a:spcPts val="400"/>
                  </a:spcBef>
                  <a:spcAft>
                    <a:spcPts val="0"/>
                  </a:spcAft>
                  <a:buClr>
                    <a:srgbClr val="FF5050"/>
                  </a:buClr>
                  <a:buSzPts val="2000"/>
                  <a:buFont typeface="Times New Roman"/>
                  <a:buChar char="o"/>
                  <a:defRPr sz="2000" b="0" i="0" u="none" strike="noStrike" cap="non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lvl4pPr>
                <a:lvl5pPr marL="2286000" marR="0" lvl="4" indent="-355600" algn="l" rtl="0">
                  <a:lnSpc>
                    <a:spcPct val="100000"/>
                  </a:lnSpc>
                  <a:spcBef>
                    <a:spcPts val="400"/>
                  </a:spcBef>
                  <a:spcAft>
                    <a:spcPts val="0"/>
                  </a:spcAft>
                  <a:buClr>
                    <a:srgbClr val="FF5050"/>
                  </a:buClr>
                  <a:buSzPts val="2000"/>
                  <a:buFont typeface="Times New Roman"/>
                  <a:buChar char="o"/>
                  <a:defRPr sz="2000" b="0" i="0" u="none" strike="noStrike" cap="non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lvl5pPr>
                <a:lvl6pPr marL="2743200" marR="0" lvl="5" indent="-355600" algn="l" rtl="0">
                  <a:lnSpc>
                    <a:spcPct val="100000"/>
                  </a:lnSpc>
                  <a:spcBef>
                    <a:spcPts val="400"/>
                  </a:spcBef>
                  <a:spcAft>
                    <a:spcPts val="0"/>
                  </a:spcAft>
                  <a:buClr>
                    <a:srgbClr val="FF5050"/>
                  </a:buClr>
                  <a:buSzPts val="2000"/>
                  <a:buFont typeface="Times New Roman"/>
                  <a:buChar char="o"/>
                  <a:defRPr sz="2000" b="0" i="0" u="none" strike="noStrike" cap="non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lvl6pPr>
                <a:lvl7pPr marL="3200400" marR="0" lvl="6" indent="-355600" algn="l" rtl="0">
                  <a:lnSpc>
                    <a:spcPct val="100000"/>
                  </a:lnSpc>
                  <a:spcBef>
                    <a:spcPts val="400"/>
                  </a:spcBef>
                  <a:spcAft>
                    <a:spcPts val="0"/>
                  </a:spcAft>
                  <a:buClr>
                    <a:srgbClr val="FF5050"/>
                  </a:buClr>
                  <a:buSzPts val="2000"/>
                  <a:buFont typeface="Times New Roman"/>
                  <a:buChar char="o"/>
                  <a:defRPr sz="2000" b="0" i="0" u="none" strike="noStrike" cap="non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lvl7pPr>
                <a:lvl8pPr marL="3657600" marR="0" lvl="7" indent="-355600" algn="l" rtl="0">
                  <a:lnSpc>
                    <a:spcPct val="100000"/>
                  </a:lnSpc>
                  <a:spcBef>
                    <a:spcPts val="400"/>
                  </a:spcBef>
                  <a:spcAft>
                    <a:spcPts val="0"/>
                  </a:spcAft>
                  <a:buClr>
                    <a:srgbClr val="FF5050"/>
                  </a:buClr>
                  <a:buSzPts val="2000"/>
                  <a:buFont typeface="Times New Roman"/>
                  <a:buChar char="o"/>
                  <a:defRPr sz="2000" b="0" i="0" u="none" strike="noStrike" cap="non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lvl8pPr>
                <a:lvl9pPr marL="4114800" marR="0" lvl="8" indent="-355600" algn="l" rtl="0">
                  <a:lnSpc>
                    <a:spcPct val="100000"/>
                  </a:lnSpc>
                  <a:spcBef>
                    <a:spcPts val="400"/>
                  </a:spcBef>
                  <a:spcAft>
                    <a:spcPts val="0"/>
                  </a:spcAft>
                  <a:buClr>
                    <a:srgbClr val="FF5050"/>
                  </a:buClr>
                  <a:buSzPts val="2000"/>
                  <a:buFont typeface="Times New Roman"/>
                  <a:buChar char="o"/>
                  <a:defRPr sz="2000" b="0" i="0" u="none" strike="noStrike" cap="non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lvl9pPr>
              </a:lstStyle>
              <a:p>
                <a:pPr marL="533400" lvl="1" indent="0">
                  <a:lnSpc>
                    <a:spcPts val="3000"/>
                  </a:lnSpc>
                  <a:buNone/>
                </a:pPr>
                <a14:m>
                  <m:oMath xmlns:m="http://schemas.openxmlformats.org/officeDocument/2006/math">
                    <m:f>
                      <m:fPr>
                        <m:ctrlPr>
                          <a:rPr lang="en-US" altLang="zh-TW" sz="2000" i="1" smtClean="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altLang="zh-TW" sz="2000" b="0" i="1" smtClean="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  <m:t>𝑑𝐿</m:t>
                        </m:r>
                      </m:num>
                      <m:den>
                        <m:sSub>
                          <m:sSubPr>
                            <m:ctrlPr>
                              <a:rPr lang="en-US" altLang="zh-TW" sz="2000" i="1" smtClean="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  <a:ea typeface="標楷體" panose="03000509000000000000" pitchFamily="65" charset="-12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000" b="0" i="1" smtClean="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  <a:ea typeface="標楷體" panose="03000509000000000000" pitchFamily="65" charset="-120"/>
                                <a:cs typeface="Times New Roman" panose="02020603050405020304" pitchFamily="18" charset="0"/>
                              </a:rPr>
                              <m:t>𝐿</m:t>
                            </m:r>
                          </m:e>
                          <m:sub>
                            <m:r>
                              <a:rPr lang="en-US" altLang="zh-TW" sz="2000" b="0" i="1" smtClean="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  <a:ea typeface="標楷體" panose="03000509000000000000" pitchFamily="65" charset="-120"/>
                                <a:cs typeface="Times New Roman" panose="02020603050405020304" pitchFamily="18" charset="0"/>
                              </a:rPr>
                              <m:t>𝑎𝑣𝑔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altLang="zh-TW" sz="2000" dirty="0">
                    <a:solidFill>
                      <a:srgbClr val="333333"/>
                    </a:solidFill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TW" sz="2000" i="1" dirty="0" smtClean="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altLang="zh-TW" sz="2000" b="0" i="1" dirty="0" smtClean="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  <m:t>1.4481−0.6456</m:t>
                        </m:r>
                      </m:num>
                      <m:den>
                        <m:f>
                          <m:fPr>
                            <m:ctrlPr>
                              <a:rPr lang="en-US" altLang="zh-TW" sz="2000" i="1" dirty="0" smtClean="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  <a:ea typeface="標楷體" panose="03000509000000000000" pitchFamily="65" charset="-120"/>
                                <a:cs typeface="Times New Roman" panose="02020603050405020304" pitchFamily="18" charset="0"/>
                              </a:rPr>
                            </m:ctrlPr>
                          </m:fPr>
                          <m:num>
                            <m:r>
                              <a:rPr lang="en-US" altLang="zh-TW" sz="2000" b="0" i="1" dirty="0" smtClean="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  <a:ea typeface="標楷體" panose="03000509000000000000" pitchFamily="65" charset="-120"/>
                                <a:cs typeface="Times New Roman" panose="02020603050405020304" pitchFamily="18" charset="0"/>
                              </a:rPr>
                              <m:t>1.4481+0.6465</m:t>
                            </m:r>
                          </m:num>
                          <m:den>
                            <m:r>
                              <a:rPr lang="en-US" altLang="zh-TW" sz="2000" b="0" i="1" dirty="0" smtClean="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  <a:ea typeface="標楷體" panose="03000509000000000000" pitchFamily="65" charset="-120"/>
                                <a:cs typeface="Times New Roman" panose="02020603050405020304" pitchFamily="18" charset="0"/>
                              </a:rPr>
                              <m:t>2</m:t>
                            </m:r>
                          </m:den>
                        </m:f>
                      </m:den>
                    </m:f>
                  </m:oMath>
                </a14:m>
                <a:r>
                  <a:rPr lang="en-US" altLang="zh-TW" sz="2000" dirty="0">
                    <a:solidFill>
                      <a:srgbClr val="333333"/>
                    </a:solidFill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 =0.766</a:t>
                </a:r>
                <a:endParaRPr lang="zh-TW" altLang="en-US" sz="2000" dirty="0">
                  <a:solidFill>
                    <a:srgbClr val="333333"/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文字版面配置區 6">
                <a:extLst>
                  <a:ext uri="{FF2B5EF4-FFF2-40B4-BE49-F238E27FC236}">
                    <a16:creationId xmlns:a16="http://schemas.microsoft.com/office/drawing/2014/main" id="{1F0CE85D-C9FA-1D10-E1BD-E816A176914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41285" y="817815"/>
                <a:ext cx="3797074" cy="788807"/>
              </a:xfrm>
              <a:prstGeom prst="rect">
                <a:avLst/>
              </a:prstGeom>
              <a:blipFill>
                <a:blip r:embed="rId7"/>
                <a:stretch>
                  <a:fillRect t="-4615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56292284"/>
      </p:ext>
    </p:extLst>
  </p:cSld>
  <p:clrMapOvr>
    <a:masterClrMapping/>
  </p:clrMapOvr>
</p:sld>
</file>

<file path=ppt/theme/theme1.xml><?xml version="1.0" encoding="utf-8"?>
<a:theme xmlns:a="http://schemas.openxmlformats.org/drawingml/2006/main" name="template">
  <a:themeElements>
    <a:clrScheme name="template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294484</TotalTime>
  <Words>1451</Words>
  <Application>Microsoft Office PowerPoint</Application>
  <PresentationFormat>A4 紙張 (210x297 公釐)</PresentationFormat>
  <Paragraphs>391</Paragraphs>
  <Slides>17</Slides>
  <Notes>17</Notes>
  <HiddenSlides>1</HiddenSlides>
  <MMClips>0</MMClips>
  <ScaleCrop>false</ScaleCrop>
  <HeadingPairs>
    <vt:vector size="6" baseType="variant">
      <vt:variant>
        <vt:lpstr>使用字型</vt:lpstr>
      </vt:variant>
      <vt:variant>
        <vt:i4>7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17</vt:i4>
      </vt:variant>
    </vt:vector>
  </HeadingPairs>
  <TitlesOfParts>
    <vt:vector size="25" baseType="lpstr">
      <vt:lpstr>Noto Sans Symbols</vt:lpstr>
      <vt:lpstr>PMingLiU</vt:lpstr>
      <vt:lpstr>標楷體</vt:lpstr>
      <vt:lpstr>Arial</vt:lpstr>
      <vt:lpstr>Calibri</vt:lpstr>
      <vt:lpstr>Cambria Math</vt:lpstr>
      <vt:lpstr>Times New Roman</vt:lpstr>
      <vt:lpstr>template</vt:lpstr>
      <vt:lpstr>Progress Report</vt:lpstr>
      <vt:lpstr>本次進度: Monitor</vt:lpstr>
      <vt:lpstr>本次進度: Monitor</vt:lpstr>
      <vt:lpstr>上次進度: Monitor</vt:lpstr>
      <vt:lpstr>上次進度: Monitor</vt:lpstr>
      <vt:lpstr>上次進度: Monitor</vt:lpstr>
      <vt:lpstr>上次進度: Monitor</vt:lpstr>
      <vt:lpstr>本次進度: Monitor</vt:lpstr>
      <vt:lpstr>本次進度: Monitor</vt:lpstr>
      <vt:lpstr>本次進度: Monitor</vt:lpstr>
      <vt:lpstr>本次進度: Monitor</vt:lpstr>
      <vt:lpstr>本次進度: Monitor</vt:lpstr>
      <vt:lpstr>本次進度: Monitor</vt:lpstr>
      <vt:lpstr>下次進度: Monitor</vt:lpstr>
      <vt:lpstr>下次進度: Monitor</vt:lpstr>
      <vt:lpstr>PowerPoint 簡報</vt:lpstr>
      <vt:lpstr>本次進度: Monitor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Embedded CMOS Image Sensor System Design and Implementation</dc:title>
  <dc:creator>mblin</dc:creator>
  <cp:lastModifiedBy>宏德 林</cp:lastModifiedBy>
  <cp:revision>2358</cp:revision>
  <dcterms:created xsi:type="dcterms:W3CDTF">2003-02-17T16:04:03Z</dcterms:created>
  <dcterms:modified xsi:type="dcterms:W3CDTF">2026-08-04T06:14:27Z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c323e086d3b141ca89c275423e00507f</vt:lpwstr>
  </property>
</Properties>
</file>