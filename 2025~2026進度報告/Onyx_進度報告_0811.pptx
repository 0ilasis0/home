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9"/>
  </p:notesMasterIdLst>
  <p:sldIdLst>
    <p:sldId id="277" r:id="rId2"/>
    <p:sldId id="1936" r:id="rId3"/>
    <p:sldId id="1784" r:id="rId4"/>
    <p:sldId id="1975" r:id="rId5"/>
    <p:sldId id="1977" r:id="rId6"/>
    <p:sldId id="1978" r:id="rId7"/>
    <p:sldId id="1980" r:id="rId8"/>
    <p:sldId id="1976" r:id="rId9"/>
    <p:sldId id="1981" r:id="rId10"/>
    <p:sldId id="1982" r:id="rId11"/>
    <p:sldId id="1983" r:id="rId12"/>
    <p:sldId id="1951" r:id="rId13"/>
    <p:sldId id="1952" r:id="rId14"/>
    <p:sldId id="1927" r:id="rId15"/>
    <p:sldId id="1930" r:id="rId16"/>
    <p:sldId id="1931" r:id="rId17"/>
    <p:sldId id="286" r:id="rId18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936"/>
            <p14:sldId id="1784"/>
            <p14:sldId id="1975"/>
            <p14:sldId id="1977"/>
            <p14:sldId id="1978"/>
            <p14:sldId id="1980"/>
            <p14:sldId id="1976"/>
            <p14:sldId id="1981"/>
            <p14:sldId id="1982"/>
            <p14:sldId id="1983"/>
            <p14:sldId id="1951"/>
            <p14:sldId id="1952"/>
          </p14:sldIdLst>
        </p14:section>
        <p14:section name="JS1500" id="{F71E69A4-C86C-4DAC-B828-42C2D8800267}">
          <p14:sldIdLst>
            <p14:sldId id="1927"/>
            <p14:sldId id="1930"/>
            <p14:sldId id="1931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50"/>
    <a:srgbClr val="0057C0"/>
    <a:srgbClr val="FFC000"/>
    <a:srgbClr val="FFFFFF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364" autoAdjust="0"/>
  </p:normalViewPr>
  <p:slideViewPr>
    <p:cSldViewPr snapToGrid="0">
      <p:cViewPr varScale="1">
        <p:scale>
          <a:sx n="96" d="100"/>
          <a:sy n="96" d="100"/>
        </p:scale>
        <p:origin x="1842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因此後續希望從 </a:t>
            </a:r>
            <a:r>
              <a:rPr lang="en-US" altLang="zh-TW" dirty="0"/>
              <a:t>LUT </a:t>
            </a:r>
            <a:r>
              <a:rPr lang="zh-TW" altLang="en-US" dirty="0"/>
              <a:t>傳輸與寫入流程進行最佳化。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8415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針對這個問題，目前先研究 </a:t>
            </a:r>
            <a:r>
              <a:rPr lang="en-US" altLang="zh-TW" dirty="0" err="1"/>
              <a:t>CompressedLUT</a:t>
            </a:r>
            <a:r>
              <a:rPr lang="zh-TW" altLang="en-US" dirty="0"/>
              <a:t>。這是一種無損 </a:t>
            </a:r>
            <a:r>
              <a:rPr lang="en-US" altLang="zh-TW" dirty="0"/>
              <a:t>LUT </a:t>
            </a:r>
            <a:r>
              <a:rPr lang="zh-TW" altLang="en-US" dirty="0"/>
              <a:t>壓縮方法，主要特色是可以在 </a:t>
            </a:r>
            <a:r>
              <a:rPr lang="en-US" altLang="zh-TW" dirty="0"/>
              <a:t>PC </a:t>
            </a:r>
            <a:r>
              <a:rPr lang="zh-TW" altLang="en-US" dirty="0"/>
              <a:t>端壓縮，並使用成本較低的硬體電路進行解碼。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0966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>
                    <a:effectLst/>
                    <a:latin typeface="Google Sans Text"/>
                  </a:rPr>
                  <a:t>原始大表  </a:t>
                </a:r>
                <a:r>
                  <a:rPr lang="en-US" altLang="zh-TW" dirty="0">
                    <a:effectLst/>
                    <a:latin typeface="Google Sans Text"/>
                  </a:rPr>
                  <a:t>T</a:t>
                </a:r>
                <a:r>
                  <a:rPr lang="zh-TW" altLang="en-US" dirty="0">
                    <a:effectLst/>
                    <a:latin typeface="Google Sans Text"/>
                  </a:rPr>
                  <a:t>的總資料筆數是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TW" altLang="en-US" dirty="0">
                    <a:effectLst/>
                    <a:latin typeface="Google Sans Text"/>
                  </a:rPr>
                  <a:t> 筆 </a:t>
                </a:r>
                <a:endParaRPr lang="en-US" altLang="zh-TW" dirty="0"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假設 </a:t>
                </a:r>
                <a:r>
                  <a:rPr lang="en-US" altLang="zh-TW" dirty="0">
                    <a:effectLst/>
                    <a:latin typeface="Google Sans Text"/>
                  </a:rPr>
                  <a:t>T</a:t>
                </a:r>
                <a:r>
                  <a:rPr lang="zh-TW" altLang="en-US" dirty="0"/>
                  <a:t>擁有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TW" altLang="en-US" dirty="0"/>
                  <a:t>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zh-TW" altLang="en-US" dirty="0"/>
                  <a:t>位元的元素</a:t>
                </a:r>
                <a:endParaRPr lang="en-US" altLang="zh-TW" dirty="0"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我們把大表切成好幾個子表，並且設定每個子表裡面有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TW" altLang="en-US" dirty="0"/>
                  <a:t>筆資料。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總共切出幾個子表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總資料量 除以 每個子表的資料量</a:t>
                </a:r>
                <a14:m>
                  <m:oMath xmlns:m="http://schemas.openxmlformats.org/officeDocument/2006/math">
                    <m:r>
                      <a:rPr lang="en-US" altLang="zh-TW" sz="1200" b="0" i="0" kern="100" baseline="0" smtClean="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TW" altLang="en-US" dirty="0" smtClean="0"/>
                          <m:t>作者首先將原始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LUT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T</m:t>
                        </m:r>
                        <m:r>
                          <m:rPr>
                            <m:nor/>
                          </m:rPr>
                          <a:rPr lang="en-US" altLang="zh-TW" dirty="0" smtClean="0"/>
                          <m:t>)</m:t>
                        </m:r>
                        <m:r>
                          <m:rPr>
                            <m:nor/>
                          </m:rPr>
                          <a:rPr lang="zh-TW" altLang="en-US" dirty="0" smtClean="0"/>
                          <m:t>切成多個較小的子表。每個子表</m:t>
                        </m:r>
                        <m:sSup>
                          <m:sSup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  <m:t>有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nor/>
                          </m:rPr>
                          <a:rPr lang="en-US" altLang="zh-TW" dirty="0"/>
                          <m:t>​ </m:t>
                        </m:r>
                        <m:r>
                          <m:rPr>
                            <m:nor/>
                          </m:rPr>
                          <a:rPr lang="zh-TW" altLang="en-US" dirty="0"/>
                          <m:t>筆資料。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zh-TW" altLang="en-US" dirty="0"/>
                          <m:t>接著，在每一個子表中找出最小值，並將這些最小值儲存在 </m:t>
                        </m:r>
                        <m:sSub>
                          <m:sSubPr>
                            <m:ctrlP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𝑏𝑖𝑎𝑠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dirty="0"/>
                          <m:t>​ </m:t>
                        </m:r>
                        <m:r>
                          <m:rPr>
                            <m:nor/>
                          </m:rPr>
                          <a:rPr lang="zh-TW" altLang="en-US" dirty="0"/>
                          <m:t>中。原始資料扣除該子表的最小值後，得到局部偏移量，存入 </m:t>
                        </m:r>
                        <m:sSub>
                          <m:sSubPr>
                            <m:ctrlP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𝑠𝑡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TW" altLang="en-US" dirty="0"/>
                          <m:t>。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zh-TW" altLang="en-US" dirty="0"/>
                          <m:t>由於</m:t>
                        </m:r>
                        <m:sSub>
                          <m:sSubPr>
                            <m:ctrlP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TW" sz="1200" b="0" i="1" kern="100" baseline="0" dirty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𝑠𝑡</m:t>
                            </m:r>
                          </m:sub>
                        </m:sSub>
                        <m:r>
                          <a:rPr lang="en-US" altLang="zh-TW" sz="1200" b="0" i="0" kern="100" baseline="0" dirty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TW" altLang="en-US" dirty="0"/>
                          <m:t>偏移值</m:t>
                        </m:r>
                        <m:r>
                          <m:rPr>
                            <m:nor/>
                          </m:rPr>
                          <a:rPr lang="en-US" altLang="zh-TW" dirty="0"/>
                          <m:t>)</m:t>
                        </m:r>
                        <m:r>
                          <m:rPr>
                            <m:nor/>
                          </m:rPr>
                          <a:rPr lang="zh-TW" altLang="en-US" dirty="0"/>
                          <m:t>通常比原始數值小，因此需要的位元數也比較少。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</m:e>
                      <m:sup>
                        <m:sSub>
                          <m:sSubPr>
                            <m:ctrlP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zh-TW" sz="1200" b="0" i="1" kern="100" baseline="0" smtClean="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200" b="0" i="1" kern="100" baseline="0" smtClean="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Arial" panose="020B0604020202020204" pitchFamily="34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TW" sz="1200" b="0" kern="100" baseline="0" dirty="0">
                  <a:effectLst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>
                    <a:effectLst/>
                    <a:latin typeface="Google Sans Text"/>
                  </a:rPr>
                  <a:t>原始大表  </a:t>
                </a:r>
                <a:r>
                  <a:rPr lang="en-US" altLang="zh-TW" dirty="0">
                    <a:effectLst/>
                    <a:latin typeface="Google Sans Text"/>
                  </a:rPr>
                  <a:t>T</a:t>
                </a:r>
                <a:r>
                  <a:rPr lang="zh-TW" altLang="en-US" dirty="0">
                    <a:effectLst/>
                    <a:latin typeface="Google Sans Text"/>
                  </a:rPr>
                  <a:t>的總資料筆數是 </a:t>
                </a:r>
                <a:r>
                  <a:rPr lang="en-US" altLang="zh-TW" sz="1200" b="0" i="0" kern="100" baseline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2^(𝑊_𝑖𝑛 )</a:t>
                </a:r>
                <a:r>
                  <a:rPr lang="zh-TW" altLang="en-US" dirty="0">
                    <a:effectLst/>
                    <a:latin typeface="Google Sans Text"/>
                  </a:rPr>
                  <a:t> 筆 </a:t>
                </a:r>
                <a:endParaRPr lang="en-US" altLang="zh-TW" dirty="0"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假設 </a:t>
                </a:r>
                <a:r>
                  <a:rPr lang="en-US" altLang="zh-TW" dirty="0">
                    <a:effectLst/>
                    <a:latin typeface="Google Sans Text"/>
                  </a:rPr>
                  <a:t>T</a:t>
                </a:r>
                <a:r>
                  <a:rPr lang="zh-TW" altLang="en-US" dirty="0"/>
                  <a:t>擁有 </a:t>
                </a:r>
                <a:r>
                  <a:rPr lang="en-US" altLang="zh-TW" sz="1200" b="0" i="0" kern="100" baseline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2^(𝑊_𝑖𝑛 )</a:t>
                </a:r>
                <a:r>
                  <a:rPr lang="zh-TW" altLang="en-US" dirty="0"/>
                  <a:t>個 </a:t>
                </a:r>
                <a:r>
                  <a:rPr lang="en-US" altLang="zh-TW" sz="1200" b="0" i="0" kern="100" baseline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𝑤_𝑜𝑢𝑡</a:t>
                </a:r>
                <a:r>
                  <a:rPr lang="zh-TW" altLang="en-US" dirty="0"/>
                  <a:t>位元的元素</a:t>
                </a:r>
                <a:endParaRPr lang="en-US" altLang="zh-TW" dirty="0">
                  <a:effectLst/>
                  <a:latin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我們把大表切成好幾個子表，並且設定每個子表裡面有 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2^(𝑤_𝑠 )</a:t>
                </a:r>
                <a:r>
                  <a:rPr lang="zh-TW" altLang="en-US" dirty="0"/>
                  <a:t>筆資料。</a:t>
                </a:r>
                <a:endParaRPr lang="en-US" altLang="zh-TW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總共切出幾個子表</a:t>
                </a:r>
                <a:r>
                  <a:rPr lang="en-US" altLang="zh-TW" dirty="0"/>
                  <a:t>:</a:t>
                </a:r>
                <a:r>
                  <a:rPr lang="zh-TW" altLang="en-US" dirty="0"/>
                  <a:t> 總資料量 除以 每個子表的資料量</a:t>
                </a:r>
                <a:r>
                  <a:rPr lang="en-US" altLang="zh-TW" sz="1200" b="0" i="0" kern="100" baseline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=〖2</a:t>
                </a:r>
                <a:r>
                  <a:rPr lang="zh-TW" altLang="en-US" sz="1200" b="0" i="0" kern="100" baseline="0" dirty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"</a:t>
                </a:r>
                <a:r>
                  <a:rPr lang="zh-TW" altLang="en-US" i="0" dirty="0"/>
                  <a:t>作者首先將原始</a:t>
                </a:r>
                <a:r>
                  <a:rPr lang="en-US" altLang="zh-TW" i="0" dirty="0"/>
                  <a:t>LUT(T)</a:t>
                </a:r>
                <a:r>
                  <a:rPr lang="zh-TW" altLang="en-US" i="0" dirty="0"/>
                  <a:t>切成多個較小的子表。每個子表</a:t>
                </a:r>
                <a:r>
                  <a:rPr lang="en-US" altLang="zh-TW" i="0">
                    <a:latin typeface="Cambria Math" panose="02040503050406030204" pitchFamily="18" charset="0"/>
                  </a:rPr>
                  <a:t>" 〖</a:t>
                </a:r>
                <a:r>
                  <a:rPr lang="zh-TW" altLang="en-US" i="0">
                    <a:latin typeface="Cambria Math" panose="02040503050406030204" pitchFamily="18" charset="0"/>
                  </a:rPr>
                  <a:t>有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2〗^(𝑤_𝑠 )</a:t>
                </a:r>
                <a:r>
                  <a:rPr lang="en-US" altLang="zh-TW" b="0" i="0" dirty="0">
                    <a:latin typeface="Cambria Math" panose="02040503050406030204" pitchFamily="18" charset="0"/>
                  </a:rPr>
                  <a:t> "</a:t>
                </a:r>
                <a:r>
                  <a:rPr lang="en-US" altLang="zh-TW" i="0" dirty="0"/>
                  <a:t>​ </a:t>
                </a:r>
                <a:r>
                  <a:rPr lang="zh-TW" altLang="en-US" i="0" dirty="0"/>
                  <a:t>筆資料。</a:t>
                </a:r>
                <a:r>
                  <a:rPr lang="en-US" altLang="zh-TW" i="0" dirty="0"/>
                  <a:t> </a:t>
                </a:r>
                <a:r>
                  <a:rPr lang="zh-TW" altLang="en-US" i="0" dirty="0"/>
                  <a:t>接著，在每一個子表中找出最小值，並將這些最小值儲存在 </a:t>
                </a:r>
                <a:r>
                  <a:rPr lang="en-US" altLang="zh-TW" sz="1200" b="0" i="0" kern="100" baseline="0" dirty="0">
                    <a:effectLst/>
                    <a:latin typeface="Cambria Math" panose="02040503050406030204" pitchFamily="18" charset="0"/>
                  </a:rPr>
                  <a:t>" </a:t>
                </a:r>
                <a:r>
                  <a:rPr lang="en-US" altLang="zh-TW" sz="1200" b="0" i="0" kern="100" baseline="0" dirty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𝑇_𝑏𝑖𝑎𝑠 "</a:t>
                </a:r>
                <a:r>
                  <a:rPr lang="en-US" altLang="zh-TW" i="0" dirty="0"/>
                  <a:t>​ </a:t>
                </a:r>
                <a:r>
                  <a:rPr lang="zh-TW" altLang="en-US" i="0" dirty="0"/>
                  <a:t>中。原始資料扣除該子表的最小值後，得到局部偏移量，存入 </a:t>
                </a:r>
                <a:r>
                  <a:rPr lang="en-US" altLang="zh-TW" sz="1200" b="0" i="0" kern="100" baseline="0" dirty="0">
                    <a:effectLst/>
                    <a:latin typeface="Cambria Math" panose="02040503050406030204" pitchFamily="18" charset="0"/>
                  </a:rPr>
                  <a:t>" </a:t>
                </a:r>
                <a:r>
                  <a:rPr lang="en-US" altLang="zh-TW" sz="1200" b="0" i="0" kern="100" baseline="0" dirty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𝑇_𝑠𝑡</a:t>
                </a:r>
                <a:r>
                  <a:rPr lang="zh-TW" altLang="en-US" sz="1200" b="0" i="0" kern="100" baseline="0" dirty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"</a:t>
                </a:r>
                <a:r>
                  <a:rPr lang="zh-TW" altLang="en-US" i="0" dirty="0"/>
                  <a:t>。</a:t>
                </a:r>
                <a:r>
                  <a:rPr lang="en-US" altLang="zh-TW" i="0" dirty="0"/>
                  <a:t> </a:t>
                </a:r>
                <a:r>
                  <a:rPr lang="zh-TW" altLang="en-US" i="0" dirty="0"/>
                  <a:t>由於</a:t>
                </a:r>
                <a:r>
                  <a:rPr lang="en-US" altLang="zh-TW" sz="1200" b="0" i="0" kern="100" baseline="0" dirty="0">
                    <a:effectLst/>
                    <a:latin typeface="Cambria Math" panose="02040503050406030204" pitchFamily="18" charset="0"/>
                  </a:rPr>
                  <a:t>" </a:t>
                </a:r>
                <a:r>
                  <a:rPr lang="en-US" altLang="zh-TW" sz="1200" b="0" i="0" kern="100" baseline="0" dirty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𝑇_𝑠𝑡 (</a:t>
                </a:r>
                <a:r>
                  <a:rPr lang="zh-TW" altLang="en-US" sz="1200" b="0" i="0" kern="100" baseline="0" dirty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"</a:t>
                </a:r>
                <a:r>
                  <a:rPr lang="zh-TW" altLang="en-US" i="0" dirty="0"/>
                  <a:t>偏移值</a:t>
                </a:r>
                <a:r>
                  <a:rPr lang="en-US" altLang="zh-TW" i="0" dirty="0"/>
                  <a:t>)</a:t>
                </a:r>
                <a:r>
                  <a:rPr lang="zh-TW" altLang="en-US" i="0" dirty="0"/>
                  <a:t>通常比原始數值小，因此需要的位元數也比較少。</a:t>
                </a:r>
                <a:r>
                  <a:rPr lang="en-US" altLang="zh-TW" i="0" dirty="0"/>
                  <a:t> </a:t>
                </a:r>
                <a:r>
                  <a:rPr lang="en-US" altLang="zh-TW" sz="1200" b="0" i="0" kern="100" baseline="0">
                    <a:effectLst/>
                    <a:latin typeface="Cambria Math" panose="02040503050406030204" pitchFamily="18" charset="0"/>
                  </a:rPr>
                  <a:t>" 〗^(</a:t>
                </a:r>
                <a:r>
                  <a:rPr lang="en-US" altLang="zh-TW" sz="1200" b="0" i="0" kern="100" baseline="0">
                    <a:effectLst/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𝑊_𝑖𝑛−𝑤_𝑠 )</a:t>
                </a:r>
                <a:endParaRPr lang="en-US" altLang="zh-TW" sz="1200" b="0" kern="100" baseline="0" dirty="0">
                  <a:effectLst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4043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子表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</m:oMath>
                </a14:m>
                <a:r>
                  <a:rPr lang="zh-TW" altLang="en-US" dirty="0"/>
                  <a:t>的內容是 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5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6</a:t>
                </a:r>
                <a:r>
                  <a:rPr lang="zh-TW" altLang="en-US" dirty="0"/>
                  <a:t>。將它右移一個 </a:t>
                </a:r>
                <a:r>
                  <a:rPr lang="en-US" altLang="zh-TW" dirty="0"/>
                  <a:t>bit </a:t>
                </a:r>
                <a:r>
                  <a:rPr lang="zh-TW" altLang="en-US" dirty="0"/>
                  <a:t>後，可以得到</a:t>
                </a:r>
                <a:r>
                  <a:rPr lang="en-US" altLang="zh-TW" dirty="0"/>
                  <a:t>ST1</a:t>
                </a:r>
                <a:r>
                  <a:rPr lang="zh-TW" altLang="en-US" dirty="0"/>
                  <a:t>；右移兩個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 得到</a:t>
                </a:r>
                <a:r>
                  <a:rPr lang="en-US" altLang="zh-TW" dirty="0"/>
                  <a:t>ST24 </a:t>
                </a:r>
                <a:r>
                  <a:rPr lang="zh-TW" altLang="en-US" dirty="0"/>
                  <a:t>、右移三個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 得到</a:t>
                </a:r>
                <a:r>
                  <a:rPr lang="en-US" altLang="zh-TW" dirty="0"/>
                  <a:t>ST32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因此，原本可能需要儲存四個不同子表，現在只需要儲存一個主要子表，再記錄每個子表要右移幾次即可。</a:t>
                </a:r>
                <a:endParaRPr lang="zh-TW" altLang="en-US" dirty="0">
                  <a:solidFill>
                    <a:schemeClr val="tx1"/>
                  </a:solidFill>
                </a:endParaRPr>
              </a:p>
              <a:p>
                <a:r>
                  <a:rPr lang="zh-TW" altLang="en-US" dirty="0">
                    <a:solidFill>
                      <a:schemeClr val="tx1"/>
                    </a:solidFill>
                  </a:rPr>
                  <a:t>第一張是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​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，用來儲存獨特子表。</a:t>
                </a:r>
              </a:p>
              <a:p>
                <a:r>
                  <a:rPr lang="zh-TW" altLang="en-US" dirty="0"/>
                  <a:t>第二張是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𝑖𝑑𝑥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，用來記錄每個原始子表對應到哪一個獨特子表。</a:t>
                </a:r>
              </a:p>
              <a:p>
                <a:r>
                  <a:rPr lang="zh-TW" altLang="en-US" dirty="0"/>
                  <a:t>第三張是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𝑟𝑠h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，記錄還原時需要右移多少個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。</a:t>
                </a:r>
              </a:p>
              <a:p>
                <a:r>
                  <a:rPr lang="en-US" altLang="zh-TW" dirty="0"/>
                  <a:t>n=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TW" altLang="en-US" dirty="0"/>
                  <a:t>：原始子表數量 </a:t>
                </a:r>
                <a:endParaRPr lang="en-US" altLang="zh-TW" dirty="0"/>
              </a:p>
              <a:p>
                <a:r>
                  <a:rPr lang="en-US" altLang="zh-TW" dirty="0"/>
                  <a:t>k</a:t>
                </a:r>
                <a:r>
                  <a:rPr lang="zh-TW" altLang="en-US" dirty="0"/>
                  <a:t>：經自相似性分析後的獨特子表數量</a:t>
                </a: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第二個方法是 </a:t>
                </a:r>
                <a:r>
                  <a:rPr lang="en-US" altLang="zh-TW" dirty="0"/>
                  <a:t>Self-Similarities</a:t>
                </a:r>
                <a:r>
                  <a:rPr lang="zh-TW" altLang="en-US" dirty="0"/>
                  <a:t>，也就是利用子表之間的自相似性。</a:t>
                </a:r>
              </a:p>
              <a:p>
                <a:r>
                  <a:rPr lang="zh-TW" altLang="en-US" dirty="0"/>
                  <a:t>作者觀察到，經過表格分解之後，不同子表的偏移數值可能具有相似的形狀。</a:t>
                </a:r>
              </a:p>
              <a:p>
                <a:r>
                  <a:rPr lang="zh-TW" altLang="en-US" dirty="0"/>
                  <a:t>某個子表 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𝑆𝑇_14</a:t>
                </a:r>
                <a:r>
                  <a:rPr lang="zh-TW" altLang="en-US" dirty="0"/>
                  <a:t>的內容是 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3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5</a:t>
                </a:r>
                <a:r>
                  <a:rPr lang="zh-TW" altLang="en-US" dirty="0"/>
                  <a:t>、</a:t>
                </a:r>
                <a:r>
                  <a:rPr lang="en-US" altLang="zh-TW" dirty="0"/>
                  <a:t>6</a:t>
                </a:r>
                <a:r>
                  <a:rPr lang="zh-TW" altLang="en-US" dirty="0"/>
                  <a:t>。將它右移一個 </a:t>
                </a:r>
                <a:r>
                  <a:rPr lang="en-US" altLang="zh-TW" dirty="0"/>
                  <a:t>bit </a:t>
                </a:r>
                <a:r>
                  <a:rPr lang="zh-TW" altLang="en-US" dirty="0"/>
                  <a:t>後，可以得到另一個子表；右移兩個 </a:t>
                </a:r>
                <a:r>
                  <a:rPr lang="en-US" altLang="zh-TW" dirty="0"/>
                  <a:t>bit </a:t>
                </a:r>
                <a:r>
                  <a:rPr lang="zh-TW" altLang="en-US" dirty="0"/>
                  <a:t>或三個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，又可以得到其他子表。</a:t>
                </a:r>
              </a:p>
              <a:p>
                <a:r>
                  <a:rPr lang="zh-TW" altLang="en-US" dirty="0"/>
                  <a:t>因此，原本可能需要儲存四個不同子表，現在只需要儲存一個主要子表，再記錄每個子表要右移幾次即可。</a:t>
                </a:r>
              </a:p>
              <a:p>
                <a:r>
                  <a:rPr lang="zh-TW" altLang="en-US" dirty="0"/>
                  <a:t>作者建立三張新表。</a:t>
                </a:r>
              </a:p>
              <a:p>
                <a:r>
                  <a:rPr lang="zh-TW" altLang="en-US" dirty="0"/>
                  <a:t>第一張是 </a:t>
                </a:r>
                <a:r>
                  <a:rPr lang="en-US" altLang="zh-TW" i="0">
                    <a:latin typeface="Cambria Math" panose="02040503050406030204" pitchFamily="18" charset="0"/>
                  </a:rPr>
                  <a:t>𝑇_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𝑢</a:t>
                </a:r>
                <a:r>
                  <a:rPr lang="en-US" altLang="zh-TW" i="0">
                    <a:latin typeface="Cambria Math" panose="02040503050406030204" pitchFamily="18" charset="0"/>
                  </a:rPr>
                  <a:t>𝑠𝑡</a:t>
                </a:r>
                <a:r>
                  <a:rPr lang="en-US" altLang="zh-TW" dirty="0"/>
                  <a:t>​</a:t>
                </a:r>
                <a:r>
                  <a:rPr lang="zh-TW" altLang="en-US" dirty="0"/>
                  <a:t>，用來儲存獨特子表。</a:t>
                </a:r>
              </a:p>
              <a:p>
                <a:r>
                  <a:rPr lang="zh-TW" altLang="en-US" dirty="0"/>
                  <a:t>第二張是 </a:t>
                </a:r>
                <a:r>
                  <a:rPr lang="en-US" altLang="zh-TW" i="0">
                    <a:latin typeface="Cambria Math" panose="02040503050406030204" pitchFamily="18" charset="0"/>
                  </a:rPr>
                  <a:t>𝑇_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𝑖𝑑𝑥</a:t>
                </a:r>
                <a:r>
                  <a:rPr lang="en-US" altLang="zh-TW" dirty="0"/>
                  <a:t>​</a:t>
                </a:r>
                <a:r>
                  <a:rPr lang="zh-TW" altLang="en-US" dirty="0"/>
                  <a:t>，用來記錄每個原始子表對應到哪一個獨特子表。</a:t>
                </a:r>
              </a:p>
              <a:p>
                <a:r>
                  <a:rPr lang="zh-TW" altLang="en-US" dirty="0"/>
                  <a:t>第三張是 </a:t>
                </a:r>
                <a:r>
                  <a:rPr lang="en-US" altLang="zh-TW" i="0">
                    <a:latin typeface="Cambria Math" panose="02040503050406030204" pitchFamily="18" charset="0"/>
                  </a:rPr>
                  <a:t>𝑇_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𝑟𝑠ℎ</a:t>
                </a:r>
                <a:r>
                  <a:rPr lang="en-US" altLang="zh-TW" dirty="0"/>
                  <a:t>​</a:t>
                </a:r>
                <a:r>
                  <a:rPr lang="zh-TW" altLang="en-US" dirty="0"/>
                  <a:t>，記錄還原時需要右移多少個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。</a:t>
                </a:r>
              </a:p>
              <a:p>
                <a:r>
                  <a:rPr lang="zh-TW" altLang="en-US" dirty="0"/>
                  <a:t>這裡使用的是算術右移，而且論文將右移範圍限制在 </a:t>
                </a:r>
                <a:r>
                  <a:rPr lang="en-US" altLang="zh-TW" dirty="0"/>
                  <a:t>0 </a:t>
                </a:r>
                <a:r>
                  <a:rPr lang="zh-TW" altLang="en-US" dirty="0"/>
                  <a:t>到 </a:t>
                </a:r>
                <a:r>
                  <a:rPr lang="en-US" altLang="zh-TW" dirty="0"/>
                  <a:t>3 bit</a:t>
                </a:r>
                <a:r>
                  <a:rPr lang="zh-TW" altLang="en-US" dirty="0"/>
                  <a:t>，因此位移資訊只需要兩個 </a:t>
                </a:r>
                <a:r>
                  <a:rPr lang="en-US" altLang="zh-TW" dirty="0"/>
                  <a:t>bit</a:t>
                </a:r>
                <a:r>
                  <a:rPr lang="zh-TW" altLang="en-US" dirty="0"/>
                  <a:t>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0584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/>
                <a:r>
                  <a:rPr lang="zh-TW" altLang="en-US" dirty="0"/>
                  <a:t>作者提出 </a:t>
                </a:r>
                <a:r>
                  <a:rPr lang="en-US" altLang="zh-TW" dirty="0"/>
                  <a:t>Higher-Bit Compression</a:t>
                </a:r>
                <a:r>
                  <a:rPr lang="zh-TW" altLang="en-US" dirty="0"/>
                  <a:t>。</a:t>
                </a:r>
              </a:p>
              <a:p>
                <a:pPr marL="0"/>
                <a:r>
                  <a:rPr lang="zh-TW" altLang="en-US" dirty="0"/>
                  <a:t>作法是將每一筆資料分成高位元與低位元。低位元存入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𝑙𝑏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，這一部分不壓縮；高位元則存入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kern="10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h𝑏</m:t>
                        </m:r>
                      </m:sub>
                    </m:sSub>
                  </m:oMath>
                </a14:m>
                <a:r>
                  <a:rPr lang="en-US" altLang="zh-TW" dirty="0"/>
                  <a:t>​</a:t>
                </a:r>
                <a:r>
                  <a:rPr lang="zh-TW" altLang="en-US" dirty="0"/>
                  <a:t>，再對高位元執行前面的分解和自相似性壓縮。</a:t>
                </a:r>
              </a:p>
              <a:p>
                <a:pPr marL="0"/>
                <a:r>
                  <a:rPr lang="zh-TW" altLang="en-US" dirty="0"/>
                  <a:t>這樣做的原因是，低位元通常包含較多細微跳動。移除低位元後，高位元資料的曲線會變得比較平滑，因此更容易壓縮。</a:t>
                </a:r>
              </a:p>
              <a:p>
                <a:pPr marL="0"/>
                <a:endParaRPr lang="zh-TW" altLang="en-US" dirty="0"/>
              </a:p>
              <a:p>
                <a:pPr marL="0"/>
                <a:r>
                  <a:rPr lang="zh-TW" altLang="en-US" dirty="0"/>
                  <a:t>另一個方法是 </a:t>
                </a:r>
                <a:r>
                  <a:rPr lang="en-US" altLang="zh-TW" dirty="0"/>
                  <a:t>Multilevel Compression</a:t>
                </a:r>
                <a:r>
                  <a:rPr lang="zh-TW" altLang="en-US" dirty="0"/>
                  <a:t>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kern="100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 kern="100" dirty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Arial" panose="020B0604020202020204" pitchFamily="34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dirty="0"/>
                  <a:t>​ </a:t>
                </a:r>
                <a:r>
                  <a:rPr lang="zh-TW" altLang="en-US" dirty="0"/>
                  <a:t>本身也是一張查找表，所以可以再對它執行相同的壓縮流程。</a:t>
                </a:r>
              </a:p>
              <a:p>
                <a:pPr marL="0"/>
                <a:r>
                  <a:rPr lang="zh-TW" altLang="en-US" dirty="0"/>
                  <a:t>這可以進一步縮小記憶體，但也會增加巢狀解碼器的硬體成本與延遲，因此必須在壓縮率和解碼成本之間取得平衡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9BD86B3-8EAB-902A-DCF6-698ADFDE9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/>
                <a:r>
                  <a:rPr lang="zh-TW" altLang="en-US" dirty="0"/>
                  <a:t>前面兩種方法比較適合平滑且相鄰數值變化較小的</a:t>
                </a:r>
                <a:r>
                  <a:rPr lang="en-US" altLang="zh-TW" dirty="0"/>
                  <a:t>LUT</a:t>
                </a:r>
                <a:r>
                  <a:rPr lang="zh-TW" altLang="en-US" dirty="0"/>
                  <a:t>。</a:t>
                </a:r>
              </a:p>
              <a:p>
                <a:pPr marL="0"/>
                <a:r>
                  <a:rPr lang="zh-TW" altLang="en-US" dirty="0"/>
                  <a:t>如果資料的動態範圍很大，相鄰數值差異也很大，偏移表所需要的位元數就會增加，而且不同子表之間也比較難找到自相似性。</a:t>
                </a:r>
              </a:p>
              <a:p>
                <a:pPr marL="0"/>
                <a:r>
                  <a:rPr lang="zh-TW" altLang="en-US" dirty="0"/>
                  <a:t>因此作者提出 </a:t>
                </a:r>
                <a:r>
                  <a:rPr lang="en-US" altLang="zh-TW" dirty="0"/>
                  <a:t>Higher-Bit Compression</a:t>
                </a:r>
                <a:r>
                  <a:rPr lang="zh-TW" altLang="en-US" dirty="0"/>
                  <a:t>。</a:t>
                </a:r>
              </a:p>
              <a:p>
                <a:pPr marL="0"/>
                <a:r>
                  <a:rPr lang="zh-TW" altLang="en-US" dirty="0"/>
                  <a:t>作法是將每一筆資料分成高位元與低位元。低位元存入 </a:t>
                </a:r>
                <a:r>
                  <a:rPr lang="en-US" altLang="zh-TW" i="0">
                    <a:latin typeface="Cambria Math" panose="02040503050406030204" pitchFamily="18" charset="0"/>
                  </a:rPr>
                  <a:t>T_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𝑙𝑏</a:t>
                </a:r>
                <a:r>
                  <a:rPr lang="en-US" altLang="zh-TW" dirty="0"/>
                  <a:t>​</a:t>
                </a:r>
                <a:r>
                  <a:rPr lang="zh-TW" altLang="en-US" dirty="0"/>
                  <a:t>，這一部分不壓縮；高位元則存入 </a:t>
                </a:r>
                <a:r>
                  <a:rPr lang="en-US" altLang="zh-TW" b="0" i="0" kern="10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𝑇_ℎ𝑏</a:t>
                </a:r>
                <a:r>
                  <a:rPr lang="en-US" altLang="zh-TW" dirty="0"/>
                  <a:t>​</a:t>
                </a:r>
                <a:r>
                  <a:rPr lang="zh-TW" altLang="en-US" dirty="0"/>
                  <a:t>，再對高位元執行前面的分解和自相似性壓縮。</a:t>
                </a:r>
              </a:p>
              <a:p>
                <a:pPr marL="0"/>
                <a:r>
                  <a:rPr lang="zh-TW" altLang="en-US" dirty="0"/>
                  <a:t>這樣做的原因是，低位元通常包含較多細微跳動。移除低位元後，高位元資料的曲線會變得比較平滑，因此更容易壓縮。</a:t>
                </a:r>
              </a:p>
              <a:p>
                <a:pPr marL="0"/>
                <a:endParaRPr lang="zh-TW" altLang="en-US" dirty="0"/>
              </a:p>
              <a:p>
                <a:pPr marL="0"/>
                <a:r>
                  <a:rPr lang="zh-TW" altLang="en-US" dirty="0"/>
                  <a:t>另一個方法是 </a:t>
                </a:r>
                <a:r>
                  <a:rPr lang="en-US" altLang="zh-TW" dirty="0"/>
                  <a:t>Multilevel Compression</a:t>
                </a:r>
                <a:r>
                  <a:rPr lang="zh-TW" altLang="en-US" dirty="0"/>
                  <a:t>。</a:t>
                </a:r>
                <a:r>
                  <a:rPr lang="en-US" altLang="zh-TW" i="0" kern="100" dirty="0">
                    <a:latin typeface="Cambria Math" panose="020405030504060302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𝑇_𝑏𝑖𝑎𝑠</a:t>
                </a:r>
                <a:r>
                  <a:rPr lang="en-US" altLang="zh-TW" dirty="0"/>
                  <a:t>​ </a:t>
                </a:r>
                <a:r>
                  <a:rPr lang="zh-TW" altLang="en-US" dirty="0"/>
                  <a:t>本身也是一張查找表，所以可以再對它執行相同的壓縮流程。</a:t>
                </a:r>
              </a:p>
              <a:p>
                <a:pPr marL="0"/>
                <a:r>
                  <a:rPr lang="zh-TW" altLang="en-US" dirty="0"/>
                  <a:t>這可以進一步縮小記憶體，但也會增加巢狀解碼器的硬體成本與延遲，因此必須在壓縮率和解碼成本之間取得平衡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TW" sz="1200" b="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9058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這張圖呈現 </a:t>
            </a:r>
            <a:r>
              <a:rPr lang="en-US" altLang="zh-TW" dirty="0" err="1"/>
              <a:t>CompressedLUT</a:t>
            </a:r>
            <a:r>
              <a:rPr lang="en-US" altLang="zh-TW" dirty="0"/>
              <a:t> </a:t>
            </a:r>
            <a:r>
              <a:rPr lang="zh-TW" altLang="en-US" dirty="0"/>
              <a:t>的完整硬體解碼流程。</a:t>
            </a:r>
            <a:endParaRPr lang="en-US" altLang="zh-TW" dirty="0"/>
          </a:p>
          <a:p>
            <a:pPr marL="0" indent="0"/>
            <a:r>
              <a:rPr lang="zh-TW" altLang="en-US" dirty="0"/>
              <a:t>系統首先根據輸入位址查詢 </a:t>
            </a:r>
            <a:r>
              <a:rPr lang="en-US" altLang="zh-TW" dirty="0"/>
              <a:t>(T_{</a:t>
            </a:r>
            <a:r>
              <a:rPr lang="en-US" altLang="zh-TW" dirty="0" err="1"/>
              <a:t>idx</a:t>
            </a:r>
            <a:r>
              <a:rPr lang="en-US" altLang="zh-TW" dirty="0"/>
              <a:t>})</a:t>
            </a:r>
            <a:r>
              <a:rPr lang="zh-TW" altLang="en-US" dirty="0"/>
              <a:t>，找出對應的獨特子表 </a:t>
            </a:r>
            <a:r>
              <a:rPr lang="en-US" altLang="zh-TW" dirty="0"/>
              <a:t>(T_{</a:t>
            </a:r>
            <a:r>
              <a:rPr lang="en-US" altLang="zh-TW" dirty="0" err="1"/>
              <a:t>ust</a:t>
            </a:r>
            <a:r>
              <a:rPr lang="en-US" altLang="zh-TW" dirty="0"/>
              <a:t>})</a:t>
            </a:r>
            <a:r>
              <a:rPr lang="zh-TW" altLang="en-US" dirty="0"/>
              <a:t>，再依照 </a:t>
            </a:r>
            <a:r>
              <a:rPr lang="en-US" altLang="zh-TW" dirty="0"/>
              <a:t>(T_{</a:t>
            </a:r>
            <a:r>
              <a:rPr lang="en-US" altLang="zh-TW" dirty="0" err="1"/>
              <a:t>rsh</a:t>
            </a:r>
            <a:r>
              <a:rPr lang="en-US" altLang="zh-TW" dirty="0"/>
              <a:t>}) </a:t>
            </a:r>
            <a:r>
              <a:rPr lang="zh-TW" altLang="en-US" dirty="0"/>
              <a:t>記錄的位移量進行算術右移，並加回 </a:t>
            </a:r>
            <a:r>
              <a:rPr lang="en-US" altLang="zh-TW" dirty="0"/>
              <a:t>(T_{bias}) </a:t>
            </a:r>
            <a:r>
              <a:rPr lang="zh-TW" altLang="en-US" dirty="0"/>
              <a:t>中的基底值，還原高位元資料。最後再與未壓縮的低位元表 </a:t>
            </a:r>
            <a:r>
              <a:rPr lang="en-US" altLang="zh-TW" dirty="0"/>
              <a:t>(T_{</a:t>
            </a:r>
            <a:r>
              <a:rPr lang="en-US" altLang="zh-TW" dirty="0" err="1"/>
              <a:t>lb</a:t>
            </a:r>
            <a:r>
              <a:rPr lang="en-US" altLang="zh-TW" dirty="0"/>
              <a:t>}) </a:t>
            </a:r>
            <a:r>
              <a:rPr lang="zh-TW" altLang="en-US" dirty="0"/>
              <a:t>串接，就能無損重建原始 </a:t>
            </a:r>
            <a:r>
              <a:rPr lang="en-US" altLang="zh-TW" dirty="0"/>
              <a:t>LUT </a:t>
            </a:r>
            <a:r>
              <a:rPr lang="zh-TW" altLang="en-US" dirty="0"/>
              <a:t>的輸出值。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9458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TW" dirty="0"/>
              <a:t>Experimental Results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 err="1"/>
              <a:t>PlainTable</a:t>
            </a:r>
            <a:r>
              <a:rPr lang="en-US" altLang="zh-TW" dirty="0"/>
              <a:t> </a:t>
            </a:r>
            <a:r>
              <a:rPr lang="zh-TW" altLang="en-US" dirty="0"/>
              <a:t>表示未經壓縮的普通表格。</a:t>
            </a:r>
            <a:endParaRPr lang="en-US" altLang="zh-TW" dirty="0"/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TW" dirty="0" err="1"/>
              <a:t>TwoTable</a:t>
            </a:r>
            <a:r>
              <a:rPr lang="ja-JP" altLang="en-US" dirty="0"/>
              <a:t>　</a:t>
            </a:r>
            <a:r>
              <a:rPr lang="zh-TW" altLang="en-US" dirty="0"/>
              <a:t>將 </a:t>
            </a:r>
            <a:r>
              <a:rPr lang="en-US" altLang="zh-TW" dirty="0"/>
              <a:t>LUT </a:t>
            </a:r>
            <a:r>
              <a:rPr lang="zh-TW" altLang="en-US" dirty="0"/>
              <a:t>分解成兩張表</a:t>
            </a:r>
            <a:endParaRPr lang="en-US" altLang="zh-TW" dirty="0"/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ja-JP" kern="100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LDTC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Arial" panose="020B0604020202020204" pitchFamily="34" charset="0"/>
              </a:rPr>
              <a:t> 另一種無損壓縮方法。</a:t>
            </a:r>
            <a:endParaRPr lang="en-US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</a:t>
            </a:r>
            <a:r>
              <a:rPr lang="zh-TW" altLang="en-US" dirty="0"/>
              <a:t>「</a:t>
            </a:r>
            <a:r>
              <a:rPr lang="en-US" altLang="zh-TW" dirty="0"/>
              <a:t>Initial Size</a:t>
            </a:r>
            <a:r>
              <a:rPr lang="zh-TW" altLang="en-US" dirty="0"/>
              <a:t>」與「</a:t>
            </a:r>
            <a:r>
              <a:rPr lang="en-US" altLang="zh-TW" dirty="0"/>
              <a:t>Final Size</a:t>
            </a:r>
            <a:r>
              <a:rPr lang="zh-TW" altLang="en-US" dirty="0"/>
              <a:t>」分別表示壓縮前後的總位元數；</a:t>
            </a:r>
            <a:endParaRPr lang="en-US" altLang="zh-TW" dirty="0"/>
          </a:p>
          <a:p>
            <a:r>
              <a:rPr lang="zh-TW" altLang="en-US" dirty="0"/>
              <a:t>右半部：</a:t>
            </a:r>
            <a:r>
              <a:rPr lang="en-US" altLang="zh-TW" dirty="0"/>
              <a:t>FPGA </a:t>
            </a:r>
            <a:r>
              <a:rPr lang="zh-TW" altLang="en-US" dirty="0"/>
              <a:t>硬體成本</a:t>
            </a:r>
            <a:endParaRPr lang="en-US" altLang="zh-TW" dirty="0"/>
          </a:p>
          <a:p>
            <a:r>
              <a:rPr lang="zh-TW" altLang="en-US" dirty="0"/>
              <a:t>這裡的 </a:t>
            </a:r>
            <a:r>
              <a:rPr lang="en-US" altLang="zh-TW" dirty="0"/>
              <a:t>LUT </a:t>
            </a:r>
            <a:r>
              <a:rPr lang="zh-TW" altLang="en-US" dirty="0"/>
              <a:t>不是論文要壓縮的「查找表資料」，而是 </a:t>
            </a:r>
            <a:r>
              <a:rPr lang="en-US" altLang="zh-TW" dirty="0"/>
              <a:t>FPGA </a:t>
            </a:r>
            <a:r>
              <a:rPr lang="zh-TW" altLang="en-US" dirty="0"/>
              <a:t>裡面的 </a:t>
            </a:r>
            <a:r>
              <a:rPr lang="zh-TW" altLang="en-US" b="1" dirty="0"/>
              <a:t>硬體邏輯 </a:t>
            </a:r>
            <a:r>
              <a:rPr lang="en-US" altLang="zh-TW" b="1" dirty="0"/>
              <a:t>LUT </a:t>
            </a:r>
            <a:r>
              <a:rPr lang="zh-TW" altLang="en-US" b="1" dirty="0"/>
              <a:t>資源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Throughput Per Slice</a:t>
            </a:r>
            <a:r>
              <a:rPr lang="zh-TW" altLang="en-US" dirty="0"/>
              <a:t>，每個 </a:t>
            </a:r>
            <a:r>
              <a:rPr lang="en-US" altLang="zh-TW" dirty="0"/>
              <a:t>Slice </a:t>
            </a:r>
            <a:r>
              <a:rPr lang="zh-TW" altLang="en-US" dirty="0"/>
              <a:t>所能提供的吞吐量。</a:t>
            </a:r>
            <a:endParaRPr lang="en-US" altLang="zh-TW" b="1" dirty="0"/>
          </a:p>
          <a:p>
            <a:r>
              <a:rPr lang="en-US" altLang="zh-TW" dirty="0"/>
              <a:t>Slice </a:t>
            </a:r>
            <a:r>
              <a:rPr lang="zh-TW" altLang="en-US" dirty="0"/>
              <a:t>是 </a:t>
            </a:r>
            <a:r>
              <a:rPr lang="en-US" altLang="zh-TW" dirty="0"/>
              <a:t>FPGA </a:t>
            </a:r>
            <a:r>
              <a:rPr lang="zh-TW" altLang="en-US" dirty="0"/>
              <a:t>的基本邏輯資源區塊，通常包含：</a:t>
            </a:r>
            <a:endParaRPr lang="zh-TW" altLang="en-US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LUT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Flip-Flop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Carry 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其他局部邏輯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455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2984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549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5180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0700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6759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3417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17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85947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積體電路控制板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618391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積體電路控制板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85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78691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302872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/>
              <p:nvPr/>
            </p:nvSpPr>
            <p:spPr>
              <a:xfrm>
                <a:off x="609601" y="901095"/>
                <a:ext cx="8502125" cy="2251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一組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Gamma (RGB) LUT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大小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LUT 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輸入位元數是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4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，輸出位元數是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，完整大小為：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傳輸資料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x 16(bit) x 3 =</a:t>
                </a:r>
                <a:r>
                  <a:rPr lang="en-US" altLang="zh-TW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1536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bytes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從 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8bit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面板換成 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10bit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面板，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LUT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大小相差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倍、校正時間也會變成原來的 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2.3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～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3.1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倍</a:t>
                </a:r>
              </a:p>
              <a:p>
                <a:pPr lvl="1">
                  <a:lnSpc>
                    <a:spcPts val="3000"/>
                  </a:lnSpc>
                </a:pPr>
                <a:endParaRPr lang="en-US" altLang="zh-TW" sz="14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endParaRPr lang="en-US" altLang="zh-TW" sz="12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1" y="901095"/>
                <a:ext cx="8502125" cy="2251680"/>
              </a:xfrm>
              <a:prstGeom prst="rect">
                <a:avLst/>
              </a:prstGeom>
              <a:blipFill>
                <a:blip r:embed="rId3"/>
                <a:stretch>
                  <a:fillRect l="-1219" t="-46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F9D2DDB9-6C1D-29CC-9CB1-22E723F476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743842"/>
                  </p:ext>
                </p:extLst>
              </p:nvPr>
            </p:nvGraphicFramePr>
            <p:xfrm>
              <a:off x="5740775" y="1434495"/>
              <a:ext cx="2838450" cy="44809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38450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448093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LUT</m:t>
                                  </m:r>
                                </m:sub>
                              </m:sSub>
                              <m:r>
                                <a:rPr lang="en-US" altLang="zh-TW" sz="14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4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4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4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4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4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 bits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F9D2DDB9-6C1D-29CC-9CB1-22E723F476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743842"/>
                  </p:ext>
                </p:extLst>
              </p:nvPr>
            </p:nvGraphicFramePr>
            <p:xfrm>
              <a:off x="5740775" y="1434495"/>
              <a:ext cx="2838450" cy="44809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38450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44809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227E2A4-BBF4-FE65-B834-3D7D991B5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736376"/>
              </p:ext>
            </p:extLst>
          </p:nvPr>
        </p:nvGraphicFramePr>
        <p:xfrm>
          <a:off x="2075854" y="2745106"/>
          <a:ext cx="5754291" cy="1920240"/>
        </p:xfrm>
        <a:graphic>
          <a:graphicData uri="http://schemas.openxmlformats.org/drawingml/2006/table">
            <a:tbl>
              <a:tblPr/>
              <a:tblGrid>
                <a:gridCol w="1678305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3985466103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bit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面板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校正時間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驗證時間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348.58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145.87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494.45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</a:t>
                      </a:r>
                      <a:endParaRPr lang="zh-TW" altLang="en-US" sz="1200" b="0" i="0" u="none" strike="noStrike" cap="non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235.38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148.82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384.2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 + Gamma</a:t>
                      </a: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587.94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295.98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883.92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Gamma 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574.40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244.25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818.65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56D7912-949E-D724-A71C-0F6560144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877903"/>
              </p:ext>
            </p:extLst>
          </p:nvPr>
        </p:nvGraphicFramePr>
        <p:xfrm>
          <a:off x="2075854" y="4840829"/>
          <a:ext cx="5796757" cy="1920240"/>
        </p:xfrm>
        <a:graphic>
          <a:graphicData uri="http://schemas.openxmlformats.org/drawingml/2006/table">
            <a:tbl>
              <a:tblPr/>
              <a:tblGrid>
                <a:gridCol w="1678305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4189185256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 bit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面板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校正時間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驗證時間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1022.40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134.71 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1,157.11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</a:t>
                      </a:r>
                      <a:endParaRPr lang="zh-TW" altLang="en-US" sz="1200" b="0" i="0" u="none" strike="noStrike" cap="non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1027.92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178.14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1,206.06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 + Gamma</a:t>
                      </a: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1956.51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304.20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2,260.71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Gamma 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1960.46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269.46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2,229.92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8B4B936-5E7F-2B52-284D-8E262F65C83C}"/>
              </a:ext>
            </a:extLst>
          </p:cNvPr>
          <p:cNvSpPr/>
          <p:nvPr/>
        </p:nvSpPr>
        <p:spPr>
          <a:xfrm>
            <a:off x="3718984" y="2745107"/>
            <a:ext cx="1119716" cy="1920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9DE762-5A93-6CE0-705C-307B63A39910}"/>
              </a:ext>
            </a:extLst>
          </p:cNvPr>
          <p:cNvSpPr/>
          <p:nvPr/>
        </p:nvSpPr>
        <p:spPr>
          <a:xfrm>
            <a:off x="3728509" y="4840829"/>
            <a:ext cx="1119716" cy="1920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4983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36322"/>
            <a:ext cx="8524873" cy="5175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Performance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初步想法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目標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壓縮任意一維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完全無損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使用低成本硬體解碼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維持高吞吐量</a:t>
            </a:r>
          </a:p>
          <a:p>
            <a:pPr>
              <a:lnSpc>
                <a:spcPts val="3000"/>
              </a:lnSpc>
            </a:pP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的核心技術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分解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(Decomposition):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將大型表格拆解為多個具備關聯性的子表格。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自相似性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(Self-similarities):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尋找並合併表格中重複或高度相似的資料區段。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多層次壓縮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(Multilevel compression):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進行多次遞迴式壓縮以達到最佳的空間利用率。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高位元壓縮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(Higher-bit compression):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針對高位元解析度進行特殊優化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進一步縮減資料冗餘。</a:t>
            </a:r>
          </a:p>
        </p:txBody>
      </p:sp>
      <p:sp>
        <p:nvSpPr>
          <p:cNvPr id="4" name="文字版面配置區 6">
            <a:extLst>
              <a:ext uri="{FF2B5EF4-FFF2-40B4-BE49-F238E27FC236}">
                <a16:creationId xmlns:a16="http://schemas.microsoft.com/office/drawing/2014/main" id="{FA58D6AB-A1BE-C1A7-A81D-9CCE4F0AB0F0}"/>
              </a:ext>
            </a:extLst>
          </p:cNvPr>
          <p:cNvSpPr txBox="1"/>
          <p:nvPr/>
        </p:nvSpPr>
        <p:spPr>
          <a:xfrm>
            <a:off x="1138520" y="6307676"/>
            <a:ext cx="89629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indent="0">
              <a:buNone/>
            </a:pP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A.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Khataei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K. Bazargan, “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An Open Source Tool for Lossless Compression of Lookup Tables for Function Evaluation and Beyond,” in Proceedings of the 2024 ACM/SIGDA International Symposium on Field Programmable Gate Arrays (FPGA ’24), Monterey, CA, USA, 2024, pp. 2–11,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10.1145/3626202.3637575.</a:t>
            </a:r>
          </a:p>
        </p:txBody>
      </p:sp>
    </p:spTree>
    <p:extLst>
      <p:ext uri="{BB962C8B-B14F-4D97-AF65-F5344CB8AC3E}">
        <p14:creationId xmlns:p14="http://schemas.microsoft.com/office/powerpoint/2010/main" val="2785760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/>
              <p:nvPr/>
            </p:nvSpPr>
            <p:spPr>
              <a:xfrm>
                <a:off x="609602" y="936322"/>
                <a:ext cx="4801494" cy="47006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en-US" altLang="zh-TW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Lookup Table Decomposition</a:t>
                </a:r>
              </a:p>
              <a:p>
                <a:pPr lvl="1">
                  <a:lnSpc>
                    <a:spcPts val="3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6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6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bias</m:t>
                        </m:r>
                      </m:sub>
                    </m:sSub>
                  </m:oMath>
                </a14:m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基底表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): 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儲存每個子表的最小值</a:t>
                </a:r>
              </a:p>
              <a:p>
                <a:pPr lvl="1">
                  <a:lnSpc>
                    <a:spcPts val="3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6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6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st</m:t>
                        </m:r>
                      </m:sub>
                    </m:sSub>
                  </m:oMath>
                </a14:m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偏移表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): 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儲存原始數值扣除最小值</a:t>
                </a:r>
                <a:endParaRPr lang="en-US" altLang="zh-TW" sz="16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33400" lvl="1" indent="0">
                  <a:lnSpc>
                    <a:spcPts val="3000"/>
                  </a:lnSpc>
                  <a:buNone/>
                </a:pPr>
                <a:endParaRPr lang="en-US" altLang="zh-TW" sz="16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533400" lvl="1" indent="0">
                  <a:lnSpc>
                    <a:spcPts val="3000"/>
                  </a:lnSpc>
                  <a:buNone/>
                </a:pPr>
                <a:endParaRPr lang="en-US" altLang="zh-TW" sz="16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ts val="3000"/>
                  </a:lnSpc>
                </a:pPr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>
                  <a:lnSpc>
                    <a:spcPts val="3000"/>
                  </a:lnSpc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舉例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:</a:t>
                </a:r>
                <a:endParaRPr lang="en-US" altLang="zh-TW" sz="20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原始子表</a:t>
                </a:r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(T1)</a:t>
                </a: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[1000,1004,1009,1015]</a:t>
                </a:r>
                <a:endParaRPr lang="zh-TW" altLang="en-US" sz="18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[1] =1000</a:t>
                </a:r>
              </a:p>
              <a:p>
                <a:pPr lvl="1">
                  <a:lnSpc>
                    <a:spcPts val="3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8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st</m:t>
                        </m:r>
                      </m:sub>
                    </m:sSub>
                  </m:oMath>
                </a14:m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[1] =[0,4,9,15]</a:t>
                </a:r>
              </a:p>
              <a:p>
                <a:pPr marL="533400" lvl="1" indent="0">
                  <a:lnSpc>
                    <a:spcPts val="3000"/>
                  </a:lnSpc>
                  <a:buNone/>
                </a:pPr>
                <a:endParaRPr lang="zh-TW" altLang="en-US" sz="18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2" y="936322"/>
                <a:ext cx="4801494" cy="4700685"/>
              </a:xfrm>
              <a:prstGeom prst="rect">
                <a:avLst/>
              </a:prstGeom>
              <a:blipFill>
                <a:blip r:embed="rId3"/>
                <a:stretch>
                  <a:fillRect l="-2157" t="-2205" r="-10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B97D65FD-5407-3606-8E15-20B2163D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92" t="9354" r="7716" b="14186"/>
          <a:stretch/>
        </p:blipFill>
        <p:spPr>
          <a:xfrm>
            <a:off x="5411096" y="1007523"/>
            <a:ext cx="4110900" cy="2452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B5CB9FF-04E8-2288-5C30-6341AE1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978521"/>
                  </p:ext>
                </p:extLst>
              </p:nvPr>
            </p:nvGraphicFramePr>
            <p:xfrm>
              <a:off x="1395377" y="2312849"/>
              <a:ext cx="3211676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11676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ct val="125000"/>
                            </a:lnSpc>
                          </a:pPr>
                          <a:r>
                            <a:rPr lang="en-US" altLang="zh-TW" sz="1800" b="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Size(</a:t>
                          </a:r>
                          <a:r>
                            <a:rPr lang="en-US" altLang="zh-TW" sz="1800" b="0" i="1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T</a:t>
                          </a:r>
                          <a:r>
                            <a:rPr lang="en-US" altLang="zh-TW" sz="1800" b="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oMath>
                          </a14:m>
                          <a:endParaRPr lang="en-US" altLang="zh-TW" sz="1800" kern="100" baseline="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B5CB9FF-04E8-2288-5C30-6341AE1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978521"/>
                  </p:ext>
                </p:extLst>
              </p:nvPr>
            </p:nvGraphicFramePr>
            <p:xfrm>
              <a:off x="1395377" y="2312849"/>
              <a:ext cx="3211676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11676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b="-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C01CF859-0152-33DB-4F61-79E9B0F578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985047"/>
                  </p:ext>
                </p:extLst>
              </p:nvPr>
            </p:nvGraphicFramePr>
            <p:xfrm>
              <a:off x="1395377" y="2740840"/>
              <a:ext cx="3211676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11676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ct val="125000"/>
                            </a:lnSpc>
                          </a:pPr>
                          <a:r>
                            <a:rPr lang="en-US" altLang="zh-TW" sz="1800" b="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Size(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𝑏𝑖𝑎𝑠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b="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𝑏𝑖𝑎𝑠</m:t>
                                  </m:r>
                                </m:sub>
                              </m:sSub>
                            </m:oMath>
                          </a14:m>
                          <a:endParaRPr lang="en-US" altLang="zh-TW" sz="1800" kern="100" baseline="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C01CF859-0152-33DB-4F61-79E9B0F578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5985047"/>
                  </p:ext>
                </p:extLst>
              </p:nvPr>
            </p:nvGraphicFramePr>
            <p:xfrm>
              <a:off x="1395377" y="2740840"/>
              <a:ext cx="3211676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11676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b="-69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6B50BB-289A-D7B9-C864-34A54993FF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563509"/>
                  </p:ext>
                </p:extLst>
              </p:nvPr>
            </p:nvGraphicFramePr>
            <p:xfrm>
              <a:off x="1395377" y="3171571"/>
              <a:ext cx="3211676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11676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l">
                            <a:lnSpc>
                              <a:spcPct val="125000"/>
                            </a:lnSpc>
                          </a:pPr>
                          <a:r>
                            <a:rPr lang="en-US" altLang="zh-TW" sz="1800" b="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Size(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dirty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𝑠𝑡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b="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Arial" panose="020B0604020202020204" pitchFamily="34" charset="0"/>
                            </a:rPr>
                            <a:t>)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𝑠𝑡</m:t>
                                  </m:r>
                                </m:sub>
                              </m:sSub>
                            </m:oMath>
                          </a14:m>
                          <a:endParaRPr lang="en-US" altLang="zh-TW" sz="1800" kern="100" baseline="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3B6B50BB-289A-D7B9-C864-34A54993FF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563509"/>
                  </p:ext>
                </p:extLst>
              </p:nvPr>
            </p:nvGraphicFramePr>
            <p:xfrm>
              <a:off x="1395377" y="3171571"/>
              <a:ext cx="3211676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11676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b="-8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807616A1-EFBD-8E79-9FC6-B853792C0B9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6760"/>
          <a:stretch/>
        </p:blipFill>
        <p:spPr>
          <a:xfrm>
            <a:off x="5411096" y="3646518"/>
            <a:ext cx="4110900" cy="2452688"/>
          </a:xfrm>
          <a:prstGeom prst="rect">
            <a:avLst/>
          </a:prstGeom>
        </p:spPr>
      </p:pic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0FD65437-A3E6-A4FC-AA3C-BEF77EBB3F8C}"/>
              </a:ext>
            </a:extLst>
          </p:cNvPr>
          <p:cNvSpPr txBox="1"/>
          <p:nvPr/>
        </p:nvSpPr>
        <p:spPr>
          <a:xfrm>
            <a:off x="1160036" y="6365333"/>
            <a:ext cx="89629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indent="0">
              <a:buNone/>
            </a:pP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A.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Khataei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K. Bazargan, “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An Open Source Tool for Lossless Compression of Lookup Tables for Function Evaluation and Beyond,” in Proceedings of the 2024 ACM/SIGDA International Symposium on Field Programmable Gate Arrays (FPGA ’24), Monterey, CA, USA, 2024, pp. 2–11,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10.1145/3626202.3637575.</a:t>
            </a:r>
          </a:p>
        </p:txBody>
      </p:sp>
    </p:spTree>
    <p:extLst>
      <p:ext uri="{BB962C8B-B14F-4D97-AF65-F5344CB8AC3E}">
        <p14:creationId xmlns:p14="http://schemas.microsoft.com/office/powerpoint/2010/main" val="198094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/>
              <p:nvPr/>
            </p:nvSpPr>
            <p:spPr>
              <a:xfrm>
                <a:off x="609602" y="936323"/>
                <a:ext cx="8524873" cy="26890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en-US" altLang="zh-TW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Self-similarities(</a:t>
                </a:r>
                <a:r>
                  <a:rPr lang="zh-TW" altLang="en-US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壓縮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st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799200" lvl="2" indent="-342900">
                  <a:lnSpc>
                    <a:spcPct val="150000"/>
                  </a:lnSpc>
                  <a:buClr>
                    <a:srgbClr val="FF0000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sz="1800" dirty="0">
                    <a:latin typeface="Times New Roman" panose="02020603050405020304" pitchFamily="18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) = n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 </a:t>
                </a:r>
                <a:endParaRPr lang="en-US" altLang="zh-TW" sz="1800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pPr marL="799200" lvl="2" indent="-342900">
                  <a:lnSpc>
                    <a:spcPct val="150000"/>
                  </a:lnSpc>
                  <a:buClr>
                    <a:srgbClr val="FF0000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sz="1800" dirty="0">
                    <a:latin typeface="Times New Roman" panose="02020603050405020304" pitchFamily="18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𝑢𝑠𝑡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) = k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endParaRPr lang="en-US" altLang="zh-TW" sz="1800" dirty="0">
                  <a:latin typeface="Times New Roman" panose="02020603050405020304" pitchFamily="18" charset="0"/>
                </a:endParaRPr>
              </a:p>
              <a:p>
                <a:pPr marL="799200" lvl="2" indent="-342900">
                  <a:lnSpc>
                    <a:spcPct val="150000"/>
                  </a:lnSpc>
                  <a:buClr>
                    <a:srgbClr val="FF0000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sz="1800" dirty="0">
                    <a:latin typeface="Times New Roman" panose="02020603050405020304" pitchFamily="18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𝑖𝑑𝑥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) = n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𝑖𝑑𝑥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 </a:t>
                </a:r>
              </a:p>
              <a:p>
                <a:pPr marL="799200" lvl="2" indent="-342900">
                  <a:lnSpc>
                    <a:spcPct val="150000"/>
                  </a:lnSpc>
                  <a:buClr>
                    <a:srgbClr val="FF0000"/>
                  </a:buClr>
                  <a:buSzPct val="50000"/>
                  <a:buFont typeface="Wingdings" panose="05000000000000000000" pitchFamily="2" charset="2"/>
                  <a:buChar char="n"/>
                </a:pPr>
                <a:r>
                  <a:rPr lang="en-US" altLang="zh-TW" sz="1800" dirty="0">
                    <a:latin typeface="Times New Roman" panose="02020603050405020304" pitchFamily="18" charset="0"/>
                  </a:rPr>
                  <a:t>Size(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𝑟𝑠h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) = n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𝑟𝑠h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2" y="936323"/>
                <a:ext cx="8524873" cy="2689004"/>
              </a:xfrm>
              <a:prstGeom prst="rect">
                <a:avLst/>
              </a:prstGeom>
              <a:blipFill>
                <a:blip r:embed="rId3"/>
                <a:stretch>
                  <a:fillRect l="-1216" t="-38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DBD9265E-BDF1-4834-18CE-F0D28E948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38" y="1146017"/>
            <a:ext cx="4858381" cy="402224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B37031F-CC55-6B7C-FF26-1D7A8FC937F9}"/>
              </a:ext>
            </a:extLst>
          </p:cNvPr>
          <p:cNvSpPr/>
          <p:nvPr/>
        </p:nvSpPr>
        <p:spPr>
          <a:xfrm>
            <a:off x="8240358" y="1351677"/>
            <a:ext cx="1056040" cy="1585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版面配置區 6">
            <a:extLst>
              <a:ext uri="{FF2B5EF4-FFF2-40B4-BE49-F238E27FC236}">
                <a16:creationId xmlns:a16="http://schemas.microsoft.com/office/drawing/2014/main" id="{8E6D97D1-B855-785A-60F9-C1F643074512}"/>
              </a:ext>
            </a:extLst>
          </p:cNvPr>
          <p:cNvSpPr txBox="1"/>
          <p:nvPr/>
        </p:nvSpPr>
        <p:spPr>
          <a:xfrm>
            <a:off x="1138520" y="6324600"/>
            <a:ext cx="89629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indent="0">
              <a:buNone/>
            </a:pP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A.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Khataei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K. Bazargan, “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An Open Source Tool for Lossless Compression of Lookup Tables for Function Evaluation and Beyond,” in Proceedings of the 2024 ACM/SIGDA International Symposium on Field Programmable Gate Arrays (FPGA ’24), Monterey, CA, USA, 2024, pp. 2–11,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10.1145/3626202.3637575.</a:t>
            </a:r>
          </a:p>
        </p:txBody>
      </p:sp>
    </p:spTree>
    <p:extLst>
      <p:ext uri="{BB962C8B-B14F-4D97-AF65-F5344CB8AC3E}">
        <p14:creationId xmlns:p14="http://schemas.microsoft.com/office/powerpoint/2010/main" val="1286736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/>
              <p:nvPr/>
            </p:nvSpPr>
            <p:spPr>
              <a:xfrm>
                <a:off x="609602" y="914399"/>
                <a:ext cx="8524873" cy="5458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en-US" altLang="zh-TW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Higher-Bit Compression</a:t>
                </a:r>
              </a:p>
              <a:p>
                <a:pPr lvl="1">
                  <a:lnSpc>
                    <a:spcPts val="3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𝑙𝑏</m:t>
                        </m:r>
                      </m:sub>
                    </m:sSub>
                    <m:r>
                      <a:rPr lang="zh-TW" altLang="en-US" sz="18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不壓縮</a:t>
                </a:r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 </a:t>
                </a: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𝑇 </a:t>
                </a:r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&amp;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TW" sz="180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18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−</a:t>
                </a:r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1)</a:t>
                </a: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8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</a:t>
                </a: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每一筆資料保留、不壓縮的低位元數</a:t>
                </a:r>
              </a:p>
              <a:p>
                <a:pPr lvl="1">
                  <a:lnSpc>
                    <a:spcPts val="3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h𝑏</m:t>
                        </m:r>
                      </m:sub>
                    </m:sSub>
                  </m:oMath>
                </a14:m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進行分解與自相似性壓縮</a:t>
                </a:r>
                <a:r>
                  <a:rPr lang="en-US" altLang="zh-TW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 </a:t>
                </a: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𝑇 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TW" sz="18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ts val="3000"/>
                  </a:lnSpc>
                </a:pPr>
                <a:r>
                  <a:rPr lang="en-US" altLang="zh-TW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Multilevel Compression (</a:t>
                </a:r>
                <a:r>
                  <a:rPr lang="zh-TW" altLang="en-US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壓縮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再次壓縮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sz="1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𝑏𝑖𝑎𝑠</m:t>
                        </m:r>
                      </m:sub>
                    </m:sSub>
                  </m:oMath>
                </a14:m>
                <a:endParaRPr lang="zh-TW" altLang="en-US" sz="18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提高壓縮率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zh-TW" altLang="en-US" sz="18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增加解碼硬體成本</a:t>
                </a:r>
                <a:endParaRPr lang="en-US" altLang="zh-TW" sz="18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舉例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:</a:t>
                </a:r>
              </a:p>
              <a:p>
                <a:pPr lvl="1"/>
                <a:r>
                  <a:rPr lang="en-US" altLang="zh-TW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      = 10110110</a:t>
                </a:r>
                <a:r>
                  <a:rPr lang="zh-TW" altLang="en-US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、且 </a:t>
                </a:r>
                <a:r>
                  <a:rPr lang="en-US" altLang="zh-TW" sz="18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wl</a:t>
                </a:r>
                <a:r>
                  <a:rPr lang="en-US" altLang="zh-TW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​ = 3</a:t>
                </a:r>
                <a:endParaRPr lang="zh-TW" altLang="en-US" sz="18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𝑙𝑏</m:t>
                        </m:r>
                      </m:sub>
                    </m:sSub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sz="1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10110110 &amp; 00000111 = 00000110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h𝑏</m:t>
                        </m:r>
                      </m:sub>
                    </m:sSub>
                    <m:r>
                      <a:rPr lang="en-US" altLang="zh-TW" sz="1800" b="0" i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10110110 &gt;&gt; 3 = 00010110</a:t>
                </a:r>
                <a:endParaRPr lang="zh-TW" altLang="en-US" sz="18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2" y="914399"/>
                <a:ext cx="8524873" cy="5458719"/>
              </a:xfrm>
              <a:prstGeom prst="rect">
                <a:avLst/>
              </a:prstGeom>
              <a:blipFill>
                <a:blip r:embed="rId3"/>
                <a:stretch>
                  <a:fillRect l="-1216" t="-18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版面配置區 6">
            <a:extLst>
              <a:ext uri="{FF2B5EF4-FFF2-40B4-BE49-F238E27FC236}">
                <a16:creationId xmlns:a16="http://schemas.microsoft.com/office/drawing/2014/main" id="{C53DBC77-3931-771A-8FB0-A50CCC0D6B34}"/>
              </a:ext>
            </a:extLst>
          </p:cNvPr>
          <p:cNvSpPr txBox="1"/>
          <p:nvPr/>
        </p:nvSpPr>
        <p:spPr>
          <a:xfrm>
            <a:off x="1138520" y="6307676"/>
            <a:ext cx="89629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indent="0">
              <a:buNone/>
            </a:pP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A.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Khataei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K. Bazargan, “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An Open Source Tool for Lossless Compression of Lookup Tables for Function Evaluation and Beyond,” in Proceedings of the 2024 ACM/SIGDA International Symposium on Field Programmable Gate Arrays (FPGA ’24), Monterey, CA, USA, 2024, pp. 2–11,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10.1145/3626202.3637575.</a:t>
            </a:r>
          </a:p>
        </p:txBody>
      </p:sp>
    </p:spTree>
    <p:extLst>
      <p:ext uri="{BB962C8B-B14F-4D97-AF65-F5344CB8AC3E}">
        <p14:creationId xmlns:p14="http://schemas.microsoft.com/office/powerpoint/2010/main" val="2666225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/>
              <p:nvPr/>
            </p:nvSpPr>
            <p:spPr>
              <a:xfrm>
                <a:off x="609602" y="925157"/>
                <a:ext cx="9093796" cy="5458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zh-TW" altLang="en-US" sz="20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完整架構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zh-TW" altLang="en-US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T(LUT)</a:t>
                </a:r>
                <a:r>
                  <a:rPr lang="zh-TW" altLang="en-US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𝑤</m:t>
                        </m:r>
                      </m:e>
                      <m:sub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TW" altLang="en-US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𝑤</m:t>
                        </m:r>
                      </m:e>
                      <m:sub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TW" altLang="en-US" sz="18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當作輸入，產生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𝑙𝑏</m:t>
                        </m:r>
                      </m:sub>
                    </m:sSub>
                  </m:oMath>
                </a14:m>
                <a:r>
                  <a:rPr lang="zh-TW" altLang="en-US" sz="1800" i="1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𝑏𝑖𝑎𝑠</m:t>
                        </m:r>
                      </m:sub>
                    </m:sSub>
                  </m:oMath>
                </a14:m>
                <a:r>
                  <a:rPr lang="zh-TW" altLang="en-US" sz="1800" i="1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𝑟𝑠h</m:t>
                        </m:r>
                      </m:sub>
                    </m:sSub>
                  </m:oMath>
                </a14:m>
                <a:r>
                  <a:rPr lang="zh-TW" altLang="en-US" sz="1800" i="1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𝑖𝑑𝑥</m:t>
                        </m:r>
                      </m:sub>
                    </m:sSub>
                  </m:oMath>
                </a14:m>
                <a:r>
                  <a:rPr lang="zh-TW" altLang="en-US" sz="1800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8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𝑢𝑠𝑡</m:t>
                        </m:r>
                      </m:sub>
                    </m:sSub>
                  </m:oMath>
                </a14:m>
                <a:r>
                  <a:rPr lang="zh-TW" altLang="en-US" sz="1800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五張壓縮表</a:t>
                </a:r>
                <a:endParaRPr lang="en-US" altLang="zh-TW" sz="1800" kern="100" dirty="0">
                  <a:latin typeface="Times New Roman" panose="02020603050405020304" pitchFamily="18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2" y="925157"/>
                <a:ext cx="9093796" cy="5458719"/>
              </a:xfrm>
              <a:prstGeom prst="rect">
                <a:avLst/>
              </a:prstGeom>
              <a:blipFill>
                <a:blip r:embed="rId3"/>
                <a:stretch>
                  <a:fillRect l="-1139" t="-18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DD3BB969-763D-CADA-FB76-580EF01E47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4" t="7103" r="884" b="12087"/>
          <a:stretch/>
        </p:blipFill>
        <p:spPr>
          <a:xfrm>
            <a:off x="0" y="2170975"/>
            <a:ext cx="9906000" cy="3466032"/>
          </a:xfrm>
          <a:prstGeom prst="rect">
            <a:avLst/>
          </a:prstGeom>
        </p:spPr>
      </p:pic>
      <p:sp>
        <p:nvSpPr>
          <p:cNvPr id="4" name="文字版面配置區 6">
            <a:extLst>
              <a:ext uri="{FF2B5EF4-FFF2-40B4-BE49-F238E27FC236}">
                <a16:creationId xmlns:a16="http://schemas.microsoft.com/office/drawing/2014/main" id="{FC6F27B3-F52B-FEDA-5C93-6AAABEB4D735}"/>
              </a:ext>
            </a:extLst>
          </p:cNvPr>
          <p:cNvSpPr txBox="1"/>
          <p:nvPr/>
        </p:nvSpPr>
        <p:spPr>
          <a:xfrm>
            <a:off x="1138520" y="6307676"/>
            <a:ext cx="89629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indent="0">
              <a:buNone/>
            </a:pP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A.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Khataei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K. Bazargan, “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An Open Source Tool for Lossless Compression of Lookup Tables for Function Evaluation and Beyond,” in Proceedings of the 2024 ACM/SIGDA International Symposium on Field Programmable Gate Arrays (FPGA ’24), Monterey, CA, USA, 2024, pp. 2–11,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10.1145/3626202.3637575.</a:t>
            </a:r>
          </a:p>
        </p:txBody>
      </p:sp>
    </p:spTree>
    <p:extLst>
      <p:ext uri="{BB962C8B-B14F-4D97-AF65-F5344CB8AC3E}">
        <p14:creationId xmlns:p14="http://schemas.microsoft.com/office/powerpoint/2010/main" val="114591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25157"/>
            <a:ext cx="9093796" cy="545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論文實驗結果：壓縮率與硬體成本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32C210-E3AB-EDCE-1FA8-20E63621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99" y="1378634"/>
            <a:ext cx="9210499" cy="5046425"/>
          </a:xfrm>
          <a:prstGeom prst="rect">
            <a:avLst/>
          </a:prstGeom>
        </p:spPr>
      </p:pic>
      <p:sp>
        <p:nvSpPr>
          <p:cNvPr id="5" name="圓角矩形 5">
            <a:extLst>
              <a:ext uri="{FF2B5EF4-FFF2-40B4-BE49-F238E27FC236}">
                <a16:creationId xmlns:a16="http://schemas.microsoft.com/office/drawing/2014/main" id="{16BC6FE2-A8BF-4062-1B05-2A28EDE7C8BB}"/>
              </a:ext>
            </a:extLst>
          </p:cNvPr>
          <p:cNvSpPr/>
          <p:nvPr/>
        </p:nvSpPr>
        <p:spPr>
          <a:xfrm>
            <a:off x="2665845" y="2743200"/>
            <a:ext cx="6644640" cy="1575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11">
            <a:extLst>
              <a:ext uri="{FF2B5EF4-FFF2-40B4-BE49-F238E27FC236}">
                <a16:creationId xmlns:a16="http://schemas.microsoft.com/office/drawing/2014/main" id="{83E07C13-7E05-A13F-0628-B6DF1AB0086D}"/>
              </a:ext>
            </a:extLst>
          </p:cNvPr>
          <p:cNvSpPr/>
          <p:nvPr/>
        </p:nvSpPr>
        <p:spPr>
          <a:xfrm>
            <a:off x="2665845" y="3602736"/>
            <a:ext cx="6644640" cy="1575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12">
            <a:extLst>
              <a:ext uri="{FF2B5EF4-FFF2-40B4-BE49-F238E27FC236}">
                <a16:creationId xmlns:a16="http://schemas.microsoft.com/office/drawing/2014/main" id="{7048CFC9-9937-770C-9CCC-C522AE88E13A}"/>
              </a:ext>
            </a:extLst>
          </p:cNvPr>
          <p:cNvSpPr/>
          <p:nvPr/>
        </p:nvSpPr>
        <p:spPr>
          <a:xfrm>
            <a:off x="2665845" y="4462272"/>
            <a:ext cx="6644640" cy="1575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13">
            <a:extLst>
              <a:ext uri="{FF2B5EF4-FFF2-40B4-BE49-F238E27FC236}">
                <a16:creationId xmlns:a16="http://schemas.microsoft.com/office/drawing/2014/main" id="{4C6FEC2F-0CD7-1616-1A78-45836D03841C}"/>
              </a:ext>
            </a:extLst>
          </p:cNvPr>
          <p:cNvSpPr/>
          <p:nvPr/>
        </p:nvSpPr>
        <p:spPr>
          <a:xfrm>
            <a:off x="2665845" y="5321808"/>
            <a:ext cx="6644640" cy="1575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14">
            <a:extLst>
              <a:ext uri="{FF2B5EF4-FFF2-40B4-BE49-F238E27FC236}">
                <a16:creationId xmlns:a16="http://schemas.microsoft.com/office/drawing/2014/main" id="{415C00B6-118C-1D7C-D615-04961E9F498D}"/>
              </a:ext>
            </a:extLst>
          </p:cNvPr>
          <p:cNvSpPr/>
          <p:nvPr/>
        </p:nvSpPr>
        <p:spPr>
          <a:xfrm>
            <a:off x="2708517" y="6181344"/>
            <a:ext cx="6644640" cy="15755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版面配置區 6">
            <a:extLst>
              <a:ext uri="{FF2B5EF4-FFF2-40B4-BE49-F238E27FC236}">
                <a16:creationId xmlns:a16="http://schemas.microsoft.com/office/drawing/2014/main" id="{30CE4442-43F3-3F46-8697-826F36202D0E}"/>
              </a:ext>
            </a:extLst>
          </p:cNvPr>
          <p:cNvSpPr txBox="1"/>
          <p:nvPr/>
        </p:nvSpPr>
        <p:spPr>
          <a:xfrm>
            <a:off x="1138520" y="6307676"/>
            <a:ext cx="896291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indent="0">
              <a:buNone/>
            </a:pP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A.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Khataei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K. Bazargan, “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CompressedLUT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An Open Source Tool for Lossless Compression of Lookup Tables for Function Evaluation and Beyond,” in Proceedings of the 2024 ACM/SIGDA International Symposium on Field Programmable Gate Arrays (FPGA ’24), Monterey, CA, USA, 2024, pp. 2–11, </a:t>
            </a:r>
            <a:r>
              <a:rPr lang="en-US" altLang="zh-TW" sz="9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doi</a:t>
            </a:r>
            <a:r>
              <a:rPr lang="en-US" altLang="zh-TW" sz="9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10.1145/3626202.3637575.</a:t>
            </a:r>
          </a:p>
        </p:txBody>
      </p:sp>
    </p:spTree>
    <p:extLst>
      <p:ext uri="{BB962C8B-B14F-4D97-AF65-F5344CB8AC3E}">
        <p14:creationId xmlns:p14="http://schemas.microsoft.com/office/powerpoint/2010/main" val="104616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25157"/>
            <a:ext cx="9093796" cy="545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Comparison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037649C-84B6-B587-4788-F0F2F3F44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570672"/>
              </p:ext>
            </p:extLst>
          </p:nvPr>
        </p:nvGraphicFramePr>
        <p:xfrm>
          <a:off x="666822" y="1848430"/>
          <a:ext cx="8979355" cy="40844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4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325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CompressedLUT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論文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619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研究對象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數學函數、神經網路激活函數及其他一般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LUT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顯示器校正後的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 Gamma LUT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619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原始問題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太大，占用大量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FPGA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邏輯與記憶體資源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資料量大，傳輸批次多，燒錄時間長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716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主要目標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降低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儲存容量與硬體</a:t>
                      </a:r>
                      <a:r>
                        <a:rPr lang="zh-TW" alt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降低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LUT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傳輸資料量與燒錄</a:t>
                      </a:r>
                      <a:r>
                        <a:rPr lang="zh-TW" alt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325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壓縮位置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PC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端離線壓縮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MCU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壓縮資料並傳送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325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解碼位置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FPGA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硬體即時解碼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AD board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韌體端解碼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1913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評估指標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Final Size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Slice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LUT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FF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Delay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TPS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壓縮率、傳輸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bytes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、封包數、解碼時間、燒錄時間、</a:t>
                      </a:r>
                      <a:r>
                        <a:rPr lang="zh-TW" altLang="en-US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總校正時間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571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最終效益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降低硬體成本並提高單位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Slice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吞吐量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縮短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寫入流程，提升校正生產效率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246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402690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積體電路控制板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480356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積體電路控制板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85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915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5002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242851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872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語音於單台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Jetson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即時轉成精確文字，自動補全醫療術語，全程離線執行。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核心目標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離線：單機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Jetson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執行，不依賴雲端與額外伺服器</a:t>
            </a: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精確：語意分析補全藥名、疾病等醫療術語</a:t>
            </a: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即時：分段出稿，邊講邊產出轉譯結果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輔助語音輸入</a:t>
            </a:r>
          </a:p>
        </p:txBody>
      </p:sp>
    </p:spTree>
    <p:extLst>
      <p:ext uri="{BB962C8B-B14F-4D97-AF65-F5344CB8AC3E}">
        <p14:creationId xmlns:p14="http://schemas.microsoft.com/office/powerpoint/2010/main" val="3117872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語音→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ASR→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語意分析／潤詞→精確轉錄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·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術語補全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全流程單機離線</a:t>
            </a: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無雲端、無額外伺服器</a:t>
            </a: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醫療詞庫＋中英夾雜</a:t>
            </a: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藥名、疾病、檢驗值</a:t>
            </a:r>
            <a:endParaRPr lang="en-US" altLang="zh-TW" sz="1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系統架構、特性</a:t>
            </a:r>
          </a:p>
        </p:txBody>
      </p:sp>
    </p:spTree>
    <p:extLst>
      <p:ext uri="{BB962C8B-B14F-4D97-AF65-F5344CB8AC3E}">
        <p14:creationId xmlns:p14="http://schemas.microsoft.com/office/powerpoint/2010/main" val="1857607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純轉譯：診間錄音自動成稿，作備忘與醫病溝通佐證，降低口頭紀錄爭議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語音輸入輔助：醫護以語音快速帶入文字欄位與衛教內容，減少打字負擔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電子資料串接：導入病歷相關資訊，由轉錄結果自動生成結構化草稿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外語即時翻譯：跨語言問診即時雙語顯示，輔助看診溝通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衛教可讀版：口語衛教自動整理成病患易懂的書面版本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護理交接摘要：照護對話自動彙整成交接摘要，加速班次交接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擴展方向</a:t>
            </a:r>
          </a:p>
        </p:txBody>
      </p:sp>
    </p:spTree>
    <p:extLst>
      <p:ext uri="{BB962C8B-B14F-4D97-AF65-F5344CB8AC3E}">
        <p14:creationId xmlns:p14="http://schemas.microsoft.com/office/powerpoint/2010/main" val="364567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301764</TotalTime>
  <Words>2392</Words>
  <Application>Microsoft Office PowerPoint</Application>
  <PresentationFormat>A4 紙張 (210x297 公釐)</PresentationFormat>
  <Paragraphs>304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7" baseType="lpstr">
      <vt:lpstr>Google Sans Text</vt:lpstr>
      <vt:lpstr>Noto Sans Symbols</vt:lpstr>
      <vt:lpstr>新細明體</vt:lpstr>
      <vt:lpstr>標楷體</vt:lpstr>
      <vt:lpstr>Arial</vt:lpstr>
      <vt:lpstr>Calibri</vt:lpstr>
      <vt:lpstr>Cambria Math</vt:lpstr>
      <vt:lpstr>Times New Roman</vt:lpstr>
      <vt:lpstr>Wingdings</vt:lpstr>
      <vt:lpstr>template</vt:lpstr>
      <vt:lpstr>Progress Report</vt:lpstr>
      <vt:lpstr>本次進度: Monitor</vt:lpstr>
      <vt:lpstr>本次進度: Monitor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本次進度: Monitor - Performance</vt:lpstr>
      <vt:lpstr>下次進度: Monitor</vt:lpstr>
      <vt:lpstr>下次進度: Monitor</vt:lpstr>
      <vt:lpstr>AI輔助語音輸入</vt:lpstr>
      <vt:lpstr>系統架構、特性</vt:lpstr>
      <vt:lpstr>擴展方向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2395</cp:revision>
  <dcterms:created xsi:type="dcterms:W3CDTF">2003-02-17T16:04:03Z</dcterms:created>
  <dcterms:modified xsi:type="dcterms:W3CDTF">2026-08-11T05:47:08Z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