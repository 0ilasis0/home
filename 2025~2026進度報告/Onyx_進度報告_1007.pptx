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2"/>
  </p:notesMasterIdLst>
  <p:sldIdLst>
    <p:sldId id="277" r:id="rId2"/>
    <p:sldId id="1733" r:id="rId3"/>
    <p:sldId id="1766" r:id="rId4"/>
    <p:sldId id="1767" r:id="rId5"/>
    <p:sldId id="1768" r:id="rId6"/>
    <p:sldId id="1769" r:id="rId7"/>
    <p:sldId id="1770" r:id="rId8"/>
    <p:sldId id="1731" r:id="rId9"/>
    <p:sldId id="1746" r:id="rId10"/>
    <p:sldId id="1778" r:id="rId11"/>
    <p:sldId id="1783" r:id="rId12"/>
    <p:sldId id="1784" r:id="rId13"/>
    <p:sldId id="1779" r:id="rId14"/>
    <p:sldId id="1780" r:id="rId15"/>
    <p:sldId id="1781" r:id="rId16"/>
    <p:sldId id="1782" r:id="rId17"/>
    <p:sldId id="1785" r:id="rId18"/>
    <p:sldId id="1786" r:id="rId19"/>
    <p:sldId id="1750" r:id="rId20"/>
    <p:sldId id="286" r:id="rId21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33"/>
            <p14:sldId id="1766"/>
            <p14:sldId id="1767"/>
            <p14:sldId id="1768"/>
            <p14:sldId id="1769"/>
            <p14:sldId id="1770"/>
            <p14:sldId id="1731"/>
          </p14:sldIdLst>
        </p14:section>
        <p14:section name="JS1500" id="{3F90DB17-D0DE-4CE1-9751-0249A1C3B38D}">
          <p14:sldIdLst>
            <p14:sldId id="1746"/>
            <p14:sldId id="1778"/>
            <p14:sldId id="1783"/>
            <p14:sldId id="1784"/>
            <p14:sldId id="1779"/>
            <p14:sldId id="1780"/>
            <p14:sldId id="1781"/>
            <p14:sldId id="1782"/>
            <p14:sldId id="1785"/>
            <p14:sldId id="1786"/>
            <p14:sldId id="1750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FF9900"/>
    <a:srgbClr val="00B050"/>
    <a:srgbClr val="0057C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21" autoAdjust="0"/>
    <p:restoredTop sz="95153" autoAdjust="0"/>
  </p:normalViewPr>
  <p:slideViewPr>
    <p:cSldViewPr snapToGrid="0">
      <p:cViewPr varScale="1">
        <p:scale>
          <a:sx n="98" d="100"/>
          <a:sy n="98" d="100"/>
        </p:scale>
        <p:origin x="46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8692\Desktop\resn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8692\Desktop\resn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8692\Desktop\resn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8692\Desktop\resn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FP16</a:t>
            </a:r>
            <a:endParaRPr lang="zh-TW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工作表1!$A$3</c:f>
              <c:strCache>
                <c:ptCount val="1"/>
                <c:pt idx="0">
                  <c:v>Orin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工作表1!$B$2:$J$2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工作表1!$B$3:$J$3</c:f>
              <c:numCache>
                <c:formatCode>0.00_);[Red]\(0.00\)</c:formatCode>
                <c:ptCount val="9"/>
                <c:pt idx="0">
                  <c:v>1118.7</c:v>
                </c:pt>
                <c:pt idx="1">
                  <c:v>1615.1780000000001</c:v>
                </c:pt>
                <c:pt idx="2">
                  <c:v>1917.856</c:v>
                </c:pt>
                <c:pt idx="3">
                  <c:v>2083.6559999999999</c:v>
                </c:pt>
                <c:pt idx="4">
                  <c:v>2188.9279999999999</c:v>
                </c:pt>
                <c:pt idx="5">
                  <c:v>2321.7055999999998</c:v>
                </c:pt>
                <c:pt idx="6">
                  <c:v>2312.0832</c:v>
                </c:pt>
                <c:pt idx="7">
                  <c:v>2382.4895999999999</c:v>
                </c:pt>
                <c:pt idx="8">
                  <c:v>2418.48576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EA-40F4-98BC-7C2D0E6EE0EF}"/>
            </c:ext>
          </c:extLst>
        </c:ser>
        <c:ser>
          <c:idx val="1"/>
          <c:order val="1"/>
          <c:tx>
            <c:strRef>
              <c:f>工作表1!$A$4</c:f>
              <c:strCache>
                <c:ptCount val="1"/>
                <c:pt idx="0">
                  <c:v>Thor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工作表1!$B$2:$J$2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工作表1!$B$4:$J$4</c:f>
              <c:numCache>
                <c:formatCode>0.00_);[Red]\(0.00\)</c:formatCode>
                <c:ptCount val="9"/>
                <c:pt idx="0">
                  <c:v>1883.3</c:v>
                </c:pt>
                <c:pt idx="1">
                  <c:v>2846.28</c:v>
                </c:pt>
                <c:pt idx="2">
                  <c:v>4392.24</c:v>
                </c:pt>
                <c:pt idx="3">
                  <c:v>5155.4799999999996</c:v>
                </c:pt>
                <c:pt idx="4">
                  <c:v>5642.9120000000003</c:v>
                </c:pt>
                <c:pt idx="5">
                  <c:v>5098.2079999999996</c:v>
                </c:pt>
                <c:pt idx="6">
                  <c:v>4594.1440000000002</c:v>
                </c:pt>
                <c:pt idx="7">
                  <c:v>4467.7632000000003</c:v>
                </c:pt>
                <c:pt idx="8">
                  <c:v>4540.7232000000004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EA-40F4-98BC-7C2D0E6EE0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7852592"/>
        <c:axId val="1946643968"/>
      </c:lineChart>
      <c:lineChart>
        <c:grouping val="standard"/>
        <c:varyColors val="0"/>
        <c:ser>
          <c:idx val="2"/>
          <c:order val="2"/>
          <c:tx>
            <c:strRef>
              <c:f>工作表1!$A$5</c:f>
              <c:strCache>
                <c:ptCount val="1"/>
                <c:pt idx="0">
                  <c:v>倍率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工作表1!$B$2:$J$2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工作表1!$B$5:$J$5</c:f>
              <c:numCache>
                <c:formatCode>0.00_);[Red]\(0.00\)</c:formatCode>
                <c:ptCount val="9"/>
                <c:pt idx="0">
                  <c:v>1.68347188701171</c:v>
                </c:pt>
                <c:pt idx="1">
                  <c:v>1.7622082519697519</c:v>
                </c:pt>
                <c:pt idx="2">
                  <c:v>2.2901823703135165</c:v>
                </c:pt>
                <c:pt idx="3">
                  <c:v>2.47424718859543</c:v>
                </c:pt>
                <c:pt idx="4">
                  <c:v>2.5779340389450911</c:v>
                </c:pt>
                <c:pt idx="5">
                  <c:v>2.1958890911922682</c:v>
                </c:pt>
                <c:pt idx="6">
                  <c:v>1.9870150001522437</c:v>
                </c:pt>
                <c:pt idx="7">
                  <c:v>1.8752498227064667</c:v>
                </c:pt>
                <c:pt idx="8">
                  <c:v>1.8775066924520574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EA-40F4-98BC-7C2D0E6EE0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9840064"/>
        <c:axId val="1675439456"/>
      </c:lineChart>
      <c:catAx>
        <c:axId val="1947852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46643968"/>
        <c:crosses val="autoZero"/>
        <c:auto val="1"/>
        <c:lblAlgn val="ctr"/>
        <c:lblOffset val="100"/>
        <c:noMultiLvlLbl val="0"/>
      </c:catAx>
      <c:valAx>
        <c:axId val="194664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47852592"/>
        <c:crosses val="autoZero"/>
        <c:crossBetween val="between"/>
      </c:valAx>
      <c:valAx>
        <c:axId val="1675439456"/>
        <c:scaling>
          <c:orientation val="minMax"/>
        </c:scaling>
        <c:delete val="0"/>
        <c:axPos val="r"/>
        <c:numFmt formatCode="0.00_);[Red]\(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69840064"/>
        <c:crosses val="max"/>
        <c:crossBetween val="between"/>
      </c:valAx>
      <c:catAx>
        <c:axId val="18698400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75439456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FP8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工作表1!$A$9</c:f>
              <c:strCache>
                <c:ptCount val="1"/>
                <c:pt idx="0">
                  <c:v>Orin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工作表1!$B$8:$J$8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工作表1!$B$9:$J$9</c:f>
              <c:numCache>
                <c:formatCode>0.00_);[Red]\(0.00\)</c:formatCode>
                <c:ptCount val="9"/>
                <c:pt idx="0">
                  <c:v>615.16300000000001</c:v>
                </c:pt>
                <c:pt idx="1">
                  <c:v>813.25800000000004</c:v>
                </c:pt>
                <c:pt idx="2">
                  <c:v>956.55200000000002</c:v>
                </c:pt>
                <c:pt idx="3">
                  <c:v>1032.6959999999999</c:v>
                </c:pt>
                <c:pt idx="4">
                  <c:v>1064.376</c:v>
                </c:pt>
                <c:pt idx="5">
                  <c:v>1117.1679999999999</c:v>
                </c:pt>
                <c:pt idx="6">
                  <c:v>1072.0576000000001</c:v>
                </c:pt>
                <c:pt idx="7">
                  <c:v>1145.53088</c:v>
                </c:pt>
                <c:pt idx="8">
                  <c:v>1122.82368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47-441C-AF29-DC4792ADF33F}"/>
            </c:ext>
          </c:extLst>
        </c:ser>
        <c:ser>
          <c:idx val="1"/>
          <c:order val="1"/>
          <c:tx>
            <c:strRef>
              <c:f>工作表1!$A$10</c:f>
              <c:strCache>
                <c:ptCount val="1"/>
                <c:pt idx="0">
                  <c:v>Thor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工作表1!$B$8:$J$8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工作表1!$B$10:$J$10</c:f>
              <c:numCache>
                <c:formatCode>0.00_);[Red]\(0.00\)</c:formatCode>
                <c:ptCount val="9"/>
                <c:pt idx="0">
                  <c:v>1234.76</c:v>
                </c:pt>
                <c:pt idx="1">
                  <c:v>1911.318</c:v>
                </c:pt>
                <c:pt idx="2">
                  <c:v>2482.1480000000001</c:v>
                </c:pt>
                <c:pt idx="3">
                  <c:v>2594.8319999999999</c:v>
                </c:pt>
                <c:pt idx="4">
                  <c:v>2436.2399999999998</c:v>
                </c:pt>
                <c:pt idx="5">
                  <c:v>2239.3951999999999</c:v>
                </c:pt>
                <c:pt idx="6">
                  <c:v>1781.7919999999999</c:v>
                </c:pt>
                <c:pt idx="7">
                  <c:v>2258.4063999999998</c:v>
                </c:pt>
                <c:pt idx="8">
                  <c:v>2229.2147199999999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47-441C-AF29-DC4792ADF3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7852592"/>
        <c:axId val="1946643968"/>
      </c:lineChart>
      <c:lineChart>
        <c:grouping val="standard"/>
        <c:varyColors val="0"/>
        <c:ser>
          <c:idx val="2"/>
          <c:order val="2"/>
          <c:tx>
            <c:strRef>
              <c:f>工作表1!$A$11</c:f>
              <c:strCache>
                <c:ptCount val="1"/>
                <c:pt idx="0">
                  <c:v>倍率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工作表1!$B$8:$J$8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工作表1!$B$11:$J$11</c:f>
              <c:numCache>
                <c:formatCode>0.00_);[Red]\(0.00\)</c:formatCode>
                <c:ptCount val="9"/>
                <c:pt idx="0">
                  <c:v>2.0072078457254419</c:v>
                </c:pt>
                <c:pt idx="1">
                  <c:v>2.350198829891621</c:v>
                </c:pt>
                <c:pt idx="2">
                  <c:v>2.5948908161814517</c:v>
                </c:pt>
                <c:pt idx="3">
                  <c:v>2.5126774965720795</c:v>
                </c:pt>
                <c:pt idx="4">
                  <c:v>2.2888903921170711</c:v>
                </c:pt>
                <c:pt idx="5">
                  <c:v>2.00452859372986</c:v>
                </c:pt>
                <c:pt idx="6">
                  <c:v>1.6620300998752304</c:v>
                </c:pt>
                <c:pt idx="7">
                  <c:v>1.9714932521068309</c:v>
                </c:pt>
                <c:pt idx="8">
                  <c:v>1.9853648971849258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47-441C-AF29-DC4792ADF3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9840064"/>
        <c:axId val="1675439456"/>
      </c:lineChart>
      <c:catAx>
        <c:axId val="19478525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46643968"/>
        <c:crosses val="autoZero"/>
        <c:auto val="1"/>
        <c:lblAlgn val="ctr"/>
        <c:lblOffset val="100"/>
        <c:noMultiLvlLbl val="0"/>
      </c:catAx>
      <c:valAx>
        <c:axId val="194664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47852592"/>
        <c:crosses val="autoZero"/>
        <c:crossBetween val="between"/>
      </c:valAx>
      <c:valAx>
        <c:axId val="1675439456"/>
        <c:scaling>
          <c:orientation val="minMax"/>
        </c:scaling>
        <c:delete val="0"/>
        <c:axPos val="r"/>
        <c:numFmt formatCode="0.00_);[Red]\(0.00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69840064"/>
        <c:crosses val="max"/>
        <c:crossBetween val="between"/>
      </c:valAx>
      <c:catAx>
        <c:axId val="186984006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675439456"/>
        <c:crosses val="max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INT8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工作表1!$A$15</c:f>
              <c:strCache>
                <c:ptCount val="1"/>
                <c:pt idx="0">
                  <c:v>Orin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工作表1!$B$14:$J$14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工作表1!$B$15:$J$15</c:f>
              <c:numCache>
                <c:formatCode>0.00_);[Red]\(0.00\)</c:formatCode>
                <c:ptCount val="9"/>
                <c:pt idx="0">
                  <c:v>1648.99</c:v>
                </c:pt>
                <c:pt idx="1">
                  <c:v>2671.42</c:v>
                </c:pt>
                <c:pt idx="2">
                  <c:v>3454.9920000000002</c:v>
                </c:pt>
                <c:pt idx="3">
                  <c:v>3949.192</c:v>
                </c:pt>
                <c:pt idx="4">
                  <c:v>4291.1679999999997</c:v>
                </c:pt>
                <c:pt idx="5">
                  <c:v>4535.7439999999997</c:v>
                </c:pt>
                <c:pt idx="6">
                  <c:v>4661.6895999999997</c:v>
                </c:pt>
                <c:pt idx="7">
                  <c:v>4543.2191999999995</c:v>
                </c:pt>
                <c:pt idx="8">
                  <c:v>4452.9152000000004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BA-4CD7-B472-94686BEA105A}"/>
            </c:ext>
          </c:extLst>
        </c:ser>
        <c:ser>
          <c:idx val="1"/>
          <c:order val="1"/>
          <c:tx>
            <c:strRef>
              <c:f>工作表1!$A$16</c:f>
              <c:strCache>
                <c:ptCount val="1"/>
                <c:pt idx="0">
                  <c:v>Thor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工作表1!$B$14:$J$14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工作表1!$B$16:$J$16</c:f>
              <c:numCache>
                <c:formatCode>0.00_);[Red]\(0.00\)</c:formatCode>
                <c:ptCount val="9"/>
                <c:pt idx="0">
                  <c:v>2401.77</c:v>
                </c:pt>
                <c:pt idx="1">
                  <c:v>3038.7</c:v>
                </c:pt>
                <c:pt idx="2">
                  <c:v>3794.42</c:v>
                </c:pt>
                <c:pt idx="3">
                  <c:v>4107</c:v>
                </c:pt>
                <c:pt idx="4">
                  <c:v>3758.1120000000001</c:v>
                </c:pt>
                <c:pt idx="5">
                  <c:v>3468.2559999999999</c:v>
                </c:pt>
                <c:pt idx="6">
                  <c:v>3358.7392</c:v>
                </c:pt>
                <c:pt idx="7">
                  <c:v>3226.1248000000001</c:v>
                </c:pt>
                <c:pt idx="8">
                  <c:v>3217.5104000000001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BA-4CD7-B472-94686BEA10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7852592"/>
        <c:axId val="1946643968"/>
      </c:lineChart>
      <c:lineChart>
        <c:grouping val="standard"/>
        <c:varyColors val="0"/>
        <c:ser>
          <c:idx val="2"/>
          <c:order val="2"/>
          <c:tx>
            <c:strRef>
              <c:f>工作表1!$A$17</c:f>
              <c:strCache>
                <c:ptCount val="1"/>
                <c:pt idx="0">
                  <c:v>倍率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工作表1!$B$14:$J$14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工作表1!$B$17:$J$17</c:f>
              <c:numCache>
                <c:formatCode>0.00_);[Red]\(0.00\)</c:formatCode>
                <c:ptCount val="9"/>
                <c:pt idx="0">
                  <c:v>1.4565097423271214</c:v>
                </c:pt>
                <c:pt idx="1">
                  <c:v>1.1374849331067372</c:v>
                </c:pt>
                <c:pt idx="2">
                  <c:v>1.0982427745129366</c:v>
                </c:pt>
                <c:pt idx="3">
                  <c:v>1.0399595664125725</c:v>
                </c:pt>
                <c:pt idx="4">
                  <c:v>0.87577834286609157</c:v>
                </c:pt>
                <c:pt idx="5">
                  <c:v>0.76464985678204067</c:v>
                </c:pt>
                <c:pt idx="6">
                  <c:v>0.7204982502481504</c:v>
                </c:pt>
                <c:pt idx="7">
                  <c:v>0.71009666449727993</c:v>
                </c:pt>
                <c:pt idx="8">
                  <c:v>0.72256269331156364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EBA-4CD7-B472-94686BEA10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9840064"/>
        <c:axId val="1675439456"/>
      </c:lineChart>
      <c:catAx>
        <c:axId val="19478525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46643968"/>
        <c:crosses val="autoZero"/>
        <c:auto val="1"/>
        <c:lblAlgn val="ctr"/>
        <c:lblOffset val="100"/>
        <c:noMultiLvlLbl val="0"/>
      </c:catAx>
      <c:valAx>
        <c:axId val="194664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47852592"/>
        <c:crosses val="autoZero"/>
        <c:crossBetween val="between"/>
      </c:valAx>
      <c:valAx>
        <c:axId val="1675439456"/>
        <c:scaling>
          <c:orientation val="minMax"/>
        </c:scaling>
        <c:delete val="0"/>
        <c:axPos val="r"/>
        <c:numFmt formatCode="0.00_);[Red]\(0.00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69840064"/>
        <c:crosses val="max"/>
        <c:crossBetween val="between"/>
      </c:valAx>
      <c:catAx>
        <c:axId val="186984006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675439456"/>
        <c:crosses val="max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INT4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工作表1!$A$21</c:f>
              <c:strCache>
                <c:ptCount val="1"/>
                <c:pt idx="0">
                  <c:v>Orin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工作表1!$B$20:$J$20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工作表1!$B$21:$J$21</c:f>
              <c:numCache>
                <c:formatCode>0.00_);[Red]\(0.00\)</c:formatCode>
                <c:ptCount val="9"/>
                <c:pt idx="0">
                  <c:v>582.35400000000004</c:v>
                </c:pt>
                <c:pt idx="1">
                  <c:v>825.81799999999998</c:v>
                </c:pt>
                <c:pt idx="2">
                  <c:v>951.976</c:v>
                </c:pt>
                <c:pt idx="3">
                  <c:v>1022.192</c:v>
                </c:pt>
                <c:pt idx="4">
                  <c:v>1064.6192000000001</c:v>
                </c:pt>
                <c:pt idx="5">
                  <c:v>1112.0704000000001</c:v>
                </c:pt>
                <c:pt idx="6">
                  <c:v>1107.5391999999999</c:v>
                </c:pt>
                <c:pt idx="7">
                  <c:v>1142.46912</c:v>
                </c:pt>
                <c:pt idx="8">
                  <c:v>1099.37408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10-4CF9-808B-08F9A3382BD2}"/>
            </c:ext>
          </c:extLst>
        </c:ser>
        <c:ser>
          <c:idx val="1"/>
          <c:order val="1"/>
          <c:tx>
            <c:strRef>
              <c:f>工作表1!$A$22</c:f>
              <c:strCache>
                <c:ptCount val="1"/>
                <c:pt idx="0">
                  <c:v>Thor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工作表1!$B$20:$J$20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工作表1!$B$22:$J$22</c:f>
              <c:numCache>
                <c:formatCode>0.00_);[Red]\(0.00\)</c:formatCode>
                <c:ptCount val="9"/>
                <c:pt idx="0">
                  <c:v>1194.8800000000001</c:v>
                </c:pt>
                <c:pt idx="1">
                  <c:v>1859.182</c:v>
                </c:pt>
                <c:pt idx="2">
                  <c:v>2447.1799999999998</c:v>
                </c:pt>
                <c:pt idx="3">
                  <c:v>2583.5680000000002</c:v>
                </c:pt>
                <c:pt idx="4">
                  <c:v>2403.616</c:v>
                </c:pt>
                <c:pt idx="5">
                  <c:v>2248.8863999999999</c:v>
                </c:pt>
                <c:pt idx="6">
                  <c:v>2152.8832000000002</c:v>
                </c:pt>
                <c:pt idx="7">
                  <c:v>2213.7984000000001</c:v>
                </c:pt>
                <c:pt idx="8">
                  <c:v>2253.7830399999998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10-4CF9-808B-08F9A3382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7852592"/>
        <c:axId val="1946643968"/>
      </c:lineChart>
      <c:lineChart>
        <c:grouping val="standard"/>
        <c:varyColors val="0"/>
        <c:ser>
          <c:idx val="2"/>
          <c:order val="2"/>
          <c:tx>
            <c:strRef>
              <c:f>工作表1!$A$23</c:f>
              <c:strCache>
                <c:ptCount val="1"/>
                <c:pt idx="0">
                  <c:v>倍率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工作表1!$B$20:$J$20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</c:numCache>
            </c:numRef>
          </c:cat>
          <c:val>
            <c:numRef>
              <c:f>工作表1!$B$23:$J$23</c:f>
              <c:numCache>
                <c:formatCode>0.00_);[Red]\(0.00\)</c:formatCode>
                <c:ptCount val="9"/>
                <c:pt idx="0">
                  <c:v>2.0518104108497579</c:v>
                </c:pt>
                <c:pt idx="1">
                  <c:v>2.2513217197978248</c:v>
                </c:pt>
                <c:pt idx="2">
                  <c:v>2.5706320327403209</c:v>
                </c:pt>
                <c:pt idx="3">
                  <c:v>2.527478203703414</c:v>
                </c:pt>
                <c:pt idx="4">
                  <c:v>2.2577237006433846</c:v>
                </c:pt>
                <c:pt idx="5">
                  <c:v>2.022251828661207</c:v>
                </c:pt>
                <c:pt idx="6">
                  <c:v>1.9438437935199047</c:v>
                </c:pt>
                <c:pt idx="7">
                  <c:v>1.9377314985984042</c:v>
                </c:pt>
                <c:pt idx="8">
                  <c:v>2.0500601942516234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10-4CF9-808B-08F9A3382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9840064"/>
        <c:axId val="1675439456"/>
      </c:lineChart>
      <c:catAx>
        <c:axId val="19478525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46643968"/>
        <c:crosses val="autoZero"/>
        <c:auto val="1"/>
        <c:lblAlgn val="ctr"/>
        <c:lblOffset val="100"/>
        <c:noMultiLvlLbl val="0"/>
      </c:catAx>
      <c:valAx>
        <c:axId val="194664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);[Red]\(0.00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947852592"/>
        <c:crosses val="autoZero"/>
        <c:crossBetween val="between"/>
      </c:valAx>
      <c:valAx>
        <c:axId val="1675439456"/>
        <c:scaling>
          <c:orientation val="minMax"/>
        </c:scaling>
        <c:delete val="0"/>
        <c:axPos val="r"/>
        <c:numFmt formatCode="0.00_);[Red]\(0.00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869840064"/>
        <c:crosses val="max"/>
        <c:crossBetween val="between"/>
      </c:valAx>
      <c:catAx>
        <c:axId val="186984006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675439456"/>
        <c:crosses val="max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1259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178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1316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3954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7354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0964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7572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6916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7068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1680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8994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1741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7671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0092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2294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1505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29148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39671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20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Self Calibration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調校功能協定建立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118341"/>
              </p:ext>
            </p:extLst>
          </p:nvPr>
        </p:nvGraphicFramePr>
        <p:xfrm>
          <a:off x="5604934" y="2353858"/>
          <a:ext cx="4022658" cy="4213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STM32F4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集成電路控制板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(STM32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Tool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的傳輸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Self Calibration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調校功能協定建立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移植演算法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4"/>
            <a:ext cx="4022658" cy="24688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61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609602" y="1150754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8991525" cy="368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alc_temp_process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.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c.h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Main.c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Brightness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Correct (D0 65 02)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指令時會使用到裡面的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function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Board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main.c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中針對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調整的方式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3344955-0F4E-4A74-9B70-4E4C9954D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326" y="4355102"/>
            <a:ext cx="5626389" cy="201940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EB8CB11-506E-40F2-A9AA-3AC75871B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008" y="2705063"/>
            <a:ext cx="6363027" cy="14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6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609602" y="1143001"/>
            <a:ext cx="8800212" cy="1286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8991525" cy="368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控制補償係數之後的測試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0422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做比較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有確實抑制住螢幕亮度，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 times = 0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8E28C7-08DD-43AC-B096-6859017028FD}"/>
              </a:ext>
            </a:extLst>
          </p:cNvPr>
          <p:cNvSpPr/>
          <p:nvPr/>
        </p:nvSpPr>
        <p:spPr>
          <a:xfrm>
            <a:off x="6423425" y="3618689"/>
            <a:ext cx="2263376" cy="188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9792EF-83CC-47E4-A065-C022B1283AD6}"/>
              </a:ext>
            </a:extLst>
          </p:cNvPr>
          <p:cNvSpPr/>
          <p:nvPr/>
        </p:nvSpPr>
        <p:spPr>
          <a:xfrm>
            <a:off x="6423425" y="4340157"/>
            <a:ext cx="2263376" cy="188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AF829C-C7F6-45AB-9A33-DD2EBD22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214" y="2637796"/>
            <a:ext cx="4519034" cy="233644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8B3BFDD-DC34-4A73-9027-E23CA3FF6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52" y="2639276"/>
            <a:ext cx="4519036" cy="233496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9389C03-EAA0-4274-A571-649387DD2C13}"/>
              </a:ext>
            </a:extLst>
          </p:cNvPr>
          <p:cNvSpPr txBox="1"/>
          <p:nvPr/>
        </p:nvSpPr>
        <p:spPr>
          <a:xfrm>
            <a:off x="6641556" y="5087048"/>
            <a:ext cx="1510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實驗室最高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30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度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DECCABB-A8E6-45CD-9C13-0D63B3BD0B0B}"/>
              </a:ext>
            </a:extLst>
          </p:cNvPr>
          <p:cNvSpPr txBox="1"/>
          <p:nvPr/>
        </p:nvSpPr>
        <p:spPr>
          <a:xfrm>
            <a:off x="1656479" y="5089392"/>
            <a:ext cx="1705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學長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0422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溫箱測試</a:t>
            </a:r>
          </a:p>
        </p:txBody>
      </p:sp>
    </p:spTree>
    <p:extLst>
      <p:ext uri="{BB962C8B-B14F-4D97-AF65-F5344CB8AC3E}">
        <p14:creationId xmlns:p14="http://schemas.microsoft.com/office/powerpoint/2010/main" val="321786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609602" y="1143001"/>
            <a:ext cx="8800212" cy="1286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8991525" cy="368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1001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溫箱測試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board:alc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off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，使用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中的補償機制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(LUT2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已移植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正常範圍應該在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220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的正負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5%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(209~231)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0~60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度的測試，失敗次數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1069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次，失敗時的溫度皆大於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最高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227.6483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206.6757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扣除失敗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最高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227.6483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最低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209.2468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8E28C7-08DD-43AC-B096-6859017028FD}"/>
              </a:ext>
            </a:extLst>
          </p:cNvPr>
          <p:cNvSpPr/>
          <p:nvPr/>
        </p:nvSpPr>
        <p:spPr>
          <a:xfrm>
            <a:off x="6423425" y="4565515"/>
            <a:ext cx="2263376" cy="188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9792EF-83CC-47E4-A065-C022B1283AD6}"/>
              </a:ext>
            </a:extLst>
          </p:cNvPr>
          <p:cNvSpPr/>
          <p:nvPr/>
        </p:nvSpPr>
        <p:spPr>
          <a:xfrm>
            <a:off x="6423425" y="5286983"/>
            <a:ext cx="2263376" cy="188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8B3BFDD-DC34-4A73-9027-E23CA3FF6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52" y="3586102"/>
            <a:ext cx="4519036" cy="233496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9389C03-EAA0-4274-A571-649387DD2C13}"/>
              </a:ext>
            </a:extLst>
          </p:cNvPr>
          <p:cNvSpPr txBox="1"/>
          <p:nvPr/>
        </p:nvSpPr>
        <p:spPr>
          <a:xfrm>
            <a:off x="6641556" y="6033874"/>
            <a:ext cx="1665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1001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進行溫箱測試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DECCABB-A8E6-45CD-9C13-0D63B3BD0B0B}"/>
              </a:ext>
            </a:extLst>
          </p:cNvPr>
          <p:cNvSpPr txBox="1"/>
          <p:nvPr/>
        </p:nvSpPr>
        <p:spPr>
          <a:xfrm>
            <a:off x="1656479" y="6036218"/>
            <a:ext cx="1705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學長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0422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溫箱測試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01C105B-0BAF-44CE-A0AA-DF7DDF191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3225969"/>
            <a:ext cx="4445540" cy="270268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72E49C7-F5DA-4012-93FF-77DF1693D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420" y="44117"/>
            <a:ext cx="4036977" cy="174216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14FB4D9-CA58-4937-94D8-6F5B21EC66D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750" t="4924" r="6944" b="6341"/>
          <a:stretch/>
        </p:blipFill>
        <p:spPr>
          <a:xfrm>
            <a:off x="8151779" y="2274908"/>
            <a:ext cx="1070043" cy="1104451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328611F1-AA21-4D82-AC8D-16A3121AD810}"/>
              </a:ext>
            </a:extLst>
          </p:cNvPr>
          <p:cNvSpPr txBox="1"/>
          <p:nvPr/>
        </p:nvSpPr>
        <p:spPr>
          <a:xfrm>
            <a:off x="6284687" y="6417279"/>
            <a:ext cx="1986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ALC_output_1002.xlsx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8550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609602" y="1143001"/>
            <a:ext cx="8800212" cy="1286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8991525" cy="368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1003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溫箱測試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0~50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度的測試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後續溫度感測器失效，造成結果失真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溫度補償係數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(LUT2)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無法乘上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反應真實狀況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距離規範下限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(209)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還有一段距離，超出規範上限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(231)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跟補償係數有關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最高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234.6377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218.3432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扣除失敗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最高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227.6483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最低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209.2468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8E28C7-08DD-43AC-B096-6859017028FD}"/>
              </a:ext>
            </a:extLst>
          </p:cNvPr>
          <p:cNvSpPr/>
          <p:nvPr/>
        </p:nvSpPr>
        <p:spPr>
          <a:xfrm>
            <a:off x="6423425" y="4565515"/>
            <a:ext cx="2263376" cy="188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9792EF-83CC-47E4-A065-C022B1283AD6}"/>
              </a:ext>
            </a:extLst>
          </p:cNvPr>
          <p:cNvSpPr/>
          <p:nvPr/>
        </p:nvSpPr>
        <p:spPr>
          <a:xfrm>
            <a:off x="6423425" y="5286983"/>
            <a:ext cx="2263376" cy="1880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8B3BFDD-DC34-4A73-9027-E23CA3FF6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52" y="3586102"/>
            <a:ext cx="4519036" cy="233496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9389C03-EAA0-4274-A571-649387DD2C13}"/>
              </a:ext>
            </a:extLst>
          </p:cNvPr>
          <p:cNvSpPr txBox="1"/>
          <p:nvPr/>
        </p:nvSpPr>
        <p:spPr>
          <a:xfrm>
            <a:off x="6641556" y="6033874"/>
            <a:ext cx="22942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1003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測試只取前面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25000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筆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DECCABB-A8E6-45CD-9C13-0D63B3BD0B0B}"/>
              </a:ext>
            </a:extLst>
          </p:cNvPr>
          <p:cNvSpPr txBox="1"/>
          <p:nvPr/>
        </p:nvSpPr>
        <p:spPr>
          <a:xfrm>
            <a:off x="1656479" y="6036218"/>
            <a:ext cx="1705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學長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0422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溫箱測試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BC9954-C8B9-460A-BC4C-5AF74669A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957" y="148291"/>
            <a:ext cx="3652699" cy="1989416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C61DE1B9-4168-4E12-B367-4C0D22D69E29}"/>
              </a:ext>
            </a:extLst>
          </p:cNvPr>
          <p:cNvSpPr txBox="1"/>
          <p:nvPr/>
        </p:nvSpPr>
        <p:spPr>
          <a:xfrm>
            <a:off x="7892375" y="1139010"/>
            <a:ext cx="1796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1003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進行溫箱測試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8668CD44-C089-4F7A-A8A1-DB67AA6B1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7214" y="3586102"/>
            <a:ext cx="4372911" cy="233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64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7EAF88B7-7BA4-D157-4BFE-57490026B784}"/>
              </a:ext>
            </a:extLst>
          </p:cNvPr>
          <p:cNvSpPr txBox="1"/>
          <p:nvPr/>
        </p:nvSpPr>
        <p:spPr>
          <a:xfrm>
            <a:off x="609602" y="1143001"/>
            <a:ext cx="8800212" cy="1286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2999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純色溫校正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 Color Sensor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量出色座標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xy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之後，計算色溫，再與目標色溫進行比較後調整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(0~255)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三項會互相影響，較為複雜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i1Display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中心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得到目標色溫的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答案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，當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stm32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收到執行純色溫校正的指令時，透過指令把答案寫到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Factory mode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裡面，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再進行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reset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就會把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Factory mode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中色溫的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數值寫到一般模式中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0E8D145-C28E-4120-830C-81AB90CC1F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754" r="44767" b="16048"/>
          <a:stretch/>
        </p:blipFill>
        <p:spPr>
          <a:xfrm rot="5400000">
            <a:off x="5792195" y="3516121"/>
            <a:ext cx="3237320" cy="295396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C3C654E4-18AE-4379-970F-BEB35350734F}"/>
              </a:ext>
            </a:extLst>
          </p:cNvPr>
          <p:cNvSpPr/>
          <p:nvPr/>
        </p:nvSpPr>
        <p:spPr>
          <a:xfrm>
            <a:off x="6212731" y="4308227"/>
            <a:ext cx="2328154" cy="9273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733EDEB-7485-4D7C-82CC-53C3B7BA2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508" y="3430680"/>
            <a:ext cx="3093650" cy="29408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7342916-1F66-4DAA-AA41-5FB1738208B8}"/>
              </a:ext>
            </a:extLst>
          </p:cNvPr>
          <p:cNvSpPr txBox="1"/>
          <p:nvPr/>
        </p:nvSpPr>
        <p:spPr>
          <a:xfrm>
            <a:off x="2393004" y="6385502"/>
            <a:ext cx="18405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Onyx_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進度報告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_0624</a:t>
            </a:r>
          </a:p>
        </p:txBody>
      </p:sp>
    </p:spTree>
    <p:extLst>
      <p:ext uri="{BB962C8B-B14F-4D97-AF65-F5344CB8AC3E}">
        <p14:creationId xmlns:p14="http://schemas.microsoft.com/office/powerpoint/2010/main" val="1866067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Self Calibration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調校功能協定建立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847048"/>
              </p:ext>
            </p:extLst>
          </p:nvPr>
        </p:nvGraphicFramePr>
        <p:xfrm>
          <a:off x="5604934" y="2353858"/>
          <a:ext cx="4022658" cy="4890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STM32F4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集成電路控制板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(STM32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Tool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的傳輸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Sensor Self Calibration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調校功能協定建立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ALC</a:t>
                      </a: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演算法調整和溫箱測試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色溫調校功能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移植演算法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3773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70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3422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09547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3380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1852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025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89062" y="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MLC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benchmark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8800212" cy="532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4D16978-BCC8-4A54-98F6-A9C233141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11" y="497496"/>
            <a:ext cx="9135384" cy="586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09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benchmark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8800212" cy="532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Tensor-RT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7.0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時棄用了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caffe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解析器，並在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8.0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之後逐步移除功能，同時建議轉移到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onnx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框架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為了比較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Orin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在傳統影像辨識上的性能，這次的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benchmark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會將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FP16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INT4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，並測試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batch size 1~256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的輸入對應的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FPS</a:t>
            </a: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62C763A-D1E6-4C08-B835-C4B87550B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62" y="2285518"/>
            <a:ext cx="8590476" cy="10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8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benchmark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9484689" cy="532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上量化為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時發生了問題，並稍微做了研究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量化下，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Orin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59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57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量化下，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Orin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70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顯然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TensorRT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Thor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上對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的最佳化依舊不良，因此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INT8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的結果會不如預期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1048AC8-79EE-42EE-B619-3F32CA4F3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857" y="2806810"/>
            <a:ext cx="4450285" cy="38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32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03164" y="562755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benchmark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8800212" cy="532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A7F7563E-A8A8-4CE9-9948-C5976286B0A6}"/>
              </a:ext>
            </a:extLst>
          </p:cNvPr>
          <p:cNvGraphicFramePr>
            <a:graphicFrameLocks/>
          </p:cNvGraphicFramePr>
          <p:nvPr/>
        </p:nvGraphicFramePr>
        <p:xfrm>
          <a:off x="603164" y="1096155"/>
          <a:ext cx="8618359" cy="532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75811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12916" y="544120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benchmark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8800212" cy="532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23160818-8069-4AFC-BBCA-DAE133190627}"/>
              </a:ext>
            </a:extLst>
          </p:cNvPr>
          <p:cNvGraphicFramePr>
            <a:graphicFrameLocks/>
          </p:cNvGraphicFramePr>
          <p:nvPr/>
        </p:nvGraphicFramePr>
        <p:xfrm>
          <a:off x="523651" y="985749"/>
          <a:ext cx="8961038" cy="5415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83288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04964" y="58569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benchmark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8800212" cy="532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D9E5F6A8-755C-42DF-81F0-F94A4E123BCA}"/>
              </a:ext>
            </a:extLst>
          </p:cNvPr>
          <p:cNvGraphicFramePr>
            <a:graphicFrameLocks/>
          </p:cNvGraphicFramePr>
          <p:nvPr/>
        </p:nvGraphicFramePr>
        <p:xfrm>
          <a:off x="503164" y="985749"/>
          <a:ext cx="8981525" cy="5407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3650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04964" y="584923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benchmark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8800212" cy="532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5" name="圖表 4">
            <a:extLst>
              <a:ext uri="{FF2B5EF4-FFF2-40B4-BE49-F238E27FC236}">
                <a16:creationId xmlns:a16="http://schemas.microsoft.com/office/drawing/2014/main" id="{75D18AC3-D4A1-4E67-8F92-99E0E7969189}"/>
              </a:ext>
            </a:extLst>
          </p:cNvPr>
          <p:cNvGraphicFramePr>
            <a:graphicFrameLocks/>
          </p:cNvGraphicFramePr>
          <p:nvPr/>
        </p:nvGraphicFramePr>
        <p:xfrm>
          <a:off x="357092" y="984197"/>
          <a:ext cx="9191816" cy="5391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5742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電池破損偵測模型轉換</a:t>
            </a: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8800212" cy="532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參考官方文件將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轉換至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ONNX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格式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255A123-C125-4C83-9F8E-1506194F7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933" y="1731750"/>
            <a:ext cx="7180952" cy="1800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8CDE831-E621-49ED-857A-5C6166BFD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899" y="3531750"/>
            <a:ext cx="4939100" cy="269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10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電池破損偵測模型轉換</a:t>
            </a: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421311" y="1252449"/>
            <a:ext cx="8800212" cy="532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實際套用我們先前訓練的模型時卻轉換失敗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FD90CFE-9092-4668-B56A-DCB8ED94D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00" y="2138524"/>
            <a:ext cx="8600000" cy="2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75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3422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09547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/>
        </p:nvGraphicFramePr>
        <p:xfrm>
          <a:off x="5604934" y="2353858"/>
          <a:ext cx="4022658" cy="3380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1852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765380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318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141694</TotalTime>
  <Words>1017</Words>
  <Application>Microsoft Office PowerPoint</Application>
  <PresentationFormat>A4 紙張 (210x297 公釐)</PresentationFormat>
  <Paragraphs>304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Noto Sans Symbols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本次進度: Monitor</vt:lpstr>
      <vt:lpstr>本次進度: Monitor</vt:lpstr>
      <vt:lpstr>下次進度: Monitor</vt:lpstr>
      <vt:lpstr>下次進度: Monitor</vt:lpstr>
      <vt:lpstr>上次進度: JS1500 &amp; AI Perf</vt:lpstr>
      <vt:lpstr>上次進度 : MLC benchmark</vt:lpstr>
      <vt:lpstr>上次進度 : ResNet benchmark</vt:lpstr>
      <vt:lpstr>上次進度 : ResNet benchmark</vt:lpstr>
      <vt:lpstr>上次進度 : ResNet benchmark</vt:lpstr>
      <vt:lpstr>上次進度 : ResNet benchmark</vt:lpstr>
      <vt:lpstr>上次進度 : ResNet benchmark</vt:lpstr>
      <vt:lpstr>上次進度 : ResNet benchmark</vt:lpstr>
      <vt:lpstr>本次進度 : 電池破損偵測模型轉換</vt:lpstr>
      <vt:lpstr>本次進度 : 電池破損偵測模型轉換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LI CHIH HSIANG</cp:lastModifiedBy>
  <cp:revision>1495</cp:revision>
  <dcterms:created xsi:type="dcterms:W3CDTF">2003-02-17T16:04:03Z</dcterms:created>
  <dcterms:modified xsi:type="dcterms:W3CDTF">2025-10-07T06:21:15Z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