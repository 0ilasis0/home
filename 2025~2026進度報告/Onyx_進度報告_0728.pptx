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0"/>
  </p:notesMasterIdLst>
  <p:sldIdLst>
    <p:sldId id="277" r:id="rId2"/>
    <p:sldId id="1936" r:id="rId3"/>
    <p:sldId id="1784" r:id="rId4"/>
    <p:sldId id="1956" r:id="rId5"/>
    <p:sldId id="1954" r:id="rId6"/>
    <p:sldId id="1955" r:id="rId7"/>
    <p:sldId id="1959" r:id="rId8"/>
    <p:sldId id="1962" r:id="rId9"/>
    <p:sldId id="1963" r:id="rId10"/>
    <p:sldId id="1964" r:id="rId11"/>
    <p:sldId id="1965" r:id="rId12"/>
    <p:sldId id="1960" r:id="rId13"/>
    <p:sldId id="1969" r:id="rId14"/>
    <p:sldId id="1966" r:id="rId15"/>
    <p:sldId id="1967" r:id="rId16"/>
    <p:sldId id="1951" r:id="rId17"/>
    <p:sldId id="1952" r:id="rId18"/>
    <p:sldId id="286" r:id="rId19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936"/>
            <p14:sldId id="1784"/>
            <p14:sldId id="1956"/>
            <p14:sldId id="1954"/>
            <p14:sldId id="1955"/>
            <p14:sldId id="1959"/>
            <p14:sldId id="1962"/>
            <p14:sldId id="1963"/>
            <p14:sldId id="1964"/>
            <p14:sldId id="1965"/>
            <p14:sldId id="1960"/>
            <p14:sldId id="1969"/>
            <p14:sldId id="1966"/>
            <p14:sldId id="1967"/>
            <p14:sldId id="1951"/>
            <p14:sldId id="1952"/>
          </p14:sldIdLst>
        </p14:section>
        <p14:section name="JS1500" id="{F71E69A4-C86C-4DAC-B828-42C2D8800267}">
          <p14:sldIdLst/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0057C0"/>
    <a:srgbClr val="FFC000"/>
    <a:srgbClr val="FFFFFF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8545" autoAdjust="0"/>
  </p:normalViewPr>
  <p:slideViewPr>
    <p:cSldViewPr snapToGrid="0">
      <p:cViewPr varScale="1">
        <p:scale>
          <a:sx n="110" d="100"/>
          <a:sy n="110" d="100"/>
        </p:scale>
        <p:origin x="1416" y="11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27963;&#38913;&#31807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MTK_​9700</a:t>
            </a:r>
            <a:endParaRPr lang="zh-TW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工作表1!$B$8</c:f>
              <c:strCache>
                <c:ptCount val="1"/>
                <c:pt idx="0">
                  <c:v>校正時間​(秒)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工作表1!$A$9:$A$12</c:f>
              <c:strCache>
                <c:ptCount val="4"/>
                <c:pt idx="0">
                  <c:v>1組 Gamma​</c:v>
                </c:pt>
                <c:pt idx="1">
                  <c:v>​1組 DICOM</c:v>
                </c:pt>
                <c:pt idx="2">
                  <c:v>1組 DICOM + Gamma ​</c:v>
                </c:pt>
                <c:pt idx="3">
                  <c:v>2組 Gamma ​</c:v>
                </c:pt>
              </c:strCache>
            </c:strRef>
          </c:cat>
          <c:val>
            <c:numRef>
              <c:f>工作表1!$B$9:$B$12</c:f>
              <c:numCache>
                <c:formatCode>General</c:formatCode>
                <c:ptCount val="4"/>
                <c:pt idx="0">
                  <c:v>348.58</c:v>
                </c:pt>
                <c:pt idx="1">
                  <c:v>235.38</c:v>
                </c:pt>
                <c:pt idx="2">
                  <c:v>587.94000000000005</c:v>
                </c:pt>
                <c:pt idx="3">
                  <c:v>574.4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C-4AEE-BF7F-984B3C73D86F}"/>
            </c:ext>
          </c:extLst>
        </c:ser>
        <c:ser>
          <c:idx val="1"/>
          <c:order val="1"/>
          <c:tx>
            <c:strRef>
              <c:f>工作表1!$C$8</c:f>
              <c:strCache>
                <c:ptCount val="1"/>
                <c:pt idx="0">
                  <c:v>驗證時間(秒)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工作表1!$A$9:$A$12</c:f>
              <c:strCache>
                <c:ptCount val="4"/>
                <c:pt idx="0">
                  <c:v>1組 Gamma​</c:v>
                </c:pt>
                <c:pt idx="1">
                  <c:v>​1組 DICOM</c:v>
                </c:pt>
                <c:pt idx="2">
                  <c:v>1組 DICOM + Gamma ​</c:v>
                </c:pt>
                <c:pt idx="3">
                  <c:v>2組 Gamma ​</c:v>
                </c:pt>
              </c:strCache>
            </c:strRef>
          </c:cat>
          <c:val>
            <c:numRef>
              <c:f>工作表1!$C$9:$C$12</c:f>
              <c:numCache>
                <c:formatCode>General</c:formatCode>
                <c:ptCount val="4"/>
                <c:pt idx="0">
                  <c:v>145.87</c:v>
                </c:pt>
                <c:pt idx="1">
                  <c:v>148.82</c:v>
                </c:pt>
                <c:pt idx="2">
                  <c:v>295.98</c:v>
                </c:pt>
                <c:pt idx="3">
                  <c:v>244.25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1C-4AEE-BF7F-984B3C73D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00189840"/>
        <c:axId val="1000183120"/>
      </c:barChart>
      <c:catAx>
        <c:axId val="1000189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0183120"/>
        <c:crosses val="autoZero"/>
        <c:auto val="1"/>
        <c:lblAlgn val="ctr"/>
        <c:lblOffset val="100"/>
        <c:noMultiLvlLbl val="0"/>
      </c:catAx>
      <c:valAx>
        <c:axId val="1000183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018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MARS_922</a:t>
            </a:r>
            <a:endParaRPr lang="zh-TW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工作表1!$B$28</c:f>
              <c:strCache>
                <c:ptCount val="1"/>
                <c:pt idx="0">
                  <c:v>校正時間​(秒)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工作表1!$A$29:$A$32</c:f>
              <c:strCache>
                <c:ptCount val="4"/>
                <c:pt idx="0">
                  <c:v>1組 Gamma​</c:v>
                </c:pt>
                <c:pt idx="1">
                  <c:v>​1組 DICOM</c:v>
                </c:pt>
                <c:pt idx="2">
                  <c:v>1組 DICOM + Gamma ​</c:v>
                </c:pt>
                <c:pt idx="3">
                  <c:v>2組 Gamma ​</c:v>
                </c:pt>
              </c:strCache>
            </c:strRef>
          </c:cat>
          <c:val>
            <c:numRef>
              <c:f>工作表1!$B$29:$B$32</c:f>
              <c:numCache>
                <c:formatCode>General</c:formatCode>
                <c:ptCount val="4"/>
                <c:pt idx="0">
                  <c:v>1022.4</c:v>
                </c:pt>
                <c:pt idx="1">
                  <c:v>1027.92</c:v>
                </c:pt>
                <c:pt idx="2">
                  <c:v>1956.51</c:v>
                </c:pt>
                <c:pt idx="3">
                  <c:v>1960.46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A7-4FD1-8B7B-DF0797689F35}"/>
            </c:ext>
          </c:extLst>
        </c:ser>
        <c:ser>
          <c:idx val="1"/>
          <c:order val="1"/>
          <c:tx>
            <c:strRef>
              <c:f>工作表1!$C$28</c:f>
              <c:strCache>
                <c:ptCount val="1"/>
                <c:pt idx="0">
                  <c:v>驗證時間(秒)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工作表1!$A$29:$A$32</c:f>
              <c:strCache>
                <c:ptCount val="4"/>
                <c:pt idx="0">
                  <c:v>1組 Gamma​</c:v>
                </c:pt>
                <c:pt idx="1">
                  <c:v>​1組 DICOM</c:v>
                </c:pt>
                <c:pt idx="2">
                  <c:v>1組 DICOM + Gamma ​</c:v>
                </c:pt>
                <c:pt idx="3">
                  <c:v>2組 Gamma ​</c:v>
                </c:pt>
              </c:strCache>
            </c:strRef>
          </c:cat>
          <c:val>
            <c:numRef>
              <c:f>工作表1!$C$29:$C$32</c:f>
              <c:numCache>
                <c:formatCode>General</c:formatCode>
                <c:ptCount val="4"/>
                <c:pt idx="0">
                  <c:v>134.71</c:v>
                </c:pt>
                <c:pt idx="1">
                  <c:v>178.14</c:v>
                </c:pt>
                <c:pt idx="2">
                  <c:v>304.2</c:v>
                </c:pt>
                <c:pt idx="3">
                  <c:v>269.45999999999998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A7-4FD1-8B7B-DF0797689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00202800"/>
        <c:axId val="1000205680"/>
      </c:barChart>
      <c:catAx>
        <c:axId val="10002028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0205680"/>
        <c:crosses val="autoZero"/>
        <c:auto val="1"/>
        <c:lblAlgn val="ctr"/>
        <c:lblOffset val="100"/>
        <c:noMultiLvlLbl val="0"/>
      </c:catAx>
      <c:valAx>
        <c:axId val="10002056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00202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29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5564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6627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7469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977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694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7453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6200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6568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221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8182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76868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25532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49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5180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18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340437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15265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85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17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8691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801548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27766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0716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(OFF)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測試原生面板的溫度與亮度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正常範圍應該在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的正負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5%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以內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(367.5~332.5)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原生面板的亮度最高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338.885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328.7144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nits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269FC56-5D38-774E-DCE5-8E078EBFF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44" y="2760617"/>
            <a:ext cx="7270135" cy="40306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B8F9B4-6C40-A5D2-F6CC-2931F9C52ED0}"/>
              </a:ext>
            </a:extLst>
          </p:cNvPr>
          <p:cNvSpPr/>
          <p:nvPr/>
        </p:nvSpPr>
        <p:spPr>
          <a:xfrm flipH="1">
            <a:off x="2656114" y="3167115"/>
            <a:ext cx="235131" cy="2763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72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27766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0716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0709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溫箱測試比較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左邊的圖是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有開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，最高亮度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351.524 nits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348.208 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，相差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3.316 nits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右邊的圖是</a:t>
            </a:r>
            <a:r>
              <a:rPr lang="zh-TW" alt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，最高亮度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338.885 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、最低亮度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328.714 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，相差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10.171 nits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84905066-2AB8-A96F-4FA9-93C78D784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2" y="2995748"/>
            <a:ext cx="4718307" cy="2564199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77F0080-0E64-808D-DE89-6E316EEF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1" y="2995748"/>
            <a:ext cx="4934378" cy="256419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AB8F9B4-6C40-A5D2-F6CC-2931F9C52ED0}"/>
              </a:ext>
            </a:extLst>
          </p:cNvPr>
          <p:cNvSpPr/>
          <p:nvPr/>
        </p:nvSpPr>
        <p:spPr>
          <a:xfrm flipH="1">
            <a:off x="5056299" y="4277847"/>
            <a:ext cx="235131" cy="1161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7AFECE-62B1-FBC3-252D-7E3ACE3FA9BB}"/>
              </a:ext>
            </a:extLst>
          </p:cNvPr>
          <p:cNvSpPr/>
          <p:nvPr/>
        </p:nvSpPr>
        <p:spPr>
          <a:xfrm flipH="1">
            <a:off x="121920" y="3774927"/>
            <a:ext cx="235131" cy="8885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8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927766"/>
            <a:ext cx="8924039" cy="1954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0719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實驗室測試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endParaRPr lang="zh-TW" altLang="en-US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0709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溫箱測試中總數據有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0719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實驗室測試中總數據有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萬筆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天測試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以每三秒量測一組數據，一天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28800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筆數據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C87C59-0155-2973-C384-EE2AB5A8A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43" y="3056709"/>
            <a:ext cx="4683189" cy="276061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DC3CF58-AA33-D144-F708-03B02FAD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638" y="607265"/>
            <a:ext cx="4501362" cy="19258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16C6835-2CB7-9335-76B9-BEBC79D58B38}"/>
              </a:ext>
            </a:extLst>
          </p:cNvPr>
          <p:cNvSpPr/>
          <p:nvPr/>
        </p:nvSpPr>
        <p:spPr>
          <a:xfrm flipH="1">
            <a:off x="5404637" y="1461166"/>
            <a:ext cx="2851085" cy="167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A54CAEE8-0217-AF77-03C5-8BB8BF9BA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530" y="3056709"/>
            <a:ext cx="4640519" cy="2773457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5C490E9-C198-3E8B-49EA-5D13AF43BDE0}"/>
              </a:ext>
            </a:extLst>
          </p:cNvPr>
          <p:cNvSpPr/>
          <p:nvPr/>
        </p:nvSpPr>
        <p:spPr>
          <a:xfrm flipH="1">
            <a:off x="9222377" y="5318457"/>
            <a:ext cx="269966" cy="359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2CCDDC-EED3-4DA9-6349-D3CD626F2E60}"/>
              </a:ext>
            </a:extLst>
          </p:cNvPr>
          <p:cNvSpPr/>
          <p:nvPr/>
        </p:nvSpPr>
        <p:spPr>
          <a:xfrm flipH="1">
            <a:off x="4378236" y="5318457"/>
            <a:ext cx="269966" cy="3595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94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65568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(MCU)</a:t>
            </a:r>
            <a:endParaRPr lang="zh-TW" altLang="en-US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校正比較，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offset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)=0.02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8314231-389A-5A14-56D0-3EECDA446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1186"/>
              </p:ext>
            </p:extLst>
          </p:nvPr>
        </p:nvGraphicFramePr>
        <p:xfrm>
          <a:off x="807857" y="2241368"/>
          <a:ext cx="3600812" cy="3566160"/>
        </p:xfrm>
        <a:graphic>
          <a:graphicData uri="http://schemas.openxmlformats.org/drawingml/2006/table">
            <a:tbl>
              <a:tblPr/>
              <a:tblGrid>
                <a:gridCol w="742269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824551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826534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207458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9700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256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1.81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5495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1.80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6694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1.81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9538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2.01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5497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6690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2.01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9540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69574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2.19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6699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5609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9560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8447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2.6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5488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63993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6685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946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2.58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9525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3271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749347C-1412-C3DA-1072-25E3D6DDD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724306"/>
              </p:ext>
            </p:extLst>
          </p:nvPr>
        </p:nvGraphicFramePr>
        <p:xfrm>
          <a:off x="5314543" y="2241368"/>
          <a:ext cx="3600812" cy="3566160"/>
        </p:xfrm>
        <a:graphic>
          <a:graphicData uri="http://schemas.openxmlformats.org/drawingml/2006/table">
            <a:tbl>
              <a:tblPr/>
              <a:tblGrid>
                <a:gridCol w="725912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840908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826534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207458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922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256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階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色溫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5463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1.80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6518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1.81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9077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5400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2.00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5470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6531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2.01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9103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5725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169574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6553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15609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9214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8447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2.6</a:t>
                      </a:r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5400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5505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63993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6500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2.59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6813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946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9300</a:t>
                      </a:r>
                      <a:r>
                        <a:rPr lang="en-US" altLang="zh-TW" sz="1200" b="0" i="0" baseline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2.60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9193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32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43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65568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Gamma_1.8 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校正曲線、亮度在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(0~255)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以後通過、設定的目標是在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階上下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A2683FE-E666-6BA3-E3CC-688AE979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" y="1866899"/>
            <a:ext cx="7469822" cy="402893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2461B40-1F70-417B-F551-C50323478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803" y="2108855"/>
            <a:ext cx="2198757" cy="420164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20F742-5420-2E29-261F-B512262A7D57}"/>
              </a:ext>
            </a:extLst>
          </p:cNvPr>
          <p:cNvSpPr/>
          <p:nvPr/>
        </p:nvSpPr>
        <p:spPr>
          <a:xfrm flipH="1">
            <a:off x="7588532" y="3561806"/>
            <a:ext cx="2253298" cy="348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38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65568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Gamma_2.0 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校正曲線、亮度在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(0~255)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以後通過、設定的目標是在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階上下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665DE61-CBEE-96CF-5E9B-0EEB35593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153" y="1866899"/>
            <a:ext cx="2302552" cy="399397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20F742-5420-2E29-261F-B512262A7D57}"/>
              </a:ext>
            </a:extLst>
          </p:cNvPr>
          <p:cNvSpPr/>
          <p:nvPr/>
        </p:nvSpPr>
        <p:spPr>
          <a:xfrm flipH="1">
            <a:off x="7474784" y="3892732"/>
            <a:ext cx="2253298" cy="2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5C4FB0-0864-7D53-1D39-30775EDDF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4" y="1866899"/>
            <a:ext cx="7343631" cy="422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4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65568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Gamma_2.2 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校正曲線、亮度在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(0~255)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以後通過、設定的目標是在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階上下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47C0E15-ADDF-9D2D-A711-A70510121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254" y="1849320"/>
            <a:ext cx="2175582" cy="406382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20F742-5420-2E29-261F-B512262A7D57}"/>
              </a:ext>
            </a:extLst>
          </p:cNvPr>
          <p:cNvSpPr/>
          <p:nvPr/>
        </p:nvSpPr>
        <p:spPr>
          <a:xfrm flipH="1">
            <a:off x="7564254" y="4397829"/>
            <a:ext cx="2175582" cy="2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F4A0B86-6F8F-E450-8946-1B64A345A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35247"/>
            <a:ext cx="7564254" cy="434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2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750126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Gamma_2.6 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校正曲線、亮度在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(0~255)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以後通過、設定的目標是在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階上下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17F24AF-0271-D938-9782-31312E46E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922" y="1884481"/>
            <a:ext cx="2172626" cy="449939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D20F742-5420-2E29-261F-B512262A7D57}"/>
              </a:ext>
            </a:extLst>
          </p:cNvPr>
          <p:cNvSpPr/>
          <p:nvPr/>
        </p:nvSpPr>
        <p:spPr>
          <a:xfrm flipH="1">
            <a:off x="7607922" y="5606780"/>
            <a:ext cx="2175582" cy="287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FBB83C-6303-F6E9-83EC-6B0DCD804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97" y="1884482"/>
            <a:ext cx="7461906" cy="389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34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校正時間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校正時間比較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燒入到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EEPROM)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41963A7-B4AB-80FA-AF1D-620E484E8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26509"/>
              </p:ext>
            </p:extLst>
          </p:nvPr>
        </p:nvGraphicFramePr>
        <p:xfrm>
          <a:off x="1771056" y="1791789"/>
          <a:ext cx="5754291" cy="192024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3985466103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MTK_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aseline="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9700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348.58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145.87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494.45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235.38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148.82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384.2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587.94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295.98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883.92</a:t>
                      </a:r>
                      <a:endParaRPr lang="en-US" altLang="zh-TW" sz="1200" b="0" i="0" u="none" strike="noStrike" cap="non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574.40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244.25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818.65</a:t>
                      </a:r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C55765E2-2183-0520-3900-A10D9BB9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489519"/>
              </p:ext>
            </p:extLst>
          </p:nvPr>
        </p:nvGraphicFramePr>
        <p:xfrm>
          <a:off x="1771056" y="3928353"/>
          <a:ext cx="5796757" cy="2743200"/>
        </p:xfrm>
        <a:graphic>
          <a:graphicData uri="http://schemas.openxmlformats.org/drawingml/2006/table">
            <a:tbl>
              <a:tblPr/>
              <a:tblGrid>
                <a:gridCol w="1678305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  <a:gridCol w="974646">
                  <a:extLst>
                    <a:ext uri="{9D8B030D-6E8A-4147-A177-3AD203B41FA5}">
                      <a16:colId xmlns:a16="http://schemas.microsoft.com/office/drawing/2014/main" val="4189185256"/>
                    </a:ext>
                  </a:extLst>
                </a:gridCol>
              </a:tblGrid>
              <a:tr h="221482">
                <a:tc>
                  <a:txBody>
                    <a:bodyPr/>
                    <a:lstStyle/>
                    <a:p>
                      <a:pPr algn="ctr" fontAlgn="auto"/>
                      <a:r>
                        <a:rPr lang="en-US" altLang="zh-TW" sz="12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MARS_922</a:t>
                      </a:r>
                      <a:endParaRPr lang="zh-TW" altLang="en-US" sz="1200" b="1" i="0" u="none" strike="noStrike" baseline="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校正時間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驗證時間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秒</a:t>
                      </a:r>
                      <a:r>
                        <a:rPr lang="en-US" altLang="zh-TW" sz="12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總時間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1200" b="1" i="0" baseline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1200" b="1" i="0" baseline="0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1022.40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134.71 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1,157.11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24869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</a:t>
                      </a:r>
                      <a:endParaRPr lang="zh-TW" altLang="en-US" sz="1200" b="0" i="0" u="none" strike="noStrike" cap="non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1027.92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178.14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1,206.06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DICOM + Gamma</a:t>
                      </a:r>
                      <a:r>
                        <a:rPr 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1956.51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304.20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2,260.71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232550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535661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2</a:t>
                      </a: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組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Gamma 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1960.46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269.46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2,229.92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12582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auto"/>
                      <a:endParaRPr lang="zh-TW" altLang="en-US" sz="1200" b="0" i="0" u="none" strike="noStrike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endParaRPr lang="en-US" altLang="zh-TW" sz="1200" b="0" i="0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379274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3819.97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518.63 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4,338.6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altLang="zh-TW" sz="1200" b="0" i="0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82716"/>
                  </a:ext>
                </a:extLst>
              </a:tr>
              <a:tr h="2214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​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en-US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組 </a:t>
                      </a:r>
                      <a:r>
                        <a:rPr lang="en-US" altLang="zh-TW" sz="12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Gamma</a:t>
                      </a:r>
                      <a:r>
                        <a:rPr lang="en-US" altLang="zh-TW" sz="1200" b="0" i="0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​ </a:t>
                      </a:r>
                      <a:r>
                        <a:rPr lang="en-US" altLang="zh-TW" sz="1200" b="0" i="0" u="none" strike="noStrike" cap="none" baseline="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+ DICOM</a:t>
                      </a:r>
                      <a:endParaRPr lang="en-US" altLang="zh-TW" sz="1200" b="0" i="0" baseline="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4731.45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677.32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5,408.77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altLang="zh-TW" sz="1200" b="0" i="0" u="none" strike="noStrike" cap="non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90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7885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42698DE9-A688-2B66-8CCC-FB8D1CFCBDC7}"/>
              </a:ext>
            </a:extLst>
          </p:cNvPr>
          <p:cNvSpPr/>
          <p:nvPr/>
        </p:nvSpPr>
        <p:spPr>
          <a:xfrm flipH="1">
            <a:off x="3439884" y="1791789"/>
            <a:ext cx="1114697" cy="192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3204BE-6648-4080-F443-35E5315CD640}"/>
              </a:ext>
            </a:extLst>
          </p:cNvPr>
          <p:cNvSpPr/>
          <p:nvPr/>
        </p:nvSpPr>
        <p:spPr>
          <a:xfrm flipH="1">
            <a:off x="3439884" y="3928353"/>
            <a:ext cx="1114698" cy="192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90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校正時間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校正時間比較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燒入到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EEPROM)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7A57893E-B6A5-83EC-863E-2DE5256471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468719"/>
              </p:ext>
            </p:extLst>
          </p:nvPr>
        </p:nvGraphicFramePr>
        <p:xfrm>
          <a:off x="230959" y="2258783"/>
          <a:ext cx="4754608" cy="28724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319494F4-06F3-419B-5F41-DB601D7422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3841649"/>
              </p:ext>
            </p:extLst>
          </p:nvPr>
        </p:nvGraphicFramePr>
        <p:xfrm>
          <a:off x="4985567" y="2258783"/>
          <a:ext cx="4754609" cy="2872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21994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/>
              <p:nvPr/>
            </p:nvSpPr>
            <p:spPr>
              <a:xfrm>
                <a:off x="490980" y="843944"/>
                <a:ext cx="8924039" cy="23608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406400" algn="l" rtl="0">
                  <a:lnSpc>
                    <a:spcPct val="10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accent2"/>
                  </a:buClr>
                  <a:buSzPts val="2800"/>
                  <a:buFont typeface="Noto Sans Symbols"/>
                  <a:buChar char="❖"/>
                  <a:defRPr sz="2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1pPr>
                <a:lvl2pPr marL="914400" marR="0" lvl="1" indent="-381000" algn="l" rtl="0">
                  <a:lnSpc>
                    <a:spcPct val="100000"/>
                  </a:lnSpc>
                  <a:spcBef>
                    <a:spcPts val="480"/>
                  </a:spcBef>
                  <a:spcAft>
                    <a:spcPts val="0"/>
                  </a:spcAft>
                  <a:buClr>
                    <a:srgbClr val="FF5050"/>
                  </a:buClr>
                  <a:buSzPts val="2400"/>
                  <a:buFont typeface="Noto Sans Symbols"/>
                  <a:buChar char="▪"/>
                  <a:def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2pPr>
                <a:lvl3pPr marL="1371600" marR="0" lvl="2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6699FF"/>
                  </a:buClr>
                  <a:buSzPts val="2000"/>
                  <a:buFont typeface="Times New Roman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3pPr>
                <a:lvl4pPr marL="1828800" marR="0" lvl="3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4pPr>
                <a:lvl5pPr marL="2286000" marR="0" lvl="4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5pPr>
                <a:lvl6pPr marL="2743200" marR="0" lvl="5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6pPr>
                <a:lvl7pPr marL="3200400" marR="0" lvl="6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7pPr>
                <a:lvl8pPr marL="3657600" marR="0" lvl="7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8pPr>
                <a:lvl9pPr marL="4114800" marR="0" lvl="8" indent="-35560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FF5050"/>
                  </a:buClr>
                  <a:buSzPts val="2000"/>
                  <a:buFont typeface="Times New Roman"/>
                  <a:buChar char="o"/>
                  <a:defRPr sz="20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lvl9pPr>
              </a:lstStyle>
              <a:p>
                <a:pPr>
                  <a:lnSpc>
                    <a:spcPts val="3000"/>
                  </a:lnSpc>
                </a:pP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MTK_9700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MARS_922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LUT </a:t>
                </a:r>
                <a:r>
                  <a:rPr lang="zh-TW" altLang="en-US" sz="16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大小比較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LUT 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輸入位元數是 𝑤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_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𝑖𝑛  ，輸出位元數是𝑤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_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𝑜𝑢𝑡  ，完整大小為：</a:t>
                </a:r>
              </a:p>
              <a:p>
                <a:pPr marL="533400" lvl="1" indent="0">
                  <a:lnSpc>
                    <a:spcPts val="3000"/>
                  </a:lnSpc>
                  <a:buNone/>
                </a:pPr>
                <a:endParaRPr lang="zh-TW" altLang="en-US" sz="1400" dirty="0">
                  <a:solidFill>
                    <a:srgbClr val="333333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MTK_9700 : 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x 16(bit) x 3 = 12,288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bit =1536 bytes</a:t>
                </a:r>
              </a:p>
              <a:p>
                <a:pPr lvl="1">
                  <a:lnSpc>
                    <a:spcPts val="3000"/>
                  </a:lnSpc>
                </a:pP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MARS_922 :</a:t>
                </a:r>
                <a:r>
                  <a:rPr lang="en-US" altLang="zh-TW" sz="1400" dirty="0">
                    <a:solidFill>
                      <a:srgbClr val="333333"/>
                    </a:solidFill>
                    <a:ea typeface="標楷體" panose="03000509000000000000" pitchFamily="65" charset="-12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14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x 16(bit) x 3 = 49,152</a:t>
                </a:r>
                <a:r>
                  <a:rPr lang="zh-TW" altLang="en-US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400" dirty="0">
                    <a:solidFill>
                      <a:srgbClr val="333333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bit = 6144 bytes</a:t>
                </a:r>
              </a:p>
            </p:txBody>
          </p:sp>
        </mc:Choice>
        <mc:Fallback xmlns="">
          <p:sp>
            <p:nvSpPr>
              <p:cNvPr id="7" name="文字版面配置區 6">
                <a:extLst>
                  <a:ext uri="{FF2B5EF4-FFF2-40B4-BE49-F238E27FC236}">
                    <a16:creationId xmlns:a16="http://schemas.microsoft.com/office/drawing/2014/main" id="{CA232325-2F30-826A-0F33-B3038ABB7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80" y="843944"/>
                <a:ext cx="8924039" cy="2360807"/>
              </a:xfrm>
              <a:prstGeom prst="rect">
                <a:avLst/>
              </a:prstGeom>
              <a:blipFill>
                <a:blip r:embed="rId3"/>
                <a:stretch>
                  <a:fillRect l="-1162" t="-4124" b="-38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>
            <a:extLst>
              <a:ext uri="{FF2B5EF4-FFF2-40B4-BE49-F238E27FC236}">
                <a16:creationId xmlns:a16="http://schemas.microsoft.com/office/drawing/2014/main" id="{2F5CF38A-4C16-7F84-C947-6F490AD31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186690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86A894F-71D5-0A22-D3F4-08BD366C5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173335"/>
                  </p:ext>
                </p:extLst>
              </p:nvPr>
            </p:nvGraphicFramePr>
            <p:xfrm>
              <a:off x="2059010" y="1808191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pPr indent="127000" algn="ctr">
                            <a:lnSpc>
                              <a:spcPct val="125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LUT</m:t>
                                  </m:r>
                                </m:sub>
                              </m:sSub>
                              <m:r>
                                <a:rPr lang="en-US" altLang="zh-TW" sz="1800" b="0" i="1" kern="100" baseline="0" smtClean="0">
                                  <a:effectLst/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Arial" panose="020B0604020202020204" pitchFamily="34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altLang="zh-TW" sz="1800" b="0" i="1" kern="100" baseline="0" smtClean="0">
                                          <a:effectLst/>
                                          <a:latin typeface="Cambria Math" panose="02040503050406030204" pitchFamily="18" charset="0"/>
                                          <a:ea typeface="標楷體" panose="03000509000000000000" pitchFamily="65" charset="-120"/>
                                          <a:cs typeface="Arial" panose="020B0604020202020204" pitchFamily="34" charset="0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sup>
                              </m:sSup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x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TW" sz="1800" b="0" i="1" kern="100" baseline="0" smtClean="0">
                                      <a:effectLst/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kern="100" baseline="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  bits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86A894F-71D5-0A22-D3F4-08BD366C509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173335"/>
                  </p:ext>
                </p:extLst>
              </p:nvPr>
            </p:nvGraphicFramePr>
            <p:xfrm>
              <a:off x="2059010" y="1808191"/>
              <a:ext cx="5787978" cy="51485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87978">
                      <a:extLst>
                        <a:ext uri="{9D8B030D-6E8A-4147-A177-3AD203B41FA5}">
                          <a16:colId xmlns:a16="http://schemas.microsoft.com/office/drawing/2014/main" val="1779073380"/>
                        </a:ext>
                      </a:extLst>
                    </a:gridCol>
                  </a:tblGrid>
                  <a:tr h="5148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b="-6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6810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E96EF210-5733-74E4-F446-ABCE767E25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1571"/>
          <a:stretch/>
        </p:blipFill>
        <p:spPr>
          <a:xfrm>
            <a:off x="4952999" y="3574572"/>
            <a:ext cx="4733396" cy="15670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B6A8587-1992-AEF9-FFB7-35B19E0446F0}"/>
              </a:ext>
            </a:extLst>
          </p:cNvPr>
          <p:cNvSpPr/>
          <p:nvPr/>
        </p:nvSpPr>
        <p:spPr>
          <a:xfrm flipH="1">
            <a:off x="4952999" y="4753021"/>
            <a:ext cx="4733396" cy="3712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0C5FF135-C554-94D3-F693-C06FE9A889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9858"/>
          <a:stretch/>
        </p:blipFill>
        <p:spPr>
          <a:xfrm>
            <a:off x="0" y="3602966"/>
            <a:ext cx="4733396" cy="153870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08AD769C-E3AF-12D2-BC55-2F9C71458F46}"/>
              </a:ext>
            </a:extLst>
          </p:cNvPr>
          <p:cNvSpPr/>
          <p:nvPr/>
        </p:nvSpPr>
        <p:spPr>
          <a:xfrm flipH="1">
            <a:off x="0" y="4771555"/>
            <a:ext cx="4733396" cy="3712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2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154571-D9E7-EE3F-3B6D-7EF229C2E511}"/>
              </a:ext>
            </a:extLst>
          </p:cNvPr>
          <p:cNvSpPr/>
          <p:nvPr/>
        </p:nvSpPr>
        <p:spPr>
          <a:xfrm>
            <a:off x="1729344" y="5141671"/>
            <a:ext cx="127470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MTK_9700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529C5D-BBF0-5CF0-2FA8-01E89D4E4992}"/>
              </a:ext>
            </a:extLst>
          </p:cNvPr>
          <p:cNvSpPr/>
          <p:nvPr/>
        </p:nvSpPr>
        <p:spPr>
          <a:xfrm>
            <a:off x="6669519" y="5141671"/>
            <a:ext cx="130035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MARS_922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1279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474123"/>
            <a:ext cx="8077200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843945"/>
            <a:ext cx="8924039" cy="1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校正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451CEA-BDAD-8224-ADF8-D99044E9F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380" y="1584710"/>
            <a:ext cx="3274469" cy="267971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F08D897-DEEF-FE1A-0961-74FFF6DF9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563125"/>
              </p:ext>
            </p:extLst>
          </p:nvPr>
        </p:nvGraphicFramePr>
        <p:xfrm>
          <a:off x="2403418" y="4829741"/>
          <a:ext cx="5099164" cy="1383188"/>
        </p:xfrm>
        <a:graphic>
          <a:graphicData uri="http://schemas.openxmlformats.org/drawingml/2006/table">
            <a:tbl>
              <a:tblPr/>
              <a:tblGrid>
                <a:gridCol w="1282709">
                  <a:extLst>
                    <a:ext uri="{9D8B030D-6E8A-4147-A177-3AD203B41FA5}">
                      <a16:colId xmlns:a16="http://schemas.microsoft.com/office/drawing/2014/main" val="1280648839"/>
                    </a:ext>
                  </a:extLst>
                </a:gridCol>
                <a:gridCol w="1100862">
                  <a:extLst>
                    <a:ext uri="{9D8B030D-6E8A-4147-A177-3AD203B41FA5}">
                      <a16:colId xmlns:a16="http://schemas.microsoft.com/office/drawing/2014/main" val="138896537"/>
                    </a:ext>
                  </a:extLst>
                </a:gridCol>
                <a:gridCol w="1103510">
                  <a:extLst>
                    <a:ext uri="{9D8B030D-6E8A-4147-A177-3AD203B41FA5}">
                      <a16:colId xmlns:a16="http://schemas.microsoft.com/office/drawing/2014/main" val="114248355"/>
                    </a:ext>
                  </a:extLst>
                </a:gridCol>
                <a:gridCol w="1612083">
                  <a:extLst>
                    <a:ext uri="{9D8B030D-6E8A-4147-A177-3AD203B41FA5}">
                      <a16:colId xmlns:a16="http://schemas.microsoft.com/office/drawing/2014/main" val="1501684541"/>
                    </a:ext>
                  </a:extLst>
                </a:gridCol>
              </a:tblGrid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1" i="0" u="none" strike="noStrike" dirty="0">
                          <a:solidFill>
                            <a:srgbClr val="FFFF00"/>
                          </a:solidFill>
                          <a:effectLst/>
                          <a:ea typeface="PMingLiU" panose="02020500000000000000" pitchFamily="18" charset="-120"/>
                        </a:rPr>
                        <a:t>​</a:t>
                      </a:r>
                      <a:r>
                        <a:rPr lang="en-US" altLang="zh-TW" sz="12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MARS_922</a:t>
                      </a:r>
                      <a:endParaRPr lang="zh-TW" altLang="en-US" sz="1200" b="1" i="0" u="none" strike="noStrike" dirty="0">
                        <a:solidFill>
                          <a:srgbClr val="FFFF00"/>
                        </a:solidFill>
                        <a:effectLst/>
                        <a:ea typeface="PMingLiU" panose="02020500000000000000" pitchFamily="18" charset="-120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ea typeface="PMingLiU" panose="02020500000000000000" pitchFamily="18" charset="-120"/>
                        </a:rPr>
                        <a:t>色溫</a:t>
                      </a:r>
                      <a:r>
                        <a:rPr lang="zh-TW" altLang="en-US" sz="1200" b="1" i="0" dirty="0">
                          <a:solidFill>
                            <a:srgbClr val="FFFFFF"/>
                          </a:solidFill>
                          <a:effectLst/>
                          <a:latin typeface="PMingLiU" panose="02020500000000000000" pitchFamily="18" charset="-120"/>
                        </a:rPr>
                        <a:t>​</a:t>
                      </a:r>
                      <a:endParaRPr lang="zh-TW" alt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r>
                        <a:rPr lang="zh-TW" altLang="en-US" sz="1200" b="1" i="0" u="none" strike="noStrike" dirty="0">
                          <a:solidFill>
                            <a:srgbClr val="FFC000"/>
                          </a:solidFill>
                          <a:effectLst/>
                          <a:ea typeface="PMingLiU" panose="02020500000000000000" pitchFamily="18" charset="-120"/>
                        </a:rPr>
                        <a:t>階</a:t>
                      </a:r>
                      <a:r>
                        <a:rPr lang="zh-TW" altLang="en-US" sz="1200" b="1" i="0" dirty="0">
                          <a:solidFill>
                            <a:srgbClr val="FFFFFF"/>
                          </a:solidFill>
                          <a:effectLst/>
                          <a:latin typeface="PMingLiU" panose="02020500000000000000" pitchFamily="18" charset="-120"/>
                        </a:rPr>
                        <a:t>​</a:t>
                      </a:r>
                      <a:endParaRPr lang="zh-TW" alt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zh-TW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ea typeface="PMingLiU" panose="02020500000000000000" pitchFamily="18" charset="-120"/>
                        </a:rPr>
                        <a:t>色溫</a:t>
                      </a:r>
                      <a:r>
                        <a:rPr lang="zh-TW" altLang="en-US" sz="1200" b="1" i="0" dirty="0">
                          <a:solidFill>
                            <a:srgbClr val="FFFFFF"/>
                          </a:solidFill>
                          <a:effectLst/>
                          <a:latin typeface="PMingLiU" panose="02020500000000000000" pitchFamily="18" charset="-120"/>
                        </a:rPr>
                        <a:t>​</a:t>
                      </a:r>
                      <a:endParaRPr lang="zh-TW" altLang="en-US" sz="12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11860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DICOM</a:t>
                      </a:r>
                      <a:endParaRPr lang="en-US" altLang="zh-TW" sz="12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5400</a:t>
                      </a:r>
                      <a:r>
                        <a:rPr lang="en-US" altLang="zh-TW" sz="1200" b="0" i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​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PASS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5495</a:t>
                      </a:r>
                      <a:r>
                        <a:rPr lang="en-US" altLang="zh-TW" sz="1200" b="0" i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​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265698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6500</a:t>
                      </a:r>
                      <a:r>
                        <a:rPr lang="en-US" altLang="zh-TW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PASS</a:t>
                      </a:r>
                      <a:endParaRPr lang="en-US" altLang="zh-TW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Arial"/>
                        </a:rPr>
                        <a:t>6277</a:t>
                      </a:r>
                      <a:endParaRPr lang="en-US" altLang="zh-TW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35195"/>
                  </a:ext>
                </a:extLst>
              </a:tr>
              <a:tr h="345797">
                <a:tc>
                  <a:txBody>
                    <a:bodyPr/>
                    <a:lstStyle/>
                    <a:p>
                      <a:pPr algn="ctr" fontAlgn="auto"/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ea typeface="PMingLiU" panose="02020500000000000000" pitchFamily="18" charset="-120"/>
                        </a:rPr>
                        <a:t>​</a:t>
                      </a: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9300</a:t>
                      </a:r>
                      <a:r>
                        <a:rPr lang="en-US" altLang="zh-TW" sz="1200" b="0" i="0" dirty="0">
                          <a:solidFill>
                            <a:srgbClr val="000000"/>
                          </a:solidFill>
                          <a:effectLst/>
                          <a:ea typeface="Arial" panose="020B0604020202020204" pitchFamily="34" charset="0"/>
                        </a:rPr>
                        <a:t>​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FAILED</a:t>
                      </a:r>
                      <a:endParaRPr lang="en-US" altLang="zh-TW" sz="1200" b="0" i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9304</a:t>
                      </a:r>
                      <a:endParaRPr lang="en-US" altLang="zh-TW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45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202100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0C5C277B-858B-45B7-94AB-85F705CA13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0"/>
          <a:stretch/>
        </p:blipFill>
        <p:spPr>
          <a:xfrm>
            <a:off x="3311862" y="1578773"/>
            <a:ext cx="3282278" cy="267971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5E11587-B91A-F3B4-903B-F82F565F1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79" y="1545199"/>
            <a:ext cx="3284166" cy="267971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9EB0DC9-5699-5167-7C55-B397F92600E5}"/>
              </a:ext>
            </a:extLst>
          </p:cNvPr>
          <p:cNvSpPr/>
          <p:nvPr/>
        </p:nvSpPr>
        <p:spPr>
          <a:xfrm>
            <a:off x="7502582" y="4227513"/>
            <a:ext cx="17491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DICOM_9300K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CEEEE-DEBA-C52A-B8C9-5A6CDBF74230}"/>
              </a:ext>
            </a:extLst>
          </p:cNvPr>
          <p:cNvSpPr/>
          <p:nvPr/>
        </p:nvSpPr>
        <p:spPr>
          <a:xfrm>
            <a:off x="4078400" y="4224917"/>
            <a:ext cx="17491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DICOM_6500K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1AEE27-C6A7-D35D-59DF-AAFD56C60FA6}"/>
              </a:ext>
            </a:extLst>
          </p:cNvPr>
          <p:cNvSpPr/>
          <p:nvPr/>
        </p:nvSpPr>
        <p:spPr>
          <a:xfrm>
            <a:off x="796122" y="4203623"/>
            <a:ext cx="174919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DICOM_5400K</a:t>
            </a:r>
            <a:endParaRPr lang="zh-TW" altLang="en-US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009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419006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37393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655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16003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溝通驗證小型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STM32F4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集成電路控制板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ALC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8582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915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根據第四期計畫書中內容進行開發，以下分別為階段二目標和當前開發進度及優先序。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50029"/>
              </p:ext>
            </p:extLst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7915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251529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en-US" altLang="zh-TW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末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665601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986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1885672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 Auto Self Calibration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功能驗證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MARS-922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優化細節報告，產生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檔報告至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2.0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階段五期末報告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19591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872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287234</TotalTime>
  <Words>1237</Words>
  <Application>Microsoft Office PowerPoint</Application>
  <PresentationFormat>A4 紙張 (210x297 公釐)</PresentationFormat>
  <Paragraphs>345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Noto Sans Symbols</vt:lpstr>
      <vt:lpstr>新細明體</vt:lpstr>
      <vt:lpstr>標楷體</vt:lpstr>
      <vt:lpstr>Arial</vt:lpstr>
      <vt:lpstr>Calibri</vt:lpstr>
      <vt:lpstr>Cambria Math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下次進度: Monitor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宏德 林</cp:lastModifiedBy>
  <cp:revision>2345</cp:revision>
  <dcterms:created xsi:type="dcterms:W3CDTF">2003-02-17T16:04:03Z</dcterms:created>
  <dcterms:modified xsi:type="dcterms:W3CDTF">2026-07-28T06:18:54Z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