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8" r:id="rId1"/>
  </p:sldMasterIdLst>
  <p:notesMasterIdLst>
    <p:notesMasterId r:id="rId15"/>
  </p:notesMasterIdLst>
  <p:sldIdLst>
    <p:sldId id="277" r:id="rId2"/>
    <p:sldId id="1936" r:id="rId3"/>
    <p:sldId id="1784" r:id="rId4"/>
    <p:sldId id="1948" r:id="rId5"/>
    <p:sldId id="1946" r:id="rId6"/>
    <p:sldId id="1950" r:id="rId7"/>
    <p:sldId id="1949" r:id="rId8"/>
    <p:sldId id="1956" r:id="rId9"/>
    <p:sldId id="1954" r:id="rId10"/>
    <p:sldId id="1955" r:id="rId11"/>
    <p:sldId id="1951" r:id="rId12"/>
    <p:sldId id="1952" r:id="rId13"/>
    <p:sldId id="286" r:id="rId14"/>
  </p:sldIdLst>
  <p:sldSz cx="9906000" cy="6858000" type="A4"/>
  <p:notesSz cx="7315200" cy="96012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Head" id="{9114FBB3-8B00-422B-ACC9-030F49096E83}">
          <p14:sldIdLst>
            <p14:sldId id="277"/>
          </p14:sldIdLst>
        </p14:section>
        <p14:section name="Monitor" id="{7925A652-D02A-4F07-B4BA-109FEF573EC6}">
          <p14:sldIdLst>
            <p14:sldId id="1936"/>
            <p14:sldId id="1784"/>
            <p14:sldId id="1948"/>
            <p14:sldId id="1946"/>
            <p14:sldId id="1950"/>
            <p14:sldId id="1949"/>
            <p14:sldId id="1956"/>
            <p14:sldId id="1954"/>
            <p14:sldId id="1955"/>
            <p14:sldId id="1951"/>
            <p14:sldId id="1952"/>
          </p14:sldIdLst>
        </p14:section>
        <p14:section name="JS1500" id="{F71E69A4-C86C-4DAC-B828-42C2D8800267}">
          <p14:sldIdLst/>
        </p14:section>
        <p14:section name="End" id="{33EEDC85-A799-4CB3-BF13-F4955B8630BE}">
          <p14:sldIdLst>
            <p14:sldId id="28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10902143" initials="m" lastIdx="1" clrIdx="0"/>
  <p:cmAuthor id="2" name="James Kuo" initials="JK" lastIdx="1" clrIdx="1"/>
  <p:cmAuthor id="3" name="昇鴻 李" initials="昇鴻" lastIdx="1" clrIdx="2">
    <p:extLst>
      <p:ext uri="{19B8F6BF-5375-455C-9EA6-DF929625EA0E}">
        <p15:presenceInfo xmlns:p15="http://schemas.microsoft.com/office/powerpoint/2012/main" userId="72a70edeaa250c2c" providerId="Windows Live"/>
      </p:ext>
    </p:extLst>
  </p:cmAuthor>
  <p:cmAuthor id="4" name="宏德 林" initials="宏林" lastIdx="2" clrIdx="3">
    <p:extLst>
      <p:ext uri="{19B8F6BF-5375-455C-9EA6-DF929625EA0E}">
        <p15:presenceInfo xmlns:p15="http://schemas.microsoft.com/office/powerpoint/2012/main" userId="933d0002216be5bd" providerId="Windows Live"/>
      </p:ext>
    </p:extLst>
  </p:cmAuthor>
  <p:cmAuthor id="5" name="LI CHIH HSIANG" initials="LCH" lastIdx="6" clrIdx="4">
    <p:extLst>
      <p:ext uri="{19B8F6BF-5375-455C-9EA6-DF929625EA0E}">
        <p15:presenceInfo xmlns:p15="http://schemas.microsoft.com/office/powerpoint/2012/main" userId="LI CHIH HSIANG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00"/>
    <a:srgbClr val="00B050"/>
    <a:srgbClr val="0057C0"/>
    <a:srgbClr val="FFC000"/>
    <a:srgbClr val="FFFFFF"/>
    <a:srgbClr val="000000"/>
    <a:srgbClr val="8958B1"/>
    <a:srgbClr val="C58DEF"/>
    <a:srgbClr val="993366"/>
    <a:srgbClr val="58148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BD433FD4-3D7A-4217-8E80-1680D7E9CC69}" styleName="Table_0">
    <a:wholeTbl>
      <a:tcTxStyle b="off" i="off">
        <a:font>
          <a:latin typeface="Times New Roman"/>
          <a:ea typeface="Times New Roman"/>
          <a:cs typeface="Times New Roman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rgbClr val="E6E6E6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E6E6E6"/>
          </a:solidFill>
        </a:fill>
      </a:tcStyle>
    </a:band1V>
    <a:band2V>
      <a:tcStyle>
        <a:tcBdr/>
      </a:tcStyle>
    </a:band2V>
    <a:lastCol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 i="off"/>
      <a:tcStyle>
        <a:tcBdr>
          <a:top>
            <a:ln w="508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lt1"/>
          </a:solidFill>
        </a:fill>
      </a:tcStyle>
    </a:lastRow>
    <a:seCell>
      <a:tcTxStyle b="on" i="off">
        <a:font>
          <a:latin typeface="Times New Roman"/>
          <a:ea typeface="Times New Roman"/>
          <a:cs typeface="Times New Roman"/>
        </a:font>
        <a:schemeClr val="dk1"/>
      </a:tcTxStyle>
      <a:tcStyle>
        <a:tcBdr/>
      </a:tcStyle>
    </a:seCell>
    <a:swCell>
      <a:tcTxStyle b="on" i="off">
        <a:font>
          <a:latin typeface="Times New Roman"/>
          <a:ea typeface="Times New Roman"/>
          <a:cs typeface="Times New Roman"/>
        </a:font>
        <a:schemeClr val="dk1"/>
      </a:tcTxStyle>
      <a:tcStyle>
        <a:tcBdr/>
      </a:tcStyle>
    </a:swCell>
    <a:firstRow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>
          <a:bottom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2"/>
          </a:solidFill>
        </a:fill>
      </a:tcStyle>
    </a:firstRow>
    <a:neCell>
      <a:tcStyle>
        <a:tcBdr/>
      </a:tcStyle>
    </a:neCell>
    <a:nwCell>
      <a:tcStyle>
        <a:tcBdr/>
      </a:tcStyle>
    </a:nwCell>
  </a:tblStyle>
  <a:tblStyle styleId="{3E919B74-BC6B-4152-9BDB-477648A112FC}" styleName="Table_1">
    <a:wholeTbl>
      <a:tcTxStyle b="off" i="off">
        <a:font>
          <a:latin typeface="Times New Roman"/>
          <a:ea typeface="Times New Roman"/>
          <a:cs typeface="Times New Roman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6F6EF"/>
          </a:solidFill>
        </a:fill>
      </a:tcStyle>
    </a:wholeTbl>
    <a:band1H>
      <a:tcStyle>
        <a:tcBdr/>
        <a:fill>
          <a:solidFill>
            <a:srgbClr val="CAECDD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CAECDD"/>
          </a:solidFill>
        </a:fill>
      </a:tcStyle>
    </a:band1V>
    <a:band2V>
      <a:tcStyle>
        <a:tcBdr/>
      </a:tcStyle>
    </a:band2V>
    <a:lastCol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Style>
        <a:tcBdr/>
      </a:tcStyle>
    </a:neCell>
    <a:nwCell>
      <a:tcStyle>
        <a:tcBdr/>
      </a:tcStyle>
    </a:nwCell>
  </a:tblStyle>
  <a:tblStyle styleId="{72833802-FEF1-4C79-8D5D-14CF1EAF98D9}" styleName="淺色樣式 2 - 輔色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9C7853C-536D-4A76-A0AE-DD22124D55A5}" styleName="佈景主題樣式 1 - 輔色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75DCB02-9BB8-47FD-8907-85C794F793BA}" styleName="佈景主題樣式 1 - 輔色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84E427A-3D55-4303-BF80-6455036E1DE7}" styleName="佈景主題樣式 1 - 輔色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佈景主題樣式 1 - 輔色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18603FDC-E32A-4AB5-989C-0864C3EAD2B8}" styleName="佈景主題樣式 2 - 輔色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0E3FDE45-AF77-4B5C-9715-49D594BDF05E}" styleName="淺色樣式 1 - 輔色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0A1B5D5-9B99-4C35-A422-299274C87663}" styleName="中等深淺樣式 1 - 輔色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中等深淺樣式 2 - 輔色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78545" autoAdjust="0"/>
  </p:normalViewPr>
  <p:slideViewPr>
    <p:cSldViewPr snapToGrid="0">
      <p:cViewPr varScale="1">
        <p:scale>
          <a:sx n="110" d="100"/>
          <a:sy n="110" d="100"/>
        </p:scale>
        <p:origin x="1416" y="114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50" d="100"/>
        <a:sy n="150" d="100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3024"/>
        <p:guide pos="230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9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176588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350" tIns="51175" rIns="102350" bIns="5117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 dirty="0"/>
          </a:p>
        </p:txBody>
      </p:sp>
      <p:sp>
        <p:nvSpPr>
          <p:cNvPr id="1048660" name="Google Shape;4;n"/>
          <p:cNvSpPr txBox="1">
            <a:spLocks noGrp="1"/>
          </p:cNvSpPr>
          <p:nvPr>
            <p:ph type="dt" idx="10"/>
          </p:nvPr>
        </p:nvSpPr>
        <p:spPr>
          <a:xfrm>
            <a:off x="4138613" y="0"/>
            <a:ext cx="3176587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350" tIns="51175" rIns="102350" bIns="51175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 dirty="0"/>
          </a:p>
        </p:txBody>
      </p:sp>
      <p:sp>
        <p:nvSpPr>
          <p:cNvPr id="1048661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062038" y="735013"/>
            <a:ext cx="5197475" cy="359886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048662" name="Google Shape;6;n"/>
          <p:cNvSpPr txBox="1">
            <a:spLocks noGrp="1"/>
          </p:cNvSpPr>
          <p:nvPr>
            <p:ph type="body" idx="1"/>
          </p:nvPr>
        </p:nvSpPr>
        <p:spPr>
          <a:xfrm>
            <a:off x="962025" y="4567238"/>
            <a:ext cx="5391150" cy="4300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350" tIns="51175" rIns="102350" bIns="51175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48663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134475"/>
            <a:ext cx="3176588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350" tIns="51175" rIns="102350" bIns="51175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 dirty="0"/>
          </a:p>
        </p:txBody>
      </p:sp>
      <p:sp>
        <p:nvSpPr>
          <p:cNvPr id="1048664" name="Google Shape;8;n"/>
          <p:cNvSpPr txBox="1">
            <a:spLocks noGrp="1"/>
          </p:cNvSpPr>
          <p:nvPr>
            <p:ph type="sldNum" idx="12"/>
          </p:nvPr>
        </p:nvSpPr>
        <p:spPr>
          <a:xfrm>
            <a:off x="4138613" y="9134475"/>
            <a:ext cx="3176587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350" tIns="51175" rIns="102350" bIns="51175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5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586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1048587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753A29-9D77-4C26-8BEC-432FE5D4B0A4}" type="slidenum">
              <a:rPr lang="en-US" altLang="zh-TW" smtClean="0"/>
              <a:t>1</a:t>
            </a:fld>
            <a:endParaRPr lang="en-US" altLang="zh-TW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FB8052-553F-DC52-5D97-20BD22157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F8DA0D87-C7FA-7F54-314E-D4295614EE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39204A75-DF32-18E0-4B4A-BB411D3A90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90C941E-3884-1379-C460-BF93668359D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692963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FB8052-553F-DC52-5D97-20BD22157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F8DA0D87-C7FA-7F54-314E-D4295614EE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39204A75-DF32-18E0-4B4A-BB411D3A90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90C941E-3884-1379-C460-BF93668359D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7710130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110AC-F4A0-7D78-93B0-AF6E23C1C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D5172F1-B577-25A9-AA74-C6AF676616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9BD86B3-8EAB-902A-DCF6-698ADFDE9E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9A9F744-724B-AE5D-EE31-BDB2E094083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7829788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110AC-F4A0-7D78-93B0-AF6E23C1C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D5172F1-B577-25A9-AA74-C6AF676616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9BD86B3-8EAB-902A-DCF6-698ADFDE9E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9A9F744-724B-AE5D-EE31-BDB2E094083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5674522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110AC-F4A0-7D78-93B0-AF6E23C1C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D5172F1-B577-25A9-AA74-C6AF676616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9BD86B3-8EAB-902A-DCF6-698ADFDE9E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9A9F744-724B-AE5D-EE31-BDB2E094083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782079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110AC-F4A0-7D78-93B0-AF6E23C1C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D5172F1-B577-25A9-AA74-C6AF676616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9BD86B3-8EAB-902A-DCF6-698ADFDE9E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9A9F744-724B-AE5D-EE31-BDB2E094083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0127063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110AC-F4A0-7D78-93B0-AF6E23C1C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D5172F1-B577-25A9-AA74-C6AF676616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9BD86B3-8EAB-902A-DCF6-698ADFDE9E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9A9F744-724B-AE5D-EE31-BDB2E094083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04556446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110AC-F4A0-7D78-93B0-AF6E23C1C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D5172F1-B577-25A9-AA74-C6AF676616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9BD86B3-8EAB-902A-DCF6-698ADFDE9E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9A9F744-724B-AE5D-EE31-BDB2E094083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74662769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110AC-F4A0-7D78-93B0-AF6E23C1C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D5172F1-B577-25A9-AA74-C6AF676616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9BD86B3-8EAB-902A-DCF6-698ADFDE9E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9A9F744-724B-AE5D-EE31-BDB2E094083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43746956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FB8052-553F-DC52-5D97-20BD22157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F8DA0D87-C7FA-7F54-314E-D4295614EE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39204A75-DF32-18E0-4B4A-BB411D3A90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90C941E-3884-1379-C460-BF93668359D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11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6254962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FB8052-553F-DC52-5D97-20BD22157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F8DA0D87-C7FA-7F54-314E-D4295614EE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39204A75-DF32-18E0-4B4A-BB411D3A90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90C941E-3884-1379-C460-BF93668359D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54518030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1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642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0">
              <a:buNone/>
            </a:pPr>
            <a:endParaRPr lang="en-US" altLang="zh-TW" dirty="0"/>
          </a:p>
        </p:txBody>
      </p:sp>
      <p:sp>
        <p:nvSpPr>
          <p:cNvPr id="1048643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753A29-9D77-4C26-8BEC-432FE5D4B0A4}" type="slidenum">
              <a:rPr lang="en-US" altLang="zh-TW" smtClean="0"/>
              <a:t>13</a:t>
            </a:fld>
            <a:endParaRPr lang="en-US" altLang="zh-TW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投影片" type="title">
  <p:cSld name="TITLE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6" name="Google Shape;21;p50"/>
          <p:cNvSpPr txBox="1"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4875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37" name="Google Shape;22;p50"/>
          <p:cNvSpPr txBox="1"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390"/>
              </a:spcBef>
              <a:spcAft>
                <a:spcPts val="0"/>
              </a:spcAft>
              <a:buSzPts val="1950"/>
              <a:buNone/>
              <a:defRPr sz="1950"/>
            </a:lvl1pPr>
            <a:lvl2pPr lvl="1" algn="ctr">
              <a:spcBef>
                <a:spcPts val="325"/>
              </a:spcBef>
              <a:spcAft>
                <a:spcPts val="0"/>
              </a:spcAft>
              <a:buSzPts val="1625"/>
              <a:buNone/>
              <a:defRPr sz="1625"/>
            </a:lvl2pPr>
            <a:lvl3pPr lvl="2" algn="ctr">
              <a:spcBef>
                <a:spcPts val="293"/>
              </a:spcBef>
              <a:spcAft>
                <a:spcPts val="0"/>
              </a:spcAft>
              <a:buSzPts val="1463"/>
              <a:buFont typeface="Times New Roman"/>
              <a:buNone/>
              <a:defRPr sz="1463"/>
            </a:lvl3pPr>
            <a:lvl4pPr lvl="3" algn="ctr">
              <a:spcBef>
                <a:spcPts val="260"/>
              </a:spcBef>
              <a:spcAft>
                <a:spcPts val="0"/>
              </a:spcAft>
              <a:buSzPts val="1300"/>
              <a:buFont typeface="Times New Roman"/>
              <a:buNone/>
              <a:defRPr sz="1300"/>
            </a:lvl4pPr>
            <a:lvl5pPr lvl="4" algn="ctr">
              <a:spcBef>
                <a:spcPts val="260"/>
              </a:spcBef>
              <a:spcAft>
                <a:spcPts val="0"/>
              </a:spcAft>
              <a:buSzPts val="1300"/>
              <a:buFont typeface="Times New Roman"/>
              <a:buNone/>
              <a:defRPr sz="1300"/>
            </a:lvl5pPr>
            <a:lvl6pPr lvl="5" algn="ctr">
              <a:spcBef>
                <a:spcPts val="260"/>
              </a:spcBef>
              <a:spcAft>
                <a:spcPts val="0"/>
              </a:spcAft>
              <a:buSzPts val="1300"/>
              <a:buFont typeface="Times New Roman"/>
              <a:buNone/>
              <a:defRPr sz="1300"/>
            </a:lvl6pPr>
            <a:lvl7pPr lvl="6" algn="ctr">
              <a:spcBef>
                <a:spcPts val="260"/>
              </a:spcBef>
              <a:spcAft>
                <a:spcPts val="0"/>
              </a:spcAft>
              <a:buSzPts val="1300"/>
              <a:buFont typeface="Times New Roman"/>
              <a:buNone/>
              <a:defRPr sz="1300"/>
            </a:lvl7pPr>
            <a:lvl8pPr lvl="7" algn="ctr">
              <a:spcBef>
                <a:spcPts val="260"/>
              </a:spcBef>
              <a:spcAft>
                <a:spcPts val="0"/>
              </a:spcAft>
              <a:buSzPts val="1300"/>
              <a:buFont typeface="Times New Roman"/>
              <a:buNone/>
              <a:defRPr sz="1300"/>
            </a:lvl8pPr>
            <a:lvl9pPr lvl="8" algn="ctr">
              <a:spcBef>
                <a:spcPts val="260"/>
              </a:spcBef>
              <a:spcAft>
                <a:spcPts val="0"/>
              </a:spcAft>
              <a:buSzPts val="1300"/>
              <a:buFont typeface="Times New Roman"/>
              <a:buNone/>
              <a:defRPr sz="1300"/>
            </a:lvl9pPr>
          </a:lstStyle>
          <a:p>
            <a:endParaRPr/>
          </a:p>
        </p:txBody>
      </p:sp>
      <p:sp>
        <p:nvSpPr>
          <p:cNvPr id="1048638" name="Google Shape;23;p50"/>
          <p:cNvSpPr txBox="1">
            <a:spLocks noGrp="1"/>
          </p:cNvSpPr>
          <p:nvPr>
            <p:ph type="dt" idx="10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 dirty="0"/>
          </a:p>
        </p:txBody>
      </p:sp>
      <p:sp>
        <p:nvSpPr>
          <p:cNvPr id="1048639" name="Google Shape;24;p50"/>
          <p:cNvSpPr txBox="1">
            <a:spLocks noGrp="1"/>
          </p:cNvSpPr>
          <p:nvPr>
            <p:ph type="ftr" idx="1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 dirty="0"/>
          </a:p>
        </p:txBody>
      </p:sp>
      <p:sp>
        <p:nvSpPr>
          <p:cNvPr id="1048640" name="Google Shape;25;p50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6" name="Google Shape;37;p5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47" name="Google Shape;38;p54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9pPr>
          </a:lstStyle>
          <a:p>
            <a:endParaRPr/>
          </a:p>
        </p:txBody>
      </p:sp>
      <p:sp>
        <p:nvSpPr>
          <p:cNvPr id="1048648" name="Google Shape;39;p54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SzPts val="2400"/>
              <a:buChar char="❖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9pPr>
          </a:lstStyle>
          <a:p>
            <a:endParaRPr/>
          </a:p>
        </p:txBody>
      </p:sp>
      <p:sp>
        <p:nvSpPr>
          <p:cNvPr id="1048649" name="Google Shape;40;p54"/>
          <p:cNvSpPr txBox="1">
            <a:spLocks noGrp="1"/>
          </p:cNvSpPr>
          <p:nvPr>
            <p:ph type="body" idx="3"/>
          </p:nvPr>
        </p:nvSpPr>
        <p:spPr>
          <a:xfrm>
            <a:off x="4645027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9pPr>
          </a:lstStyle>
          <a:p>
            <a:endParaRPr/>
          </a:p>
        </p:txBody>
      </p:sp>
      <p:sp>
        <p:nvSpPr>
          <p:cNvPr id="1048650" name="Google Shape;41;p54"/>
          <p:cNvSpPr txBox="1">
            <a:spLocks noGrp="1"/>
          </p:cNvSpPr>
          <p:nvPr>
            <p:ph type="body" idx="4"/>
          </p:nvPr>
        </p:nvSpPr>
        <p:spPr>
          <a:xfrm>
            <a:off x="4645027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SzPts val="2400"/>
              <a:buChar char="❖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3" name="Google Shape;43;p55"/>
          <p:cNvSpPr txBox="1">
            <a:spLocks noGrp="1"/>
          </p:cNvSpPr>
          <p:nvPr>
            <p:ph type="title"/>
          </p:nvPr>
        </p:nvSpPr>
        <p:spPr>
          <a:xfrm>
            <a:off x="660400" y="609600"/>
            <a:ext cx="87503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4" name="Google Shape;50;p58"/>
          <p:cNvSpPr txBox="1">
            <a:spLocks noGrp="1"/>
          </p:cNvSpPr>
          <p:nvPr>
            <p:ph type="title"/>
          </p:nvPr>
        </p:nvSpPr>
        <p:spPr>
          <a:xfrm>
            <a:off x="1792290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55" name="Google Shape;51;p58"/>
          <p:cNvSpPr>
            <a:spLocks noGrp="1"/>
          </p:cNvSpPr>
          <p:nvPr>
            <p:ph type="pic" idx="2"/>
          </p:nvPr>
        </p:nvSpPr>
        <p:spPr>
          <a:xfrm>
            <a:off x="1792290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64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Noto Sans Symbols"/>
              <a:buNone/>
              <a:defRPr sz="3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rgbClr val="FF5050"/>
              </a:buClr>
              <a:buSzPts val="2800"/>
              <a:buFont typeface="Noto Sans Symbols"/>
              <a:buNone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480"/>
              </a:spcBef>
              <a:spcAft>
                <a:spcPts val="0"/>
              </a:spcAft>
              <a:buClr>
                <a:srgbClr val="6699FF"/>
              </a:buClr>
              <a:buSzPts val="2400"/>
              <a:buFont typeface="Times New Roman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 dirty="0"/>
          </a:p>
        </p:txBody>
      </p:sp>
      <p:sp>
        <p:nvSpPr>
          <p:cNvPr id="1048656" name="Google Shape;52;p58"/>
          <p:cNvSpPr txBox="1">
            <a:spLocks noGrp="1"/>
          </p:cNvSpPr>
          <p:nvPr>
            <p:ph type="body" idx="1"/>
          </p:nvPr>
        </p:nvSpPr>
        <p:spPr>
          <a:xfrm>
            <a:off x="1792290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SzPts val="1000"/>
              <a:buFont typeface="Times New Roman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4" name="Google Shape;54;p59"/>
          <p:cNvSpPr txBox="1">
            <a:spLocks noGrp="1"/>
          </p:cNvSpPr>
          <p:nvPr>
            <p:ph type="title"/>
          </p:nvPr>
        </p:nvSpPr>
        <p:spPr>
          <a:xfrm>
            <a:off x="660400" y="609600"/>
            <a:ext cx="87503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45" name="Google Shape;55;p59"/>
          <p:cNvSpPr txBox="1">
            <a:spLocks noGrp="1"/>
          </p:cNvSpPr>
          <p:nvPr>
            <p:ph type="body" idx="1"/>
          </p:nvPr>
        </p:nvSpPr>
        <p:spPr>
          <a:xfrm rot="5400000">
            <a:off x="2593975" y="-485775"/>
            <a:ext cx="4800600" cy="8667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SzPts val="1800"/>
              <a:buChar char="❖"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7" name="Google Shape;57;p60"/>
          <p:cNvSpPr txBox="1">
            <a:spLocks noGrp="1"/>
          </p:cNvSpPr>
          <p:nvPr>
            <p:ph type="title"/>
          </p:nvPr>
        </p:nvSpPr>
        <p:spPr>
          <a:xfrm rot="5400000">
            <a:off x="4857751" y="2419350"/>
            <a:ext cx="5638800" cy="201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58" name="Google Shape;58;p60"/>
          <p:cNvSpPr txBox="1">
            <a:spLocks noGrp="1"/>
          </p:cNvSpPr>
          <p:nvPr>
            <p:ph type="body" idx="1"/>
          </p:nvPr>
        </p:nvSpPr>
        <p:spPr>
          <a:xfrm rot="5400000">
            <a:off x="742951" y="476250"/>
            <a:ext cx="5638800" cy="590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SzPts val="1800"/>
              <a:buChar char="❖"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>
  <p:cSld name="1_Title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9" name="Title 1"/>
          <p:cNvSpPr>
            <a:spLocks noGrp="1"/>
          </p:cNvSpPr>
          <p:nvPr>
            <p:ph type="title"/>
          </p:nvPr>
        </p:nvSpPr>
        <p:spPr>
          <a:xfrm>
            <a:off x="609602" y="609600"/>
            <a:ext cx="8077200" cy="533400"/>
          </a:xfrm>
        </p:spPr>
        <p:txBody>
          <a:bodyPr/>
          <a:lstStyle/>
          <a:p>
            <a:r>
              <a:rPr lang="en-US" altLang="zh-TW" dirty="0"/>
              <a:t>Click to edit Master title style</a:t>
            </a:r>
            <a:endParaRPr lang="en-US" dirty="0"/>
          </a:p>
        </p:txBody>
      </p:sp>
      <p:sp>
        <p:nvSpPr>
          <p:cNvPr id="1048580" name="Chart Placeholder 2"/>
          <p:cNvSpPr>
            <a:spLocks noGrp="1"/>
          </p:cNvSpPr>
          <p:nvPr>
            <p:ph type="chart" idx="1"/>
          </p:nvPr>
        </p:nvSpPr>
        <p:spPr>
          <a:xfrm>
            <a:off x="609600" y="1447800"/>
            <a:ext cx="8001000" cy="4800600"/>
          </a:xfrm>
        </p:spPr>
        <p:txBody>
          <a:bodyPr/>
          <a:lstStyle/>
          <a:p>
            <a:pPr lvl="0"/>
            <a:endParaRPr lang="en-US" noProof="0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US"/>
          </a:p>
        </p:txBody>
      </p:sp>
      <p:sp>
        <p:nvSpPr>
          <p:cNvPr id="1048652" name="Title 1"/>
          <p:cNvSpPr>
            <a:spLocks noGrp="1"/>
          </p:cNvSpPr>
          <p:nvPr>
            <p:ph type="title"/>
          </p:nvPr>
        </p:nvSpPr>
        <p:spPr>
          <a:xfrm>
            <a:off x="660400" y="609600"/>
            <a:ext cx="8750300" cy="5334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 altLang="zh-TW" dirty="0"/>
              <a:t>Title of the Slide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jpe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Google Shape;10;p48"/>
          <p:cNvSpPr txBox="1">
            <a:spLocks noGrp="1"/>
          </p:cNvSpPr>
          <p:nvPr>
            <p:ph type="title"/>
          </p:nvPr>
        </p:nvSpPr>
        <p:spPr>
          <a:xfrm>
            <a:off x="660400" y="609600"/>
            <a:ext cx="87503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cxnSp>
        <p:nvCxnSpPr>
          <p:cNvPr id="3145728" name="Google Shape;11;p48"/>
          <p:cNvCxnSpPr>
            <a:cxnSpLocks/>
          </p:cNvCxnSpPr>
          <p:nvPr/>
        </p:nvCxnSpPr>
        <p:spPr>
          <a:xfrm>
            <a:off x="412750" y="533400"/>
            <a:ext cx="899795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45729" name="Google Shape;12;p48"/>
          <p:cNvCxnSpPr>
            <a:cxnSpLocks/>
          </p:cNvCxnSpPr>
          <p:nvPr/>
        </p:nvCxnSpPr>
        <p:spPr>
          <a:xfrm>
            <a:off x="577850" y="228600"/>
            <a:ext cx="0" cy="990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45730" name="Google Shape;13;p48"/>
          <p:cNvCxnSpPr>
            <a:cxnSpLocks/>
          </p:cNvCxnSpPr>
          <p:nvPr/>
        </p:nvCxnSpPr>
        <p:spPr>
          <a:xfrm>
            <a:off x="495300" y="6400800"/>
            <a:ext cx="89154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48577" name="Google Shape;14;p48"/>
          <p:cNvSpPr txBox="1">
            <a:spLocks noGrp="1"/>
          </p:cNvSpPr>
          <p:nvPr>
            <p:ph type="body" idx="1"/>
          </p:nvPr>
        </p:nvSpPr>
        <p:spPr>
          <a:xfrm>
            <a:off x="660400" y="1447800"/>
            <a:ext cx="8667750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048578" name="Google Shape;15;p48"/>
          <p:cNvSpPr txBox="1"/>
          <p:nvPr/>
        </p:nvSpPr>
        <p:spPr>
          <a:xfrm>
            <a:off x="8510587" y="6502400"/>
            <a:ext cx="817563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4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097152" name="Google Shape;16;p48"/>
          <p:cNvPicPr preferRelativeResize="0">
            <a:picLocks/>
          </p:cNvPicPr>
          <p:nvPr/>
        </p:nvPicPr>
        <p:blipFill rotWithShape="1">
          <a:blip r:embed="rId11">
            <a:alphaModFix/>
          </a:blip>
          <a:srcRect/>
          <a:stretch>
            <a:fillRect/>
          </a:stretch>
        </p:blipFill>
        <p:spPr>
          <a:xfrm>
            <a:off x="57150" y="6446838"/>
            <a:ext cx="1827213" cy="360362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Rectangle 2"/>
          <p:cNvSpPr>
            <a:spLocks noGrp="1" noChangeArrowheads="1"/>
          </p:cNvSpPr>
          <p:nvPr>
            <p:ph type="title"/>
          </p:nvPr>
        </p:nvSpPr>
        <p:spPr>
          <a:xfrm>
            <a:off x="668908" y="1829704"/>
            <a:ext cx="8568183" cy="1728539"/>
          </a:xfrm>
        </p:spPr>
        <p:txBody>
          <a:bodyPr/>
          <a:lstStyle/>
          <a:p>
            <a:pPr algn="ctr" eaLnBrk="1" hangingPunct="1"/>
            <a:r>
              <a:rPr lang="en-US" altLang="zh-TW" sz="3200" b="1" dirty="0">
                <a:solidFill>
                  <a:srgbClr val="0057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Progress Report</a:t>
            </a:r>
          </a:p>
        </p:txBody>
      </p:sp>
      <p:sp>
        <p:nvSpPr>
          <p:cNvPr id="1048582" name="Rectangle 2"/>
          <p:cNvSpPr txBox="1">
            <a:spLocks noChangeArrowheads="1"/>
          </p:cNvSpPr>
          <p:nvPr/>
        </p:nvSpPr>
        <p:spPr bwMode="auto">
          <a:xfrm>
            <a:off x="907104" y="3362630"/>
            <a:ext cx="8568183" cy="172853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+mn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9pPr>
          </a:lstStyle>
          <a:p>
            <a:pPr algn="ctr" eaLnBrk="1" hangingPunct="1"/>
            <a:endParaRPr lang="en-US" altLang="zh-TW" kern="0" dirty="0">
              <a:solidFill>
                <a:schemeClr val="tx1"/>
              </a:solidFill>
            </a:endParaRPr>
          </a:p>
        </p:txBody>
      </p:sp>
      <p:sp>
        <p:nvSpPr>
          <p:cNvPr id="1048583" name="Text Box 4"/>
          <p:cNvSpPr txBox="1">
            <a:spLocks noChangeArrowheads="1"/>
          </p:cNvSpPr>
          <p:nvPr/>
        </p:nvSpPr>
        <p:spPr bwMode="auto">
          <a:xfrm>
            <a:off x="1100262" y="4484365"/>
            <a:ext cx="7705476" cy="70788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/>
            <a:r>
              <a:rPr lang="en-US" altLang="zh-TW" sz="2000" dirty="0">
                <a:cs typeface="Times New Roman" panose="02020603050405020304" pitchFamily="18" charset="0"/>
              </a:rPr>
              <a:t>Author : </a:t>
            </a:r>
          </a:p>
          <a:p>
            <a:pPr algn="ctr"/>
            <a:r>
              <a:rPr lang="en-US" altLang="zh-TW" sz="2000" dirty="0">
                <a:cs typeface="Times New Roman" panose="02020603050405020304" pitchFamily="18" charset="0"/>
              </a:rPr>
              <a:t>Cheng-Yuan</a:t>
            </a:r>
            <a:r>
              <a:rPr lang="zh-TW" altLang="en-US" sz="2000" dirty="0">
                <a:cs typeface="Times New Roman" panose="02020603050405020304" pitchFamily="18" charset="0"/>
              </a:rPr>
              <a:t>、</a:t>
            </a:r>
            <a:r>
              <a:rPr lang="en-US" altLang="zh-TW" sz="2000" dirty="0">
                <a:cs typeface="Times New Roman" panose="02020603050405020304" pitchFamily="18" charset="0"/>
              </a:rPr>
              <a:t>Sheng-Yao</a:t>
            </a:r>
            <a:r>
              <a:rPr lang="zh-TW" altLang="en-US" sz="2000" dirty="0">
                <a:cs typeface="Times New Roman" panose="02020603050405020304" pitchFamily="18" charset="0"/>
              </a:rPr>
              <a:t>、</a:t>
            </a:r>
            <a:r>
              <a:rPr lang="en-US" altLang="zh-TW" sz="2000" dirty="0">
                <a:cs typeface="Times New Roman" panose="02020603050405020304" pitchFamily="18" charset="0"/>
              </a:rPr>
              <a:t>Che-Chia</a:t>
            </a:r>
          </a:p>
        </p:txBody>
      </p:sp>
      <p:sp>
        <p:nvSpPr>
          <p:cNvPr id="1048584" name="Text Box 4"/>
          <p:cNvSpPr txBox="1">
            <a:spLocks noChangeArrowheads="1"/>
          </p:cNvSpPr>
          <p:nvPr/>
        </p:nvSpPr>
        <p:spPr bwMode="auto">
          <a:xfrm>
            <a:off x="1100262" y="5673486"/>
            <a:ext cx="7705476" cy="46166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/>
            <a:r>
              <a:rPr lang="en-US" altLang="zh-TW" b="1" dirty="0">
                <a:solidFill>
                  <a:srgbClr val="0057C0"/>
                </a:solidFill>
              </a:rPr>
              <a:t>Embedded System Software Design</a:t>
            </a:r>
            <a:endParaRPr lang="en-US" altLang="zh-TW" sz="2000" b="1" dirty="0">
              <a:solidFill>
                <a:srgbClr val="0057C0"/>
              </a:solidFill>
              <a:latin typeface="+mn-lt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BC418-93FB-B85E-3E6C-30CE8CC22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7C5B78B-4B53-60CF-F0D2-7AB0EB61F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本次進度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Monitor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4A0E973E-B5E1-BA62-48A3-DFE218619D9F}"/>
              </a:ext>
            </a:extLst>
          </p:cNvPr>
          <p:cNvSpPr txBox="1"/>
          <p:nvPr/>
        </p:nvSpPr>
        <p:spPr>
          <a:xfrm>
            <a:off x="520699" y="1369489"/>
            <a:ext cx="7669813" cy="814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1" indent="-406400">
              <a:lnSpc>
                <a:spcPts val="3000"/>
              </a:lnSpc>
              <a:spcBef>
                <a:spcPts val="560"/>
              </a:spcBef>
              <a:buClr>
                <a:schemeClr val="accent2"/>
              </a:buClr>
              <a:buSzPts val="2800"/>
              <a:buFont typeface="Noto Sans Symbols"/>
              <a:buChar char="❖"/>
            </a:pP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根據第四期計畫書中內容進行開發，以下分別為階段一目標和當前開發進度及優先序。</a:t>
            </a: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04C713A4-B17F-52DB-4D68-9947ADDEA8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1340437"/>
              </p:ext>
            </p:extLst>
          </p:nvPr>
        </p:nvGraphicFramePr>
        <p:xfrm>
          <a:off x="570104" y="2311400"/>
          <a:ext cx="4903596" cy="23749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2917">
                  <a:extLst>
                    <a:ext uri="{9D8B030D-6E8A-4147-A177-3AD203B41FA5}">
                      <a16:colId xmlns:a16="http://schemas.microsoft.com/office/drawing/2014/main" val="1192615841"/>
                    </a:ext>
                  </a:extLst>
                </a:gridCol>
                <a:gridCol w="1079150">
                  <a:extLst>
                    <a:ext uri="{9D8B030D-6E8A-4147-A177-3AD203B41FA5}">
                      <a16:colId xmlns:a16="http://schemas.microsoft.com/office/drawing/2014/main" val="1364961183"/>
                    </a:ext>
                  </a:extLst>
                </a:gridCol>
                <a:gridCol w="2251529">
                  <a:extLst>
                    <a:ext uri="{9D8B030D-6E8A-4147-A177-3AD203B41FA5}">
                      <a16:colId xmlns:a16="http://schemas.microsoft.com/office/drawing/2014/main" val="2476587428"/>
                    </a:ext>
                  </a:extLst>
                </a:gridCol>
              </a:tblGrid>
              <a:tr h="395480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400" b="1" i="0" u="none" strike="noStrike" cap="none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時間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400" b="1" i="0" u="none" strike="noStrike" cap="none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目標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0900139"/>
                  </a:ext>
                </a:extLst>
              </a:tr>
              <a:tr h="1979433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3 month</a:t>
                      </a:r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MARS-922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溝通驗證小型</a:t>
                      </a: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STM32F4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集成電路控制板</a:t>
                      </a:r>
                      <a:endParaRPr lang="zh-TW" altLang="zh-TW" sz="14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MARS-922 ALC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功能驗證</a:t>
                      </a:r>
                      <a:endParaRPr lang="en-US" altLang="zh-TW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zh-TW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</a:t>
                      </a:r>
                      <a:r>
                        <a:rPr lang="zh-TW" altLang="en-US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五</a:t>
                      </a:r>
                      <a:r>
                        <a:rPr lang="zh-TW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期中報告</a:t>
                      </a:r>
                      <a:endParaRPr lang="zh-TW" altLang="en-US" sz="1400" b="0" i="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marL="17780" marR="17780" marT="0" marB="0"/>
                </a:tc>
                <a:extLst>
                  <a:ext uri="{0D108BD9-81ED-4DB2-BD59-A6C34878D82A}">
                    <a16:rowId xmlns:a16="http://schemas.microsoft.com/office/drawing/2014/main" val="2847363105"/>
                  </a:ext>
                </a:extLst>
              </a:tr>
            </a:tbl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ABE2C05B-3128-C4B4-FC74-79C315F3D6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5550032"/>
              </p:ext>
            </p:extLst>
          </p:nvPr>
        </p:nvGraphicFramePr>
        <p:xfrm>
          <a:off x="5604934" y="2353858"/>
          <a:ext cx="4022658" cy="23517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6655">
                  <a:extLst>
                    <a:ext uri="{9D8B030D-6E8A-4147-A177-3AD203B41FA5}">
                      <a16:colId xmlns:a16="http://schemas.microsoft.com/office/drawing/2014/main" val="761389866"/>
                    </a:ext>
                  </a:extLst>
                </a:gridCol>
                <a:gridCol w="1816003">
                  <a:extLst>
                    <a:ext uri="{9D8B030D-6E8A-4147-A177-3AD203B41FA5}">
                      <a16:colId xmlns:a16="http://schemas.microsoft.com/office/drawing/2014/main" val="1643138419"/>
                    </a:ext>
                  </a:extLst>
                </a:gridCol>
              </a:tblGrid>
              <a:tr h="459704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目標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進度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4917929"/>
                  </a:ext>
                </a:extLst>
              </a:tr>
              <a:tr h="630678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MARS-922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溝通驗證小型</a:t>
                      </a: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STM32F4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集成電路控制板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4902268"/>
                  </a:ext>
                </a:extLst>
              </a:tr>
              <a:tr h="630678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MARS-922 ALC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功能驗證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5210310"/>
                  </a:ext>
                </a:extLst>
              </a:tr>
              <a:tr h="630678">
                <a:tc>
                  <a:txBody>
                    <a:bodyPr/>
                    <a:lstStyle/>
                    <a:p>
                      <a:pPr marL="0" indent="0" algn="ctr">
                        <a:buFont typeface="+mj-lt"/>
                        <a:buNone/>
                      </a:pPr>
                      <a:r>
                        <a:rPr lang="zh-TW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</a:t>
                      </a:r>
                      <a:r>
                        <a:rPr lang="zh-TW" altLang="en-US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五</a:t>
                      </a:r>
                      <a:r>
                        <a:rPr lang="zh-TW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期中報告</a:t>
                      </a:r>
                      <a:endParaRPr lang="zh-TW" altLang="en-US" sz="1400" b="0" i="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  <a:sym typeface="Arial"/>
                      </a:endParaRPr>
                    </a:p>
                    <a:p>
                      <a:pPr marL="0" lvl="0" indent="0" algn="ctr">
                        <a:buFont typeface="+mj-lt"/>
                        <a:buNone/>
                      </a:pPr>
                      <a:endParaRPr lang="en-US" altLang="zh-TW" sz="1400" b="0" i="0" u="none" strike="noStrike" cap="none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O</a:t>
                      </a:r>
                      <a:endParaRPr lang="en-US" altLang="zh-TW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6247268"/>
                  </a:ext>
                </a:extLst>
              </a:tr>
            </a:tbl>
          </a:graphicData>
        </a:graphic>
      </p:graphicFrame>
      <p:sp>
        <p:nvSpPr>
          <p:cNvPr id="12" name="文字方塊 11">
            <a:extLst>
              <a:ext uri="{FF2B5EF4-FFF2-40B4-BE49-F238E27FC236}">
                <a16:creationId xmlns:a16="http://schemas.microsoft.com/office/drawing/2014/main" id="{ED75B16B-2D9B-C71E-BDE4-30C741E9E628}"/>
              </a:ext>
            </a:extLst>
          </p:cNvPr>
          <p:cNvSpPr txBox="1"/>
          <p:nvPr/>
        </p:nvSpPr>
        <p:spPr>
          <a:xfrm>
            <a:off x="8635013" y="1541843"/>
            <a:ext cx="952505" cy="7386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O: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完成</a:t>
            </a:r>
            <a:b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</a:b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△: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未進行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P: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進行中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2ABD0C2-0327-4104-B1D8-8BFBAFB39656}"/>
              </a:ext>
            </a:extLst>
          </p:cNvPr>
          <p:cNvSpPr/>
          <p:nvPr/>
        </p:nvSpPr>
        <p:spPr>
          <a:xfrm>
            <a:off x="5604934" y="2847301"/>
            <a:ext cx="4022658" cy="195913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462170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BC418-93FB-B85E-3E6C-30CE8CC22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7C5B78B-4B53-60CF-F0D2-7AB0EB61F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本次進度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Monitor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4A0E973E-B5E1-BA62-48A3-DFE218619D9F}"/>
              </a:ext>
            </a:extLst>
          </p:cNvPr>
          <p:cNvSpPr txBox="1"/>
          <p:nvPr/>
        </p:nvSpPr>
        <p:spPr>
          <a:xfrm>
            <a:off x="520699" y="1369489"/>
            <a:ext cx="7669813" cy="814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1" indent="-406400">
              <a:lnSpc>
                <a:spcPts val="3000"/>
              </a:lnSpc>
              <a:spcBef>
                <a:spcPts val="560"/>
              </a:spcBef>
              <a:buClr>
                <a:schemeClr val="accent2"/>
              </a:buClr>
              <a:buSzPts val="2800"/>
              <a:buFont typeface="Noto Sans Symbols"/>
              <a:buChar char="❖"/>
            </a:pP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根據第四期計畫書中內容進行開發，以下分別為階段二目標和當前開發進度及優先序。</a:t>
            </a: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04C713A4-B17F-52DB-4D68-9947ADDEA8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4786919"/>
              </p:ext>
            </p:extLst>
          </p:nvPr>
        </p:nvGraphicFramePr>
        <p:xfrm>
          <a:off x="570104" y="2311400"/>
          <a:ext cx="4903596" cy="23749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2917">
                  <a:extLst>
                    <a:ext uri="{9D8B030D-6E8A-4147-A177-3AD203B41FA5}">
                      <a16:colId xmlns:a16="http://schemas.microsoft.com/office/drawing/2014/main" val="1192615841"/>
                    </a:ext>
                  </a:extLst>
                </a:gridCol>
                <a:gridCol w="1079150">
                  <a:extLst>
                    <a:ext uri="{9D8B030D-6E8A-4147-A177-3AD203B41FA5}">
                      <a16:colId xmlns:a16="http://schemas.microsoft.com/office/drawing/2014/main" val="1364961183"/>
                    </a:ext>
                  </a:extLst>
                </a:gridCol>
                <a:gridCol w="2251529">
                  <a:extLst>
                    <a:ext uri="{9D8B030D-6E8A-4147-A177-3AD203B41FA5}">
                      <a16:colId xmlns:a16="http://schemas.microsoft.com/office/drawing/2014/main" val="2476587428"/>
                    </a:ext>
                  </a:extLst>
                </a:gridCol>
              </a:tblGrid>
              <a:tr h="395480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400" b="1" i="0" u="none" strike="noStrike" cap="none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時間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400" b="1" i="0" u="none" strike="noStrike" cap="none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目標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0900139"/>
                  </a:ext>
                </a:extLst>
              </a:tr>
              <a:tr h="1979433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3 month</a:t>
                      </a:r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MARS-922 Auto Self Calibration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功能驗證</a:t>
                      </a:r>
                      <a:endParaRPr lang="en-US" altLang="zh-TW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MARS-922</a:t>
                      </a:r>
                      <a:r>
                        <a:rPr lang="zh-TW" altLang="en-US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優化細節報告，產生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txt</a:t>
                      </a:r>
                      <a:r>
                        <a:rPr lang="zh-TW" altLang="en-US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檔報告至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USB 2.0</a:t>
                      </a:r>
                      <a:r>
                        <a:rPr lang="zh-TW" altLang="en-US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隨身碟裝置</a:t>
                      </a:r>
                      <a:endParaRPr lang="en-US" altLang="zh-TW" sz="14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zh-TW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</a:t>
                      </a:r>
                      <a:r>
                        <a:rPr lang="zh-TW" altLang="en-US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五</a:t>
                      </a:r>
                      <a:r>
                        <a:rPr lang="zh-TW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期</a:t>
                      </a:r>
                      <a:r>
                        <a:rPr lang="zh-TW" altLang="en-US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末</a:t>
                      </a:r>
                      <a:r>
                        <a:rPr lang="zh-TW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報告</a:t>
                      </a:r>
                      <a:endParaRPr lang="zh-TW" altLang="en-US" sz="1400" b="0" i="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marL="17780" marR="17780" marT="0" marB="0"/>
                </a:tc>
                <a:extLst>
                  <a:ext uri="{0D108BD9-81ED-4DB2-BD59-A6C34878D82A}">
                    <a16:rowId xmlns:a16="http://schemas.microsoft.com/office/drawing/2014/main" val="2847363105"/>
                  </a:ext>
                </a:extLst>
              </a:tr>
            </a:tbl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ABE2C05B-3128-C4B4-FC74-79C315F3D6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6801548"/>
              </p:ext>
            </p:extLst>
          </p:nvPr>
        </p:nvGraphicFramePr>
        <p:xfrm>
          <a:off x="5604934" y="2353858"/>
          <a:ext cx="4022658" cy="24525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6986">
                  <a:extLst>
                    <a:ext uri="{9D8B030D-6E8A-4147-A177-3AD203B41FA5}">
                      <a16:colId xmlns:a16="http://schemas.microsoft.com/office/drawing/2014/main" val="761389866"/>
                    </a:ext>
                  </a:extLst>
                </a:gridCol>
                <a:gridCol w="1885672">
                  <a:extLst>
                    <a:ext uri="{9D8B030D-6E8A-4147-A177-3AD203B41FA5}">
                      <a16:colId xmlns:a16="http://schemas.microsoft.com/office/drawing/2014/main" val="1643138419"/>
                    </a:ext>
                  </a:extLst>
                </a:gridCol>
              </a:tblGrid>
              <a:tr h="459704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目標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進度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4917929"/>
                  </a:ext>
                </a:extLst>
              </a:tr>
              <a:tr h="630678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MARS-922 Auto Self Calibration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功能驗證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4902268"/>
                  </a:ext>
                </a:extLst>
              </a:tr>
              <a:tr h="630678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MARS-922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優化細節報告，產生</a:t>
                      </a: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txt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檔報告至</a:t>
                      </a: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USB 2.0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隨身碟裝置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P</a:t>
                      </a:r>
                      <a:endParaRPr lang="en-US" altLang="zh-TW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5210310"/>
                  </a:ext>
                </a:extLst>
              </a:tr>
              <a:tr h="630678">
                <a:tc>
                  <a:txBody>
                    <a:bodyPr/>
                    <a:lstStyle/>
                    <a:p>
                      <a:pPr marL="0" indent="0" algn="ctr">
                        <a:buFont typeface="+mj-lt"/>
                        <a:buNone/>
                      </a:pPr>
                      <a:r>
                        <a:rPr lang="zh-TW" altLang="en-US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階段五期末報告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P</a:t>
                      </a:r>
                      <a:endParaRPr lang="en-US" altLang="zh-TW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6247268"/>
                  </a:ext>
                </a:extLst>
              </a:tr>
            </a:tbl>
          </a:graphicData>
        </a:graphic>
      </p:graphicFrame>
      <p:sp>
        <p:nvSpPr>
          <p:cNvPr id="12" name="文字方塊 11">
            <a:extLst>
              <a:ext uri="{FF2B5EF4-FFF2-40B4-BE49-F238E27FC236}">
                <a16:creationId xmlns:a16="http://schemas.microsoft.com/office/drawing/2014/main" id="{ED75B16B-2D9B-C71E-BDE4-30C741E9E628}"/>
              </a:ext>
            </a:extLst>
          </p:cNvPr>
          <p:cNvSpPr txBox="1"/>
          <p:nvPr/>
        </p:nvSpPr>
        <p:spPr>
          <a:xfrm>
            <a:off x="8635013" y="1541843"/>
            <a:ext cx="952505" cy="7386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O: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完成</a:t>
            </a:r>
            <a:b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</a:b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△: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未進行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P: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進行中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2ABD0C2-0327-4104-B1D8-8BFBAFB39656}"/>
              </a:ext>
            </a:extLst>
          </p:cNvPr>
          <p:cNvSpPr/>
          <p:nvPr/>
        </p:nvSpPr>
        <p:spPr>
          <a:xfrm>
            <a:off x="5604934" y="2847301"/>
            <a:ext cx="4022658" cy="213333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74744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396C1-EA64-DABF-AB1E-DAC8812CE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F4A029A-1C90-0045-D3C4-09B1AF59BE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2" y="474123"/>
            <a:ext cx="8077200" cy="533400"/>
          </a:xfrm>
        </p:spPr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上次進度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Monitor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7" name="文字版面配置區 6">
            <a:extLst>
              <a:ext uri="{FF2B5EF4-FFF2-40B4-BE49-F238E27FC236}">
                <a16:creationId xmlns:a16="http://schemas.microsoft.com/office/drawing/2014/main" id="{CA232325-2F30-826A-0F33-B3038ABB7C4A}"/>
              </a:ext>
            </a:extLst>
          </p:cNvPr>
          <p:cNvSpPr txBox="1"/>
          <p:nvPr/>
        </p:nvSpPr>
        <p:spPr>
          <a:xfrm>
            <a:off x="490980" y="797137"/>
            <a:ext cx="8924039" cy="1954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>
              <a:lnSpc>
                <a:spcPts val="3000"/>
              </a:lnSpc>
            </a:pP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進溫箱測試</a:t>
            </a: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MCU(ALC)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功能</a:t>
            </a:r>
          </a:p>
          <a:p>
            <a:pPr lvl="1">
              <a:lnSpc>
                <a:spcPts val="3000"/>
              </a:lnSpc>
            </a:pP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7/9~7/13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共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4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天的測試</a:t>
            </a:r>
            <a:endParaRPr lang="en-US" altLang="zh-TW" sz="14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在數據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8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萬筆的時候從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log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發現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color sensor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異常，導致亮度變成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-0.54nit</a:t>
            </a:r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88B00F66-7964-2D2A-502B-43232A9546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1033" y="555518"/>
            <a:ext cx="4584967" cy="1276300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B5A61996-F91D-B76A-2AC5-61ACD5B70D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8" y="2889183"/>
            <a:ext cx="4809382" cy="2835004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AAB01C58-4B0E-64E9-5FF5-EAFD0C50669C}"/>
              </a:ext>
            </a:extLst>
          </p:cNvPr>
          <p:cNvSpPr/>
          <p:nvPr/>
        </p:nvSpPr>
        <p:spPr>
          <a:xfrm flipH="1">
            <a:off x="1985547" y="3352799"/>
            <a:ext cx="2690953" cy="237138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bg2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74654F95-D8D8-2EA4-EC72-23742FDFB02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3000" y="2889184"/>
            <a:ext cx="4938603" cy="2835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91739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396C1-EA64-DABF-AB1E-DAC8812CE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F4A029A-1C90-0045-D3C4-09B1AF59BE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2" y="474123"/>
            <a:ext cx="8077200" cy="533400"/>
          </a:xfrm>
        </p:spPr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上次進度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Monitor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7" name="文字版面配置區 6">
            <a:extLst>
              <a:ext uri="{FF2B5EF4-FFF2-40B4-BE49-F238E27FC236}">
                <a16:creationId xmlns:a16="http://schemas.microsoft.com/office/drawing/2014/main" id="{CA232325-2F30-826A-0F33-B3038ABB7C4A}"/>
              </a:ext>
            </a:extLst>
          </p:cNvPr>
          <p:cNvSpPr txBox="1"/>
          <p:nvPr/>
        </p:nvSpPr>
        <p:spPr>
          <a:xfrm>
            <a:off x="490980" y="788429"/>
            <a:ext cx="8924039" cy="1954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>
              <a:lnSpc>
                <a:spcPts val="3000"/>
              </a:lnSpc>
            </a:pP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進溫箱測試</a:t>
            </a: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MCU(ALC)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功能</a:t>
            </a:r>
          </a:p>
          <a:p>
            <a:pPr lvl="1">
              <a:lnSpc>
                <a:spcPts val="3000"/>
              </a:lnSpc>
            </a:pP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正常範圍應該在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350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的正負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5%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以內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(367.5~332.5)</a:t>
            </a:r>
          </a:p>
          <a:p>
            <a:pPr lvl="1">
              <a:lnSpc>
                <a:spcPts val="3000"/>
              </a:lnSpc>
            </a:pP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做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0~50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度的測試</a:t>
            </a:r>
            <a:endParaRPr lang="en-US" altLang="zh-TW" sz="14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量測到的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8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萬筆數據，最高亮度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351.5245 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、最低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348.208</a:t>
            </a:r>
          </a:p>
        </p:txBody>
      </p:sp>
      <p:pic>
        <p:nvPicPr>
          <p:cNvPr id="14" name="圖片 13">
            <a:extLst>
              <a:ext uri="{FF2B5EF4-FFF2-40B4-BE49-F238E27FC236}">
                <a16:creationId xmlns:a16="http://schemas.microsoft.com/office/drawing/2014/main" id="{41DE6657-B39A-63C6-2039-B43CB8840A8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2233"/>
          <a:stretch/>
        </p:blipFill>
        <p:spPr>
          <a:xfrm>
            <a:off x="5565688" y="521729"/>
            <a:ext cx="4363059" cy="533400"/>
          </a:xfrm>
          <a:prstGeom prst="rect">
            <a:avLst/>
          </a:prstGeom>
        </p:spPr>
      </p:pic>
      <p:pic>
        <p:nvPicPr>
          <p:cNvPr id="17" name="圖片 16">
            <a:extLst>
              <a:ext uri="{FF2B5EF4-FFF2-40B4-BE49-F238E27FC236}">
                <a16:creationId xmlns:a16="http://schemas.microsoft.com/office/drawing/2014/main" id="{0692A2AB-3F87-499A-4A21-26E926825D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66269" y="2656116"/>
            <a:ext cx="7173461" cy="3727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65172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396C1-EA64-DABF-AB1E-DAC8812CE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F4A029A-1C90-0045-D3C4-09B1AF59BE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2" y="474123"/>
            <a:ext cx="8077200" cy="533400"/>
          </a:xfrm>
        </p:spPr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上次進度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Monitor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7" name="文字版面配置區 6">
            <a:extLst>
              <a:ext uri="{FF2B5EF4-FFF2-40B4-BE49-F238E27FC236}">
                <a16:creationId xmlns:a16="http://schemas.microsoft.com/office/drawing/2014/main" id="{CA232325-2F30-826A-0F33-B3038ABB7C4A}"/>
              </a:ext>
            </a:extLst>
          </p:cNvPr>
          <p:cNvSpPr txBox="1"/>
          <p:nvPr/>
        </p:nvSpPr>
        <p:spPr>
          <a:xfrm>
            <a:off x="490980" y="998294"/>
            <a:ext cx="8924039" cy="165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>
              <a:lnSpc>
                <a:spcPts val="3000"/>
              </a:lnSpc>
            </a:pP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進溫箱測試</a:t>
            </a: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MCU(ALC)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功能</a:t>
            </a:r>
          </a:p>
          <a:p>
            <a:pPr lvl="1">
              <a:lnSpc>
                <a:spcPts val="3000"/>
              </a:lnSpc>
            </a:pP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CCR :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用來控制 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PWM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的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Duty Cycle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，藉此控制螢幕的亮度</a:t>
            </a:r>
            <a:endParaRPr lang="en-US" altLang="zh-TW" sz="14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Logical _</a:t>
            </a:r>
            <a:r>
              <a:rPr lang="en-US" altLang="zh-TW" sz="1400" dirty="0" err="1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pwm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(comp)=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基礎 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PWM * 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溫度補償係數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(k)</a:t>
            </a:r>
          </a:p>
          <a:p>
            <a:pPr lvl="1">
              <a:lnSpc>
                <a:spcPts val="3000"/>
              </a:lnSpc>
            </a:pPr>
            <a:endParaRPr lang="en-US" altLang="zh-TW" sz="14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endParaRPr lang="en-US" altLang="zh-TW" sz="14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CCR= Logical _</a:t>
            </a:r>
            <a:r>
              <a:rPr lang="en-US" altLang="zh-TW" sz="1400" dirty="0" err="1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pwm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(comp)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*</a:t>
            </a:r>
            <a:r>
              <a:rPr lang="en-US" altLang="zh-TW" sz="1400" dirty="0" err="1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arr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/1023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ARR 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是硬體 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Timer 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的週期最大值（決定了 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PWM 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頻率）、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1023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則是軟體演算法設定 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10-bit 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解析度滿載值</a:t>
            </a:r>
            <a:endParaRPr lang="en-US" altLang="zh-TW" sz="14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13" name="圖片 12">
            <a:extLst>
              <a:ext uri="{FF2B5EF4-FFF2-40B4-BE49-F238E27FC236}">
                <a16:creationId xmlns:a16="http://schemas.microsoft.com/office/drawing/2014/main" id="{D87FD215-BE01-CA2C-2491-E6D01AFBF6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1748" y="4142410"/>
            <a:ext cx="5410999" cy="865760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6837C3B2-4FFF-EAB5-670A-CB859A6CFF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54953" y="0"/>
            <a:ext cx="5351047" cy="1658680"/>
          </a:xfrm>
          <a:prstGeom prst="rect">
            <a:avLst/>
          </a:prstGeom>
        </p:spPr>
      </p:pic>
      <p:pic>
        <p:nvPicPr>
          <p:cNvPr id="14" name="圖片 13">
            <a:extLst>
              <a:ext uri="{FF2B5EF4-FFF2-40B4-BE49-F238E27FC236}">
                <a16:creationId xmlns:a16="http://schemas.microsoft.com/office/drawing/2014/main" id="{FC42E681-9E8C-3C63-A814-5743A0381A5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71748" y="2355734"/>
            <a:ext cx="7750629" cy="924997"/>
          </a:xfrm>
          <a:prstGeom prst="rect">
            <a:avLst/>
          </a:prstGeom>
        </p:spPr>
      </p:pic>
      <p:sp>
        <p:nvSpPr>
          <p:cNvPr id="15" name="矩形 14">
            <a:extLst>
              <a:ext uri="{FF2B5EF4-FFF2-40B4-BE49-F238E27FC236}">
                <a16:creationId xmlns:a16="http://schemas.microsoft.com/office/drawing/2014/main" id="{D09FB8D7-6D95-91ED-6D23-7211866E83A1}"/>
              </a:ext>
            </a:extLst>
          </p:cNvPr>
          <p:cNvSpPr/>
          <p:nvPr/>
        </p:nvSpPr>
        <p:spPr>
          <a:xfrm flipH="1">
            <a:off x="4566367" y="2419052"/>
            <a:ext cx="918752" cy="92499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bg2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908F71B-C226-4584-95F6-28640FF082FB}"/>
              </a:ext>
            </a:extLst>
          </p:cNvPr>
          <p:cNvSpPr/>
          <p:nvPr/>
        </p:nvSpPr>
        <p:spPr>
          <a:xfrm flipH="1">
            <a:off x="5485119" y="2419052"/>
            <a:ext cx="1089852" cy="92499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bg2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02106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396C1-EA64-DABF-AB1E-DAC8812CE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F4A029A-1C90-0045-D3C4-09B1AF59BE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2" y="474123"/>
            <a:ext cx="8077200" cy="533400"/>
          </a:xfrm>
        </p:spPr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上次進度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Monitor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7" name="文字版面配置區 6">
            <a:extLst>
              <a:ext uri="{FF2B5EF4-FFF2-40B4-BE49-F238E27FC236}">
                <a16:creationId xmlns:a16="http://schemas.microsoft.com/office/drawing/2014/main" id="{CA232325-2F30-826A-0F33-B3038ABB7C4A}"/>
              </a:ext>
            </a:extLst>
          </p:cNvPr>
          <p:cNvSpPr txBox="1"/>
          <p:nvPr/>
        </p:nvSpPr>
        <p:spPr>
          <a:xfrm>
            <a:off x="490980" y="788429"/>
            <a:ext cx="8924039" cy="1954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>
              <a:lnSpc>
                <a:spcPts val="3000"/>
              </a:lnSpc>
            </a:pP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進溫箱測試</a:t>
            </a: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MCU(ALC)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功能</a:t>
            </a:r>
          </a:p>
          <a:p>
            <a:pPr lvl="1">
              <a:lnSpc>
                <a:spcPts val="3000"/>
              </a:lnSpc>
            </a:pP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CCR :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用來控制 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PWM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的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Duty Cycle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，藉此來精準控制螢幕的亮度，目前以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10bit PWM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做測試</a:t>
            </a:r>
            <a:endParaRPr lang="en-US" altLang="zh-TW" sz="14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ALC 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會自動去加減 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CCR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達到最初設定的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350nit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亮度</a:t>
            </a:r>
            <a:endParaRPr lang="en-US" altLang="zh-TW" sz="14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CCR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介於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87%~90.52%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區間</a:t>
            </a:r>
            <a:endParaRPr lang="en-US" altLang="zh-TW" sz="14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30976C99-F360-BEE6-1277-CA520A3FD1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421" y="2554420"/>
            <a:ext cx="7739157" cy="3796807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FAB8F9B4-6C40-A5D2-F6CC-2931F9C52ED0}"/>
              </a:ext>
            </a:extLst>
          </p:cNvPr>
          <p:cNvSpPr/>
          <p:nvPr/>
        </p:nvSpPr>
        <p:spPr>
          <a:xfrm flipH="1">
            <a:off x="1158239" y="2814422"/>
            <a:ext cx="583477" cy="282002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bg2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15" name="圖片 14">
            <a:extLst>
              <a:ext uri="{FF2B5EF4-FFF2-40B4-BE49-F238E27FC236}">
                <a16:creationId xmlns:a16="http://schemas.microsoft.com/office/drawing/2014/main" id="{D60DD269-382E-A5A3-214B-27C6BF18C2C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1956"/>
          <a:stretch/>
        </p:blipFill>
        <p:spPr>
          <a:xfrm>
            <a:off x="5991496" y="90442"/>
            <a:ext cx="3849189" cy="1081668"/>
          </a:xfrm>
          <a:prstGeom prst="rect">
            <a:avLst/>
          </a:prstGeom>
        </p:spPr>
      </p:pic>
      <p:sp>
        <p:nvSpPr>
          <p:cNvPr id="16" name="矩形 15">
            <a:extLst>
              <a:ext uri="{FF2B5EF4-FFF2-40B4-BE49-F238E27FC236}">
                <a16:creationId xmlns:a16="http://schemas.microsoft.com/office/drawing/2014/main" id="{F43C6A39-98FD-310B-8204-0F2911230334}"/>
              </a:ext>
            </a:extLst>
          </p:cNvPr>
          <p:cNvSpPr/>
          <p:nvPr/>
        </p:nvSpPr>
        <p:spPr>
          <a:xfrm flipH="1">
            <a:off x="7907381" y="155849"/>
            <a:ext cx="1933304" cy="101626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bg2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69914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396C1-EA64-DABF-AB1E-DAC8812CE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F4A029A-1C90-0045-D3C4-09B1AF59BE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2" y="474123"/>
            <a:ext cx="8077200" cy="533400"/>
          </a:xfrm>
        </p:spPr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本次進度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Monitor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7" name="文字版面配置區 6">
            <a:extLst>
              <a:ext uri="{FF2B5EF4-FFF2-40B4-BE49-F238E27FC236}">
                <a16:creationId xmlns:a16="http://schemas.microsoft.com/office/drawing/2014/main" id="{CA232325-2F30-826A-0F33-B3038ABB7C4A}"/>
              </a:ext>
            </a:extLst>
          </p:cNvPr>
          <p:cNvSpPr txBox="1"/>
          <p:nvPr/>
        </p:nvSpPr>
        <p:spPr>
          <a:xfrm>
            <a:off x="490980" y="927766"/>
            <a:ext cx="8924039" cy="1954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>
              <a:lnSpc>
                <a:spcPts val="3000"/>
              </a:lnSpc>
            </a:pP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0716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溫箱測試</a:t>
            </a:r>
          </a:p>
          <a:p>
            <a:pPr lvl="1">
              <a:lnSpc>
                <a:spcPts val="3000"/>
              </a:lnSpc>
            </a:pP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ALC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(OFF)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測試原生面板的溫度與亮度</a:t>
            </a:r>
            <a:endParaRPr lang="en-US" altLang="zh-TW" sz="14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正常範圍應該在 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350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的正負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5%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以內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(367.5~332.5)</a:t>
            </a:r>
          </a:p>
          <a:p>
            <a:pPr lvl="1">
              <a:lnSpc>
                <a:spcPts val="3000"/>
              </a:lnSpc>
            </a:pP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原生面板的亮度最高 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338.885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nits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、最低 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328.7144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nits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3269FC56-5D38-774E-DCE5-8E078EBFF7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4944" y="2760617"/>
            <a:ext cx="7270135" cy="4030629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FAB8F9B4-6C40-A5D2-F6CC-2931F9C52ED0}"/>
              </a:ext>
            </a:extLst>
          </p:cNvPr>
          <p:cNvSpPr/>
          <p:nvPr/>
        </p:nvSpPr>
        <p:spPr>
          <a:xfrm flipH="1">
            <a:off x="2656114" y="3167115"/>
            <a:ext cx="235131" cy="276311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bg2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07245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396C1-EA64-DABF-AB1E-DAC8812CE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F4A029A-1C90-0045-D3C4-09B1AF59BE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2" y="474123"/>
            <a:ext cx="8077200" cy="533400"/>
          </a:xfrm>
        </p:spPr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本次進度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Monitor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7" name="文字版面配置區 6">
            <a:extLst>
              <a:ext uri="{FF2B5EF4-FFF2-40B4-BE49-F238E27FC236}">
                <a16:creationId xmlns:a16="http://schemas.microsoft.com/office/drawing/2014/main" id="{CA232325-2F30-826A-0F33-B3038ABB7C4A}"/>
              </a:ext>
            </a:extLst>
          </p:cNvPr>
          <p:cNvSpPr txBox="1"/>
          <p:nvPr/>
        </p:nvSpPr>
        <p:spPr>
          <a:xfrm>
            <a:off x="490980" y="927766"/>
            <a:ext cx="8924039" cy="1954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>
              <a:lnSpc>
                <a:spcPts val="3000"/>
              </a:lnSpc>
            </a:pP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0716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溫箱測試 </a:t>
            </a: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&amp;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0709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溫箱測試比較</a:t>
            </a:r>
          </a:p>
          <a:p>
            <a:pPr lvl="1">
              <a:lnSpc>
                <a:spcPts val="3000"/>
              </a:lnSpc>
            </a:pP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左邊的圖是</a:t>
            </a:r>
            <a:r>
              <a:rPr lang="zh-TW" altLang="en-US" sz="14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有開 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ALC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，最高亮度 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351.524 nits 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、最低亮度 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348.208 nits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，相差 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3.316 nits</a:t>
            </a:r>
          </a:p>
          <a:p>
            <a:pPr lvl="1">
              <a:lnSpc>
                <a:spcPts val="3000"/>
              </a:lnSpc>
            </a:pP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右邊的圖是</a:t>
            </a:r>
            <a:r>
              <a:rPr lang="zh-TW" altLang="en-US" sz="14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關掉 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ALC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，最高亮度 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338.885 nits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、最低亮度 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328.714 nits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，相差 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10.171 nits</a:t>
            </a:r>
          </a:p>
        </p:txBody>
      </p:sp>
      <p:pic>
        <p:nvPicPr>
          <p:cNvPr id="19" name="圖片 18">
            <a:extLst>
              <a:ext uri="{FF2B5EF4-FFF2-40B4-BE49-F238E27FC236}">
                <a16:creationId xmlns:a16="http://schemas.microsoft.com/office/drawing/2014/main" id="{84905066-2AB8-A96F-4FA9-93C78D7842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5772" y="2995748"/>
            <a:ext cx="4718307" cy="2564199"/>
          </a:xfrm>
          <a:prstGeom prst="rect">
            <a:avLst/>
          </a:prstGeom>
        </p:spPr>
      </p:pic>
      <p:pic>
        <p:nvPicPr>
          <p:cNvPr id="20" name="圖片 19">
            <a:extLst>
              <a:ext uri="{FF2B5EF4-FFF2-40B4-BE49-F238E27FC236}">
                <a16:creationId xmlns:a16="http://schemas.microsoft.com/office/drawing/2014/main" id="{277F0080-0E64-808D-DE89-6E316EEFEF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921" y="2995748"/>
            <a:ext cx="4934378" cy="2564199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FAB8F9B4-6C40-A5D2-F6CC-2931F9C52ED0}"/>
              </a:ext>
            </a:extLst>
          </p:cNvPr>
          <p:cNvSpPr/>
          <p:nvPr/>
        </p:nvSpPr>
        <p:spPr>
          <a:xfrm flipH="1">
            <a:off x="5056299" y="4277847"/>
            <a:ext cx="235131" cy="11615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bg2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57AFECE-62B1-FBC3-252D-7E3ACE3FA9BB}"/>
              </a:ext>
            </a:extLst>
          </p:cNvPr>
          <p:cNvSpPr/>
          <p:nvPr/>
        </p:nvSpPr>
        <p:spPr>
          <a:xfrm flipH="1">
            <a:off x="121920" y="3774927"/>
            <a:ext cx="235131" cy="88851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bg2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6815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396C1-EA64-DABF-AB1E-DAC8812CE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F4A029A-1C90-0045-D3C4-09B1AF59BE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2" y="474123"/>
            <a:ext cx="8077200" cy="533400"/>
          </a:xfrm>
        </p:spPr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本次進度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Monitor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7" name="文字版面配置區 6">
            <a:extLst>
              <a:ext uri="{FF2B5EF4-FFF2-40B4-BE49-F238E27FC236}">
                <a16:creationId xmlns:a16="http://schemas.microsoft.com/office/drawing/2014/main" id="{CA232325-2F30-826A-0F33-B3038ABB7C4A}"/>
              </a:ext>
            </a:extLst>
          </p:cNvPr>
          <p:cNvSpPr txBox="1"/>
          <p:nvPr/>
        </p:nvSpPr>
        <p:spPr>
          <a:xfrm>
            <a:off x="490980" y="927766"/>
            <a:ext cx="8924039" cy="1954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>
              <a:lnSpc>
                <a:spcPts val="3000"/>
              </a:lnSpc>
            </a:pP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0719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實驗室測試</a:t>
            </a: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ALC</a:t>
            </a:r>
            <a:endParaRPr lang="zh-TW" altLang="en-US" sz="16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0709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溫箱測試中總數據有 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21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萬筆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約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4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天測試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</a:p>
          <a:p>
            <a:pPr lvl="1">
              <a:lnSpc>
                <a:spcPts val="3000"/>
              </a:lnSpc>
            </a:pP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0719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實驗室測試中總數據有 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5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萬筆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約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天測試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</a:p>
          <a:p>
            <a:pPr lvl="1">
              <a:lnSpc>
                <a:spcPts val="3000"/>
              </a:lnSpc>
            </a:pP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ALC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以每三秒量測一組數據，一天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 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28800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筆數據。</a:t>
            </a:r>
            <a:endParaRPr lang="en-US" altLang="zh-TW" sz="14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7DC87C59-0155-2973-C384-EE2AB5A8A5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743" y="3056709"/>
            <a:ext cx="4683189" cy="2760617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0DC3CF58-AA33-D144-F708-03B02FAD73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4638" y="607265"/>
            <a:ext cx="4501362" cy="1925800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416C6835-2CB7-9335-76B9-BEBC79D58B38}"/>
              </a:ext>
            </a:extLst>
          </p:cNvPr>
          <p:cNvSpPr/>
          <p:nvPr/>
        </p:nvSpPr>
        <p:spPr>
          <a:xfrm flipH="1">
            <a:off x="5404637" y="1461166"/>
            <a:ext cx="2851085" cy="16733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bg2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15" name="圖片 14">
            <a:extLst>
              <a:ext uri="{FF2B5EF4-FFF2-40B4-BE49-F238E27FC236}">
                <a16:creationId xmlns:a16="http://schemas.microsoft.com/office/drawing/2014/main" id="{A54CAEE8-0217-AF77-03C5-8BB8BF9BAB5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77530" y="3056709"/>
            <a:ext cx="4640519" cy="2773457"/>
          </a:xfrm>
          <a:prstGeom prst="rect">
            <a:avLst/>
          </a:prstGeom>
        </p:spPr>
      </p:pic>
      <p:sp>
        <p:nvSpPr>
          <p:cNvPr id="17" name="矩形 16">
            <a:extLst>
              <a:ext uri="{FF2B5EF4-FFF2-40B4-BE49-F238E27FC236}">
                <a16:creationId xmlns:a16="http://schemas.microsoft.com/office/drawing/2014/main" id="{F5C490E9-C198-3E8B-49EA-5D13AF43BDE0}"/>
              </a:ext>
            </a:extLst>
          </p:cNvPr>
          <p:cNvSpPr/>
          <p:nvPr/>
        </p:nvSpPr>
        <p:spPr>
          <a:xfrm flipH="1">
            <a:off x="9222377" y="5318457"/>
            <a:ext cx="269966" cy="3595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bg2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EA2CCDDC-EED3-4DA9-6349-D3CD626F2E60}"/>
              </a:ext>
            </a:extLst>
          </p:cNvPr>
          <p:cNvSpPr/>
          <p:nvPr/>
        </p:nvSpPr>
        <p:spPr>
          <a:xfrm flipH="1">
            <a:off x="4378236" y="5318457"/>
            <a:ext cx="269966" cy="3595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bg2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29485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BC418-93FB-B85E-3E6C-30CE8CC22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7C5B78B-4B53-60CF-F0D2-7AB0EB61F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下次進度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Monitor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4A0E973E-B5E1-BA62-48A3-DFE218619D9F}"/>
              </a:ext>
            </a:extLst>
          </p:cNvPr>
          <p:cNvSpPr txBox="1"/>
          <p:nvPr/>
        </p:nvSpPr>
        <p:spPr>
          <a:xfrm>
            <a:off x="520699" y="1369489"/>
            <a:ext cx="7669813" cy="814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1" indent="-406400">
              <a:lnSpc>
                <a:spcPts val="3000"/>
              </a:lnSpc>
              <a:spcBef>
                <a:spcPts val="560"/>
              </a:spcBef>
              <a:buClr>
                <a:schemeClr val="accent2"/>
              </a:buClr>
              <a:buSzPts val="2800"/>
              <a:buFont typeface="Noto Sans Symbols"/>
              <a:buChar char="❖"/>
            </a:pP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根據第四期計畫書中內容進行開發，以下分別為階段一目標和當前開發進度及優先序。</a:t>
            </a: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04C713A4-B17F-52DB-4D68-9947ADDEA8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3419006"/>
              </p:ext>
            </p:extLst>
          </p:nvPr>
        </p:nvGraphicFramePr>
        <p:xfrm>
          <a:off x="570104" y="2311400"/>
          <a:ext cx="4903596" cy="23749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2917">
                  <a:extLst>
                    <a:ext uri="{9D8B030D-6E8A-4147-A177-3AD203B41FA5}">
                      <a16:colId xmlns:a16="http://schemas.microsoft.com/office/drawing/2014/main" val="1192615841"/>
                    </a:ext>
                  </a:extLst>
                </a:gridCol>
                <a:gridCol w="1079150">
                  <a:extLst>
                    <a:ext uri="{9D8B030D-6E8A-4147-A177-3AD203B41FA5}">
                      <a16:colId xmlns:a16="http://schemas.microsoft.com/office/drawing/2014/main" val="1364961183"/>
                    </a:ext>
                  </a:extLst>
                </a:gridCol>
                <a:gridCol w="2251529">
                  <a:extLst>
                    <a:ext uri="{9D8B030D-6E8A-4147-A177-3AD203B41FA5}">
                      <a16:colId xmlns:a16="http://schemas.microsoft.com/office/drawing/2014/main" val="2476587428"/>
                    </a:ext>
                  </a:extLst>
                </a:gridCol>
              </a:tblGrid>
              <a:tr h="395480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400" b="1" i="0" u="none" strike="noStrike" cap="none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時間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400" b="1" i="0" u="none" strike="noStrike" cap="none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目標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0900139"/>
                  </a:ext>
                </a:extLst>
              </a:tr>
              <a:tr h="1979433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3 month</a:t>
                      </a:r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MARS-922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溝通驗證小型</a:t>
                      </a: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STM32F4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集成電路控制板</a:t>
                      </a:r>
                      <a:endParaRPr lang="zh-TW" altLang="zh-TW" sz="14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MARS-922 ALC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功能驗證</a:t>
                      </a:r>
                      <a:endParaRPr lang="en-US" altLang="zh-TW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zh-TW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</a:t>
                      </a:r>
                      <a:r>
                        <a:rPr lang="zh-TW" altLang="en-US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五</a:t>
                      </a:r>
                      <a:r>
                        <a:rPr lang="zh-TW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期中報告</a:t>
                      </a:r>
                      <a:endParaRPr lang="zh-TW" altLang="en-US" sz="1400" b="0" i="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marL="17780" marR="17780" marT="0" marB="0"/>
                </a:tc>
                <a:extLst>
                  <a:ext uri="{0D108BD9-81ED-4DB2-BD59-A6C34878D82A}">
                    <a16:rowId xmlns:a16="http://schemas.microsoft.com/office/drawing/2014/main" val="2847363105"/>
                  </a:ext>
                </a:extLst>
              </a:tr>
            </a:tbl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ABE2C05B-3128-C4B4-FC74-79C315F3D6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6837393"/>
              </p:ext>
            </p:extLst>
          </p:nvPr>
        </p:nvGraphicFramePr>
        <p:xfrm>
          <a:off x="5604934" y="2353858"/>
          <a:ext cx="4022658" cy="23517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6655">
                  <a:extLst>
                    <a:ext uri="{9D8B030D-6E8A-4147-A177-3AD203B41FA5}">
                      <a16:colId xmlns:a16="http://schemas.microsoft.com/office/drawing/2014/main" val="761389866"/>
                    </a:ext>
                  </a:extLst>
                </a:gridCol>
                <a:gridCol w="1816003">
                  <a:extLst>
                    <a:ext uri="{9D8B030D-6E8A-4147-A177-3AD203B41FA5}">
                      <a16:colId xmlns:a16="http://schemas.microsoft.com/office/drawing/2014/main" val="1643138419"/>
                    </a:ext>
                  </a:extLst>
                </a:gridCol>
              </a:tblGrid>
              <a:tr h="459704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目標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進度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4917929"/>
                  </a:ext>
                </a:extLst>
              </a:tr>
              <a:tr h="630678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MARS-922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溝通驗證小型</a:t>
                      </a: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STM32F4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集成電路控制板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4902268"/>
                  </a:ext>
                </a:extLst>
              </a:tr>
              <a:tr h="630678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MARS-922 ALC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功能驗證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5210310"/>
                  </a:ext>
                </a:extLst>
              </a:tr>
              <a:tr h="630678">
                <a:tc>
                  <a:txBody>
                    <a:bodyPr/>
                    <a:lstStyle/>
                    <a:p>
                      <a:pPr marL="0" indent="0" algn="ctr">
                        <a:buFont typeface="+mj-lt"/>
                        <a:buNone/>
                      </a:pPr>
                      <a:r>
                        <a:rPr lang="zh-TW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</a:t>
                      </a:r>
                      <a:r>
                        <a:rPr lang="zh-TW" altLang="en-US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五</a:t>
                      </a:r>
                      <a:r>
                        <a:rPr lang="zh-TW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期中報告</a:t>
                      </a:r>
                      <a:endParaRPr lang="zh-TW" altLang="en-US" sz="1400" b="0" i="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  <a:sym typeface="Arial"/>
                      </a:endParaRPr>
                    </a:p>
                    <a:p>
                      <a:pPr marL="0" lvl="0" indent="0" algn="ctr">
                        <a:buFont typeface="+mj-lt"/>
                        <a:buNone/>
                      </a:pPr>
                      <a:endParaRPr lang="en-US" altLang="zh-TW" sz="1400" b="0" i="0" u="none" strike="noStrike" cap="none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O</a:t>
                      </a:r>
                      <a:endParaRPr lang="en-US" altLang="zh-TW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6247268"/>
                  </a:ext>
                </a:extLst>
              </a:tr>
            </a:tbl>
          </a:graphicData>
        </a:graphic>
      </p:graphicFrame>
      <p:sp>
        <p:nvSpPr>
          <p:cNvPr id="12" name="文字方塊 11">
            <a:extLst>
              <a:ext uri="{FF2B5EF4-FFF2-40B4-BE49-F238E27FC236}">
                <a16:creationId xmlns:a16="http://schemas.microsoft.com/office/drawing/2014/main" id="{ED75B16B-2D9B-C71E-BDE4-30C741E9E628}"/>
              </a:ext>
            </a:extLst>
          </p:cNvPr>
          <p:cNvSpPr txBox="1"/>
          <p:nvPr/>
        </p:nvSpPr>
        <p:spPr>
          <a:xfrm>
            <a:off x="8635013" y="1541843"/>
            <a:ext cx="952505" cy="7386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O: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完成</a:t>
            </a:r>
            <a:b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</a:b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△: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未進行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P: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進行中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2ABD0C2-0327-4104-B1D8-8BFBAFB39656}"/>
              </a:ext>
            </a:extLst>
          </p:cNvPr>
          <p:cNvSpPr/>
          <p:nvPr/>
        </p:nvSpPr>
        <p:spPr>
          <a:xfrm>
            <a:off x="5604934" y="2847301"/>
            <a:ext cx="4022658" cy="195913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159158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BC418-93FB-B85E-3E6C-30CE8CC22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7C5B78B-4B53-60CF-F0D2-7AB0EB61F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下次進度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Monitor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4A0E973E-B5E1-BA62-48A3-DFE218619D9F}"/>
              </a:ext>
            </a:extLst>
          </p:cNvPr>
          <p:cNvSpPr txBox="1"/>
          <p:nvPr/>
        </p:nvSpPr>
        <p:spPr>
          <a:xfrm>
            <a:off x="520699" y="1369489"/>
            <a:ext cx="7669813" cy="814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1" indent="-406400">
              <a:lnSpc>
                <a:spcPts val="3000"/>
              </a:lnSpc>
              <a:spcBef>
                <a:spcPts val="560"/>
              </a:spcBef>
              <a:buClr>
                <a:schemeClr val="accent2"/>
              </a:buClr>
              <a:buSzPts val="2800"/>
              <a:buFont typeface="Noto Sans Symbols"/>
              <a:buChar char="❖"/>
            </a:pP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根據第四期計畫書中內容進行開發，以下分別為階段二目標和當前開發進度及優先序。</a:t>
            </a: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04C713A4-B17F-52DB-4D68-9947ADDEA8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7550029"/>
              </p:ext>
            </p:extLst>
          </p:nvPr>
        </p:nvGraphicFramePr>
        <p:xfrm>
          <a:off x="570104" y="2311400"/>
          <a:ext cx="4903596" cy="23749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2917">
                  <a:extLst>
                    <a:ext uri="{9D8B030D-6E8A-4147-A177-3AD203B41FA5}">
                      <a16:colId xmlns:a16="http://schemas.microsoft.com/office/drawing/2014/main" val="1192615841"/>
                    </a:ext>
                  </a:extLst>
                </a:gridCol>
                <a:gridCol w="1079150">
                  <a:extLst>
                    <a:ext uri="{9D8B030D-6E8A-4147-A177-3AD203B41FA5}">
                      <a16:colId xmlns:a16="http://schemas.microsoft.com/office/drawing/2014/main" val="1364961183"/>
                    </a:ext>
                  </a:extLst>
                </a:gridCol>
                <a:gridCol w="2251529">
                  <a:extLst>
                    <a:ext uri="{9D8B030D-6E8A-4147-A177-3AD203B41FA5}">
                      <a16:colId xmlns:a16="http://schemas.microsoft.com/office/drawing/2014/main" val="2476587428"/>
                    </a:ext>
                  </a:extLst>
                </a:gridCol>
              </a:tblGrid>
              <a:tr h="395480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400" b="1" i="0" u="none" strike="noStrike" cap="none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時間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400" b="1" i="0" u="none" strike="noStrike" cap="none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目標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0900139"/>
                  </a:ext>
                </a:extLst>
              </a:tr>
              <a:tr h="1979433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3 month</a:t>
                      </a:r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MARS-922 Auto Self Calibration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功能驗證</a:t>
                      </a:r>
                      <a:endParaRPr lang="en-US" altLang="zh-TW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MARS-922</a:t>
                      </a:r>
                      <a:r>
                        <a:rPr lang="zh-TW" altLang="en-US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優化細節報告，產生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txt</a:t>
                      </a:r>
                      <a:r>
                        <a:rPr lang="zh-TW" altLang="en-US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檔報告至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USB 2.0</a:t>
                      </a:r>
                      <a:r>
                        <a:rPr lang="zh-TW" altLang="en-US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隨身碟裝置</a:t>
                      </a:r>
                      <a:endParaRPr lang="en-US" altLang="zh-TW" sz="14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zh-TW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</a:t>
                      </a:r>
                      <a:r>
                        <a:rPr lang="zh-TW" altLang="en-US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五</a:t>
                      </a:r>
                      <a:r>
                        <a:rPr lang="zh-TW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期</a:t>
                      </a:r>
                      <a:r>
                        <a:rPr lang="zh-TW" altLang="en-US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末</a:t>
                      </a:r>
                      <a:r>
                        <a:rPr lang="zh-TW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報告</a:t>
                      </a:r>
                      <a:endParaRPr lang="zh-TW" altLang="en-US" sz="1400" b="0" i="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marL="17780" marR="17780" marT="0" marB="0"/>
                </a:tc>
                <a:extLst>
                  <a:ext uri="{0D108BD9-81ED-4DB2-BD59-A6C34878D82A}">
                    <a16:rowId xmlns:a16="http://schemas.microsoft.com/office/drawing/2014/main" val="2847363105"/>
                  </a:ext>
                </a:extLst>
              </a:tr>
            </a:tbl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ABE2C05B-3128-C4B4-FC74-79C315F3D6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7665601"/>
              </p:ext>
            </p:extLst>
          </p:nvPr>
        </p:nvGraphicFramePr>
        <p:xfrm>
          <a:off x="5604934" y="2353858"/>
          <a:ext cx="4022658" cy="24525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6986">
                  <a:extLst>
                    <a:ext uri="{9D8B030D-6E8A-4147-A177-3AD203B41FA5}">
                      <a16:colId xmlns:a16="http://schemas.microsoft.com/office/drawing/2014/main" val="761389866"/>
                    </a:ext>
                  </a:extLst>
                </a:gridCol>
                <a:gridCol w="1885672">
                  <a:extLst>
                    <a:ext uri="{9D8B030D-6E8A-4147-A177-3AD203B41FA5}">
                      <a16:colId xmlns:a16="http://schemas.microsoft.com/office/drawing/2014/main" val="1643138419"/>
                    </a:ext>
                  </a:extLst>
                </a:gridCol>
              </a:tblGrid>
              <a:tr h="459704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目標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進度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4917929"/>
                  </a:ext>
                </a:extLst>
              </a:tr>
              <a:tr h="630678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MARS-922 Auto Self Calibration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功能驗證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4902268"/>
                  </a:ext>
                </a:extLst>
              </a:tr>
              <a:tr h="630678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MARS-922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優化細節報告，產生</a:t>
                      </a: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txt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檔報告至</a:t>
                      </a: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USB 2.0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隨身碟裝置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P</a:t>
                      </a:r>
                      <a:endParaRPr lang="en-US" altLang="zh-TW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5210310"/>
                  </a:ext>
                </a:extLst>
              </a:tr>
              <a:tr h="630678">
                <a:tc>
                  <a:txBody>
                    <a:bodyPr/>
                    <a:lstStyle/>
                    <a:p>
                      <a:pPr marL="0" indent="0" algn="ctr">
                        <a:buFont typeface="+mj-lt"/>
                        <a:buNone/>
                      </a:pPr>
                      <a:r>
                        <a:rPr lang="zh-TW" altLang="en-US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階段五期末報告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P</a:t>
                      </a:r>
                      <a:endParaRPr lang="en-US" altLang="zh-TW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6247268"/>
                  </a:ext>
                </a:extLst>
              </a:tr>
            </a:tbl>
          </a:graphicData>
        </a:graphic>
      </p:graphicFrame>
      <p:sp>
        <p:nvSpPr>
          <p:cNvPr id="12" name="文字方塊 11">
            <a:extLst>
              <a:ext uri="{FF2B5EF4-FFF2-40B4-BE49-F238E27FC236}">
                <a16:creationId xmlns:a16="http://schemas.microsoft.com/office/drawing/2014/main" id="{ED75B16B-2D9B-C71E-BDE4-30C741E9E628}"/>
              </a:ext>
            </a:extLst>
          </p:cNvPr>
          <p:cNvSpPr txBox="1"/>
          <p:nvPr/>
        </p:nvSpPr>
        <p:spPr>
          <a:xfrm>
            <a:off x="8635013" y="1541843"/>
            <a:ext cx="952505" cy="7386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O: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完成</a:t>
            </a:r>
            <a:b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</a:b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△: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未進行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P: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進行中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2ABD0C2-0327-4104-B1D8-8BFBAFB39656}"/>
              </a:ext>
            </a:extLst>
          </p:cNvPr>
          <p:cNvSpPr/>
          <p:nvPr/>
        </p:nvSpPr>
        <p:spPr>
          <a:xfrm>
            <a:off x="5604934" y="2847301"/>
            <a:ext cx="4022658" cy="213333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138725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64" name="圖片 6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357746" y="3004771"/>
            <a:ext cx="5556738" cy="848458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2097165" name="Picture 2" descr="http://www.secretariat.ntust.edu.tw/ezfiles/20/1020/img/1688/09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964866" y="1628181"/>
            <a:ext cx="6260123" cy="1186962"/>
          </a:xfrm>
          <a:prstGeom prst="rect">
            <a:avLst/>
          </a:prstGeom>
          <a:noFill/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2097166" name="圖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93650" y="4226628"/>
            <a:ext cx="4266522" cy="93056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plate">
  <a:themeElements>
    <a:clrScheme name="template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277182</TotalTime>
  <Words>789</Words>
  <Application>Microsoft Office PowerPoint</Application>
  <PresentationFormat>A4 紙張 (210x297 公釐)</PresentationFormat>
  <Paragraphs>132</Paragraphs>
  <Slides>13</Slides>
  <Notes>13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13</vt:i4>
      </vt:variant>
    </vt:vector>
  </HeadingPairs>
  <TitlesOfParts>
    <vt:vector size="19" baseType="lpstr">
      <vt:lpstr>Noto Sans Symbols</vt:lpstr>
      <vt:lpstr>標楷體</vt:lpstr>
      <vt:lpstr>Arial</vt:lpstr>
      <vt:lpstr>Calibri</vt:lpstr>
      <vt:lpstr>Times New Roman</vt:lpstr>
      <vt:lpstr>template</vt:lpstr>
      <vt:lpstr>Progress Report</vt:lpstr>
      <vt:lpstr>本次進度: Monitor</vt:lpstr>
      <vt:lpstr>本次進度: Monitor</vt:lpstr>
      <vt:lpstr>上次進度: Monitor</vt:lpstr>
      <vt:lpstr>上次進度: Monitor</vt:lpstr>
      <vt:lpstr>上次進度: Monitor</vt:lpstr>
      <vt:lpstr>上次進度: Monitor</vt:lpstr>
      <vt:lpstr>本次進度: Monitor</vt:lpstr>
      <vt:lpstr>本次進度: Monitor</vt:lpstr>
      <vt:lpstr>本次進度: Monitor</vt:lpstr>
      <vt:lpstr>下次進度: Monitor</vt:lpstr>
      <vt:lpstr>下次進度: Monitor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Embedded CMOS Image Sensor System Design and Implementation</dc:title>
  <dc:creator>mblin</dc:creator>
  <cp:lastModifiedBy>宏德 林</cp:lastModifiedBy>
  <cp:revision>2321</cp:revision>
  <dcterms:created xsi:type="dcterms:W3CDTF">2003-02-17T16:04:03Z</dcterms:created>
  <dcterms:modified xsi:type="dcterms:W3CDTF">2026-07-21T06:17:05Z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c323e086d3b141ca89c275423e00507f</vt:lpwstr>
  </property>
</Properties>
</file>