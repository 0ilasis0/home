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9"/>
  </p:notesMasterIdLst>
  <p:sldIdLst>
    <p:sldId id="277" r:id="rId2"/>
    <p:sldId id="1784" r:id="rId3"/>
    <p:sldId id="1896" r:id="rId4"/>
    <p:sldId id="1898" r:id="rId5"/>
    <p:sldId id="1899" r:id="rId6"/>
    <p:sldId id="1897" r:id="rId7"/>
    <p:sldId id="1902" r:id="rId8"/>
    <p:sldId id="1900" r:id="rId9"/>
    <p:sldId id="1783" r:id="rId10"/>
    <p:sldId id="1864" r:id="rId11"/>
    <p:sldId id="1865" r:id="rId12"/>
    <p:sldId id="1866" r:id="rId13"/>
    <p:sldId id="1903" r:id="rId14"/>
    <p:sldId id="1867" r:id="rId15"/>
    <p:sldId id="1858" r:id="rId16"/>
    <p:sldId id="1859" r:id="rId17"/>
    <p:sldId id="286" r:id="rId18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784"/>
            <p14:sldId id="1896"/>
            <p14:sldId id="1898"/>
            <p14:sldId id="1899"/>
            <p14:sldId id="1897"/>
            <p14:sldId id="1902"/>
            <p14:sldId id="1900"/>
            <p14:sldId id="1783"/>
          </p14:sldIdLst>
        </p14:section>
        <p14:section name="JS1500" id="{F71E69A4-C86C-4DAC-B828-42C2D8800267}">
          <p14:sldIdLst>
            <p14:sldId id="1864"/>
            <p14:sldId id="1865"/>
            <p14:sldId id="1866"/>
            <p14:sldId id="1903"/>
            <p14:sldId id="1867"/>
            <p14:sldId id="1858"/>
            <p14:sldId id="1859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0"/>
    <a:srgbClr val="FF9900"/>
    <a:srgbClr val="FFC000"/>
    <a:srgbClr val="FFFFFF"/>
    <a:srgbClr val="00B05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1" autoAdjust="0"/>
    <p:restoredTop sz="78545" autoAdjust="0"/>
  </p:normalViewPr>
  <p:slideViewPr>
    <p:cSldViewPr snapToGrid="0">
      <p:cViewPr varScale="1">
        <p:scale>
          <a:sx n="94" d="100"/>
          <a:sy n="94" d="100"/>
        </p:scale>
        <p:origin x="1998" y="7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6833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4342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2626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35911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先插 </a:t>
            </a:r>
            <a:r>
              <a:rPr lang="en-US" altLang="zh-TW" dirty="0"/>
              <a:t>USB</a:t>
            </a:r>
            <a:r>
              <a:rPr lang="zh-TW" altLang="en-US" dirty="0"/>
              <a:t>，等到 </a:t>
            </a:r>
            <a:r>
              <a:rPr lang="en-US" altLang="zh-TW" dirty="0"/>
              <a:t>MCU </a:t>
            </a:r>
            <a:r>
              <a:rPr lang="zh-TW" altLang="en-US" dirty="0"/>
              <a:t>辨識到並印出 </a:t>
            </a:r>
            <a:r>
              <a:rPr lang="en-US" altLang="zh-TW" dirty="0"/>
              <a:t>USB Ready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OSD</a:t>
            </a:r>
            <a:r>
              <a:rPr lang="zh-TW" altLang="en-US" dirty="0"/>
              <a:t>切換完成後呼叫 </a:t>
            </a:r>
            <a:r>
              <a:rPr lang="en-US" altLang="zh-TW" dirty="0" err="1"/>
              <a:t>f_open</a:t>
            </a:r>
            <a:r>
              <a:rPr lang="en-US" altLang="zh-TW" dirty="0"/>
              <a:t> </a:t>
            </a:r>
            <a:r>
              <a:rPr lang="zh-TW" altLang="en-US" dirty="0"/>
              <a:t>建立檔案並寫入，常駐開啟。</a:t>
            </a:r>
            <a:endParaRPr lang="en-US" altLang="zh-TW" dirty="0"/>
          </a:p>
          <a:p>
            <a:r>
              <a:rPr lang="zh-TW" altLang="en-US" dirty="0"/>
              <a:t>當這 </a:t>
            </a:r>
            <a:r>
              <a:rPr lang="en-US" altLang="zh-TW" dirty="0"/>
              <a:t>4KB </a:t>
            </a:r>
            <a:r>
              <a:rPr lang="zh-TW" altLang="en-US" dirty="0"/>
              <a:t>的 </a:t>
            </a:r>
            <a:r>
              <a:rPr lang="en-US" altLang="zh-TW" dirty="0"/>
              <a:t>RAM </a:t>
            </a:r>
            <a:r>
              <a:rPr lang="zh-TW" altLang="en-US" dirty="0"/>
              <a:t>塞滿時，</a:t>
            </a:r>
            <a:r>
              <a:rPr lang="en-US" altLang="zh-TW" dirty="0" err="1"/>
              <a:t>FatFS</a:t>
            </a:r>
            <a:r>
              <a:rPr lang="en-US" altLang="zh-TW" dirty="0"/>
              <a:t> </a:t>
            </a:r>
            <a:r>
              <a:rPr lang="zh-TW" altLang="en-US" dirty="0"/>
              <a:t>會在背景「瞬間」把這 </a:t>
            </a:r>
            <a:r>
              <a:rPr lang="en-US" altLang="zh-TW" dirty="0"/>
              <a:t>4KB </a:t>
            </a:r>
            <a:r>
              <a:rPr lang="zh-TW" altLang="en-US" dirty="0"/>
              <a:t>整塊搬進 </a:t>
            </a:r>
            <a:r>
              <a:rPr lang="en-US" altLang="zh-TW" dirty="0"/>
              <a:t>USB </a:t>
            </a:r>
            <a:r>
              <a:rPr lang="zh-TW" altLang="en-US" dirty="0"/>
              <a:t>實體空間裡，然後清空 </a:t>
            </a:r>
            <a:r>
              <a:rPr lang="en-US" altLang="zh-TW" dirty="0"/>
              <a:t>RAM</a:t>
            </a:r>
          </a:p>
          <a:p>
            <a:r>
              <a:rPr lang="zh-TW" altLang="en-US" dirty="0"/>
              <a:t>結束時呼叫 </a:t>
            </a:r>
            <a:r>
              <a:rPr lang="en-US" altLang="zh-TW" b="1" dirty="0" err="1"/>
              <a:t>f_close</a:t>
            </a:r>
            <a:r>
              <a:rPr lang="zh-TW" altLang="en-US" b="1" dirty="0"/>
              <a:t>。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1474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拿出儲存在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Flash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裡的數據前，開檔案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1045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0619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9704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3362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37676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01978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104204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2565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5805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17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239847"/>
              </p:ext>
            </p:extLst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67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97652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開啟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Self Calibration-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or 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一次測量兩組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(Gamma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、以及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組色溫。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AdBoard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如果沒有寫入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原生數據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([20]~[31])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會直接顯示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None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螢幕擷取畫面, Rectangle 的圖片&#10;&#10;AI 產生的內容可能不正確。">
            <a:extLst>
              <a:ext uri="{FF2B5EF4-FFF2-40B4-BE49-F238E27FC236}">
                <a16:creationId xmlns:a16="http://schemas.microsoft.com/office/drawing/2014/main" id="{BFC0BEEA-628D-6ECA-9EDB-D25E3453C8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737" t="27943" r="28849" b="21530"/>
          <a:stretch/>
        </p:blipFill>
        <p:spPr>
          <a:xfrm>
            <a:off x="321088" y="2783220"/>
            <a:ext cx="2850205" cy="3465180"/>
          </a:xfrm>
          <a:prstGeom prst="rect">
            <a:avLst/>
          </a:prstGeom>
        </p:spPr>
      </p:pic>
      <p:pic>
        <p:nvPicPr>
          <p:cNvPr id="6" name="圖片 5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4156B628-773E-1DDE-B964-26177CE36F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662" b="64806"/>
          <a:stretch/>
        </p:blipFill>
        <p:spPr>
          <a:xfrm>
            <a:off x="3281903" y="3429000"/>
            <a:ext cx="6556005" cy="92243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FD2E99A-0B24-BE6D-2783-F621582E1FB7}"/>
              </a:ext>
            </a:extLst>
          </p:cNvPr>
          <p:cNvSpPr/>
          <p:nvPr/>
        </p:nvSpPr>
        <p:spPr>
          <a:xfrm flipH="1">
            <a:off x="3346391" y="4075888"/>
            <a:ext cx="6342358" cy="1361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EEBE76-05F3-42B7-ADC3-A3F55C1CCD97}"/>
              </a:ext>
            </a:extLst>
          </p:cNvPr>
          <p:cNvSpPr/>
          <p:nvPr/>
        </p:nvSpPr>
        <p:spPr>
          <a:xfrm flipH="1">
            <a:off x="6527260" y="3939699"/>
            <a:ext cx="3310648" cy="1361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53221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97652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開啟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Self Calibration-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or 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有讀到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([20]~[31])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就會顯示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Done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BFCFA156-7A12-C387-D0C9-622133383C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86" t="31064" r="24311" b="21671"/>
          <a:stretch/>
        </p:blipFill>
        <p:spPr>
          <a:xfrm>
            <a:off x="0" y="2114955"/>
            <a:ext cx="3421511" cy="362376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A6D2A4D-13B5-A2B8-7F04-57003DC08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510" y="3322578"/>
            <a:ext cx="6484489" cy="87004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2B0C03D-B52B-6D6E-8C3C-32D9D9CC85E9}"/>
              </a:ext>
            </a:extLst>
          </p:cNvPr>
          <p:cNvSpPr/>
          <p:nvPr/>
        </p:nvSpPr>
        <p:spPr>
          <a:xfrm flipH="1">
            <a:off x="3421509" y="3926838"/>
            <a:ext cx="6345058" cy="194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868C22-81C2-ACCA-28FA-C15418252D19}"/>
              </a:ext>
            </a:extLst>
          </p:cNvPr>
          <p:cNvSpPr/>
          <p:nvPr/>
        </p:nvSpPr>
        <p:spPr>
          <a:xfrm flipH="1">
            <a:off x="6634264" y="3757599"/>
            <a:ext cx="3132303" cy="194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58714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97652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開啟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Self Calibration-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or 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校正進行中的會顯示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Process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，校正完成則會顯示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Done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BFCFA156-7A12-C387-D0C9-622133383C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86" t="31064" r="24311" b="21671"/>
          <a:stretch/>
        </p:blipFill>
        <p:spPr>
          <a:xfrm>
            <a:off x="-9024" y="1954236"/>
            <a:ext cx="3421511" cy="362376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6ADC99D-AD30-878A-6E11-28F01924F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1484" y="1930019"/>
            <a:ext cx="4960904" cy="364798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CD16F2C-B1A1-07A4-A378-AF4C56615B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1484" y="5578002"/>
            <a:ext cx="4454564" cy="121190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2B0C03D-B52B-6D6E-8C3C-32D9D9CC85E9}"/>
              </a:ext>
            </a:extLst>
          </p:cNvPr>
          <p:cNvSpPr/>
          <p:nvPr/>
        </p:nvSpPr>
        <p:spPr>
          <a:xfrm flipH="1">
            <a:off x="5583674" y="5972783"/>
            <a:ext cx="1848255" cy="1860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07C60B-626C-613B-A8FC-CB045D476D4B}"/>
              </a:ext>
            </a:extLst>
          </p:cNvPr>
          <p:cNvSpPr/>
          <p:nvPr/>
        </p:nvSpPr>
        <p:spPr>
          <a:xfrm flipH="1">
            <a:off x="6710098" y="2393005"/>
            <a:ext cx="1848255" cy="379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C27A87B-6980-6054-F130-3A4AA57E8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86" y="5578003"/>
            <a:ext cx="4090155" cy="117807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EEE06B1-F010-F5E7-2C69-A81C69A5AC25}"/>
              </a:ext>
            </a:extLst>
          </p:cNvPr>
          <p:cNvSpPr/>
          <p:nvPr/>
        </p:nvSpPr>
        <p:spPr>
          <a:xfrm flipH="1">
            <a:off x="1821529" y="6197577"/>
            <a:ext cx="2020896" cy="1916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3706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97652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開啟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Self Calibration-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or 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執行結束後會顯示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Done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 descr="一張含有 文字, 螢幕擷取畫面, 陳列, Rectangle 的圖片&#10;&#10;AI 產生的內容可能不正確。">
            <a:extLst>
              <a:ext uri="{FF2B5EF4-FFF2-40B4-BE49-F238E27FC236}">
                <a16:creationId xmlns:a16="http://schemas.microsoft.com/office/drawing/2014/main" id="{05AD6849-49A8-F67B-CD6B-C7EEBDAD7E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28" t="29646" r="24689" b="21671"/>
          <a:stretch/>
        </p:blipFill>
        <p:spPr>
          <a:xfrm>
            <a:off x="609602" y="2028268"/>
            <a:ext cx="3424136" cy="385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736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6186" y="1066800"/>
            <a:ext cx="580506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產生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txt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檔案報告至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USB2.0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隨身碟裝置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STM32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內建的軟體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FatFS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FatFs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背景查看執行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4KB RAM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空間夠不夠。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存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Measurement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矩陣，有使用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f_sync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強迫把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資料立即存入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圖表, 行, 平行 的圖片&#10;&#10;AI 產生的內容可能不正確。">
            <a:extLst>
              <a:ext uri="{FF2B5EF4-FFF2-40B4-BE49-F238E27FC236}">
                <a16:creationId xmlns:a16="http://schemas.microsoft.com/office/drawing/2014/main" id="{BF89A361-C14F-C30B-48ED-6342D4B1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426" y="347031"/>
            <a:ext cx="2773200" cy="616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774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6185" y="1066801"/>
            <a:ext cx="8924039" cy="173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產生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txt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檔案報告至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USB2.0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隨身碟裝置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USB.txt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存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 Measurement Data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measure_native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ColorCalib_BuildTargets_FromCTGammaTable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Start Gamma / DICOM Calibration &amp; Burn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的時間與校正時間。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91BCDCE-2680-0BC1-41A7-65EBB9DADE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3"/>
          <a:stretch/>
        </p:blipFill>
        <p:spPr>
          <a:xfrm>
            <a:off x="4953000" y="3283660"/>
            <a:ext cx="4601217" cy="129816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E79BF0B-6185-379B-2789-1389800C2F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127"/>
          <a:stretch/>
        </p:blipFill>
        <p:spPr>
          <a:xfrm>
            <a:off x="145972" y="3478673"/>
            <a:ext cx="4601217" cy="75314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8ACEBD03-8761-DD65-2060-7F47E3E291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2535" r="50009"/>
          <a:stretch/>
        </p:blipFill>
        <p:spPr>
          <a:xfrm>
            <a:off x="145972" y="4463016"/>
            <a:ext cx="3820101" cy="1741112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8F8C7C5F-8A71-F920-67B1-187663B6BD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37"/>
          <a:stretch/>
        </p:blipFill>
        <p:spPr>
          <a:xfrm>
            <a:off x="4953000" y="4769310"/>
            <a:ext cx="4601216" cy="1147717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E85C3DF4-F54A-9486-6FCB-18B05D6FB1DB}"/>
              </a:ext>
            </a:extLst>
          </p:cNvPr>
          <p:cNvSpPr/>
          <p:nvPr/>
        </p:nvSpPr>
        <p:spPr>
          <a:xfrm flipH="1">
            <a:off x="207766" y="3451034"/>
            <a:ext cx="2392214" cy="379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A05C47-3235-9E10-04A3-752882852A65}"/>
              </a:ext>
            </a:extLst>
          </p:cNvPr>
          <p:cNvSpPr/>
          <p:nvPr/>
        </p:nvSpPr>
        <p:spPr>
          <a:xfrm flipH="1">
            <a:off x="207766" y="4400950"/>
            <a:ext cx="2392213" cy="379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9330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723178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757181"/>
              </p:ext>
            </p:extLst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2"/>
            <a:ext cx="4022658" cy="19095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1387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694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JP7.2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221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版面配置區 6">
                <a:extLst>
                  <a:ext uri="{FF2B5EF4-FFF2-40B4-BE49-F238E27FC236}">
                    <a16:creationId xmlns:a16="http://schemas.microsoft.com/office/drawing/2014/main" id="{15E903C2-D7A2-E707-AA22-A5BFEBFCEF2F}"/>
                  </a:ext>
                </a:extLst>
              </p:cNvPr>
              <p:cNvSpPr txBox="1"/>
              <p:nvPr/>
            </p:nvSpPr>
            <p:spPr>
              <a:xfrm>
                <a:off x="297457" y="1377878"/>
                <a:ext cx="9311086" cy="53900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accent2"/>
                  </a:buClr>
                  <a:buSzPts val="2800"/>
                  <a:buFont typeface="Noto Sans Symbols"/>
                  <a:buChar char="❖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Noto Sans Symbols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6699FF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修改電源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相關電源選項關係到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Power Good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訊號，且有嚴格時序要求，無法修改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其他測試：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JS1000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正常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AGX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Thor Devkit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異常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/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應該是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Thor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才有的問題，已在論壇詢問，等待回覆中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版面配置區 6">
                <a:extLst>
                  <a:ext uri="{FF2B5EF4-FFF2-40B4-BE49-F238E27FC236}">
                    <a16:creationId xmlns:a16="http://schemas.microsoft.com/office/drawing/2014/main" id="{15E903C2-D7A2-E707-AA22-A5BFEBFCE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57" y="1377878"/>
                <a:ext cx="9311086" cy="5390071"/>
              </a:xfrm>
              <a:prstGeom prst="rect">
                <a:avLst/>
              </a:prstGeom>
              <a:blipFill>
                <a:blip r:embed="rId3"/>
                <a:stretch>
                  <a:fillRect l="-1113" t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Audio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469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JP7.2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延後到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月初發布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JP7.2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073EB49-F215-4038-B7AB-D3D5EF7B0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6500"/>
            <a:ext cx="9906000" cy="152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59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重構部分多餘程式碼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對命令執行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handler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加上信號，限制執行中無法重新進入函數，並且鎖定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UI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互動，確保不會重複、同時執行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預計實作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”processing…”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的提醒，避免被當成沒有回應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發現多螢幕時無法固定在指定螢幕，待修復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Membrane Key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080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54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JP7.2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231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207274</TotalTime>
  <Words>1105</Words>
  <Application>Microsoft Office PowerPoint</Application>
  <PresentationFormat>A4 紙張 (210x297 公釐)</PresentationFormat>
  <Paragraphs>262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5" baseType="lpstr">
      <vt:lpstr>Noto Sans Symbols</vt:lpstr>
      <vt:lpstr>新細明體</vt:lpstr>
      <vt:lpstr>標楷體</vt:lpstr>
      <vt:lpstr>Arial</vt:lpstr>
      <vt:lpstr>Calibri</vt:lpstr>
      <vt:lpstr>Cambria Math</vt:lpstr>
      <vt:lpstr>Times New Roman</vt:lpstr>
      <vt:lpstr>template</vt:lpstr>
      <vt:lpstr>Progress Report</vt:lpstr>
      <vt:lpstr>本次進度: Monitor</vt:lpstr>
      <vt:lpstr>上次進度: Monitor</vt:lpstr>
      <vt:lpstr>上次進度: Monitor</vt:lpstr>
      <vt:lpstr>上次進度: Monitor</vt:lpstr>
      <vt:lpstr>上次進度: Monitor</vt:lpstr>
      <vt:lpstr>本次進度: Monitor</vt:lpstr>
      <vt:lpstr>本次進度: Monitor</vt:lpstr>
      <vt:lpstr>下次進度: Monitor</vt:lpstr>
      <vt:lpstr>上次進度: JS1500 &amp; AI Perf</vt:lpstr>
      <vt:lpstr>上次進度: JS1500 &amp; AI Perf</vt:lpstr>
      <vt:lpstr>上次進度：Audio</vt:lpstr>
      <vt:lpstr>本次進度：JP7.2</vt:lpstr>
      <vt:lpstr>本次進度：Membrane Key</vt:lpstr>
      <vt:lpstr>下次進度: JS1500 &amp; AI Perf</vt:lpstr>
      <vt:lpstr>下次進度: JS1500 &amp; AI Perf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2241</cp:revision>
  <dcterms:created xsi:type="dcterms:W3CDTF">2003-02-17T16:04:03Z</dcterms:created>
  <dcterms:modified xsi:type="dcterms:W3CDTF">2026-05-12T06:24:12Z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