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27"/>
  </p:notesMasterIdLst>
  <p:sldIdLst>
    <p:sldId id="277" r:id="rId2"/>
    <p:sldId id="1418" r:id="rId3"/>
    <p:sldId id="1419" r:id="rId4"/>
    <p:sldId id="1434" r:id="rId5"/>
    <p:sldId id="1435" r:id="rId6"/>
    <p:sldId id="1427" r:id="rId7"/>
    <p:sldId id="1428" r:id="rId8"/>
    <p:sldId id="1429" r:id="rId9"/>
    <p:sldId id="1430" r:id="rId10"/>
    <p:sldId id="1423" r:id="rId11"/>
    <p:sldId id="1424" r:id="rId12"/>
    <p:sldId id="1391" r:id="rId13"/>
    <p:sldId id="1389" r:id="rId14"/>
    <p:sldId id="1379" r:id="rId15"/>
    <p:sldId id="1390" r:id="rId16"/>
    <p:sldId id="1392" r:id="rId17"/>
    <p:sldId id="1394" r:id="rId18"/>
    <p:sldId id="1393" r:id="rId19"/>
    <p:sldId id="1441" r:id="rId20"/>
    <p:sldId id="1439" r:id="rId21"/>
    <p:sldId id="1440" r:id="rId22"/>
    <p:sldId id="1373" r:id="rId23"/>
    <p:sldId id="286" r:id="rId24"/>
    <p:sldId id="1353" r:id="rId25"/>
    <p:sldId id="1395" r:id="rId26"/>
  </p:sldIdLst>
  <p:sldSz cx="9906000" cy="6858000" type="A4"/>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Head" id="{9114FBB3-8B00-422B-ACC9-030F49096E83}">
          <p14:sldIdLst>
            <p14:sldId id="277"/>
          </p14:sldIdLst>
        </p14:section>
        <p14:section name="JS1100" id="{4417F44F-13AF-4263-AC8A-C79F7A1F6D4C}">
          <p14:sldIdLst>
            <p14:sldId id="1418"/>
            <p14:sldId id="1419"/>
            <p14:sldId id="1434"/>
            <p14:sldId id="1435"/>
            <p14:sldId id="1427"/>
            <p14:sldId id="1428"/>
            <p14:sldId id="1429"/>
            <p14:sldId id="1430"/>
            <p14:sldId id="1423"/>
            <p14:sldId id="1424"/>
          </p14:sldIdLst>
        </p14:section>
        <p14:section name="MD200" id="{C2362E2A-50BB-4249-BF08-AD83A15F33C8}">
          <p14:sldIdLst>
            <p14:sldId id="1391"/>
            <p14:sldId id="1389"/>
            <p14:sldId id="1379"/>
            <p14:sldId id="1390"/>
            <p14:sldId id="1392"/>
            <p14:sldId id="1394"/>
            <p14:sldId id="1393"/>
            <p14:sldId id="1441"/>
            <p14:sldId id="1439"/>
            <p14:sldId id="1440"/>
            <p14:sldId id="1373"/>
          </p14:sldIdLst>
        </p14:section>
        <p14:section name="End" id="{33EEDC85-A799-4CB3-BF13-F4955B8630BE}">
          <p14:sldIdLst>
            <p14:sldId id="286"/>
            <p14:sldId id="1353"/>
            <p14:sldId id="1395"/>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10902143" initials="m" lastIdx="1" clrIdx="0"/>
  <p:cmAuthor id="2" name="James Kuo" initials="JK" lastIdx="1" clrIdx="1"/>
  <p:cmAuthor id="3" name="昇鴻 李" initials="昇鴻" lastIdx="1" clrIdx="2">
    <p:extLst>
      <p:ext uri="{19B8F6BF-5375-455C-9EA6-DF929625EA0E}">
        <p15:presenceInfo xmlns:p15="http://schemas.microsoft.com/office/powerpoint/2012/main" userId="72a70edeaa250c2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0057C0"/>
    <a:srgbClr val="FF9900"/>
    <a:srgbClr val="000000"/>
    <a:srgbClr val="8958B1"/>
    <a:srgbClr val="C58DEF"/>
    <a:srgbClr val="993366"/>
    <a:srgbClr val="58148B"/>
    <a:srgbClr val="FFFFFF"/>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D433FD4-3D7A-4217-8E80-1680D7E9CC69}" styleName="Table_0">
    <a:wholeTbl>
      <a:tcTxStyle b="off" i="off">
        <a:font>
          <a:latin typeface="Times New Roman"/>
          <a:ea typeface="Times New Roman"/>
          <a:cs typeface="Times New Roman"/>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Style>
        <a:tcBdr/>
        <a:fill>
          <a:solidFill>
            <a:srgbClr val="E6E6E6"/>
          </a:solidFill>
        </a:fill>
      </a:tcStyle>
    </a:band1H>
    <a:band2H>
      <a:tcStyle>
        <a:tcBdr/>
      </a:tcStyle>
    </a:band2H>
    <a:band1V>
      <a:tcStyle>
        <a:tcBdr/>
        <a:fill>
          <a:solidFill>
            <a:srgbClr val="E6E6E6"/>
          </a:solidFill>
        </a:fill>
      </a:tcStyle>
    </a:band1V>
    <a:band2V>
      <a:tcStyle>
        <a:tcBdr/>
      </a:tcStyle>
    </a:band2V>
    <a:lastCol>
      <a:tcTxStyle b="on" i="off">
        <a:font>
          <a:latin typeface="Times New Roman"/>
          <a:ea typeface="Times New Roman"/>
          <a:cs typeface="Times New Roman"/>
        </a:font>
        <a:schemeClr val="lt1"/>
      </a:tcTxStyle>
      <a:tcStyle>
        <a:tcBdr/>
        <a:fill>
          <a:solidFill>
            <a:schemeClr val="accent2"/>
          </a:solidFill>
        </a:fill>
      </a:tcStyle>
    </a:lastCol>
    <a:firstCol>
      <a:tcTxStyle b="on" i="off">
        <a:font>
          <a:latin typeface="Times New Roman"/>
          <a:ea typeface="Times New Roman"/>
          <a:cs typeface="Times New Roman"/>
        </a:font>
        <a:schemeClr val="lt1"/>
      </a:tcTxStyle>
      <a:tcStyle>
        <a:tcBdr/>
        <a:fill>
          <a:solidFill>
            <a:schemeClr val="accent2"/>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Times New Roman"/>
          <a:ea typeface="Times New Roman"/>
          <a:cs typeface="Times New Roman"/>
        </a:font>
        <a:schemeClr val="dk1"/>
      </a:tcTxStyle>
      <a:tcStyle>
        <a:tcBdr/>
      </a:tcStyle>
    </a:seCell>
    <a:swCell>
      <a:tcTxStyle b="on" i="off">
        <a:font>
          <a:latin typeface="Times New Roman"/>
          <a:ea typeface="Times New Roman"/>
          <a:cs typeface="Times New Roman"/>
        </a:font>
        <a:schemeClr val="dk1"/>
      </a:tcTxStyle>
      <a:tcStyle>
        <a:tcBdr/>
      </a:tcStyle>
    </a:swCell>
    <a:firstRow>
      <a:tcTxStyle b="on" i="off">
        <a:font>
          <a:latin typeface="Times New Roman"/>
          <a:ea typeface="Times New Roman"/>
          <a:cs typeface="Times New Roman"/>
        </a:font>
        <a:schemeClr val="lt1"/>
      </a:tcTxStyle>
      <a:tcStyle>
        <a:tcBdr>
          <a:bottom>
            <a:ln w="25400" cap="flat" cmpd="sng">
              <a:solidFill>
                <a:schemeClr val="dk1"/>
              </a:solidFill>
              <a:prstDash val="solid"/>
              <a:round/>
              <a:headEnd type="none" w="sm" len="sm"/>
              <a:tailEnd type="none" w="sm" len="sm"/>
            </a:ln>
          </a:bottom>
        </a:tcBdr>
        <a:fill>
          <a:solidFill>
            <a:schemeClr val="accent2"/>
          </a:solidFill>
        </a:fill>
      </a:tcStyle>
    </a:firstRow>
    <a:neCell>
      <a:tcStyle>
        <a:tcBdr/>
      </a:tcStyle>
    </a:neCell>
    <a:nwCell>
      <a:tcStyle>
        <a:tcBdr/>
      </a:tcStyle>
    </a:nwCell>
  </a:tblStyle>
  <a:tblStyle styleId="{3E919B74-BC6B-4152-9BDB-477648A112FC}" styleName="Table_1">
    <a:wholeTbl>
      <a:tcTxStyle b="off" i="off">
        <a:font>
          <a:latin typeface="Times New Roman"/>
          <a:ea typeface="Times New Roman"/>
          <a:cs typeface="Times New Roman"/>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F6EF"/>
          </a:solidFill>
        </a:fill>
      </a:tcStyle>
    </a:wholeTbl>
    <a:band1H>
      <a:tcStyle>
        <a:tcBdr/>
        <a:fill>
          <a:solidFill>
            <a:srgbClr val="CAECDD"/>
          </a:solidFill>
        </a:fill>
      </a:tcStyle>
    </a:band1H>
    <a:band2H>
      <a:tcStyle>
        <a:tcBdr/>
      </a:tcStyle>
    </a:band2H>
    <a:band1V>
      <a:tcStyle>
        <a:tcBdr/>
        <a:fill>
          <a:solidFill>
            <a:srgbClr val="CAECDD"/>
          </a:solidFill>
        </a:fill>
      </a:tcStyle>
    </a:band1V>
    <a:band2V>
      <a:tcStyle>
        <a:tcBdr/>
      </a:tcStyle>
    </a:band2V>
    <a:lastCol>
      <a:tcTxStyle b="on" i="off">
        <a:font>
          <a:latin typeface="Times New Roman"/>
          <a:ea typeface="Times New Roman"/>
          <a:cs typeface="Times New Roman"/>
        </a:font>
        <a:schemeClr val="lt1"/>
      </a:tcTxStyle>
      <a:tcStyle>
        <a:tcBdr/>
        <a:fill>
          <a:solidFill>
            <a:schemeClr val="accent1"/>
          </a:solidFill>
        </a:fill>
      </a:tcStyle>
    </a:lastCol>
    <a:firstCol>
      <a:tcTxStyle b="on" i="off">
        <a:font>
          <a:latin typeface="Times New Roman"/>
          <a:ea typeface="Times New Roman"/>
          <a:cs typeface="Times New Roman"/>
        </a:font>
        <a:schemeClr val="lt1"/>
      </a:tcTxStyle>
      <a:tcStyle>
        <a:tcBdr/>
        <a:fill>
          <a:solidFill>
            <a:schemeClr val="accent1"/>
          </a:solidFill>
        </a:fill>
      </a:tcStyle>
    </a:firstCol>
    <a:lastRow>
      <a:tcTxStyle b="on" i="off">
        <a:font>
          <a:latin typeface="Times New Roman"/>
          <a:ea typeface="Times New Roman"/>
          <a:cs typeface="Times New Roman"/>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i="off">
        <a:font>
          <a:latin typeface="Times New Roman"/>
          <a:ea typeface="Times New Roman"/>
          <a:cs typeface="Times New Roman"/>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883" autoAdjust="0"/>
    <p:restoredTop sz="91920" autoAdjust="0"/>
  </p:normalViewPr>
  <p:slideViewPr>
    <p:cSldViewPr snapToGrid="0">
      <p:cViewPr varScale="1">
        <p:scale>
          <a:sx n="157" d="100"/>
          <a:sy n="157" d="100"/>
        </p:scale>
        <p:origin x="1980" y="144"/>
      </p:cViewPr>
      <p:guideLst>
        <p:guide orient="horz" pos="2160"/>
        <p:guide pos="3120"/>
      </p:guideLst>
    </p:cSldViewPr>
  </p:slideViewPr>
  <p:notesTextViewPr>
    <p:cViewPr>
      <p:scale>
        <a:sx n="150" d="100"/>
        <a:sy n="150" d="100"/>
      </p:scale>
      <p:origin x="0" y="0"/>
    </p:cViewPr>
  </p:notesTextViewPr>
  <p:notesViewPr>
    <p:cSldViewPr snapToGrid="0">
      <p:cViewPr varScale="1">
        <p:scale>
          <a:sx n="100" d="100"/>
          <a:sy n="100"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659" name="Google Shape;3;n"/>
          <p:cNvSpPr txBox="1">
            <a:spLocks noGrp="1"/>
          </p:cNvSpPr>
          <p:nvPr>
            <p:ph type="hdr" idx="2"/>
          </p:nvPr>
        </p:nvSpPr>
        <p:spPr>
          <a:xfrm>
            <a:off x="0" y="0"/>
            <a:ext cx="3176588" cy="466725"/>
          </a:xfrm>
          <a:prstGeom prst="rect">
            <a:avLst/>
          </a:prstGeom>
          <a:noFill/>
          <a:ln>
            <a:noFill/>
          </a:ln>
        </p:spPr>
        <p:txBody>
          <a:bodyPr spcFirstLastPara="1" wrap="square" lIns="102350" tIns="51175" rIns="102350" bIns="51175" anchor="t" anchorCtr="0">
            <a:noAutofit/>
          </a:bodyPr>
          <a:lstStyle>
            <a:lvl1pPr marR="0" lvl="0" algn="l"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0" name="Google Shape;4;n"/>
          <p:cNvSpPr txBox="1">
            <a:spLocks noGrp="1"/>
          </p:cNvSpPr>
          <p:nvPr>
            <p:ph type="dt" idx="10"/>
          </p:nvPr>
        </p:nvSpPr>
        <p:spPr>
          <a:xfrm>
            <a:off x="4138613" y="0"/>
            <a:ext cx="3176587" cy="466725"/>
          </a:xfrm>
          <a:prstGeom prst="rect">
            <a:avLst/>
          </a:prstGeom>
          <a:noFill/>
          <a:ln>
            <a:noFill/>
          </a:ln>
        </p:spPr>
        <p:txBody>
          <a:bodyPr spcFirstLastPara="1" wrap="square" lIns="102350" tIns="51175" rIns="102350" bIns="51175" anchor="t" anchorCtr="0">
            <a:noAutofit/>
          </a:bodyPr>
          <a:lstStyle>
            <a:lvl1pPr marR="0" lvl="0" algn="r"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1" name="Google Shape;5;n"/>
          <p:cNvSpPr>
            <a:spLocks noGrp="1" noRot="1" noChangeAspect="1"/>
          </p:cNvSpPr>
          <p:nvPr>
            <p:ph type="sldImg" idx="3"/>
          </p:nvPr>
        </p:nvSpPr>
        <p:spPr>
          <a:xfrm>
            <a:off x="1062038" y="735013"/>
            <a:ext cx="5197475" cy="35988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48662" name="Google Shape;6;n"/>
          <p:cNvSpPr txBox="1">
            <a:spLocks noGrp="1"/>
          </p:cNvSpPr>
          <p:nvPr>
            <p:ph type="body" idx="1"/>
          </p:nvPr>
        </p:nvSpPr>
        <p:spPr>
          <a:xfrm>
            <a:off x="962025" y="4567238"/>
            <a:ext cx="5391150" cy="4300537"/>
          </a:xfrm>
          <a:prstGeom prst="rect">
            <a:avLst/>
          </a:prstGeom>
          <a:noFill/>
          <a:ln>
            <a:noFill/>
          </a:ln>
        </p:spPr>
        <p:txBody>
          <a:bodyPr spcFirstLastPara="1" wrap="square" lIns="102350" tIns="51175" rIns="102350" bIns="511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48663" name="Google Shape;7;n"/>
          <p:cNvSpPr txBox="1">
            <a:spLocks noGrp="1"/>
          </p:cNvSpPr>
          <p:nvPr>
            <p:ph type="ftr" idx="11"/>
          </p:nvPr>
        </p:nvSpPr>
        <p:spPr>
          <a:xfrm>
            <a:off x="0" y="9134475"/>
            <a:ext cx="3176588" cy="466725"/>
          </a:xfrm>
          <a:prstGeom prst="rect">
            <a:avLst/>
          </a:prstGeom>
          <a:noFill/>
          <a:ln>
            <a:noFill/>
          </a:ln>
        </p:spPr>
        <p:txBody>
          <a:bodyPr spcFirstLastPara="1" wrap="square" lIns="102350" tIns="51175" rIns="102350" bIns="51175" anchor="b" anchorCtr="0">
            <a:noAutofit/>
          </a:bodyPr>
          <a:lstStyle>
            <a:lvl1pPr marR="0" lvl="0" algn="l"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4" name="Google Shape;8;n"/>
          <p:cNvSpPr txBox="1">
            <a:spLocks noGrp="1"/>
          </p:cNvSpPr>
          <p:nvPr>
            <p:ph type="sldNum" idx="12"/>
          </p:nvPr>
        </p:nvSpPr>
        <p:spPr>
          <a:xfrm>
            <a:off x="4138613" y="9134475"/>
            <a:ext cx="3176587" cy="466725"/>
          </a:xfrm>
          <a:prstGeom prst="rect">
            <a:avLst/>
          </a:prstGeom>
          <a:noFill/>
          <a:ln>
            <a:noFill/>
          </a:ln>
        </p:spPr>
        <p:txBody>
          <a:bodyPr spcFirstLastPara="1" wrap="square" lIns="102350" tIns="51175" rIns="102350" bIns="51175" anchor="b" anchorCtr="0">
            <a:noAutofit/>
          </a:bodyPr>
          <a:lstStyle/>
          <a:p>
            <a:pPr marL="0" marR="0" lvl="0" indent="0" algn="r" rtl="0">
              <a:spcBef>
                <a:spcPts val="0"/>
              </a:spcBef>
              <a:spcAft>
                <a:spcPts val="0"/>
              </a:spcAft>
              <a:buNone/>
            </a:pPr>
            <a:fld id="{00000000-1234-1234-1234-123412341234}" type="slidenum">
              <a:rPr lang="en-US" sz="2000" b="0" i="0" u="none" strike="noStrike" cap="none">
                <a:solidFill>
                  <a:schemeClr val="dk1"/>
                </a:solidFill>
                <a:latin typeface="Times New Roman"/>
                <a:ea typeface="Times New Roman"/>
                <a:cs typeface="Times New Roman"/>
                <a:sym typeface="Times New Roman"/>
              </a:rPr>
              <a:t>‹#›</a:t>
            </a:fld>
            <a:endParaRPr sz="2000" b="0" i="0" u="none" strike="noStrike" cap="none" dirty="0">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投影片圖像版面配置區 1"/>
          <p:cNvSpPr>
            <a:spLocks noGrp="1" noRot="1" noChangeAspect="1"/>
          </p:cNvSpPr>
          <p:nvPr>
            <p:ph type="sldImg"/>
          </p:nvPr>
        </p:nvSpPr>
        <p:spPr/>
      </p:sp>
      <p:sp>
        <p:nvSpPr>
          <p:cNvPr id="1048586" name="備忘稿版面配置區 2"/>
          <p:cNvSpPr>
            <a:spLocks noGrp="1"/>
          </p:cNvSpPr>
          <p:nvPr>
            <p:ph type="body" idx="1"/>
          </p:nvPr>
        </p:nvSpPr>
        <p:spPr/>
        <p:txBody>
          <a:bodyPr/>
          <a:lstStyle/>
          <a:p>
            <a:endParaRPr lang="zh-TW" altLang="en-US" dirty="0"/>
          </a:p>
        </p:txBody>
      </p:sp>
      <p:sp>
        <p:nvSpPr>
          <p:cNvPr id="1048587" name="投影片編號版面配置區 3"/>
          <p:cNvSpPr>
            <a:spLocks noGrp="1"/>
          </p:cNvSpPr>
          <p:nvPr>
            <p:ph type="sldNum" sz="quarter" idx="10"/>
          </p:nvPr>
        </p:nvSpPr>
        <p:spPr/>
        <p:txBody>
          <a:bodyPr/>
          <a:lstStyle/>
          <a:p>
            <a:fld id="{F5753A29-9D77-4C26-8BEC-432FE5D4B0A4}" type="slidenum">
              <a:rPr lang="en-US" altLang="zh-TW" smtClean="0"/>
              <a:t>1</a:t>
            </a:fld>
            <a:endParaRPr lang="en-US"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2</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01528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3</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12674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4</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32305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5</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00112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6</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1077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7</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7102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8</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72914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9</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42604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10</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57442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11</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47738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12</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16931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13</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231573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14</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80592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15</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595611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16</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14863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17</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62837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18</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77254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19</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767605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20</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76760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21</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450278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22</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14294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投影片影像版面配置區 1"/>
          <p:cNvSpPr>
            <a:spLocks noGrp="1" noRot="1" noChangeAspect="1"/>
          </p:cNvSpPr>
          <p:nvPr>
            <p:ph type="sldImg"/>
          </p:nvPr>
        </p:nvSpPr>
        <p:spPr/>
      </p:sp>
      <p:sp>
        <p:nvSpPr>
          <p:cNvPr id="1048642" name="備忘稿版面配置區 2"/>
          <p:cNvSpPr>
            <a:spLocks noGrp="1"/>
          </p:cNvSpPr>
          <p:nvPr>
            <p:ph type="body" idx="1"/>
          </p:nvPr>
        </p:nvSpPr>
        <p:spPr/>
        <p:txBody>
          <a:bodyPr/>
          <a:lstStyle/>
          <a:p>
            <a:pPr marL="228600" indent="0">
              <a:buNone/>
            </a:pPr>
            <a:endParaRPr lang="en-US" altLang="zh-TW" dirty="0"/>
          </a:p>
        </p:txBody>
      </p:sp>
      <p:sp>
        <p:nvSpPr>
          <p:cNvPr id="1048643" name="投影片編號版面配置區 3"/>
          <p:cNvSpPr>
            <a:spLocks noGrp="1"/>
          </p:cNvSpPr>
          <p:nvPr>
            <p:ph type="sldNum" sz="quarter" idx="5"/>
          </p:nvPr>
        </p:nvSpPr>
        <p:spPr/>
        <p:txBody>
          <a:bodyPr/>
          <a:lstStyle/>
          <a:p>
            <a:fld id="{F5753A29-9D77-4C26-8BEC-432FE5D4B0A4}" type="slidenum">
              <a:rPr lang="en-US" altLang="zh-TW" smtClean="0"/>
              <a:t>23</a:t>
            </a:fld>
            <a:endParaRPr lang="en-US" altLang="zh-TW"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24</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184378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投影片影像版面配置區 1"/>
          <p:cNvSpPr>
            <a:spLocks noGrp="1" noRot="1" noChangeAspect="1"/>
          </p:cNvSpPr>
          <p:nvPr>
            <p:ph type="sldImg"/>
          </p:nvPr>
        </p:nvSpPr>
        <p:spPr/>
      </p:sp>
      <p:sp>
        <p:nvSpPr>
          <p:cNvPr id="1048611" name="備忘稿版面配置區 2"/>
          <p:cNvSpPr>
            <a:spLocks noGrp="1"/>
          </p:cNvSpPr>
          <p:nvPr>
            <p:ph type="body" idx="1"/>
          </p:nvPr>
        </p:nvSpPr>
        <p:spPr/>
        <p:txBody>
          <a:bodyPr/>
          <a:lstStyle/>
          <a:p>
            <a:endParaRPr lang="zh-TW" altLang="en-US" dirty="0"/>
          </a:p>
        </p:txBody>
      </p:sp>
      <p:sp>
        <p:nvSpPr>
          <p:cNvPr id="1048612" name="投影片編號版面配置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25</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33984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20"/>
        <p:cNvGrpSpPr/>
        <p:nvPr/>
      </p:nvGrpSpPr>
      <p:grpSpPr>
        <a:xfrm>
          <a:off x="0" y="0"/>
          <a:ext cx="0" cy="0"/>
          <a:chOff x="0" y="0"/>
          <a:chExt cx="0" cy="0"/>
        </a:xfrm>
      </p:grpSpPr>
      <p:sp>
        <p:nvSpPr>
          <p:cNvPr id="1048636" name="Google Shape;21;p50"/>
          <p:cNvSpPr txBox="1">
            <a:spLocks noGrp="1"/>
          </p:cNvSpPr>
          <p:nvPr>
            <p:ph type="ctrTitle"/>
          </p:nvPr>
        </p:nvSpPr>
        <p:spPr>
          <a:xfrm>
            <a:off x="1238250" y="1122363"/>
            <a:ext cx="7429500" cy="2387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4875"/>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37" name="Google Shape;22;p50"/>
          <p:cNvSpPr txBox="1">
            <a:spLocks noGrp="1"/>
          </p:cNvSpPr>
          <p:nvPr>
            <p:ph type="subTitle" idx="1"/>
          </p:nvPr>
        </p:nvSpPr>
        <p:spPr>
          <a:xfrm>
            <a:off x="1238250" y="3602038"/>
            <a:ext cx="7429500" cy="1655762"/>
          </a:xfrm>
          <a:prstGeom prst="rect">
            <a:avLst/>
          </a:prstGeom>
          <a:noFill/>
          <a:ln>
            <a:noFill/>
          </a:ln>
        </p:spPr>
        <p:txBody>
          <a:bodyPr spcFirstLastPara="1" wrap="square" lIns="91425" tIns="45700" rIns="91425" bIns="45700" anchor="t" anchorCtr="0">
            <a:noAutofit/>
          </a:bodyPr>
          <a:lstStyle>
            <a:lvl1pPr lvl="0" algn="ctr">
              <a:spcBef>
                <a:spcPts val="390"/>
              </a:spcBef>
              <a:spcAft>
                <a:spcPts val="0"/>
              </a:spcAft>
              <a:buSzPts val="1950"/>
              <a:buNone/>
              <a:defRPr sz="1950"/>
            </a:lvl1pPr>
            <a:lvl2pPr lvl="1" algn="ctr">
              <a:spcBef>
                <a:spcPts val="325"/>
              </a:spcBef>
              <a:spcAft>
                <a:spcPts val="0"/>
              </a:spcAft>
              <a:buSzPts val="1625"/>
              <a:buNone/>
              <a:defRPr sz="1625"/>
            </a:lvl2pPr>
            <a:lvl3pPr lvl="2" algn="ctr">
              <a:spcBef>
                <a:spcPts val="293"/>
              </a:spcBef>
              <a:spcAft>
                <a:spcPts val="0"/>
              </a:spcAft>
              <a:buSzPts val="1463"/>
              <a:buFont typeface="Times New Roman"/>
              <a:buNone/>
              <a:defRPr sz="1463"/>
            </a:lvl3pPr>
            <a:lvl4pPr lvl="3" algn="ctr">
              <a:spcBef>
                <a:spcPts val="260"/>
              </a:spcBef>
              <a:spcAft>
                <a:spcPts val="0"/>
              </a:spcAft>
              <a:buSzPts val="1300"/>
              <a:buFont typeface="Times New Roman"/>
              <a:buNone/>
              <a:defRPr sz="1300"/>
            </a:lvl4pPr>
            <a:lvl5pPr lvl="4" algn="ctr">
              <a:spcBef>
                <a:spcPts val="260"/>
              </a:spcBef>
              <a:spcAft>
                <a:spcPts val="0"/>
              </a:spcAft>
              <a:buSzPts val="1300"/>
              <a:buFont typeface="Times New Roman"/>
              <a:buNone/>
              <a:defRPr sz="1300"/>
            </a:lvl5pPr>
            <a:lvl6pPr lvl="5" algn="ctr">
              <a:spcBef>
                <a:spcPts val="260"/>
              </a:spcBef>
              <a:spcAft>
                <a:spcPts val="0"/>
              </a:spcAft>
              <a:buSzPts val="1300"/>
              <a:buFont typeface="Times New Roman"/>
              <a:buNone/>
              <a:defRPr sz="1300"/>
            </a:lvl6pPr>
            <a:lvl7pPr lvl="6" algn="ctr">
              <a:spcBef>
                <a:spcPts val="260"/>
              </a:spcBef>
              <a:spcAft>
                <a:spcPts val="0"/>
              </a:spcAft>
              <a:buSzPts val="1300"/>
              <a:buFont typeface="Times New Roman"/>
              <a:buNone/>
              <a:defRPr sz="1300"/>
            </a:lvl7pPr>
            <a:lvl8pPr lvl="7" algn="ctr">
              <a:spcBef>
                <a:spcPts val="260"/>
              </a:spcBef>
              <a:spcAft>
                <a:spcPts val="0"/>
              </a:spcAft>
              <a:buSzPts val="1300"/>
              <a:buFont typeface="Times New Roman"/>
              <a:buNone/>
              <a:defRPr sz="1300"/>
            </a:lvl8pPr>
            <a:lvl9pPr lvl="8" algn="ctr">
              <a:spcBef>
                <a:spcPts val="260"/>
              </a:spcBef>
              <a:spcAft>
                <a:spcPts val="0"/>
              </a:spcAft>
              <a:buSzPts val="1300"/>
              <a:buFont typeface="Times New Roman"/>
              <a:buNone/>
              <a:defRPr sz="1300"/>
            </a:lvl9pPr>
          </a:lstStyle>
          <a:p>
            <a:endParaRPr/>
          </a:p>
        </p:txBody>
      </p:sp>
      <p:sp>
        <p:nvSpPr>
          <p:cNvPr id="1048638" name="Google Shape;23;p5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39" name="Google Shape;24;p50"/>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40" name="Google Shape;25;p5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2400">
                <a:solidFill>
                  <a:schemeClr val="dk1"/>
                </a:solidFill>
                <a:latin typeface="Times New Roman"/>
                <a:ea typeface="Times New Roman"/>
                <a:cs typeface="Times New Roman"/>
                <a:sym typeface="Times New Roman"/>
              </a:defRPr>
            </a:lvl1pPr>
            <a:lvl2pPr marL="0" marR="0" lvl="1" indent="0" algn="l" rtl="0">
              <a:spcBef>
                <a:spcPts val="0"/>
              </a:spcBef>
              <a:spcAft>
                <a:spcPts val="0"/>
              </a:spcAft>
              <a:buNone/>
              <a:defRPr sz="2400">
                <a:solidFill>
                  <a:schemeClr val="dk1"/>
                </a:solidFill>
                <a:latin typeface="Times New Roman"/>
                <a:ea typeface="Times New Roman"/>
                <a:cs typeface="Times New Roman"/>
                <a:sym typeface="Times New Roman"/>
              </a:defRPr>
            </a:lvl2pPr>
            <a:lvl3pPr marL="0" marR="0" lvl="2" indent="0" algn="l" rtl="0">
              <a:spcBef>
                <a:spcPts val="0"/>
              </a:spcBef>
              <a:spcAft>
                <a:spcPts val="0"/>
              </a:spcAft>
              <a:buNone/>
              <a:defRPr sz="2400">
                <a:solidFill>
                  <a:schemeClr val="dk1"/>
                </a:solidFill>
                <a:latin typeface="Times New Roman"/>
                <a:ea typeface="Times New Roman"/>
                <a:cs typeface="Times New Roman"/>
                <a:sym typeface="Times New Roman"/>
              </a:defRPr>
            </a:lvl3pPr>
            <a:lvl4pPr marL="0" marR="0" lvl="3" indent="0" algn="l" rtl="0">
              <a:spcBef>
                <a:spcPts val="0"/>
              </a:spcBef>
              <a:spcAft>
                <a:spcPts val="0"/>
              </a:spcAft>
              <a:buNone/>
              <a:defRPr sz="2400">
                <a:solidFill>
                  <a:schemeClr val="dk1"/>
                </a:solidFill>
                <a:latin typeface="Times New Roman"/>
                <a:ea typeface="Times New Roman"/>
                <a:cs typeface="Times New Roman"/>
                <a:sym typeface="Times New Roman"/>
              </a:defRPr>
            </a:lvl4pPr>
            <a:lvl5pPr marL="0" marR="0" lvl="4" indent="0" algn="l" rtl="0">
              <a:spcBef>
                <a:spcPts val="0"/>
              </a:spcBef>
              <a:spcAft>
                <a:spcPts val="0"/>
              </a:spcAft>
              <a:buNone/>
              <a:defRPr sz="2400">
                <a:solidFill>
                  <a:schemeClr val="dk1"/>
                </a:solidFill>
                <a:latin typeface="Times New Roman"/>
                <a:ea typeface="Times New Roman"/>
                <a:cs typeface="Times New Roman"/>
                <a:sym typeface="Times New Roman"/>
              </a:defRPr>
            </a:lvl5pPr>
            <a:lvl6pPr marL="0" marR="0" lvl="5" indent="0" algn="l" rtl="0">
              <a:spcBef>
                <a:spcPts val="0"/>
              </a:spcBef>
              <a:spcAft>
                <a:spcPts val="0"/>
              </a:spcAft>
              <a:buNone/>
              <a:defRPr sz="2400">
                <a:solidFill>
                  <a:schemeClr val="dk1"/>
                </a:solidFill>
                <a:latin typeface="Times New Roman"/>
                <a:ea typeface="Times New Roman"/>
                <a:cs typeface="Times New Roman"/>
                <a:sym typeface="Times New Roman"/>
              </a:defRPr>
            </a:lvl6pPr>
            <a:lvl7pPr marL="0" marR="0" lvl="6" indent="0" algn="l" rtl="0">
              <a:spcBef>
                <a:spcPts val="0"/>
              </a:spcBef>
              <a:spcAft>
                <a:spcPts val="0"/>
              </a:spcAft>
              <a:buNone/>
              <a:defRPr sz="2400">
                <a:solidFill>
                  <a:schemeClr val="dk1"/>
                </a:solidFill>
                <a:latin typeface="Times New Roman"/>
                <a:ea typeface="Times New Roman"/>
                <a:cs typeface="Times New Roman"/>
                <a:sym typeface="Times New Roman"/>
              </a:defRPr>
            </a:lvl7pPr>
            <a:lvl8pPr marL="0" marR="0" lvl="7" indent="0" algn="l" rtl="0">
              <a:spcBef>
                <a:spcPts val="0"/>
              </a:spcBef>
              <a:spcAft>
                <a:spcPts val="0"/>
              </a:spcAft>
              <a:buNone/>
              <a:defRPr sz="2400">
                <a:solidFill>
                  <a:schemeClr val="dk1"/>
                </a:solidFill>
                <a:latin typeface="Times New Roman"/>
                <a:ea typeface="Times New Roman"/>
                <a:cs typeface="Times New Roman"/>
                <a:sym typeface="Times New Roman"/>
              </a:defRPr>
            </a:lvl8pPr>
            <a:lvl9pPr marL="0" marR="0" lvl="8" indent="0" algn="l" rtl="0">
              <a:spcBef>
                <a:spcPts val="0"/>
              </a:spcBef>
              <a:spcAft>
                <a:spcPts val="0"/>
              </a:spcAft>
              <a:buNone/>
              <a:defRPr sz="2400">
                <a:solidFill>
                  <a:schemeClr val="dk1"/>
                </a:solidFill>
                <a:latin typeface="Times New Roman"/>
                <a:ea typeface="Times New Roman"/>
                <a:cs typeface="Times New Roman"/>
                <a:sym typeface="Times New Roman"/>
              </a:defRPr>
            </a:lvl9pPr>
          </a:lstStyle>
          <a:p>
            <a:pPr marL="0" lvl="0" indent="0" algn="l"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1048646" name="Google Shape;37;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47" name="Google Shape;38;p5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1048648" name="Google Shape;39;p5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o"/>
              <a:defRPr sz="1600"/>
            </a:lvl4pPr>
            <a:lvl5pPr marL="2286000" lvl="4" indent="-330200" algn="l">
              <a:spcBef>
                <a:spcPts val="320"/>
              </a:spcBef>
              <a:spcAft>
                <a:spcPts val="0"/>
              </a:spcAft>
              <a:buSzPts val="1600"/>
              <a:buFont typeface="Times New Roman"/>
              <a:buChar char="o"/>
              <a:defRPr sz="1600"/>
            </a:lvl5pPr>
            <a:lvl6pPr marL="2743200" lvl="5" indent="-330200" algn="l">
              <a:spcBef>
                <a:spcPts val="320"/>
              </a:spcBef>
              <a:spcAft>
                <a:spcPts val="0"/>
              </a:spcAft>
              <a:buSzPts val="1600"/>
              <a:buFont typeface="Times New Roman"/>
              <a:buChar char="o"/>
              <a:defRPr sz="1600"/>
            </a:lvl6pPr>
            <a:lvl7pPr marL="3200400" lvl="6" indent="-330200" algn="l">
              <a:spcBef>
                <a:spcPts val="320"/>
              </a:spcBef>
              <a:spcAft>
                <a:spcPts val="0"/>
              </a:spcAft>
              <a:buSzPts val="1600"/>
              <a:buFont typeface="Times New Roman"/>
              <a:buChar char="o"/>
              <a:defRPr sz="1600"/>
            </a:lvl7pPr>
            <a:lvl8pPr marL="3657600" lvl="7" indent="-330200" algn="l">
              <a:spcBef>
                <a:spcPts val="320"/>
              </a:spcBef>
              <a:spcAft>
                <a:spcPts val="0"/>
              </a:spcAft>
              <a:buSzPts val="1600"/>
              <a:buFont typeface="Times New Roman"/>
              <a:buChar char="o"/>
              <a:defRPr sz="1600"/>
            </a:lvl8pPr>
            <a:lvl9pPr marL="4114800" lvl="8" indent="-330200" algn="l">
              <a:spcBef>
                <a:spcPts val="320"/>
              </a:spcBef>
              <a:spcAft>
                <a:spcPts val="0"/>
              </a:spcAft>
              <a:buSzPts val="1600"/>
              <a:buFont typeface="Times New Roman"/>
              <a:buChar char="o"/>
              <a:defRPr sz="1600"/>
            </a:lvl9pPr>
          </a:lstStyle>
          <a:p>
            <a:endParaRPr/>
          </a:p>
        </p:txBody>
      </p:sp>
      <p:sp>
        <p:nvSpPr>
          <p:cNvPr id="1048649" name="Google Shape;40;p54"/>
          <p:cNvSpPr txBox="1">
            <a:spLocks noGrp="1"/>
          </p:cNvSpPr>
          <p:nvPr>
            <p:ph type="body" idx="3"/>
          </p:nvPr>
        </p:nvSpPr>
        <p:spPr>
          <a:xfrm>
            <a:off x="4645027"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1048650" name="Google Shape;41;p54"/>
          <p:cNvSpPr txBox="1">
            <a:spLocks noGrp="1"/>
          </p:cNvSpPr>
          <p:nvPr>
            <p:ph type="body" idx="4"/>
          </p:nvPr>
        </p:nvSpPr>
        <p:spPr>
          <a:xfrm>
            <a:off x="4645027"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o"/>
              <a:defRPr sz="1600"/>
            </a:lvl4pPr>
            <a:lvl5pPr marL="2286000" lvl="4" indent="-330200" algn="l">
              <a:spcBef>
                <a:spcPts val="320"/>
              </a:spcBef>
              <a:spcAft>
                <a:spcPts val="0"/>
              </a:spcAft>
              <a:buSzPts val="1600"/>
              <a:buFont typeface="Times New Roman"/>
              <a:buChar char="o"/>
              <a:defRPr sz="1600"/>
            </a:lvl5pPr>
            <a:lvl6pPr marL="2743200" lvl="5" indent="-330200" algn="l">
              <a:spcBef>
                <a:spcPts val="320"/>
              </a:spcBef>
              <a:spcAft>
                <a:spcPts val="0"/>
              </a:spcAft>
              <a:buSzPts val="1600"/>
              <a:buFont typeface="Times New Roman"/>
              <a:buChar char="o"/>
              <a:defRPr sz="1600"/>
            </a:lvl6pPr>
            <a:lvl7pPr marL="3200400" lvl="6" indent="-330200" algn="l">
              <a:spcBef>
                <a:spcPts val="320"/>
              </a:spcBef>
              <a:spcAft>
                <a:spcPts val="0"/>
              </a:spcAft>
              <a:buSzPts val="1600"/>
              <a:buFont typeface="Times New Roman"/>
              <a:buChar char="o"/>
              <a:defRPr sz="1600"/>
            </a:lvl7pPr>
            <a:lvl8pPr marL="3657600" lvl="7" indent="-330200" algn="l">
              <a:spcBef>
                <a:spcPts val="320"/>
              </a:spcBef>
              <a:spcAft>
                <a:spcPts val="0"/>
              </a:spcAft>
              <a:buSzPts val="1600"/>
              <a:buFont typeface="Times New Roman"/>
              <a:buChar char="o"/>
              <a:defRPr sz="1600"/>
            </a:lvl8pPr>
            <a:lvl9pPr marL="4114800" lvl="8" indent="-330200" algn="l">
              <a:spcBef>
                <a:spcPts val="320"/>
              </a:spcBef>
              <a:spcAft>
                <a:spcPts val="0"/>
              </a:spcAft>
              <a:buSzPts val="1600"/>
              <a:buFont typeface="Times New Roman"/>
              <a:buChar char="o"/>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1048653" name="Google Shape;43;p55"/>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1048654" name="Google Shape;50;p58"/>
          <p:cNvSpPr txBox="1">
            <a:spLocks noGrp="1"/>
          </p:cNvSpPr>
          <p:nvPr>
            <p:ph type="title"/>
          </p:nvPr>
        </p:nvSpPr>
        <p:spPr>
          <a:xfrm>
            <a:off x="1792290"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55" name="Google Shape;51;p58"/>
          <p:cNvSpPr>
            <a:spLocks noGrp="1"/>
          </p:cNvSpPr>
          <p:nvPr>
            <p:ph type="pic" idx="2"/>
          </p:nvPr>
        </p:nvSpPr>
        <p:spPr>
          <a:xfrm>
            <a:off x="1792290"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accent2"/>
              </a:buClr>
              <a:buSzPts val="3200"/>
              <a:buFont typeface="Noto Sans Symbols"/>
              <a:buNone/>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rgbClr val="FF5050"/>
              </a:buClr>
              <a:buSzPts val="2800"/>
              <a:buFont typeface="Noto Sans Symbols"/>
              <a:buNone/>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rgbClr val="6699FF"/>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56" name="Google Shape;52;p58"/>
          <p:cNvSpPr txBox="1">
            <a:spLocks noGrp="1"/>
          </p:cNvSpPr>
          <p:nvPr>
            <p:ph type="body" idx="1"/>
          </p:nvPr>
        </p:nvSpPr>
        <p:spPr>
          <a:xfrm>
            <a:off x="1792290"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Font typeface="Times New Roman"/>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1048644" name="Google Shape;54;p59"/>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45" name="Google Shape;55;p59"/>
          <p:cNvSpPr txBox="1">
            <a:spLocks noGrp="1"/>
          </p:cNvSpPr>
          <p:nvPr>
            <p:ph type="body" idx="1"/>
          </p:nvPr>
        </p:nvSpPr>
        <p:spPr>
          <a:xfrm rot="5400000">
            <a:off x="2593975" y="-485775"/>
            <a:ext cx="4800600" cy="86677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lvl1pPr>
            <a:lvl2pPr marL="914400" lvl="1" indent="-342900" algn="l">
              <a:spcBef>
                <a:spcPts val="360"/>
              </a:spcBef>
              <a:spcAft>
                <a:spcPts val="0"/>
              </a:spcAft>
              <a:buSzPts val="1800"/>
              <a:buChar char="▪"/>
            </a:lvl2pPr>
            <a:lvl3pPr marL="1371600" lvl="2" indent="-342900" algn="l">
              <a:spcBef>
                <a:spcPts val="360"/>
              </a:spcBef>
              <a:spcAft>
                <a:spcPts val="0"/>
              </a:spcAft>
              <a:buSzPts val="1800"/>
              <a:buChar char="•"/>
            </a:lvl3pPr>
            <a:lvl4pPr marL="1828800" lvl="3" indent="-342900" algn="l">
              <a:spcBef>
                <a:spcPts val="360"/>
              </a:spcBef>
              <a:spcAft>
                <a:spcPts val="0"/>
              </a:spcAft>
              <a:buSzPts val="1800"/>
              <a:buChar char="o"/>
            </a:lvl4pPr>
            <a:lvl5pPr marL="2286000" lvl="4" indent="-342900" algn="l">
              <a:spcBef>
                <a:spcPts val="360"/>
              </a:spcBef>
              <a:spcAft>
                <a:spcPts val="0"/>
              </a:spcAft>
              <a:buSzPts val="1800"/>
              <a:buChar char="o"/>
            </a:lvl5pPr>
            <a:lvl6pPr marL="2743200" lvl="5" indent="-342900" algn="l">
              <a:spcBef>
                <a:spcPts val="360"/>
              </a:spcBef>
              <a:spcAft>
                <a:spcPts val="0"/>
              </a:spcAft>
              <a:buSzPts val="1800"/>
              <a:buChar char="o"/>
            </a:lvl6pPr>
            <a:lvl7pPr marL="3200400" lvl="6" indent="-342900" algn="l">
              <a:spcBef>
                <a:spcPts val="360"/>
              </a:spcBef>
              <a:spcAft>
                <a:spcPts val="0"/>
              </a:spcAft>
              <a:buSzPts val="1800"/>
              <a:buChar char="o"/>
            </a:lvl7pPr>
            <a:lvl8pPr marL="3657600" lvl="7" indent="-342900" algn="l">
              <a:spcBef>
                <a:spcPts val="360"/>
              </a:spcBef>
              <a:spcAft>
                <a:spcPts val="0"/>
              </a:spcAft>
              <a:buSzPts val="1800"/>
              <a:buChar char="o"/>
            </a:lvl8pPr>
            <a:lvl9pPr marL="4114800" lvl="8" indent="-342900" algn="l">
              <a:spcBef>
                <a:spcPts val="360"/>
              </a:spcBef>
              <a:spcAft>
                <a:spcPts val="0"/>
              </a:spcAft>
              <a:buSzPts val="1800"/>
              <a:buChar char="o"/>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6"/>
        <p:cNvGrpSpPr/>
        <p:nvPr/>
      </p:nvGrpSpPr>
      <p:grpSpPr>
        <a:xfrm>
          <a:off x="0" y="0"/>
          <a:ext cx="0" cy="0"/>
          <a:chOff x="0" y="0"/>
          <a:chExt cx="0" cy="0"/>
        </a:xfrm>
      </p:grpSpPr>
      <p:sp>
        <p:nvSpPr>
          <p:cNvPr id="1048657" name="Google Shape;57;p60"/>
          <p:cNvSpPr txBox="1">
            <a:spLocks noGrp="1"/>
          </p:cNvSpPr>
          <p:nvPr>
            <p:ph type="title"/>
          </p:nvPr>
        </p:nvSpPr>
        <p:spPr>
          <a:xfrm rot="5400000">
            <a:off x="4857751" y="2419350"/>
            <a:ext cx="5638800" cy="20193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58" name="Google Shape;58;p60"/>
          <p:cNvSpPr txBox="1">
            <a:spLocks noGrp="1"/>
          </p:cNvSpPr>
          <p:nvPr>
            <p:ph type="body" idx="1"/>
          </p:nvPr>
        </p:nvSpPr>
        <p:spPr>
          <a:xfrm rot="5400000">
            <a:off x="742951" y="476250"/>
            <a:ext cx="5638800" cy="59055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lvl1pPr>
            <a:lvl2pPr marL="914400" lvl="1" indent="-342900" algn="l">
              <a:spcBef>
                <a:spcPts val="360"/>
              </a:spcBef>
              <a:spcAft>
                <a:spcPts val="0"/>
              </a:spcAft>
              <a:buSzPts val="1800"/>
              <a:buChar char="▪"/>
            </a:lvl2pPr>
            <a:lvl3pPr marL="1371600" lvl="2" indent="-342900" algn="l">
              <a:spcBef>
                <a:spcPts val="360"/>
              </a:spcBef>
              <a:spcAft>
                <a:spcPts val="0"/>
              </a:spcAft>
              <a:buSzPts val="1800"/>
              <a:buChar char="•"/>
            </a:lvl3pPr>
            <a:lvl4pPr marL="1828800" lvl="3" indent="-342900" algn="l">
              <a:spcBef>
                <a:spcPts val="360"/>
              </a:spcBef>
              <a:spcAft>
                <a:spcPts val="0"/>
              </a:spcAft>
              <a:buSzPts val="1800"/>
              <a:buChar char="o"/>
            </a:lvl4pPr>
            <a:lvl5pPr marL="2286000" lvl="4" indent="-342900" algn="l">
              <a:spcBef>
                <a:spcPts val="360"/>
              </a:spcBef>
              <a:spcAft>
                <a:spcPts val="0"/>
              </a:spcAft>
              <a:buSzPts val="1800"/>
              <a:buChar char="o"/>
            </a:lvl5pPr>
            <a:lvl6pPr marL="2743200" lvl="5" indent="-342900" algn="l">
              <a:spcBef>
                <a:spcPts val="360"/>
              </a:spcBef>
              <a:spcAft>
                <a:spcPts val="0"/>
              </a:spcAft>
              <a:buSzPts val="1800"/>
              <a:buChar char="o"/>
            </a:lvl6pPr>
            <a:lvl7pPr marL="3200400" lvl="6" indent="-342900" algn="l">
              <a:spcBef>
                <a:spcPts val="360"/>
              </a:spcBef>
              <a:spcAft>
                <a:spcPts val="0"/>
              </a:spcAft>
              <a:buSzPts val="1800"/>
              <a:buChar char="o"/>
            </a:lvl7pPr>
            <a:lvl8pPr marL="3657600" lvl="7" indent="-342900" algn="l">
              <a:spcBef>
                <a:spcPts val="360"/>
              </a:spcBef>
              <a:spcAft>
                <a:spcPts val="0"/>
              </a:spcAft>
              <a:buSzPts val="1800"/>
              <a:buChar char="o"/>
            </a:lvl8pPr>
            <a:lvl9pPr marL="4114800" lvl="8" indent="-342900" algn="l">
              <a:spcBef>
                <a:spcPts val="360"/>
              </a:spcBef>
              <a:spcAft>
                <a:spcPts val="0"/>
              </a:spcAft>
              <a:buSzPts val="1800"/>
              <a:buChar char="o"/>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hart">
  <p:cSld name="1_Title and Chart">
    <p:spTree>
      <p:nvGrpSpPr>
        <p:cNvPr id="1" name=""/>
        <p:cNvGrpSpPr/>
        <p:nvPr/>
      </p:nvGrpSpPr>
      <p:grpSpPr>
        <a:xfrm>
          <a:off x="0" y="0"/>
          <a:ext cx="0" cy="0"/>
          <a:chOff x="0" y="0"/>
          <a:chExt cx="0" cy="0"/>
        </a:xfrm>
      </p:grpSpPr>
      <p:sp>
        <p:nvSpPr>
          <p:cNvPr id="1048579" name="Title 1"/>
          <p:cNvSpPr>
            <a:spLocks noGrp="1"/>
          </p:cNvSpPr>
          <p:nvPr>
            <p:ph type="title"/>
          </p:nvPr>
        </p:nvSpPr>
        <p:spPr>
          <a:xfrm>
            <a:off x="609602" y="609600"/>
            <a:ext cx="8077200" cy="533400"/>
          </a:xfrm>
        </p:spPr>
        <p:txBody>
          <a:bodyPr/>
          <a:lstStyle/>
          <a:p>
            <a:r>
              <a:rPr lang="en-US" altLang="zh-TW" dirty="0"/>
              <a:t>Click to edit Master title style</a:t>
            </a:r>
            <a:endParaRPr lang="en-US" dirty="0"/>
          </a:p>
        </p:txBody>
      </p:sp>
      <p:sp>
        <p:nvSpPr>
          <p:cNvPr id="1048580" name="Chart Placeholder 2"/>
          <p:cNvSpPr>
            <a:spLocks noGrp="1"/>
          </p:cNvSpPr>
          <p:nvPr>
            <p:ph type="chart" idx="1"/>
          </p:nvPr>
        </p:nvSpPr>
        <p:spPr>
          <a:xfrm>
            <a:off x="609600" y="1447800"/>
            <a:ext cx="8001000" cy="4800600"/>
          </a:xfrm>
        </p:spPr>
        <p:txBody>
          <a:bodyPr/>
          <a:lstStyle/>
          <a:p>
            <a:pPr lvl="0"/>
            <a:endParaRPr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48651" name="Content Placeholder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1048652" name="Title 1"/>
          <p:cNvSpPr>
            <a:spLocks noGrp="1"/>
          </p:cNvSpPr>
          <p:nvPr>
            <p:ph type="title"/>
          </p:nvPr>
        </p:nvSpPr>
        <p:spPr>
          <a:xfrm>
            <a:off x="660400" y="609600"/>
            <a:ext cx="8750300" cy="533400"/>
          </a:xfrm>
        </p:spPr>
        <p:txBody>
          <a:bodyPr/>
          <a:lstStyle>
            <a:lvl1pPr>
              <a:defRPr sz="3200"/>
            </a:lvl1pPr>
          </a:lstStyle>
          <a:p>
            <a:r>
              <a:rPr lang="en-US" altLang="zh-TW" dirty="0"/>
              <a:t>Title of the Slide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48576" name="Google Shape;10;p48"/>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5pPr>
            <a:lvl6pPr marR="0" lvl="5"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6pPr>
            <a:lvl7pPr marR="0" lvl="6"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7pPr>
            <a:lvl8pPr marR="0" lvl="7"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8pPr>
            <a:lvl9pPr marR="0" lvl="8"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9pPr>
          </a:lstStyle>
          <a:p>
            <a:endParaRPr/>
          </a:p>
        </p:txBody>
      </p:sp>
      <p:cxnSp>
        <p:nvCxnSpPr>
          <p:cNvPr id="3145728" name="Google Shape;11;p48"/>
          <p:cNvCxnSpPr>
            <a:cxnSpLocks/>
          </p:cNvCxnSpPr>
          <p:nvPr/>
        </p:nvCxnSpPr>
        <p:spPr>
          <a:xfrm>
            <a:off x="412750" y="533400"/>
            <a:ext cx="8997950" cy="0"/>
          </a:xfrm>
          <a:prstGeom prst="straightConnector1">
            <a:avLst/>
          </a:prstGeom>
          <a:noFill/>
          <a:ln w="9525" cap="flat" cmpd="sng">
            <a:solidFill>
              <a:schemeClr val="dk1"/>
            </a:solidFill>
            <a:prstDash val="solid"/>
            <a:round/>
            <a:headEnd type="none" w="med" len="med"/>
            <a:tailEnd type="none" w="med" len="med"/>
          </a:ln>
        </p:spPr>
      </p:cxnSp>
      <p:cxnSp>
        <p:nvCxnSpPr>
          <p:cNvPr id="3145729" name="Google Shape;12;p48"/>
          <p:cNvCxnSpPr>
            <a:cxnSpLocks/>
          </p:cNvCxnSpPr>
          <p:nvPr/>
        </p:nvCxnSpPr>
        <p:spPr>
          <a:xfrm>
            <a:off x="577850" y="228600"/>
            <a:ext cx="0" cy="990600"/>
          </a:xfrm>
          <a:prstGeom prst="straightConnector1">
            <a:avLst/>
          </a:prstGeom>
          <a:noFill/>
          <a:ln w="9525" cap="flat" cmpd="sng">
            <a:solidFill>
              <a:schemeClr val="dk1"/>
            </a:solidFill>
            <a:prstDash val="solid"/>
            <a:round/>
            <a:headEnd type="none" w="med" len="med"/>
            <a:tailEnd type="none" w="med" len="med"/>
          </a:ln>
        </p:spPr>
      </p:cxnSp>
      <p:cxnSp>
        <p:nvCxnSpPr>
          <p:cNvPr id="3145730" name="Google Shape;13;p48"/>
          <p:cNvCxnSpPr>
            <a:cxnSpLocks/>
          </p:cNvCxnSpPr>
          <p:nvPr/>
        </p:nvCxnSpPr>
        <p:spPr>
          <a:xfrm>
            <a:off x="495300" y="6400800"/>
            <a:ext cx="8915400" cy="0"/>
          </a:xfrm>
          <a:prstGeom prst="straightConnector1">
            <a:avLst/>
          </a:prstGeom>
          <a:noFill/>
          <a:ln w="9525" cap="flat" cmpd="sng">
            <a:solidFill>
              <a:schemeClr val="dk1"/>
            </a:solidFill>
            <a:prstDash val="solid"/>
            <a:round/>
            <a:headEnd type="none" w="med" len="med"/>
            <a:tailEnd type="none" w="med" len="med"/>
          </a:ln>
        </p:spPr>
      </p:cxnSp>
      <p:sp>
        <p:nvSpPr>
          <p:cNvPr id="1048577" name="Google Shape;14;p48"/>
          <p:cNvSpPr txBox="1">
            <a:spLocks noGrp="1"/>
          </p:cNvSpPr>
          <p:nvPr>
            <p:ph type="body" idx="1"/>
          </p:nvPr>
        </p:nvSpPr>
        <p:spPr>
          <a:xfrm>
            <a:off x="660400" y="1447800"/>
            <a:ext cx="8667750" cy="4800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048578" name="Google Shape;15;p48"/>
          <p:cNvSpPr txBox="1"/>
          <p:nvPr/>
        </p:nvSpPr>
        <p:spPr>
          <a:xfrm>
            <a:off x="8510587" y="6502400"/>
            <a:ext cx="817563" cy="304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a:t>
            </a:fld>
            <a:endParaRPr sz="1400" b="0" i="0" u="none" strike="noStrike" cap="none" dirty="0">
              <a:solidFill>
                <a:schemeClr val="dk1"/>
              </a:solidFill>
              <a:latin typeface="Times New Roman"/>
              <a:ea typeface="Times New Roman"/>
              <a:cs typeface="Times New Roman"/>
              <a:sym typeface="Times New Roman"/>
            </a:endParaRPr>
          </a:p>
        </p:txBody>
      </p:sp>
      <p:pic>
        <p:nvPicPr>
          <p:cNvPr id="2097152" name="Google Shape;16;p48"/>
          <p:cNvPicPr preferRelativeResize="0">
            <a:picLocks/>
          </p:cNvPicPr>
          <p:nvPr/>
        </p:nvPicPr>
        <p:blipFill rotWithShape="1">
          <a:blip r:embed="rId11">
            <a:alphaModFix/>
          </a:blip>
          <a:srcRect/>
          <a:stretch>
            <a:fillRect/>
          </a:stretch>
        </p:blipFill>
        <p:spPr>
          <a:xfrm>
            <a:off x="57150" y="6446838"/>
            <a:ext cx="1827213" cy="3603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1" name="Rectangle 2"/>
          <p:cNvSpPr>
            <a:spLocks noGrp="1" noChangeArrowheads="1"/>
          </p:cNvSpPr>
          <p:nvPr>
            <p:ph type="title"/>
          </p:nvPr>
        </p:nvSpPr>
        <p:spPr>
          <a:xfrm>
            <a:off x="668908" y="1829704"/>
            <a:ext cx="8568183" cy="1728539"/>
          </a:xfrm>
        </p:spPr>
        <p:txBody>
          <a:bodyPr/>
          <a:lstStyle/>
          <a:p>
            <a:pPr algn="ctr" eaLnBrk="1" hangingPunct="1"/>
            <a:r>
              <a:rPr lang="en-US" altLang="zh-TW" sz="3200" b="1" dirty="0">
                <a:solidFill>
                  <a:srgbClr val="0057C0"/>
                </a:solidFill>
                <a:latin typeface="Times New Roman" panose="02020603050405020304" pitchFamily="18" charset="0"/>
                <a:ea typeface="標楷體" panose="03000509000000000000" pitchFamily="65" charset="-120"/>
                <a:cs typeface="Times New Roman" panose="02020603050405020304" pitchFamily="18" charset="0"/>
              </a:rPr>
              <a:t>Progress Report</a:t>
            </a:r>
          </a:p>
        </p:txBody>
      </p:sp>
      <p:sp>
        <p:nvSpPr>
          <p:cNvPr id="1048582" name="Rectangle 2"/>
          <p:cNvSpPr txBox="1">
            <a:spLocks noChangeArrowheads="1"/>
          </p:cNvSpPr>
          <p:nvPr/>
        </p:nvSpPr>
        <p:spPr bwMode="auto">
          <a:xfrm>
            <a:off x="907104" y="3362630"/>
            <a:ext cx="8568183" cy="1728539"/>
          </a:xfrm>
          <a:prstGeom prst="rect">
            <a:avLst/>
          </a:prstGeom>
          <a:noFill/>
          <a:ln>
            <a:noFill/>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chemeClr val="accent2"/>
                </a:solidFill>
                <a:latin typeface="+mn-lt"/>
                <a:ea typeface="+mj-ea"/>
                <a:cs typeface="+mj-cs"/>
              </a:defRPr>
            </a:lvl1pPr>
            <a:lvl2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2pPr>
            <a:lvl3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3pPr>
            <a:lvl4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4pPr>
            <a:lvl5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5pPr>
            <a:lvl6pPr marL="457200" algn="l" rtl="0" fontAlgn="base">
              <a:spcBef>
                <a:spcPct val="0"/>
              </a:spcBef>
              <a:spcAft>
                <a:spcPct val="0"/>
              </a:spcAft>
              <a:defRPr kumimoji="1" sz="3200">
                <a:solidFill>
                  <a:schemeClr val="accent2"/>
                </a:solidFill>
                <a:latin typeface="Times New Roman" charset="0"/>
                <a:ea typeface="新細明體" charset="-120"/>
                <a:cs typeface="新細明體" charset="-120"/>
              </a:defRPr>
            </a:lvl6pPr>
            <a:lvl7pPr marL="914400" algn="l" rtl="0" fontAlgn="base">
              <a:spcBef>
                <a:spcPct val="0"/>
              </a:spcBef>
              <a:spcAft>
                <a:spcPct val="0"/>
              </a:spcAft>
              <a:defRPr kumimoji="1" sz="3200">
                <a:solidFill>
                  <a:schemeClr val="accent2"/>
                </a:solidFill>
                <a:latin typeface="Times New Roman" charset="0"/>
                <a:ea typeface="新細明體" charset="-120"/>
                <a:cs typeface="新細明體" charset="-120"/>
              </a:defRPr>
            </a:lvl7pPr>
            <a:lvl8pPr marL="1371600" algn="l" rtl="0" fontAlgn="base">
              <a:spcBef>
                <a:spcPct val="0"/>
              </a:spcBef>
              <a:spcAft>
                <a:spcPct val="0"/>
              </a:spcAft>
              <a:defRPr kumimoji="1" sz="3200">
                <a:solidFill>
                  <a:schemeClr val="accent2"/>
                </a:solidFill>
                <a:latin typeface="Times New Roman" charset="0"/>
                <a:ea typeface="新細明體" charset="-120"/>
                <a:cs typeface="新細明體" charset="-120"/>
              </a:defRPr>
            </a:lvl8pPr>
            <a:lvl9pPr marL="1828800" algn="l" rtl="0" fontAlgn="base">
              <a:spcBef>
                <a:spcPct val="0"/>
              </a:spcBef>
              <a:spcAft>
                <a:spcPct val="0"/>
              </a:spcAft>
              <a:defRPr kumimoji="1" sz="3200">
                <a:solidFill>
                  <a:schemeClr val="accent2"/>
                </a:solidFill>
                <a:latin typeface="Times New Roman" charset="0"/>
                <a:ea typeface="新細明體" charset="-120"/>
                <a:cs typeface="新細明體" charset="-120"/>
              </a:defRPr>
            </a:lvl9pPr>
          </a:lstStyle>
          <a:p>
            <a:pPr algn="ctr" eaLnBrk="1" hangingPunct="1"/>
            <a:endParaRPr lang="en-US" altLang="zh-TW" kern="0" dirty="0">
              <a:solidFill>
                <a:schemeClr val="tx1"/>
              </a:solidFill>
            </a:endParaRPr>
          </a:p>
        </p:txBody>
      </p:sp>
      <p:sp>
        <p:nvSpPr>
          <p:cNvPr id="1048583" name="Text Box 4"/>
          <p:cNvSpPr txBox="1">
            <a:spLocks noChangeArrowheads="1"/>
          </p:cNvSpPr>
          <p:nvPr/>
        </p:nvSpPr>
        <p:spPr bwMode="auto">
          <a:xfrm>
            <a:off x="1100262" y="4484365"/>
            <a:ext cx="7705476" cy="707886"/>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gn="ctr"/>
            <a:r>
              <a:rPr lang="en-US" altLang="zh-TW" sz="2000" dirty="0">
                <a:cs typeface="Times New Roman" panose="02020603050405020304" pitchFamily="18" charset="0"/>
              </a:rPr>
              <a:t>Author : </a:t>
            </a:r>
          </a:p>
          <a:p>
            <a:pPr algn="ctr"/>
            <a:r>
              <a:rPr lang="en-US" altLang="zh-TW" sz="2000" dirty="0" err="1">
                <a:cs typeface="Times New Roman" panose="02020603050405020304" pitchFamily="18" charset="0"/>
              </a:rPr>
              <a:t>Chih</a:t>
            </a:r>
            <a:r>
              <a:rPr lang="en-US" altLang="zh-TW" sz="2000" dirty="0">
                <a:cs typeface="Times New Roman" panose="02020603050405020304" pitchFamily="18" charset="0"/>
              </a:rPr>
              <a:t>-Hsiang</a:t>
            </a:r>
            <a:r>
              <a:rPr lang="zh-TW" altLang="en-US" sz="2000" dirty="0">
                <a:cs typeface="Times New Roman" panose="02020603050405020304" pitchFamily="18" charset="0"/>
              </a:rPr>
              <a:t>、</a:t>
            </a:r>
            <a:r>
              <a:rPr lang="en-US" altLang="zh-TW" sz="2000" dirty="0">
                <a:cs typeface="Times New Roman" panose="02020603050405020304" pitchFamily="18" charset="0"/>
              </a:rPr>
              <a:t>Sheng-Hong</a:t>
            </a:r>
            <a:r>
              <a:rPr lang="zh-TW" altLang="en-US" sz="2000" dirty="0">
                <a:cs typeface="Times New Roman" panose="02020603050405020304" pitchFamily="18" charset="0"/>
              </a:rPr>
              <a:t>、</a:t>
            </a:r>
            <a:r>
              <a:rPr lang="en-US" altLang="zh-TW" sz="2000" dirty="0">
                <a:cs typeface="Times New Roman" panose="02020603050405020304" pitchFamily="18" charset="0"/>
              </a:rPr>
              <a:t>Hong-De</a:t>
            </a:r>
            <a:r>
              <a:rPr lang="zh-TW" altLang="en-US" sz="2000" dirty="0">
                <a:cs typeface="Times New Roman" panose="02020603050405020304" pitchFamily="18" charset="0"/>
              </a:rPr>
              <a:t>、</a:t>
            </a:r>
            <a:r>
              <a:rPr lang="en-US" altLang="zh-TW" sz="2000" dirty="0">
                <a:cs typeface="Times New Roman" panose="02020603050405020304" pitchFamily="18" charset="0"/>
              </a:rPr>
              <a:t>Wen-Xing</a:t>
            </a:r>
          </a:p>
        </p:txBody>
      </p:sp>
      <p:sp>
        <p:nvSpPr>
          <p:cNvPr id="1048584" name="Text Box 4"/>
          <p:cNvSpPr txBox="1">
            <a:spLocks noChangeArrowheads="1"/>
          </p:cNvSpPr>
          <p:nvPr/>
        </p:nvSpPr>
        <p:spPr bwMode="auto">
          <a:xfrm>
            <a:off x="1100262" y="5673486"/>
            <a:ext cx="7705476" cy="461665"/>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gn="ctr"/>
            <a:r>
              <a:rPr lang="en-US" altLang="zh-TW" b="1" dirty="0">
                <a:solidFill>
                  <a:srgbClr val="0057C0"/>
                </a:solidFill>
              </a:rPr>
              <a:t>Embedded System Software Design</a:t>
            </a:r>
            <a:endParaRPr lang="en-US" altLang="zh-TW" sz="2000" b="1" dirty="0">
              <a:solidFill>
                <a:srgbClr val="0057C0"/>
              </a:solidFill>
              <a:latin typeface="+mn-lt"/>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8018" y="657066"/>
            <a:ext cx="7923944" cy="533400"/>
          </a:xfrm>
        </p:spPr>
        <p:txBody>
          <a:bodyPr/>
          <a:lstStyle/>
          <a:p>
            <a:r>
              <a:rPr lang="zh-TW" altLang="en-US" dirty="0">
                <a:latin typeface="標楷體" panose="03000509000000000000" pitchFamily="65" charset="-120"/>
                <a:ea typeface="標楷體" panose="03000509000000000000" pitchFamily="65" charset="-120"/>
              </a:rPr>
              <a:t>上次進度</a:t>
            </a:r>
            <a:r>
              <a:rPr lang="en-US" altLang="zh-TW" dirty="0"/>
              <a:t>: Jetpack 6 GA</a:t>
            </a:r>
            <a:endParaRPr lang="zh-TW" altLang="en-US" dirty="0">
              <a:latin typeface="標楷體" panose="03000509000000000000" pitchFamily="65" charset="-120"/>
              <a:ea typeface="標楷體" panose="03000509000000000000" pitchFamily="65" charset="-120"/>
            </a:endParaRPr>
          </a:p>
        </p:txBody>
      </p:sp>
      <p:graphicFrame>
        <p:nvGraphicFramePr>
          <p:cNvPr id="4" name="表格 3">
            <a:extLst>
              <a:ext uri="{FF2B5EF4-FFF2-40B4-BE49-F238E27FC236}">
                <a16:creationId xmlns:a16="http://schemas.microsoft.com/office/drawing/2014/main" id="{88BB20D9-FF08-ADFE-0239-2A0A725A79B8}"/>
              </a:ext>
            </a:extLst>
          </p:cNvPr>
          <p:cNvGraphicFramePr>
            <a:graphicFrameLocks noGrp="1"/>
          </p:cNvGraphicFramePr>
          <p:nvPr>
            <p:extLst>
              <p:ext uri="{D42A27DB-BD31-4B8C-83A1-F6EECF244321}">
                <p14:modId xmlns:p14="http://schemas.microsoft.com/office/powerpoint/2010/main" val="85123836"/>
              </p:ext>
            </p:extLst>
          </p:nvPr>
        </p:nvGraphicFramePr>
        <p:xfrm>
          <a:off x="4748784" y="1"/>
          <a:ext cx="5157216" cy="6504431"/>
        </p:xfrm>
        <a:graphic>
          <a:graphicData uri="http://schemas.openxmlformats.org/drawingml/2006/table">
            <a:tbl>
              <a:tblPr firstRow="1" bandRow="1">
                <a:tableStyleId>{5C22544A-7EE6-4342-B048-85BDC9FD1C3A}</a:tableStyleId>
              </a:tblPr>
              <a:tblGrid>
                <a:gridCol w="2578608">
                  <a:extLst>
                    <a:ext uri="{9D8B030D-6E8A-4147-A177-3AD203B41FA5}">
                      <a16:colId xmlns:a16="http://schemas.microsoft.com/office/drawing/2014/main" val="1386511907"/>
                    </a:ext>
                  </a:extLst>
                </a:gridCol>
                <a:gridCol w="2578608">
                  <a:extLst>
                    <a:ext uri="{9D8B030D-6E8A-4147-A177-3AD203B41FA5}">
                      <a16:colId xmlns:a16="http://schemas.microsoft.com/office/drawing/2014/main" val="3728400076"/>
                    </a:ext>
                  </a:extLst>
                </a:gridCol>
              </a:tblGrid>
              <a:tr h="407852">
                <a:tc>
                  <a:txBody>
                    <a:bodyPr/>
                    <a:lstStyle/>
                    <a:p>
                      <a:pPr algn="ctr"/>
                      <a:r>
                        <a:rPr lang="zh-TW" altLang="en-US" dirty="0">
                          <a:latin typeface="標楷體" panose="03000509000000000000" pitchFamily="65" charset="-120"/>
                          <a:ea typeface="標楷體" panose="03000509000000000000" pitchFamily="65" charset="-120"/>
                        </a:rPr>
                        <a:t>目標</a:t>
                      </a:r>
                    </a:p>
                  </a:txBody>
                  <a:tcPr/>
                </a:tc>
                <a:tc>
                  <a:txBody>
                    <a:bodyPr/>
                    <a:lstStyle/>
                    <a:p>
                      <a:pPr algn="ctr"/>
                      <a:r>
                        <a:rPr lang="zh-TW" altLang="en-US" dirty="0">
                          <a:latin typeface="標楷體" panose="03000509000000000000" pitchFamily="65" charset="-120"/>
                          <a:ea typeface="標楷體" panose="03000509000000000000" pitchFamily="65" charset="-120"/>
                        </a:rPr>
                        <a:t>進度</a:t>
                      </a:r>
                    </a:p>
                  </a:txBody>
                  <a:tcPr/>
                </a:tc>
                <a:extLst>
                  <a:ext uri="{0D108BD9-81ED-4DB2-BD59-A6C34878D82A}">
                    <a16:rowId xmlns:a16="http://schemas.microsoft.com/office/drawing/2014/main" val="1964623179"/>
                  </a:ext>
                </a:extLst>
              </a:tr>
              <a:tr h="30345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kern="100" dirty="0">
                          <a:effectLst/>
                          <a:latin typeface="Times New Roman" panose="02020603050405020304" pitchFamily="18" charset="0"/>
                          <a:ea typeface="+mn-ea"/>
                          <a:cs typeface="Times New Roman" panose="02020603050405020304" pitchFamily="18" charset="0"/>
                        </a:rPr>
                        <a:t>Bootloader + OS</a:t>
                      </a:r>
                      <a:endParaRPr lang="zh-TW" altLang="zh-TW" sz="1400" kern="100" dirty="0">
                        <a:effectLst/>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4129786410"/>
                  </a:ext>
                </a:extLst>
              </a:tr>
              <a:tr h="94069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Storage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1. M.2 </a:t>
                      </a:r>
                      <a:r>
                        <a:rPr lang="en-US" altLang="zh-TW" sz="1400" b="0"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NVMe</a:t>
                      </a: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drive</a:t>
                      </a:r>
                      <a:r>
                        <a:rPr lang="zh-TW" altLang="en-US" sz="1400" b="0" i="0" u="none" strike="noStrike" cap="none" dirty="0">
                          <a:solidFill>
                            <a:schemeClr val="dk1"/>
                          </a:solidFill>
                          <a:effectLst/>
                          <a:latin typeface="標楷體" panose="03000509000000000000" pitchFamily="65" charset="-120"/>
                          <a:ea typeface="標楷體" panose="03000509000000000000" pitchFamily="65" charset="-120"/>
                          <a:cs typeface="Times New Roman" panose="02020603050405020304" pitchFamily="18" charset="0"/>
                          <a:sym typeface="Arial"/>
                        </a:rPr>
                        <a:t>完成</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  </a:t>
                      </a: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image</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安裝</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2. eMMC</a:t>
                      </a:r>
                      <a:r>
                        <a:rPr lang="zh-TW" altLang="en-US" sz="1400" b="0" i="0" u="none" strike="noStrike" cap="none" dirty="0">
                          <a:solidFill>
                            <a:schemeClr val="dk1"/>
                          </a:solidFill>
                          <a:effectLst/>
                          <a:latin typeface="標楷體" panose="03000509000000000000" pitchFamily="65" charset="-120"/>
                          <a:ea typeface="標楷體" panose="03000509000000000000" pitchFamily="65" charset="-120"/>
                          <a:cs typeface="Times New Roman" panose="02020603050405020304" pitchFamily="18" charset="0"/>
                          <a:sym typeface="Arial"/>
                        </a:rPr>
                        <a:t>完成</a:t>
                      </a: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image</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安裝</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endParaRPr>
                    </a:p>
                  </a:txBody>
                  <a:tcPr/>
                </a:tc>
                <a:extLst>
                  <a:ext uri="{0D108BD9-81ED-4DB2-BD59-A6C34878D82A}">
                    <a16:rowId xmlns:a16="http://schemas.microsoft.com/office/drawing/2014/main" val="2314086582"/>
                  </a:ext>
                </a:extLst>
              </a:tr>
              <a:tr h="72828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Ethernet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1. 1G</a:t>
                      </a:r>
                      <a:r>
                        <a:rPr lang="zh-TW" altLang="en-US"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 </a:t>
                      </a: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Ethernet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完成</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2. 10G</a:t>
                      </a:r>
                      <a:r>
                        <a:rPr lang="zh-TW" altLang="en-US"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硬體問題</a:t>
                      </a:r>
                      <a:endPar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607938647"/>
                  </a:ext>
                </a:extLst>
              </a:tr>
              <a:tr h="3143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USB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4044646615"/>
                  </a:ext>
                </a:extLst>
              </a:tr>
              <a:tr h="72828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Wi-Fi &amp;</a:t>
                      </a:r>
                      <a:r>
                        <a:rPr lang="zh-TW" altLang="en-US"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 </a:t>
                      </a:r>
                      <a:endPar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Bluetooth</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林宏德</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cs typeface="Times New Roman" panose="02020603050405020304" pitchFamily="18" charset="0"/>
                        </a:rPr>
                        <a:t>P</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cs typeface="Times New Roman" panose="02020603050405020304" pitchFamily="18" charset="0"/>
                        </a:rPr>
                        <a:t>1. Wi-Fi TCP/UDP</a:t>
                      </a:r>
                      <a:r>
                        <a:rPr lang="zh-TW" altLang="en-US" dirty="0">
                          <a:latin typeface="標楷體" panose="03000509000000000000" pitchFamily="65" charset="-120"/>
                          <a:ea typeface="標楷體" panose="03000509000000000000" pitchFamily="65" charset="-120"/>
                          <a:cs typeface="Times New Roman" panose="02020603050405020304" pitchFamily="18" charset="0"/>
                        </a:rPr>
                        <a:t>完成</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傳輸測</a:t>
                      </a:r>
                      <a:r>
                        <a:rPr lang="zh-TW" altLang="en-US" dirty="0">
                          <a:latin typeface="標楷體" panose="03000509000000000000" pitchFamily="65" charset="-120"/>
                          <a:ea typeface="標楷體" panose="03000509000000000000" pitchFamily="65" charset="-120"/>
                          <a:cs typeface="Times New Roman" panose="02020603050405020304" pitchFamily="18" charset="0"/>
                        </a:rPr>
                        <a:t>試</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cs typeface="Times New Roman" panose="02020603050405020304" pitchFamily="18" charset="0"/>
                        </a:rPr>
                        <a:t>2.</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Blu</a:t>
                      </a:r>
                      <a:r>
                        <a:rPr lang="en-US" altLang="zh-TW" sz="1400"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tooth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檔案傳輸功能異常</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持續與</a:t>
                      </a: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Nvidia</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追蹤狀況</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a:t>
                      </a:r>
                    </a:p>
                  </a:txBody>
                  <a:tcPr/>
                </a:tc>
                <a:extLst>
                  <a:ext uri="{0D108BD9-81ED-4DB2-BD59-A6C34878D82A}">
                    <a16:rowId xmlns:a16="http://schemas.microsoft.com/office/drawing/2014/main" val="3486952829"/>
                  </a:ext>
                </a:extLst>
              </a:tr>
              <a:tr h="51586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Capture card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李昇鴻</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與聰泰確認測試結果</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a:t>
                      </a:r>
                    </a:p>
                  </a:txBody>
                  <a:tcPr/>
                </a:tc>
                <a:extLst>
                  <a:ext uri="{0D108BD9-81ED-4DB2-BD59-A6C34878D82A}">
                    <a16:rowId xmlns:a16="http://schemas.microsoft.com/office/drawing/2014/main" val="3694524988"/>
                  </a:ext>
                </a:extLst>
              </a:tr>
              <a:tr h="54575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TPM 2.0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李昇鴻</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1972637304"/>
                  </a:ext>
                </a:extLst>
              </a:tr>
              <a:tr h="50596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Audio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李至祥</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629969846"/>
                  </a:ext>
                </a:extLst>
              </a:tr>
              <a:tr h="49987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COM</a:t>
                      </a:r>
                      <a:r>
                        <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 </a:t>
                      </a: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Port</a:t>
                      </a:r>
                      <a:r>
                        <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陳微心</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endPar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p>
                  </a:txBody>
                  <a:tcPr/>
                </a:tc>
                <a:extLst>
                  <a:ext uri="{0D108BD9-81ED-4DB2-BD59-A6C34878D82A}">
                    <a16:rowId xmlns:a16="http://schemas.microsoft.com/office/drawing/2014/main" val="359163981"/>
                  </a:ext>
                </a:extLst>
              </a:tr>
              <a:tr h="54254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RTC</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 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林宏德</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596504915"/>
                  </a:ext>
                </a:extLst>
              </a:tr>
            </a:tbl>
          </a:graphicData>
        </a:graphic>
      </p:graphicFrame>
      <p:cxnSp>
        <p:nvCxnSpPr>
          <p:cNvPr id="7" name="直線單箭頭接點 6">
            <a:extLst>
              <a:ext uri="{FF2B5EF4-FFF2-40B4-BE49-F238E27FC236}">
                <a16:creationId xmlns:a16="http://schemas.microsoft.com/office/drawing/2014/main" id="{202C1B06-2573-A628-C341-BB16D30DF0FC}"/>
              </a:ext>
            </a:extLst>
          </p:cNvPr>
          <p:cNvCxnSpPr>
            <a:cxnSpLocks/>
          </p:cNvCxnSpPr>
          <p:nvPr/>
        </p:nvCxnSpPr>
        <p:spPr>
          <a:xfrm>
            <a:off x="5338038" y="657066"/>
            <a:ext cx="0" cy="5634006"/>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9" name="文字方塊 8">
            <a:extLst>
              <a:ext uri="{FF2B5EF4-FFF2-40B4-BE49-F238E27FC236}">
                <a16:creationId xmlns:a16="http://schemas.microsoft.com/office/drawing/2014/main" id="{2534E871-5256-D06E-A5DC-74EDD2EFEFBD}"/>
              </a:ext>
            </a:extLst>
          </p:cNvPr>
          <p:cNvSpPr txBox="1"/>
          <p:nvPr/>
        </p:nvSpPr>
        <p:spPr>
          <a:xfrm>
            <a:off x="4531387" y="3598391"/>
            <a:ext cx="870751" cy="338554"/>
          </a:xfrm>
          <a:prstGeom prst="rect">
            <a:avLst/>
          </a:prstGeom>
          <a:noFill/>
        </p:spPr>
        <p:txBody>
          <a:bodyPr wrap="none" rtlCol="0">
            <a:spAutoFit/>
          </a:bodyPr>
          <a:lstStyle/>
          <a:p>
            <a:r>
              <a:rPr lang="en-US" altLang="zh-TW" sz="1600" b="1" dirty="0">
                <a:latin typeface="Times New Roman" panose="02020603050405020304" pitchFamily="18" charset="0"/>
                <a:cs typeface="Times New Roman" panose="02020603050405020304" pitchFamily="18" charset="0"/>
              </a:rPr>
              <a:t>priority</a:t>
            </a:r>
            <a:endParaRPr lang="zh-TW" altLang="en-US" sz="1600" b="1" dirty="0">
              <a:latin typeface="Times New Roman" panose="02020603050405020304" pitchFamily="18" charset="0"/>
              <a:cs typeface="Times New Roman" panose="02020603050405020304" pitchFamily="18" charset="0"/>
            </a:endParaRPr>
          </a:p>
        </p:txBody>
      </p:sp>
      <p:sp>
        <p:nvSpPr>
          <p:cNvPr id="12" name="文字版面配置區 6">
            <a:extLst>
              <a:ext uri="{FF2B5EF4-FFF2-40B4-BE49-F238E27FC236}">
                <a16:creationId xmlns:a16="http://schemas.microsoft.com/office/drawing/2014/main" id="{15E903C2-D7A2-E707-AA22-A5BFEBFCEF2F}"/>
              </a:ext>
            </a:extLst>
          </p:cNvPr>
          <p:cNvSpPr txBox="1"/>
          <p:nvPr/>
        </p:nvSpPr>
        <p:spPr>
          <a:xfrm>
            <a:off x="551189" y="957073"/>
            <a:ext cx="8800212" cy="10619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根據計畫書中內容進行開發，以下分別為</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階段一目標和當前開發進度及優先序。</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13" name="表格 12">
            <a:extLst>
              <a:ext uri="{FF2B5EF4-FFF2-40B4-BE49-F238E27FC236}">
                <a16:creationId xmlns:a16="http://schemas.microsoft.com/office/drawing/2014/main" id="{7E5DB677-FC1E-C918-4DE8-5A29E7BE7399}"/>
              </a:ext>
            </a:extLst>
          </p:cNvPr>
          <p:cNvGraphicFramePr>
            <a:graphicFrameLocks noGrp="1"/>
          </p:cNvGraphicFramePr>
          <p:nvPr/>
        </p:nvGraphicFramePr>
        <p:xfrm>
          <a:off x="19734" y="2154134"/>
          <a:ext cx="4515690" cy="3673641"/>
        </p:xfrm>
        <a:graphic>
          <a:graphicData uri="http://schemas.openxmlformats.org/drawingml/2006/table">
            <a:tbl>
              <a:tblPr firstRow="1" bandRow="1">
                <a:tableStyleId>{5C22544A-7EE6-4342-B048-85BDC9FD1C3A}</a:tableStyleId>
              </a:tblPr>
              <a:tblGrid>
                <a:gridCol w="1505230">
                  <a:extLst>
                    <a:ext uri="{9D8B030D-6E8A-4147-A177-3AD203B41FA5}">
                      <a16:colId xmlns:a16="http://schemas.microsoft.com/office/drawing/2014/main" val="2214116554"/>
                    </a:ext>
                  </a:extLst>
                </a:gridCol>
                <a:gridCol w="1505230">
                  <a:extLst>
                    <a:ext uri="{9D8B030D-6E8A-4147-A177-3AD203B41FA5}">
                      <a16:colId xmlns:a16="http://schemas.microsoft.com/office/drawing/2014/main" val="2817570406"/>
                    </a:ext>
                  </a:extLst>
                </a:gridCol>
                <a:gridCol w="1505230">
                  <a:extLst>
                    <a:ext uri="{9D8B030D-6E8A-4147-A177-3AD203B41FA5}">
                      <a16:colId xmlns:a16="http://schemas.microsoft.com/office/drawing/2014/main" val="4218185479"/>
                    </a:ext>
                  </a:extLst>
                </a:gridCol>
              </a:tblGrid>
              <a:tr h="419447">
                <a:tc>
                  <a:txBody>
                    <a:bodyPr/>
                    <a:lstStyle/>
                    <a:p>
                      <a:pPr algn="ctr"/>
                      <a:r>
                        <a:rPr lang="zh-TW" altLang="en-US" dirty="0">
                          <a:latin typeface="標楷體" panose="03000509000000000000" pitchFamily="65" charset="-120"/>
                          <a:ea typeface="標楷體" panose="03000509000000000000" pitchFamily="65" charset="-120"/>
                        </a:rPr>
                        <a:t>階段</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時間</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目標</a:t>
                      </a:r>
                    </a:p>
                  </a:txBody>
                  <a:tcPr/>
                </a:tc>
                <a:extLst>
                  <a:ext uri="{0D108BD9-81ED-4DB2-BD59-A6C34878D82A}">
                    <a16:rowId xmlns:a16="http://schemas.microsoft.com/office/drawing/2014/main" val="2544011215"/>
                  </a:ext>
                </a:extLst>
              </a:tr>
              <a:tr h="3254194">
                <a:tc>
                  <a:txBody>
                    <a:bodyPr/>
                    <a:lstStyle/>
                    <a:p>
                      <a:pPr algn="ctr"/>
                      <a:r>
                        <a:rPr lang="zh-TW" altLang="en-US" dirty="0">
                          <a:latin typeface="標楷體" panose="03000509000000000000" pitchFamily="65" charset="-120"/>
                          <a:ea typeface="標楷體" panose="03000509000000000000" pitchFamily="65" charset="-120"/>
                        </a:rPr>
                        <a:t>階段一</a:t>
                      </a:r>
                    </a:p>
                  </a:txBody>
                  <a:tcPr/>
                </a:tc>
                <a:tc>
                  <a:txBody>
                    <a:bodyPr/>
                    <a:lstStyle/>
                    <a:p>
                      <a:pPr algn="ctr"/>
                      <a:r>
                        <a:rPr lang="en-US" altLang="zh-TW" sz="1400" b="0" i="0" u="none" strike="noStrike" cap="none" dirty="0">
                          <a:solidFill>
                            <a:schemeClr val="dk1"/>
                          </a:solidFill>
                          <a:effectLst/>
                          <a:latin typeface="+mn-lt"/>
                          <a:ea typeface="+mn-ea"/>
                          <a:cs typeface="+mn-cs"/>
                          <a:sym typeface="Arial"/>
                        </a:rPr>
                        <a:t>2024/05/01</a:t>
                      </a:r>
                    </a:p>
                    <a:p>
                      <a:pPr algn="ctr"/>
                      <a:endParaRPr lang="en-US" altLang="zh-TW" sz="1400" b="0" i="0" u="none" strike="noStrike" cap="none" dirty="0">
                        <a:solidFill>
                          <a:schemeClr val="dk1"/>
                        </a:solidFill>
                        <a:effectLst/>
                        <a:latin typeface="+mn-lt"/>
                        <a:ea typeface="+mn-ea"/>
                        <a:cs typeface="+mn-cs"/>
                        <a:sym typeface="Arial"/>
                      </a:endParaRPr>
                    </a:p>
                    <a:p>
                      <a:pPr algn="ctr"/>
                      <a:r>
                        <a:rPr lang="en-US" altLang="zh-TW" sz="1400" b="0" i="0" u="none" strike="noStrike" cap="none" dirty="0">
                          <a:solidFill>
                            <a:schemeClr val="dk1"/>
                          </a:solidFill>
                          <a:effectLst/>
                          <a:latin typeface="+mn-lt"/>
                          <a:ea typeface="+mn-ea"/>
                          <a:cs typeface="+mn-cs"/>
                          <a:sym typeface="Arial"/>
                        </a:rPr>
                        <a:t>2024/05/31</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342900" lvl="0" indent="-342900">
                        <a:buFont typeface="+mj-lt"/>
                        <a:buAutoNum type="arabicPeriod"/>
                      </a:pPr>
                      <a:r>
                        <a:rPr lang="en-US" sz="1400" kern="100" dirty="0" err="1">
                          <a:effectLst/>
                          <a:latin typeface="Times New Roman" panose="02020603050405020304" pitchFamily="18" charset="0"/>
                          <a:ea typeface="新細明體" panose="02020500000000000000" pitchFamily="18" charset="-120"/>
                          <a:cs typeface="Times New Roman" panose="02020603050405020304" pitchFamily="18" charset="0"/>
                        </a:rPr>
                        <a:t>Bootloader+OS</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Storage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Wi-Fi</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&amp; Bluetooth</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Ethernet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Capture card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TPM2.0</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COM</a:t>
                      </a:r>
                      <a:r>
                        <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 </a:t>
                      </a: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Port</a:t>
                      </a:r>
                      <a:r>
                        <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endParaRP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USB</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Audio</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 功能</a:t>
                      </a:r>
                    </a:p>
                    <a:p>
                      <a:pPr marL="342900" lvl="0" indent="-342900">
                        <a:buFont typeface="+mj-lt"/>
                        <a:buAutoNum type="arabicPeriod"/>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RTC</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 功能</a:t>
                      </a:r>
                    </a:p>
                  </a:txBody>
                  <a:tcPr marL="17780" marR="17780" marT="0" marB="0"/>
                </a:tc>
                <a:extLst>
                  <a:ext uri="{0D108BD9-81ED-4DB2-BD59-A6C34878D82A}">
                    <a16:rowId xmlns:a16="http://schemas.microsoft.com/office/drawing/2014/main" val="2426695749"/>
                  </a:ext>
                </a:extLst>
              </a:tr>
            </a:tbl>
          </a:graphicData>
        </a:graphic>
      </p:graphicFrame>
      <p:sp>
        <p:nvSpPr>
          <p:cNvPr id="6" name="文字方塊 5">
            <a:extLst>
              <a:ext uri="{FF2B5EF4-FFF2-40B4-BE49-F238E27FC236}">
                <a16:creationId xmlns:a16="http://schemas.microsoft.com/office/drawing/2014/main" id="{DBA6358A-B91C-0A9C-B975-0BA97AC554AC}"/>
              </a:ext>
            </a:extLst>
          </p:cNvPr>
          <p:cNvSpPr txBox="1"/>
          <p:nvPr/>
        </p:nvSpPr>
        <p:spPr>
          <a:xfrm>
            <a:off x="4071674" y="5593602"/>
            <a:ext cx="992578" cy="738664"/>
          </a:xfrm>
          <a:prstGeom prst="rect">
            <a:avLst/>
          </a:prstGeom>
          <a:noFill/>
          <a:ln w="28575">
            <a:solidFill>
              <a:srgbClr val="FF0000"/>
            </a:solidFill>
          </a:ln>
        </p:spPr>
        <p:txBody>
          <a:bodyPr wrap="squar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完成</a:t>
            </a:r>
            <a:br>
              <a:rPr lang="en-US" altLang="zh-TW" dirty="0">
                <a:latin typeface="標楷體" panose="03000509000000000000" pitchFamily="65" charset="-120"/>
                <a:ea typeface="標楷體" panose="03000509000000000000" pitchFamily="65" charset="-120"/>
              </a:rPr>
            </a:b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未進行</a:t>
            </a:r>
            <a:endParaRPr lang="en-US" altLang="zh-TW" dirty="0">
              <a:latin typeface="標楷體" panose="03000509000000000000" pitchFamily="65" charset="-120"/>
              <a:ea typeface="標楷體" panose="03000509000000000000" pitchFamily="65" charset="-120"/>
            </a:endParaRP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進行中</a:t>
            </a:r>
            <a:endParaRPr lang="en-US" altLang="zh-TW" dirty="0">
              <a:latin typeface="標楷體" panose="03000509000000000000" pitchFamily="65" charset="-120"/>
              <a:ea typeface="標楷體" panose="03000509000000000000" pitchFamily="65" charset="-120"/>
            </a:endParaRPr>
          </a:p>
        </p:txBody>
      </p:sp>
      <p:sp>
        <p:nvSpPr>
          <p:cNvPr id="2" name="文字方塊 1">
            <a:extLst>
              <a:ext uri="{FF2B5EF4-FFF2-40B4-BE49-F238E27FC236}">
                <a16:creationId xmlns:a16="http://schemas.microsoft.com/office/drawing/2014/main" id="{4F145CB5-95AF-08DE-16F2-85EEE64553C4}"/>
              </a:ext>
            </a:extLst>
          </p:cNvPr>
          <p:cNvSpPr txBox="1"/>
          <p:nvPr/>
        </p:nvSpPr>
        <p:spPr>
          <a:xfrm rot="16200000">
            <a:off x="2133148" y="2797774"/>
            <a:ext cx="288862" cy="307777"/>
          </a:xfrm>
          <a:prstGeom prst="rect">
            <a:avLst/>
          </a:prstGeom>
          <a:noFill/>
        </p:spPr>
        <p:txBody>
          <a:bodyPr wrap="none" rtlCol="0">
            <a:spAutoFit/>
          </a:bodyPr>
          <a:lstStyle/>
          <a:p>
            <a:r>
              <a:rPr lang="en-US" altLang="zh-TW" dirty="0"/>
              <a:t>~</a:t>
            </a:r>
            <a:endParaRPr lang="zh-TW" altLang="en-US" dirty="0"/>
          </a:p>
        </p:txBody>
      </p:sp>
    </p:spTree>
    <p:extLst>
      <p:ext uri="{BB962C8B-B14F-4D97-AF65-F5344CB8AC3E}">
        <p14:creationId xmlns:p14="http://schemas.microsoft.com/office/powerpoint/2010/main" val="2969451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8018" y="657066"/>
            <a:ext cx="7923944" cy="533400"/>
          </a:xfrm>
        </p:spPr>
        <p:txBody>
          <a:bodyPr/>
          <a:lstStyle/>
          <a:p>
            <a:r>
              <a:rPr lang="zh-TW" altLang="en-US" dirty="0">
                <a:latin typeface="標楷體" panose="03000509000000000000" pitchFamily="65" charset="-120"/>
                <a:ea typeface="標楷體" panose="03000509000000000000" pitchFamily="65" charset="-120"/>
              </a:rPr>
              <a:t>上次進度</a:t>
            </a:r>
            <a:r>
              <a:rPr lang="en-US" altLang="zh-TW" dirty="0"/>
              <a:t>: Jetpack 6 GA</a:t>
            </a:r>
            <a:endParaRPr lang="zh-TW" altLang="en-US" dirty="0">
              <a:latin typeface="標楷體" panose="03000509000000000000" pitchFamily="65" charset="-120"/>
              <a:ea typeface="標楷體" panose="03000509000000000000" pitchFamily="65" charset="-120"/>
            </a:endParaRPr>
          </a:p>
        </p:txBody>
      </p:sp>
      <p:graphicFrame>
        <p:nvGraphicFramePr>
          <p:cNvPr id="4" name="表格 3">
            <a:extLst>
              <a:ext uri="{FF2B5EF4-FFF2-40B4-BE49-F238E27FC236}">
                <a16:creationId xmlns:a16="http://schemas.microsoft.com/office/drawing/2014/main" id="{88BB20D9-FF08-ADFE-0239-2A0A725A79B8}"/>
              </a:ext>
            </a:extLst>
          </p:cNvPr>
          <p:cNvGraphicFramePr>
            <a:graphicFrameLocks noGrp="1"/>
          </p:cNvGraphicFramePr>
          <p:nvPr/>
        </p:nvGraphicFramePr>
        <p:xfrm>
          <a:off x="4726381" y="2154134"/>
          <a:ext cx="5157216" cy="2474397"/>
        </p:xfrm>
        <a:graphic>
          <a:graphicData uri="http://schemas.openxmlformats.org/drawingml/2006/table">
            <a:tbl>
              <a:tblPr firstRow="1" bandRow="1">
                <a:tableStyleId>{5C22544A-7EE6-4342-B048-85BDC9FD1C3A}</a:tableStyleId>
              </a:tblPr>
              <a:tblGrid>
                <a:gridCol w="2578608">
                  <a:extLst>
                    <a:ext uri="{9D8B030D-6E8A-4147-A177-3AD203B41FA5}">
                      <a16:colId xmlns:a16="http://schemas.microsoft.com/office/drawing/2014/main" val="1386511907"/>
                    </a:ext>
                  </a:extLst>
                </a:gridCol>
                <a:gridCol w="2578608">
                  <a:extLst>
                    <a:ext uri="{9D8B030D-6E8A-4147-A177-3AD203B41FA5}">
                      <a16:colId xmlns:a16="http://schemas.microsoft.com/office/drawing/2014/main" val="3728400076"/>
                    </a:ext>
                  </a:extLst>
                </a:gridCol>
              </a:tblGrid>
              <a:tr h="401757">
                <a:tc>
                  <a:txBody>
                    <a:bodyPr/>
                    <a:lstStyle/>
                    <a:p>
                      <a:pPr algn="ctr"/>
                      <a:r>
                        <a:rPr lang="zh-TW" altLang="en-US" dirty="0">
                          <a:latin typeface="標楷體" panose="03000509000000000000" pitchFamily="65" charset="-120"/>
                          <a:ea typeface="標楷體" panose="03000509000000000000" pitchFamily="65" charset="-120"/>
                        </a:rPr>
                        <a:t>目標</a:t>
                      </a:r>
                    </a:p>
                  </a:txBody>
                  <a:tcPr/>
                </a:tc>
                <a:tc>
                  <a:txBody>
                    <a:bodyPr/>
                    <a:lstStyle/>
                    <a:p>
                      <a:pPr algn="ctr"/>
                      <a:r>
                        <a:rPr lang="zh-TW" altLang="en-US" dirty="0">
                          <a:latin typeface="標楷體" panose="03000509000000000000" pitchFamily="65" charset="-120"/>
                          <a:ea typeface="標楷體" panose="03000509000000000000" pitchFamily="65" charset="-120"/>
                        </a:rPr>
                        <a:t>進度</a:t>
                      </a:r>
                    </a:p>
                  </a:txBody>
                  <a:tcPr/>
                </a:tc>
                <a:extLst>
                  <a:ext uri="{0D108BD9-81ED-4DB2-BD59-A6C34878D82A}">
                    <a16:rowId xmlns:a16="http://schemas.microsoft.com/office/drawing/2014/main" val="1964623179"/>
                  </a:ext>
                </a:extLst>
              </a:tr>
              <a:tr h="30345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kern="100" dirty="0">
                          <a:effectLst/>
                          <a:latin typeface="Times New Roman" panose="02020603050405020304" pitchFamily="18" charset="0"/>
                          <a:ea typeface="+mn-ea"/>
                          <a:cs typeface="Times New Roman" panose="02020603050405020304" pitchFamily="18" charset="0"/>
                        </a:rPr>
                        <a:t>Flash</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效率改善</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a:t>
                      </a:r>
                      <a:r>
                        <a:rPr lang="zh-TW" altLang="en-US"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李至祥</a:t>
                      </a:r>
                      <a:r>
                        <a:rPr lang="en-US" altLang="zh-TW"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a:t>
                      </a:r>
                      <a:endParaRPr lang="zh-TW" altLang="zh-TW" sz="1400" kern="100" dirty="0">
                        <a:effectLst/>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p>
                  </a:txBody>
                  <a:tcPr/>
                </a:tc>
                <a:extLst>
                  <a:ext uri="{0D108BD9-81ED-4DB2-BD59-A6C34878D82A}">
                    <a16:rowId xmlns:a16="http://schemas.microsoft.com/office/drawing/2014/main" val="4129786410"/>
                  </a:ext>
                </a:extLst>
              </a:tr>
              <a:tr h="34580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自動化部屬</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林宏德</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endPar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2314086582"/>
                  </a:ext>
                </a:extLst>
              </a:tr>
              <a:tr h="35966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功能與穩定度測試</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a:t>
                      </a:r>
                      <a:r>
                        <a:rPr lang="zh-TW" altLang="en-US"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陳微心</a:t>
                      </a:r>
                      <a:r>
                        <a:rPr lang="en-US" altLang="zh-TW"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a:t>
                      </a:r>
                      <a:endPar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607938647"/>
                  </a:ext>
                </a:extLst>
              </a:tr>
              <a:tr h="3143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測試文件整理</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李昇鴻</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4044646615"/>
                  </a:ext>
                </a:extLst>
              </a:tr>
            </a:tbl>
          </a:graphicData>
        </a:graphic>
      </p:graphicFrame>
      <p:cxnSp>
        <p:nvCxnSpPr>
          <p:cNvPr id="7" name="直線單箭頭接點 6">
            <a:extLst>
              <a:ext uri="{FF2B5EF4-FFF2-40B4-BE49-F238E27FC236}">
                <a16:creationId xmlns:a16="http://schemas.microsoft.com/office/drawing/2014/main" id="{202C1B06-2573-A628-C341-BB16D30DF0FC}"/>
              </a:ext>
            </a:extLst>
          </p:cNvPr>
          <p:cNvCxnSpPr>
            <a:cxnSpLocks/>
          </p:cNvCxnSpPr>
          <p:nvPr/>
        </p:nvCxnSpPr>
        <p:spPr>
          <a:xfrm>
            <a:off x="5269049" y="2555891"/>
            <a:ext cx="0" cy="207264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9" name="文字方塊 8">
            <a:extLst>
              <a:ext uri="{FF2B5EF4-FFF2-40B4-BE49-F238E27FC236}">
                <a16:creationId xmlns:a16="http://schemas.microsoft.com/office/drawing/2014/main" id="{2534E871-5256-D06E-A5DC-74EDD2EFEFBD}"/>
              </a:ext>
            </a:extLst>
          </p:cNvPr>
          <p:cNvSpPr txBox="1"/>
          <p:nvPr/>
        </p:nvSpPr>
        <p:spPr>
          <a:xfrm>
            <a:off x="4439429" y="3422934"/>
            <a:ext cx="870751" cy="338554"/>
          </a:xfrm>
          <a:prstGeom prst="rect">
            <a:avLst/>
          </a:prstGeom>
          <a:noFill/>
        </p:spPr>
        <p:txBody>
          <a:bodyPr wrap="none" rtlCol="0">
            <a:spAutoFit/>
          </a:bodyPr>
          <a:lstStyle/>
          <a:p>
            <a:r>
              <a:rPr lang="en-US" altLang="zh-TW" sz="1600" b="1" dirty="0">
                <a:latin typeface="Times New Roman" panose="02020603050405020304" pitchFamily="18" charset="0"/>
                <a:cs typeface="Times New Roman" panose="02020603050405020304" pitchFamily="18" charset="0"/>
              </a:rPr>
              <a:t>priority</a:t>
            </a:r>
            <a:endParaRPr lang="zh-TW" altLang="en-US" sz="1600" b="1" dirty="0">
              <a:latin typeface="Times New Roman" panose="02020603050405020304" pitchFamily="18" charset="0"/>
              <a:cs typeface="Times New Roman" panose="02020603050405020304" pitchFamily="18" charset="0"/>
            </a:endParaRPr>
          </a:p>
        </p:txBody>
      </p:sp>
      <p:sp>
        <p:nvSpPr>
          <p:cNvPr id="12" name="文字版面配置區 6">
            <a:extLst>
              <a:ext uri="{FF2B5EF4-FFF2-40B4-BE49-F238E27FC236}">
                <a16:creationId xmlns:a16="http://schemas.microsoft.com/office/drawing/2014/main" id="{15E903C2-D7A2-E707-AA22-A5BFEBFCEF2F}"/>
              </a:ext>
            </a:extLst>
          </p:cNvPr>
          <p:cNvSpPr txBox="1"/>
          <p:nvPr/>
        </p:nvSpPr>
        <p:spPr>
          <a:xfrm>
            <a:off x="551189" y="957073"/>
            <a:ext cx="8800212" cy="10619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根據計畫書中內容進行開發，以下分別為</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階段二目標和當前開發進度及優先序。</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13" name="表格 12">
            <a:extLst>
              <a:ext uri="{FF2B5EF4-FFF2-40B4-BE49-F238E27FC236}">
                <a16:creationId xmlns:a16="http://schemas.microsoft.com/office/drawing/2014/main" id="{7E5DB677-FC1E-C918-4DE8-5A29E7BE7399}"/>
              </a:ext>
            </a:extLst>
          </p:cNvPr>
          <p:cNvGraphicFramePr>
            <a:graphicFrameLocks noGrp="1"/>
          </p:cNvGraphicFramePr>
          <p:nvPr/>
        </p:nvGraphicFramePr>
        <p:xfrm>
          <a:off x="19734" y="2154134"/>
          <a:ext cx="4515690" cy="2472730"/>
        </p:xfrm>
        <a:graphic>
          <a:graphicData uri="http://schemas.openxmlformats.org/drawingml/2006/table">
            <a:tbl>
              <a:tblPr firstRow="1" bandRow="1">
                <a:tableStyleId>{5C22544A-7EE6-4342-B048-85BDC9FD1C3A}</a:tableStyleId>
              </a:tblPr>
              <a:tblGrid>
                <a:gridCol w="1505230">
                  <a:extLst>
                    <a:ext uri="{9D8B030D-6E8A-4147-A177-3AD203B41FA5}">
                      <a16:colId xmlns:a16="http://schemas.microsoft.com/office/drawing/2014/main" val="2214116554"/>
                    </a:ext>
                  </a:extLst>
                </a:gridCol>
                <a:gridCol w="1505230">
                  <a:extLst>
                    <a:ext uri="{9D8B030D-6E8A-4147-A177-3AD203B41FA5}">
                      <a16:colId xmlns:a16="http://schemas.microsoft.com/office/drawing/2014/main" val="2817570406"/>
                    </a:ext>
                  </a:extLst>
                </a:gridCol>
                <a:gridCol w="1505230">
                  <a:extLst>
                    <a:ext uri="{9D8B030D-6E8A-4147-A177-3AD203B41FA5}">
                      <a16:colId xmlns:a16="http://schemas.microsoft.com/office/drawing/2014/main" val="4218185479"/>
                    </a:ext>
                  </a:extLst>
                </a:gridCol>
              </a:tblGrid>
              <a:tr h="419447">
                <a:tc>
                  <a:txBody>
                    <a:bodyPr/>
                    <a:lstStyle/>
                    <a:p>
                      <a:pPr algn="ctr"/>
                      <a:r>
                        <a:rPr lang="zh-TW" altLang="en-US" dirty="0">
                          <a:latin typeface="標楷體" panose="03000509000000000000" pitchFamily="65" charset="-120"/>
                          <a:ea typeface="標楷體" panose="03000509000000000000" pitchFamily="65" charset="-120"/>
                        </a:rPr>
                        <a:t>階段</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時間</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目標</a:t>
                      </a:r>
                    </a:p>
                  </a:txBody>
                  <a:tcPr/>
                </a:tc>
                <a:extLst>
                  <a:ext uri="{0D108BD9-81ED-4DB2-BD59-A6C34878D82A}">
                    <a16:rowId xmlns:a16="http://schemas.microsoft.com/office/drawing/2014/main" val="2544011215"/>
                  </a:ext>
                </a:extLst>
              </a:tr>
              <a:tr h="2053283">
                <a:tc>
                  <a:txBody>
                    <a:bodyPr/>
                    <a:lstStyle/>
                    <a:p>
                      <a:pPr algn="ctr"/>
                      <a:r>
                        <a:rPr lang="zh-TW" altLang="en-US" dirty="0">
                          <a:latin typeface="標楷體" panose="03000509000000000000" pitchFamily="65" charset="-120"/>
                          <a:ea typeface="標楷體" panose="03000509000000000000" pitchFamily="65" charset="-120"/>
                        </a:rPr>
                        <a:t>階段二</a:t>
                      </a:r>
                    </a:p>
                  </a:txBody>
                  <a:tcPr/>
                </a:tc>
                <a:tc>
                  <a:txBody>
                    <a:bodyPr/>
                    <a:lstStyle/>
                    <a:p>
                      <a:pPr algn="ctr"/>
                      <a:r>
                        <a:rPr lang="en-US" altLang="zh-TW" sz="1400" b="0" i="0" u="none" strike="noStrike" cap="none" dirty="0">
                          <a:solidFill>
                            <a:schemeClr val="dk1"/>
                          </a:solidFill>
                          <a:effectLst/>
                          <a:latin typeface="+mn-lt"/>
                          <a:ea typeface="+mn-ea"/>
                          <a:cs typeface="+mn-cs"/>
                          <a:sym typeface="Arial"/>
                        </a:rPr>
                        <a:t>2024/06/01</a:t>
                      </a:r>
                    </a:p>
                    <a:p>
                      <a:pPr algn="ctr"/>
                      <a:endParaRPr lang="en-US" altLang="zh-TW" sz="1400" b="0" i="0" u="none" strike="noStrike" cap="none" dirty="0">
                        <a:solidFill>
                          <a:schemeClr val="dk1"/>
                        </a:solidFill>
                        <a:effectLst/>
                        <a:latin typeface="+mn-lt"/>
                        <a:ea typeface="+mn-ea"/>
                        <a:cs typeface="+mn-cs"/>
                        <a:sym typeface="Arial"/>
                      </a:endParaRPr>
                    </a:p>
                    <a:p>
                      <a:pPr algn="ctr"/>
                      <a:r>
                        <a:rPr lang="en-US" altLang="zh-TW" sz="1400" b="0" i="0" u="none" strike="noStrike" cap="none" dirty="0">
                          <a:solidFill>
                            <a:schemeClr val="dk1"/>
                          </a:solidFill>
                          <a:effectLst/>
                          <a:latin typeface="+mn-lt"/>
                          <a:ea typeface="+mn-ea"/>
                          <a:cs typeface="+mn-cs"/>
                          <a:sym typeface="Arial"/>
                        </a:rPr>
                        <a:t>2024/06/30</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342900" marR="0" lvl="0" indent="-342900" algn="l" rtl="0">
                        <a:lnSpc>
                          <a:spcPct val="100000"/>
                        </a:lnSpc>
                        <a:spcBef>
                          <a:spcPts val="0"/>
                        </a:spcBef>
                        <a:spcAft>
                          <a:spcPts val="0"/>
                        </a:spcAft>
                        <a:buClr>
                          <a:srgbClr val="000000"/>
                        </a:buClr>
                        <a:buFont typeface="+mj-lt"/>
                        <a:buAutoNum type="arabicPeriod"/>
                      </a:pP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Flash</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效率改善</a:t>
                      </a:r>
                    </a:p>
                    <a:p>
                      <a:pPr marL="342900" marR="0" lvl="0" indent="-342900" algn="l" rtl="0">
                        <a:lnSpc>
                          <a:spcPct val="100000"/>
                        </a:lnSpc>
                        <a:spcBef>
                          <a:spcPts val="0"/>
                        </a:spcBef>
                        <a:spcAft>
                          <a:spcPts val="0"/>
                        </a:spcAft>
                        <a:buClr>
                          <a:srgbClr val="000000"/>
                        </a:buClr>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自動化部屬</a:t>
                      </a:r>
                    </a:p>
                    <a:p>
                      <a:pPr marL="342900" marR="0" lvl="0" indent="-342900" algn="l" rtl="0">
                        <a:lnSpc>
                          <a:spcPct val="100000"/>
                        </a:lnSpc>
                        <a:spcBef>
                          <a:spcPts val="0"/>
                        </a:spcBef>
                        <a:spcAft>
                          <a:spcPts val="0"/>
                        </a:spcAft>
                        <a:buClr>
                          <a:srgbClr val="000000"/>
                        </a:buClr>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功能與穩定度測試</a:t>
                      </a:r>
                    </a:p>
                    <a:p>
                      <a:pPr marL="342900" marR="0" lvl="0" indent="-342900" algn="l" rtl="0">
                        <a:lnSpc>
                          <a:spcPct val="100000"/>
                        </a:lnSpc>
                        <a:spcBef>
                          <a:spcPts val="0"/>
                        </a:spcBef>
                        <a:spcAft>
                          <a:spcPts val="0"/>
                        </a:spcAft>
                        <a:buClr>
                          <a:srgbClr val="000000"/>
                        </a:buClr>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測試文件整理</a:t>
                      </a:r>
                    </a:p>
                  </a:txBody>
                  <a:tcPr marL="17780" marR="17780" marT="0" marB="0"/>
                </a:tc>
                <a:extLst>
                  <a:ext uri="{0D108BD9-81ED-4DB2-BD59-A6C34878D82A}">
                    <a16:rowId xmlns:a16="http://schemas.microsoft.com/office/drawing/2014/main" val="2426695749"/>
                  </a:ext>
                </a:extLst>
              </a:tr>
            </a:tbl>
          </a:graphicData>
        </a:graphic>
      </p:graphicFrame>
      <p:sp>
        <p:nvSpPr>
          <p:cNvPr id="6" name="文字方塊 5">
            <a:extLst>
              <a:ext uri="{FF2B5EF4-FFF2-40B4-BE49-F238E27FC236}">
                <a16:creationId xmlns:a16="http://schemas.microsoft.com/office/drawing/2014/main" id="{DBA6358A-B91C-0A9C-B975-0BA97AC554AC}"/>
              </a:ext>
            </a:extLst>
          </p:cNvPr>
          <p:cNvSpPr txBox="1"/>
          <p:nvPr/>
        </p:nvSpPr>
        <p:spPr>
          <a:xfrm>
            <a:off x="4726381" y="4796115"/>
            <a:ext cx="992578" cy="738664"/>
          </a:xfrm>
          <a:prstGeom prst="rect">
            <a:avLst/>
          </a:prstGeom>
          <a:noFill/>
          <a:ln w="28575">
            <a:solidFill>
              <a:srgbClr val="FF0000"/>
            </a:solidFill>
          </a:ln>
        </p:spPr>
        <p:txBody>
          <a:bodyPr wrap="squar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完成</a:t>
            </a:r>
            <a:br>
              <a:rPr lang="en-US" altLang="zh-TW" dirty="0">
                <a:latin typeface="標楷體" panose="03000509000000000000" pitchFamily="65" charset="-120"/>
                <a:ea typeface="標楷體" panose="03000509000000000000" pitchFamily="65" charset="-120"/>
              </a:rPr>
            </a:b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未進行</a:t>
            </a:r>
            <a:endParaRPr lang="en-US" altLang="zh-TW" dirty="0">
              <a:latin typeface="標楷體" panose="03000509000000000000" pitchFamily="65" charset="-120"/>
              <a:ea typeface="標楷體" panose="03000509000000000000" pitchFamily="65" charset="-120"/>
            </a:endParaRP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進行中</a:t>
            </a:r>
            <a:endParaRPr lang="en-US" altLang="zh-TW" dirty="0">
              <a:latin typeface="標楷體" panose="03000509000000000000" pitchFamily="65" charset="-120"/>
              <a:ea typeface="標楷體" panose="03000509000000000000" pitchFamily="65" charset="-120"/>
            </a:endParaRPr>
          </a:p>
        </p:txBody>
      </p:sp>
      <p:sp>
        <p:nvSpPr>
          <p:cNvPr id="2" name="文字方塊 1">
            <a:extLst>
              <a:ext uri="{FF2B5EF4-FFF2-40B4-BE49-F238E27FC236}">
                <a16:creationId xmlns:a16="http://schemas.microsoft.com/office/drawing/2014/main" id="{5E9763CE-D53D-49D2-6276-E57BE1A93248}"/>
              </a:ext>
            </a:extLst>
          </p:cNvPr>
          <p:cNvSpPr txBox="1"/>
          <p:nvPr/>
        </p:nvSpPr>
        <p:spPr>
          <a:xfrm rot="16200000">
            <a:off x="2133148" y="2797774"/>
            <a:ext cx="288862" cy="307777"/>
          </a:xfrm>
          <a:prstGeom prst="rect">
            <a:avLst/>
          </a:prstGeom>
          <a:noFill/>
        </p:spPr>
        <p:txBody>
          <a:bodyPr wrap="none" rtlCol="0">
            <a:spAutoFit/>
          </a:bodyPr>
          <a:lstStyle/>
          <a:p>
            <a:r>
              <a:rPr lang="en-US" altLang="zh-TW" dirty="0"/>
              <a:t>~</a:t>
            </a:r>
            <a:endParaRPr lang="zh-TW" altLang="en-US" dirty="0"/>
          </a:p>
        </p:txBody>
      </p:sp>
    </p:spTree>
    <p:extLst>
      <p:ext uri="{BB962C8B-B14F-4D97-AF65-F5344CB8AC3E}">
        <p14:creationId xmlns:p14="http://schemas.microsoft.com/office/powerpoint/2010/main" val="1713245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8077200"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Capture Card</a:t>
            </a:r>
            <a:endParaRPr lang="zh-TW" altLang="en-US" dirty="0">
              <a:latin typeface="標楷體" panose="03000509000000000000" pitchFamily="65" charset="-120"/>
              <a:ea typeface="標楷體" panose="03000509000000000000" pitchFamily="65" charset="-120"/>
            </a:endParaRPr>
          </a:p>
        </p:txBody>
      </p:sp>
      <p:sp>
        <p:nvSpPr>
          <p:cNvPr id="1048603" name="文字版面配置區 6"/>
          <p:cNvSpPr txBox="1"/>
          <p:nvPr/>
        </p:nvSpPr>
        <p:spPr>
          <a:xfrm>
            <a:off x="551189" y="981075"/>
            <a:ext cx="9124034" cy="126138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總結測試結果，為聰泰提供的</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QT Sample Code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及第三方應用程式。</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429B0A07-0A81-D043-AA79-0196BE446304}"/>
              </a:ext>
            </a:extLst>
          </p:cNvPr>
          <p:cNvGraphicFramePr>
            <a:graphicFrameLocks noGrp="1"/>
          </p:cNvGraphicFramePr>
          <p:nvPr/>
        </p:nvGraphicFramePr>
        <p:xfrm>
          <a:off x="71328" y="1704703"/>
          <a:ext cx="9879871" cy="3840480"/>
        </p:xfrm>
        <a:graphic>
          <a:graphicData uri="http://schemas.openxmlformats.org/drawingml/2006/table">
            <a:tbl>
              <a:tblPr firstRow="1" bandRow="1">
                <a:tableStyleId>{5C22544A-7EE6-4342-B048-85BDC9FD1C3A}</a:tableStyleId>
              </a:tblPr>
              <a:tblGrid>
                <a:gridCol w="898170">
                  <a:extLst>
                    <a:ext uri="{9D8B030D-6E8A-4147-A177-3AD203B41FA5}">
                      <a16:colId xmlns:a16="http://schemas.microsoft.com/office/drawing/2014/main" val="257238637"/>
                    </a:ext>
                  </a:extLst>
                </a:gridCol>
                <a:gridCol w="898170">
                  <a:extLst>
                    <a:ext uri="{9D8B030D-6E8A-4147-A177-3AD203B41FA5}">
                      <a16:colId xmlns:a16="http://schemas.microsoft.com/office/drawing/2014/main" val="3544447268"/>
                    </a:ext>
                  </a:extLst>
                </a:gridCol>
                <a:gridCol w="898170">
                  <a:extLst>
                    <a:ext uri="{9D8B030D-6E8A-4147-A177-3AD203B41FA5}">
                      <a16:colId xmlns:a16="http://schemas.microsoft.com/office/drawing/2014/main" val="1638620761"/>
                    </a:ext>
                  </a:extLst>
                </a:gridCol>
                <a:gridCol w="898170">
                  <a:extLst>
                    <a:ext uri="{9D8B030D-6E8A-4147-A177-3AD203B41FA5}">
                      <a16:colId xmlns:a16="http://schemas.microsoft.com/office/drawing/2014/main" val="3117135978"/>
                    </a:ext>
                  </a:extLst>
                </a:gridCol>
                <a:gridCol w="898171">
                  <a:extLst>
                    <a:ext uri="{9D8B030D-6E8A-4147-A177-3AD203B41FA5}">
                      <a16:colId xmlns:a16="http://schemas.microsoft.com/office/drawing/2014/main" val="2003783540"/>
                    </a:ext>
                  </a:extLst>
                </a:gridCol>
                <a:gridCol w="898170">
                  <a:extLst>
                    <a:ext uri="{9D8B030D-6E8A-4147-A177-3AD203B41FA5}">
                      <a16:colId xmlns:a16="http://schemas.microsoft.com/office/drawing/2014/main" val="3057585576"/>
                    </a:ext>
                  </a:extLst>
                </a:gridCol>
                <a:gridCol w="898170">
                  <a:extLst>
                    <a:ext uri="{9D8B030D-6E8A-4147-A177-3AD203B41FA5}">
                      <a16:colId xmlns:a16="http://schemas.microsoft.com/office/drawing/2014/main" val="2403683139"/>
                    </a:ext>
                  </a:extLst>
                </a:gridCol>
                <a:gridCol w="898170">
                  <a:extLst>
                    <a:ext uri="{9D8B030D-6E8A-4147-A177-3AD203B41FA5}">
                      <a16:colId xmlns:a16="http://schemas.microsoft.com/office/drawing/2014/main" val="2406585046"/>
                    </a:ext>
                  </a:extLst>
                </a:gridCol>
                <a:gridCol w="898170">
                  <a:extLst>
                    <a:ext uri="{9D8B030D-6E8A-4147-A177-3AD203B41FA5}">
                      <a16:colId xmlns:a16="http://schemas.microsoft.com/office/drawing/2014/main" val="2043620614"/>
                    </a:ext>
                  </a:extLst>
                </a:gridCol>
                <a:gridCol w="898170">
                  <a:extLst>
                    <a:ext uri="{9D8B030D-6E8A-4147-A177-3AD203B41FA5}">
                      <a16:colId xmlns:a16="http://schemas.microsoft.com/office/drawing/2014/main" val="1831002272"/>
                    </a:ext>
                  </a:extLst>
                </a:gridCol>
                <a:gridCol w="898170">
                  <a:extLst>
                    <a:ext uri="{9D8B030D-6E8A-4147-A177-3AD203B41FA5}">
                      <a16:colId xmlns:a16="http://schemas.microsoft.com/office/drawing/2014/main" val="4071852272"/>
                    </a:ext>
                  </a:extLst>
                </a:gridCol>
              </a:tblGrid>
              <a:tr h="363220">
                <a:tc gridSpan="11">
                  <a:txBody>
                    <a:bodyPr/>
                    <a:lstStyle/>
                    <a:p>
                      <a:pPr algn="ctr"/>
                      <a:r>
                        <a:rPr lang="en-US" altLang="zh-TW" sz="2000" dirty="0" err="1">
                          <a:latin typeface="Times New Roman" panose="02020603050405020304" pitchFamily="18" charset="0"/>
                          <a:cs typeface="Times New Roman" panose="02020603050405020304" pitchFamily="18" charset="0"/>
                        </a:rPr>
                        <a:t>JetPack</a:t>
                      </a:r>
                      <a:r>
                        <a:rPr lang="en-US" altLang="zh-TW" sz="2000" dirty="0">
                          <a:latin typeface="Times New Roman" panose="02020603050405020304" pitchFamily="18" charset="0"/>
                          <a:cs typeface="Times New Roman" panose="02020603050405020304" pitchFamily="18" charset="0"/>
                        </a:rPr>
                        <a:t> 6</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GA</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sz="1800" b="1" i="0" u="none" strike="noStrike" cap="none" dirty="0">
                        <a:solidFill>
                          <a:schemeClr val="lt1"/>
                        </a:solidFill>
                        <a:latin typeface="Times New Roman" panose="02020603050405020304" pitchFamily="18" charset="0"/>
                        <a:ea typeface="+mn-ea"/>
                        <a:cs typeface="Times New Roman" panose="02020603050405020304" pitchFamily="18" charset="0"/>
                        <a:sym typeface="Arial"/>
                      </a:endParaRPr>
                    </a:p>
                  </a:txBody>
                  <a:tcPr/>
                </a:tc>
                <a:tc hMerge="1">
                  <a:txBody>
                    <a:bodyPr/>
                    <a:lstStyle/>
                    <a:p>
                      <a:endParaRPr lang="zh-TW" altLang="en-US"/>
                    </a:p>
                  </a:txBody>
                  <a:tcPr/>
                </a:tc>
                <a:tc hMerge="1">
                  <a:txBody>
                    <a:bodyPr/>
                    <a:lstStyle/>
                    <a:p>
                      <a:pPr algn="ctr"/>
                      <a:endParaRPr lang="zh-TW" altLang="en-US" sz="1800" dirty="0">
                        <a:latin typeface="Times New Roman" panose="02020603050405020304" pitchFamily="18" charset="0"/>
                        <a:cs typeface="Times New Roman" panose="02020603050405020304" pitchFamily="18" charset="0"/>
                      </a:endParaRPr>
                    </a:p>
                  </a:txBody>
                  <a:tcPr/>
                </a:tc>
                <a:tc hMerge="1">
                  <a:txBody>
                    <a:bodyPr/>
                    <a:lstStyle/>
                    <a:p>
                      <a:endParaRPr lang="zh-TW" altLang="en-US"/>
                    </a:p>
                  </a:txBody>
                  <a:tcPr/>
                </a:tc>
                <a:tc hMerge="1">
                  <a:txBody>
                    <a:bodyPr/>
                    <a:lstStyle/>
                    <a:p>
                      <a:endParaRPr lang="zh-TW" altLang="en-US"/>
                    </a:p>
                  </a:txBody>
                  <a:tcPr/>
                </a:tc>
                <a:tc h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3606640"/>
                  </a:ext>
                </a:extLst>
              </a:tr>
              <a:tr h="247650">
                <a:tc>
                  <a:txBody>
                    <a:bodyPr/>
                    <a:lstStyle/>
                    <a:p>
                      <a:pPr algn="ctr"/>
                      <a:r>
                        <a:rPr lang="en-US" altLang="zh-TW" sz="1800" dirty="0">
                          <a:latin typeface="Times New Roman" panose="02020603050405020304" pitchFamily="18" charset="0"/>
                          <a:cs typeface="Times New Roman" panose="02020603050405020304" pitchFamily="18" charset="0"/>
                        </a:rPr>
                        <a:t>Application</a:t>
                      </a:r>
                      <a:endParaRPr lang="zh-TW" alt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zh-TW" altLang="en-US" sz="1800" dirty="0">
                          <a:latin typeface="標楷體" panose="03000509000000000000" pitchFamily="65" charset="-120"/>
                          <a:ea typeface="標楷體" panose="03000509000000000000" pitchFamily="65" charset="-120"/>
                        </a:rPr>
                        <a:t>聰泰</a:t>
                      </a:r>
                      <a:r>
                        <a:rPr lang="en-US" altLang="zh-TW" sz="18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QT</a:t>
                      </a:r>
                      <a:r>
                        <a:rPr lang="zh-TW" altLang="en-US" sz="18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 </a:t>
                      </a:r>
                      <a:r>
                        <a:rPr lang="en-US" altLang="zh-TW" sz="18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Sample Code</a:t>
                      </a:r>
                      <a:endParaRPr lang="zh-TW" altLang="en-US" sz="18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8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VLC</a:t>
                      </a:r>
                      <a:endParaRPr lang="zh-TW" altLang="en-US" sz="18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algn="ctr"/>
                      <a:endParaRPr lang="zh-TW" alt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800" b="0" i="0" u="none" strike="noStrike" cap="none" dirty="0" err="1">
                          <a:solidFill>
                            <a:schemeClr val="dk1"/>
                          </a:solidFill>
                          <a:latin typeface="Times New Roman" panose="02020603050405020304" pitchFamily="18" charset="0"/>
                          <a:ea typeface="+mn-ea"/>
                          <a:cs typeface="Times New Roman" panose="02020603050405020304" pitchFamily="18" charset="0"/>
                          <a:sym typeface="Arial"/>
                        </a:rPr>
                        <a:t>Gstreamer</a:t>
                      </a:r>
                      <a:endParaRPr lang="zh-TW" altLang="en-US" sz="18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algn="ctr"/>
                      <a:endParaRPr lang="zh-TW" alt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800" b="0" i="0" u="none" strike="noStrike" cap="none" dirty="0" err="1">
                          <a:solidFill>
                            <a:schemeClr val="dk1"/>
                          </a:solidFill>
                          <a:latin typeface="Times New Roman" panose="02020603050405020304" pitchFamily="18" charset="0"/>
                          <a:ea typeface="+mn-ea"/>
                          <a:cs typeface="Times New Roman" panose="02020603050405020304" pitchFamily="18" charset="0"/>
                          <a:sym typeface="Arial"/>
                        </a:rPr>
                        <a:t>ffplay</a:t>
                      </a:r>
                      <a:endParaRPr lang="zh-TW" altLang="en-US" sz="18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algn="ctr"/>
                      <a:endParaRPr lang="zh-TW" altLang="en-US"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zh-TW" altLang="en-US" sz="1800" dirty="0">
                          <a:latin typeface="標楷體" panose="03000509000000000000" pitchFamily="65" charset="-120"/>
                          <a:ea typeface="標楷體" panose="03000509000000000000" pitchFamily="65" charset="-120"/>
                        </a:rPr>
                        <a:t>聰泰</a:t>
                      </a:r>
                      <a:r>
                        <a:rPr lang="en-US" altLang="zh-TW" sz="18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QT</a:t>
                      </a:r>
                      <a:r>
                        <a:rPr lang="zh-TW" altLang="en-US" sz="18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 </a:t>
                      </a:r>
                      <a:r>
                        <a:rPr lang="en-US" altLang="zh-TW" sz="18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rPr>
                        <a:t>Sample Code</a:t>
                      </a:r>
                      <a:endParaRPr lang="zh-TW" altLang="en-US" sz="1800" b="0"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8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VLC</a:t>
                      </a:r>
                      <a:endParaRPr lang="zh-TW" altLang="en-US" sz="18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800" b="0" i="0" u="none" strike="noStrike" cap="none" dirty="0" err="1">
                          <a:solidFill>
                            <a:schemeClr val="dk1"/>
                          </a:solidFill>
                          <a:latin typeface="Times New Roman" panose="02020603050405020304" pitchFamily="18" charset="0"/>
                          <a:ea typeface="+mn-ea"/>
                          <a:cs typeface="Times New Roman" panose="02020603050405020304" pitchFamily="18" charset="0"/>
                          <a:sym typeface="Arial"/>
                        </a:rPr>
                        <a:t>Gstreamer</a:t>
                      </a:r>
                      <a:endParaRPr lang="zh-TW" altLang="en-US" sz="18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800" b="0" i="0" u="none" strike="noStrike" cap="none" dirty="0" err="1">
                          <a:solidFill>
                            <a:schemeClr val="dk1"/>
                          </a:solidFill>
                          <a:latin typeface="Times New Roman" panose="02020603050405020304" pitchFamily="18" charset="0"/>
                          <a:ea typeface="+mn-ea"/>
                          <a:cs typeface="Times New Roman" panose="02020603050405020304" pitchFamily="18" charset="0"/>
                          <a:sym typeface="Arial"/>
                        </a:rPr>
                        <a:t>ffplay</a:t>
                      </a:r>
                      <a:endParaRPr lang="zh-TW" altLang="en-US" sz="18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1285834"/>
                  </a:ext>
                </a:extLst>
              </a:tr>
              <a:tr h="335280">
                <a:tc>
                  <a:txBody>
                    <a:bodyPr/>
                    <a:lstStyle/>
                    <a:p>
                      <a:pPr marR="0" algn="ctr" rtl="0">
                        <a:lnSpc>
                          <a:spcPct val="100000"/>
                        </a:lnSpc>
                        <a:spcBef>
                          <a:spcPts val="0"/>
                        </a:spcBef>
                        <a:spcAft>
                          <a:spcPts val="0"/>
                        </a:spcAft>
                        <a:buClr>
                          <a:srgbClr val="000000"/>
                        </a:buClr>
                        <a:buFont typeface="Arial"/>
                      </a:pPr>
                      <a:r>
                        <a:rPr lang="zh-TW" altLang="en-US" sz="18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測試</a:t>
                      </a:r>
                      <a:endParaRPr lang="en-US" altLang="zh-TW" sz="18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R="0" algn="ctr" rtl="0">
                        <a:lnSpc>
                          <a:spcPct val="100000"/>
                        </a:lnSpc>
                        <a:spcBef>
                          <a:spcPts val="0"/>
                        </a:spcBef>
                        <a:spcAft>
                          <a:spcPts val="0"/>
                        </a:spcAft>
                        <a:buClr>
                          <a:srgbClr val="000000"/>
                        </a:buClr>
                        <a:buFont typeface="Arial"/>
                      </a:pPr>
                      <a:r>
                        <a:rPr lang="zh-TW" altLang="en-US" sz="18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條件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5">
                  <a:txBody>
                    <a:bodyPr/>
                    <a:lstStyle/>
                    <a:p>
                      <a:pPr algn="ct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4K</a:t>
                      </a:r>
                      <a:r>
                        <a:rPr lang="zh-TW" altLang="en-US"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60fps</a:t>
                      </a:r>
                      <a:r>
                        <a:rPr lang="zh-TW" altLang="en-US"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影片</a:t>
                      </a:r>
                      <a:endParaRPr lang="en-US" altLang="zh-TW"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1800" b="0" i="0" u="none" strike="noStrike" cap="none"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sym typeface="Arial"/>
                        </a:rPr>
                        <a:t>(3840 x 2160)</a:t>
                      </a:r>
                      <a:endParaRPr lang="zh-TW" altLang="en-US" sz="1800" b="0" i="0" u="none" strike="noStrike" cap="none" dirty="0">
                        <a:solidFill>
                          <a:schemeClr val="tx1"/>
                        </a:solidFill>
                        <a:highlight>
                          <a:srgbClr val="FFFF00"/>
                        </a:highlight>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a:p>
                  </a:txBody>
                  <a:tcPr/>
                </a:tc>
                <a:tc hMerge="1">
                  <a:txBody>
                    <a:bodyPr/>
                    <a:lstStyle/>
                    <a:p>
                      <a:pPr algn="ctr"/>
                      <a:endParaRPr lang="zh-TW" altLang="en-US" sz="18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18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1800" dirty="0">
                        <a:latin typeface="Times New Roman" panose="02020603050405020304" pitchFamily="18" charset="0"/>
                        <a:cs typeface="Times New Roman" panose="02020603050405020304" pitchFamily="18" charset="0"/>
                      </a:endParaRPr>
                    </a:p>
                  </a:txBody>
                  <a:tcPr/>
                </a:tc>
                <a:tc gridSpan="5">
                  <a:txBody>
                    <a:bodyPr/>
                    <a:lstStyle/>
                    <a:p>
                      <a:pPr algn="ctr"/>
                      <a:r>
                        <a:rPr lang="en-US" altLang="zh-TW"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Full HD</a:t>
                      </a:r>
                      <a:r>
                        <a:rPr lang="zh-TW" altLang="en-US"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60fps</a:t>
                      </a:r>
                      <a:r>
                        <a:rPr lang="zh-TW" altLang="en-US"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rPr>
                        <a:t> 影片</a:t>
                      </a:r>
                      <a:endParaRPr lang="en-US" altLang="zh-TW" sz="1800" dirty="0">
                        <a:highlight>
                          <a:srgbClr val="FFFF00"/>
                        </a:highlight>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1800" b="0" i="0" u="none" strike="noStrike" cap="none" dirty="0">
                          <a:solidFill>
                            <a:schemeClr val="tx1"/>
                          </a:solidFill>
                          <a:highlight>
                            <a:srgbClr val="FFFF00"/>
                          </a:highlight>
                          <a:latin typeface="Times New Roman" panose="02020603050405020304" pitchFamily="18" charset="0"/>
                          <a:ea typeface="標楷體" panose="03000509000000000000" pitchFamily="65" charset="-120"/>
                          <a:cs typeface="Times New Roman" panose="02020603050405020304" pitchFamily="18" charset="0"/>
                          <a:sym typeface="Arial"/>
                        </a:rPr>
                        <a:t>(1920 x 1080)</a:t>
                      </a:r>
                      <a:endParaRPr lang="zh-TW" altLang="en-US" sz="1800" b="0" i="0" u="none" strike="noStrike" cap="none" dirty="0">
                        <a:solidFill>
                          <a:schemeClr val="tx1"/>
                        </a:solidFill>
                        <a:highlight>
                          <a:srgbClr val="FFFF00"/>
                        </a:highlight>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a:endParaRPr lang="zh-TW" altLang="en-US" sz="1800" b="1"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a:tc>
                <a:tc hMerge="1">
                  <a:txBody>
                    <a:bodyPr/>
                    <a:lstStyle/>
                    <a:p>
                      <a:pPr algn="l"/>
                      <a:endParaRPr lang="zh-TW" altLang="en-US" sz="1800" b="1"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a:tc>
                <a:tc hMerge="1">
                  <a:txBody>
                    <a:bodyPr/>
                    <a:lstStyle/>
                    <a:p>
                      <a:pPr algn="l"/>
                      <a:endParaRPr lang="zh-TW" altLang="en-US" sz="1800" b="1"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a:tc>
                <a:tc hMerge="1">
                  <a:txBody>
                    <a:bodyPr/>
                    <a:lstStyle/>
                    <a:p>
                      <a:pPr algn="l"/>
                      <a:endParaRPr lang="zh-TW" altLang="en-US" sz="1800" b="1" i="0" u="none" strike="noStrike" cap="none" dirty="0">
                        <a:solidFill>
                          <a:schemeClr val="tx1"/>
                        </a:solidFill>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1199537836"/>
                  </a:ext>
                </a:extLst>
              </a:tr>
              <a:tr h="586740">
                <a:tc>
                  <a:txBody>
                    <a:bodyPr/>
                    <a:lstStyle/>
                    <a:p>
                      <a:pPr algn="ctr"/>
                      <a:endParaRPr lang="en-US" altLang="zh-TW" sz="1800" dirty="0">
                        <a:latin typeface="Times New Roman" panose="02020603050405020304" pitchFamily="18" charset="0"/>
                        <a:cs typeface="Times New Roman" panose="02020603050405020304" pitchFamily="18" charset="0"/>
                      </a:endParaRPr>
                    </a:p>
                    <a:p>
                      <a:pPr algn="ctr"/>
                      <a:r>
                        <a:rPr lang="en-US" altLang="zh-TW" sz="1800" dirty="0">
                          <a:latin typeface="Times New Roman" panose="02020603050405020304" pitchFamily="18" charset="0"/>
                          <a:cs typeface="Times New Roman" panose="02020603050405020304" pitchFamily="18" charset="0"/>
                        </a:rPr>
                        <a:t>RDMA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有</a:t>
                      </a:r>
                      <a:r>
                        <a:rPr lang="en-US" altLang="zh-TW" sz="16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RDMA</a:t>
                      </a:r>
                      <a:endParaRPr lang="zh-TW" altLang="en-US" sz="16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p>
                      <a:pPr algn="ctr"/>
                      <a:endParaRPr lang="zh-TW" alt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1600" dirty="0">
                          <a:latin typeface="標楷體" panose="03000509000000000000" pitchFamily="65" charset="-120"/>
                          <a:ea typeface="標楷體" panose="03000509000000000000" pitchFamily="65" charset="-120"/>
                        </a:rPr>
                        <a:t>無</a:t>
                      </a:r>
                      <a:r>
                        <a:rPr lang="en-US" altLang="zh-TW" sz="1600" dirty="0">
                          <a:latin typeface="Times New Roman" panose="02020603050405020304" pitchFamily="18" charset="0"/>
                          <a:cs typeface="Times New Roman" panose="02020603050405020304" pitchFamily="18" charset="0"/>
                        </a:rPr>
                        <a:t>RDMA</a:t>
                      </a:r>
                      <a:endParaRPr lang="zh-TW" altLang="en-US" sz="16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dirty="0">
                          <a:latin typeface="標楷體" panose="03000509000000000000" pitchFamily="65" charset="-120"/>
                          <a:ea typeface="標楷體" panose="03000509000000000000" pitchFamily="65" charset="-120"/>
                        </a:rPr>
                        <a:t>無</a:t>
                      </a:r>
                      <a:r>
                        <a:rPr lang="en-US" altLang="zh-TW" sz="1600" dirty="0">
                          <a:latin typeface="Times New Roman" panose="02020603050405020304" pitchFamily="18" charset="0"/>
                          <a:cs typeface="Times New Roman" panose="02020603050405020304" pitchFamily="18" charset="0"/>
                        </a:rPr>
                        <a:t>RDMA</a:t>
                      </a:r>
                      <a:endParaRPr lang="zh-TW" altLang="en-US" sz="1600" dirty="0">
                        <a:latin typeface="Times New Roman" panose="02020603050405020304" pitchFamily="18" charset="0"/>
                        <a:cs typeface="Times New Roman" panose="02020603050405020304" pitchFamily="18" charset="0"/>
                      </a:endParaRPr>
                    </a:p>
                    <a:p>
                      <a:pPr algn="ctr"/>
                      <a:endParaRPr lang="zh-TW" altLang="en-US" sz="16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dirty="0">
                          <a:latin typeface="標楷體" panose="03000509000000000000" pitchFamily="65" charset="-120"/>
                          <a:ea typeface="標楷體" panose="03000509000000000000" pitchFamily="65" charset="-120"/>
                        </a:rPr>
                        <a:t>無</a:t>
                      </a:r>
                      <a:r>
                        <a:rPr lang="en-US" altLang="zh-TW" sz="1600" dirty="0">
                          <a:latin typeface="Times New Roman" panose="02020603050405020304" pitchFamily="18" charset="0"/>
                          <a:cs typeface="Times New Roman" panose="02020603050405020304" pitchFamily="18" charset="0"/>
                        </a:rPr>
                        <a:t>RDMA</a:t>
                      </a:r>
                      <a:endParaRPr lang="zh-TW" altLang="en-US" sz="1600" dirty="0">
                        <a:latin typeface="Times New Roman" panose="02020603050405020304" pitchFamily="18" charset="0"/>
                        <a:cs typeface="Times New Roman" panose="02020603050405020304" pitchFamily="18" charset="0"/>
                      </a:endParaRPr>
                    </a:p>
                    <a:p>
                      <a:pPr algn="ctr"/>
                      <a:endParaRPr lang="zh-TW" altLang="en-US" sz="16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dirty="0">
                          <a:latin typeface="標楷體" panose="03000509000000000000" pitchFamily="65" charset="-120"/>
                          <a:ea typeface="標楷體" panose="03000509000000000000" pitchFamily="65" charset="-120"/>
                        </a:rPr>
                        <a:t>無</a:t>
                      </a:r>
                      <a:r>
                        <a:rPr lang="en-US" altLang="zh-TW" sz="1600" dirty="0">
                          <a:latin typeface="Times New Roman" panose="02020603050405020304" pitchFamily="18" charset="0"/>
                          <a:cs typeface="Times New Roman" panose="02020603050405020304" pitchFamily="18" charset="0"/>
                        </a:rPr>
                        <a:t>RDMA</a:t>
                      </a:r>
                      <a:endParaRPr lang="zh-TW" altLang="en-US" sz="1600" dirty="0">
                        <a:latin typeface="Times New Roman" panose="02020603050405020304" pitchFamily="18" charset="0"/>
                        <a:cs typeface="Times New Roman" panose="02020603050405020304" pitchFamily="18" charset="0"/>
                      </a:endParaRPr>
                    </a:p>
                    <a:p>
                      <a:pPr algn="ctr"/>
                      <a:endParaRPr lang="zh-TW" altLang="en-US" sz="16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有</a:t>
                      </a:r>
                      <a:r>
                        <a:rPr lang="en-US" altLang="zh-TW" sz="16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RDMA</a:t>
                      </a:r>
                      <a:endParaRPr lang="zh-TW" altLang="en-US" sz="16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TW" altLang="en-US" sz="1600" dirty="0">
                          <a:latin typeface="標楷體" panose="03000509000000000000" pitchFamily="65" charset="-120"/>
                          <a:ea typeface="標楷體" panose="03000509000000000000" pitchFamily="65" charset="-120"/>
                        </a:rPr>
                        <a:t>無</a:t>
                      </a:r>
                      <a:r>
                        <a:rPr lang="en-US" altLang="zh-TW" sz="1600" dirty="0">
                          <a:latin typeface="Times New Roman" panose="02020603050405020304" pitchFamily="18" charset="0"/>
                          <a:cs typeface="Times New Roman" panose="02020603050405020304" pitchFamily="18" charset="0"/>
                        </a:rPr>
                        <a:t>RDMA</a:t>
                      </a:r>
                      <a:endParaRPr lang="zh-TW" altLang="en-US" sz="16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dirty="0">
                          <a:latin typeface="標楷體" panose="03000509000000000000" pitchFamily="65" charset="-120"/>
                          <a:ea typeface="標楷體" panose="03000509000000000000" pitchFamily="65" charset="-120"/>
                        </a:rPr>
                        <a:t>無</a:t>
                      </a:r>
                      <a:r>
                        <a:rPr lang="en-US" altLang="zh-TW" sz="1600" dirty="0">
                          <a:latin typeface="Times New Roman" panose="02020603050405020304" pitchFamily="18" charset="0"/>
                          <a:cs typeface="Times New Roman" panose="02020603050405020304" pitchFamily="18" charset="0"/>
                        </a:rPr>
                        <a:t>RDMA</a:t>
                      </a:r>
                      <a:endParaRPr lang="zh-TW" alt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dirty="0">
                          <a:latin typeface="標楷體" panose="03000509000000000000" pitchFamily="65" charset="-120"/>
                          <a:ea typeface="標楷體" panose="03000509000000000000" pitchFamily="65" charset="-120"/>
                        </a:rPr>
                        <a:t>無</a:t>
                      </a:r>
                      <a:r>
                        <a:rPr lang="en-US" altLang="zh-TW" sz="1600" dirty="0">
                          <a:latin typeface="Times New Roman" panose="02020603050405020304" pitchFamily="18" charset="0"/>
                          <a:cs typeface="Times New Roman" panose="02020603050405020304" pitchFamily="18" charset="0"/>
                        </a:rPr>
                        <a:t>RDMA</a:t>
                      </a:r>
                      <a:endParaRPr lang="zh-TW" alt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600" dirty="0">
                          <a:latin typeface="標楷體" panose="03000509000000000000" pitchFamily="65" charset="-120"/>
                          <a:ea typeface="標楷體" panose="03000509000000000000" pitchFamily="65" charset="-120"/>
                        </a:rPr>
                        <a:t>無</a:t>
                      </a:r>
                      <a:r>
                        <a:rPr lang="en-US" altLang="zh-TW" sz="1600" dirty="0">
                          <a:latin typeface="Times New Roman" panose="02020603050405020304" pitchFamily="18" charset="0"/>
                          <a:cs typeface="Times New Roman" panose="02020603050405020304" pitchFamily="18" charset="0"/>
                        </a:rPr>
                        <a:t>RDMA</a:t>
                      </a:r>
                      <a:endParaRPr lang="zh-TW" alt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681706"/>
                  </a:ext>
                </a:extLst>
              </a:tr>
              <a:tr h="132805">
                <a:tc>
                  <a:txBody>
                    <a:bodyPr/>
                    <a:lstStyle/>
                    <a:p>
                      <a:pPr algn="ctr"/>
                      <a:r>
                        <a:rPr lang="zh-TW" altLang="en-US" sz="1800" dirty="0">
                          <a:latin typeface="標楷體" panose="03000509000000000000" pitchFamily="65" charset="-120"/>
                          <a:ea typeface="標楷體" panose="03000509000000000000" pitchFamily="65" charset="-120"/>
                        </a:rPr>
                        <a:t>延遲</a:t>
                      </a:r>
                      <a:endParaRPr lang="en-US" altLang="zh-TW" sz="1800" dirty="0">
                        <a:latin typeface="標楷體" panose="03000509000000000000" pitchFamily="65" charset="-120"/>
                        <a:ea typeface="標楷體" panose="03000509000000000000" pitchFamily="65" charset="-120"/>
                      </a:endParaRPr>
                    </a:p>
                    <a:p>
                      <a:pPr algn="ctr"/>
                      <a:r>
                        <a:rPr lang="zh-TW" altLang="en-US" sz="1800" dirty="0">
                          <a:latin typeface="標楷體" panose="03000509000000000000" pitchFamily="65" charset="-120"/>
                          <a:ea typeface="標楷體" panose="03000509000000000000" pitchFamily="65" charset="-120"/>
                        </a:rPr>
                        <a:t>時間</a:t>
                      </a:r>
                      <a:endParaRPr lang="en-US" altLang="zh-TW" sz="1800" dirty="0">
                        <a:latin typeface="標楷體" panose="03000509000000000000" pitchFamily="65" charset="-120"/>
                        <a:ea typeface="標楷體" panose="03000509000000000000" pitchFamily="65" charset="-120"/>
                      </a:endParaRPr>
                    </a:p>
                    <a:p>
                      <a:pPr algn="ct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err="1">
                          <a:latin typeface="Times New Roman" panose="02020603050405020304" pitchFamily="18" charset="0"/>
                          <a:ea typeface="標楷體" panose="03000509000000000000" pitchFamily="65" charset="-120"/>
                          <a:cs typeface="Times New Roman" panose="02020603050405020304" pitchFamily="18" charset="0"/>
                        </a:rPr>
                        <a:t>ms</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600" dirty="0"/>
                    </a:p>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p>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9753714"/>
                  </a:ext>
                </a:extLst>
              </a:tr>
            </a:tbl>
          </a:graphicData>
        </a:graphic>
      </p:graphicFrame>
      <p:sp>
        <p:nvSpPr>
          <p:cNvPr id="5" name="文字方塊 4">
            <a:extLst>
              <a:ext uri="{FF2B5EF4-FFF2-40B4-BE49-F238E27FC236}">
                <a16:creationId xmlns:a16="http://schemas.microsoft.com/office/drawing/2014/main" id="{EE54A063-E6EA-28A2-F8AF-8D1C9F738D4C}"/>
              </a:ext>
            </a:extLst>
          </p:cNvPr>
          <p:cNvSpPr txBox="1"/>
          <p:nvPr/>
        </p:nvSpPr>
        <p:spPr>
          <a:xfrm>
            <a:off x="1809464" y="4832160"/>
            <a:ext cx="1013419" cy="338554"/>
          </a:xfrm>
          <a:prstGeom prst="rect">
            <a:avLst/>
          </a:prstGeom>
          <a:noFill/>
        </p:spPr>
        <p:txBody>
          <a:bodyPr wrap="none" rtlCol="0">
            <a:spAutoFit/>
          </a:bodyPr>
          <a:lstStyle/>
          <a:p>
            <a:r>
              <a:rPr lang="en-US" altLang="zh-TW" sz="1600" dirty="0">
                <a:solidFill>
                  <a:srgbClr val="FF0000"/>
                </a:solidFill>
                <a:latin typeface="Times New Roman" panose="02020603050405020304" pitchFamily="18" charset="0"/>
                <a:cs typeface="Times New Roman" panose="02020603050405020304" pitchFamily="18" charset="0"/>
              </a:rPr>
              <a:t>100 ~ 116</a:t>
            </a:r>
            <a:endParaRPr lang="zh-TW" altLang="en-US" sz="1600" dirty="0">
              <a:solidFill>
                <a:srgbClr val="FF0000"/>
              </a:solidFill>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457AC721-73FE-6F5D-0797-5DF5780AC70D}"/>
              </a:ext>
            </a:extLst>
          </p:cNvPr>
          <p:cNvSpPr txBox="1"/>
          <p:nvPr/>
        </p:nvSpPr>
        <p:spPr>
          <a:xfrm>
            <a:off x="1008086" y="4832160"/>
            <a:ext cx="808235" cy="338554"/>
          </a:xfrm>
          <a:prstGeom prst="rect">
            <a:avLst/>
          </a:prstGeom>
          <a:noFill/>
        </p:spPr>
        <p:txBody>
          <a:bodyPr wrap="none" rtlCol="0">
            <a:spAutoFit/>
          </a:bodyPr>
          <a:lstStyle/>
          <a:p>
            <a:r>
              <a:rPr lang="en-US" altLang="zh-TW" sz="1600" dirty="0">
                <a:latin typeface="Times New Roman" panose="02020603050405020304" pitchFamily="18" charset="0"/>
                <a:cs typeface="Times New Roman" panose="02020603050405020304" pitchFamily="18" charset="0"/>
              </a:rPr>
              <a:t>50 ~ 67</a:t>
            </a:r>
            <a:endParaRPr lang="zh-TW" altLang="en-US" sz="16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09990B27-7A87-465A-5A5B-5C32749877E9}"/>
              </a:ext>
            </a:extLst>
          </p:cNvPr>
          <p:cNvSpPr txBox="1"/>
          <p:nvPr/>
        </p:nvSpPr>
        <p:spPr>
          <a:xfrm>
            <a:off x="2808846" y="4823452"/>
            <a:ext cx="808235" cy="338554"/>
          </a:xfrm>
          <a:prstGeom prst="rect">
            <a:avLst/>
          </a:prstGeom>
          <a:noFill/>
        </p:spPr>
        <p:txBody>
          <a:bodyPr wrap="none" rtlCol="0">
            <a:spAutoFit/>
          </a:bodyPr>
          <a:lstStyle/>
          <a:p>
            <a:r>
              <a:rPr lang="en-US" altLang="zh-TW" sz="1600" dirty="0">
                <a:solidFill>
                  <a:srgbClr val="FF0000"/>
                </a:solidFill>
                <a:latin typeface="Times New Roman" panose="02020603050405020304" pitchFamily="18" charset="0"/>
                <a:cs typeface="Times New Roman" panose="02020603050405020304" pitchFamily="18" charset="0"/>
              </a:rPr>
              <a:t>66 ~ 83</a:t>
            </a:r>
            <a:endParaRPr lang="zh-TW" altLang="en-US" sz="1600" dirty="0">
              <a:solidFill>
                <a:srgbClr val="FF0000"/>
              </a:solidFill>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84261873-C71C-13FC-7362-99AFB9AE2D21}"/>
              </a:ext>
            </a:extLst>
          </p:cNvPr>
          <p:cNvSpPr txBox="1"/>
          <p:nvPr/>
        </p:nvSpPr>
        <p:spPr>
          <a:xfrm>
            <a:off x="3661817" y="4829443"/>
            <a:ext cx="910827" cy="338554"/>
          </a:xfrm>
          <a:prstGeom prst="rect">
            <a:avLst/>
          </a:prstGeom>
          <a:noFill/>
        </p:spPr>
        <p:txBody>
          <a:bodyPr wrap="none" rtlCol="0">
            <a:spAutoFit/>
          </a:bodyPr>
          <a:lstStyle/>
          <a:p>
            <a:r>
              <a:rPr lang="en-US" altLang="zh-TW" sz="1600" dirty="0">
                <a:latin typeface="Times New Roman" panose="02020603050405020304" pitchFamily="18" charset="0"/>
                <a:cs typeface="Times New Roman" panose="02020603050405020304" pitchFamily="18" charset="0"/>
              </a:rPr>
              <a:t>83 ~ 100</a:t>
            </a:r>
            <a:endParaRPr lang="zh-TW" altLang="en-US" sz="1600"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E446D11-79E2-932D-B374-C20E39B16059}"/>
              </a:ext>
            </a:extLst>
          </p:cNvPr>
          <p:cNvSpPr txBox="1"/>
          <p:nvPr/>
        </p:nvSpPr>
        <p:spPr>
          <a:xfrm>
            <a:off x="4512035" y="4820735"/>
            <a:ext cx="1013419" cy="338554"/>
          </a:xfrm>
          <a:prstGeom prst="rect">
            <a:avLst/>
          </a:prstGeom>
          <a:noFill/>
        </p:spPr>
        <p:txBody>
          <a:bodyPr wrap="none" rtlCol="0">
            <a:spAutoFit/>
          </a:bodyPr>
          <a:lstStyle/>
          <a:p>
            <a:r>
              <a:rPr lang="en-US" altLang="zh-TW" sz="1600" dirty="0">
                <a:latin typeface="Times New Roman" panose="02020603050405020304" pitchFamily="18" charset="0"/>
                <a:cs typeface="Times New Roman" panose="02020603050405020304" pitchFamily="18" charset="0"/>
              </a:rPr>
              <a:t>100 ~ 117</a:t>
            </a:r>
            <a:endParaRPr lang="zh-TW" altLang="en-US" sz="16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F8F109F3-EFC2-CCAF-A2F3-219814AEC190}"/>
              </a:ext>
            </a:extLst>
          </p:cNvPr>
          <p:cNvSpPr txBox="1"/>
          <p:nvPr/>
        </p:nvSpPr>
        <p:spPr>
          <a:xfrm>
            <a:off x="5489667" y="5123795"/>
            <a:ext cx="808235" cy="338554"/>
          </a:xfrm>
          <a:prstGeom prst="rect">
            <a:avLst/>
          </a:prstGeom>
          <a:noFill/>
        </p:spPr>
        <p:txBody>
          <a:bodyPr wrap="none" rtlCol="0">
            <a:spAutoFit/>
          </a:bodyPr>
          <a:lstStyle/>
          <a:p>
            <a:r>
              <a:rPr lang="en-US" altLang="zh-TW" sz="1600" dirty="0">
                <a:solidFill>
                  <a:srgbClr val="FF0000"/>
                </a:solidFill>
                <a:latin typeface="Times New Roman" panose="02020603050405020304" pitchFamily="18" charset="0"/>
                <a:cs typeface="Times New Roman" panose="02020603050405020304" pitchFamily="18" charset="0"/>
              </a:rPr>
              <a:t>17 ~ 33</a:t>
            </a:r>
            <a:endParaRPr lang="zh-TW" altLang="en-US" sz="1600" dirty="0">
              <a:solidFill>
                <a:srgbClr val="FF0000"/>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99D860C2-2092-E8AF-B285-3E3E56C022C8}"/>
              </a:ext>
            </a:extLst>
          </p:cNvPr>
          <p:cNvSpPr txBox="1"/>
          <p:nvPr/>
        </p:nvSpPr>
        <p:spPr>
          <a:xfrm>
            <a:off x="6368876" y="4814743"/>
            <a:ext cx="910827" cy="338554"/>
          </a:xfrm>
          <a:prstGeom prst="rect">
            <a:avLst/>
          </a:prstGeom>
          <a:noFill/>
        </p:spPr>
        <p:txBody>
          <a:bodyPr wrap="none" rtlCol="0">
            <a:spAutoFit/>
          </a:bodyPr>
          <a:lstStyle/>
          <a:p>
            <a:r>
              <a:rPr lang="en-US" altLang="zh-TW" sz="1600" dirty="0">
                <a:latin typeface="Times New Roman" panose="02020603050405020304" pitchFamily="18" charset="0"/>
                <a:cs typeface="Times New Roman" panose="02020603050405020304" pitchFamily="18" charset="0"/>
              </a:rPr>
              <a:t>83 ~ 100</a:t>
            </a:r>
            <a:endParaRPr lang="zh-TW" altLang="en-US" sz="16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5D35905A-8423-08E1-7510-225B113A534A}"/>
              </a:ext>
            </a:extLst>
          </p:cNvPr>
          <p:cNvSpPr txBox="1"/>
          <p:nvPr/>
        </p:nvSpPr>
        <p:spPr>
          <a:xfrm>
            <a:off x="7350677" y="4829443"/>
            <a:ext cx="808235" cy="338554"/>
          </a:xfrm>
          <a:prstGeom prst="rect">
            <a:avLst/>
          </a:prstGeom>
          <a:noFill/>
        </p:spPr>
        <p:txBody>
          <a:bodyPr wrap="none" rtlCol="0">
            <a:spAutoFit/>
          </a:bodyPr>
          <a:lstStyle/>
          <a:p>
            <a:r>
              <a:rPr lang="en-US" altLang="zh-TW" sz="1600" dirty="0">
                <a:latin typeface="Times New Roman" panose="02020603050405020304" pitchFamily="18" charset="0"/>
                <a:cs typeface="Times New Roman" panose="02020603050405020304" pitchFamily="18" charset="0"/>
              </a:rPr>
              <a:t>33 ~ 50</a:t>
            </a:r>
            <a:endParaRPr lang="zh-TW" altLang="en-US" sz="1600" dirty="0">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D4AE5E85-727D-EEC1-E9C9-0499F1F285AA}"/>
              </a:ext>
            </a:extLst>
          </p:cNvPr>
          <p:cNvSpPr txBox="1"/>
          <p:nvPr/>
        </p:nvSpPr>
        <p:spPr>
          <a:xfrm>
            <a:off x="8237101" y="4836144"/>
            <a:ext cx="808235" cy="338554"/>
          </a:xfrm>
          <a:prstGeom prst="rect">
            <a:avLst/>
          </a:prstGeom>
          <a:noFill/>
        </p:spPr>
        <p:txBody>
          <a:bodyPr wrap="none" rtlCol="0">
            <a:spAutoFit/>
          </a:bodyPr>
          <a:lstStyle/>
          <a:p>
            <a:r>
              <a:rPr lang="en-US" altLang="zh-TW" sz="1600" dirty="0">
                <a:latin typeface="Times New Roman" panose="02020603050405020304" pitchFamily="18" charset="0"/>
                <a:cs typeface="Times New Roman" panose="02020603050405020304" pitchFamily="18" charset="0"/>
              </a:rPr>
              <a:t>67 ~ 84</a:t>
            </a:r>
            <a:endParaRPr lang="zh-TW" altLang="en-US" sz="1600"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6DD360AA-34BD-19B8-DF5B-7EDEB11F267D}"/>
              </a:ext>
            </a:extLst>
          </p:cNvPr>
          <p:cNvSpPr txBox="1"/>
          <p:nvPr/>
        </p:nvSpPr>
        <p:spPr>
          <a:xfrm>
            <a:off x="9097765" y="4836144"/>
            <a:ext cx="808235" cy="338554"/>
          </a:xfrm>
          <a:prstGeom prst="rect">
            <a:avLst/>
          </a:prstGeom>
          <a:noFill/>
        </p:spPr>
        <p:txBody>
          <a:bodyPr wrap="none" rtlCol="0">
            <a:spAutoFit/>
          </a:bodyPr>
          <a:lstStyle/>
          <a:p>
            <a:r>
              <a:rPr lang="en-US" altLang="zh-TW" sz="1600" dirty="0">
                <a:latin typeface="Times New Roman" panose="02020603050405020304" pitchFamily="18" charset="0"/>
                <a:cs typeface="Times New Roman" panose="02020603050405020304" pitchFamily="18" charset="0"/>
              </a:rPr>
              <a:t>50 ~ 67</a:t>
            </a:r>
            <a:endParaRPr lang="zh-TW" altLang="en-US" sz="1600" dirty="0">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id="{77141B8C-8999-F059-C77C-1B5E69CACA3B}"/>
              </a:ext>
            </a:extLst>
          </p:cNvPr>
          <p:cNvSpPr/>
          <p:nvPr/>
        </p:nvSpPr>
        <p:spPr>
          <a:xfrm>
            <a:off x="5486043" y="2105569"/>
            <a:ext cx="4445718" cy="344396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9486AC11-09D6-6D1C-C160-D786668326D9}"/>
              </a:ext>
            </a:extLst>
          </p:cNvPr>
          <p:cNvSpPr/>
          <p:nvPr/>
        </p:nvSpPr>
        <p:spPr>
          <a:xfrm>
            <a:off x="974958" y="2109923"/>
            <a:ext cx="4456450" cy="3443968"/>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文字方塊 3">
            <a:extLst>
              <a:ext uri="{FF2B5EF4-FFF2-40B4-BE49-F238E27FC236}">
                <a16:creationId xmlns:a16="http://schemas.microsoft.com/office/drawing/2014/main" id="{79BE999D-1E70-E267-B941-8501FC12E010}"/>
              </a:ext>
            </a:extLst>
          </p:cNvPr>
          <p:cNvSpPr txBox="1"/>
          <p:nvPr/>
        </p:nvSpPr>
        <p:spPr>
          <a:xfrm>
            <a:off x="5486043" y="4497590"/>
            <a:ext cx="808235" cy="338554"/>
          </a:xfrm>
          <a:prstGeom prst="rect">
            <a:avLst/>
          </a:prstGeom>
          <a:noFill/>
        </p:spPr>
        <p:txBody>
          <a:bodyPr wrap="none" rtlCol="0">
            <a:spAutoFit/>
          </a:bodyPr>
          <a:lstStyle/>
          <a:p>
            <a:r>
              <a:rPr lang="en-US" altLang="zh-TW" sz="1600" dirty="0">
                <a:solidFill>
                  <a:srgbClr val="FF0000"/>
                </a:solidFill>
                <a:latin typeface="Times New Roman" panose="02020603050405020304" pitchFamily="18" charset="0"/>
                <a:cs typeface="Times New Roman" panose="02020603050405020304" pitchFamily="18" charset="0"/>
              </a:rPr>
              <a:t>33 ~ 50</a:t>
            </a:r>
            <a:endParaRPr lang="zh-TW" altLang="en-US" sz="1600" dirty="0">
              <a:solidFill>
                <a:srgbClr val="FF0000"/>
              </a:solidFill>
              <a:latin typeface="Times New Roman" panose="02020603050405020304" pitchFamily="18" charset="0"/>
              <a:cs typeface="Times New Roman" panose="02020603050405020304" pitchFamily="18" charset="0"/>
            </a:endParaRPr>
          </a:p>
        </p:txBody>
      </p:sp>
      <p:cxnSp>
        <p:nvCxnSpPr>
          <p:cNvPr id="17" name="直線單箭頭接點 16">
            <a:extLst>
              <a:ext uri="{FF2B5EF4-FFF2-40B4-BE49-F238E27FC236}">
                <a16:creationId xmlns:a16="http://schemas.microsoft.com/office/drawing/2014/main" id="{F9616427-A5DC-EF91-963C-0FE09D310515}"/>
              </a:ext>
            </a:extLst>
          </p:cNvPr>
          <p:cNvCxnSpPr>
            <a:cxnSpLocks/>
          </p:cNvCxnSpPr>
          <p:nvPr/>
        </p:nvCxnSpPr>
        <p:spPr>
          <a:xfrm>
            <a:off x="5871189" y="4873274"/>
            <a:ext cx="5704" cy="280023"/>
          </a:xfrm>
          <a:prstGeom prst="straightConnector1">
            <a:avLst/>
          </a:prstGeom>
          <a:ln w="38100">
            <a:solidFill>
              <a:srgbClr val="FF5353"/>
            </a:solidFill>
            <a:tailEnd type="triangle"/>
          </a:ln>
        </p:spPr>
        <p:style>
          <a:lnRef idx="1">
            <a:schemeClr val="accent1"/>
          </a:lnRef>
          <a:fillRef idx="0">
            <a:schemeClr val="accent1"/>
          </a:fillRef>
          <a:effectRef idx="0">
            <a:schemeClr val="accent1"/>
          </a:effectRef>
          <a:fontRef idx="minor">
            <a:schemeClr val="tx1"/>
          </a:fontRef>
        </p:style>
      </p:cxnSp>
      <p:sp>
        <p:nvSpPr>
          <p:cNvPr id="16" name="橢圓 15">
            <a:extLst>
              <a:ext uri="{FF2B5EF4-FFF2-40B4-BE49-F238E27FC236}">
                <a16:creationId xmlns:a16="http://schemas.microsoft.com/office/drawing/2014/main" id="{EFB31DB1-6AC3-55C7-470A-1C1594182898}"/>
              </a:ext>
            </a:extLst>
          </p:cNvPr>
          <p:cNvSpPr/>
          <p:nvPr/>
        </p:nvSpPr>
        <p:spPr>
          <a:xfrm>
            <a:off x="1868383" y="4658799"/>
            <a:ext cx="187575" cy="17935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249C259B-FFC8-E7D7-BE87-3EDBCEB526CD}"/>
              </a:ext>
            </a:extLst>
          </p:cNvPr>
          <p:cNvSpPr txBox="1"/>
          <p:nvPr/>
        </p:nvSpPr>
        <p:spPr>
          <a:xfrm>
            <a:off x="1832853" y="4589560"/>
            <a:ext cx="284052" cy="307777"/>
          </a:xfrm>
          <a:prstGeom prst="rect">
            <a:avLst/>
          </a:prstGeom>
          <a:noFill/>
        </p:spPr>
        <p:txBody>
          <a:bodyPr wrap="none" rtlCol="0">
            <a:spAutoFit/>
          </a:bodyPr>
          <a:lstStyle/>
          <a:p>
            <a:r>
              <a:rPr lang="en-US" altLang="zh-TW" dirty="0">
                <a:solidFill>
                  <a:srgbClr val="FF0000"/>
                </a:solidFill>
                <a:latin typeface="Times New Roman" panose="02020603050405020304" pitchFamily="18" charset="0"/>
                <a:cs typeface="Times New Roman" panose="02020603050405020304" pitchFamily="18" charset="0"/>
              </a:rPr>
              <a:t>1</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714B6A21-7505-47FD-D62F-ECF8D913251B}"/>
              </a:ext>
            </a:extLst>
          </p:cNvPr>
          <p:cNvSpPr txBox="1"/>
          <p:nvPr/>
        </p:nvSpPr>
        <p:spPr>
          <a:xfrm>
            <a:off x="5462075" y="4734236"/>
            <a:ext cx="274434" cy="307777"/>
          </a:xfrm>
          <a:prstGeom prst="rect">
            <a:avLst/>
          </a:prstGeom>
          <a:noFill/>
        </p:spPr>
        <p:txBody>
          <a:bodyPr wrap="none" rtlCol="0">
            <a:spAutoFit/>
          </a:bodyPr>
          <a:lstStyle/>
          <a:p>
            <a:r>
              <a:rPr lang="en-US" altLang="zh-TW" dirty="0">
                <a:solidFill>
                  <a:srgbClr val="FF0000"/>
                </a:solidFill>
                <a:latin typeface="Times New Roman" panose="02020603050405020304" pitchFamily="18" charset="0"/>
                <a:cs typeface="Times New Roman" panose="02020603050405020304" pitchFamily="18" charset="0"/>
              </a:rPr>
              <a:t>2</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20" name="橢圓 19">
            <a:extLst>
              <a:ext uri="{FF2B5EF4-FFF2-40B4-BE49-F238E27FC236}">
                <a16:creationId xmlns:a16="http://schemas.microsoft.com/office/drawing/2014/main" id="{377CE22A-E725-9FE7-BEBE-D624875270F5}"/>
              </a:ext>
            </a:extLst>
          </p:cNvPr>
          <p:cNvSpPr/>
          <p:nvPr/>
        </p:nvSpPr>
        <p:spPr>
          <a:xfrm>
            <a:off x="222068" y="5645475"/>
            <a:ext cx="187575" cy="17935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a:extLst>
              <a:ext uri="{FF2B5EF4-FFF2-40B4-BE49-F238E27FC236}">
                <a16:creationId xmlns:a16="http://schemas.microsoft.com/office/drawing/2014/main" id="{40F2B47F-2E62-7FB8-7938-C688D6FD67A1}"/>
              </a:ext>
            </a:extLst>
          </p:cNvPr>
          <p:cNvSpPr/>
          <p:nvPr/>
        </p:nvSpPr>
        <p:spPr>
          <a:xfrm>
            <a:off x="222067" y="6147155"/>
            <a:ext cx="187575" cy="17935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a:extLst>
              <a:ext uri="{FF2B5EF4-FFF2-40B4-BE49-F238E27FC236}">
                <a16:creationId xmlns:a16="http://schemas.microsoft.com/office/drawing/2014/main" id="{BD0F27C4-2455-23B1-C98E-512AA3FF65D8}"/>
              </a:ext>
            </a:extLst>
          </p:cNvPr>
          <p:cNvSpPr/>
          <p:nvPr/>
        </p:nvSpPr>
        <p:spPr>
          <a:xfrm>
            <a:off x="5499327" y="4814743"/>
            <a:ext cx="187575" cy="17935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id="{A47C0125-DEE8-416C-D246-FC9D628620D2}"/>
              </a:ext>
            </a:extLst>
          </p:cNvPr>
          <p:cNvSpPr txBox="1"/>
          <p:nvPr/>
        </p:nvSpPr>
        <p:spPr>
          <a:xfrm>
            <a:off x="180457" y="5583420"/>
            <a:ext cx="284052" cy="307777"/>
          </a:xfrm>
          <a:prstGeom prst="rect">
            <a:avLst/>
          </a:prstGeom>
          <a:noFill/>
        </p:spPr>
        <p:txBody>
          <a:bodyPr wrap="none" rtlCol="0">
            <a:spAutoFit/>
          </a:bodyPr>
          <a:lstStyle/>
          <a:p>
            <a:r>
              <a:rPr lang="en-US" altLang="zh-TW" dirty="0">
                <a:solidFill>
                  <a:srgbClr val="FF0000"/>
                </a:solidFill>
                <a:latin typeface="Times New Roman" panose="02020603050405020304" pitchFamily="18" charset="0"/>
                <a:cs typeface="Times New Roman" panose="02020603050405020304" pitchFamily="18" charset="0"/>
              </a:rPr>
              <a:t>1</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6CFEB587-D766-96D0-BF07-A1A6461219A0}"/>
              </a:ext>
            </a:extLst>
          </p:cNvPr>
          <p:cNvSpPr txBox="1"/>
          <p:nvPr/>
        </p:nvSpPr>
        <p:spPr>
          <a:xfrm>
            <a:off x="187072" y="6068774"/>
            <a:ext cx="274434" cy="307777"/>
          </a:xfrm>
          <a:prstGeom prst="rect">
            <a:avLst/>
          </a:prstGeom>
          <a:noFill/>
        </p:spPr>
        <p:txBody>
          <a:bodyPr wrap="none" rtlCol="0">
            <a:spAutoFit/>
          </a:bodyPr>
          <a:lstStyle/>
          <a:p>
            <a:r>
              <a:rPr lang="en-US" altLang="zh-TW" dirty="0">
                <a:solidFill>
                  <a:srgbClr val="FF0000"/>
                </a:solidFill>
                <a:latin typeface="Times New Roman" panose="02020603050405020304" pitchFamily="18" charset="0"/>
                <a:cs typeface="Times New Roman" panose="02020603050405020304" pitchFamily="18" charset="0"/>
              </a:rPr>
              <a:t>2</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9C66FCD5-A661-A43D-91DE-3F786400D340}"/>
              </a:ext>
            </a:extLst>
          </p:cNvPr>
          <p:cNvSpPr txBox="1"/>
          <p:nvPr/>
        </p:nvSpPr>
        <p:spPr>
          <a:xfrm>
            <a:off x="443301" y="5590617"/>
            <a:ext cx="9100568" cy="523220"/>
          </a:xfrm>
          <a:prstGeom prst="rect">
            <a:avLst/>
          </a:prstGeom>
          <a:noFill/>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VLC</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所選用的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renderer</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與</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SDK</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使用的不同，目前</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SDK</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內</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renderer</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有使用量過高的問題，進而</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導致</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影響系統整體效能</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造成延遲提高，後續版本會做修正。</a:t>
            </a:r>
            <a:endParaRPr lang="zh-TW" altLang="en-US" dirty="0"/>
          </a:p>
        </p:txBody>
      </p:sp>
      <p:sp>
        <p:nvSpPr>
          <p:cNvPr id="26" name="文字方塊 25">
            <a:extLst>
              <a:ext uri="{FF2B5EF4-FFF2-40B4-BE49-F238E27FC236}">
                <a16:creationId xmlns:a16="http://schemas.microsoft.com/office/drawing/2014/main" id="{432B2047-38BE-776B-91AB-A40B3710BA8D}"/>
              </a:ext>
            </a:extLst>
          </p:cNvPr>
          <p:cNvSpPr txBox="1"/>
          <p:nvPr/>
        </p:nvSpPr>
        <p:spPr>
          <a:xfrm>
            <a:off x="428556" y="6068774"/>
            <a:ext cx="6218369" cy="307777"/>
          </a:xfrm>
          <a:prstGeom prst="rect">
            <a:avLst/>
          </a:prstGeom>
          <a:noFill/>
        </p:spPr>
        <p:txBody>
          <a:bodyPr wrap="none" rtlCol="0">
            <a:spAutoFit/>
          </a:bodyPr>
          <a:lstStyle/>
          <a:p>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更改</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QCAP_DEVPROP_VO_BACKEND</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的參數</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[2--&gt;0]</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，延遲減少至</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17~33ms</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p>
        </p:txBody>
      </p:sp>
    </p:spTree>
    <p:extLst>
      <p:ext uri="{BB962C8B-B14F-4D97-AF65-F5344CB8AC3E}">
        <p14:creationId xmlns:p14="http://schemas.microsoft.com/office/powerpoint/2010/main" val="1234562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8077200"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Capture Card</a:t>
            </a:r>
            <a:endParaRPr lang="zh-TW" altLang="en-US" dirty="0">
              <a:latin typeface="標楷體" panose="03000509000000000000" pitchFamily="65" charset="-120"/>
              <a:ea typeface="標楷體" panose="03000509000000000000" pitchFamily="65" charset="-120"/>
            </a:endParaRPr>
          </a:p>
        </p:txBody>
      </p:sp>
      <p:sp>
        <p:nvSpPr>
          <p:cNvPr id="1048603" name="文字版面配置區 6"/>
          <p:cNvSpPr txBox="1"/>
          <p:nvPr/>
        </p:nvSpPr>
        <p:spPr>
          <a:xfrm>
            <a:off x="551189" y="981075"/>
            <a:ext cx="9124034" cy="126138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提供</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RDMA</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測試完後結果給聰泰確認數據是否合理及正確。</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是</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每次擷取有可能有遇到</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worse case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狀況</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但你們提供的測試數據是符合預期的延遲，不過無</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RDMA</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的範例確實有點高</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你們是使用另外的範例實驗嗎</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還是修改</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RDMA</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範例關掉</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RDMA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效果呢</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a:t>
            </a: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在無</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RDMA</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的範例中，我們這邊是使用另外的範例進行實驗。</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2"/>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(1)</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修改</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RDMA</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範例關掉</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RDMA”</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這種方式是你們進行測試時所使用的方式嗎</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p>
          <a:p>
            <a:pPr lvl="2"/>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(2)</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如果是的話方便提供具體修改方式及測試結果供我們進行參考和修正嗎</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 name="標題 6">
            <a:extLst>
              <a:ext uri="{FF2B5EF4-FFF2-40B4-BE49-F238E27FC236}">
                <a16:creationId xmlns:a16="http://schemas.microsoft.com/office/drawing/2014/main" id="{7C15E687-CE73-9C5A-E7D2-7319D2D1CD8F}"/>
              </a:ext>
            </a:extLst>
          </p:cNvPr>
          <p:cNvSpPr txBox="1">
            <a:spLocks/>
          </p:cNvSpPr>
          <p:nvPr/>
        </p:nvSpPr>
        <p:spPr>
          <a:xfrm>
            <a:off x="551189" y="4411164"/>
            <a:ext cx="8077200" cy="5334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3200" b="0" i="0" u="none" strike="noStrike" cap="none">
                <a:solidFill>
                  <a:schemeClr val="accent2"/>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3200" b="0" i="0" u="none" strike="noStrike" cap="none">
                <a:solidFill>
                  <a:schemeClr val="accent2"/>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3200" b="0" i="0" u="none" strike="noStrike" cap="none">
                <a:solidFill>
                  <a:schemeClr val="accent2"/>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3200" b="0" i="0" u="none" strike="noStrike" cap="none">
                <a:solidFill>
                  <a:schemeClr val="accent2"/>
                </a:solidFill>
                <a:latin typeface="Times New Roman"/>
                <a:ea typeface="Times New Roman"/>
                <a:cs typeface="Times New Roman"/>
                <a:sym typeface="Times New Roman"/>
              </a:defRPr>
            </a:lvl9pPr>
          </a:lstStyle>
          <a:p>
            <a:r>
              <a:rPr lang="zh-TW" altLang="en-US" dirty="0">
                <a:latin typeface="標楷體" panose="03000509000000000000" pitchFamily="65" charset="-120"/>
                <a:ea typeface="標楷體" panose="03000509000000000000" pitchFamily="65" charset="-120"/>
              </a:rPr>
              <a:t>下次進度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Capture Card</a:t>
            </a:r>
          </a:p>
        </p:txBody>
      </p:sp>
      <p:sp>
        <p:nvSpPr>
          <p:cNvPr id="3" name="文字版面配置區 6">
            <a:extLst>
              <a:ext uri="{FF2B5EF4-FFF2-40B4-BE49-F238E27FC236}">
                <a16:creationId xmlns:a16="http://schemas.microsoft.com/office/drawing/2014/main" id="{2C625600-57AA-9F78-622F-BD3CE6846D1B}"/>
              </a:ext>
            </a:extLst>
          </p:cNvPr>
          <p:cNvSpPr txBox="1"/>
          <p:nvPr/>
        </p:nvSpPr>
        <p:spPr>
          <a:xfrm>
            <a:off x="551189" y="4677864"/>
            <a:ext cx="9124034" cy="126138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確認聰泰測試</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RDMA</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時所使用方法，並根據提供方法進行覆測。</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219684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上次進度</a:t>
            </a:r>
            <a:r>
              <a:rPr lang="en-US" altLang="zh-TW" dirty="0"/>
              <a:t>: </a:t>
            </a:r>
            <a:r>
              <a:rPr lang="zh-TW" altLang="en-US" dirty="0">
                <a:latin typeface="標楷體" panose="03000509000000000000" pitchFamily="65" charset="-120"/>
                <a:ea typeface="標楷體" panose="03000509000000000000" pitchFamily="65" charset="-120"/>
              </a:rPr>
              <a:t>取出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image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48603" name="文字版面配置區 6"/>
          <p:cNvSpPr txBox="1"/>
          <p:nvPr/>
        </p:nvSpPr>
        <p:spPr>
          <a:xfrm>
            <a:off x="458910" y="1040963"/>
            <a:ext cx="8800212" cy="213326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pPr>
              <a:spcAft>
                <a:spcPts val="1200"/>
              </a:spcAft>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在</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Jetpack6</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版本上，對</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Orin</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公版使用</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Backup_restore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取出</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，再用</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initrd</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燒錄</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修正</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${disk}</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的參數</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燒錄結果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成功</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燒錄時間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50</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分鐘</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燒錄時間延長的原因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Jetpack6</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上使用新的壓縮方式，導致不支援從</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Backup_restore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取出的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image</a:t>
            </a:r>
          </a:p>
          <a:p>
            <a:pPr lvl="1">
              <a:lnSpc>
                <a:spcPct val="150000"/>
              </a:lnSpc>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400" dirty="0">
              <a:latin typeface="Times New Roman" panose="02020603050405020304" pitchFamily="18" charset="0"/>
              <a:ea typeface="標楷體" panose="03000509000000000000" pitchFamily="65" charset="-120"/>
              <a:cs typeface="Times New Roman" panose="02020603050405020304" pitchFamily="18" charset="0"/>
            </a:endParaRPr>
          </a:p>
          <a:p>
            <a:pPr marL="1016000" lvl="2" indent="0">
              <a:buClr>
                <a:srgbClr val="FF0000"/>
              </a:buClr>
              <a:buNone/>
            </a:pPr>
            <a:r>
              <a:rPr lang="en-US" altLang="zh-TW" sz="4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8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991961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優化燒錄時間</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48603" name="文字版面配置區 6"/>
          <p:cNvSpPr txBox="1"/>
          <p:nvPr/>
        </p:nvSpPr>
        <p:spPr>
          <a:xfrm>
            <a:off x="458910" y="1040962"/>
            <a:ext cx="8800212" cy="488788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33400" lvl="1" indent="0">
              <a:buClr>
                <a:srgbClr val="FF0000"/>
              </a:buClr>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spcBef>
                <a:spcPts val="1200"/>
              </a:spcBef>
              <a:spcAft>
                <a:spcPts val="1200"/>
              </a:spcAft>
            </a:pP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背景</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Jetpack6</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中，</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initrd</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image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支援的壓縮方式為</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zstd</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Jetpack5</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中，</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initrd</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image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支援的壓縮方式為</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tar</a:t>
            </a: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從</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backup_restore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取出的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image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為</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tar</a:t>
            </a:r>
          </a:p>
          <a:p>
            <a:pPr>
              <a:spcBef>
                <a:spcPts val="1200"/>
              </a:spcBef>
            </a:pP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修改方式</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修改燒錄腳本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Linux_for_Tegra/tools/kernel_flash/l4t_flash_from_kernel.sh</a:t>
            </a: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額外新增在</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tar</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的壓縮方式</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下載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l4t_flash_from_kernel.sh</a:t>
            </a:r>
          </a:p>
          <a:p>
            <a:pPr>
              <a:spcBef>
                <a:spcPts val="1200"/>
              </a:spcBef>
            </a:pP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實驗成果</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燒錄時間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50 min -&gt; 6 m 30 s</a:t>
            </a: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030449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大量燒綠</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Mass flash</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48603" name="文字版面配置區 6"/>
          <p:cNvSpPr txBox="1"/>
          <p:nvPr/>
        </p:nvSpPr>
        <p:spPr>
          <a:xfrm>
            <a:off x="458910" y="1040962"/>
            <a:ext cx="8800212" cy="488788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33400" lvl="1" indent="0">
              <a:buClr>
                <a:srgbClr val="FF0000"/>
              </a:buClr>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spcBef>
                <a:spcPts val="1200"/>
              </a:spcBef>
              <a:spcAft>
                <a:spcPts val="1200"/>
              </a:spcAft>
            </a:pP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Mass flash</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介紹</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Mass flash</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是</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initrd</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所支援的其中一種燒錄方式</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可以使用一台</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Host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，同時燒錄多台嵌入式裝置</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a:spcBef>
                <a:spcPts val="1200"/>
              </a:spcBef>
            </a:pP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遭遇問題</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Mass flash</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燒錄方式需要透過</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usb</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進行燒錄</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然而</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JS1100</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type c</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硬體經過修改，因此</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usb</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功能在燒錄過程會無法啟用</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a:spcBef>
                <a:spcPts val="1200"/>
              </a:spcBef>
            </a:pP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解決方法</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根據官方回應，燒錄與開機所使用的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device tree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可分開使用</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燒錄所用的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device tree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開啟</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typec@8</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，命名為</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Original-</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nv.dtb</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開機使用的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drive tree :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關閉</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typec@8</a:t>
            </a: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069949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大量燒綠</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Mass flash</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48603" name="文字版面配置區 6"/>
          <p:cNvSpPr txBox="1"/>
          <p:nvPr/>
        </p:nvSpPr>
        <p:spPr>
          <a:xfrm>
            <a:off x="458910" y="1040962"/>
            <a:ext cx="8800212" cy="52921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33400" lvl="1" indent="0">
              <a:buClr>
                <a:srgbClr val="FF0000"/>
              </a:buClr>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spcBef>
                <a:spcPts val="1200"/>
              </a:spcBef>
            </a:pP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解決方法</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指派開機與燒錄使用的</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device tree</a:t>
            </a:r>
          </a:p>
          <a:p>
            <a:pPr lvl="2">
              <a:lnSpc>
                <a:spcPct val="150000"/>
              </a:lnSpc>
              <a:spcBef>
                <a:spcPts val="500"/>
              </a:spcBef>
            </a:pP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Linux_for_Tegra</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/p3737-0000-p3701-0000.conf</a:t>
            </a:r>
          </a:p>
          <a:p>
            <a:pPr lvl="2">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修改內容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b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br>
            <a:b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br>
            <a:b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br>
            <a:b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b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其中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DTB_FILE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-&gt;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開機使用的</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dtb</a:t>
            </a:r>
            <a:b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b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TBCDTB_FILE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-&gt;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燒錄使用的</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dtb</a:t>
            </a: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a:spcBef>
                <a:spcPts val="1200"/>
              </a:spcBef>
            </a:pP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實驗結果</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成功啟用</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Mass flash</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功能，</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Host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可同時燒錄多台</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JS1100</a:t>
            </a:r>
          </a:p>
          <a:p>
            <a:pPr lvl="1">
              <a:lnSpc>
                <a:spcPct val="150000"/>
              </a:lnSpc>
              <a:spcBef>
                <a:spcPts val="500"/>
              </a:spcBef>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燒錄時間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5</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分鐘左右</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3" name="圖片 2">
            <a:extLst>
              <a:ext uri="{FF2B5EF4-FFF2-40B4-BE49-F238E27FC236}">
                <a16:creationId xmlns:a16="http://schemas.microsoft.com/office/drawing/2014/main" id="{29C9476D-8446-4EE5-9066-67EB5B08DE3E}"/>
              </a:ext>
            </a:extLst>
          </p:cNvPr>
          <p:cNvPicPr>
            <a:picLocks noChangeAspect="1"/>
          </p:cNvPicPr>
          <p:nvPr/>
        </p:nvPicPr>
        <p:blipFill>
          <a:blip r:embed="rId3"/>
          <a:stretch>
            <a:fillRect/>
          </a:stretch>
        </p:blipFill>
        <p:spPr>
          <a:xfrm>
            <a:off x="1935433" y="3105105"/>
            <a:ext cx="3715268" cy="647790"/>
          </a:xfrm>
          <a:prstGeom prst="rect">
            <a:avLst/>
          </a:prstGeom>
        </p:spPr>
      </p:pic>
    </p:spTree>
    <p:extLst>
      <p:ext uri="{BB962C8B-B14F-4D97-AF65-F5344CB8AC3E}">
        <p14:creationId xmlns:p14="http://schemas.microsoft.com/office/powerpoint/2010/main" val="4241046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8018" y="657066"/>
            <a:ext cx="7923944" cy="533400"/>
          </a:xfrm>
        </p:spPr>
        <p:txBody>
          <a:bodyPr/>
          <a:lstStyle/>
          <a:p>
            <a:r>
              <a:rPr lang="zh-TW" altLang="en-US" dirty="0">
                <a:latin typeface="標楷體" panose="03000509000000000000" pitchFamily="65" charset="-120"/>
                <a:ea typeface="標楷體" panose="03000509000000000000" pitchFamily="65" charset="-120"/>
              </a:rPr>
              <a:t>下次進度</a:t>
            </a:r>
            <a:r>
              <a:rPr lang="en-US" altLang="zh-TW" dirty="0"/>
              <a:t>: Jetpack 6 GA</a:t>
            </a:r>
            <a:endParaRPr lang="zh-TW" altLang="en-US" dirty="0">
              <a:latin typeface="標楷體" panose="03000509000000000000" pitchFamily="65" charset="-120"/>
              <a:ea typeface="標楷體" panose="03000509000000000000" pitchFamily="65" charset="-120"/>
            </a:endParaRPr>
          </a:p>
        </p:txBody>
      </p:sp>
      <p:graphicFrame>
        <p:nvGraphicFramePr>
          <p:cNvPr id="4" name="表格 3">
            <a:extLst>
              <a:ext uri="{FF2B5EF4-FFF2-40B4-BE49-F238E27FC236}">
                <a16:creationId xmlns:a16="http://schemas.microsoft.com/office/drawing/2014/main" id="{88BB20D9-FF08-ADFE-0239-2A0A725A79B8}"/>
              </a:ext>
            </a:extLst>
          </p:cNvPr>
          <p:cNvGraphicFramePr>
            <a:graphicFrameLocks noGrp="1"/>
          </p:cNvGraphicFramePr>
          <p:nvPr>
            <p:extLst>
              <p:ext uri="{D42A27DB-BD31-4B8C-83A1-F6EECF244321}">
                <p14:modId xmlns:p14="http://schemas.microsoft.com/office/powerpoint/2010/main" val="2148962975"/>
              </p:ext>
            </p:extLst>
          </p:nvPr>
        </p:nvGraphicFramePr>
        <p:xfrm>
          <a:off x="4748784" y="1"/>
          <a:ext cx="5157216" cy="6504431"/>
        </p:xfrm>
        <a:graphic>
          <a:graphicData uri="http://schemas.openxmlformats.org/drawingml/2006/table">
            <a:tbl>
              <a:tblPr firstRow="1" bandRow="1">
                <a:tableStyleId>{5C22544A-7EE6-4342-B048-85BDC9FD1C3A}</a:tableStyleId>
              </a:tblPr>
              <a:tblGrid>
                <a:gridCol w="2578608">
                  <a:extLst>
                    <a:ext uri="{9D8B030D-6E8A-4147-A177-3AD203B41FA5}">
                      <a16:colId xmlns:a16="http://schemas.microsoft.com/office/drawing/2014/main" val="1386511907"/>
                    </a:ext>
                  </a:extLst>
                </a:gridCol>
                <a:gridCol w="2578608">
                  <a:extLst>
                    <a:ext uri="{9D8B030D-6E8A-4147-A177-3AD203B41FA5}">
                      <a16:colId xmlns:a16="http://schemas.microsoft.com/office/drawing/2014/main" val="3728400076"/>
                    </a:ext>
                  </a:extLst>
                </a:gridCol>
              </a:tblGrid>
              <a:tr h="407852">
                <a:tc>
                  <a:txBody>
                    <a:bodyPr/>
                    <a:lstStyle/>
                    <a:p>
                      <a:pPr algn="ctr"/>
                      <a:r>
                        <a:rPr lang="zh-TW" altLang="en-US" dirty="0">
                          <a:latin typeface="標楷體" panose="03000509000000000000" pitchFamily="65" charset="-120"/>
                          <a:ea typeface="標楷體" panose="03000509000000000000" pitchFamily="65" charset="-120"/>
                        </a:rPr>
                        <a:t>目標</a:t>
                      </a:r>
                    </a:p>
                  </a:txBody>
                  <a:tcPr/>
                </a:tc>
                <a:tc>
                  <a:txBody>
                    <a:bodyPr/>
                    <a:lstStyle/>
                    <a:p>
                      <a:pPr algn="ctr"/>
                      <a:r>
                        <a:rPr lang="zh-TW" altLang="en-US" dirty="0">
                          <a:latin typeface="標楷體" panose="03000509000000000000" pitchFamily="65" charset="-120"/>
                          <a:ea typeface="標楷體" panose="03000509000000000000" pitchFamily="65" charset="-120"/>
                        </a:rPr>
                        <a:t>進度</a:t>
                      </a:r>
                    </a:p>
                  </a:txBody>
                  <a:tcPr/>
                </a:tc>
                <a:extLst>
                  <a:ext uri="{0D108BD9-81ED-4DB2-BD59-A6C34878D82A}">
                    <a16:rowId xmlns:a16="http://schemas.microsoft.com/office/drawing/2014/main" val="1964623179"/>
                  </a:ext>
                </a:extLst>
              </a:tr>
              <a:tr h="30345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kern="100" dirty="0">
                          <a:effectLst/>
                          <a:latin typeface="Times New Roman" panose="02020603050405020304" pitchFamily="18" charset="0"/>
                          <a:ea typeface="+mn-ea"/>
                          <a:cs typeface="Times New Roman" panose="02020603050405020304" pitchFamily="18" charset="0"/>
                        </a:rPr>
                        <a:t>Bootloader + OS</a:t>
                      </a:r>
                      <a:endParaRPr lang="zh-TW" altLang="zh-TW" sz="1400" kern="100" dirty="0">
                        <a:effectLst/>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4129786410"/>
                  </a:ext>
                </a:extLst>
              </a:tr>
              <a:tr h="94069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Storage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1. M.2 </a:t>
                      </a:r>
                      <a:r>
                        <a:rPr lang="en-US" altLang="zh-TW" sz="1400" b="0" i="0" u="none" strike="noStrike" cap="none" dirty="0" err="1">
                          <a:solidFill>
                            <a:schemeClr val="dk1"/>
                          </a:solidFill>
                          <a:effectLst/>
                          <a:latin typeface="Times New Roman" panose="02020603050405020304" pitchFamily="18" charset="0"/>
                          <a:ea typeface="+mn-ea"/>
                          <a:cs typeface="Times New Roman" panose="02020603050405020304" pitchFamily="18" charset="0"/>
                          <a:sym typeface="Arial"/>
                        </a:rPr>
                        <a:t>NVMe</a:t>
                      </a: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 drive</a:t>
                      </a:r>
                      <a:r>
                        <a:rPr lang="zh-TW" altLang="en-US" sz="1400" b="0" i="0" u="none" strike="noStrike" cap="none" dirty="0">
                          <a:solidFill>
                            <a:schemeClr val="dk1"/>
                          </a:solidFill>
                          <a:effectLst/>
                          <a:latin typeface="標楷體" panose="03000509000000000000" pitchFamily="65" charset="-120"/>
                          <a:ea typeface="標楷體" panose="03000509000000000000" pitchFamily="65" charset="-120"/>
                          <a:cs typeface="Times New Roman" panose="02020603050405020304" pitchFamily="18" charset="0"/>
                          <a:sym typeface="Arial"/>
                        </a:rPr>
                        <a:t>完成</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  </a:t>
                      </a: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image</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安裝</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2. eMMC</a:t>
                      </a:r>
                      <a:r>
                        <a:rPr lang="zh-TW" altLang="en-US" sz="1400" b="0" i="0" u="none" strike="noStrike" cap="none" dirty="0">
                          <a:solidFill>
                            <a:schemeClr val="dk1"/>
                          </a:solidFill>
                          <a:effectLst/>
                          <a:latin typeface="標楷體" panose="03000509000000000000" pitchFamily="65" charset="-120"/>
                          <a:ea typeface="標楷體" panose="03000509000000000000" pitchFamily="65" charset="-120"/>
                          <a:cs typeface="Times New Roman" panose="02020603050405020304" pitchFamily="18" charset="0"/>
                          <a:sym typeface="Arial"/>
                        </a:rPr>
                        <a:t>完成</a:t>
                      </a:r>
                      <a:r>
                        <a:rPr lang="en-US" altLang="zh-TW"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image</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安裝</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endParaRPr>
                    </a:p>
                  </a:txBody>
                  <a:tcPr/>
                </a:tc>
                <a:extLst>
                  <a:ext uri="{0D108BD9-81ED-4DB2-BD59-A6C34878D82A}">
                    <a16:rowId xmlns:a16="http://schemas.microsoft.com/office/drawing/2014/main" val="2314086582"/>
                  </a:ext>
                </a:extLst>
              </a:tr>
              <a:tr h="72828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Ethernet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1. 1G</a:t>
                      </a:r>
                      <a:r>
                        <a:rPr lang="zh-TW" altLang="en-US"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 </a:t>
                      </a: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Ethernet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完成</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2. 10G</a:t>
                      </a:r>
                      <a:r>
                        <a:rPr lang="zh-TW" altLang="en-US"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硬體問題</a:t>
                      </a:r>
                      <a:endPar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607938647"/>
                  </a:ext>
                </a:extLst>
              </a:tr>
              <a:tr h="3143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USB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4044646615"/>
                  </a:ext>
                </a:extLst>
              </a:tr>
              <a:tr h="72828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Wi-Fi &amp;</a:t>
                      </a:r>
                      <a:r>
                        <a:rPr lang="zh-TW" altLang="en-US"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 </a:t>
                      </a:r>
                      <a:endPar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Bluetooth</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林宏德</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cs typeface="Times New Roman" panose="02020603050405020304" pitchFamily="18" charset="0"/>
                        </a:rPr>
                        <a:t>P</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cs typeface="Times New Roman" panose="02020603050405020304" pitchFamily="18" charset="0"/>
                        </a:rPr>
                        <a:t>1. Wi-Fi TCP/UDP</a:t>
                      </a:r>
                      <a:r>
                        <a:rPr lang="zh-TW" altLang="en-US" dirty="0">
                          <a:latin typeface="標楷體" panose="03000509000000000000" pitchFamily="65" charset="-120"/>
                          <a:ea typeface="標楷體" panose="03000509000000000000" pitchFamily="65" charset="-120"/>
                          <a:cs typeface="Times New Roman" panose="02020603050405020304" pitchFamily="18" charset="0"/>
                        </a:rPr>
                        <a:t>完成</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傳輸測</a:t>
                      </a:r>
                      <a:r>
                        <a:rPr lang="zh-TW" altLang="en-US" dirty="0">
                          <a:latin typeface="標楷體" panose="03000509000000000000" pitchFamily="65" charset="-120"/>
                          <a:ea typeface="標楷體" panose="03000509000000000000" pitchFamily="65" charset="-120"/>
                          <a:cs typeface="Times New Roman" panose="02020603050405020304" pitchFamily="18" charset="0"/>
                        </a:rPr>
                        <a:t>試</a:t>
                      </a:r>
                      <a:endParaRPr lang="en-US" altLang="zh-TW" dirty="0">
                        <a:latin typeface="標楷體" panose="03000509000000000000" pitchFamily="65" charset="-120"/>
                        <a:ea typeface="標楷體" panose="03000509000000000000" pitchFamily="65"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cs typeface="Times New Roman" panose="02020603050405020304" pitchFamily="18" charset="0"/>
                        </a:rPr>
                        <a:t>2.</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Blu</a:t>
                      </a:r>
                      <a:r>
                        <a:rPr lang="en-US" altLang="zh-TW" sz="1400" dirty="0">
                          <a:latin typeface="Times New Roman" panose="02020603050405020304" pitchFamily="18" charset="0"/>
                          <a:cs typeface="Times New Roman" panose="02020603050405020304" pitchFamily="18" charset="0"/>
                        </a:rPr>
                        <a:t>e</a:t>
                      </a:r>
                      <a:r>
                        <a:rPr lang="en-US" altLang="zh-TW" dirty="0">
                          <a:latin typeface="Times New Roman" panose="02020603050405020304" pitchFamily="18" charset="0"/>
                          <a:cs typeface="Times New Roman" panose="02020603050405020304" pitchFamily="18" charset="0"/>
                        </a:rPr>
                        <a:t>tooth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檔案傳輸功能異常</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持續與</a:t>
                      </a: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Nvidia</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追蹤狀況</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a:t>
                      </a:r>
                    </a:p>
                  </a:txBody>
                  <a:tcPr/>
                </a:tc>
                <a:extLst>
                  <a:ext uri="{0D108BD9-81ED-4DB2-BD59-A6C34878D82A}">
                    <a16:rowId xmlns:a16="http://schemas.microsoft.com/office/drawing/2014/main" val="3486952829"/>
                  </a:ext>
                </a:extLst>
              </a:tr>
              <a:tr h="51586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Capture card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李昇鴻</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rPr>
                        <a:t>確認測試方法，並進行覆測</a:t>
                      </a: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a:t>
                      </a:r>
                    </a:p>
                  </a:txBody>
                  <a:tcPr/>
                </a:tc>
                <a:extLst>
                  <a:ext uri="{0D108BD9-81ED-4DB2-BD59-A6C34878D82A}">
                    <a16:rowId xmlns:a16="http://schemas.microsoft.com/office/drawing/2014/main" val="3694524988"/>
                  </a:ext>
                </a:extLst>
              </a:tr>
              <a:tr h="54575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TPM 2.0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李昇鴻</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1972637304"/>
                  </a:ext>
                </a:extLst>
              </a:tr>
              <a:tr h="50596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Audio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李至祥</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629969846"/>
                  </a:ext>
                </a:extLst>
              </a:tr>
              <a:tr h="49987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COM</a:t>
                      </a:r>
                      <a:r>
                        <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 </a:t>
                      </a: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Port</a:t>
                      </a:r>
                      <a:r>
                        <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陳微心</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endPar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p>
                  </a:txBody>
                  <a:tcPr/>
                </a:tc>
                <a:extLst>
                  <a:ext uri="{0D108BD9-81ED-4DB2-BD59-A6C34878D82A}">
                    <a16:rowId xmlns:a16="http://schemas.microsoft.com/office/drawing/2014/main" val="359163981"/>
                  </a:ext>
                </a:extLst>
              </a:tr>
              <a:tr h="54254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RTC</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 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林宏德</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Times New Roman" panose="02020603050405020304" pitchFamily="18" charset="0"/>
                          <a:ea typeface="+mn-ea"/>
                          <a:cs typeface="Times New Roman" panose="02020603050405020304" pitchFamily="18" charset="0"/>
                          <a:sym typeface="Arial"/>
                        </a:rPr>
                        <a:t>O</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596504915"/>
                  </a:ext>
                </a:extLst>
              </a:tr>
            </a:tbl>
          </a:graphicData>
        </a:graphic>
      </p:graphicFrame>
      <p:cxnSp>
        <p:nvCxnSpPr>
          <p:cNvPr id="7" name="直線單箭頭接點 6">
            <a:extLst>
              <a:ext uri="{FF2B5EF4-FFF2-40B4-BE49-F238E27FC236}">
                <a16:creationId xmlns:a16="http://schemas.microsoft.com/office/drawing/2014/main" id="{202C1B06-2573-A628-C341-BB16D30DF0FC}"/>
              </a:ext>
            </a:extLst>
          </p:cNvPr>
          <p:cNvCxnSpPr>
            <a:cxnSpLocks/>
          </p:cNvCxnSpPr>
          <p:nvPr/>
        </p:nvCxnSpPr>
        <p:spPr>
          <a:xfrm>
            <a:off x="5338038" y="657066"/>
            <a:ext cx="0" cy="5634006"/>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9" name="文字方塊 8">
            <a:extLst>
              <a:ext uri="{FF2B5EF4-FFF2-40B4-BE49-F238E27FC236}">
                <a16:creationId xmlns:a16="http://schemas.microsoft.com/office/drawing/2014/main" id="{2534E871-5256-D06E-A5DC-74EDD2EFEFBD}"/>
              </a:ext>
            </a:extLst>
          </p:cNvPr>
          <p:cNvSpPr txBox="1"/>
          <p:nvPr/>
        </p:nvSpPr>
        <p:spPr>
          <a:xfrm>
            <a:off x="4531387" y="3598391"/>
            <a:ext cx="870751" cy="338554"/>
          </a:xfrm>
          <a:prstGeom prst="rect">
            <a:avLst/>
          </a:prstGeom>
          <a:noFill/>
        </p:spPr>
        <p:txBody>
          <a:bodyPr wrap="none" rtlCol="0">
            <a:spAutoFit/>
          </a:bodyPr>
          <a:lstStyle/>
          <a:p>
            <a:r>
              <a:rPr lang="en-US" altLang="zh-TW" sz="1600" b="1" dirty="0">
                <a:latin typeface="Times New Roman" panose="02020603050405020304" pitchFamily="18" charset="0"/>
                <a:cs typeface="Times New Roman" panose="02020603050405020304" pitchFamily="18" charset="0"/>
              </a:rPr>
              <a:t>priority</a:t>
            </a:r>
            <a:endParaRPr lang="zh-TW" altLang="en-US" sz="1600" b="1" dirty="0">
              <a:latin typeface="Times New Roman" panose="02020603050405020304" pitchFamily="18" charset="0"/>
              <a:cs typeface="Times New Roman" panose="02020603050405020304" pitchFamily="18" charset="0"/>
            </a:endParaRPr>
          </a:p>
        </p:txBody>
      </p:sp>
      <p:sp>
        <p:nvSpPr>
          <p:cNvPr id="12" name="文字版面配置區 6">
            <a:extLst>
              <a:ext uri="{FF2B5EF4-FFF2-40B4-BE49-F238E27FC236}">
                <a16:creationId xmlns:a16="http://schemas.microsoft.com/office/drawing/2014/main" id="{15E903C2-D7A2-E707-AA22-A5BFEBFCEF2F}"/>
              </a:ext>
            </a:extLst>
          </p:cNvPr>
          <p:cNvSpPr txBox="1"/>
          <p:nvPr/>
        </p:nvSpPr>
        <p:spPr>
          <a:xfrm>
            <a:off x="551189" y="957073"/>
            <a:ext cx="8800212" cy="10619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根據計畫書中內容進行開發，以下分別為</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階段一目標和當前開發進度及優先序。</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13" name="表格 12">
            <a:extLst>
              <a:ext uri="{FF2B5EF4-FFF2-40B4-BE49-F238E27FC236}">
                <a16:creationId xmlns:a16="http://schemas.microsoft.com/office/drawing/2014/main" id="{7E5DB677-FC1E-C918-4DE8-5A29E7BE7399}"/>
              </a:ext>
            </a:extLst>
          </p:cNvPr>
          <p:cNvGraphicFramePr>
            <a:graphicFrameLocks noGrp="1"/>
          </p:cNvGraphicFramePr>
          <p:nvPr/>
        </p:nvGraphicFramePr>
        <p:xfrm>
          <a:off x="19734" y="2154134"/>
          <a:ext cx="4515690" cy="3673641"/>
        </p:xfrm>
        <a:graphic>
          <a:graphicData uri="http://schemas.openxmlformats.org/drawingml/2006/table">
            <a:tbl>
              <a:tblPr firstRow="1" bandRow="1">
                <a:tableStyleId>{5C22544A-7EE6-4342-B048-85BDC9FD1C3A}</a:tableStyleId>
              </a:tblPr>
              <a:tblGrid>
                <a:gridCol w="1505230">
                  <a:extLst>
                    <a:ext uri="{9D8B030D-6E8A-4147-A177-3AD203B41FA5}">
                      <a16:colId xmlns:a16="http://schemas.microsoft.com/office/drawing/2014/main" val="2214116554"/>
                    </a:ext>
                  </a:extLst>
                </a:gridCol>
                <a:gridCol w="1505230">
                  <a:extLst>
                    <a:ext uri="{9D8B030D-6E8A-4147-A177-3AD203B41FA5}">
                      <a16:colId xmlns:a16="http://schemas.microsoft.com/office/drawing/2014/main" val="2817570406"/>
                    </a:ext>
                  </a:extLst>
                </a:gridCol>
                <a:gridCol w="1505230">
                  <a:extLst>
                    <a:ext uri="{9D8B030D-6E8A-4147-A177-3AD203B41FA5}">
                      <a16:colId xmlns:a16="http://schemas.microsoft.com/office/drawing/2014/main" val="4218185479"/>
                    </a:ext>
                  </a:extLst>
                </a:gridCol>
              </a:tblGrid>
              <a:tr h="419447">
                <a:tc>
                  <a:txBody>
                    <a:bodyPr/>
                    <a:lstStyle/>
                    <a:p>
                      <a:pPr algn="ctr"/>
                      <a:r>
                        <a:rPr lang="zh-TW" altLang="en-US" dirty="0">
                          <a:latin typeface="標楷體" panose="03000509000000000000" pitchFamily="65" charset="-120"/>
                          <a:ea typeface="標楷體" panose="03000509000000000000" pitchFamily="65" charset="-120"/>
                        </a:rPr>
                        <a:t>階段</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時間</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目標</a:t>
                      </a:r>
                    </a:p>
                  </a:txBody>
                  <a:tcPr/>
                </a:tc>
                <a:extLst>
                  <a:ext uri="{0D108BD9-81ED-4DB2-BD59-A6C34878D82A}">
                    <a16:rowId xmlns:a16="http://schemas.microsoft.com/office/drawing/2014/main" val="2544011215"/>
                  </a:ext>
                </a:extLst>
              </a:tr>
              <a:tr h="3254194">
                <a:tc>
                  <a:txBody>
                    <a:bodyPr/>
                    <a:lstStyle/>
                    <a:p>
                      <a:pPr algn="ctr"/>
                      <a:r>
                        <a:rPr lang="zh-TW" altLang="en-US" dirty="0">
                          <a:latin typeface="標楷體" panose="03000509000000000000" pitchFamily="65" charset="-120"/>
                          <a:ea typeface="標楷體" panose="03000509000000000000" pitchFamily="65" charset="-120"/>
                        </a:rPr>
                        <a:t>階段一</a:t>
                      </a:r>
                    </a:p>
                  </a:txBody>
                  <a:tcPr/>
                </a:tc>
                <a:tc>
                  <a:txBody>
                    <a:bodyPr/>
                    <a:lstStyle/>
                    <a:p>
                      <a:pPr algn="ctr"/>
                      <a:r>
                        <a:rPr lang="en-US" altLang="zh-TW" sz="1400" b="0" i="0" u="none" strike="noStrike" cap="none" dirty="0">
                          <a:solidFill>
                            <a:schemeClr val="dk1"/>
                          </a:solidFill>
                          <a:effectLst/>
                          <a:latin typeface="+mn-lt"/>
                          <a:ea typeface="+mn-ea"/>
                          <a:cs typeface="+mn-cs"/>
                          <a:sym typeface="Arial"/>
                        </a:rPr>
                        <a:t>2024/05/01</a:t>
                      </a:r>
                    </a:p>
                    <a:p>
                      <a:pPr algn="ctr"/>
                      <a:endParaRPr lang="en-US" altLang="zh-TW" sz="1400" b="0" i="0" u="none" strike="noStrike" cap="none" dirty="0">
                        <a:solidFill>
                          <a:schemeClr val="dk1"/>
                        </a:solidFill>
                        <a:effectLst/>
                        <a:latin typeface="+mn-lt"/>
                        <a:ea typeface="+mn-ea"/>
                        <a:cs typeface="+mn-cs"/>
                        <a:sym typeface="Arial"/>
                      </a:endParaRPr>
                    </a:p>
                    <a:p>
                      <a:pPr algn="ctr"/>
                      <a:r>
                        <a:rPr lang="en-US" altLang="zh-TW" sz="1400" b="0" i="0" u="none" strike="noStrike" cap="none" dirty="0">
                          <a:solidFill>
                            <a:schemeClr val="dk1"/>
                          </a:solidFill>
                          <a:effectLst/>
                          <a:latin typeface="+mn-lt"/>
                          <a:ea typeface="+mn-ea"/>
                          <a:cs typeface="+mn-cs"/>
                          <a:sym typeface="Arial"/>
                        </a:rPr>
                        <a:t>2024/05/31</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342900" lvl="0" indent="-342900">
                        <a:buFont typeface="+mj-lt"/>
                        <a:buAutoNum type="arabicPeriod"/>
                      </a:pPr>
                      <a:r>
                        <a:rPr lang="en-US" sz="1400" kern="100" dirty="0" err="1">
                          <a:effectLst/>
                          <a:latin typeface="Times New Roman" panose="02020603050405020304" pitchFamily="18" charset="0"/>
                          <a:ea typeface="新細明體" panose="02020500000000000000" pitchFamily="18" charset="-120"/>
                          <a:cs typeface="Times New Roman" panose="02020603050405020304" pitchFamily="18" charset="0"/>
                        </a:rPr>
                        <a:t>Bootloader+OS</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Storage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Wi-Fi</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&amp; Bluetooth</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Ethernet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Capture card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TPM2.0</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COM</a:t>
                      </a:r>
                      <a:r>
                        <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 </a:t>
                      </a: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Port</a:t>
                      </a:r>
                      <a:r>
                        <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endParaRP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USB</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Audio</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 功能</a:t>
                      </a:r>
                    </a:p>
                    <a:p>
                      <a:pPr marL="342900" lvl="0" indent="-342900">
                        <a:buFont typeface="+mj-lt"/>
                        <a:buAutoNum type="arabicPeriod"/>
                      </a:pPr>
                      <a:r>
                        <a:rPr lang="en-US" altLang="zh-TW"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rPr>
                        <a:t>RTC</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 功能</a:t>
                      </a:r>
                    </a:p>
                  </a:txBody>
                  <a:tcPr marL="17780" marR="17780" marT="0" marB="0"/>
                </a:tc>
                <a:extLst>
                  <a:ext uri="{0D108BD9-81ED-4DB2-BD59-A6C34878D82A}">
                    <a16:rowId xmlns:a16="http://schemas.microsoft.com/office/drawing/2014/main" val="2426695749"/>
                  </a:ext>
                </a:extLst>
              </a:tr>
            </a:tbl>
          </a:graphicData>
        </a:graphic>
      </p:graphicFrame>
      <p:sp>
        <p:nvSpPr>
          <p:cNvPr id="6" name="文字方塊 5">
            <a:extLst>
              <a:ext uri="{FF2B5EF4-FFF2-40B4-BE49-F238E27FC236}">
                <a16:creationId xmlns:a16="http://schemas.microsoft.com/office/drawing/2014/main" id="{DBA6358A-B91C-0A9C-B975-0BA97AC554AC}"/>
              </a:ext>
            </a:extLst>
          </p:cNvPr>
          <p:cNvSpPr txBox="1"/>
          <p:nvPr/>
        </p:nvSpPr>
        <p:spPr>
          <a:xfrm>
            <a:off x="4071674" y="5593602"/>
            <a:ext cx="992578" cy="738664"/>
          </a:xfrm>
          <a:prstGeom prst="rect">
            <a:avLst/>
          </a:prstGeom>
          <a:noFill/>
          <a:ln w="28575">
            <a:solidFill>
              <a:srgbClr val="FF0000"/>
            </a:solidFill>
          </a:ln>
        </p:spPr>
        <p:txBody>
          <a:bodyPr wrap="squar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完成</a:t>
            </a:r>
            <a:br>
              <a:rPr lang="en-US" altLang="zh-TW" dirty="0">
                <a:latin typeface="標楷體" panose="03000509000000000000" pitchFamily="65" charset="-120"/>
                <a:ea typeface="標楷體" panose="03000509000000000000" pitchFamily="65" charset="-120"/>
              </a:rPr>
            </a:b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未進行</a:t>
            </a:r>
            <a:endParaRPr lang="en-US" altLang="zh-TW" dirty="0">
              <a:latin typeface="標楷體" panose="03000509000000000000" pitchFamily="65" charset="-120"/>
              <a:ea typeface="標楷體" panose="03000509000000000000" pitchFamily="65" charset="-120"/>
            </a:endParaRP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進行中</a:t>
            </a:r>
            <a:endParaRPr lang="en-US" altLang="zh-TW" dirty="0">
              <a:latin typeface="標楷體" panose="03000509000000000000" pitchFamily="65" charset="-120"/>
              <a:ea typeface="標楷體" panose="03000509000000000000" pitchFamily="65" charset="-120"/>
            </a:endParaRPr>
          </a:p>
        </p:txBody>
      </p:sp>
      <p:sp>
        <p:nvSpPr>
          <p:cNvPr id="2" name="文字方塊 1">
            <a:extLst>
              <a:ext uri="{FF2B5EF4-FFF2-40B4-BE49-F238E27FC236}">
                <a16:creationId xmlns:a16="http://schemas.microsoft.com/office/drawing/2014/main" id="{4F145CB5-95AF-08DE-16F2-85EEE64553C4}"/>
              </a:ext>
            </a:extLst>
          </p:cNvPr>
          <p:cNvSpPr txBox="1"/>
          <p:nvPr/>
        </p:nvSpPr>
        <p:spPr>
          <a:xfrm rot="16200000">
            <a:off x="2133148" y="2797774"/>
            <a:ext cx="288862" cy="307777"/>
          </a:xfrm>
          <a:prstGeom prst="rect">
            <a:avLst/>
          </a:prstGeom>
          <a:noFill/>
        </p:spPr>
        <p:txBody>
          <a:bodyPr wrap="none" rtlCol="0">
            <a:spAutoFit/>
          </a:bodyPr>
          <a:lstStyle/>
          <a:p>
            <a:r>
              <a:rPr lang="en-US" altLang="zh-TW" dirty="0"/>
              <a:t>~</a:t>
            </a:r>
            <a:endParaRPr lang="zh-TW" altLang="en-US" dirty="0"/>
          </a:p>
        </p:txBody>
      </p:sp>
    </p:spTree>
    <p:extLst>
      <p:ext uri="{BB962C8B-B14F-4D97-AF65-F5344CB8AC3E}">
        <p14:creationId xmlns:p14="http://schemas.microsoft.com/office/powerpoint/2010/main" val="3238720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8018" y="657066"/>
            <a:ext cx="7923944" cy="533400"/>
          </a:xfrm>
        </p:spPr>
        <p:txBody>
          <a:bodyPr/>
          <a:lstStyle/>
          <a:p>
            <a:r>
              <a:rPr lang="zh-TW" altLang="en-US" dirty="0">
                <a:latin typeface="標楷體" panose="03000509000000000000" pitchFamily="65" charset="-120"/>
                <a:ea typeface="標楷體" panose="03000509000000000000" pitchFamily="65" charset="-120"/>
              </a:rPr>
              <a:t>下次進度</a:t>
            </a:r>
            <a:r>
              <a:rPr lang="en-US" altLang="zh-TW" dirty="0"/>
              <a:t>: Jetpack 6 GA</a:t>
            </a:r>
            <a:endParaRPr lang="zh-TW" altLang="en-US" dirty="0">
              <a:latin typeface="標楷體" panose="03000509000000000000" pitchFamily="65" charset="-120"/>
              <a:ea typeface="標楷體" panose="03000509000000000000" pitchFamily="65" charset="-120"/>
            </a:endParaRPr>
          </a:p>
        </p:txBody>
      </p:sp>
      <p:graphicFrame>
        <p:nvGraphicFramePr>
          <p:cNvPr id="4" name="表格 3">
            <a:extLst>
              <a:ext uri="{FF2B5EF4-FFF2-40B4-BE49-F238E27FC236}">
                <a16:creationId xmlns:a16="http://schemas.microsoft.com/office/drawing/2014/main" id="{88BB20D9-FF08-ADFE-0239-2A0A725A79B8}"/>
              </a:ext>
            </a:extLst>
          </p:cNvPr>
          <p:cNvGraphicFramePr>
            <a:graphicFrameLocks noGrp="1"/>
          </p:cNvGraphicFramePr>
          <p:nvPr>
            <p:extLst>
              <p:ext uri="{D42A27DB-BD31-4B8C-83A1-F6EECF244321}">
                <p14:modId xmlns:p14="http://schemas.microsoft.com/office/powerpoint/2010/main" val="1561125403"/>
              </p:ext>
            </p:extLst>
          </p:nvPr>
        </p:nvGraphicFramePr>
        <p:xfrm>
          <a:off x="4726381" y="2154134"/>
          <a:ext cx="5157216" cy="2687757"/>
        </p:xfrm>
        <a:graphic>
          <a:graphicData uri="http://schemas.openxmlformats.org/drawingml/2006/table">
            <a:tbl>
              <a:tblPr firstRow="1" bandRow="1">
                <a:tableStyleId>{5C22544A-7EE6-4342-B048-85BDC9FD1C3A}</a:tableStyleId>
              </a:tblPr>
              <a:tblGrid>
                <a:gridCol w="2578608">
                  <a:extLst>
                    <a:ext uri="{9D8B030D-6E8A-4147-A177-3AD203B41FA5}">
                      <a16:colId xmlns:a16="http://schemas.microsoft.com/office/drawing/2014/main" val="1386511907"/>
                    </a:ext>
                  </a:extLst>
                </a:gridCol>
                <a:gridCol w="2578608">
                  <a:extLst>
                    <a:ext uri="{9D8B030D-6E8A-4147-A177-3AD203B41FA5}">
                      <a16:colId xmlns:a16="http://schemas.microsoft.com/office/drawing/2014/main" val="3728400076"/>
                    </a:ext>
                  </a:extLst>
                </a:gridCol>
              </a:tblGrid>
              <a:tr h="401757">
                <a:tc>
                  <a:txBody>
                    <a:bodyPr/>
                    <a:lstStyle/>
                    <a:p>
                      <a:pPr algn="ctr"/>
                      <a:r>
                        <a:rPr lang="zh-TW" altLang="en-US" dirty="0">
                          <a:latin typeface="標楷體" panose="03000509000000000000" pitchFamily="65" charset="-120"/>
                          <a:ea typeface="標楷體" panose="03000509000000000000" pitchFamily="65" charset="-120"/>
                        </a:rPr>
                        <a:t>目標</a:t>
                      </a:r>
                    </a:p>
                  </a:txBody>
                  <a:tcPr/>
                </a:tc>
                <a:tc>
                  <a:txBody>
                    <a:bodyPr/>
                    <a:lstStyle/>
                    <a:p>
                      <a:pPr algn="ctr"/>
                      <a:r>
                        <a:rPr lang="zh-TW" altLang="en-US" dirty="0">
                          <a:latin typeface="標楷體" panose="03000509000000000000" pitchFamily="65" charset="-120"/>
                          <a:ea typeface="標楷體" panose="03000509000000000000" pitchFamily="65" charset="-120"/>
                        </a:rPr>
                        <a:t>進度</a:t>
                      </a:r>
                    </a:p>
                  </a:txBody>
                  <a:tcPr/>
                </a:tc>
                <a:extLst>
                  <a:ext uri="{0D108BD9-81ED-4DB2-BD59-A6C34878D82A}">
                    <a16:rowId xmlns:a16="http://schemas.microsoft.com/office/drawing/2014/main" val="1964623179"/>
                  </a:ext>
                </a:extLst>
              </a:tr>
              <a:tr h="30345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kern="100" dirty="0">
                          <a:effectLst/>
                          <a:latin typeface="Times New Roman" panose="02020603050405020304" pitchFamily="18" charset="0"/>
                          <a:ea typeface="+mn-ea"/>
                          <a:cs typeface="Times New Roman" panose="02020603050405020304" pitchFamily="18" charset="0"/>
                        </a:rPr>
                        <a:t>Flash</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效率改善</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a:t>
                      </a:r>
                      <a:r>
                        <a:rPr lang="zh-TW" altLang="en-US"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李至祥</a:t>
                      </a:r>
                      <a:r>
                        <a:rPr lang="en-US" altLang="zh-TW"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a:t>
                      </a:r>
                      <a:endParaRPr lang="zh-TW" altLang="zh-TW" sz="1400" kern="100" dirty="0">
                        <a:effectLst/>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p>
                  </a:txBody>
                  <a:tcPr/>
                </a:tc>
                <a:extLst>
                  <a:ext uri="{0D108BD9-81ED-4DB2-BD59-A6C34878D82A}">
                    <a16:rowId xmlns:a16="http://schemas.microsoft.com/office/drawing/2014/main" val="4129786410"/>
                  </a:ext>
                </a:extLst>
              </a:tr>
              <a:tr h="34580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自動化部屬</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林宏德</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endPar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Times New Roman" panose="02020603050405020304" pitchFamily="18" charset="0"/>
                        <a:sym typeface="Arial"/>
                      </a:endParaRPr>
                    </a:p>
                  </a:txBody>
                  <a:tcPr/>
                </a:tc>
                <a:extLst>
                  <a:ext uri="{0D108BD9-81ED-4DB2-BD59-A6C34878D82A}">
                    <a16:rowId xmlns:a16="http://schemas.microsoft.com/office/drawing/2014/main" val="2314086582"/>
                  </a:ext>
                </a:extLst>
              </a:tr>
              <a:tr h="35966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功能與穩定度測試</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a:t>
                      </a:r>
                      <a:r>
                        <a:rPr lang="zh-TW" altLang="en-US"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陳微心</a:t>
                      </a:r>
                      <a:r>
                        <a:rPr lang="en-US" altLang="zh-TW" sz="1400" b="0" i="0" u="none" strike="noStrike" kern="100" cap="none" dirty="0">
                          <a:solidFill>
                            <a:schemeClr val="dk1"/>
                          </a:solidFill>
                          <a:effectLst/>
                          <a:latin typeface="標楷體" panose="03000509000000000000" pitchFamily="65" charset="-120"/>
                          <a:ea typeface="標楷體" panose="03000509000000000000" pitchFamily="65" charset="-120"/>
                          <a:cs typeface="+mn-cs"/>
                          <a:sym typeface="Arial"/>
                        </a:rPr>
                        <a:t>)</a:t>
                      </a:r>
                      <a:endPar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607938647"/>
                  </a:ext>
                </a:extLst>
              </a:tr>
              <a:tr h="31435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測試文件整理</a:t>
                      </a:r>
                      <a:endPar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李昇鴻</a:t>
                      </a:r>
                      <a:r>
                        <a:rPr lang="en-US"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a:t>
                      </a: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整理並總結本計畫中的測試文件</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p>
                  </a:txBody>
                  <a:tcPr/>
                </a:tc>
                <a:extLst>
                  <a:ext uri="{0D108BD9-81ED-4DB2-BD59-A6C34878D82A}">
                    <a16:rowId xmlns:a16="http://schemas.microsoft.com/office/drawing/2014/main" val="4044646615"/>
                  </a:ext>
                </a:extLst>
              </a:tr>
            </a:tbl>
          </a:graphicData>
        </a:graphic>
      </p:graphicFrame>
      <p:cxnSp>
        <p:nvCxnSpPr>
          <p:cNvPr id="7" name="直線單箭頭接點 6">
            <a:extLst>
              <a:ext uri="{FF2B5EF4-FFF2-40B4-BE49-F238E27FC236}">
                <a16:creationId xmlns:a16="http://schemas.microsoft.com/office/drawing/2014/main" id="{202C1B06-2573-A628-C341-BB16D30DF0FC}"/>
              </a:ext>
            </a:extLst>
          </p:cNvPr>
          <p:cNvCxnSpPr>
            <a:cxnSpLocks/>
          </p:cNvCxnSpPr>
          <p:nvPr/>
        </p:nvCxnSpPr>
        <p:spPr>
          <a:xfrm>
            <a:off x="5269049" y="2555891"/>
            <a:ext cx="0" cy="207264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9" name="文字方塊 8">
            <a:extLst>
              <a:ext uri="{FF2B5EF4-FFF2-40B4-BE49-F238E27FC236}">
                <a16:creationId xmlns:a16="http://schemas.microsoft.com/office/drawing/2014/main" id="{2534E871-5256-D06E-A5DC-74EDD2EFEFBD}"/>
              </a:ext>
            </a:extLst>
          </p:cNvPr>
          <p:cNvSpPr txBox="1"/>
          <p:nvPr/>
        </p:nvSpPr>
        <p:spPr>
          <a:xfrm>
            <a:off x="4439429" y="3422934"/>
            <a:ext cx="870751" cy="338554"/>
          </a:xfrm>
          <a:prstGeom prst="rect">
            <a:avLst/>
          </a:prstGeom>
          <a:noFill/>
        </p:spPr>
        <p:txBody>
          <a:bodyPr wrap="none" rtlCol="0">
            <a:spAutoFit/>
          </a:bodyPr>
          <a:lstStyle/>
          <a:p>
            <a:r>
              <a:rPr lang="en-US" altLang="zh-TW" sz="1600" b="1" dirty="0">
                <a:latin typeface="Times New Roman" panose="02020603050405020304" pitchFamily="18" charset="0"/>
                <a:cs typeface="Times New Roman" panose="02020603050405020304" pitchFamily="18" charset="0"/>
              </a:rPr>
              <a:t>priority</a:t>
            </a:r>
            <a:endParaRPr lang="zh-TW" altLang="en-US" sz="1600" b="1" dirty="0">
              <a:latin typeface="Times New Roman" panose="02020603050405020304" pitchFamily="18" charset="0"/>
              <a:cs typeface="Times New Roman" panose="02020603050405020304" pitchFamily="18" charset="0"/>
            </a:endParaRPr>
          </a:p>
        </p:txBody>
      </p:sp>
      <p:sp>
        <p:nvSpPr>
          <p:cNvPr id="12" name="文字版面配置區 6">
            <a:extLst>
              <a:ext uri="{FF2B5EF4-FFF2-40B4-BE49-F238E27FC236}">
                <a16:creationId xmlns:a16="http://schemas.microsoft.com/office/drawing/2014/main" id="{15E903C2-D7A2-E707-AA22-A5BFEBFCEF2F}"/>
              </a:ext>
            </a:extLst>
          </p:cNvPr>
          <p:cNvSpPr txBox="1"/>
          <p:nvPr/>
        </p:nvSpPr>
        <p:spPr>
          <a:xfrm>
            <a:off x="551189" y="957073"/>
            <a:ext cx="8800212" cy="10619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根據計畫書中內容進行開發，以下分別為</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階段二目標和當前開發進度及優先序。</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13" name="表格 12">
            <a:extLst>
              <a:ext uri="{FF2B5EF4-FFF2-40B4-BE49-F238E27FC236}">
                <a16:creationId xmlns:a16="http://schemas.microsoft.com/office/drawing/2014/main" id="{7E5DB677-FC1E-C918-4DE8-5A29E7BE7399}"/>
              </a:ext>
            </a:extLst>
          </p:cNvPr>
          <p:cNvGraphicFramePr>
            <a:graphicFrameLocks noGrp="1"/>
          </p:cNvGraphicFramePr>
          <p:nvPr/>
        </p:nvGraphicFramePr>
        <p:xfrm>
          <a:off x="19734" y="2154134"/>
          <a:ext cx="4515690" cy="2472730"/>
        </p:xfrm>
        <a:graphic>
          <a:graphicData uri="http://schemas.openxmlformats.org/drawingml/2006/table">
            <a:tbl>
              <a:tblPr firstRow="1" bandRow="1">
                <a:tableStyleId>{5C22544A-7EE6-4342-B048-85BDC9FD1C3A}</a:tableStyleId>
              </a:tblPr>
              <a:tblGrid>
                <a:gridCol w="1505230">
                  <a:extLst>
                    <a:ext uri="{9D8B030D-6E8A-4147-A177-3AD203B41FA5}">
                      <a16:colId xmlns:a16="http://schemas.microsoft.com/office/drawing/2014/main" val="2214116554"/>
                    </a:ext>
                  </a:extLst>
                </a:gridCol>
                <a:gridCol w="1505230">
                  <a:extLst>
                    <a:ext uri="{9D8B030D-6E8A-4147-A177-3AD203B41FA5}">
                      <a16:colId xmlns:a16="http://schemas.microsoft.com/office/drawing/2014/main" val="2817570406"/>
                    </a:ext>
                  </a:extLst>
                </a:gridCol>
                <a:gridCol w="1505230">
                  <a:extLst>
                    <a:ext uri="{9D8B030D-6E8A-4147-A177-3AD203B41FA5}">
                      <a16:colId xmlns:a16="http://schemas.microsoft.com/office/drawing/2014/main" val="4218185479"/>
                    </a:ext>
                  </a:extLst>
                </a:gridCol>
              </a:tblGrid>
              <a:tr h="419447">
                <a:tc>
                  <a:txBody>
                    <a:bodyPr/>
                    <a:lstStyle/>
                    <a:p>
                      <a:pPr algn="ctr"/>
                      <a:r>
                        <a:rPr lang="zh-TW" altLang="en-US" dirty="0">
                          <a:latin typeface="標楷體" panose="03000509000000000000" pitchFamily="65" charset="-120"/>
                          <a:ea typeface="標楷體" panose="03000509000000000000" pitchFamily="65" charset="-120"/>
                        </a:rPr>
                        <a:t>階段</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時間</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目標</a:t>
                      </a:r>
                    </a:p>
                  </a:txBody>
                  <a:tcPr/>
                </a:tc>
                <a:extLst>
                  <a:ext uri="{0D108BD9-81ED-4DB2-BD59-A6C34878D82A}">
                    <a16:rowId xmlns:a16="http://schemas.microsoft.com/office/drawing/2014/main" val="2544011215"/>
                  </a:ext>
                </a:extLst>
              </a:tr>
              <a:tr h="2053283">
                <a:tc>
                  <a:txBody>
                    <a:bodyPr/>
                    <a:lstStyle/>
                    <a:p>
                      <a:pPr algn="ctr"/>
                      <a:r>
                        <a:rPr lang="zh-TW" altLang="en-US" dirty="0">
                          <a:latin typeface="標楷體" panose="03000509000000000000" pitchFamily="65" charset="-120"/>
                          <a:ea typeface="標楷體" panose="03000509000000000000" pitchFamily="65" charset="-120"/>
                        </a:rPr>
                        <a:t>階段二</a:t>
                      </a:r>
                    </a:p>
                  </a:txBody>
                  <a:tcPr/>
                </a:tc>
                <a:tc>
                  <a:txBody>
                    <a:bodyPr/>
                    <a:lstStyle/>
                    <a:p>
                      <a:pPr algn="ctr"/>
                      <a:r>
                        <a:rPr lang="en-US" altLang="zh-TW" sz="1400" b="0" i="0" u="none" strike="noStrike" cap="none" dirty="0">
                          <a:solidFill>
                            <a:schemeClr val="dk1"/>
                          </a:solidFill>
                          <a:effectLst/>
                          <a:latin typeface="+mn-lt"/>
                          <a:ea typeface="+mn-ea"/>
                          <a:cs typeface="+mn-cs"/>
                          <a:sym typeface="Arial"/>
                        </a:rPr>
                        <a:t>2024/06/01</a:t>
                      </a:r>
                    </a:p>
                    <a:p>
                      <a:pPr algn="ctr"/>
                      <a:endParaRPr lang="en-US" altLang="zh-TW" sz="1400" b="0" i="0" u="none" strike="noStrike" cap="none" dirty="0">
                        <a:solidFill>
                          <a:schemeClr val="dk1"/>
                        </a:solidFill>
                        <a:effectLst/>
                        <a:latin typeface="+mn-lt"/>
                        <a:ea typeface="+mn-ea"/>
                        <a:cs typeface="+mn-cs"/>
                        <a:sym typeface="Arial"/>
                      </a:endParaRPr>
                    </a:p>
                    <a:p>
                      <a:pPr algn="ctr"/>
                      <a:r>
                        <a:rPr lang="en-US" altLang="zh-TW" sz="1400" b="0" i="0" u="none" strike="noStrike" cap="none" dirty="0">
                          <a:solidFill>
                            <a:schemeClr val="dk1"/>
                          </a:solidFill>
                          <a:effectLst/>
                          <a:latin typeface="+mn-lt"/>
                          <a:ea typeface="+mn-ea"/>
                          <a:cs typeface="+mn-cs"/>
                          <a:sym typeface="Arial"/>
                        </a:rPr>
                        <a:t>2024/06/30</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342900" marR="0" lvl="0" indent="-342900" algn="l" rtl="0">
                        <a:lnSpc>
                          <a:spcPct val="100000"/>
                        </a:lnSpc>
                        <a:spcBef>
                          <a:spcPts val="0"/>
                        </a:spcBef>
                        <a:spcAft>
                          <a:spcPts val="0"/>
                        </a:spcAft>
                        <a:buClr>
                          <a:srgbClr val="000000"/>
                        </a:buClr>
                        <a:buFont typeface="+mj-lt"/>
                        <a:buAutoNum type="arabicPeriod"/>
                      </a:pP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Flash</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效率改善</a:t>
                      </a:r>
                    </a:p>
                    <a:p>
                      <a:pPr marL="342900" marR="0" lvl="0" indent="-342900" algn="l" rtl="0">
                        <a:lnSpc>
                          <a:spcPct val="100000"/>
                        </a:lnSpc>
                        <a:spcBef>
                          <a:spcPts val="0"/>
                        </a:spcBef>
                        <a:spcAft>
                          <a:spcPts val="0"/>
                        </a:spcAft>
                        <a:buClr>
                          <a:srgbClr val="000000"/>
                        </a:buClr>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自動化部屬</a:t>
                      </a:r>
                    </a:p>
                    <a:p>
                      <a:pPr marL="342900" marR="0" lvl="0" indent="-342900" algn="l" rtl="0">
                        <a:lnSpc>
                          <a:spcPct val="100000"/>
                        </a:lnSpc>
                        <a:spcBef>
                          <a:spcPts val="0"/>
                        </a:spcBef>
                        <a:spcAft>
                          <a:spcPts val="0"/>
                        </a:spcAft>
                        <a:buClr>
                          <a:srgbClr val="000000"/>
                        </a:buClr>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功能與穩定度測試</a:t>
                      </a:r>
                    </a:p>
                    <a:p>
                      <a:pPr marL="342900" marR="0" lvl="0" indent="-342900" algn="l" rtl="0">
                        <a:lnSpc>
                          <a:spcPct val="100000"/>
                        </a:lnSpc>
                        <a:spcBef>
                          <a:spcPts val="0"/>
                        </a:spcBef>
                        <a:spcAft>
                          <a:spcPts val="0"/>
                        </a:spcAft>
                        <a:buClr>
                          <a:srgbClr val="000000"/>
                        </a:buClr>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測試文件整理</a:t>
                      </a:r>
                    </a:p>
                  </a:txBody>
                  <a:tcPr marL="17780" marR="17780" marT="0" marB="0"/>
                </a:tc>
                <a:extLst>
                  <a:ext uri="{0D108BD9-81ED-4DB2-BD59-A6C34878D82A}">
                    <a16:rowId xmlns:a16="http://schemas.microsoft.com/office/drawing/2014/main" val="2426695749"/>
                  </a:ext>
                </a:extLst>
              </a:tr>
            </a:tbl>
          </a:graphicData>
        </a:graphic>
      </p:graphicFrame>
      <p:sp>
        <p:nvSpPr>
          <p:cNvPr id="6" name="文字方塊 5">
            <a:extLst>
              <a:ext uri="{FF2B5EF4-FFF2-40B4-BE49-F238E27FC236}">
                <a16:creationId xmlns:a16="http://schemas.microsoft.com/office/drawing/2014/main" id="{DBA6358A-B91C-0A9C-B975-0BA97AC554AC}"/>
              </a:ext>
            </a:extLst>
          </p:cNvPr>
          <p:cNvSpPr txBox="1"/>
          <p:nvPr/>
        </p:nvSpPr>
        <p:spPr>
          <a:xfrm>
            <a:off x="4726381" y="4796115"/>
            <a:ext cx="992578" cy="738664"/>
          </a:xfrm>
          <a:prstGeom prst="rect">
            <a:avLst/>
          </a:prstGeom>
          <a:noFill/>
          <a:ln w="28575">
            <a:solidFill>
              <a:srgbClr val="FF0000"/>
            </a:solidFill>
          </a:ln>
        </p:spPr>
        <p:txBody>
          <a:bodyPr wrap="squar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完成</a:t>
            </a:r>
            <a:br>
              <a:rPr lang="en-US" altLang="zh-TW" dirty="0">
                <a:latin typeface="標楷體" panose="03000509000000000000" pitchFamily="65" charset="-120"/>
                <a:ea typeface="標楷體" panose="03000509000000000000" pitchFamily="65" charset="-120"/>
              </a:rPr>
            </a:b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未進行</a:t>
            </a:r>
            <a:endParaRPr lang="en-US" altLang="zh-TW" dirty="0">
              <a:latin typeface="標楷體" panose="03000509000000000000" pitchFamily="65" charset="-120"/>
              <a:ea typeface="標楷體" panose="03000509000000000000" pitchFamily="65" charset="-120"/>
            </a:endParaRP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進行中</a:t>
            </a:r>
            <a:endParaRPr lang="en-US" altLang="zh-TW" dirty="0">
              <a:latin typeface="標楷體" panose="03000509000000000000" pitchFamily="65" charset="-120"/>
              <a:ea typeface="標楷體" panose="03000509000000000000" pitchFamily="65" charset="-120"/>
            </a:endParaRPr>
          </a:p>
        </p:txBody>
      </p:sp>
      <p:sp>
        <p:nvSpPr>
          <p:cNvPr id="2" name="文字方塊 1">
            <a:extLst>
              <a:ext uri="{FF2B5EF4-FFF2-40B4-BE49-F238E27FC236}">
                <a16:creationId xmlns:a16="http://schemas.microsoft.com/office/drawing/2014/main" id="{5E9763CE-D53D-49D2-6276-E57BE1A93248}"/>
              </a:ext>
            </a:extLst>
          </p:cNvPr>
          <p:cNvSpPr txBox="1"/>
          <p:nvPr/>
        </p:nvSpPr>
        <p:spPr>
          <a:xfrm rot="16200000">
            <a:off x="2133148" y="2797774"/>
            <a:ext cx="288862" cy="307777"/>
          </a:xfrm>
          <a:prstGeom prst="rect">
            <a:avLst/>
          </a:prstGeom>
          <a:noFill/>
        </p:spPr>
        <p:txBody>
          <a:bodyPr wrap="none" rtlCol="0">
            <a:spAutoFit/>
          </a:bodyPr>
          <a:lstStyle/>
          <a:p>
            <a:r>
              <a:rPr lang="en-US" altLang="zh-TW" dirty="0"/>
              <a:t>~</a:t>
            </a:r>
            <a:endParaRPr lang="zh-TW" altLang="en-US" dirty="0"/>
          </a:p>
        </p:txBody>
      </p:sp>
    </p:spTree>
    <p:extLst>
      <p:ext uri="{BB962C8B-B14F-4D97-AF65-F5344CB8AC3E}">
        <p14:creationId xmlns:p14="http://schemas.microsoft.com/office/powerpoint/2010/main" val="603626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8077200" cy="533400"/>
          </a:xfrm>
        </p:spPr>
        <p:txBody>
          <a:bodyPr/>
          <a:lstStyle/>
          <a:p>
            <a:r>
              <a:rPr lang="zh-TW" altLang="en-US" dirty="0">
                <a:latin typeface="標楷體" panose="03000509000000000000" pitchFamily="65" charset="-120"/>
                <a:ea typeface="標楷體" panose="03000509000000000000" pitchFamily="65" charset="-120"/>
              </a:rPr>
              <a:t>上次進度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NXP</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i.MX 8M</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Quad</a:t>
            </a:r>
            <a:br>
              <a:rPr lang="en-US" altLang="zh-TW" dirty="0">
                <a:latin typeface="標楷體" panose="03000509000000000000" pitchFamily="65" charset="-120"/>
                <a:ea typeface="標楷體" panose="03000509000000000000" pitchFamily="65" charset="-120"/>
              </a:rPr>
            </a:br>
            <a:endParaRPr lang="zh-TW" altLang="en-US" dirty="0">
              <a:latin typeface="標楷體" panose="03000509000000000000" pitchFamily="65" charset="-120"/>
              <a:ea typeface="標楷體" panose="03000509000000000000" pitchFamily="65" charset="-120"/>
            </a:endParaRPr>
          </a:p>
        </p:txBody>
      </p:sp>
      <p:sp>
        <p:nvSpPr>
          <p:cNvPr id="48" name="文字版面配置區 6">
            <a:extLst>
              <a:ext uri="{FF2B5EF4-FFF2-40B4-BE49-F238E27FC236}">
                <a16:creationId xmlns:a16="http://schemas.microsoft.com/office/drawing/2014/main" id="{1F1959B1-F8C9-4971-B627-FBFA5A1C73A8}"/>
              </a:ext>
            </a:extLst>
          </p:cNvPr>
          <p:cNvSpPr txBox="1"/>
          <p:nvPr/>
        </p:nvSpPr>
        <p:spPr>
          <a:xfrm>
            <a:off x="556465" y="1033041"/>
            <a:ext cx="8800212" cy="5319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33400" lvl="1" indent="0">
              <a:lnSpc>
                <a:spcPts val="3000"/>
              </a:lnSpc>
              <a:buNone/>
            </a:pPr>
            <a:endParaRPr lang="en-US" altLang="zh-TW" sz="16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r>
              <a:rPr lang="en-US" altLang="zh-TW" sz="1400" dirty="0">
                <a:latin typeface="Calibri" panose="020F0502020204030204" pitchFamily="34" charset="0"/>
                <a:ea typeface="PMingLiU" panose="02020500000000000000" pitchFamily="18" charset="-120"/>
                <a:cs typeface="Times New Roman" panose="02020603050405020304" pitchFamily="18" charset="0"/>
              </a:rPr>
              <a:t>	</a:t>
            </a:r>
            <a:endParaRPr lang="en-US" altLang="zh-TW" sz="1100" dirty="0"/>
          </a:p>
        </p:txBody>
      </p:sp>
      <p:sp>
        <p:nvSpPr>
          <p:cNvPr id="36" name="文字版面配置區 6">
            <a:extLst>
              <a:ext uri="{FF2B5EF4-FFF2-40B4-BE49-F238E27FC236}">
                <a16:creationId xmlns:a16="http://schemas.microsoft.com/office/drawing/2014/main" id="{9345B08E-187D-4A09-854F-D96B690B91EF}"/>
              </a:ext>
            </a:extLst>
          </p:cNvPr>
          <p:cNvSpPr txBox="1"/>
          <p:nvPr/>
        </p:nvSpPr>
        <p:spPr>
          <a:xfrm>
            <a:off x="549323" y="1126861"/>
            <a:ext cx="8800212" cy="75676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ts val="3000"/>
              </a:lnSpc>
              <a:spcBef>
                <a:spcPts val="560"/>
              </a:spcBef>
              <a:buClr>
                <a:schemeClr val="accent2"/>
              </a:buClr>
              <a:buSzPts val="2800"/>
              <a:buFont typeface="Noto Sans Symbols"/>
              <a:buChar char="❖"/>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根據計畫書中內容進行開發，以下分別為階段二目標和當前開發進度及優先序。</a:t>
            </a:r>
            <a:endParaRPr lang="en-US" altLang="zh-TW" sz="16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r>
              <a:rPr lang="en-US" altLang="zh-TW" sz="1400" dirty="0">
                <a:latin typeface="Calibri" panose="020F0502020204030204" pitchFamily="34" charset="0"/>
                <a:ea typeface="PMingLiU" panose="02020500000000000000" pitchFamily="18" charset="-120"/>
                <a:cs typeface="Times New Roman" panose="02020603050405020304" pitchFamily="18" charset="0"/>
              </a:rPr>
              <a:t>	</a:t>
            </a:r>
            <a:endParaRPr lang="en-US" altLang="zh-TW" sz="1100" dirty="0"/>
          </a:p>
        </p:txBody>
      </p:sp>
      <p:graphicFrame>
        <p:nvGraphicFramePr>
          <p:cNvPr id="3" name="表格 2">
            <a:extLst>
              <a:ext uri="{FF2B5EF4-FFF2-40B4-BE49-F238E27FC236}">
                <a16:creationId xmlns:a16="http://schemas.microsoft.com/office/drawing/2014/main" id="{D10F0EB0-41D0-B2B0-CD92-D00BC92DF8B0}"/>
              </a:ext>
            </a:extLst>
          </p:cNvPr>
          <p:cNvGraphicFramePr>
            <a:graphicFrameLocks noGrp="1"/>
          </p:cNvGraphicFramePr>
          <p:nvPr/>
        </p:nvGraphicFramePr>
        <p:xfrm>
          <a:off x="161219" y="1694153"/>
          <a:ext cx="4594158" cy="2374913"/>
        </p:xfrm>
        <a:graphic>
          <a:graphicData uri="http://schemas.openxmlformats.org/drawingml/2006/table">
            <a:tbl>
              <a:tblPr firstRow="1" bandRow="1">
                <a:tableStyleId>{5C22544A-7EE6-4342-B048-85BDC9FD1C3A}</a:tableStyleId>
              </a:tblPr>
              <a:tblGrid>
                <a:gridCol w="1531386">
                  <a:extLst>
                    <a:ext uri="{9D8B030D-6E8A-4147-A177-3AD203B41FA5}">
                      <a16:colId xmlns:a16="http://schemas.microsoft.com/office/drawing/2014/main" val="2214116554"/>
                    </a:ext>
                  </a:extLst>
                </a:gridCol>
                <a:gridCol w="1531386">
                  <a:extLst>
                    <a:ext uri="{9D8B030D-6E8A-4147-A177-3AD203B41FA5}">
                      <a16:colId xmlns:a16="http://schemas.microsoft.com/office/drawing/2014/main" val="2817570406"/>
                    </a:ext>
                  </a:extLst>
                </a:gridCol>
                <a:gridCol w="1531386">
                  <a:extLst>
                    <a:ext uri="{9D8B030D-6E8A-4147-A177-3AD203B41FA5}">
                      <a16:colId xmlns:a16="http://schemas.microsoft.com/office/drawing/2014/main" val="4218185479"/>
                    </a:ext>
                  </a:extLst>
                </a:gridCol>
              </a:tblGrid>
              <a:tr h="395480">
                <a:tc>
                  <a:txBody>
                    <a:bodyPr/>
                    <a:lstStyle/>
                    <a:p>
                      <a:pPr algn="ctr"/>
                      <a:r>
                        <a:rPr lang="zh-TW" altLang="en-US" dirty="0">
                          <a:latin typeface="標楷體" panose="03000509000000000000" pitchFamily="65" charset="-120"/>
                          <a:ea typeface="標楷體" panose="03000509000000000000" pitchFamily="65" charset="-120"/>
                        </a:rPr>
                        <a:t>階段</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時間</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目標</a:t>
                      </a:r>
                    </a:p>
                  </a:txBody>
                  <a:tcPr/>
                </a:tc>
                <a:extLst>
                  <a:ext uri="{0D108BD9-81ED-4DB2-BD59-A6C34878D82A}">
                    <a16:rowId xmlns:a16="http://schemas.microsoft.com/office/drawing/2014/main" val="2544011215"/>
                  </a:ext>
                </a:extLst>
              </a:tr>
              <a:tr h="1979433">
                <a:tc>
                  <a:txBody>
                    <a:bodyPr/>
                    <a:lstStyle/>
                    <a:p>
                      <a:pPr algn="ctr"/>
                      <a:r>
                        <a:rPr lang="zh-TW" altLang="en-US" dirty="0">
                          <a:latin typeface="標楷體" panose="03000509000000000000" pitchFamily="65" charset="-120"/>
                          <a:ea typeface="標楷體" panose="03000509000000000000" pitchFamily="65" charset="-120"/>
                        </a:rPr>
                        <a:t>階段二</a:t>
                      </a:r>
                    </a:p>
                  </a:txBody>
                  <a:tcPr/>
                </a:tc>
                <a:tc>
                  <a:txBody>
                    <a:bodyPr/>
                    <a:lstStyle/>
                    <a:p>
                      <a:pPr algn="ctr"/>
                      <a:r>
                        <a:rPr lang="en-US" altLang="zh-TW" dirty="0">
                          <a:latin typeface="Times New Roman" panose="02020603050405020304" pitchFamily="18" charset="0"/>
                          <a:cs typeface="Times New Roman" panose="02020603050405020304" pitchFamily="18" charset="0"/>
                        </a:rPr>
                        <a:t>3 month</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342900" lvl="0" indent="-342900">
                        <a:buFont typeface="+mj-lt"/>
                        <a:buAutoNum type="arabicPeriod"/>
                      </a:pPr>
                      <a:r>
                        <a:rPr lang="en-US" sz="1400" kern="100" dirty="0">
                          <a:effectLst/>
                          <a:latin typeface="Times New Roman" panose="02020603050405020304" pitchFamily="18" charset="0"/>
                          <a:ea typeface="新細明體" panose="02020500000000000000" pitchFamily="18" charset="-120"/>
                          <a:cs typeface="Times New Roman" panose="02020603050405020304" pitchFamily="18" charset="0"/>
                        </a:rPr>
                        <a:t>OS</a:t>
                      </a:r>
                      <a:r>
                        <a:rPr lang="zh-TW" altLang="en-US" sz="1400" kern="100" dirty="0">
                          <a:effectLst/>
                          <a:latin typeface="Times New Roman" panose="02020603050405020304" pitchFamily="18" charset="0"/>
                          <a:ea typeface="新細明體" panose="02020500000000000000" pitchFamily="18" charset="-120"/>
                          <a:cs typeface="Times New Roman" panose="02020603050405020304" pitchFamily="18" charset="0"/>
                        </a:rPr>
                        <a:t> </a:t>
                      </a:r>
                      <a:r>
                        <a:rPr lang="zh-TW" altLang="en-US" sz="1400" kern="100" dirty="0">
                          <a:effectLst/>
                          <a:latin typeface="標楷體" panose="03000509000000000000" pitchFamily="65" charset="-120"/>
                          <a:ea typeface="標楷體" panose="03000509000000000000" pitchFamily="65" charset="-120"/>
                          <a:cs typeface="Times New Roman" panose="02020603050405020304" pitchFamily="18" charset="0"/>
                        </a:rPr>
                        <a:t>完成</a:t>
                      </a:r>
                      <a:endParaRPr lang="zh-TW" sz="1400" kern="100" dirty="0">
                        <a:effectLst/>
                        <a:latin typeface="標楷體" panose="03000509000000000000" pitchFamily="65" charset="-120"/>
                        <a:ea typeface="標楷體" panose="03000509000000000000" pitchFamily="65" charset="-120"/>
                        <a:cs typeface="Times New Roman" panose="02020603050405020304" pitchFamily="18" charset="0"/>
                      </a:endParaRP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Security</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Sensor</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Camera</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zh-TW" altLang="en-US" sz="1400" b="0" i="0" u="none" strike="noStrike" kern="100" cap="none" dirty="0">
                          <a:solidFill>
                            <a:schemeClr val="dk1"/>
                          </a:solidFill>
                          <a:effectLst/>
                          <a:latin typeface="標楷體" panose="03000509000000000000" pitchFamily="65" charset="-120"/>
                          <a:ea typeface="標楷體" panose="03000509000000000000" pitchFamily="65" charset="-120"/>
                          <a:cs typeface="Times New Roman" panose="02020603050405020304" pitchFamily="18" charset="0"/>
                          <a:sym typeface="Arial"/>
                        </a:rPr>
                        <a:t>功耗調教</a:t>
                      </a:r>
                      <a:endPar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342900" lvl="0" indent="-342900">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問題分析與解決方案</a:t>
                      </a:r>
                    </a:p>
                    <a:p>
                      <a:pPr marL="342900" lvl="0" indent="-342900">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期末報告</a:t>
                      </a:r>
                    </a:p>
                  </a:txBody>
                  <a:tcPr marL="17780" marR="17780" marT="0" marB="0"/>
                </a:tc>
                <a:extLst>
                  <a:ext uri="{0D108BD9-81ED-4DB2-BD59-A6C34878D82A}">
                    <a16:rowId xmlns:a16="http://schemas.microsoft.com/office/drawing/2014/main" val="2426695749"/>
                  </a:ext>
                </a:extLst>
              </a:tr>
            </a:tbl>
          </a:graphicData>
        </a:graphic>
      </p:graphicFrame>
      <p:graphicFrame>
        <p:nvGraphicFramePr>
          <p:cNvPr id="11" name="表格 10">
            <a:extLst>
              <a:ext uri="{FF2B5EF4-FFF2-40B4-BE49-F238E27FC236}">
                <a16:creationId xmlns:a16="http://schemas.microsoft.com/office/drawing/2014/main" id="{B83D519A-D68F-8683-502B-25BBB19C9605}"/>
              </a:ext>
            </a:extLst>
          </p:cNvPr>
          <p:cNvGraphicFramePr>
            <a:graphicFrameLocks noGrp="1"/>
          </p:cNvGraphicFramePr>
          <p:nvPr/>
        </p:nvGraphicFramePr>
        <p:xfrm>
          <a:off x="5166692" y="1694153"/>
          <a:ext cx="4594158" cy="4463976"/>
        </p:xfrm>
        <a:graphic>
          <a:graphicData uri="http://schemas.openxmlformats.org/drawingml/2006/table">
            <a:tbl>
              <a:tblPr firstRow="1" bandRow="1">
                <a:tableStyleId>{5C22544A-7EE6-4342-B048-85BDC9FD1C3A}</a:tableStyleId>
              </a:tblPr>
              <a:tblGrid>
                <a:gridCol w="2297079">
                  <a:extLst>
                    <a:ext uri="{9D8B030D-6E8A-4147-A177-3AD203B41FA5}">
                      <a16:colId xmlns:a16="http://schemas.microsoft.com/office/drawing/2014/main" val="1386511907"/>
                    </a:ext>
                  </a:extLst>
                </a:gridCol>
                <a:gridCol w="2297079">
                  <a:extLst>
                    <a:ext uri="{9D8B030D-6E8A-4147-A177-3AD203B41FA5}">
                      <a16:colId xmlns:a16="http://schemas.microsoft.com/office/drawing/2014/main" val="3728400076"/>
                    </a:ext>
                  </a:extLst>
                </a:gridCol>
              </a:tblGrid>
              <a:tr h="533208">
                <a:tc>
                  <a:txBody>
                    <a:bodyPr/>
                    <a:lstStyle/>
                    <a:p>
                      <a:pPr algn="ctr"/>
                      <a:r>
                        <a:rPr lang="zh-TW" altLang="en-US" dirty="0">
                          <a:latin typeface="標楷體" panose="03000509000000000000" pitchFamily="65" charset="-120"/>
                          <a:ea typeface="標楷體" panose="03000509000000000000" pitchFamily="65" charset="-120"/>
                        </a:rPr>
                        <a:t>目標</a:t>
                      </a:r>
                    </a:p>
                  </a:txBody>
                  <a:tcPr/>
                </a:tc>
                <a:tc>
                  <a:txBody>
                    <a:bodyPr/>
                    <a:lstStyle/>
                    <a:p>
                      <a:pPr algn="ctr"/>
                      <a:r>
                        <a:rPr lang="zh-TW" altLang="en-US" dirty="0">
                          <a:latin typeface="標楷體" panose="03000509000000000000" pitchFamily="65" charset="-120"/>
                          <a:ea typeface="標楷體" panose="03000509000000000000" pitchFamily="65" charset="-120"/>
                        </a:rPr>
                        <a:t>進度</a:t>
                      </a:r>
                    </a:p>
                  </a:txBody>
                  <a:tcPr/>
                </a:tc>
                <a:extLst>
                  <a:ext uri="{0D108BD9-81ED-4DB2-BD59-A6C34878D82A}">
                    <a16:rowId xmlns:a16="http://schemas.microsoft.com/office/drawing/2014/main" val="1964623179"/>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Camera</a:t>
                      </a:r>
                      <a:r>
                        <a:rPr lang="zh-TW" altLang="en-US"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1487879987"/>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Magnetic Sensor</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3999597867"/>
                  </a:ext>
                </a:extLst>
              </a:tr>
              <a:tr h="533208">
                <a:tc>
                  <a:txBody>
                    <a:bodyPr/>
                    <a:lstStyle/>
                    <a:p>
                      <a:pPr algn="ct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Light Sensor</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endParaRPr lang="en-US" altLang="zh-TW" dirty="0"/>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endParaRPr>
                    </a:p>
                  </a:txBody>
                  <a:tcPr/>
                </a:tc>
                <a:extLst>
                  <a:ext uri="{0D108BD9-81ED-4DB2-BD59-A6C34878D82A}">
                    <a16:rowId xmlns:a16="http://schemas.microsoft.com/office/drawing/2014/main" val="4087252660"/>
                  </a:ext>
                </a:extLst>
              </a:tr>
              <a:tr h="533208">
                <a:tc>
                  <a:txBody>
                    <a:bodyPr/>
                    <a:lstStyle/>
                    <a:p>
                      <a:pPr algn="ct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Acceleration and Gyro Sensor </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49512433"/>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Security</a:t>
                      </a:r>
                      <a:r>
                        <a:rPr lang="zh-TW" altLang="en-US"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p>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簽名</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kernel image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並開進</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kernel)</a:t>
                      </a:r>
                    </a:p>
                  </a:txBody>
                  <a:tcPr/>
                </a:tc>
                <a:extLst>
                  <a:ext uri="{0D108BD9-81ED-4DB2-BD59-A6C34878D82A}">
                    <a16:rowId xmlns:a16="http://schemas.microsoft.com/office/drawing/2014/main" val="2314086582"/>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kern="100" dirty="0">
                          <a:effectLst/>
                          <a:latin typeface="Times New Roman" panose="02020603050405020304" pitchFamily="18" charset="0"/>
                          <a:ea typeface="+mn-ea"/>
                          <a:cs typeface="Times New Roman" panose="02020603050405020304" pitchFamily="18" charset="0"/>
                        </a:rPr>
                        <a:t>OS</a:t>
                      </a:r>
                      <a:r>
                        <a:rPr lang="zh-TW" altLang="en-US" sz="1400" kern="100" dirty="0">
                          <a:effectLst/>
                          <a:latin typeface="Times New Roman" panose="02020603050405020304" pitchFamily="18" charset="0"/>
                          <a:ea typeface="+mn-ea"/>
                          <a:cs typeface="Times New Roman" panose="02020603050405020304" pitchFamily="18" charset="0"/>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完成</a:t>
                      </a:r>
                      <a:endParaRPr lang="zh-TW"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p>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開機時間優化</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p>
                  </a:txBody>
                  <a:tcPr/>
                </a:tc>
                <a:extLst>
                  <a:ext uri="{0D108BD9-81ED-4DB2-BD59-A6C34878D82A}">
                    <a16:rowId xmlns:a16="http://schemas.microsoft.com/office/drawing/2014/main" val="977033846"/>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dirty="0">
                          <a:latin typeface="標楷體" panose="03000509000000000000" pitchFamily="65" charset="-120"/>
                          <a:ea typeface="標楷體" panose="03000509000000000000" pitchFamily="65" charset="-120"/>
                        </a:rPr>
                        <a:t>功耗調教</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標楷體" panose="03000509000000000000" pitchFamily="65" charset="-120"/>
                          <a:ea typeface="標楷體" panose="03000509000000000000" pitchFamily="65" charset="-120"/>
                        </a:rPr>
                        <a:t>△</a:t>
                      </a:r>
                      <a:endParaRPr lang="en-US" altLang="zh-TW"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70019909"/>
                  </a:ext>
                </a:extLst>
              </a:tr>
            </a:tbl>
          </a:graphicData>
        </a:graphic>
      </p:graphicFrame>
      <p:sp>
        <p:nvSpPr>
          <p:cNvPr id="12" name="文字方塊 11">
            <a:extLst>
              <a:ext uri="{FF2B5EF4-FFF2-40B4-BE49-F238E27FC236}">
                <a16:creationId xmlns:a16="http://schemas.microsoft.com/office/drawing/2014/main" id="{7BECC031-B379-DD16-07D3-4CDE50C18C2A}"/>
              </a:ext>
            </a:extLst>
          </p:cNvPr>
          <p:cNvSpPr txBox="1"/>
          <p:nvPr/>
        </p:nvSpPr>
        <p:spPr>
          <a:xfrm>
            <a:off x="4037802" y="4835798"/>
            <a:ext cx="992579" cy="738664"/>
          </a:xfrm>
          <a:prstGeom prst="rect">
            <a:avLst/>
          </a:prstGeom>
          <a:noFill/>
          <a:ln w="28575">
            <a:solidFill>
              <a:srgbClr val="FF0000"/>
            </a:solidFill>
          </a:ln>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完成</a:t>
            </a:r>
            <a:br>
              <a:rPr lang="en-US" altLang="zh-TW" dirty="0">
                <a:latin typeface="標楷體" panose="03000509000000000000" pitchFamily="65" charset="-120"/>
                <a:ea typeface="標楷體" panose="03000509000000000000" pitchFamily="65" charset="-120"/>
              </a:rPr>
            </a:b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未進行</a:t>
            </a:r>
            <a:endParaRPr lang="en-US" altLang="zh-TW" dirty="0">
              <a:latin typeface="標楷體" panose="03000509000000000000" pitchFamily="65" charset="-120"/>
              <a:ea typeface="標楷體" panose="03000509000000000000" pitchFamily="65" charset="-120"/>
            </a:endParaRP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進行中</a:t>
            </a:r>
            <a:endParaRPr lang="en-US" altLang="zh-TW" dirty="0">
              <a:latin typeface="標楷體" panose="03000509000000000000" pitchFamily="65" charset="-120"/>
              <a:ea typeface="標楷體" panose="03000509000000000000" pitchFamily="65" charset="-120"/>
            </a:endParaRPr>
          </a:p>
        </p:txBody>
      </p:sp>
      <p:cxnSp>
        <p:nvCxnSpPr>
          <p:cNvPr id="14" name="直線單箭頭接點 13">
            <a:extLst>
              <a:ext uri="{FF2B5EF4-FFF2-40B4-BE49-F238E27FC236}">
                <a16:creationId xmlns:a16="http://schemas.microsoft.com/office/drawing/2014/main" id="{955245E1-64B9-6450-D56F-4D630C5BE47B}"/>
              </a:ext>
            </a:extLst>
          </p:cNvPr>
          <p:cNvCxnSpPr>
            <a:cxnSpLocks/>
          </p:cNvCxnSpPr>
          <p:nvPr/>
        </p:nvCxnSpPr>
        <p:spPr>
          <a:xfrm>
            <a:off x="5302612" y="2341123"/>
            <a:ext cx="0" cy="3541517"/>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17" name="文字方塊 16">
            <a:extLst>
              <a:ext uri="{FF2B5EF4-FFF2-40B4-BE49-F238E27FC236}">
                <a16:creationId xmlns:a16="http://schemas.microsoft.com/office/drawing/2014/main" id="{49FB4C22-0FBA-D306-BB7C-E9D2E33DD1C5}"/>
              </a:ext>
            </a:extLst>
          </p:cNvPr>
          <p:cNvSpPr txBox="1"/>
          <p:nvPr/>
        </p:nvSpPr>
        <p:spPr>
          <a:xfrm>
            <a:off x="4393884" y="4246747"/>
            <a:ext cx="870751" cy="338554"/>
          </a:xfrm>
          <a:prstGeom prst="rect">
            <a:avLst/>
          </a:prstGeom>
          <a:noFill/>
        </p:spPr>
        <p:txBody>
          <a:bodyPr wrap="none" rtlCol="0">
            <a:spAutoFit/>
          </a:bodyPr>
          <a:lstStyle/>
          <a:p>
            <a:r>
              <a:rPr lang="en-US" altLang="zh-TW" sz="1600" b="1" dirty="0">
                <a:latin typeface="Times New Roman" panose="02020603050405020304" pitchFamily="18" charset="0"/>
                <a:cs typeface="Times New Roman" panose="02020603050405020304" pitchFamily="18" charset="0"/>
              </a:rPr>
              <a:t>priority</a:t>
            </a:r>
            <a:endParaRPr lang="zh-TW" altLang="en-US" sz="1600" b="1" dirty="0">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0AE6F45A-1283-4724-BC28-3419A1235D78}"/>
              </a:ext>
            </a:extLst>
          </p:cNvPr>
          <p:cNvSpPr/>
          <p:nvPr/>
        </p:nvSpPr>
        <p:spPr>
          <a:xfrm>
            <a:off x="5404842" y="4325188"/>
            <a:ext cx="4339937" cy="13212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70577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上次進度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NXP</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i.MX 8M</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Quad Secure Boot</a:t>
            </a:r>
            <a:endParaRPr lang="zh-TW" altLang="en-US" dirty="0">
              <a:latin typeface="標楷體" panose="03000509000000000000" pitchFamily="65" charset="-120"/>
              <a:ea typeface="標楷體" panose="03000509000000000000" pitchFamily="65" charset="-120"/>
            </a:endParaRPr>
          </a:p>
        </p:txBody>
      </p:sp>
      <p:sp>
        <p:nvSpPr>
          <p:cNvPr id="1048603" name="文字版面配置區 6"/>
          <p:cNvSpPr txBox="1"/>
          <p:nvPr/>
        </p:nvSpPr>
        <p:spPr>
          <a:xfrm>
            <a:off x="551189" y="1142999"/>
            <a:ext cx="8800212" cy="19473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產生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Secure boot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所需的密鑰</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製作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Super Root Key (SRK) </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table.bin</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和 </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fuse.bin</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開啟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u-boot</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imx_hab</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和 </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fit_fdt</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簽名的功能</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製作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Command Sequence File (CSF) </a:t>
            </a: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簽名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u-boot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並燒入</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先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fuse SRK HASH</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確認沒有 </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hab</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events</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再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close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設備</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成功開啟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secure boot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功能</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a:extLst>
              <a:ext uri="{FF2B5EF4-FFF2-40B4-BE49-F238E27FC236}">
                <a16:creationId xmlns:a16="http://schemas.microsoft.com/office/drawing/2014/main" id="{02AA1FBD-3EF1-4091-8508-3F56C8CA7F9E}"/>
              </a:ext>
            </a:extLst>
          </p:cNvPr>
          <p:cNvPicPr>
            <a:picLocks noChangeAspect="1"/>
          </p:cNvPicPr>
          <p:nvPr/>
        </p:nvPicPr>
        <p:blipFill>
          <a:blip r:embed="rId3"/>
          <a:stretch>
            <a:fillRect/>
          </a:stretch>
        </p:blipFill>
        <p:spPr>
          <a:xfrm>
            <a:off x="5814782" y="4291756"/>
            <a:ext cx="3858163" cy="1924319"/>
          </a:xfrm>
          <a:prstGeom prst="rect">
            <a:avLst/>
          </a:prstGeom>
        </p:spPr>
      </p:pic>
      <p:sp>
        <p:nvSpPr>
          <p:cNvPr id="3" name="矩形 2">
            <a:extLst>
              <a:ext uri="{FF2B5EF4-FFF2-40B4-BE49-F238E27FC236}">
                <a16:creationId xmlns:a16="http://schemas.microsoft.com/office/drawing/2014/main" id="{B1598CDE-143F-4AF9-B913-2CAB709E60C8}"/>
              </a:ext>
            </a:extLst>
          </p:cNvPr>
          <p:cNvSpPr/>
          <p:nvPr/>
        </p:nvSpPr>
        <p:spPr>
          <a:xfrm>
            <a:off x="5814782" y="5494867"/>
            <a:ext cx="1576618" cy="3132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193930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NXP</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i.MX 8M</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Quad Secure Boot</a:t>
            </a:r>
            <a:endParaRPr lang="zh-TW" altLang="en-US" dirty="0">
              <a:latin typeface="標楷體" panose="03000509000000000000" pitchFamily="65" charset="-120"/>
              <a:ea typeface="標楷體" panose="03000509000000000000" pitchFamily="65" charset="-120"/>
            </a:endParaRPr>
          </a:p>
        </p:txBody>
      </p:sp>
      <p:sp>
        <p:nvSpPr>
          <p:cNvPr id="1048603" name="文字版面配置區 6"/>
          <p:cNvSpPr txBox="1"/>
          <p:nvPr/>
        </p:nvSpPr>
        <p:spPr>
          <a:xfrm>
            <a:off x="551189" y="1142999"/>
            <a:ext cx="8800212" cy="19473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讀取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 size </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od -x -j 0x10 -N 0x4 --endian=little Image</a:t>
            </a: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填充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objcopy</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-I binary -O binary --pad-to </a:t>
            </a:r>
            <a:r>
              <a:rPr lang="en-US" altLang="zh-TW" sz="1400" dirty="0">
                <a:solidFill>
                  <a:srgbClr val="FF0000"/>
                </a:solidFill>
                <a:latin typeface="Times New Roman" panose="02020603050405020304" pitchFamily="18" charset="0"/>
                <a:ea typeface="標楷體" panose="03000509000000000000" pitchFamily="65" charset="-120"/>
                <a:cs typeface="Times New Roman" panose="02020603050405020304" pitchFamily="18" charset="0"/>
              </a:rPr>
              <a:t>0x1fc0000</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--gap-fill=0x00 </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Image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Image_pad.bin</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6200" indent="0">
              <a:buNone/>
            </a:pPr>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a:extLst>
              <a:ext uri="{FF2B5EF4-FFF2-40B4-BE49-F238E27FC236}">
                <a16:creationId xmlns:a16="http://schemas.microsoft.com/office/drawing/2014/main" id="{D120F432-6A6D-4A86-BAC4-0689A0151678}"/>
              </a:ext>
            </a:extLst>
          </p:cNvPr>
          <p:cNvPicPr>
            <a:picLocks noChangeAspect="1"/>
          </p:cNvPicPr>
          <p:nvPr/>
        </p:nvPicPr>
        <p:blipFill>
          <a:blip r:embed="rId3"/>
          <a:stretch>
            <a:fillRect/>
          </a:stretch>
        </p:blipFill>
        <p:spPr>
          <a:xfrm>
            <a:off x="-1705" y="2167465"/>
            <a:ext cx="9906000" cy="1262122"/>
          </a:xfrm>
          <a:prstGeom prst="rect">
            <a:avLst/>
          </a:prstGeom>
        </p:spPr>
      </p:pic>
      <p:sp>
        <p:nvSpPr>
          <p:cNvPr id="9" name="矩形 8">
            <a:extLst>
              <a:ext uri="{FF2B5EF4-FFF2-40B4-BE49-F238E27FC236}">
                <a16:creationId xmlns:a16="http://schemas.microsoft.com/office/drawing/2014/main" id="{A4F50F7F-ACB3-48BF-A4BE-5A4CE38C39D1}"/>
              </a:ext>
            </a:extLst>
          </p:cNvPr>
          <p:cNvSpPr/>
          <p:nvPr/>
        </p:nvSpPr>
        <p:spPr>
          <a:xfrm>
            <a:off x="956733" y="2806993"/>
            <a:ext cx="728134" cy="1817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97975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NXP</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i.MX 8M</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Quad Secure Boot</a:t>
            </a:r>
            <a:endParaRPr lang="zh-TW" altLang="en-US" dirty="0">
              <a:latin typeface="標楷體" panose="03000509000000000000" pitchFamily="65" charset="-120"/>
              <a:ea typeface="標楷體" panose="03000509000000000000" pitchFamily="65" charset="-120"/>
            </a:endParaRPr>
          </a:p>
        </p:txBody>
      </p:sp>
      <p:sp>
        <p:nvSpPr>
          <p:cNvPr id="1048603" name="文字版面配置區 6"/>
          <p:cNvSpPr txBox="1"/>
          <p:nvPr/>
        </p:nvSpPr>
        <p:spPr>
          <a:xfrm>
            <a:off x="551189" y="1142999"/>
            <a:ext cx="8800212" cy="19473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修改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向量表腳本</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腳本範例在 </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a:t>
            </a:r>
            <a:r>
              <a:rPr lang="en-US" altLang="zh-TW" sz="1400" dirty="0" err="1">
                <a:latin typeface="Times New Roman" panose="02020603050405020304" pitchFamily="18" charset="0"/>
                <a:ea typeface="Tahoma" panose="020B0604030504040204" pitchFamily="34" charset="0"/>
                <a:cs typeface="Times New Roman" panose="02020603050405020304" pitchFamily="18" charset="0"/>
              </a:rPr>
              <a:t>tmp</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/work/imx8mqevk-poky-linux/u-boot-</a:t>
            </a:r>
            <a:r>
              <a:rPr lang="en-US" altLang="zh-TW" sz="1400" dirty="0" err="1">
                <a:latin typeface="Times New Roman" panose="02020603050405020304" pitchFamily="18" charset="0"/>
                <a:ea typeface="Tahoma" panose="020B0604030504040204" pitchFamily="34" charset="0"/>
                <a:cs typeface="Times New Roman" panose="02020603050405020304" pitchFamily="18" charset="0"/>
              </a:rPr>
              <a:t>imx</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/2023.04-r0/git/doc/</a:t>
            </a:r>
            <a:r>
              <a:rPr lang="en-US" altLang="zh-TW" sz="1400" dirty="0" err="1">
                <a:latin typeface="Times New Roman" panose="02020603050405020304" pitchFamily="18" charset="0"/>
                <a:ea typeface="Tahoma" panose="020B0604030504040204" pitchFamily="34" charset="0"/>
                <a:cs typeface="Times New Roman" panose="02020603050405020304" pitchFamily="18" charset="0"/>
              </a:rPr>
              <a:t>imx</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/habv4/</a:t>
            </a:r>
            <a:r>
              <a:rPr lang="en-US" altLang="zh-TW" sz="1400" dirty="0" err="1">
                <a:latin typeface="Times New Roman" panose="02020603050405020304" pitchFamily="18" charset="0"/>
                <a:ea typeface="Tahoma" panose="020B0604030504040204" pitchFamily="34" charset="0"/>
                <a:cs typeface="Times New Roman" panose="02020603050405020304" pitchFamily="18" charset="0"/>
              </a:rPr>
              <a:t>script_examples</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可以找到</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Load Address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可以在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u-boot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中得到</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u-boot=&gt;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printenv</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loadaddr</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Self Pointer = Load Address + IVT offset = 0x40400000 + 0x1FC0000 = 0x423C0000</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CSF Pointer = Self Pointer + CSF offset = 0x423C0000 + 0x20</a:t>
            </a:r>
          </a:p>
          <a:p>
            <a:pPr marL="533400" lvl="1" indent="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2" name="圖片 1">
            <a:extLst>
              <a:ext uri="{FF2B5EF4-FFF2-40B4-BE49-F238E27FC236}">
                <a16:creationId xmlns:a16="http://schemas.microsoft.com/office/drawing/2014/main" id="{87A698DC-400A-4C23-AD5C-DA1D030634A9}"/>
              </a:ext>
            </a:extLst>
          </p:cNvPr>
          <p:cNvPicPr>
            <a:picLocks noChangeAspect="1"/>
          </p:cNvPicPr>
          <p:nvPr/>
        </p:nvPicPr>
        <p:blipFill>
          <a:blip r:embed="rId3"/>
          <a:stretch>
            <a:fillRect/>
          </a:stretch>
        </p:blipFill>
        <p:spPr>
          <a:xfrm>
            <a:off x="1952206" y="3518956"/>
            <a:ext cx="6001588" cy="2686425"/>
          </a:xfrm>
          <a:prstGeom prst="rect">
            <a:avLst/>
          </a:prstGeom>
        </p:spPr>
      </p:pic>
      <p:sp>
        <p:nvSpPr>
          <p:cNvPr id="3" name="矩形 2">
            <a:extLst>
              <a:ext uri="{FF2B5EF4-FFF2-40B4-BE49-F238E27FC236}">
                <a16:creationId xmlns:a16="http://schemas.microsoft.com/office/drawing/2014/main" id="{6895B2B7-314B-497E-8C34-6064B9436E64}"/>
              </a:ext>
            </a:extLst>
          </p:cNvPr>
          <p:cNvSpPr/>
          <p:nvPr/>
        </p:nvSpPr>
        <p:spPr>
          <a:xfrm>
            <a:off x="2186105" y="4509558"/>
            <a:ext cx="5545667" cy="186267"/>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AD6EEFDA-4152-4E04-B49A-AD7DAFF981E0}"/>
              </a:ext>
            </a:extLst>
          </p:cNvPr>
          <p:cNvSpPr/>
          <p:nvPr/>
        </p:nvSpPr>
        <p:spPr>
          <a:xfrm>
            <a:off x="2180166" y="5246159"/>
            <a:ext cx="5545667" cy="186267"/>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30C1E09A-BED2-43CA-B315-106156AB3EFD}"/>
              </a:ext>
            </a:extLst>
          </p:cNvPr>
          <p:cNvSpPr/>
          <p:nvPr/>
        </p:nvSpPr>
        <p:spPr>
          <a:xfrm>
            <a:off x="2180166" y="5432426"/>
            <a:ext cx="5545667" cy="186267"/>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21543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NXP</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i.MX 8M</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Quad Secure Boot</a:t>
            </a:r>
            <a:endParaRPr lang="zh-TW" altLang="en-US" dirty="0">
              <a:latin typeface="標楷體" panose="03000509000000000000" pitchFamily="65" charset="-120"/>
              <a:ea typeface="標楷體" panose="03000509000000000000" pitchFamily="65" charset="-120"/>
            </a:endParaRPr>
          </a:p>
        </p:txBody>
      </p:sp>
      <p:sp>
        <p:nvSpPr>
          <p:cNvPr id="1048603" name="文字版面配置區 6"/>
          <p:cNvSpPr txBox="1"/>
          <p:nvPr/>
        </p:nvSpPr>
        <p:spPr>
          <a:xfrm>
            <a:off x="551189" y="1142999"/>
            <a:ext cx="8800212" cy="19473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產生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向量表</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perl</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genIVT.pl</a:t>
            </a:r>
          </a:p>
          <a:p>
            <a:endParaRPr lang="en-US" altLang="zh-TW" sz="18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附加向量表到填充好的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cat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Image_pad.bin</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ivt.bin</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&gt;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Image_pad_ivt.bin</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製作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的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CSF</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CSF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範例在 </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a:t>
            </a:r>
            <a:r>
              <a:rPr lang="en-US" altLang="zh-TW" sz="1400" dirty="0" err="1">
                <a:latin typeface="Times New Roman" panose="02020603050405020304" pitchFamily="18" charset="0"/>
                <a:ea typeface="Tahoma" panose="020B0604030504040204" pitchFamily="34" charset="0"/>
                <a:cs typeface="Times New Roman" panose="02020603050405020304" pitchFamily="18" charset="0"/>
              </a:rPr>
              <a:t>tmp</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/work/imx8mqevk-poky-linux/u-boot-</a:t>
            </a:r>
            <a:r>
              <a:rPr lang="en-US" altLang="zh-TW" sz="1400" dirty="0" err="1">
                <a:latin typeface="Times New Roman" panose="02020603050405020304" pitchFamily="18" charset="0"/>
                <a:ea typeface="Tahoma" panose="020B0604030504040204" pitchFamily="34" charset="0"/>
                <a:cs typeface="Times New Roman" panose="02020603050405020304" pitchFamily="18" charset="0"/>
              </a:rPr>
              <a:t>imx</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/2023.04-r0/git/doc/</a:t>
            </a:r>
            <a:r>
              <a:rPr lang="en-US" altLang="zh-TW" sz="1400" dirty="0" err="1">
                <a:latin typeface="Times New Roman" panose="02020603050405020304" pitchFamily="18" charset="0"/>
                <a:ea typeface="Tahoma" panose="020B0604030504040204" pitchFamily="34" charset="0"/>
                <a:cs typeface="Times New Roman" panose="02020603050405020304" pitchFamily="18" charset="0"/>
              </a:rPr>
              <a:t>imx</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/habv4/</a:t>
            </a:r>
            <a:r>
              <a:rPr lang="en-US" altLang="zh-TW" sz="1400" dirty="0" err="1">
                <a:latin typeface="Times New Roman" panose="02020603050405020304" pitchFamily="18" charset="0"/>
                <a:ea typeface="Tahoma" panose="020B0604030504040204" pitchFamily="34" charset="0"/>
                <a:cs typeface="Times New Roman" panose="02020603050405020304" pitchFamily="18" charset="0"/>
              </a:rPr>
              <a:t>csf_examples</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a:t>
            </a:r>
            <a:r>
              <a:rPr lang="en-US" altLang="zh-TW" sz="1400" dirty="0" err="1">
                <a:latin typeface="Times New Roman" panose="02020603050405020304" pitchFamily="18" charset="0"/>
                <a:ea typeface="Tahoma" panose="020B0604030504040204" pitchFamily="34" charset="0"/>
                <a:cs typeface="Times New Roman" panose="02020603050405020304" pitchFamily="18" charset="0"/>
              </a:rPr>
              <a:t>additional_images</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可以找到</a:t>
            </a:r>
            <a:endParaRPr lang="en-US" altLang="zh-TW" sz="1400" dirty="0"/>
          </a:p>
          <a:p>
            <a:pPr lvl="1"/>
            <a:r>
              <a:rPr lang="en-US" altLang="zh-TW" sz="1400" dirty="0"/>
              <a:t>Blocks = &lt;Load Address&gt; 0x00000000 &lt;CSF Pointer&gt; "</a:t>
            </a:r>
            <a:r>
              <a:rPr lang="en-US" altLang="zh-TW" sz="1400" dirty="0" err="1"/>
              <a:t>Image_pad_ivt.bin</a:t>
            </a:r>
            <a:r>
              <a:rPr lang="en-US" altLang="zh-TW" sz="1400" dirty="0"/>
              <a:t>“</a:t>
            </a: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使用 </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cst</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工具產生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CSF binary </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cst</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csf_additional_images.txt --o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csf_Image.bin</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4373C2F6-18EB-45F7-A5FA-0453A357A91A}"/>
              </a:ext>
            </a:extLst>
          </p:cNvPr>
          <p:cNvPicPr>
            <a:picLocks noChangeAspect="1"/>
          </p:cNvPicPr>
          <p:nvPr/>
        </p:nvPicPr>
        <p:blipFill rotWithShape="1">
          <a:blip r:embed="rId3"/>
          <a:srcRect t="73268"/>
          <a:stretch/>
        </p:blipFill>
        <p:spPr>
          <a:xfrm>
            <a:off x="1890288" y="4445000"/>
            <a:ext cx="5245745" cy="1122266"/>
          </a:xfrm>
          <a:prstGeom prst="rect">
            <a:avLst/>
          </a:prstGeom>
        </p:spPr>
      </p:pic>
    </p:spTree>
    <p:extLst>
      <p:ext uri="{BB962C8B-B14F-4D97-AF65-F5344CB8AC3E}">
        <p14:creationId xmlns:p14="http://schemas.microsoft.com/office/powerpoint/2010/main" val="3592943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NXP</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i.MX 8M</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Quad Secure Boot</a:t>
            </a:r>
            <a:endParaRPr lang="zh-TW" altLang="en-US" dirty="0">
              <a:latin typeface="標楷體" panose="03000509000000000000" pitchFamily="65" charset="-120"/>
              <a:ea typeface="標楷體" panose="03000509000000000000" pitchFamily="65" charset="-120"/>
            </a:endParaRPr>
          </a:p>
        </p:txBody>
      </p:sp>
      <p:sp>
        <p:nvSpPr>
          <p:cNvPr id="1048603" name="文字版面配置區 6"/>
          <p:cNvSpPr txBox="1"/>
          <p:nvPr/>
        </p:nvSpPr>
        <p:spPr>
          <a:xfrm>
            <a:off x="551189" y="1142999"/>
            <a:ext cx="8800212" cy="19473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附加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CSF binary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到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cat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Image_pad_ivt.bin</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csf_Image.bin</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&gt;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Image_signed.bin</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透過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UUU</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將簽名好的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燒入到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fat partition</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uuu</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-b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fat_write</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Image_signed</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mmc 0:1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Image_signed</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2" name="圖片 1">
            <a:extLst>
              <a:ext uri="{FF2B5EF4-FFF2-40B4-BE49-F238E27FC236}">
                <a16:creationId xmlns:a16="http://schemas.microsoft.com/office/drawing/2014/main" id="{E802157D-F0BE-4DF9-AE4C-A78A959F554B}"/>
              </a:ext>
            </a:extLst>
          </p:cNvPr>
          <p:cNvPicPr>
            <a:picLocks noChangeAspect="1"/>
          </p:cNvPicPr>
          <p:nvPr/>
        </p:nvPicPr>
        <p:blipFill>
          <a:blip r:embed="rId3"/>
          <a:stretch>
            <a:fillRect/>
          </a:stretch>
        </p:blipFill>
        <p:spPr>
          <a:xfrm>
            <a:off x="1357004" y="3090332"/>
            <a:ext cx="4123650" cy="3160461"/>
          </a:xfrm>
          <a:prstGeom prst="rect">
            <a:avLst/>
          </a:prstGeom>
        </p:spPr>
      </p:pic>
      <p:sp>
        <p:nvSpPr>
          <p:cNvPr id="3" name="矩形 2">
            <a:extLst>
              <a:ext uri="{FF2B5EF4-FFF2-40B4-BE49-F238E27FC236}">
                <a16:creationId xmlns:a16="http://schemas.microsoft.com/office/drawing/2014/main" id="{09AC5408-0794-4FB1-A150-048DA615B2BB}"/>
              </a:ext>
            </a:extLst>
          </p:cNvPr>
          <p:cNvSpPr/>
          <p:nvPr/>
        </p:nvSpPr>
        <p:spPr>
          <a:xfrm>
            <a:off x="1357004" y="6087533"/>
            <a:ext cx="1631730" cy="1632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圖片 3">
            <a:extLst>
              <a:ext uri="{FF2B5EF4-FFF2-40B4-BE49-F238E27FC236}">
                <a16:creationId xmlns:a16="http://schemas.microsoft.com/office/drawing/2014/main" id="{9DF01CA7-6819-4145-A80F-077EB07AF696}"/>
              </a:ext>
            </a:extLst>
          </p:cNvPr>
          <p:cNvPicPr>
            <a:picLocks noChangeAspect="1"/>
          </p:cNvPicPr>
          <p:nvPr/>
        </p:nvPicPr>
        <p:blipFill>
          <a:blip r:embed="rId4"/>
          <a:stretch>
            <a:fillRect/>
          </a:stretch>
        </p:blipFill>
        <p:spPr>
          <a:xfrm>
            <a:off x="5923031" y="1293263"/>
            <a:ext cx="3578679" cy="3594137"/>
          </a:xfrm>
          <a:prstGeom prst="rect">
            <a:avLst/>
          </a:prstGeom>
        </p:spPr>
      </p:pic>
    </p:spTree>
    <p:extLst>
      <p:ext uri="{BB962C8B-B14F-4D97-AF65-F5344CB8AC3E}">
        <p14:creationId xmlns:p14="http://schemas.microsoft.com/office/powerpoint/2010/main" val="759950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7923944" cy="533400"/>
          </a:xfrm>
        </p:spPr>
        <p:txBody>
          <a:bodyPr/>
          <a:lstStyle/>
          <a:p>
            <a:r>
              <a:rPr lang="zh-TW" altLang="en-US" dirty="0">
                <a:latin typeface="標楷體" panose="03000509000000000000" pitchFamily="65" charset="-120"/>
                <a:ea typeface="標楷體" panose="03000509000000000000" pitchFamily="65" charset="-120"/>
              </a:rPr>
              <a:t>本次進度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NXP</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i.MX 8M</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Quad Secure Boot</a:t>
            </a:r>
            <a:endParaRPr lang="zh-TW" altLang="en-US" dirty="0">
              <a:latin typeface="標楷體" panose="03000509000000000000" pitchFamily="65" charset="-120"/>
              <a:ea typeface="標楷體" panose="03000509000000000000" pitchFamily="65" charset="-120"/>
            </a:endParaRPr>
          </a:p>
        </p:txBody>
      </p:sp>
      <p:sp>
        <p:nvSpPr>
          <p:cNvPr id="1048603" name="文字版面配置區 6"/>
          <p:cNvSpPr txBox="1"/>
          <p:nvPr/>
        </p:nvSpPr>
        <p:spPr>
          <a:xfrm>
            <a:off x="551189" y="1142999"/>
            <a:ext cx="8800212" cy="19473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0800" indent="0">
              <a:buNone/>
            </a:pPr>
            <a:endParaRPr lang="en-US" altLang="zh-TW" sz="1600" dirty="0"/>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修改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u-boot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環境變數將開機的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更換成 </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Image_signed</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u-boot=&gt;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editenv</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image </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edit: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Image_sgined</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u-boot=&gt;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saveenv</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u-boot=&gt; reset </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u-boot=&gt; </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printenv</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p>
          <a:p>
            <a:pPr lvl="1"/>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image=</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Image_signed</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成功通過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Image </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驗證並開機</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a:extLst>
              <a:ext uri="{FF2B5EF4-FFF2-40B4-BE49-F238E27FC236}">
                <a16:creationId xmlns:a16="http://schemas.microsoft.com/office/drawing/2014/main" id="{B9058C97-02E8-45E0-AB5D-6AB0BA927E97}"/>
              </a:ext>
            </a:extLst>
          </p:cNvPr>
          <p:cNvPicPr>
            <a:picLocks noChangeAspect="1"/>
          </p:cNvPicPr>
          <p:nvPr/>
        </p:nvPicPr>
        <p:blipFill>
          <a:blip r:embed="rId3"/>
          <a:stretch>
            <a:fillRect/>
          </a:stretch>
        </p:blipFill>
        <p:spPr>
          <a:xfrm>
            <a:off x="4150083" y="1908175"/>
            <a:ext cx="4325050" cy="4314825"/>
          </a:xfrm>
          <a:prstGeom prst="rect">
            <a:avLst/>
          </a:prstGeom>
        </p:spPr>
      </p:pic>
      <p:sp>
        <p:nvSpPr>
          <p:cNvPr id="8" name="矩形 7">
            <a:extLst>
              <a:ext uri="{FF2B5EF4-FFF2-40B4-BE49-F238E27FC236}">
                <a16:creationId xmlns:a16="http://schemas.microsoft.com/office/drawing/2014/main" id="{7C7E1268-EC3B-46E0-9F6D-719841F57F6F}"/>
              </a:ext>
            </a:extLst>
          </p:cNvPr>
          <p:cNvSpPr/>
          <p:nvPr/>
        </p:nvSpPr>
        <p:spPr>
          <a:xfrm>
            <a:off x="4150083" y="1908175"/>
            <a:ext cx="1903584" cy="7418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8900DC86-EEB7-4E81-8966-1FF769C92892}"/>
              </a:ext>
            </a:extLst>
          </p:cNvPr>
          <p:cNvSpPr/>
          <p:nvPr/>
        </p:nvSpPr>
        <p:spPr>
          <a:xfrm>
            <a:off x="4150083" y="3310467"/>
            <a:ext cx="1903584" cy="2709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932D320E-CF56-494D-9F35-E690DEA0B2E2}"/>
              </a:ext>
            </a:extLst>
          </p:cNvPr>
          <p:cNvSpPr/>
          <p:nvPr/>
        </p:nvSpPr>
        <p:spPr>
          <a:xfrm>
            <a:off x="4150083" y="5715001"/>
            <a:ext cx="2750250" cy="3047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76361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字版面配置區 6">
            <a:extLst>
              <a:ext uri="{FF2B5EF4-FFF2-40B4-BE49-F238E27FC236}">
                <a16:creationId xmlns:a16="http://schemas.microsoft.com/office/drawing/2014/main" id="{658D7A25-03DD-43EF-AFCA-6E0EC1613E9F}"/>
              </a:ext>
            </a:extLst>
          </p:cNvPr>
          <p:cNvSpPr txBox="1"/>
          <p:nvPr/>
        </p:nvSpPr>
        <p:spPr>
          <a:xfrm>
            <a:off x="552894" y="1274368"/>
            <a:ext cx="8800212" cy="5319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ts val="3000"/>
              </a:lnSpc>
              <a:spcBef>
                <a:spcPts val="560"/>
              </a:spcBef>
              <a:buClr>
                <a:schemeClr val="accent2"/>
              </a:buClr>
              <a:buSzPts val="2800"/>
              <a:buFont typeface="Noto Sans Symbols"/>
              <a:buChar char="❖"/>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縮短</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kernel</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開機時間</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在</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uboot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底下更改</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console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參數的值</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將</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console=null</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新增後可完全刪除</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kernel</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打印在</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terminal</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上的訊息</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chemeClr val="accent2"/>
              </a:buClr>
              <a:buSzPts val="2800"/>
              <a:buFont typeface="Noto Sans Symbols"/>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ts val="3000"/>
              </a:lnSpc>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8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100" dirty="0"/>
          </a:p>
        </p:txBody>
      </p:sp>
      <p:sp>
        <p:nvSpPr>
          <p:cNvPr id="9" name="矩形 8">
            <a:extLst>
              <a:ext uri="{FF2B5EF4-FFF2-40B4-BE49-F238E27FC236}">
                <a16:creationId xmlns:a16="http://schemas.microsoft.com/office/drawing/2014/main" id="{94F279FB-5CBD-4DA8-9F5A-9118B75DF35A}"/>
              </a:ext>
            </a:extLst>
          </p:cNvPr>
          <p:cNvSpPr/>
          <p:nvPr/>
        </p:nvSpPr>
        <p:spPr>
          <a:xfrm>
            <a:off x="778128" y="872732"/>
            <a:ext cx="3347391" cy="461665"/>
          </a:xfrm>
          <a:prstGeom prst="rect">
            <a:avLst/>
          </a:prstGeom>
        </p:spPr>
        <p:txBody>
          <a:bodyPr wrap="none">
            <a:spAutoFit/>
          </a:bodyPr>
          <a:lstStyle/>
          <a:p>
            <a:r>
              <a:rPr lang="zh-TW" altLang="en-US" sz="2400" dirty="0">
                <a:solidFill>
                  <a:schemeClr val="accent2"/>
                </a:solidFill>
                <a:latin typeface="標楷體" panose="03000509000000000000" pitchFamily="65" charset="-120"/>
                <a:ea typeface="標楷體" panose="03000509000000000000" pitchFamily="65" charset="-120"/>
              </a:rPr>
              <a:t>上次進度</a:t>
            </a:r>
            <a:r>
              <a:rPr lang="en-US" altLang="zh-TW" sz="2400" dirty="0">
                <a:solidFill>
                  <a:schemeClr val="accent2"/>
                </a:solidFill>
              </a:rPr>
              <a:t>:</a:t>
            </a:r>
            <a:r>
              <a:rPr lang="zh-TW" altLang="en-US" sz="2400" dirty="0">
                <a:solidFill>
                  <a:schemeClr val="accent2"/>
                </a:solidFill>
                <a:latin typeface="Times New Roman" panose="02020603050405020304" pitchFamily="18" charset="0"/>
                <a:ea typeface="標楷體" panose="03000509000000000000" pitchFamily="65" charset="-120"/>
                <a:cs typeface="Times New Roman" panose="02020603050405020304" pitchFamily="18" charset="0"/>
              </a:rPr>
              <a:t>開機時間優化</a:t>
            </a:r>
            <a:endParaRPr lang="en-US" altLang="zh-TW" sz="2400" dirty="0">
              <a:solidFill>
                <a:schemeClr val="accent2"/>
              </a:solidFill>
              <a:latin typeface="標楷體" panose="03000509000000000000" pitchFamily="65" charset="-120"/>
              <a:ea typeface="標楷體" panose="03000509000000000000" pitchFamily="65" charset="-120"/>
            </a:endParaRPr>
          </a:p>
        </p:txBody>
      </p:sp>
      <p:graphicFrame>
        <p:nvGraphicFramePr>
          <p:cNvPr id="8" name="表格 7">
            <a:extLst>
              <a:ext uri="{FF2B5EF4-FFF2-40B4-BE49-F238E27FC236}">
                <a16:creationId xmlns:a16="http://schemas.microsoft.com/office/drawing/2014/main" id="{57E3B2AB-7977-47D8-9CD2-6D94288698D7}"/>
              </a:ext>
            </a:extLst>
          </p:cNvPr>
          <p:cNvGraphicFramePr>
            <a:graphicFrameLocks noGrp="1"/>
          </p:cNvGraphicFramePr>
          <p:nvPr/>
        </p:nvGraphicFramePr>
        <p:xfrm>
          <a:off x="1001783" y="3657601"/>
          <a:ext cx="8208710" cy="2245511"/>
        </p:xfrm>
        <a:graphic>
          <a:graphicData uri="http://schemas.openxmlformats.org/drawingml/2006/table">
            <a:tbl>
              <a:tblPr firstRow="1" bandRow="1">
                <a:tableStyleId>{21E4AEA4-8DFA-4A89-87EB-49C32662AFE0}</a:tableStyleId>
              </a:tblPr>
              <a:tblGrid>
                <a:gridCol w="2159882">
                  <a:extLst>
                    <a:ext uri="{9D8B030D-6E8A-4147-A177-3AD203B41FA5}">
                      <a16:colId xmlns:a16="http://schemas.microsoft.com/office/drawing/2014/main" val="844527685"/>
                    </a:ext>
                  </a:extLst>
                </a:gridCol>
                <a:gridCol w="1123602">
                  <a:extLst>
                    <a:ext uri="{9D8B030D-6E8A-4147-A177-3AD203B41FA5}">
                      <a16:colId xmlns:a16="http://schemas.microsoft.com/office/drawing/2014/main" val="481050912"/>
                    </a:ext>
                  </a:extLst>
                </a:gridCol>
                <a:gridCol w="1641742">
                  <a:extLst>
                    <a:ext uri="{9D8B030D-6E8A-4147-A177-3AD203B41FA5}">
                      <a16:colId xmlns:a16="http://schemas.microsoft.com/office/drawing/2014/main" val="2085942920"/>
                    </a:ext>
                  </a:extLst>
                </a:gridCol>
                <a:gridCol w="1128132">
                  <a:extLst>
                    <a:ext uri="{9D8B030D-6E8A-4147-A177-3AD203B41FA5}">
                      <a16:colId xmlns:a16="http://schemas.microsoft.com/office/drawing/2014/main" val="2759834227"/>
                    </a:ext>
                  </a:extLst>
                </a:gridCol>
                <a:gridCol w="2155352">
                  <a:extLst>
                    <a:ext uri="{9D8B030D-6E8A-4147-A177-3AD203B41FA5}">
                      <a16:colId xmlns:a16="http://schemas.microsoft.com/office/drawing/2014/main" val="4254441139"/>
                    </a:ext>
                  </a:extLst>
                </a:gridCol>
              </a:tblGrid>
              <a:tr h="332384">
                <a:tc>
                  <a:txBody>
                    <a:bodyPr/>
                    <a:lstStyle/>
                    <a:p>
                      <a:r>
                        <a:rPr lang="en-US" altLang="zh-TW" dirty="0"/>
                        <a:t>Image name</a:t>
                      </a:r>
                      <a:endParaRPr lang="zh-TW" altLang="en-US" dirty="0"/>
                    </a:p>
                  </a:txBody>
                  <a:tcPr/>
                </a:tc>
                <a:tc>
                  <a:txBody>
                    <a:bodyPr/>
                    <a:lstStyle/>
                    <a:p>
                      <a:r>
                        <a:rPr lang="en-US" altLang="zh-TW" dirty="0"/>
                        <a:t>U-boot</a:t>
                      </a:r>
                      <a:endParaRPr lang="zh-TW" altLang="en-US" dirty="0"/>
                    </a:p>
                  </a:txBody>
                  <a:tcPr/>
                </a:tc>
                <a:tc>
                  <a:txBody>
                    <a:bodyPr/>
                    <a:lstStyle/>
                    <a:p>
                      <a:r>
                        <a:rPr lang="en-US" altLang="zh-TW" dirty="0"/>
                        <a:t>kernel</a:t>
                      </a:r>
                      <a:endParaRPr lang="zh-TW" altLang="en-US" dirty="0"/>
                    </a:p>
                  </a:txBody>
                  <a:tcPr/>
                </a:tc>
                <a:tc>
                  <a:txBody>
                    <a:bodyPr/>
                    <a:lstStyle/>
                    <a:p>
                      <a:r>
                        <a:rPr lang="zh-TW" altLang="en-US" dirty="0">
                          <a:latin typeface="標楷體" panose="03000509000000000000" pitchFamily="65" charset="-120"/>
                          <a:ea typeface="標楷體" panose="03000509000000000000" pitchFamily="65" charset="-120"/>
                        </a:rPr>
                        <a:t>總開機時間</a:t>
                      </a:r>
                    </a:p>
                  </a:txBody>
                  <a:tcPr/>
                </a:tc>
                <a:tc>
                  <a:txBody>
                    <a:bodyPr/>
                    <a:lstStyle/>
                    <a:p>
                      <a:endParaRPr lang="zh-TW" altLang="en-US" dirty="0">
                        <a:latin typeface="標楷體" panose="03000509000000000000" pitchFamily="65" charset="-120"/>
                        <a:ea typeface="標楷體" panose="03000509000000000000" pitchFamily="65" charset="-120"/>
                      </a:endParaRPr>
                    </a:p>
                  </a:txBody>
                  <a:tcPr/>
                </a:tc>
                <a:extLst>
                  <a:ext uri="{0D108BD9-81ED-4DB2-BD59-A6C34878D82A}">
                    <a16:rowId xmlns:a16="http://schemas.microsoft.com/office/drawing/2014/main" val="126892216"/>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err="1"/>
                        <a:t>imx</a:t>
                      </a:r>
                      <a:r>
                        <a:rPr lang="en-US" altLang="zh-TW" dirty="0"/>
                        <a:t>-image-core </a:t>
                      </a:r>
                      <a:endParaRPr lang="zh-TW" altLang="en-US" dirty="0"/>
                    </a:p>
                    <a:p>
                      <a:endParaRPr lang="zh-TW" altLang="en-US" dirty="0"/>
                    </a:p>
                  </a:txBody>
                  <a:tcPr/>
                </a:tc>
                <a:tc>
                  <a:txBody>
                    <a:bodyPr/>
                    <a:lstStyle/>
                    <a:p>
                      <a:r>
                        <a:rPr lang="en-US" altLang="zh-TW" dirty="0"/>
                        <a:t>6.24</a:t>
                      </a:r>
                      <a:endParaRPr lang="zh-TW" altLang="en-US" dirty="0"/>
                    </a:p>
                  </a:txBody>
                  <a:tcPr/>
                </a:tc>
                <a:tc>
                  <a:txBody>
                    <a:bodyPr/>
                    <a:lstStyle/>
                    <a:p>
                      <a:r>
                        <a:rPr lang="en-US" altLang="zh-TW" dirty="0"/>
                        <a:t>14.38</a:t>
                      </a:r>
                      <a:endParaRPr lang="zh-TW" altLang="en-US" dirty="0"/>
                    </a:p>
                  </a:txBody>
                  <a:tcPr/>
                </a:tc>
                <a:tc>
                  <a:txBody>
                    <a:bodyPr/>
                    <a:lstStyle/>
                    <a:p>
                      <a:r>
                        <a:rPr lang="en-US" altLang="zh-TW" dirty="0"/>
                        <a:t>20.62</a:t>
                      </a:r>
                      <a:endParaRPr lang="zh-TW" altLang="en-US" dirty="0"/>
                    </a:p>
                  </a:txBody>
                  <a:tcPr/>
                </a:tc>
                <a:tc>
                  <a:txBody>
                    <a:bodyPr/>
                    <a:lstStyle/>
                    <a:p>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4237555278"/>
                  </a:ext>
                </a:extLst>
              </a:tr>
              <a:tr h="358647">
                <a:tc>
                  <a:txBody>
                    <a:bodyPr/>
                    <a:lstStyle/>
                    <a:p>
                      <a:r>
                        <a:rPr lang="en-US" altLang="zh-TW" dirty="0" err="1"/>
                        <a:t>imx</a:t>
                      </a:r>
                      <a:r>
                        <a:rPr lang="en-US" altLang="zh-TW" dirty="0"/>
                        <a:t>-image-core </a:t>
                      </a:r>
                      <a:endParaRPr lang="zh-TW" altLang="en-US" dirty="0"/>
                    </a:p>
                  </a:txBody>
                  <a:tcPr/>
                </a:tc>
                <a:tc>
                  <a:txBody>
                    <a:bodyPr/>
                    <a:lstStyle/>
                    <a:p>
                      <a:r>
                        <a:rPr lang="en-US" altLang="zh-TW" dirty="0"/>
                        <a:t>4.23</a:t>
                      </a:r>
                      <a:endParaRPr lang="zh-TW" altLang="en-US" dirty="0"/>
                    </a:p>
                  </a:txBody>
                  <a:tcPr/>
                </a:tc>
                <a:tc>
                  <a:txBody>
                    <a:bodyPr/>
                    <a:lstStyle/>
                    <a:p>
                      <a:r>
                        <a:rPr lang="en-US" altLang="zh-TW" dirty="0"/>
                        <a:t>14.38</a:t>
                      </a:r>
                      <a:endParaRPr lang="zh-TW" altLang="en-US" dirty="0"/>
                    </a:p>
                  </a:txBody>
                  <a:tcPr/>
                </a:tc>
                <a:tc>
                  <a:txBody>
                    <a:bodyPr/>
                    <a:lstStyle/>
                    <a:p>
                      <a:r>
                        <a:rPr lang="en-US" altLang="zh-TW" dirty="0"/>
                        <a:t>18.61</a:t>
                      </a:r>
                      <a:endParaRPr lang="zh-TW" altLang="en-US" dirty="0"/>
                    </a:p>
                  </a:txBody>
                  <a:tcPr/>
                </a:tc>
                <a:tc>
                  <a:txBody>
                    <a:bodyPr/>
                    <a:lstStyle/>
                    <a:p>
                      <a:r>
                        <a:rPr lang="zh-TW" altLang="en-US" dirty="0">
                          <a:latin typeface="標楷體" panose="03000509000000000000" pitchFamily="65" charset="-120"/>
                          <a:ea typeface="標楷體" panose="03000509000000000000" pitchFamily="65" charset="-120"/>
                          <a:cs typeface="+mn-cs"/>
                        </a:rPr>
                        <a:t>減少</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uboot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delay</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484216138"/>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err="1"/>
                        <a:t>imx</a:t>
                      </a:r>
                      <a:r>
                        <a:rPr lang="en-US" altLang="zh-TW" dirty="0"/>
                        <a:t>-image-core </a:t>
                      </a:r>
                      <a:endParaRPr lang="zh-TW" altLang="en-US" dirty="0"/>
                    </a:p>
                    <a:p>
                      <a:endParaRPr lang="zh-TW" altLang="en-US" dirty="0"/>
                    </a:p>
                  </a:txBody>
                  <a:tcPr/>
                </a:tc>
                <a:tc>
                  <a:txBody>
                    <a:bodyPr/>
                    <a:lstStyle/>
                    <a:p>
                      <a:r>
                        <a:rPr lang="en-US" altLang="zh-TW" dirty="0"/>
                        <a:t>4.26</a:t>
                      </a:r>
                      <a:endParaRPr lang="zh-TW" altLang="en-US" dirty="0"/>
                    </a:p>
                  </a:txBody>
                  <a:tcPr/>
                </a:tc>
                <a:tc>
                  <a:txBody>
                    <a:bodyPr/>
                    <a:lstStyle/>
                    <a:p>
                      <a:r>
                        <a:rPr lang="en-US" altLang="zh-TW" dirty="0"/>
                        <a:t>10.24</a:t>
                      </a:r>
                      <a:endParaRPr lang="zh-TW" altLang="en-US" dirty="0"/>
                    </a:p>
                  </a:txBody>
                  <a:tcPr/>
                </a:tc>
                <a:tc>
                  <a:txBody>
                    <a:bodyPr/>
                    <a:lstStyle/>
                    <a:p>
                      <a:r>
                        <a:rPr lang="en-US" altLang="zh-TW" dirty="0"/>
                        <a:t>14.5</a:t>
                      </a:r>
                      <a:endParaRPr lang="zh-TW" altLang="en-US" dirty="0"/>
                    </a:p>
                  </a:txBody>
                  <a:tcPr/>
                </a:tc>
                <a:tc>
                  <a:txBody>
                    <a:bodyPr/>
                    <a:lstStyle/>
                    <a:p>
                      <a:r>
                        <a:rPr lang="zh-TW" altLang="en-US" dirty="0">
                          <a:latin typeface="標楷體" panose="03000509000000000000" pitchFamily="65" charset="-120"/>
                          <a:ea typeface="標楷體" panose="03000509000000000000" pitchFamily="65" charset="-120"/>
                        </a:rPr>
                        <a:t>減少</a:t>
                      </a:r>
                      <a:r>
                        <a:rPr lang="en-US" altLang="zh-TW" sz="1400" dirty="0">
                          <a:latin typeface="Times New Roman" panose="02020603050405020304" pitchFamily="18" charset="0"/>
                          <a:ea typeface="Tahoma" panose="020B0604030504040204" pitchFamily="34" charset="0"/>
                          <a:cs typeface="Times New Roman" panose="02020603050405020304" pitchFamily="18" charset="0"/>
                        </a:rPr>
                        <a:t>kernel</a:t>
                      </a:r>
                      <a:r>
                        <a:rPr lang="zh-TW" altLang="en-US" dirty="0">
                          <a:latin typeface="標楷體" panose="03000509000000000000" pitchFamily="65" charset="-120"/>
                          <a:ea typeface="標楷體" panose="03000509000000000000" pitchFamily="65" charset="-120"/>
                        </a:rPr>
                        <a:t>打印訊息</a:t>
                      </a:r>
                    </a:p>
                  </a:txBody>
                  <a:tcPr/>
                </a:tc>
                <a:extLst>
                  <a:ext uri="{0D108BD9-81ED-4DB2-BD59-A6C34878D82A}">
                    <a16:rowId xmlns:a16="http://schemas.microsoft.com/office/drawing/2014/main" val="1699497329"/>
                  </a:ext>
                </a:extLst>
              </a:tr>
              <a:tr h="45826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err="1"/>
                        <a:t>imx</a:t>
                      </a:r>
                      <a:r>
                        <a:rPr lang="en-US" altLang="zh-TW" dirty="0"/>
                        <a:t>-image-core </a:t>
                      </a:r>
                      <a:endParaRPr lang="zh-TW" altLang="en-US" dirty="0"/>
                    </a:p>
                    <a:p>
                      <a:endParaRPr lang="zh-TW" altLang="en-US" dirty="0"/>
                    </a:p>
                  </a:txBody>
                  <a:tcPr/>
                </a:tc>
                <a:tc>
                  <a:txBody>
                    <a:bodyPr/>
                    <a:lstStyle/>
                    <a:p>
                      <a:r>
                        <a:rPr lang="en-US" altLang="zh-TW" dirty="0"/>
                        <a:t>4.26</a:t>
                      </a:r>
                      <a:endParaRPr lang="zh-TW" altLang="en-US" dirty="0"/>
                    </a:p>
                  </a:txBody>
                  <a:tcPr/>
                </a:tc>
                <a:tc>
                  <a:txBody>
                    <a:bodyPr/>
                    <a:lstStyle/>
                    <a:p>
                      <a:r>
                        <a:rPr lang="en-US" altLang="zh-TW" dirty="0"/>
                        <a:t>9.78</a:t>
                      </a:r>
                      <a:endParaRPr lang="zh-TW" altLang="en-US" dirty="0"/>
                    </a:p>
                  </a:txBody>
                  <a:tcPr/>
                </a:tc>
                <a:tc>
                  <a:txBody>
                    <a:bodyPr/>
                    <a:lstStyle/>
                    <a:p>
                      <a:r>
                        <a:rPr lang="en-US" altLang="zh-TW" dirty="0"/>
                        <a:t>14.04</a:t>
                      </a:r>
                      <a:endParaRPr lang="zh-TW" altLang="en-US" dirty="0"/>
                    </a:p>
                  </a:txBody>
                  <a:tcPr/>
                </a:tc>
                <a:tc>
                  <a:txBody>
                    <a:bodyPr/>
                    <a:lstStyle/>
                    <a:p>
                      <a:r>
                        <a:rPr lang="zh-TW" altLang="en-US" dirty="0">
                          <a:latin typeface="標楷體" panose="03000509000000000000" pitchFamily="65" charset="-120"/>
                          <a:ea typeface="標楷體" panose="03000509000000000000" pitchFamily="65" charset="-120"/>
                        </a:rPr>
                        <a:t>完全刪除</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kernel</a:t>
                      </a:r>
                      <a:r>
                        <a:rPr lang="zh-TW" altLang="en-US" dirty="0">
                          <a:latin typeface="標楷體" panose="03000509000000000000" pitchFamily="65" charset="-120"/>
                          <a:ea typeface="標楷體" panose="03000509000000000000" pitchFamily="65" charset="-120"/>
                        </a:rPr>
                        <a:t>打印訊息</a:t>
                      </a:r>
                    </a:p>
                  </a:txBody>
                  <a:tcPr/>
                </a:tc>
                <a:extLst>
                  <a:ext uri="{0D108BD9-81ED-4DB2-BD59-A6C34878D82A}">
                    <a16:rowId xmlns:a16="http://schemas.microsoft.com/office/drawing/2014/main" val="3138694244"/>
                  </a:ext>
                </a:extLst>
              </a:tr>
            </a:tbl>
          </a:graphicData>
        </a:graphic>
      </p:graphicFrame>
      <p:pic>
        <p:nvPicPr>
          <p:cNvPr id="2" name="圖片 1">
            <a:extLst>
              <a:ext uri="{FF2B5EF4-FFF2-40B4-BE49-F238E27FC236}">
                <a16:creationId xmlns:a16="http://schemas.microsoft.com/office/drawing/2014/main" id="{0056C0FE-037D-46FC-AC57-D6A1B4B6F510}"/>
              </a:ext>
            </a:extLst>
          </p:cNvPr>
          <p:cNvPicPr>
            <a:picLocks noChangeAspect="1"/>
          </p:cNvPicPr>
          <p:nvPr/>
        </p:nvPicPr>
        <p:blipFill rotWithShape="1">
          <a:blip r:embed="rId3"/>
          <a:srcRect t="8944" b="18815"/>
          <a:stretch/>
        </p:blipFill>
        <p:spPr>
          <a:xfrm>
            <a:off x="1494264" y="2277687"/>
            <a:ext cx="2758954" cy="273729"/>
          </a:xfrm>
          <a:prstGeom prst="rect">
            <a:avLst/>
          </a:prstGeom>
        </p:spPr>
      </p:pic>
    </p:spTree>
    <p:extLst>
      <p:ext uri="{BB962C8B-B14F-4D97-AF65-F5344CB8AC3E}">
        <p14:creationId xmlns:p14="http://schemas.microsoft.com/office/powerpoint/2010/main" val="1996045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字版面配置區 6">
            <a:extLst>
              <a:ext uri="{FF2B5EF4-FFF2-40B4-BE49-F238E27FC236}">
                <a16:creationId xmlns:a16="http://schemas.microsoft.com/office/drawing/2014/main" id="{658D7A25-03DD-43EF-AFCA-6E0EC1613E9F}"/>
              </a:ext>
            </a:extLst>
          </p:cNvPr>
          <p:cNvSpPr txBox="1"/>
          <p:nvPr/>
        </p:nvSpPr>
        <p:spPr>
          <a:xfrm>
            <a:off x="503028" y="1509259"/>
            <a:ext cx="8800212" cy="5319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ts val="3000"/>
              </a:lnSpc>
              <a:spcBef>
                <a:spcPts val="560"/>
              </a:spcBef>
              <a:buClr>
                <a:schemeClr val="accent2"/>
              </a:buClr>
              <a:buSzPts val="2800"/>
              <a:buFont typeface="Noto Sans Symbols"/>
              <a:buChar char="❖"/>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嘗試關閉使用不到的</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linux</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系統服務以節省開機時間</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例如</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ofono.service</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為提供行動電話的服務</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但發現關閉</a:t>
            </a:r>
            <a:r>
              <a:rPr lang="en-US" altLang="zh-TW" sz="1400" dirty="0" err="1">
                <a:latin typeface="Times New Roman" panose="02020603050405020304" pitchFamily="18" charset="0"/>
                <a:ea typeface="標楷體" panose="03000509000000000000" pitchFamily="65" charset="-120"/>
                <a:cs typeface="Times New Roman" panose="02020603050405020304" pitchFamily="18" charset="0"/>
              </a:rPr>
              <a:t>linux</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系統服務反而增加開機時間</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chemeClr val="accent2"/>
              </a:buClr>
              <a:buSzPts val="2800"/>
              <a:buFont typeface="Noto Sans Symbols"/>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ts val="3000"/>
              </a:lnSpc>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8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100" dirty="0"/>
          </a:p>
        </p:txBody>
      </p:sp>
      <p:sp>
        <p:nvSpPr>
          <p:cNvPr id="9" name="矩形 8">
            <a:extLst>
              <a:ext uri="{FF2B5EF4-FFF2-40B4-BE49-F238E27FC236}">
                <a16:creationId xmlns:a16="http://schemas.microsoft.com/office/drawing/2014/main" id="{94F279FB-5CBD-4DA8-9F5A-9118B75DF35A}"/>
              </a:ext>
            </a:extLst>
          </p:cNvPr>
          <p:cNvSpPr/>
          <p:nvPr/>
        </p:nvSpPr>
        <p:spPr>
          <a:xfrm>
            <a:off x="778128" y="872732"/>
            <a:ext cx="3347391" cy="461665"/>
          </a:xfrm>
          <a:prstGeom prst="rect">
            <a:avLst/>
          </a:prstGeom>
        </p:spPr>
        <p:txBody>
          <a:bodyPr wrap="none">
            <a:spAutoFit/>
          </a:bodyPr>
          <a:lstStyle/>
          <a:p>
            <a:r>
              <a:rPr lang="zh-TW" altLang="en-US" sz="2400" dirty="0">
                <a:solidFill>
                  <a:schemeClr val="accent2"/>
                </a:solidFill>
                <a:latin typeface="標楷體" panose="03000509000000000000" pitchFamily="65" charset="-120"/>
                <a:ea typeface="標楷體" panose="03000509000000000000" pitchFamily="65" charset="-120"/>
              </a:rPr>
              <a:t>本次進度</a:t>
            </a:r>
            <a:r>
              <a:rPr lang="en-US" altLang="zh-TW" sz="2400" dirty="0">
                <a:solidFill>
                  <a:schemeClr val="accent2"/>
                </a:solidFill>
              </a:rPr>
              <a:t>:</a:t>
            </a:r>
            <a:r>
              <a:rPr lang="zh-TW" altLang="en-US" sz="2400" dirty="0">
                <a:solidFill>
                  <a:schemeClr val="accent2"/>
                </a:solidFill>
                <a:latin typeface="Times New Roman" panose="02020603050405020304" pitchFamily="18" charset="0"/>
                <a:ea typeface="標楷體" panose="03000509000000000000" pitchFamily="65" charset="-120"/>
                <a:cs typeface="Times New Roman" panose="02020603050405020304" pitchFamily="18" charset="0"/>
              </a:rPr>
              <a:t>開機時間優化</a:t>
            </a:r>
            <a:endParaRPr lang="en-US" altLang="zh-TW" sz="2400" dirty="0">
              <a:solidFill>
                <a:schemeClr val="accent2"/>
              </a:solidFill>
              <a:latin typeface="標楷體" panose="03000509000000000000" pitchFamily="65" charset="-120"/>
              <a:ea typeface="標楷體" panose="03000509000000000000" pitchFamily="65" charset="-120"/>
            </a:endParaRPr>
          </a:p>
        </p:txBody>
      </p:sp>
      <p:sp>
        <p:nvSpPr>
          <p:cNvPr id="6" name="文字版面配置區 6">
            <a:extLst>
              <a:ext uri="{FF2B5EF4-FFF2-40B4-BE49-F238E27FC236}">
                <a16:creationId xmlns:a16="http://schemas.microsoft.com/office/drawing/2014/main" id="{D013D6FD-5BDC-42CD-A469-8A0855118829}"/>
              </a:ext>
            </a:extLst>
          </p:cNvPr>
          <p:cNvSpPr txBox="1"/>
          <p:nvPr/>
        </p:nvSpPr>
        <p:spPr>
          <a:xfrm>
            <a:off x="503028" y="3163040"/>
            <a:ext cx="8800212" cy="5319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ts val="3000"/>
              </a:lnSpc>
              <a:spcBef>
                <a:spcPts val="560"/>
              </a:spcBef>
              <a:buClr>
                <a:schemeClr val="accent2"/>
              </a:buClr>
              <a:buSzPts val="2800"/>
              <a:buFont typeface="Noto Sans Symbols"/>
              <a:buChar char="❖"/>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將不需要的</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driver</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關閉，以及精簡化</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dts</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檔內容</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679450" lvl="2" indent="-171450">
              <a:lnSpc>
                <a:spcPts val="3000"/>
              </a:lnSpc>
              <a:spcBef>
                <a:spcPts val="560"/>
              </a:spcBef>
              <a:buClr>
                <a:srgbClr val="FF0000"/>
              </a:buClr>
              <a:buSzPts val="2800"/>
              <a:buFont typeface="Arial" panose="020B0604020202020204" pitchFamily="34" charset="0"/>
              <a:buChar char="•"/>
            </a:pP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      開機時間並無明顯減少</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chemeClr val="accent2"/>
              </a:buClr>
              <a:buSzPts val="2800"/>
              <a:buFont typeface="Noto Sans Symbols"/>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ts val="3000"/>
              </a:lnSpc>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8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100" dirty="0"/>
          </a:p>
        </p:txBody>
      </p:sp>
    </p:spTree>
    <p:extLst>
      <p:ext uri="{BB962C8B-B14F-4D97-AF65-F5344CB8AC3E}">
        <p14:creationId xmlns:p14="http://schemas.microsoft.com/office/powerpoint/2010/main" val="1197329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字版面配置區 6">
            <a:extLst>
              <a:ext uri="{FF2B5EF4-FFF2-40B4-BE49-F238E27FC236}">
                <a16:creationId xmlns:a16="http://schemas.microsoft.com/office/drawing/2014/main" id="{658D7A25-03DD-43EF-AFCA-6E0EC1613E9F}"/>
              </a:ext>
            </a:extLst>
          </p:cNvPr>
          <p:cNvSpPr txBox="1"/>
          <p:nvPr/>
        </p:nvSpPr>
        <p:spPr>
          <a:xfrm>
            <a:off x="552894" y="1274368"/>
            <a:ext cx="8800212" cy="5319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ts val="3000"/>
              </a:lnSpc>
              <a:spcBef>
                <a:spcPts val="560"/>
              </a:spcBef>
              <a:buClr>
                <a:schemeClr val="accent2"/>
              </a:buClr>
              <a:buSzPts val="2800"/>
              <a:buFont typeface="Noto Sans Symbols"/>
              <a:buChar char="❖"/>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目前的開機時間</a:t>
            </a: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chemeClr val="accent2"/>
              </a:buClr>
              <a:buSzPts val="2800"/>
              <a:buFont typeface="Noto Sans Symbols"/>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ts val="3000"/>
              </a:lnSpc>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8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100" dirty="0"/>
          </a:p>
        </p:txBody>
      </p:sp>
      <p:sp>
        <p:nvSpPr>
          <p:cNvPr id="9" name="矩形 8">
            <a:extLst>
              <a:ext uri="{FF2B5EF4-FFF2-40B4-BE49-F238E27FC236}">
                <a16:creationId xmlns:a16="http://schemas.microsoft.com/office/drawing/2014/main" id="{94F279FB-5CBD-4DA8-9F5A-9118B75DF35A}"/>
              </a:ext>
            </a:extLst>
          </p:cNvPr>
          <p:cNvSpPr/>
          <p:nvPr/>
        </p:nvSpPr>
        <p:spPr>
          <a:xfrm>
            <a:off x="778128" y="872732"/>
            <a:ext cx="3347391" cy="461665"/>
          </a:xfrm>
          <a:prstGeom prst="rect">
            <a:avLst/>
          </a:prstGeom>
        </p:spPr>
        <p:txBody>
          <a:bodyPr wrap="none">
            <a:spAutoFit/>
          </a:bodyPr>
          <a:lstStyle/>
          <a:p>
            <a:r>
              <a:rPr lang="zh-TW" altLang="en-US" sz="2400" dirty="0">
                <a:solidFill>
                  <a:schemeClr val="accent2"/>
                </a:solidFill>
                <a:latin typeface="標楷體" panose="03000509000000000000" pitchFamily="65" charset="-120"/>
                <a:ea typeface="標楷體" panose="03000509000000000000" pitchFamily="65" charset="-120"/>
              </a:rPr>
              <a:t>本次進度</a:t>
            </a:r>
            <a:r>
              <a:rPr lang="en-US" altLang="zh-TW" sz="2400" dirty="0">
                <a:solidFill>
                  <a:schemeClr val="accent2"/>
                </a:solidFill>
              </a:rPr>
              <a:t>:</a:t>
            </a:r>
            <a:r>
              <a:rPr lang="zh-TW" altLang="en-US" sz="2400" dirty="0">
                <a:solidFill>
                  <a:schemeClr val="accent2"/>
                </a:solidFill>
                <a:latin typeface="Times New Roman" panose="02020603050405020304" pitchFamily="18" charset="0"/>
                <a:ea typeface="標楷體" panose="03000509000000000000" pitchFamily="65" charset="-120"/>
                <a:cs typeface="Times New Roman" panose="02020603050405020304" pitchFamily="18" charset="0"/>
              </a:rPr>
              <a:t>開機時間優化</a:t>
            </a:r>
            <a:endParaRPr lang="en-US" altLang="zh-TW" sz="2400" dirty="0">
              <a:solidFill>
                <a:schemeClr val="accent2"/>
              </a:solidFill>
              <a:latin typeface="標楷體" panose="03000509000000000000" pitchFamily="65" charset="-120"/>
              <a:ea typeface="標楷體" panose="03000509000000000000" pitchFamily="65" charset="-120"/>
            </a:endParaRPr>
          </a:p>
        </p:txBody>
      </p:sp>
      <p:graphicFrame>
        <p:nvGraphicFramePr>
          <p:cNvPr id="8" name="表格 7">
            <a:extLst>
              <a:ext uri="{FF2B5EF4-FFF2-40B4-BE49-F238E27FC236}">
                <a16:creationId xmlns:a16="http://schemas.microsoft.com/office/drawing/2014/main" id="{57E3B2AB-7977-47D8-9CD2-6D94288698D7}"/>
              </a:ext>
            </a:extLst>
          </p:cNvPr>
          <p:cNvGraphicFramePr>
            <a:graphicFrameLocks noGrp="1"/>
          </p:cNvGraphicFramePr>
          <p:nvPr/>
        </p:nvGraphicFramePr>
        <p:xfrm>
          <a:off x="1098839" y="2021749"/>
          <a:ext cx="6644199" cy="2300799"/>
        </p:xfrm>
        <a:graphic>
          <a:graphicData uri="http://schemas.openxmlformats.org/drawingml/2006/table">
            <a:tbl>
              <a:tblPr firstRow="1" bandRow="1">
                <a:tableStyleId>{21E4AEA4-8DFA-4A89-87EB-49C32662AFE0}</a:tableStyleId>
              </a:tblPr>
              <a:tblGrid>
                <a:gridCol w="2370698">
                  <a:extLst>
                    <a:ext uri="{9D8B030D-6E8A-4147-A177-3AD203B41FA5}">
                      <a16:colId xmlns:a16="http://schemas.microsoft.com/office/drawing/2014/main" val="844527685"/>
                    </a:ext>
                  </a:extLst>
                </a:gridCol>
                <a:gridCol w="1233272">
                  <a:extLst>
                    <a:ext uri="{9D8B030D-6E8A-4147-A177-3AD203B41FA5}">
                      <a16:colId xmlns:a16="http://schemas.microsoft.com/office/drawing/2014/main" val="481050912"/>
                    </a:ext>
                  </a:extLst>
                </a:gridCol>
                <a:gridCol w="1320486">
                  <a:extLst>
                    <a:ext uri="{9D8B030D-6E8A-4147-A177-3AD203B41FA5}">
                      <a16:colId xmlns:a16="http://schemas.microsoft.com/office/drawing/2014/main" val="2085942920"/>
                    </a:ext>
                  </a:extLst>
                </a:gridCol>
                <a:gridCol w="1719743">
                  <a:extLst>
                    <a:ext uri="{9D8B030D-6E8A-4147-A177-3AD203B41FA5}">
                      <a16:colId xmlns:a16="http://schemas.microsoft.com/office/drawing/2014/main" val="2759834227"/>
                    </a:ext>
                  </a:extLst>
                </a:gridCol>
              </a:tblGrid>
              <a:tr h="314995">
                <a:tc>
                  <a:txBody>
                    <a:bodyPr/>
                    <a:lstStyle/>
                    <a:p>
                      <a:r>
                        <a:rPr lang="en-US" altLang="zh-TW" dirty="0"/>
                        <a:t>Image name</a:t>
                      </a:r>
                      <a:endParaRPr lang="zh-TW" altLang="en-US" dirty="0"/>
                    </a:p>
                  </a:txBody>
                  <a:tcPr/>
                </a:tc>
                <a:tc>
                  <a:txBody>
                    <a:bodyPr/>
                    <a:lstStyle/>
                    <a:p>
                      <a:r>
                        <a:rPr lang="en-US" altLang="zh-TW" dirty="0"/>
                        <a:t>U-boot</a:t>
                      </a:r>
                      <a:endParaRPr lang="zh-TW" altLang="en-US" dirty="0"/>
                    </a:p>
                  </a:txBody>
                  <a:tcPr/>
                </a:tc>
                <a:tc>
                  <a:txBody>
                    <a:bodyPr/>
                    <a:lstStyle/>
                    <a:p>
                      <a:r>
                        <a:rPr lang="en-US" altLang="zh-TW" dirty="0"/>
                        <a:t>kernel</a:t>
                      </a:r>
                      <a:endParaRPr lang="zh-TW" altLang="en-US" dirty="0"/>
                    </a:p>
                  </a:txBody>
                  <a:tcPr/>
                </a:tc>
                <a:tc>
                  <a:txBody>
                    <a:bodyPr/>
                    <a:lstStyle/>
                    <a:p>
                      <a:r>
                        <a:rPr lang="zh-TW" altLang="en-US" dirty="0">
                          <a:latin typeface="標楷體" panose="03000509000000000000" pitchFamily="65" charset="-120"/>
                          <a:ea typeface="標楷體" panose="03000509000000000000" pitchFamily="65" charset="-120"/>
                        </a:rPr>
                        <a:t>總開機時間</a:t>
                      </a:r>
                    </a:p>
                  </a:txBody>
                  <a:tcPr/>
                </a:tc>
                <a:extLst>
                  <a:ext uri="{0D108BD9-81ED-4DB2-BD59-A6C34878D82A}">
                    <a16:rowId xmlns:a16="http://schemas.microsoft.com/office/drawing/2014/main" val="126892216"/>
                  </a:ext>
                </a:extLst>
              </a:tr>
              <a:tr h="288854">
                <a:tc>
                  <a:txBody>
                    <a:bodyPr/>
                    <a:lstStyle/>
                    <a:p>
                      <a:r>
                        <a:rPr lang="en-US" altLang="zh-TW" dirty="0"/>
                        <a:t>core-image-minimal</a:t>
                      </a:r>
                      <a:endParaRPr lang="zh-TW" altLang="en-US" dirty="0"/>
                    </a:p>
                  </a:txBody>
                  <a:tcPr/>
                </a:tc>
                <a:tc>
                  <a:txBody>
                    <a:bodyPr/>
                    <a:lstStyle/>
                    <a:p>
                      <a:r>
                        <a:rPr lang="en-US" altLang="zh-TW" dirty="0"/>
                        <a:t>4.23</a:t>
                      </a:r>
                      <a:endParaRPr lang="zh-TW" altLang="en-US" dirty="0"/>
                    </a:p>
                  </a:txBody>
                  <a:tcPr/>
                </a:tc>
                <a:tc>
                  <a:txBody>
                    <a:bodyPr/>
                    <a:lstStyle/>
                    <a:p>
                      <a:r>
                        <a:rPr lang="en-US" altLang="zh-TW" dirty="0"/>
                        <a:t>7.75</a:t>
                      </a:r>
                      <a:endParaRPr lang="zh-TW" altLang="en-US" dirty="0"/>
                    </a:p>
                  </a:txBody>
                  <a:tcPr/>
                </a:tc>
                <a:tc>
                  <a:txBody>
                    <a:bodyPr/>
                    <a:lstStyle/>
                    <a:p>
                      <a:r>
                        <a:rPr lang="en-US" altLang="zh-TW" dirty="0"/>
                        <a:t>11.98</a:t>
                      </a:r>
                      <a:endParaRPr lang="zh-TW" altLang="en-US" dirty="0"/>
                    </a:p>
                  </a:txBody>
                  <a:tcPr/>
                </a:tc>
                <a:extLst>
                  <a:ext uri="{0D108BD9-81ED-4DB2-BD59-A6C34878D82A}">
                    <a16:rowId xmlns:a16="http://schemas.microsoft.com/office/drawing/2014/main" val="855130096"/>
                  </a:ext>
                </a:extLst>
              </a:tr>
              <a:tr h="288854">
                <a:tc>
                  <a:txBody>
                    <a:bodyPr/>
                    <a:lstStyle/>
                    <a:p>
                      <a:r>
                        <a:rPr lang="en-US" altLang="zh-TW" dirty="0"/>
                        <a:t>core-image-base</a:t>
                      </a:r>
                      <a:endParaRPr lang="zh-TW" altLang="en-US" dirty="0"/>
                    </a:p>
                  </a:txBody>
                  <a:tcPr/>
                </a:tc>
                <a:tc>
                  <a:txBody>
                    <a:bodyPr/>
                    <a:lstStyle/>
                    <a:p>
                      <a:r>
                        <a:rPr lang="en-US" altLang="zh-TW" dirty="0"/>
                        <a:t>4.23</a:t>
                      </a:r>
                      <a:endParaRPr lang="zh-TW" altLang="en-US" dirty="0"/>
                    </a:p>
                  </a:txBody>
                  <a:tcPr/>
                </a:tc>
                <a:tc>
                  <a:txBody>
                    <a:bodyPr/>
                    <a:lstStyle/>
                    <a:p>
                      <a:r>
                        <a:rPr lang="en-US" altLang="zh-TW" dirty="0"/>
                        <a:t>8.22</a:t>
                      </a:r>
                      <a:endParaRPr lang="zh-TW" altLang="en-US" dirty="0"/>
                    </a:p>
                  </a:txBody>
                  <a:tcPr/>
                </a:tc>
                <a:tc>
                  <a:txBody>
                    <a:bodyPr/>
                    <a:lstStyle/>
                    <a:p>
                      <a:r>
                        <a:rPr lang="en-US" altLang="zh-TW" dirty="0"/>
                        <a:t>12.45</a:t>
                      </a:r>
                      <a:endParaRPr lang="zh-TW" altLang="en-US" dirty="0"/>
                    </a:p>
                  </a:txBody>
                  <a:tcPr/>
                </a:tc>
                <a:extLst>
                  <a:ext uri="{0D108BD9-81ED-4DB2-BD59-A6C34878D82A}">
                    <a16:rowId xmlns:a16="http://schemas.microsoft.com/office/drawing/2014/main" val="2443021718"/>
                  </a:ext>
                </a:extLst>
              </a:tr>
              <a:tr h="49105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err="1"/>
                        <a:t>imx</a:t>
                      </a:r>
                      <a:r>
                        <a:rPr lang="en-US" altLang="zh-TW" dirty="0"/>
                        <a:t>-image-core </a:t>
                      </a:r>
                      <a:endParaRPr lang="zh-TW" altLang="en-US" dirty="0"/>
                    </a:p>
                    <a:p>
                      <a:endParaRPr lang="zh-TW" altLang="en-US" dirty="0"/>
                    </a:p>
                  </a:txBody>
                  <a:tcPr/>
                </a:tc>
                <a:tc>
                  <a:txBody>
                    <a:bodyPr/>
                    <a:lstStyle/>
                    <a:p>
                      <a:r>
                        <a:rPr lang="en-US" altLang="zh-TW" dirty="0"/>
                        <a:t>4.26</a:t>
                      </a:r>
                      <a:endParaRPr lang="zh-TW" altLang="en-US" dirty="0"/>
                    </a:p>
                  </a:txBody>
                  <a:tcPr/>
                </a:tc>
                <a:tc>
                  <a:txBody>
                    <a:bodyPr/>
                    <a:lstStyle/>
                    <a:p>
                      <a:r>
                        <a:rPr lang="en-US" altLang="zh-TW" dirty="0"/>
                        <a:t>9.78</a:t>
                      </a:r>
                      <a:endParaRPr lang="zh-TW" altLang="en-US" dirty="0"/>
                    </a:p>
                  </a:txBody>
                  <a:tcPr/>
                </a:tc>
                <a:tc>
                  <a:txBody>
                    <a:bodyPr/>
                    <a:lstStyle/>
                    <a:p>
                      <a:r>
                        <a:rPr lang="en-US" altLang="zh-TW" dirty="0"/>
                        <a:t>14.04</a:t>
                      </a:r>
                      <a:endParaRPr lang="zh-TW" altLang="en-US" dirty="0"/>
                    </a:p>
                  </a:txBody>
                  <a:tcPr/>
                </a:tc>
                <a:extLst>
                  <a:ext uri="{0D108BD9-81ED-4DB2-BD59-A6C34878D82A}">
                    <a16:rowId xmlns:a16="http://schemas.microsoft.com/office/drawing/2014/main" val="4237555278"/>
                  </a:ext>
                </a:extLst>
              </a:tr>
              <a:tr h="339884">
                <a:tc>
                  <a:txBody>
                    <a:bodyPr/>
                    <a:lstStyle/>
                    <a:p>
                      <a:r>
                        <a:rPr lang="en-US" altLang="zh-TW" dirty="0" err="1"/>
                        <a:t>imx</a:t>
                      </a:r>
                      <a:r>
                        <a:rPr lang="en-US" altLang="zh-TW" dirty="0"/>
                        <a:t>-image-multimedia </a:t>
                      </a:r>
                      <a:endParaRPr lang="zh-TW" altLang="en-US" dirty="0"/>
                    </a:p>
                  </a:txBody>
                  <a:tcPr/>
                </a:tc>
                <a:tc>
                  <a:txBody>
                    <a:bodyPr/>
                    <a:lstStyle/>
                    <a:p>
                      <a:r>
                        <a:rPr lang="en-US" altLang="zh-TW" dirty="0"/>
                        <a:t>4.27</a:t>
                      </a:r>
                      <a:endParaRPr lang="zh-TW" altLang="en-US" dirty="0"/>
                    </a:p>
                  </a:txBody>
                  <a:tcPr/>
                </a:tc>
                <a:tc>
                  <a:txBody>
                    <a:bodyPr/>
                    <a:lstStyle/>
                    <a:p>
                      <a:r>
                        <a:rPr lang="en-US" altLang="zh-TW" dirty="0"/>
                        <a:t>10.17</a:t>
                      </a:r>
                      <a:endParaRPr lang="zh-TW" altLang="en-US" dirty="0"/>
                    </a:p>
                  </a:txBody>
                  <a:tcPr/>
                </a:tc>
                <a:tc>
                  <a:txBody>
                    <a:bodyPr/>
                    <a:lstStyle/>
                    <a:p>
                      <a:r>
                        <a:rPr lang="en-US" altLang="zh-TW" dirty="0"/>
                        <a:t>14.44</a:t>
                      </a:r>
                      <a:endParaRPr lang="zh-TW" altLang="en-US" dirty="0"/>
                    </a:p>
                  </a:txBody>
                  <a:tcPr/>
                </a:tc>
                <a:extLst>
                  <a:ext uri="{0D108BD9-81ED-4DB2-BD59-A6C34878D82A}">
                    <a16:rowId xmlns:a16="http://schemas.microsoft.com/office/drawing/2014/main" val="484216138"/>
                  </a:ext>
                </a:extLst>
              </a:tr>
              <a:tr h="49105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err="1"/>
                        <a:t>imx</a:t>
                      </a:r>
                      <a:r>
                        <a:rPr lang="en-US" altLang="zh-TW" dirty="0"/>
                        <a:t>-image-full</a:t>
                      </a:r>
                      <a:endParaRPr lang="zh-TW" altLang="en-US" dirty="0"/>
                    </a:p>
                    <a:p>
                      <a:endParaRPr lang="zh-TW" altLang="en-US" dirty="0"/>
                    </a:p>
                  </a:txBody>
                  <a:tcPr/>
                </a:tc>
                <a:tc>
                  <a:txBody>
                    <a:bodyPr/>
                    <a:lstStyle/>
                    <a:p>
                      <a:r>
                        <a:rPr lang="en-US" altLang="zh-TW" dirty="0"/>
                        <a:t>4.28</a:t>
                      </a:r>
                      <a:endParaRPr lang="zh-TW" altLang="en-US" dirty="0"/>
                    </a:p>
                  </a:txBody>
                  <a:tcPr/>
                </a:tc>
                <a:tc>
                  <a:txBody>
                    <a:bodyPr/>
                    <a:lstStyle/>
                    <a:p>
                      <a:r>
                        <a:rPr lang="en-US" altLang="zh-TW" dirty="0"/>
                        <a:t>10.29</a:t>
                      </a:r>
                      <a:endParaRPr lang="zh-TW" altLang="en-US" dirty="0"/>
                    </a:p>
                  </a:txBody>
                  <a:tcPr/>
                </a:tc>
                <a:tc>
                  <a:txBody>
                    <a:bodyPr/>
                    <a:lstStyle/>
                    <a:p>
                      <a:r>
                        <a:rPr lang="en-US" altLang="zh-TW" dirty="0"/>
                        <a:t>14.57</a:t>
                      </a:r>
                      <a:endParaRPr lang="zh-TW" altLang="en-US" dirty="0"/>
                    </a:p>
                  </a:txBody>
                  <a:tcPr/>
                </a:tc>
                <a:extLst>
                  <a:ext uri="{0D108BD9-81ED-4DB2-BD59-A6C34878D82A}">
                    <a16:rowId xmlns:a16="http://schemas.microsoft.com/office/drawing/2014/main" val="1699497329"/>
                  </a:ext>
                </a:extLst>
              </a:tr>
            </a:tbl>
          </a:graphicData>
        </a:graphic>
      </p:graphicFrame>
    </p:spTree>
    <p:extLst>
      <p:ext uri="{BB962C8B-B14F-4D97-AF65-F5344CB8AC3E}">
        <p14:creationId xmlns:p14="http://schemas.microsoft.com/office/powerpoint/2010/main" val="733219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8077200" cy="533400"/>
          </a:xfrm>
        </p:spPr>
        <p:txBody>
          <a:bodyPr/>
          <a:lstStyle/>
          <a:p>
            <a:r>
              <a:rPr lang="zh-TW" altLang="en-US" dirty="0">
                <a:latin typeface="標楷體" panose="03000509000000000000" pitchFamily="65" charset="-120"/>
                <a:ea typeface="標楷體" panose="03000509000000000000" pitchFamily="65" charset="-120"/>
              </a:rPr>
              <a:t>下次進度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NXP</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i.MX 8M</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Quad</a:t>
            </a:r>
            <a:br>
              <a:rPr lang="en-US" altLang="zh-TW" dirty="0">
                <a:latin typeface="標楷體" panose="03000509000000000000" pitchFamily="65" charset="-120"/>
                <a:ea typeface="標楷體" panose="03000509000000000000" pitchFamily="65" charset="-120"/>
              </a:rPr>
            </a:br>
            <a:endParaRPr lang="zh-TW" altLang="en-US" dirty="0">
              <a:latin typeface="標楷體" panose="03000509000000000000" pitchFamily="65" charset="-120"/>
              <a:ea typeface="標楷體" panose="03000509000000000000" pitchFamily="65" charset="-120"/>
            </a:endParaRPr>
          </a:p>
        </p:txBody>
      </p:sp>
      <p:sp>
        <p:nvSpPr>
          <p:cNvPr id="48" name="文字版面配置區 6">
            <a:extLst>
              <a:ext uri="{FF2B5EF4-FFF2-40B4-BE49-F238E27FC236}">
                <a16:creationId xmlns:a16="http://schemas.microsoft.com/office/drawing/2014/main" id="{1F1959B1-F8C9-4971-B627-FBFA5A1C73A8}"/>
              </a:ext>
            </a:extLst>
          </p:cNvPr>
          <p:cNvSpPr txBox="1"/>
          <p:nvPr/>
        </p:nvSpPr>
        <p:spPr>
          <a:xfrm>
            <a:off x="556465" y="1033041"/>
            <a:ext cx="8800212" cy="5319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33400" lvl="1" indent="0">
              <a:lnSpc>
                <a:spcPts val="3000"/>
              </a:lnSpc>
              <a:buNone/>
            </a:pPr>
            <a:endParaRPr lang="en-US" altLang="zh-TW" sz="16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r>
              <a:rPr lang="en-US" altLang="zh-TW" sz="1400" dirty="0">
                <a:latin typeface="Calibri" panose="020F0502020204030204" pitchFamily="34" charset="0"/>
                <a:ea typeface="PMingLiU" panose="02020500000000000000" pitchFamily="18" charset="-120"/>
                <a:cs typeface="Times New Roman" panose="02020603050405020304" pitchFamily="18" charset="0"/>
              </a:rPr>
              <a:t>	</a:t>
            </a:r>
            <a:endParaRPr lang="en-US" altLang="zh-TW" sz="1100" dirty="0"/>
          </a:p>
        </p:txBody>
      </p:sp>
      <p:sp>
        <p:nvSpPr>
          <p:cNvPr id="36" name="文字版面配置區 6">
            <a:extLst>
              <a:ext uri="{FF2B5EF4-FFF2-40B4-BE49-F238E27FC236}">
                <a16:creationId xmlns:a16="http://schemas.microsoft.com/office/drawing/2014/main" id="{9345B08E-187D-4A09-854F-D96B690B91EF}"/>
              </a:ext>
            </a:extLst>
          </p:cNvPr>
          <p:cNvSpPr txBox="1"/>
          <p:nvPr/>
        </p:nvSpPr>
        <p:spPr>
          <a:xfrm>
            <a:off x="549323" y="1126861"/>
            <a:ext cx="8800212" cy="75676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ts val="3000"/>
              </a:lnSpc>
              <a:spcBef>
                <a:spcPts val="560"/>
              </a:spcBef>
              <a:buClr>
                <a:schemeClr val="accent2"/>
              </a:buClr>
              <a:buSzPts val="2800"/>
              <a:buFont typeface="Noto Sans Symbols"/>
              <a:buChar char="❖"/>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根據計畫書中內容進行開發，以下分別為階段二目標和當前開發進度及優先序。</a:t>
            </a:r>
            <a:endParaRPr lang="en-US" altLang="zh-TW" sz="16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r>
              <a:rPr lang="en-US" altLang="zh-TW" sz="1400" dirty="0">
                <a:latin typeface="Calibri" panose="020F0502020204030204" pitchFamily="34" charset="0"/>
                <a:ea typeface="PMingLiU" panose="02020500000000000000" pitchFamily="18" charset="-120"/>
                <a:cs typeface="Times New Roman" panose="02020603050405020304" pitchFamily="18" charset="0"/>
              </a:rPr>
              <a:t>	</a:t>
            </a:r>
            <a:endParaRPr lang="en-US" altLang="zh-TW" sz="1100" dirty="0"/>
          </a:p>
        </p:txBody>
      </p:sp>
      <p:graphicFrame>
        <p:nvGraphicFramePr>
          <p:cNvPr id="3" name="表格 2">
            <a:extLst>
              <a:ext uri="{FF2B5EF4-FFF2-40B4-BE49-F238E27FC236}">
                <a16:creationId xmlns:a16="http://schemas.microsoft.com/office/drawing/2014/main" id="{D10F0EB0-41D0-B2B0-CD92-D00BC92DF8B0}"/>
              </a:ext>
            </a:extLst>
          </p:cNvPr>
          <p:cNvGraphicFramePr>
            <a:graphicFrameLocks noGrp="1"/>
          </p:cNvGraphicFramePr>
          <p:nvPr/>
        </p:nvGraphicFramePr>
        <p:xfrm>
          <a:off x="161219" y="1694153"/>
          <a:ext cx="4594158" cy="2374913"/>
        </p:xfrm>
        <a:graphic>
          <a:graphicData uri="http://schemas.openxmlformats.org/drawingml/2006/table">
            <a:tbl>
              <a:tblPr firstRow="1" bandRow="1">
                <a:tableStyleId>{5C22544A-7EE6-4342-B048-85BDC9FD1C3A}</a:tableStyleId>
              </a:tblPr>
              <a:tblGrid>
                <a:gridCol w="1531386">
                  <a:extLst>
                    <a:ext uri="{9D8B030D-6E8A-4147-A177-3AD203B41FA5}">
                      <a16:colId xmlns:a16="http://schemas.microsoft.com/office/drawing/2014/main" val="2214116554"/>
                    </a:ext>
                  </a:extLst>
                </a:gridCol>
                <a:gridCol w="1531386">
                  <a:extLst>
                    <a:ext uri="{9D8B030D-6E8A-4147-A177-3AD203B41FA5}">
                      <a16:colId xmlns:a16="http://schemas.microsoft.com/office/drawing/2014/main" val="2817570406"/>
                    </a:ext>
                  </a:extLst>
                </a:gridCol>
                <a:gridCol w="1531386">
                  <a:extLst>
                    <a:ext uri="{9D8B030D-6E8A-4147-A177-3AD203B41FA5}">
                      <a16:colId xmlns:a16="http://schemas.microsoft.com/office/drawing/2014/main" val="4218185479"/>
                    </a:ext>
                  </a:extLst>
                </a:gridCol>
              </a:tblGrid>
              <a:tr h="395480">
                <a:tc>
                  <a:txBody>
                    <a:bodyPr/>
                    <a:lstStyle/>
                    <a:p>
                      <a:pPr algn="ctr"/>
                      <a:r>
                        <a:rPr lang="zh-TW" altLang="en-US" dirty="0">
                          <a:latin typeface="標楷體" panose="03000509000000000000" pitchFamily="65" charset="-120"/>
                          <a:ea typeface="標楷體" panose="03000509000000000000" pitchFamily="65" charset="-120"/>
                        </a:rPr>
                        <a:t>階段</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時間</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目標</a:t>
                      </a:r>
                    </a:p>
                  </a:txBody>
                  <a:tcPr/>
                </a:tc>
                <a:extLst>
                  <a:ext uri="{0D108BD9-81ED-4DB2-BD59-A6C34878D82A}">
                    <a16:rowId xmlns:a16="http://schemas.microsoft.com/office/drawing/2014/main" val="2544011215"/>
                  </a:ext>
                </a:extLst>
              </a:tr>
              <a:tr h="1979433">
                <a:tc>
                  <a:txBody>
                    <a:bodyPr/>
                    <a:lstStyle/>
                    <a:p>
                      <a:pPr algn="ctr"/>
                      <a:r>
                        <a:rPr lang="zh-TW" altLang="en-US" dirty="0">
                          <a:latin typeface="標楷體" panose="03000509000000000000" pitchFamily="65" charset="-120"/>
                          <a:ea typeface="標楷體" panose="03000509000000000000" pitchFamily="65" charset="-120"/>
                        </a:rPr>
                        <a:t>階段二</a:t>
                      </a:r>
                    </a:p>
                  </a:txBody>
                  <a:tcPr/>
                </a:tc>
                <a:tc>
                  <a:txBody>
                    <a:bodyPr/>
                    <a:lstStyle/>
                    <a:p>
                      <a:pPr algn="ctr"/>
                      <a:r>
                        <a:rPr lang="en-US" altLang="zh-TW" dirty="0">
                          <a:latin typeface="Times New Roman" panose="02020603050405020304" pitchFamily="18" charset="0"/>
                          <a:cs typeface="Times New Roman" panose="02020603050405020304" pitchFamily="18" charset="0"/>
                        </a:rPr>
                        <a:t>3 month</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342900" lvl="0" indent="-342900">
                        <a:buFont typeface="+mj-lt"/>
                        <a:buAutoNum type="arabicPeriod"/>
                      </a:pPr>
                      <a:r>
                        <a:rPr lang="en-US" sz="1400" kern="100" dirty="0">
                          <a:effectLst/>
                          <a:latin typeface="Times New Roman" panose="02020603050405020304" pitchFamily="18" charset="0"/>
                          <a:ea typeface="新細明體" panose="02020500000000000000" pitchFamily="18" charset="-120"/>
                          <a:cs typeface="Times New Roman" panose="02020603050405020304" pitchFamily="18" charset="0"/>
                        </a:rPr>
                        <a:t>OS</a:t>
                      </a:r>
                      <a:r>
                        <a:rPr lang="zh-TW" altLang="en-US" sz="1400" kern="100" dirty="0">
                          <a:effectLst/>
                          <a:latin typeface="Times New Roman" panose="02020603050405020304" pitchFamily="18" charset="0"/>
                          <a:ea typeface="新細明體" panose="02020500000000000000" pitchFamily="18" charset="-120"/>
                          <a:cs typeface="Times New Roman" panose="02020603050405020304" pitchFamily="18" charset="0"/>
                        </a:rPr>
                        <a:t> </a:t>
                      </a:r>
                      <a:r>
                        <a:rPr lang="zh-TW" altLang="en-US" sz="1400" kern="100" dirty="0">
                          <a:effectLst/>
                          <a:latin typeface="標楷體" panose="03000509000000000000" pitchFamily="65" charset="-120"/>
                          <a:ea typeface="標楷體" panose="03000509000000000000" pitchFamily="65" charset="-120"/>
                          <a:cs typeface="Times New Roman" panose="02020603050405020304" pitchFamily="18" charset="0"/>
                        </a:rPr>
                        <a:t>完成</a:t>
                      </a:r>
                      <a:endParaRPr lang="zh-TW" sz="1400" kern="100" dirty="0">
                        <a:effectLst/>
                        <a:latin typeface="標楷體" panose="03000509000000000000" pitchFamily="65" charset="-120"/>
                        <a:ea typeface="標楷體" panose="03000509000000000000" pitchFamily="65" charset="-120"/>
                        <a:cs typeface="Times New Roman" panose="02020603050405020304" pitchFamily="18" charset="0"/>
                      </a:endParaRP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Security</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Sensor</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altLang="zh-TW"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Camera</a:t>
                      </a:r>
                      <a:r>
                        <a:rPr lang="zh-TW" alt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zh-TW" altLang="en-US" sz="1400" b="0" i="0" u="none" strike="noStrike" kern="100" cap="none" dirty="0">
                          <a:solidFill>
                            <a:schemeClr val="dk1"/>
                          </a:solidFill>
                          <a:effectLst/>
                          <a:latin typeface="標楷體" panose="03000509000000000000" pitchFamily="65" charset="-120"/>
                          <a:ea typeface="標楷體" panose="03000509000000000000" pitchFamily="65" charset="-120"/>
                          <a:cs typeface="Times New Roman" panose="02020603050405020304" pitchFamily="18" charset="0"/>
                          <a:sym typeface="Arial"/>
                        </a:rPr>
                        <a:t>功耗調教</a:t>
                      </a:r>
                      <a:endPar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p>
                      <a:pPr marL="342900" lvl="0" indent="-342900">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問題分析與解決方案</a:t>
                      </a:r>
                    </a:p>
                    <a:p>
                      <a:pPr marL="342900" lvl="0" indent="-342900">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期末報告</a:t>
                      </a:r>
                    </a:p>
                  </a:txBody>
                  <a:tcPr marL="17780" marR="17780" marT="0" marB="0"/>
                </a:tc>
                <a:extLst>
                  <a:ext uri="{0D108BD9-81ED-4DB2-BD59-A6C34878D82A}">
                    <a16:rowId xmlns:a16="http://schemas.microsoft.com/office/drawing/2014/main" val="2426695749"/>
                  </a:ext>
                </a:extLst>
              </a:tr>
            </a:tbl>
          </a:graphicData>
        </a:graphic>
      </p:graphicFrame>
      <p:graphicFrame>
        <p:nvGraphicFramePr>
          <p:cNvPr id="11" name="表格 10">
            <a:extLst>
              <a:ext uri="{FF2B5EF4-FFF2-40B4-BE49-F238E27FC236}">
                <a16:creationId xmlns:a16="http://schemas.microsoft.com/office/drawing/2014/main" id="{B83D519A-D68F-8683-502B-25BBB19C9605}"/>
              </a:ext>
            </a:extLst>
          </p:cNvPr>
          <p:cNvGraphicFramePr>
            <a:graphicFrameLocks noGrp="1"/>
          </p:cNvGraphicFramePr>
          <p:nvPr>
            <p:extLst>
              <p:ext uri="{D42A27DB-BD31-4B8C-83A1-F6EECF244321}">
                <p14:modId xmlns:p14="http://schemas.microsoft.com/office/powerpoint/2010/main" val="542544624"/>
              </p:ext>
            </p:extLst>
          </p:nvPr>
        </p:nvGraphicFramePr>
        <p:xfrm>
          <a:off x="5166692" y="1694153"/>
          <a:ext cx="4594158" cy="3732456"/>
        </p:xfrm>
        <a:graphic>
          <a:graphicData uri="http://schemas.openxmlformats.org/drawingml/2006/table">
            <a:tbl>
              <a:tblPr firstRow="1" bandRow="1">
                <a:tableStyleId>{5C22544A-7EE6-4342-B048-85BDC9FD1C3A}</a:tableStyleId>
              </a:tblPr>
              <a:tblGrid>
                <a:gridCol w="2297079">
                  <a:extLst>
                    <a:ext uri="{9D8B030D-6E8A-4147-A177-3AD203B41FA5}">
                      <a16:colId xmlns:a16="http://schemas.microsoft.com/office/drawing/2014/main" val="1386511907"/>
                    </a:ext>
                  </a:extLst>
                </a:gridCol>
                <a:gridCol w="2297079">
                  <a:extLst>
                    <a:ext uri="{9D8B030D-6E8A-4147-A177-3AD203B41FA5}">
                      <a16:colId xmlns:a16="http://schemas.microsoft.com/office/drawing/2014/main" val="3728400076"/>
                    </a:ext>
                  </a:extLst>
                </a:gridCol>
              </a:tblGrid>
              <a:tr h="533208">
                <a:tc>
                  <a:txBody>
                    <a:bodyPr/>
                    <a:lstStyle/>
                    <a:p>
                      <a:pPr algn="ctr"/>
                      <a:r>
                        <a:rPr lang="zh-TW" altLang="en-US" dirty="0">
                          <a:latin typeface="標楷體" panose="03000509000000000000" pitchFamily="65" charset="-120"/>
                          <a:ea typeface="標楷體" panose="03000509000000000000" pitchFamily="65" charset="-120"/>
                        </a:rPr>
                        <a:t>目標</a:t>
                      </a:r>
                    </a:p>
                  </a:txBody>
                  <a:tcPr/>
                </a:tc>
                <a:tc>
                  <a:txBody>
                    <a:bodyPr/>
                    <a:lstStyle/>
                    <a:p>
                      <a:pPr algn="ctr"/>
                      <a:r>
                        <a:rPr lang="zh-TW" altLang="en-US" dirty="0">
                          <a:latin typeface="標楷體" panose="03000509000000000000" pitchFamily="65" charset="-120"/>
                          <a:ea typeface="標楷體" panose="03000509000000000000" pitchFamily="65" charset="-120"/>
                        </a:rPr>
                        <a:t>進度</a:t>
                      </a:r>
                    </a:p>
                  </a:txBody>
                  <a:tcPr/>
                </a:tc>
                <a:extLst>
                  <a:ext uri="{0D108BD9-81ED-4DB2-BD59-A6C34878D82A}">
                    <a16:rowId xmlns:a16="http://schemas.microsoft.com/office/drawing/2014/main" val="1964623179"/>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Camera</a:t>
                      </a:r>
                      <a:r>
                        <a:rPr lang="zh-TW" altLang="en-US"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1487879987"/>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Magnetic Sensor</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3999597867"/>
                  </a:ext>
                </a:extLst>
              </a:tr>
              <a:tr h="533208">
                <a:tc>
                  <a:txBody>
                    <a:bodyPr/>
                    <a:lstStyle/>
                    <a:p>
                      <a:pPr algn="ct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Light Sensor</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endParaRPr lang="en-US" altLang="zh-TW" dirty="0"/>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zh-TW" altLang="en-US" sz="1400" b="0" i="0" u="none" strike="noStrike" cap="none" dirty="0">
                        <a:solidFill>
                          <a:schemeClr val="dk1"/>
                        </a:solidFill>
                        <a:latin typeface="Times New Roman" panose="02020603050405020304" pitchFamily="18" charset="0"/>
                        <a:ea typeface="標楷體" panose="03000509000000000000" pitchFamily="65" charset="-120"/>
                        <a:cs typeface="Times New Roman" panose="02020603050405020304" pitchFamily="18" charset="0"/>
                        <a:sym typeface="Arial"/>
                      </a:endParaRPr>
                    </a:p>
                  </a:txBody>
                  <a:tcPr/>
                </a:tc>
                <a:extLst>
                  <a:ext uri="{0D108BD9-81ED-4DB2-BD59-A6C34878D82A}">
                    <a16:rowId xmlns:a16="http://schemas.microsoft.com/office/drawing/2014/main" val="4087252660"/>
                  </a:ext>
                </a:extLst>
              </a:tr>
              <a:tr h="533208">
                <a:tc>
                  <a:txBody>
                    <a:bodyPr/>
                    <a:lstStyle/>
                    <a:p>
                      <a:pPr algn="ct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Acceleration and Gyro Sensor </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49512433"/>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Security</a:t>
                      </a:r>
                      <a:r>
                        <a:rPr lang="zh-TW" altLang="en-US"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p>
                      <a:pPr algn="ct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txBody>
                  <a:tcPr/>
                </a:tc>
                <a:extLst>
                  <a:ext uri="{0D108BD9-81ED-4DB2-BD59-A6C34878D82A}">
                    <a16:rowId xmlns:a16="http://schemas.microsoft.com/office/drawing/2014/main" val="2314086582"/>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kern="100" dirty="0">
                          <a:effectLst/>
                          <a:latin typeface="Times New Roman" panose="02020603050405020304" pitchFamily="18" charset="0"/>
                          <a:ea typeface="+mn-ea"/>
                          <a:cs typeface="Times New Roman" panose="02020603050405020304" pitchFamily="18" charset="0"/>
                        </a:rPr>
                        <a:t>OS</a:t>
                      </a:r>
                      <a:r>
                        <a:rPr lang="zh-TW" altLang="en-US" sz="1400" kern="100" dirty="0">
                          <a:effectLst/>
                          <a:latin typeface="Times New Roman" panose="02020603050405020304" pitchFamily="18" charset="0"/>
                          <a:ea typeface="+mn-ea"/>
                          <a:cs typeface="Times New Roman" panose="02020603050405020304" pitchFamily="18" charset="0"/>
                        </a:rPr>
                        <a:t>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完成</a:t>
                      </a:r>
                      <a:endParaRPr lang="zh-TW" altLang="zh-TW" sz="1400" b="0" i="0" u="none" strike="noStrike" cap="none" dirty="0">
                        <a:solidFill>
                          <a:schemeClr val="dk1"/>
                        </a:solidFill>
                        <a:latin typeface="標楷體" panose="03000509000000000000" pitchFamily="65" charset="-120"/>
                        <a:ea typeface="標楷體" panose="03000509000000000000" pitchFamily="65" charset="-120"/>
                        <a:cs typeface="+mn-cs"/>
                        <a:sym typeface="Arial"/>
                      </a:endParaRP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977033846"/>
                  </a:ext>
                </a:extLst>
              </a:tr>
            </a:tbl>
          </a:graphicData>
        </a:graphic>
      </p:graphicFrame>
      <p:sp>
        <p:nvSpPr>
          <p:cNvPr id="12" name="文字方塊 11">
            <a:extLst>
              <a:ext uri="{FF2B5EF4-FFF2-40B4-BE49-F238E27FC236}">
                <a16:creationId xmlns:a16="http://schemas.microsoft.com/office/drawing/2014/main" id="{7BECC031-B379-DD16-07D3-4CDE50C18C2A}"/>
              </a:ext>
            </a:extLst>
          </p:cNvPr>
          <p:cNvSpPr txBox="1"/>
          <p:nvPr/>
        </p:nvSpPr>
        <p:spPr>
          <a:xfrm>
            <a:off x="4037802" y="4835798"/>
            <a:ext cx="992579" cy="738664"/>
          </a:xfrm>
          <a:prstGeom prst="rect">
            <a:avLst/>
          </a:prstGeom>
          <a:noFill/>
          <a:ln w="28575">
            <a:solidFill>
              <a:srgbClr val="FF0000"/>
            </a:solidFill>
          </a:ln>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完成</a:t>
            </a:r>
            <a:br>
              <a:rPr lang="en-US" altLang="zh-TW" dirty="0">
                <a:latin typeface="標楷體" panose="03000509000000000000" pitchFamily="65" charset="-120"/>
                <a:ea typeface="標楷體" panose="03000509000000000000" pitchFamily="65" charset="-120"/>
              </a:rPr>
            </a:b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未進行</a:t>
            </a:r>
            <a:endParaRPr lang="en-US" altLang="zh-TW" dirty="0">
              <a:latin typeface="標楷體" panose="03000509000000000000" pitchFamily="65" charset="-120"/>
              <a:ea typeface="標楷體" panose="03000509000000000000" pitchFamily="65" charset="-120"/>
            </a:endParaRP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進行中</a:t>
            </a:r>
            <a:endParaRPr lang="en-US" altLang="zh-TW" dirty="0">
              <a:latin typeface="標楷體" panose="03000509000000000000" pitchFamily="65" charset="-120"/>
              <a:ea typeface="標楷體" panose="03000509000000000000" pitchFamily="65" charset="-120"/>
            </a:endParaRPr>
          </a:p>
        </p:txBody>
      </p:sp>
      <p:cxnSp>
        <p:nvCxnSpPr>
          <p:cNvPr id="14" name="直線單箭頭接點 13">
            <a:extLst>
              <a:ext uri="{FF2B5EF4-FFF2-40B4-BE49-F238E27FC236}">
                <a16:creationId xmlns:a16="http://schemas.microsoft.com/office/drawing/2014/main" id="{955245E1-64B9-6450-D56F-4D630C5BE47B}"/>
              </a:ext>
            </a:extLst>
          </p:cNvPr>
          <p:cNvCxnSpPr>
            <a:cxnSpLocks/>
          </p:cNvCxnSpPr>
          <p:nvPr/>
        </p:nvCxnSpPr>
        <p:spPr>
          <a:xfrm>
            <a:off x="5302612" y="2341123"/>
            <a:ext cx="0" cy="308601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17" name="文字方塊 16">
            <a:extLst>
              <a:ext uri="{FF2B5EF4-FFF2-40B4-BE49-F238E27FC236}">
                <a16:creationId xmlns:a16="http://schemas.microsoft.com/office/drawing/2014/main" id="{49FB4C22-0FBA-D306-BB7C-E9D2E33DD1C5}"/>
              </a:ext>
            </a:extLst>
          </p:cNvPr>
          <p:cNvSpPr txBox="1"/>
          <p:nvPr/>
        </p:nvSpPr>
        <p:spPr>
          <a:xfrm>
            <a:off x="4393884" y="4246747"/>
            <a:ext cx="870751" cy="338554"/>
          </a:xfrm>
          <a:prstGeom prst="rect">
            <a:avLst/>
          </a:prstGeom>
          <a:noFill/>
        </p:spPr>
        <p:txBody>
          <a:bodyPr wrap="none" rtlCol="0">
            <a:spAutoFit/>
          </a:bodyPr>
          <a:lstStyle/>
          <a:p>
            <a:r>
              <a:rPr lang="en-US" altLang="zh-TW" sz="1600" b="1" dirty="0">
                <a:latin typeface="Times New Roman" panose="02020603050405020304" pitchFamily="18" charset="0"/>
                <a:cs typeface="Times New Roman" panose="02020603050405020304" pitchFamily="18" charset="0"/>
              </a:rPr>
              <a:t>priority</a:t>
            </a:r>
            <a:endParaRPr lang="zh-TW" alt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0556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4" name="圖片 6"/>
          <p:cNvPicPr>
            <a:picLocks noChangeAspect="1"/>
          </p:cNvPicPr>
          <p:nvPr/>
        </p:nvPicPr>
        <p:blipFill>
          <a:blip r:embed="rId3"/>
          <a:srcRect/>
          <a:stretch>
            <a:fillRect/>
          </a:stretch>
        </p:blipFill>
        <p:spPr bwMode="auto">
          <a:xfrm>
            <a:off x="3357746" y="3004771"/>
            <a:ext cx="5556738" cy="848458"/>
          </a:xfrm>
          <a:prstGeom prst="rect">
            <a:avLst/>
          </a:prstGeom>
          <a:effectLst>
            <a:outerShdw blurRad="50800" dist="38100" dir="5400000" algn="t" rotWithShape="0">
              <a:prstClr val="black">
                <a:alpha val="40000"/>
              </a:prstClr>
            </a:outerShdw>
          </a:effectLst>
        </p:spPr>
      </p:pic>
      <p:pic>
        <p:nvPicPr>
          <p:cNvPr id="2097165" name="Picture 2" descr="http://www.secretariat.ntust.edu.tw/ezfiles/20/1020/img/1688/09.png"/>
          <p:cNvPicPr>
            <a:picLocks noChangeAspect="1" noChangeArrowheads="1"/>
          </p:cNvPicPr>
          <p:nvPr/>
        </p:nvPicPr>
        <p:blipFill>
          <a:blip r:embed="rId4" cstate="print"/>
          <a:srcRect/>
          <a:stretch>
            <a:fillRect/>
          </a:stretch>
        </p:blipFill>
        <p:spPr bwMode="auto">
          <a:xfrm>
            <a:off x="964866" y="1628181"/>
            <a:ext cx="6260123" cy="1186962"/>
          </a:xfrm>
          <a:prstGeom prst="rect">
            <a:avLst/>
          </a:prstGeom>
          <a:noFill/>
          <a:ln>
            <a:noFill/>
          </a:ln>
          <a:effectLst>
            <a:outerShdw blurRad="63500" sx="102000" sy="102000" algn="ctr" rotWithShape="0">
              <a:prstClr val="black">
                <a:alpha val="40000"/>
              </a:prstClr>
            </a:outerShdw>
          </a:effectLst>
        </p:spPr>
      </p:pic>
      <p:pic>
        <p:nvPicPr>
          <p:cNvPr id="2097166" name="圖片 7"/>
          <p:cNvPicPr>
            <a:picLocks noChangeAspect="1"/>
          </p:cNvPicPr>
          <p:nvPr/>
        </p:nvPicPr>
        <p:blipFill>
          <a:blip r:embed="rId5"/>
          <a:stretch>
            <a:fillRect/>
          </a:stretch>
        </p:blipFill>
        <p:spPr>
          <a:xfrm>
            <a:off x="2493650" y="4226628"/>
            <a:ext cx="4266522" cy="9305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標題 6"/>
          <p:cNvSpPr>
            <a:spLocks noGrp="1"/>
          </p:cNvSpPr>
          <p:nvPr>
            <p:ph type="title"/>
          </p:nvPr>
        </p:nvSpPr>
        <p:spPr>
          <a:xfrm>
            <a:off x="551189" y="714375"/>
            <a:ext cx="8077200" cy="533400"/>
          </a:xfrm>
        </p:spPr>
        <p:txBody>
          <a:bodyPr/>
          <a:lstStyle/>
          <a:p>
            <a:r>
              <a:rPr lang="zh-TW" altLang="en-US" dirty="0">
                <a:latin typeface="標楷體" panose="03000509000000000000" pitchFamily="65" charset="-120"/>
                <a:ea typeface="標楷體" panose="03000509000000000000" pitchFamily="65" charset="-120"/>
              </a:rPr>
              <a:t>目前已完成進度</a:t>
            </a:r>
            <a:r>
              <a:rPr lang="en-US" altLang="zh-TW" dirty="0"/>
              <a:t>:</a:t>
            </a:r>
            <a:r>
              <a:rPr lang="zh-TW" altLang="en-US" dirty="0"/>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NXP</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i.MX 8M</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Quad</a:t>
            </a:r>
            <a:br>
              <a:rPr lang="en-US" altLang="zh-TW" dirty="0">
                <a:latin typeface="標楷體" panose="03000509000000000000" pitchFamily="65" charset="-120"/>
                <a:ea typeface="標楷體" panose="03000509000000000000" pitchFamily="65" charset="-120"/>
              </a:rPr>
            </a:br>
            <a:endParaRPr lang="zh-TW" altLang="en-US" dirty="0">
              <a:latin typeface="標楷體" panose="03000509000000000000" pitchFamily="65" charset="-120"/>
              <a:ea typeface="標楷體" panose="03000509000000000000" pitchFamily="65" charset="-120"/>
            </a:endParaRPr>
          </a:p>
        </p:txBody>
      </p:sp>
      <p:sp>
        <p:nvSpPr>
          <p:cNvPr id="48" name="文字版面配置區 6">
            <a:extLst>
              <a:ext uri="{FF2B5EF4-FFF2-40B4-BE49-F238E27FC236}">
                <a16:creationId xmlns:a16="http://schemas.microsoft.com/office/drawing/2014/main" id="{1F1959B1-F8C9-4971-B627-FBFA5A1C73A8}"/>
              </a:ext>
            </a:extLst>
          </p:cNvPr>
          <p:cNvSpPr txBox="1"/>
          <p:nvPr/>
        </p:nvSpPr>
        <p:spPr>
          <a:xfrm>
            <a:off x="556465" y="1033041"/>
            <a:ext cx="8800212" cy="5319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533400" lvl="1" indent="0">
              <a:lnSpc>
                <a:spcPts val="3000"/>
              </a:lnSpc>
              <a:buNone/>
            </a:pPr>
            <a:endParaRPr lang="en-US" altLang="zh-TW" sz="16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r>
              <a:rPr lang="en-US" altLang="zh-TW" sz="1400" dirty="0">
                <a:latin typeface="Calibri" panose="020F0502020204030204" pitchFamily="34" charset="0"/>
                <a:ea typeface="PMingLiU" panose="02020500000000000000" pitchFamily="18" charset="-120"/>
                <a:cs typeface="Times New Roman" panose="02020603050405020304" pitchFamily="18" charset="0"/>
              </a:rPr>
              <a:t>	</a:t>
            </a:r>
            <a:endParaRPr lang="en-US" altLang="zh-TW" sz="1100" dirty="0"/>
          </a:p>
        </p:txBody>
      </p:sp>
      <p:sp>
        <p:nvSpPr>
          <p:cNvPr id="36" name="文字版面配置區 6">
            <a:extLst>
              <a:ext uri="{FF2B5EF4-FFF2-40B4-BE49-F238E27FC236}">
                <a16:creationId xmlns:a16="http://schemas.microsoft.com/office/drawing/2014/main" id="{9345B08E-187D-4A09-854F-D96B690B91EF}"/>
              </a:ext>
            </a:extLst>
          </p:cNvPr>
          <p:cNvSpPr txBox="1"/>
          <p:nvPr/>
        </p:nvSpPr>
        <p:spPr>
          <a:xfrm>
            <a:off x="549323" y="1126861"/>
            <a:ext cx="8800212" cy="75676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ts val="3000"/>
              </a:lnSpc>
              <a:spcBef>
                <a:spcPts val="560"/>
              </a:spcBef>
              <a:buClr>
                <a:schemeClr val="accent2"/>
              </a:buClr>
              <a:buSzPts val="2800"/>
              <a:buFont typeface="Noto Sans Symbols"/>
              <a:buChar char="❖"/>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根據計畫書中內容進行開發，以下分別為階段一目標和當前開發進度及優先序。</a:t>
            </a:r>
            <a:endParaRPr lang="en-US" altLang="zh-TW" sz="16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r>
              <a:rPr lang="en-US" altLang="zh-TW" sz="1400" dirty="0">
                <a:latin typeface="Calibri" panose="020F0502020204030204" pitchFamily="34" charset="0"/>
                <a:ea typeface="PMingLiU" panose="02020500000000000000" pitchFamily="18" charset="-120"/>
                <a:cs typeface="Times New Roman" panose="02020603050405020304" pitchFamily="18" charset="0"/>
              </a:rPr>
              <a:t>	</a:t>
            </a:r>
            <a:endParaRPr lang="en-US" altLang="zh-TW" sz="1100" dirty="0"/>
          </a:p>
        </p:txBody>
      </p:sp>
      <p:graphicFrame>
        <p:nvGraphicFramePr>
          <p:cNvPr id="3" name="表格 2">
            <a:extLst>
              <a:ext uri="{FF2B5EF4-FFF2-40B4-BE49-F238E27FC236}">
                <a16:creationId xmlns:a16="http://schemas.microsoft.com/office/drawing/2014/main" id="{D10F0EB0-41D0-B2B0-CD92-D00BC92DF8B0}"/>
              </a:ext>
            </a:extLst>
          </p:cNvPr>
          <p:cNvGraphicFramePr>
            <a:graphicFrameLocks noGrp="1"/>
          </p:cNvGraphicFramePr>
          <p:nvPr/>
        </p:nvGraphicFramePr>
        <p:xfrm>
          <a:off x="161219" y="1694153"/>
          <a:ext cx="4594158" cy="2529080"/>
        </p:xfrm>
        <a:graphic>
          <a:graphicData uri="http://schemas.openxmlformats.org/drawingml/2006/table">
            <a:tbl>
              <a:tblPr firstRow="1" bandRow="1">
                <a:tableStyleId>{5C22544A-7EE6-4342-B048-85BDC9FD1C3A}</a:tableStyleId>
              </a:tblPr>
              <a:tblGrid>
                <a:gridCol w="1531386">
                  <a:extLst>
                    <a:ext uri="{9D8B030D-6E8A-4147-A177-3AD203B41FA5}">
                      <a16:colId xmlns:a16="http://schemas.microsoft.com/office/drawing/2014/main" val="2214116554"/>
                    </a:ext>
                  </a:extLst>
                </a:gridCol>
                <a:gridCol w="1531386">
                  <a:extLst>
                    <a:ext uri="{9D8B030D-6E8A-4147-A177-3AD203B41FA5}">
                      <a16:colId xmlns:a16="http://schemas.microsoft.com/office/drawing/2014/main" val="2817570406"/>
                    </a:ext>
                  </a:extLst>
                </a:gridCol>
                <a:gridCol w="1531386">
                  <a:extLst>
                    <a:ext uri="{9D8B030D-6E8A-4147-A177-3AD203B41FA5}">
                      <a16:colId xmlns:a16="http://schemas.microsoft.com/office/drawing/2014/main" val="4218185479"/>
                    </a:ext>
                  </a:extLst>
                </a:gridCol>
              </a:tblGrid>
              <a:tr h="395480">
                <a:tc>
                  <a:txBody>
                    <a:bodyPr/>
                    <a:lstStyle/>
                    <a:p>
                      <a:pPr algn="ctr"/>
                      <a:r>
                        <a:rPr lang="zh-TW" altLang="en-US" dirty="0">
                          <a:latin typeface="標楷體" panose="03000509000000000000" pitchFamily="65" charset="-120"/>
                          <a:ea typeface="標楷體" panose="03000509000000000000" pitchFamily="65" charset="-120"/>
                        </a:rPr>
                        <a:t>階段</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時間</a:t>
                      </a:r>
                    </a:p>
                  </a:txBody>
                  <a:tcPr/>
                </a:tc>
                <a:tc>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lt1"/>
                          </a:solidFill>
                          <a:latin typeface="標楷體" panose="03000509000000000000" pitchFamily="65" charset="-120"/>
                          <a:ea typeface="標楷體" panose="03000509000000000000" pitchFamily="65" charset="-120"/>
                          <a:cs typeface="+mn-cs"/>
                          <a:sym typeface="Arial"/>
                        </a:rPr>
                        <a:t>目標</a:t>
                      </a:r>
                    </a:p>
                  </a:txBody>
                  <a:tcPr/>
                </a:tc>
                <a:extLst>
                  <a:ext uri="{0D108BD9-81ED-4DB2-BD59-A6C34878D82A}">
                    <a16:rowId xmlns:a16="http://schemas.microsoft.com/office/drawing/2014/main" val="2544011215"/>
                  </a:ext>
                </a:extLst>
              </a:tr>
              <a:tr h="1979433">
                <a:tc>
                  <a:txBody>
                    <a:bodyPr/>
                    <a:lstStyle/>
                    <a:p>
                      <a:pPr algn="ctr"/>
                      <a:r>
                        <a:rPr lang="zh-TW" altLang="en-US" dirty="0">
                          <a:latin typeface="標楷體" panose="03000509000000000000" pitchFamily="65" charset="-120"/>
                          <a:ea typeface="標楷體" panose="03000509000000000000" pitchFamily="65" charset="-120"/>
                        </a:rPr>
                        <a:t>階段一</a:t>
                      </a:r>
                    </a:p>
                  </a:txBody>
                  <a:tcPr/>
                </a:tc>
                <a:tc>
                  <a:txBody>
                    <a:bodyPr/>
                    <a:lstStyle/>
                    <a:p>
                      <a:pPr algn="ctr"/>
                      <a:r>
                        <a:rPr lang="en-US" altLang="zh-TW" dirty="0">
                          <a:latin typeface="Times New Roman" panose="02020603050405020304" pitchFamily="18" charset="0"/>
                          <a:cs typeface="Times New Roman" panose="02020603050405020304" pitchFamily="18" charset="0"/>
                        </a:rPr>
                        <a:t>3 month</a:t>
                      </a:r>
                      <a:endParaRPr lang="zh-TW" altLang="en-US" dirty="0">
                        <a:latin typeface="Times New Roman" panose="02020603050405020304" pitchFamily="18" charset="0"/>
                        <a:cs typeface="Times New Roman" panose="02020603050405020304" pitchFamily="18" charset="0"/>
                      </a:endParaRPr>
                    </a:p>
                  </a:txBody>
                  <a:tcPr/>
                </a:tc>
                <a:tc>
                  <a:txBody>
                    <a:bodyPr/>
                    <a:lstStyle/>
                    <a:p>
                      <a:pPr marL="342900" lvl="0" indent="-342900">
                        <a:buFont typeface="+mj-lt"/>
                        <a:buAutoNum type="arabicPeriod"/>
                      </a:pPr>
                      <a:r>
                        <a:rPr lang="en-US" sz="1400" kern="100" dirty="0" err="1">
                          <a:effectLst/>
                          <a:latin typeface="Times New Roman" panose="02020603050405020304" pitchFamily="18" charset="0"/>
                          <a:ea typeface="新細明體" panose="02020500000000000000" pitchFamily="18" charset="-120"/>
                          <a:cs typeface="Times New Roman" panose="02020603050405020304" pitchFamily="18" charset="0"/>
                        </a:rPr>
                        <a:t>Bootloader+OS</a:t>
                      </a:r>
                      <a:endParaRPr lang="zh-TW" sz="140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Storage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Display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Audio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Network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MCU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驅動</a:t>
                      </a:r>
                    </a:p>
                    <a:p>
                      <a:pPr marL="342900" lvl="0" indent="-342900">
                        <a:buFont typeface="+mj-lt"/>
                        <a:buAutoNum type="arabicPeriod"/>
                      </a:pPr>
                      <a:r>
                        <a:rPr lang="en-US" sz="1400" b="0" i="0" u="none" strike="noStrike" kern="100" cap="none" dirty="0">
                          <a:solidFill>
                            <a:schemeClr val="dk1"/>
                          </a:solidFill>
                          <a:effectLst/>
                          <a:latin typeface="Times New Roman" panose="02020603050405020304" pitchFamily="18" charset="0"/>
                          <a:ea typeface="新細明體" panose="02020500000000000000" pitchFamily="18" charset="-120"/>
                          <a:cs typeface="Times New Roman" panose="02020603050405020304" pitchFamily="18" charset="0"/>
                          <a:sym typeface="Arial"/>
                        </a:rPr>
                        <a:t>USB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p>
                      <a:pPr marL="342900" lvl="0" indent="-342900">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問題分析與解決方案</a:t>
                      </a:r>
                    </a:p>
                    <a:p>
                      <a:pPr marL="342900" lvl="0" indent="-342900">
                        <a:buFont typeface="+mj-lt"/>
                        <a:buAutoNum type="arabicPeriod"/>
                      </a:pP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期中報告</a:t>
                      </a:r>
                    </a:p>
                  </a:txBody>
                  <a:tcPr marL="17780" marR="17780" marT="0" marB="0"/>
                </a:tc>
                <a:extLst>
                  <a:ext uri="{0D108BD9-81ED-4DB2-BD59-A6C34878D82A}">
                    <a16:rowId xmlns:a16="http://schemas.microsoft.com/office/drawing/2014/main" val="2426695749"/>
                  </a:ext>
                </a:extLst>
              </a:tr>
            </a:tbl>
          </a:graphicData>
        </a:graphic>
      </p:graphicFrame>
      <p:graphicFrame>
        <p:nvGraphicFramePr>
          <p:cNvPr id="11" name="表格 10">
            <a:extLst>
              <a:ext uri="{FF2B5EF4-FFF2-40B4-BE49-F238E27FC236}">
                <a16:creationId xmlns:a16="http://schemas.microsoft.com/office/drawing/2014/main" id="{B83D519A-D68F-8683-502B-25BBB19C9605}"/>
              </a:ext>
            </a:extLst>
          </p:cNvPr>
          <p:cNvGraphicFramePr>
            <a:graphicFrameLocks noGrp="1"/>
          </p:cNvGraphicFramePr>
          <p:nvPr/>
        </p:nvGraphicFramePr>
        <p:xfrm>
          <a:off x="5166692" y="1694153"/>
          <a:ext cx="4594158" cy="4265664"/>
        </p:xfrm>
        <a:graphic>
          <a:graphicData uri="http://schemas.openxmlformats.org/drawingml/2006/table">
            <a:tbl>
              <a:tblPr firstRow="1" bandRow="1">
                <a:tableStyleId>{5C22544A-7EE6-4342-B048-85BDC9FD1C3A}</a:tableStyleId>
              </a:tblPr>
              <a:tblGrid>
                <a:gridCol w="2297079">
                  <a:extLst>
                    <a:ext uri="{9D8B030D-6E8A-4147-A177-3AD203B41FA5}">
                      <a16:colId xmlns:a16="http://schemas.microsoft.com/office/drawing/2014/main" val="1386511907"/>
                    </a:ext>
                  </a:extLst>
                </a:gridCol>
                <a:gridCol w="2297079">
                  <a:extLst>
                    <a:ext uri="{9D8B030D-6E8A-4147-A177-3AD203B41FA5}">
                      <a16:colId xmlns:a16="http://schemas.microsoft.com/office/drawing/2014/main" val="3728400076"/>
                    </a:ext>
                  </a:extLst>
                </a:gridCol>
              </a:tblGrid>
              <a:tr h="533208">
                <a:tc>
                  <a:txBody>
                    <a:bodyPr/>
                    <a:lstStyle/>
                    <a:p>
                      <a:pPr algn="ctr"/>
                      <a:r>
                        <a:rPr lang="zh-TW" altLang="en-US" dirty="0">
                          <a:latin typeface="標楷體" panose="03000509000000000000" pitchFamily="65" charset="-120"/>
                          <a:ea typeface="標楷體" panose="03000509000000000000" pitchFamily="65" charset="-120"/>
                        </a:rPr>
                        <a:t>目標</a:t>
                      </a:r>
                    </a:p>
                  </a:txBody>
                  <a:tcPr/>
                </a:tc>
                <a:tc>
                  <a:txBody>
                    <a:bodyPr/>
                    <a:lstStyle/>
                    <a:p>
                      <a:pPr algn="ctr"/>
                      <a:r>
                        <a:rPr lang="zh-TW" altLang="en-US" dirty="0">
                          <a:latin typeface="標楷體" panose="03000509000000000000" pitchFamily="65" charset="-120"/>
                          <a:ea typeface="標楷體" panose="03000509000000000000" pitchFamily="65" charset="-120"/>
                        </a:rPr>
                        <a:t>進度</a:t>
                      </a:r>
                    </a:p>
                  </a:txBody>
                  <a:tcPr/>
                </a:tc>
                <a:extLst>
                  <a:ext uri="{0D108BD9-81ED-4DB2-BD59-A6C34878D82A}">
                    <a16:rowId xmlns:a16="http://schemas.microsoft.com/office/drawing/2014/main" val="1964623179"/>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kern="100" dirty="0">
                          <a:effectLst/>
                          <a:latin typeface="Times New Roman" panose="02020603050405020304" pitchFamily="18" charset="0"/>
                          <a:ea typeface="+mn-ea"/>
                          <a:cs typeface="Times New Roman" panose="02020603050405020304" pitchFamily="18" charset="0"/>
                        </a:rPr>
                        <a:t>Bootloader + OS</a:t>
                      </a:r>
                      <a:endParaRPr lang="zh-TW" altLang="zh-TW" sz="1400" kern="100" dirty="0">
                        <a:effectLst/>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4129786410"/>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Storage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txBody>
                  <a:tcPr/>
                </a:tc>
                <a:tc>
                  <a:txBody>
                    <a:bodyPr/>
                    <a:lstStyle/>
                    <a:p>
                      <a:pPr algn="ct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endParaRPr lang="en-US" altLang="zh-TW" dirty="0"/>
                    </a:p>
                  </a:txBody>
                  <a:tcPr/>
                </a:tc>
                <a:extLst>
                  <a:ext uri="{0D108BD9-81ED-4DB2-BD59-A6C34878D82A}">
                    <a16:rowId xmlns:a16="http://schemas.microsoft.com/office/drawing/2014/main" val="2314086582"/>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Display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endParaRPr lang="zh-TW" altLang="en-US" sz="1400" b="0" i="0" u="none" strike="noStrike" cap="none" dirty="0">
                        <a:solidFill>
                          <a:schemeClr val="dk1"/>
                        </a:solidFill>
                        <a:latin typeface="+mn-lt"/>
                        <a:ea typeface="+mn-ea"/>
                        <a:cs typeface="+mn-cs"/>
                        <a:sym typeface="Arial"/>
                      </a:endParaRPr>
                    </a:p>
                  </a:txBody>
                  <a:tcPr/>
                </a:tc>
                <a:extLst>
                  <a:ext uri="{0D108BD9-81ED-4DB2-BD59-A6C34878D82A}">
                    <a16:rowId xmlns:a16="http://schemas.microsoft.com/office/drawing/2014/main" val="607938647"/>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USB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endParaRPr lang="en-US" altLang="zh-TW"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4646615"/>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Network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&amp;</a:t>
                      </a:r>
                      <a:r>
                        <a:rPr lang="zh-TW" altLang="en-US"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 </a:t>
                      </a:r>
                      <a:endPar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Bluetooth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endParaRPr lang="en-US" altLang="zh-TW"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6952829"/>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Audio </a:t>
                      </a:r>
                      <a:r>
                        <a:rPr lang="zh-TW" altLang="en-US" sz="1400" b="0" i="0" u="none" strike="noStrike" cap="none" dirty="0">
                          <a:solidFill>
                            <a:schemeClr val="dk1"/>
                          </a:solidFill>
                          <a:latin typeface="標楷體" panose="03000509000000000000" pitchFamily="65" charset="-120"/>
                          <a:ea typeface="標楷體" panose="03000509000000000000" pitchFamily="65" charset="-120"/>
                          <a:cs typeface="+mn-cs"/>
                          <a:sym typeface="Arial"/>
                        </a:rPr>
                        <a:t>功能</a:t>
                      </a:r>
                      <a:endPar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endParaRPr>
                    </a:p>
                    <a:p>
                      <a:pPr algn="ct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txBody>
                  <a:tcPr/>
                </a:tc>
                <a:extLst>
                  <a:ext uri="{0D108BD9-81ED-4DB2-BD59-A6C34878D82A}">
                    <a16:rowId xmlns:a16="http://schemas.microsoft.com/office/drawing/2014/main" val="3694524988"/>
                  </a:ext>
                </a:extLst>
              </a:tr>
              <a:tr h="53320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400" b="0" i="0" u="none" strike="noStrike" kern="100" cap="none" dirty="0">
                          <a:solidFill>
                            <a:schemeClr val="dk1"/>
                          </a:solidFill>
                          <a:effectLst/>
                          <a:latin typeface="Times New Roman" panose="02020603050405020304" pitchFamily="18" charset="0"/>
                          <a:ea typeface="+mn-ea"/>
                          <a:cs typeface="Times New Roman" panose="02020603050405020304" pitchFamily="18" charset="0"/>
                          <a:sym typeface="Arial"/>
                        </a:rPr>
                        <a:t>MCU </a:t>
                      </a:r>
                      <a:r>
                        <a:rPr lang="zh-TW" altLang="en-US" sz="1400" b="0" i="0" u="none" strike="noStrike" kern="100" cap="none" dirty="0">
                          <a:solidFill>
                            <a:schemeClr val="dk1"/>
                          </a:solidFill>
                          <a:effectLst/>
                          <a:latin typeface="標楷體" panose="03000509000000000000" pitchFamily="65" charset="-120"/>
                          <a:ea typeface="標楷體" panose="03000509000000000000" pitchFamily="65" charset="-120"/>
                          <a:cs typeface="Times New Roman" panose="02020603050405020304" pitchFamily="18" charset="0"/>
                          <a:sym typeface="Arial"/>
                        </a:rPr>
                        <a:t>驅動</a:t>
                      </a:r>
                      <a:endParaRPr lang="en-US" altLang="zh-TW" sz="1400" b="0" i="0" u="none" strike="noStrike" kern="100" cap="none" dirty="0">
                        <a:solidFill>
                          <a:schemeClr val="dk1"/>
                        </a:solidFill>
                        <a:effectLst/>
                        <a:latin typeface="標楷體" panose="03000509000000000000" pitchFamily="65" charset="-120"/>
                        <a:ea typeface="標楷體" panose="03000509000000000000" pitchFamily="65" charset="-120"/>
                        <a:cs typeface="Times New Roman" panose="02020603050405020304" pitchFamily="18" charset="0"/>
                        <a:sym typeface="Arial"/>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由</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Glenn</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進行開發</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p>
                  </a:txBody>
                  <a:tcPr/>
                </a:tc>
                <a:extLst>
                  <a:ext uri="{0D108BD9-81ED-4DB2-BD59-A6C34878D82A}">
                    <a16:rowId xmlns:a16="http://schemas.microsoft.com/office/drawing/2014/main" val="1972637304"/>
                  </a:ext>
                </a:extLst>
              </a:tr>
            </a:tbl>
          </a:graphicData>
        </a:graphic>
      </p:graphicFrame>
      <p:sp>
        <p:nvSpPr>
          <p:cNvPr id="12" name="文字方塊 11">
            <a:extLst>
              <a:ext uri="{FF2B5EF4-FFF2-40B4-BE49-F238E27FC236}">
                <a16:creationId xmlns:a16="http://schemas.microsoft.com/office/drawing/2014/main" id="{7BECC031-B379-DD16-07D3-4CDE50C18C2A}"/>
              </a:ext>
            </a:extLst>
          </p:cNvPr>
          <p:cNvSpPr txBox="1"/>
          <p:nvPr/>
        </p:nvSpPr>
        <p:spPr>
          <a:xfrm>
            <a:off x="4037802" y="4835798"/>
            <a:ext cx="992579" cy="738664"/>
          </a:xfrm>
          <a:prstGeom prst="rect">
            <a:avLst/>
          </a:prstGeom>
          <a:noFill/>
          <a:ln w="28575">
            <a:solidFill>
              <a:srgbClr val="FF0000"/>
            </a:solidFill>
          </a:ln>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O</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完成</a:t>
            </a:r>
            <a:br>
              <a:rPr lang="en-US" altLang="zh-TW" dirty="0">
                <a:latin typeface="標楷體" panose="03000509000000000000" pitchFamily="65" charset="-120"/>
                <a:ea typeface="標楷體" panose="03000509000000000000" pitchFamily="65" charset="-120"/>
              </a:rPr>
            </a:b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未進行</a:t>
            </a:r>
            <a:endParaRPr lang="en-US" altLang="zh-TW" dirty="0">
              <a:latin typeface="標楷體" panose="03000509000000000000" pitchFamily="65" charset="-120"/>
              <a:ea typeface="標楷體" panose="03000509000000000000" pitchFamily="65" charset="-120"/>
            </a:endParaRPr>
          </a:p>
          <a:p>
            <a:r>
              <a:rPr lang="en-US" altLang="zh-TW" dirty="0">
                <a:latin typeface="Times New Roman" panose="02020603050405020304" pitchFamily="18" charset="0"/>
                <a:ea typeface="標楷體" panose="03000509000000000000" pitchFamily="65" charset="-120"/>
                <a:cs typeface="Times New Roman" panose="02020603050405020304" pitchFamily="18" charset="0"/>
              </a:rPr>
              <a:t>P</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進行中</a:t>
            </a:r>
            <a:endParaRPr lang="en-US" altLang="zh-TW" dirty="0">
              <a:latin typeface="標楷體" panose="03000509000000000000" pitchFamily="65" charset="-120"/>
              <a:ea typeface="標楷體" panose="03000509000000000000" pitchFamily="65" charset="-120"/>
            </a:endParaRPr>
          </a:p>
        </p:txBody>
      </p:sp>
      <p:cxnSp>
        <p:nvCxnSpPr>
          <p:cNvPr id="14" name="直線單箭頭接點 13">
            <a:extLst>
              <a:ext uri="{FF2B5EF4-FFF2-40B4-BE49-F238E27FC236}">
                <a16:creationId xmlns:a16="http://schemas.microsoft.com/office/drawing/2014/main" id="{955245E1-64B9-6450-D56F-4D630C5BE47B}"/>
              </a:ext>
            </a:extLst>
          </p:cNvPr>
          <p:cNvCxnSpPr>
            <a:cxnSpLocks/>
          </p:cNvCxnSpPr>
          <p:nvPr/>
        </p:nvCxnSpPr>
        <p:spPr>
          <a:xfrm>
            <a:off x="5369668" y="2341123"/>
            <a:ext cx="0" cy="3483836"/>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
        <p:nvSpPr>
          <p:cNvPr id="17" name="文字方塊 16">
            <a:extLst>
              <a:ext uri="{FF2B5EF4-FFF2-40B4-BE49-F238E27FC236}">
                <a16:creationId xmlns:a16="http://schemas.microsoft.com/office/drawing/2014/main" id="{49FB4C22-0FBA-D306-BB7C-E9D2E33DD1C5}"/>
              </a:ext>
            </a:extLst>
          </p:cNvPr>
          <p:cNvSpPr txBox="1"/>
          <p:nvPr/>
        </p:nvSpPr>
        <p:spPr>
          <a:xfrm>
            <a:off x="4534092" y="4246747"/>
            <a:ext cx="870751" cy="338554"/>
          </a:xfrm>
          <a:prstGeom prst="rect">
            <a:avLst/>
          </a:prstGeom>
          <a:noFill/>
        </p:spPr>
        <p:txBody>
          <a:bodyPr wrap="none" rtlCol="0">
            <a:spAutoFit/>
          </a:bodyPr>
          <a:lstStyle/>
          <a:p>
            <a:r>
              <a:rPr lang="en-US" altLang="zh-TW" sz="1600" b="1" dirty="0">
                <a:latin typeface="Times New Roman" panose="02020603050405020304" pitchFamily="18" charset="0"/>
                <a:cs typeface="Times New Roman" panose="02020603050405020304" pitchFamily="18" charset="0"/>
              </a:rPr>
              <a:t>priority</a:t>
            </a:r>
            <a:endParaRPr lang="zh-TW" alt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460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6">
            <a:extLst>
              <a:ext uri="{FF2B5EF4-FFF2-40B4-BE49-F238E27FC236}">
                <a16:creationId xmlns:a16="http://schemas.microsoft.com/office/drawing/2014/main" id="{A62B5E48-6604-4E58-BC45-8289A6639408}"/>
              </a:ext>
            </a:extLst>
          </p:cNvPr>
          <p:cNvSpPr txBox="1">
            <a:spLocks/>
          </p:cNvSpPr>
          <p:nvPr/>
        </p:nvSpPr>
        <p:spPr>
          <a:xfrm>
            <a:off x="552894" y="2411882"/>
            <a:ext cx="8077200" cy="138227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accent2"/>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3200" b="0" i="0" u="none" strike="noStrike" cap="none">
                <a:solidFill>
                  <a:schemeClr val="accent2"/>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3200" b="0" i="0" u="none" strike="noStrike" cap="none">
                <a:solidFill>
                  <a:schemeClr val="accent2"/>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3200" b="0" i="0" u="none" strike="noStrike" cap="none">
                <a:solidFill>
                  <a:schemeClr val="accent2"/>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3200" b="0" i="0" u="none" strike="noStrike" cap="none">
                <a:solidFill>
                  <a:schemeClr val="accent2"/>
                </a:solidFill>
                <a:latin typeface="Times New Roman"/>
                <a:ea typeface="Times New Roman"/>
                <a:cs typeface="Times New Roman"/>
                <a:sym typeface="Times New Roman"/>
              </a:defRPr>
            </a:lvl9pPr>
          </a:lstStyle>
          <a:p>
            <a:r>
              <a:rPr lang="zh-TW" altLang="en-US" dirty="0"/>
              <a:t> </a:t>
            </a:r>
            <a:r>
              <a:rPr lang="en-US" altLang="zh-TW" dirty="0"/>
              <a:t>Security</a:t>
            </a:r>
            <a:endParaRPr lang="en-US" altLang="zh-TW" dirty="0">
              <a:latin typeface="標楷體" panose="03000509000000000000" pitchFamily="65" charset="-120"/>
              <a:ea typeface="標楷體" panose="03000509000000000000" pitchFamily="65" charset="-120"/>
            </a:endParaRPr>
          </a:p>
          <a:p>
            <a:endParaRPr lang="en-US" altLang="zh-TW" dirty="0">
              <a:latin typeface="標楷體" panose="03000509000000000000" pitchFamily="65" charset="-120"/>
              <a:ea typeface="標楷體" panose="03000509000000000000" pitchFamily="65" charset="-120"/>
            </a:endParaRPr>
          </a:p>
          <a:p>
            <a:endParaRPr lang="en-US" altLang="zh-TW" dirty="0">
              <a:latin typeface="標楷體" panose="03000509000000000000" pitchFamily="65" charset="-120"/>
              <a:ea typeface="標楷體" panose="03000509000000000000" pitchFamily="65" charset="-120"/>
            </a:endParaRP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br>
              <a:rPr lang="en-US" altLang="zh-TW" dirty="0">
                <a:latin typeface="標楷體" panose="03000509000000000000" pitchFamily="65" charset="-120"/>
                <a:ea typeface="標楷體" panose="03000509000000000000" pitchFamily="65" charset="-120"/>
              </a:rPr>
            </a:br>
            <a:endParaRPr lang="zh-TW" altLang="en-US" dirty="0">
              <a:latin typeface="標楷體" panose="03000509000000000000" pitchFamily="65" charset="-120"/>
              <a:ea typeface="標楷體" panose="03000509000000000000" pitchFamily="65" charset="-120"/>
            </a:endParaRPr>
          </a:p>
        </p:txBody>
      </p:sp>
      <p:sp>
        <p:nvSpPr>
          <p:cNvPr id="12" name="文字版面配置區 6">
            <a:extLst>
              <a:ext uri="{FF2B5EF4-FFF2-40B4-BE49-F238E27FC236}">
                <a16:creationId xmlns:a16="http://schemas.microsoft.com/office/drawing/2014/main" id="{658D7A25-03DD-43EF-AFCA-6E0EC1613E9F}"/>
              </a:ext>
            </a:extLst>
          </p:cNvPr>
          <p:cNvSpPr txBox="1"/>
          <p:nvPr/>
        </p:nvSpPr>
        <p:spPr>
          <a:xfrm>
            <a:off x="552894" y="1282300"/>
            <a:ext cx="8800212" cy="53192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ts val="3000"/>
              </a:lnSpc>
              <a:spcBef>
                <a:spcPts val="560"/>
              </a:spcBef>
              <a:buClr>
                <a:schemeClr val="accent2"/>
              </a:buClr>
              <a:buSzPts val="2800"/>
              <a:buFont typeface="Noto Sans Symbols"/>
              <a:buChar char="❖"/>
            </a:pP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Security</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相關功能開發</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	</a:t>
            </a: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4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508000" lvl="2" indent="0">
              <a:lnSpc>
                <a:spcPts val="3000"/>
              </a:lnSpc>
              <a:spcBef>
                <a:spcPts val="560"/>
              </a:spcBef>
              <a:buClr>
                <a:srgbClr val="FF0000"/>
              </a:buClr>
              <a:buSzPts val="2800"/>
              <a:buNone/>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793750" lvl="2" indent="-285750">
              <a:lnSpc>
                <a:spcPts val="3000"/>
              </a:lnSpc>
              <a:spcBef>
                <a:spcPts val="560"/>
              </a:spcBef>
              <a:buClr>
                <a:srgbClr val="FF0000"/>
              </a:buClr>
              <a:buSzPts val="2800"/>
              <a:buFont typeface="Arial" panose="020B0604020202020204" pitchFamily="34" charset="0"/>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2" indent="-406400">
              <a:lnSpc>
                <a:spcPts val="3000"/>
              </a:lnSpc>
              <a:spcBef>
                <a:spcPts val="560"/>
              </a:spcBef>
              <a:buClr>
                <a:schemeClr val="accent2"/>
              </a:buClr>
              <a:buSzPts val="2800"/>
              <a:buFont typeface="Noto Sans Symbols"/>
              <a:buChar char="❖"/>
            </a:pP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457200" lvl="1" indent="-406400">
              <a:lnSpc>
                <a:spcPts val="3000"/>
              </a:lnSpc>
              <a:spcBef>
                <a:spcPts val="560"/>
              </a:spcBef>
              <a:buClr>
                <a:schemeClr val="accent2"/>
              </a:buClr>
              <a:buSzPts val="2800"/>
              <a:buFont typeface="Noto Sans Symbols"/>
              <a:buChar char="❖"/>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ts val="3000"/>
              </a:lnSpc>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marL="50800" lvl="1" indent="0">
              <a:lnSpc>
                <a:spcPts val="3000"/>
              </a:lnSpc>
              <a:spcBef>
                <a:spcPts val="560"/>
              </a:spcBef>
              <a:buClr>
                <a:schemeClr val="accent2"/>
              </a:buClr>
              <a:buSzPts val="2800"/>
              <a:buNone/>
            </a:pPr>
            <a:endParaRPr lang="en-US" altLang="zh-TW" sz="1800" dirty="0">
              <a:latin typeface="標楷體" panose="03000509000000000000" pitchFamily="65" charset="-120"/>
              <a:ea typeface="標楷體" panose="03000509000000000000" pitchFamily="65" charset="-120"/>
              <a:cs typeface="Times New Roman" panose="02020603050405020304" pitchFamily="18" charset="0"/>
            </a:endParaRPr>
          </a:p>
          <a:p>
            <a:pPr marL="533400" lvl="1" indent="0">
              <a:lnSpc>
                <a:spcPts val="3000"/>
              </a:lnSpc>
              <a:buNone/>
            </a:pPr>
            <a:endParaRPr lang="en-US" altLang="zh-TW" sz="1100" dirty="0"/>
          </a:p>
        </p:txBody>
      </p:sp>
      <p:graphicFrame>
        <p:nvGraphicFramePr>
          <p:cNvPr id="3" name="表格 2">
            <a:extLst>
              <a:ext uri="{FF2B5EF4-FFF2-40B4-BE49-F238E27FC236}">
                <a16:creationId xmlns:a16="http://schemas.microsoft.com/office/drawing/2014/main" id="{88FE04F0-DD57-7F48-3F2A-5919CC47066B}"/>
              </a:ext>
            </a:extLst>
          </p:cNvPr>
          <p:cNvGraphicFramePr>
            <a:graphicFrameLocks noGrp="1"/>
          </p:cNvGraphicFramePr>
          <p:nvPr>
            <p:extLst>
              <p:ext uri="{D42A27DB-BD31-4B8C-83A1-F6EECF244321}">
                <p14:modId xmlns:p14="http://schemas.microsoft.com/office/powerpoint/2010/main" val="1127094080"/>
              </p:ext>
            </p:extLst>
          </p:nvPr>
        </p:nvGraphicFramePr>
        <p:xfrm>
          <a:off x="1058780" y="1934718"/>
          <a:ext cx="7788440" cy="3821733"/>
        </p:xfrm>
        <a:graphic>
          <a:graphicData uri="http://schemas.openxmlformats.org/drawingml/2006/table">
            <a:tbl>
              <a:tblPr firstRow="1" bandRow="1">
                <a:tableStyleId>{2D5ABB26-0587-4C30-8999-92F81FD0307C}</a:tableStyleId>
              </a:tblPr>
              <a:tblGrid>
                <a:gridCol w="1607936">
                  <a:extLst>
                    <a:ext uri="{9D8B030D-6E8A-4147-A177-3AD203B41FA5}">
                      <a16:colId xmlns:a16="http://schemas.microsoft.com/office/drawing/2014/main" val="20000"/>
                    </a:ext>
                  </a:extLst>
                </a:gridCol>
                <a:gridCol w="1959672">
                  <a:extLst>
                    <a:ext uri="{9D8B030D-6E8A-4147-A177-3AD203B41FA5}">
                      <a16:colId xmlns:a16="http://schemas.microsoft.com/office/drawing/2014/main" val="20001"/>
                    </a:ext>
                  </a:extLst>
                </a:gridCol>
                <a:gridCol w="1406944">
                  <a:extLst>
                    <a:ext uri="{9D8B030D-6E8A-4147-A177-3AD203B41FA5}">
                      <a16:colId xmlns:a16="http://schemas.microsoft.com/office/drawing/2014/main" val="2866210793"/>
                    </a:ext>
                  </a:extLst>
                </a:gridCol>
                <a:gridCol w="1406944">
                  <a:extLst>
                    <a:ext uri="{9D8B030D-6E8A-4147-A177-3AD203B41FA5}">
                      <a16:colId xmlns:a16="http://schemas.microsoft.com/office/drawing/2014/main" val="20002"/>
                    </a:ext>
                  </a:extLst>
                </a:gridCol>
                <a:gridCol w="1406944">
                  <a:extLst>
                    <a:ext uri="{9D8B030D-6E8A-4147-A177-3AD203B41FA5}">
                      <a16:colId xmlns:a16="http://schemas.microsoft.com/office/drawing/2014/main" val="4232418369"/>
                    </a:ext>
                  </a:extLst>
                </a:gridCol>
              </a:tblGrid>
              <a:tr h="595392">
                <a:tc>
                  <a:txBody>
                    <a:bodyPr/>
                    <a:lstStyle/>
                    <a:p>
                      <a:r>
                        <a:rPr lang="en-US" altLang="zh-TW" sz="1800" b="0" i="0" kern="1200" dirty="0">
                          <a:solidFill>
                            <a:schemeClr val="tx1"/>
                          </a:solidFill>
                          <a:effectLst/>
                          <a:latin typeface="+mn-lt"/>
                          <a:ea typeface="+mn-ea"/>
                          <a:cs typeface="+mn-cs"/>
                        </a:rPr>
                        <a:t>Functional Requirements</a:t>
                      </a:r>
                      <a:endParaRPr lang="zh-TW" altLang="en-US" sz="1800" b="0" i="0" kern="1200" dirty="0">
                        <a:solidFill>
                          <a:schemeClr val="tx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TW" sz="1800" b="0" i="0" kern="1200" dirty="0">
                          <a:solidFill>
                            <a:schemeClr val="tx1"/>
                          </a:solidFill>
                          <a:effectLst/>
                          <a:latin typeface="+mn-lt"/>
                          <a:ea typeface="+mn-ea"/>
                          <a:cs typeface="+mn-cs"/>
                        </a:rPr>
                        <a:t>Concrete Requirements</a:t>
                      </a:r>
                      <a:endParaRPr lang="zh-TW" altLang="en-US" sz="18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TW" sz="1800" b="0" dirty="0"/>
                        <a:t>Support</a:t>
                      </a:r>
                      <a:endParaRPr lang="zh-TW" altLang="en-US" sz="18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TW" sz="1800" b="0" i="0" kern="1200" dirty="0">
                          <a:solidFill>
                            <a:schemeClr val="tx1"/>
                          </a:solidFill>
                          <a:effectLst/>
                          <a:latin typeface="+mn-lt"/>
                          <a:ea typeface="+mn-ea"/>
                          <a:cs typeface="+mn-cs"/>
                        </a:rPr>
                        <a:t>Implementation</a:t>
                      </a:r>
                      <a:endParaRPr lang="zh-TW" altLang="en-US" sz="18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TW" sz="1800" b="0" i="0" kern="1200" dirty="0">
                          <a:solidFill>
                            <a:schemeClr val="tx1"/>
                          </a:solidFill>
                          <a:effectLst/>
                          <a:latin typeface="+mn-lt"/>
                          <a:ea typeface="+mn-ea"/>
                          <a:cs typeface="+mn-cs"/>
                        </a:rPr>
                        <a:t>Confirmed</a:t>
                      </a:r>
                      <a:endParaRPr lang="zh-TW" altLang="en-US" sz="18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449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pc="-1" dirty="0">
                          <a:solidFill>
                            <a:srgbClr val="000000"/>
                          </a:solidFill>
                          <a:latin typeface="+mn-lt"/>
                        </a:rPr>
                        <a:t>Data Security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pc="-1" dirty="0">
                          <a:solidFill>
                            <a:srgbClr val="000000"/>
                          </a:solidFill>
                        </a:rPr>
                        <a:t>Cryptography</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Yes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b="0" i="0" kern="1200" dirty="0">
                          <a:solidFill>
                            <a:schemeClr val="tx1"/>
                          </a:solidFill>
                          <a:latin typeface="+mn-lt"/>
                          <a:ea typeface="+mn-ea"/>
                          <a:cs typeface="+mn-cs"/>
                        </a:rPr>
                        <a:t>CAAM</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O</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4949">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pc="-1" dirty="0">
                        <a:solidFill>
                          <a:srgbClr val="000000"/>
                        </a:solidFill>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pc="-1" dirty="0">
                          <a:solidFill>
                            <a:srgbClr val="000000"/>
                          </a:solidFill>
                          <a:latin typeface="+mn-lt"/>
                        </a:rPr>
                        <a:t>Device Software protection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TW" b="0" strike="noStrike" spc="-1" dirty="0">
                          <a:solidFill>
                            <a:srgbClr val="000000"/>
                          </a:solidFill>
                          <a:latin typeface="+mn-lt"/>
                        </a:rPr>
                        <a:t>ARM Trust zone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Yes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b="0" i="0" kern="1200" dirty="0">
                          <a:solidFill>
                            <a:schemeClr val="tx1"/>
                          </a:solidFill>
                          <a:latin typeface="+mn-lt"/>
                          <a:ea typeface="+mn-ea"/>
                          <a:cs typeface="+mn-cs"/>
                        </a:rPr>
                        <a:t>OP-TEE</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O</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0560">
                <a:tc v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TW" spc="-1" dirty="0">
                          <a:solidFill>
                            <a:srgbClr val="000000"/>
                          </a:solidFill>
                          <a:latin typeface="+mn-lt"/>
                        </a:rPr>
                        <a:t>Secure boot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Yes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b="0" i="0" kern="1200" dirty="0">
                          <a:solidFill>
                            <a:schemeClr val="tx1"/>
                          </a:solidFill>
                          <a:latin typeface="+mn-lt"/>
                          <a:ea typeface="+mn-ea"/>
                          <a:cs typeface="+mn-cs"/>
                        </a:rPr>
                        <a:t>High Assurance Boot (HAB)</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a:t>O</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95392">
                <a:tc vMerge="1">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TW" b="0" strike="noStrike" spc="-1" dirty="0">
                          <a:solidFill>
                            <a:srgbClr val="000000"/>
                          </a:solidFill>
                          <a:latin typeface="+mn-lt"/>
                        </a:rPr>
                        <a:t>Immutable key storage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Yes</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    </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400" b="0" i="0" u="none" strike="noStrike" kern="0" cap="none" spc="0" normalizeH="0" baseline="0" noProof="0">
                          <a:ln>
                            <a:noFill/>
                          </a:ln>
                          <a:solidFill>
                            <a:srgbClr val="000000"/>
                          </a:solidFill>
                          <a:effectLst/>
                          <a:uLnTx/>
                          <a:uFillTx/>
                          <a:latin typeface="Arial"/>
                          <a:ea typeface="新細明體" panose="02020500000000000000" pitchFamily="18" charset="-120"/>
                          <a:cs typeface="+mn-cs"/>
                          <a:sym typeface="Arial"/>
                        </a:rPr>
                        <a:t>O</a:t>
                      </a:r>
                      <a:endParaRPr kumimoji="0" lang="zh-TW" altLang="en-US" sz="1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44949">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kern="1200" spc="-1" dirty="0">
                          <a:solidFill>
                            <a:srgbClr val="000000"/>
                          </a:solidFill>
                          <a:latin typeface="+mn-lt"/>
                          <a:ea typeface="+mn-ea"/>
                          <a:cs typeface="+mn-cs"/>
                        </a:rPr>
                        <a:t>Data Authenticity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TW" spc="-1" dirty="0">
                          <a:solidFill>
                            <a:srgbClr val="000000"/>
                          </a:solidFill>
                          <a:latin typeface="+mn-lt"/>
                        </a:rPr>
                        <a:t>AES</a:t>
                      </a:r>
                      <a:endParaRPr lang="en-US" altLang="zh-TW" b="0" strike="noStrike" spc="-1" dirty="0">
                        <a:solidFill>
                          <a:srgbClr val="00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400" b="0" i="0" u="none" strike="noStrike" kern="0" cap="none" spc="0" normalizeH="0" baseline="0" noProof="0">
                          <a:ln>
                            <a:noFill/>
                          </a:ln>
                          <a:solidFill>
                            <a:srgbClr val="000000"/>
                          </a:solidFill>
                          <a:effectLst/>
                          <a:uLnTx/>
                          <a:uFillTx/>
                          <a:latin typeface="Arial"/>
                          <a:ea typeface="新細明體" panose="02020500000000000000" pitchFamily="18" charset="-120"/>
                          <a:cs typeface="+mn-cs"/>
                          <a:sym typeface="Arial"/>
                        </a:rPr>
                        <a:t>Yes</a:t>
                      </a:r>
                      <a:endParaRPr kumimoji="0" lang="zh-TW" altLang="en-US" sz="1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CAAM</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400" b="0" i="0" u="none" strike="noStrike" kern="0" cap="none" spc="0" normalizeH="0" baseline="0" noProof="0">
                          <a:ln>
                            <a:noFill/>
                          </a:ln>
                          <a:solidFill>
                            <a:srgbClr val="000000"/>
                          </a:solidFill>
                          <a:effectLst/>
                          <a:uLnTx/>
                          <a:uFillTx/>
                          <a:latin typeface="Arial"/>
                          <a:ea typeface="新細明體" panose="02020500000000000000" pitchFamily="18" charset="-120"/>
                          <a:cs typeface="+mn-cs"/>
                          <a:sym typeface="Arial"/>
                        </a:rPr>
                        <a:t>O</a:t>
                      </a:r>
                      <a:endParaRPr kumimoji="0" lang="zh-TW" altLang="en-US" sz="1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95392">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pc="-1" dirty="0">
                        <a:solidFill>
                          <a:srgbClr val="00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TW" spc="-1" dirty="0">
                          <a:solidFill>
                            <a:srgbClr val="000000"/>
                          </a:solidFill>
                          <a:latin typeface="+mn-lt"/>
                        </a:rPr>
                        <a:t>AES-GCM</a:t>
                      </a:r>
                      <a:endParaRPr lang="en-US" altLang="zh-TW" b="0" strike="noStrike" spc="-1" dirty="0">
                        <a:solidFill>
                          <a:srgbClr val="00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mn-cs"/>
                          <a:sym typeface="Arial"/>
                        </a:rPr>
                        <a:t>Yes</a:t>
                      </a:r>
                      <a:endParaRPr kumimoji="0" lang="zh-TW" altLang="en-US" sz="1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CAAM</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mn-cs"/>
                          <a:sym typeface="Arial"/>
                        </a:rPr>
                        <a:t>O</a:t>
                      </a:r>
                      <a:endParaRPr kumimoji="0" lang="zh-TW" altLang="en-US" sz="1400" b="0" i="0" u="none" strike="noStrike" kern="0" cap="none" spc="0" normalizeH="0" baseline="0" noProof="0" dirty="0">
                        <a:ln>
                          <a:noFill/>
                        </a:ln>
                        <a:solidFill>
                          <a:srgbClr val="000000"/>
                        </a:solidFill>
                        <a:effectLst/>
                        <a:uLnTx/>
                        <a:uFillTx/>
                        <a:latin typeface="Arial"/>
                        <a:ea typeface="新細明體" panose="02020500000000000000" pitchFamily="18" charset="-120"/>
                        <a:cs typeface="+mn-cs"/>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2988443"/>
                  </a:ext>
                </a:extLst>
              </a:tr>
            </a:tbl>
          </a:graphicData>
        </a:graphic>
      </p:graphicFrame>
    </p:spTree>
    <p:extLst>
      <p:ext uri="{BB962C8B-B14F-4D97-AF65-F5344CB8AC3E}">
        <p14:creationId xmlns:p14="http://schemas.microsoft.com/office/powerpoint/2010/main" val="3593228911"/>
      </p:ext>
    </p:extLst>
  </p:cSld>
  <p:clrMapOvr>
    <a:masterClrMapping/>
  </p:clrMapOvr>
</p:sld>
</file>

<file path=ppt/theme/theme1.xml><?xml version="1.0" encoding="utf-8"?>
<a:theme xmlns:a="http://schemas.openxmlformats.org/drawingml/2006/main" name="template">
  <a:themeElements>
    <a:clrScheme name="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52852</TotalTime>
  <Words>2350</Words>
  <Application>Microsoft Office PowerPoint</Application>
  <PresentationFormat>A4 紙張 (210x297 公釐)</PresentationFormat>
  <Paragraphs>1055</Paragraphs>
  <Slides>25</Slides>
  <Notes>25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25</vt:i4>
      </vt:variant>
    </vt:vector>
  </HeadingPairs>
  <TitlesOfParts>
    <vt:vector size="31" baseType="lpstr">
      <vt:lpstr>Noto Sans Symbols</vt:lpstr>
      <vt:lpstr>標楷體</vt:lpstr>
      <vt:lpstr>Arial</vt:lpstr>
      <vt:lpstr>Calibri</vt:lpstr>
      <vt:lpstr>Times New Roman</vt:lpstr>
      <vt:lpstr>template</vt:lpstr>
      <vt:lpstr>Progress Report</vt:lpstr>
      <vt:lpstr>上次進度: Jetpack 6 GA</vt:lpstr>
      <vt:lpstr>上次進度: Jetpack 6 GA</vt:lpstr>
      <vt:lpstr>本次進度: Capture Card</vt:lpstr>
      <vt:lpstr>本次進度: Capture Card</vt:lpstr>
      <vt:lpstr>上次進度: 取出image</vt:lpstr>
      <vt:lpstr>本次進度:優化燒錄時間</vt:lpstr>
      <vt:lpstr>本次進度:大量燒綠Mass flash</vt:lpstr>
      <vt:lpstr>本次進度:大量燒綠Mass flash</vt:lpstr>
      <vt:lpstr>下次進度: Jetpack 6 GA</vt:lpstr>
      <vt:lpstr>下次進度: Jetpack 6 GA</vt:lpstr>
      <vt:lpstr>上次進度: NXP i.MX 8M Quad </vt:lpstr>
      <vt:lpstr>上次進度: NXP i.MX 8M Quad Secure Boot</vt:lpstr>
      <vt:lpstr>本次進度: NXP i.MX 8M Quad Secure Boot</vt:lpstr>
      <vt:lpstr>本次進度: NXP i.MX 8M Quad Secure Boot</vt:lpstr>
      <vt:lpstr>本次進度: NXP i.MX 8M Quad Secure Boot</vt:lpstr>
      <vt:lpstr>本次進度: NXP i.MX 8M Quad Secure Boot</vt:lpstr>
      <vt:lpstr>本次進度: NXP i.MX 8M Quad Secure Boot</vt:lpstr>
      <vt:lpstr>PowerPoint 簡報</vt:lpstr>
      <vt:lpstr>PowerPoint 簡報</vt:lpstr>
      <vt:lpstr>PowerPoint 簡報</vt:lpstr>
      <vt:lpstr>下次進度: NXP i.MX 8M Quad </vt:lpstr>
      <vt:lpstr>PowerPoint 簡報</vt:lpstr>
      <vt:lpstr>目前已完成進度: NXP i.MX 8M Quad </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Embedded CMOS Image Sensor System Design and Implementation</dc:title>
  <dc:creator>mblin</dc:creator>
  <cp:lastModifiedBy>昇鴻 李</cp:lastModifiedBy>
  <cp:revision>545</cp:revision>
  <dcterms:created xsi:type="dcterms:W3CDTF">2003-02-17T16:04:03Z</dcterms:created>
  <dcterms:modified xsi:type="dcterms:W3CDTF">2024-07-20T05:52:06Z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c323e086d3b141ca89c275423e00507f</vt:lpwstr>
  </property>
</Properties>
</file>