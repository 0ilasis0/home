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5"/>
  </p:notesMasterIdLst>
  <p:sldIdLst>
    <p:sldId id="277" r:id="rId2"/>
    <p:sldId id="2022" r:id="rId3"/>
    <p:sldId id="2024" r:id="rId4"/>
    <p:sldId id="2025" r:id="rId5"/>
    <p:sldId id="2035" r:id="rId6"/>
    <p:sldId id="2032" r:id="rId7"/>
    <p:sldId id="2040" r:id="rId8"/>
    <p:sldId id="2042" r:id="rId9"/>
    <p:sldId id="2037" r:id="rId10"/>
    <p:sldId id="2041" r:id="rId11"/>
    <p:sldId id="2043" r:id="rId12"/>
    <p:sldId id="2036" r:id="rId13"/>
    <p:sldId id="286" r:id="rId14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上次進度" id="{7189DFBE-4EEB-4F74-853B-C02E818AF80E}">
          <p14:sldIdLst>
            <p14:sldId id="2022"/>
            <p14:sldId id="2024"/>
          </p14:sldIdLst>
        </p14:section>
        <p14:section name="Video Capture Card" id="{FA8538CB-EEBB-42F8-BEE8-82DA04CEC9C1}">
          <p14:sldIdLst>
            <p14:sldId id="2025"/>
            <p14:sldId id="2035"/>
            <p14:sldId id="2032"/>
            <p14:sldId id="2040"/>
            <p14:sldId id="2042"/>
            <p14:sldId id="2037"/>
            <p14:sldId id="2041"/>
            <p14:sldId id="2043"/>
            <p14:sldId id="2036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B050"/>
    <a:srgbClr val="0057C0"/>
    <a:srgbClr val="FFC000"/>
    <a:srgbClr val="FFFFFF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7CE84F3-28C3-443E-9E96-99CF82512B78}" styleName="深色樣式 1 - 輔色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6" autoAdjust="0"/>
    <p:restoredTop sz="84369" autoAdjust="0"/>
  </p:normalViewPr>
  <p:slideViewPr>
    <p:cSldViewPr snapToGrid="0">
      <p:cViewPr varScale="1">
        <p:scale>
          <a:sx n="66" d="100"/>
          <a:sy n="66" d="100"/>
        </p:scale>
        <p:origin x="1685" y="53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10208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25277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7433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4904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altLang="zh-TW" dirty="0"/>
              <a:t>FPGA HDMI RX</a:t>
            </a:r>
            <a:r>
              <a:rPr lang="zh-TW" altLang="en-US" dirty="0"/>
              <a:t>：</a:t>
            </a:r>
            <a:r>
              <a:rPr lang="en-US" altLang="zh-TW" dirty="0"/>
              <a:t>TMDS </a:t>
            </a:r>
            <a:r>
              <a:rPr lang="zh-TW" altLang="en-US" dirty="0"/>
              <a:t>解碼、辨識有效像素、輸出標準像素資料</a:t>
            </a:r>
            <a:r>
              <a:rPr lang="en-US" altLang="zh-TW" dirty="0"/>
              <a:t>(pixel data</a:t>
            </a:r>
            <a:r>
              <a:rPr lang="zh-TW" altLang="en-US" dirty="0"/>
              <a:t>、</a:t>
            </a:r>
            <a:r>
              <a:rPr lang="en-US" altLang="zh-TW" dirty="0"/>
              <a:t>HSYNC</a:t>
            </a:r>
            <a:r>
              <a:rPr lang="zh-TW" altLang="en-US" dirty="0"/>
              <a:t>、</a:t>
            </a:r>
            <a:r>
              <a:rPr lang="en-US" altLang="zh-TW" dirty="0"/>
              <a:t>VSYNC)</a:t>
            </a:r>
          </a:p>
          <a:p>
            <a:pPr marL="0" indent="0"/>
            <a:r>
              <a:rPr lang="en-US" altLang="zh-TW" dirty="0"/>
              <a:t>FIFO</a:t>
            </a:r>
            <a:r>
              <a:rPr lang="zh-TW" altLang="en-US" dirty="0"/>
              <a:t>／</a:t>
            </a:r>
            <a:r>
              <a:rPr lang="en-US" altLang="zh-TW" dirty="0"/>
              <a:t>DDR Frame Buffer</a:t>
            </a:r>
            <a:r>
              <a:rPr lang="zh-TW" altLang="en-US" dirty="0"/>
              <a:t>：跨時脈、影像緩衝</a:t>
            </a:r>
            <a:endParaRPr lang="en-US" altLang="zh-TW" dirty="0"/>
          </a:p>
          <a:p>
            <a:pPr marL="0" indent="0"/>
            <a:r>
              <a:rPr lang="en-US" altLang="zh-TW" dirty="0"/>
              <a:t>PCIe Endpoint</a:t>
            </a:r>
            <a:r>
              <a:rPr lang="zh-TW" altLang="en-US" dirty="0"/>
              <a:t>：讓 </a:t>
            </a:r>
            <a:r>
              <a:rPr lang="en-US" altLang="zh-TW" dirty="0"/>
              <a:t>FPGA </a:t>
            </a:r>
            <a:r>
              <a:rPr lang="zh-TW" altLang="en-US" dirty="0"/>
              <a:t>成為 </a:t>
            </a:r>
            <a:r>
              <a:rPr lang="en-US" altLang="zh-TW" dirty="0"/>
              <a:t>PC </a:t>
            </a:r>
            <a:r>
              <a:rPr lang="zh-TW" altLang="en-US" dirty="0"/>
              <a:t>可以辨識與存取的 </a:t>
            </a:r>
            <a:r>
              <a:rPr lang="en-US" altLang="zh-TW" dirty="0"/>
              <a:t>PCIe </a:t>
            </a:r>
            <a:r>
              <a:rPr lang="zh-TW" altLang="en-US" dirty="0"/>
              <a:t>裝置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5490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FPGA </a:t>
            </a:r>
            <a:r>
              <a:rPr lang="zh-TW" altLang="en-US" dirty="0"/>
              <a:t>系統 </a:t>
            </a:r>
            <a:r>
              <a:rPr lang="en-US" altLang="zh-TW" dirty="0"/>
              <a:t>framework</a:t>
            </a:r>
          </a:p>
          <a:p>
            <a:r>
              <a:rPr lang="zh-TW" altLang="en-US" dirty="0"/>
              <a:t>連接模組（系統整合）： 決定哪些模組要連接，以及如何組成完整系統。</a:t>
            </a:r>
          </a:p>
          <a:p>
            <a:r>
              <a:rPr lang="zh-TW" altLang="en-US" dirty="0"/>
              <a:t>連接介面（通訊規則）： 規定模組連接後，如何交換資料、位址、控制訊號，以及如何協調傳輸。</a:t>
            </a:r>
          </a:p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3705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3690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0645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altLang="zh-TW" dirty="0" err="1"/>
              <a:t>LiteX</a:t>
            </a:r>
            <a:r>
              <a:rPr lang="zh-TW" altLang="en-US" dirty="0"/>
              <a:t>：可利用其提供的互連架構及匯流排機制，整合符合其介面規範的模組。可利用 </a:t>
            </a:r>
            <a:r>
              <a:rPr lang="en-US" altLang="zh-TW" dirty="0"/>
              <a:t>CSR</a:t>
            </a:r>
            <a:r>
              <a:rPr lang="zh-TW" altLang="en-US" dirty="0"/>
              <a:t> 等機制建立控制介面，並整合到系統中。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7558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zh-TW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TB-FMCH-VFMC-HDMI</a:t>
            </a:r>
            <a:r>
              <a:rPr lang="zh-TW" altLang="zh-TW" dirty="0"/>
              <a:t> 的主要作用是提供 HDMI 實體介面及高速訊號接收</a:t>
            </a:r>
            <a:r>
              <a:rPr lang="zh-TW" altLang="en-US" dirty="0"/>
              <a:t> </a:t>
            </a:r>
            <a:r>
              <a:rPr lang="en-US" altLang="zh-TW" dirty="0"/>
              <a:t>(HDMI2.1)</a:t>
            </a:r>
            <a:r>
              <a:rPr lang="zh-TW" altLang="zh-TW" dirty="0"/>
              <a:t>、傳輸所需的電路</a:t>
            </a:r>
            <a:endParaRPr lang="en-US" altLang="zh-TW" dirty="0"/>
          </a:p>
          <a:p>
            <a:pPr marL="0" indent="0"/>
            <a:r>
              <a:rPr lang="zh-TW" altLang="en-US" dirty="0"/>
              <a:t>同時也支援標準的</a:t>
            </a:r>
            <a:r>
              <a:rPr lang="en-US" altLang="zh-TW" dirty="0"/>
              <a:t>HDMI</a:t>
            </a:r>
          </a:p>
          <a:p>
            <a:pPr marL="0" indent="0"/>
            <a:endParaRPr lang="en-US" altLang="zh-TW" dirty="0"/>
          </a:p>
          <a:p>
            <a:pPr marL="0" indent="0"/>
            <a:r>
              <a:rPr lang="en-US" altLang="zh-TW" dirty="0"/>
              <a:t>HDMI</a:t>
            </a:r>
            <a:r>
              <a:rPr lang="zh-TW" altLang="en-US" dirty="0"/>
              <a:t> </a:t>
            </a:r>
            <a:r>
              <a:rPr lang="en-US" altLang="zh-TW" dirty="0"/>
              <a:t>RX</a:t>
            </a:r>
            <a:r>
              <a:rPr lang="zh-TW" altLang="en-US" dirty="0"/>
              <a:t> </a:t>
            </a:r>
            <a:r>
              <a:rPr lang="en-US" altLang="zh-TW" dirty="0"/>
              <a:t>IP</a:t>
            </a:r>
            <a:r>
              <a:rPr lang="zh-TW" altLang="en-US" dirty="0"/>
              <a:t>需授權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2149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158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混用：需要先克服工具鏈與建置流程的不同。</a:t>
            </a:r>
            <a:r>
              <a:rPr lang="en-US" altLang="zh-TW" dirty="0" err="1"/>
              <a:t>LiteX</a:t>
            </a:r>
            <a:r>
              <a:rPr lang="en-US" altLang="zh-TW" dirty="0"/>
              <a:t> </a:t>
            </a:r>
            <a:r>
              <a:rPr lang="zh-TW" altLang="en-US" dirty="0"/>
              <a:t>通常透過 </a:t>
            </a:r>
            <a:r>
              <a:rPr lang="en-US" altLang="zh-TW" dirty="0"/>
              <a:t>Python</a:t>
            </a:r>
            <a:r>
              <a:rPr lang="zh-TW" altLang="en-US" dirty="0"/>
              <a:t>、</a:t>
            </a:r>
            <a:r>
              <a:rPr lang="en-US" altLang="zh-TW" dirty="0" err="1"/>
              <a:t>Migen</a:t>
            </a:r>
            <a:r>
              <a:rPr lang="zh-TW" altLang="en-US" dirty="0"/>
              <a:t>建構硬體；</a:t>
            </a:r>
            <a:r>
              <a:rPr lang="en-US" altLang="zh-TW" dirty="0"/>
              <a:t>Xilinx </a:t>
            </a:r>
            <a:r>
              <a:rPr lang="zh-TW" altLang="en-US" dirty="0"/>
              <a:t>通常依賴 </a:t>
            </a:r>
            <a:r>
              <a:rPr lang="en-US" altLang="zh-TW" dirty="0" err="1"/>
              <a:t>Vivado</a:t>
            </a:r>
            <a:r>
              <a:rPr lang="en-US" altLang="zh-TW" dirty="0"/>
              <a:t> IP</a:t>
            </a:r>
            <a:r>
              <a:rPr lang="zh-TW" altLang="en-US" dirty="0"/>
              <a:t>，當然混用的優勢也很明顯可以選擇各生態系最符合需求的模組，不受單一生態系的模組選擇限制</a:t>
            </a:r>
            <a:endParaRPr lang="en-US" altLang="zh-TW" dirty="0"/>
          </a:p>
          <a:p>
            <a:pPr marL="0" indent="0"/>
            <a:endParaRPr lang="en-US" altLang="zh-TW" dirty="0"/>
          </a:p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586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4392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54148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inxalinx/AX7103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BO-CHENG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361B4DF-3145-D829-F41F-4DFE4B01E588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色溫校正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螢幕：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DP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1080P)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在不同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與色溫下量測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校正後的色溫與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色溫誤差都在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300K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以內，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誤差都在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± 0.05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，符合標準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軟體校正結果</a:t>
            </a:r>
          </a:p>
        </p:txBody>
      </p:sp>
      <p:graphicFrame>
        <p:nvGraphicFramePr>
          <p:cNvPr id="2" name="表格 24">
            <a:extLst>
              <a:ext uri="{FF2B5EF4-FFF2-40B4-BE49-F238E27FC236}">
                <a16:creationId xmlns:a16="http://schemas.microsoft.com/office/drawing/2014/main" id="{E1D31DB3-F9C5-1A79-A106-241D304FB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227025"/>
              </p:ext>
            </p:extLst>
          </p:nvPr>
        </p:nvGraphicFramePr>
        <p:xfrm>
          <a:off x="2194168" y="2355145"/>
          <a:ext cx="4908067" cy="40202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7265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886890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486956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  <a:gridCol w="1486956">
                  <a:extLst>
                    <a:ext uri="{9D8B030D-6E8A-4147-A177-3AD203B41FA5}">
                      <a16:colId xmlns:a16="http://schemas.microsoft.com/office/drawing/2014/main" val="793740652"/>
                    </a:ext>
                  </a:extLst>
                </a:gridCol>
              </a:tblGrid>
              <a:tr h="3100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色溫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量測色溫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256</a:t>
                      </a:r>
                      <a:r>
                        <a:rPr lang="zh-TW" alt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</a:t>
                      </a: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3091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1.8</a:t>
                      </a:r>
                      <a:endParaRPr lang="zh-TW" sz="16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5352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1.83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309183">
                <a:tc>
                  <a:txBody>
                    <a:bodyPr/>
                    <a:lstStyle/>
                    <a:p>
                      <a:pPr algn="ctr"/>
                      <a:endParaRPr lang="zh-TW" sz="16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6419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1.83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309183">
                <a:tc>
                  <a:txBody>
                    <a:bodyPr/>
                    <a:lstStyle/>
                    <a:p>
                      <a:pPr algn="ctr"/>
                      <a:endParaRPr lang="zh-TW" sz="16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9046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1.85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3091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2.0</a:t>
                      </a: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5351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2.03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00677602"/>
                  </a:ext>
                </a:extLst>
              </a:tr>
              <a:tr h="309183">
                <a:tc>
                  <a:txBody>
                    <a:bodyPr/>
                    <a:lstStyle/>
                    <a:p>
                      <a:pPr algn="ctr"/>
                      <a:endParaRPr lang="zh-TW" sz="16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6545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2.02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90125723"/>
                  </a:ext>
                </a:extLst>
              </a:tr>
              <a:tr h="309183">
                <a:tc>
                  <a:txBody>
                    <a:bodyPr/>
                    <a:lstStyle/>
                    <a:p>
                      <a:pPr algn="ctr"/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9045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2.03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583938"/>
                  </a:ext>
                </a:extLst>
              </a:tr>
              <a:tr h="3091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2.2</a:t>
                      </a:r>
                      <a:endParaRPr lang="zh-TW" sz="16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5314</a:t>
                      </a:r>
                      <a:endParaRPr lang="zh-TW" sz="16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2.22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98664419"/>
                  </a:ext>
                </a:extLst>
              </a:tr>
              <a:tr h="309183">
                <a:tc>
                  <a:txBody>
                    <a:bodyPr/>
                    <a:lstStyle/>
                    <a:p>
                      <a:pPr algn="ctr"/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6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6452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2.22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83948243"/>
                  </a:ext>
                </a:extLst>
              </a:tr>
              <a:tr h="309183">
                <a:tc>
                  <a:txBody>
                    <a:bodyPr/>
                    <a:lstStyle/>
                    <a:p>
                      <a:pPr algn="ctr"/>
                      <a:endParaRPr lang="zh-TW" sz="16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6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9047</a:t>
                      </a:r>
                      <a:endParaRPr lang="zh-TW" sz="16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2.24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85709647"/>
                  </a:ext>
                </a:extLst>
              </a:tr>
              <a:tr h="3091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2.6</a:t>
                      </a:r>
                      <a:endParaRPr lang="zh-TW" sz="16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6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5404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2.61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9488585"/>
                  </a:ext>
                </a:extLst>
              </a:tr>
              <a:tr h="309183">
                <a:tc>
                  <a:txBody>
                    <a:bodyPr/>
                    <a:lstStyle/>
                    <a:p>
                      <a:pPr algn="ctr"/>
                      <a:endParaRPr lang="zh-TW" sz="16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6544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2.60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54390549"/>
                  </a:ext>
                </a:extLst>
              </a:tr>
              <a:tr h="309183">
                <a:tc>
                  <a:txBody>
                    <a:bodyPr/>
                    <a:lstStyle/>
                    <a:p>
                      <a:pPr algn="ctr"/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9048</a:t>
                      </a:r>
                      <a:endParaRPr lang="zh-TW" sz="16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2.62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8233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607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361B4DF-3145-D829-F41F-4DFE4B01E588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色溫校正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螢幕：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CH7513A011)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在不同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與色溫下量測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校正後的色溫與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色溫誤差都在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300K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以內，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誤差都在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± 0.05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，符合標準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軟體校正結果</a:t>
            </a:r>
          </a:p>
        </p:txBody>
      </p:sp>
      <p:graphicFrame>
        <p:nvGraphicFramePr>
          <p:cNvPr id="2" name="表格 24">
            <a:extLst>
              <a:ext uri="{FF2B5EF4-FFF2-40B4-BE49-F238E27FC236}">
                <a16:creationId xmlns:a16="http://schemas.microsoft.com/office/drawing/2014/main" id="{A35A7D0E-9FC1-7B36-C15E-0626CB377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005415"/>
              </p:ext>
            </p:extLst>
          </p:nvPr>
        </p:nvGraphicFramePr>
        <p:xfrm>
          <a:off x="2308861" y="2370676"/>
          <a:ext cx="5288277" cy="40030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90530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890530">
                  <a:extLst>
                    <a:ext uri="{9D8B030D-6E8A-4147-A177-3AD203B41FA5}">
                      <a16:colId xmlns:a16="http://schemas.microsoft.com/office/drawing/2014/main" val="1964622646"/>
                    </a:ext>
                  </a:extLst>
                </a:gridCol>
                <a:gridCol w="1024717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010079">
                  <a:extLst>
                    <a:ext uri="{9D8B030D-6E8A-4147-A177-3AD203B41FA5}">
                      <a16:colId xmlns:a16="http://schemas.microsoft.com/office/drawing/2014/main" val="3439045141"/>
                    </a:ext>
                  </a:extLst>
                </a:gridCol>
                <a:gridCol w="1472421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3079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Gamma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色溫</a:t>
                      </a:r>
                      <a:endParaRPr lang="zh-TW" altLang="en-US" sz="16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量測色溫</a:t>
                      </a:r>
                      <a:endParaRPr lang="zh-TW" altLang="en-US" sz="16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256</a:t>
                      </a:r>
                      <a:r>
                        <a:rPr lang="zh-TW" alt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</a:t>
                      </a:r>
                      <a:endParaRPr lang="zh-TW" alt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時間</a:t>
                      </a:r>
                      <a:endParaRPr lang="zh-TW" alt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1.8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5400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5346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1.82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11:38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6500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6628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1.83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10:31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9300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9090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1.82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10:57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2.0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5400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5374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2.00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10:22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00677602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6500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6587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2.00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12:01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90125723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9300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9094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1.98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11:07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583938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2.2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5400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5381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2.24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12:37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98664419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6500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6472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2.19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11:01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83948243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9300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9103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2.19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11:08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85709647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2.6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5400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5373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2.57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15:07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9488585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6500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6608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2.59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12:23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54390549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9300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9103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2.61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12:19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8233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1194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/>
              <a:t>Video Capture Card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033F0CBC-B216-A52F-8C2C-837CAED2E514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研究目的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尋找相關開源專案，了解現有技術與實作成果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調查各專案使用的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、開發板、框架與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比較不同開源生態，作為後續技術選型的依據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目標架構概念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11D2EBC-D008-B0EE-7DBE-BC7E1A013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71" y="3509911"/>
            <a:ext cx="9024257" cy="94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5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定位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Python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描述與整合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硬體模組，建立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SoC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設計，並支援產生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HDL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與呼叫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建置工具</a:t>
            </a: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組合處理器、記憶體、匯流排及周邊模組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Wishbone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AXI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等互連機制，以及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Streams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可搭配 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LiteDRAM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LitePCIe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LiteEth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等生態系模組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B8BF237-AE2C-BCBD-03CB-07C643D7BB9F}"/>
              </a:ext>
            </a:extLst>
          </p:cNvPr>
          <p:cNvSpPr txBox="1"/>
          <p:nvPr/>
        </p:nvSpPr>
        <p:spPr>
          <a:xfrm>
            <a:off x="1787236" y="6384072"/>
            <a:ext cx="5802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https://github.com/enjoy-digital/litex?utm_source=chatgpt.com</a:t>
            </a:r>
          </a:p>
        </p:txBody>
      </p:sp>
    </p:spTree>
    <p:extLst>
      <p:ext uri="{BB962C8B-B14F-4D97-AF65-F5344CB8AC3E}">
        <p14:creationId xmlns:p14="http://schemas.microsoft.com/office/powerpoint/2010/main" val="3075961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NeTV2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FPGA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808717" cy="544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定位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 </a:t>
            </a:r>
            <a:r>
              <a:rPr lang="en-US" altLang="zh-TW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/ </a:t>
            </a:r>
            <a:r>
              <a:rPr lang="en-US" altLang="zh-TW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Migen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建構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硬體系統，實作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影像輸入、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DDR3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緩衝、影像合成與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晶片與硬體型號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開發版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晶片：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NeTV2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 Xilinx Artix-7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開發框架：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Migen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軟處理器：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VexRiscv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32C77ABA-12F8-A5D2-5620-8E0F1595DD0B}"/>
              </a:ext>
            </a:extLst>
          </p:cNvPr>
          <p:cNvGrpSpPr/>
          <p:nvPr/>
        </p:nvGrpSpPr>
        <p:grpSpPr>
          <a:xfrm>
            <a:off x="6588117" y="4448345"/>
            <a:ext cx="2342521" cy="1935727"/>
            <a:chOff x="7123226" y="4254922"/>
            <a:chExt cx="2342521" cy="1935727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DA2311F8-59E5-9BD1-61E4-EFD0C55B1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23226" y="4254922"/>
              <a:ext cx="2342521" cy="1597173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2B6339F-8DE4-9D14-F9FF-DF0F45E24E3B}"/>
                </a:ext>
              </a:extLst>
            </p:cNvPr>
            <p:cNvSpPr/>
            <p:nvPr/>
          </p:nvSpPr>
          <p:spPr>
            <a:xfrm>
              <a:off x="7758868" y="5852095"/>
              <a:ext cx="1372492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600" b="0" cap="none" spc="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NeTV2</a:t>
              </a:r>
              <a:r>
                <a:rPr lang="zh-TW" altLang="en-US" sz="160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160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FPGA</a:t>
              </a:r>
              <a:endParaRPr lang="zh-TW" altLang="en-US" sz="1600" b="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EAFBC87-C885-2332-5B2E-C15A86786327}"/>
              </a:ext>
            </a:extLst>
          </p:cNvPr>
          <p:cNvSpPr txBox="1"/>
          <p:nvPr/>
        </p:nvSpPr>
        <p:spPr>
          <a:xfrm>
            <a:off x="1787236" y="6384072"/>
            <a:ext cx="5802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[2] 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https://github.com/AlphamaxMedia/netv2-fpga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8A7EEA3-7044-E8E1-71E3-49401B0B6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37" y="2923907"/>
            <a:ext cx="9153646" cy="101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68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LitePCIe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DMA Writer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資料寫入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主機記憶體</a:t>
            </a: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Endpoint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與傳輸架構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Linux Driver</a:t>
            </a: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擷取卡的幫助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可將研究重點集中在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影像串流與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DMA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的整合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可參考既有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Linux Driver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有助於降低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端驅動程式的開發負擔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7EF7B95-B380-F6CA-F173-DA760D763252}"/>
              </a:ext>
            </a:extLst>
          </p:cNvPr>
          <p:cNvSpPr txBox="1"/>
          <p:nvPr/>
        </p:nvSpPr>
        <p:spPr>
          <a:xfrm>
            <a:off x="1787236" y="6384072"/>
            <a:ext cx="5802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https://github.com/enjoy-digital/litepcie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7C9DEB2B-F85F-1C98-F138-BF7DBF812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2" y="4410680"/>
            <a:ext cx="8686796" cy="96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86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algn="l"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生態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521FBAA4-6E6B-1B82-9C1F-77D9FAD35C41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優勢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的互連與建置估能，減少建立整套系統的工作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既有框架及 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LiteVideo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LitePCIe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LiteDRAM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等模組可減少重複開發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風險與待評估事項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須確認目標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介面、記憶體及工具鏈的支援情況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LiteVideo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可用性與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NeTV2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是否能提供可重用的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影像端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RTL</a:t>
            </a:r>
          </a:p>
          <a:p>
            <a:pPr lvl="1">
              <a:lnSpc>
                <a:spcPts val="3000"/>
              </a:lnSpc>
            </a:pP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60169C1-DABD-C18E-CA96-E01B44C30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68" y="1593078"/>
            <a:ext cx="9114064" cy="98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5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Xilinx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Video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Example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Designs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定位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整合 HDMI 接收、FPGA 影像處理、多圖層合成及 HDMI 輸出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硬體與開發環境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開發版：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AMD Xilinx ZCU106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擴充板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TB-FMCH-VFMC-HDMI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控制軟體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Vitis C 程式，使用 ARM A53 處理系統控制 IP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17A7646-77F3-2568-68C1-545F7C189BE6}"/>
              </a:ext>
            </a:extLst>
          </p:cNvPr>
          <p:cNvSpPr txBox="1"/>
          <p:nvPr/>
        </p:nvSpPr>
        <p:spPr>
          <a:xfrm>
            <a:off x="1787236" y="6384072"/>
            <a:ext cx="5802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[4] https://github.com/Xilinx-Wiki-Projects/Video-Example-Designs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390F4142-C3C7-F585-A6E2-6A7697650EF6}"/>
              </a:ext>
            </a:extLst>
          </p:cNvPr>
          <p:cNvGrpSpPr/>
          <p:nvPr/>
        </p:nvGrpSpPr>
        <p:grpSpPr>
          <a:xfrm>
            <a:off x="7170646" y="4116268"/>
            <a:ext cx="2125752" cy="1894039"/>
            <a:chOff x="6986296" y="3782285"/>
            <a:chExt cx="2310101" cy="2058293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8F238F56-B6CF-6D88-8B04-5ED6E671C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86296" y="3782285"/>
              <a:ext cx="2310101" cy="1722787"/>
            </a:xfrm>
            <a:prstGeom prst="rect">
              <a:avLst/>
            </a:prstGeom>
          </p:spPr>
        </p:pic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40F7D8C0-1202-F756-2DCE-B5919BFE4893}"/>
                </a:ext>
              </a:extLst>
            </p:cNvPr>
            <p:cNvSpPr txBox="1"/>
            <p:nvPr/>
          </p:nvSpPr>
          <p:spPr>
            <a:xfrm>
              <a:off x="7212168" y="5506110"/>
              <a:ext cx="1951555" cy="3344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zh-TW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AMD Xilinx ZCU106</a:t>
              </a:r>
              <a:endPara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57736BDE-0E79-19BB-61BE-3993A5479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63" y="2481680"/>
            <a:ext cx="9049473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81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algn="l"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Xilinx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DMA_IP_Drivers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定位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AMD/Xilinx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驅動程式與軟體工具集合，主要負責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PCIe DMA 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的溝通，讓主機能操作裝置、管理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傳輸並測試資料收發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提供多種的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驅動程式，使電腦能與相容的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DMA 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溝通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提供相關工具，協助執行資料傳輸、裝置資源存取與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功能測試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擷取卡的幫助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可作為擷取卡的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端驅動程式基礎，協助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將影像資料透過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傳送至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記憶體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6AE91BC-F373-E0EA-784E-FE965295B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07" y="5153297"/>
            <a:ext cx="9040586" cy="96649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B045C83-0B0C-2CBF-81C8-166EB12F11E6}"/>
              </a:ext>
            </a:extLst>
          </p:cNvPr>
          <p:cNvSpPr txBox="1"/>
          <p:nvPr/>
        </p:nvSpPr>
        <p:spPr>
          <a:xfrm>
            <a:off x="1787236" y="6384072"/>
            <a:ext cx="5802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https://github.com/Xilinx/dma_ip_drivers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577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algn="l"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Xilinx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生態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521FBAA4-6E6B-1B82-9C1F-77D9FAD35C41}"/>
              </a:ext>
            </a:extLst>
          </p:cNvPr>
          <p:cNvSpPr txBox="1"/>
          <p:nvPr/>
        </p:nvSpPr>
        <p:spPr>
          <a:xfrm>
            <a:off x="609602" y="935857"/>
            <a:ext cx="8686796" cy="5312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優勢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重用既有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接收與影像處理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整合範例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Xilinx DMA 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與配套驅動程式，減少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控制及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Driver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開發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風險與待評估事項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硬體相容性與工具鏈相容性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Vivado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/ Vitis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版本、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授權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確認選定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後，驅動程式與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硬體設定相符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C861312-6738-1E5A-CE4A-7188C92AC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92" y="1632857"/>
            <a:ext cx="9223415" cy="153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78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algn="l"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 FPGA to PCIE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FPGA-Video-Capture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[6]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整合 HDMI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影像輸入、DDR3 幀緩存、PCIe DMA 與 Ethernet UDP 傳輸，並搭配 PC 端影像辨識應用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ct val="150000"/>
              </a:lnSpc>
              <a:buNone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ct val="150000"/>
              </a:lnSpc>
              <a:buNone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AX7103 — HDMI to PCIe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[7]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整合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影像處理、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DDR3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影格緩衝與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，並提供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Windows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端影格讀取程式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17A7646-77F3-2568-68C1-545F7C189BE6}"/>
              </a:ext>
            </a:extLst>
          </p:cNvPr>
          <p:cNvSpPr txBox="1"/>
          <p:nvPr/>
        </p:nvSpPr>
        <p:spPr>
          <a:xfrm>
            <a:off x="1787236" y="6384072"/>
            <a:ext cx="58022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[6] https://github.com/flytt-away/FPGA-Video-Capture</a:t>
            </a:r>
          </a:p>
          <a:p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[7] 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3"/>
              </a:rPr>
              <a:t>https://github.com/alinxalinx/AX7103</a:t>
            </a:r>
            <a:endParaRPr lang="en-US" altLang="zh-TW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7496F10-EF4E-A817-4699-3B6A31EA6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85" y="4678478"/>
            <a:ext cx="8681713" cy="95806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ADE3805-E2BE-FBFA-F60A-35EEBFC5C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85" y="2022759"/>
            <a:ext cx="8681713" cy="91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97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325884</TotalTime>
  <Words>1290</Words>
  <Application>Microsoft Office PowerPoint</Application>
  <PresentationFormat>A4 紙張 (210x297 公釐)</PresentationFormat>
  <Paragraphs>239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Noto Sans Symbols</vt:lpstr>
      <vt:lpstr>標楷體</vt:lpstr>
      <vt:lpstr>Arial</vt:lpstr>
      <vt:lpstr>Times New Roman</vt:lpstr>
      <vt:lpstr>template</vt:lpstr>
      <vt:lpstr>Progress Report</vt:lpstr>
      <vt:lpstr>上次進度: 軟體校正結果</vt:lpstr>
      <vt:lpstr>上次進度: 軟體校正結果</vt:lpstr>
      <vt:lpstr>本次進度: Video Capture Card</vt:lpstr>
      <vt:lpstr>本次進度: LiteX </vt:lpstr>
      <vt:lpstr>本次進度: NeTV2 - FPGA</vt:lpstr>
      <vt:lpstr>本次進度: LitePCIe</vt:lpstr>
      <vt:lpstr>本次進度: LiteX 生態</vt:lpstr>
      <vt:lpstr>本次進度: Xilinx / Video Example Designs</vt:lpstr>
      <vt:lpstr>本次進度: Xilinx / DMA_IP_Drivers</vt:lpstr>
      <vt:lpstr>本次進度: Xilinx 生態</vt:lpstr>
      <vt:lpstr>本次進度: HDMI to FPGA to PCIE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sis ila</cp:lastModifiedBy>
  <cp:revision>3240</cp:revision>
  <dcterms:created xsi:type="dcterms:W3CDTF">2003-02-17T16:04:03Z</dcterms:created>
  <dcterms:modified xsi:type="dcterms:W3CDTF">2026-10-16T12:18:57Z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