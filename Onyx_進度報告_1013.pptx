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8" r:id="rId1"/>
  </p:sldMasterIdLst>
  <p:notesMasterIdLst>
    <p:notesMasterId r:id="rId14"/>
  </p:notesMasterIdLst>
  <p:sldIdLst>
    <p:sldId id="277" r:id="rId2"/>
    <p:sldId id="2022" r:id="rId3"/>
    <p:sldId id="2024" r:id="rId4"/>
    <p:sldId id="2025" r:id="rId5"/>
    <p:sldId id="2032" r:id="rId6"/>
    <p:sldId id="2034" r:id="rId7"/>
    <p:sldId id="2035" r:id="rId8"/>
    <p:sldId id="2037" r:id="rId9"/>
    <p:sldId id="2038" r:id="rId10"/>
    <p:sldId id="2036" r:id="rId11"/>
    <p:sldId id="2039" r:id="rId12"/>
    <p:sldId id="286" r:id="rId13"/>
  </p:sldIdLst>
  <p:sldSz cx="9906000" cy="6858000" type="A4"/>
  <p:notesSz cx="7315200" cy="96012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521415D9-36F7-43E2-AB2F-B90AF26B5E84}">
      <p14:sectionLst xmlns:p14="http://schemas.microsoft.com/office/powerpoint/2010/main">
        <p14:section name="Head" id="{9114FBB3-8B00-422B-ACC9-030F49096E83}">
          <p14:sldIdLst>
            <p14:sldId id="277"/>
          </p14:sldIdLst>
        </p14:section>
        <p14:section name="上次進度" id="{7189DFBE-4EEB-4F74-853B-C02E818AF80E}">
          <p14:sldIdLst>
            <p14:sldId id="2022"/>
            <p14:sldId id="2024"/>
          </p14:sldIdLst>
        </p14:section>
        <p14:section name="Video Capture Card" id="{FA8538CB-EEBB-42F8-BEE8-82DA04CEC9C1}">
          <p14:sldIdLst>
            <p14:sldId id="2025"/>
            <p14:sldId id="2032"/>
            <p14:sldId id="2034"/>
            <p14:sldId id="2035"/>
            <p14:sldId id="2037"/>
            <p14:sldId id="2038"/>
            <p14:sldId id="2036"/>
            <p14:sldId id="2039"/>
          </p14:sldIdLst>
        </p14:section>
        <p14:section name="End" id="{33EEDC85-A799-4CB3-BF13-F4955B8630BE}">
          <p14:sldIdLst>
            <p14:sldId id="286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12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024">
          <p15:clr>
            <a:srgbClr val="A4A3A4"/>
          </p15:clr>
        </p15:guide>
        <p15:guide id="2" pos="2304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m10902143" initials="m" lastIdx="1" clrIdx="0"/>
  <p:cmAuthor id="2" name="James Kuo" initials="JK" lastIdx="1" clrIdx="1"/>
  <p:cmAuthor id="3" name="昇鴻 李" initials="昇鴻" lastIdx="1" clrIdx="2">
    <p:extLst>
      <p:ext uri="{19B8F6BF-5375-455C-9EA6-DF929625EA0E}">
        <p15:presenceInfo xmlns:p15="http://schemas.microsoft.com/office/powerpoint/2012/main" userId="72a70edeaa250c2c" providerId="Windows Live"/>
      </p:ext>
    </p:extLst>
  </p:cmAuthor>
  <p:cmAuthor id="4" name="宏德 林" initials="宏林" lastIdx="2" clrIdx="3">
    <p:extLst>
      <p:ext uri="{19B8F6BF-5375-455C-9EA6-DF929625EA0E}">
        <p15:presenceInfo xmlns:p15="http://schemas.microsoft.com/office/powerpoint/2012/main" userId="933d0002216be5bd" providerId="Windows Live"/>
      </p:ext>
    </p:extLst>
  </p:cmAuthor>
  <p:cmAuthor id="5" name="LI CHIH HSIANG" initials="LCH" lastIdx="6" clrIdx="4">
    <p:extLst>
      <p:ext uri="{19B8F6BF-5375-455C-9EA6-DF929625EA0E}">
        <p15:presenceInfo xmlns:p15="http://schemas.microsoft.com/office/powerpoint/2012/main" userId="LI CHIH HSIANG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9900"/>
    <a:srgbClr val="000000"/>
    <a:srgbClr val="00B050"/>
    <a:srgbClr val="0057C0"/>
    <a:srgbClr val="FFC000"/>
    <a:srgbClr val="FFFFFF"/>
    <a:srgbClr val="8958B1"/>
    <a:srgbClr val="C58DEF"/>
    <a:srgbClr val="993366"/>
    <a:srgbClr val="58148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BD433FD4-3D7A-4217-8E80-1680D7E9CC69}" styleName="Table_0">
    <a:wholeTbl>
      <a:tcTxStyle b="off" i="off">
        <a:font>
          <a:latin typeface="Times New Roman"/>
          <a:ea typeface="Times New Roman"/>
          <a:cs typeface="Times New Roman"/>
        </a:font>
        <a:schemeClr val="dk1"/>
      </a:tcTxStyle>
      <a:tcStyle>
        <a:tcBdr>
          <a:left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254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254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rgbClr val="E6E6E6"/>
          </a:solidFill>
        </a:fill>
      </a:tcStyle>
    </a:band1H>
    <a:band2H>
      <a:tcStyle>
        <a:tcBdr/>
      </a:tcStyle>
    </a:band2H>
    <a:band1V>
      <a:tcStyle>
        <a:tcBdr/>
        <a:fill>
          <a:solidFill>
            <a:srgbClr val="E6E6E6"/>
          </a:solidFill>
        </a:fill>
      </a:tcStyle>
    </a:band1V>
    <a:band2V>
      <a:tcStyle>
        <a:tcBdr/>
      </a:tcStyle>
    </a:band2V>
    <a:lastCol>
      <a:tcTxStyle b="on" i="off">
        <a:font>
          <a:latin typeface="Times New Roman"/>
          <a:ea typeface="Times New Roman"/>
          <a:cs typeface="Times New Roman"/>
        </a:font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 i="off">
        <a:font>
          <a:latin typeface="Times New Roman"/>
          <a:ea typeface="Times New Roman"/>
          <a:cs typeface="Times New Roman"/>
        </a:font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 i="off"/>
      <a:tcStyle>
        <a:tcBdr>
          <a:top>
            <a:ln w="508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lt1"/>
          </a:solidFill>
        </a:fill>
      </a:tcStyle>
    </a:lastRow>
    <a:seCell>
      <a:tcTxStyle b="on" i="off">
        <a:font>
          <a:latin typeface="Times New Roman"/>
          <a:ea typeface="Times New Roman"/>
          <a:cs typeface="Times New Roman"/>
        </a:font>
        <a:schemeClr val="dk1"/>
      </a:tcTxStyle>
      <a:tcStyle>
        <a:tcBdr/>
      </a:tcStyle>
    </a:seCell>
    <a:swCell>
      <a:tcTxStyle b="on" i="off">
        <a:font>
          <a:latin typeface="Times New Roman"/>
          <a:ea typeface="Times New Roman"/>
          <a:cs typeface="Times New Roman"/>
        </a:font>
        <a:schemeClr val="dk1"/>
      </a:tcTxStyle>
      <a:tcStyle>
        <a:tcBdr/>
      </a:tcStyle>
    </a:swCell>
    <a:firstRow>
      <a:tcTxStyle b="on" i="off">
        <a:font>
          <a:latin typeface="Times New Roman"/>
          <a:ea typeface="Times New Roman"/>
          <a:cs typeface="Times New Roman"/>
        </a:font>
        <a:schemeClr val="lt1"/>
      </a:tcTxStyle>
      <a:tcStyle>
        <a:tcBdr>
          <a:bottom>
            <a:ln w="254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2"/>
          </a:solidFill>
        </a:fill>
      </a:tcStyle>
    </a:firstRow>
    <a:neCell>
      <a:tcStyle>
        <a:tcBdr/>
      </a:tcStyle>
    </a:neCell>
    <a:nwCell>
      <a:tcStyle>
        <a:tcBdr/>
      </a:tcStyle>
    </a:nwCell>
  </a:tblStyle>
  <a:tblStyle styleId="{3E919B74-BC6B-4152-9BDB-477648A112FC}" styleName="Table_1">
    <a:wholeTbl>
      <a:tcTxStyle b="off" i="off">
        <a:font>
          <a:latin typeface="Times New Roman"/>
          <a:ea typeface="Times New Roman"/>
          <a:cs typeface="Times New Roman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6F6EF"/>
          </a:solidFill>
        </a:fill>
      </a:tcStyle>
    </a:wholeTbl>
    <a:band1H>
      <a:tcStyle>
        <a:tcBdr/>
        <a:fill>
          <a:solidFill>
            <a:srgbClr val="CAECDD"/>
          </a:solidFill>
        </a:fill>
      </a:tcStyle>
    </a:band1H>
    <a:band2H>
      <a:tcStyle>
        <a:tcBdr/>
      </a:tcStyle>
    </a:band2H>
    <a:band1V>
      <a:tcStyle>
        <a:tcBdr/>
        <a:fill>
          <a:solidFill>
            <a:srgbClr val="CAECDD"/>
          </a:solidFill>
        </a:fill>
      </a:tcStyle>
    </a:band1V>
    <a:band2V>
      <a:tcStyle>
        <a:tcBdr/>
      </a:tcStyle>
    </a:band2V>
    <a:lastCol>
      <a:tcTxStyle b="on" i="off">
        <a:font>
          <a:latin typeface="Times New Roman"/>
          <a:ea typeface="Times New Roman"/>
          <a:cs typeface="Times New Roman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Times New Roman"/>
          <a:ea typeface="Times New Roman"/>
          <a:cs typeface="Times New Roman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Times New Roman"/>
          <a:ea typeface="Times New Roman"/>
          <a:cs typeface="Times New Roman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Style>
        <a:tcBdr/>
      </a:tcStyle>
    </a:seCell>
    <a:swCell>
      <a:tcStyle>
        <a:tcBdr/>
      </a:tcStyle>
    </a:swCell>
    <a:firstRow>
      <a:tcTxStyle b="on" i="off">
        <a:font>
          <a:latin typeface="Times New Roman"/>
          <a:ea typeface="Times New Roman"/>
          <a:cs typeface="Times New Roman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Style>
        <a:tcBdr/>
      </a:tcStyle>
    </a:neCell>
    <a:nwCell>
      <a:tcStyle>
        <a:tcBdr/>
      </a:tcStyle>
    </a:nwCell>
  </a:tblStyle>
  <a:tblStyle styleId="{72833802-FEF1-4C79-8D5D-14CF1EAF98D9}" styleName="淺色樣式 2 - 輔色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69C7853C-536D-4A76-A0AE-DD22124D55A5}" styleName="佈景主題樣式 1 - 輔色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2D5ABB26-0587-4C30-8999-92F81FD0307C}" styleName="無樣式、無格線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775DCB02-9BB8-47FD-8907-85C794F793BA}" styleName="佈景主題樣式 1 - 輔色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284E427A-3D55-4303-BF80-6455036E1DE7}" styleName="佈景主題樣式 1 - 輔色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3C2FFA5D-87B4-456A-9821-1D502468CF0F}" styleName="佈景主題樣式 1 - 輔色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18603FDC-E32A-4AB5-989C-0864C3EAD2B8}" styleName="佈景主題樣式 2 - 輔色 2">
    <a:tblBg>
      <a:fillRef idx="3">
        <a:schemeClr val="accent2"/>
      </a:fillRef>
      <a:effectRef idx="3">
        <a:schemeClr val="accent2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2">
                <a:tint val="50000"/>
              </a:schemeClr>
            </a:lnRef>
          </a:left>
          <a:right>
            <a:lnRef idx="1">
              <a:schemeClr val="accent2">
                <a:tint val="50000"/>
              </a:schemeClr>
            </a:lnRef>
          </a:right>
          <a:top>
            <a:lnRef idx="1">
              <a:schemeClr val="accent2">
                <a:tint val="50000"/>
              </a:schemeClr>
            </a:lnRef>
          </a:top>
          <a:bottom>
            <a:lnRef idx="1">
              <a:schemeClr val="accent2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0E3FDE45-AF77-4B5C-9715-49D594BDF05E}" styleName="淺色樣式 1 - 輔色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10A1B5D5-9B99-4C35-A422-299274C87663}" styleName="中等深淺樣式 1 - 輔色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21E4AEA4-8DFA-4A89-87EB-49C32662AFE0}" styleName="中等深淺樣式 2 - 輔色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0A15C55-8517-42AA-B614-E9B94910E393}" styleName="中等深淺樣式 2 - 輔色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F5AB1C69-6EDB-4FF4-983F-18BD219EF322}" styleName="中等深淺樣式 2 - 輔色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616DA210-FB5B-4158-B5E0-FEB733F419BA}" styleName="淺色樣式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940675A-B579-460E-94D1-54222C63F5DA}" styleName="無樣式、表格格線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37CE84F3-28C3-443E-9E96-99CF82512B78}" styleName="深色樣式 1 - 輔色 2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wholeTbl>
    <a:band1H>
      <a:tcStyle>
        <a:tcBdr/>
        <a:fill>
          <a:solidFill>
            <a:schemeClr val="accent2">
              <a:shade val="60000"/>
            </a:schemeClr>
          </a:solidFill>
        </a:fill>
      </a:tcStyle>
    </a:band1H>
    <a:band1V>
      <a:tcStyle>
        <a:tcBdr/>
        <a:fill>
          <a:solidFill>
            <a:schemeClr val="accent2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2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2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2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9DCAF9ED-07DC-4A11-8D7F-57B35C25682E}" styleName="中等深淺樣式 1 - 輔色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36" autoAdjust="0"/>
    <p:restoredTop sz="84369" autoAdjust="0"/>
  </p:normalViewPr>
  <p:slideViewPr>
    <p:cSldViewPr snapToGrid="0">
      <p:cViewPr varScale="1">
        <p:scale>
          <a:sx n="66" d="100"/>
          <a:sy n="66" d="100"/>
        </p:scale>
        <p:origin x="1685" y="53"/>
      </p:cViewPr>
      <p:guideLst>
        <p:guide orient="horz" pos="2160"/>
        <p:guide pos="31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50" d="100"/>
        <a:sy n="150" d="100"/>
      </p:scale>
      <p:origin x="0" y="0"/>
    </p:cViewPr>
  </p:notesTextViewPr>
  <p:notesViewPr>
    <p:cSldViewPr snapToGrid="0">
      <p:cViewPr varScale="1">
        <p:scale>
          <a:sx n="100" d="100"/>
          <a:sy n="100" d="100"/>
        </p:scale>
        <p:origin x="0" y="0"/>
      </p:cViewPr>
      <p:guideLst>
        <p:guide orient="horz" pos="3024"/>
        <p:guide pos="2304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commentAuthors" Target="commentAuthors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59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3176588" cy="466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2350" tIns="51175" rIns="102350" bIns="51175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 dirty="0"/>
          </a:p>
        </p:txBody>
      </p:sp>
      <p:sp>
        <p:nvSpPr>
          <p:cNvPr id="1048660" name="Google Shape;4;n"/>
          <p:cNvSpPr txBox="1">
            <a:spLocks noGrp="1"/>
          </p:cNvSpPr>
          <p:nvPr>
            <p:ph type="dt" idx="10"/>
          </p:nvPr>
        </p:nvSpPr>
        <p:spPr>
          <a:xfrm>
            <a:off x="4138613" y="0"/>
            <a:ext cx="3176587" cy="466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2350" tIns="51175" rIns="102350" bIns="51175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 dirty="0"/>
          </a:p>
        </p:txBody>
      </p:sp>
      <p:sp>
        <p:nvSpPr>
          <p:cNvPr id="1048661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1062038" y="735013"/>
            <a:ext cx="5197475" cy="359886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1048662" name="Google Shape;6;n"/>
          <p:cNvSpPr txBox="1">
            <a:spLocks noGrp="1"/>
          </p:cNvSpPr>
          <p:nvPr>
            <p:ph type="body" idx="1"/>
          </p:nvPr>
        </p:nvSpPr>
        <p:spPr>
          <a:xfrm>
            <a:off x="962025" y="4567238"/>
            <a:ext cx="5391150" cy="43005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2350" tIns="51175" rIns="102350" bIns="51175" anchor="t" anchorCtr="0">
            <a:noAutofit/>
          </a:bodyPr>
          <a:lstStyle>
            <a:lvl1pPr marL="457200" marR="0" lvl="0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48663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9134475"/>
            <a:ext cx="3176588" cy="466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2350" tIns="51175" rIns="102350" bIns="51175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 dirty="0"/>
          </a:p>
        </p:txBody>
      </p:sp>
      <p:sp>
        <p:nvSpPr>
          <p:cNvPr id="1048664" name="Google Shape;8;n"/>
          <p:cNvSpPr txBox="1">
            <a:spLocks noGrp="1"/>
          </p:cNvSpPr>
          <p:nvPr>
            <p:ph type="sldNum" idx="12"/>
          </p:nvPr>
        </p:nvSpPr>
        <p:spPr>
          <a:xfrm>
            <a:off x="4138613" y="9134475"/>
            <a:ext cx="3176587" cy="466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2350" tIns="51175" rIns="102350" bIns="51175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20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541020898"/>
      </p:ext>
    </p:extLst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585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1048586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1048587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5753A29-9D77-4C26-8BEC-432FE5D4B0A4}" type="slidenum">
              <a:rPr lang="en-US" altLang="zh-TW" smtClean="0"/>
              <a:t>1</a:t>
            </a:fld>
            <a:endParaRPr lang="en-US" altLang="zh-TW" dirty="0"/>
          </a:p>
        </p:txBody>
      </p:sp>
    </p:spTree>
    <p:extLst>
      <p:ext uri="{BB962C8B-B14F-4D97-AF65-F5344CB8AC3E}">
        <p14:creationId xmlns:p14="http://schemas.microsoft.com/office/powerpoint/2010/main" val="52527702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851A70-D7FF-B69E-2F1F-5276D7F44C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4FB2E1DE-40DE-B1BA-7135-64BFFB1631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C4F8DB8E-F5F1-21EB-D41F-2C635FB715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81AD260-1FA1-46D2-EEFC-6CE390861C0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000" b="0" i="0" u="none" strike="noStrike" cap="none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2</a:t>
            </a:fld>
            <a:endParaRPr lang="en-US" sz="20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33743304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851A70-D7FF-B69E-2F1F-5276D7F44C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4FB2E1DE-40DE-B1BA-7135-64BFFB1631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C4F8DB8E-F5F1-21EB-D41F-2C635FB715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81AD260-1FA1-46D2-EEFC-6CE390861C0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000" b="0" i="0" u="none" strike="noStrike" cap="none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3</a:t>
            </a:fld>
            <a:endParaRPr lang="en-US" sz="20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47490433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851A70-D7FF-B69E-2F1F-5276D7F44C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4FB2E1DE-40DE-B1BA-7135-64BFFB1631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C4F8DB8E-F5F1-21EB-D41F-2C635FB715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r>
              <a:rPr lang="en-US" altLang="zh-TW" dirty="0"/>
              <a:t>FPGA HDMI RX</a:t>
            </a:r>
            <a:r>
              <a:rPr lang="zh-TW" altLang="en-US" dirty="0"/>
              <a:t>：</a:t>
            </a:r>
            <a:r>
              <a:rPr lang="en-US" altLang="zh-TW" dirty="0"/>
              <a:t>TMDS </a:t>
            </a:r>
            <a:r>
              <a:rPr lang="zh-TW" altLang="en-US" dirty="0"/>
              <a:t>解碼、辨識有效像素、輸出標準像素資料</a:t>
            </a:r>
            <a:r>
              <a:rPr lang="en-US" altLang="zh-TW" dirty="0"/>
              <a:t>(pixel data</a:t>
            </a:r>
            <a:r>
              <a:rPr lang="zh-TW" altLang="en-US" dirty="0"/>
              <a:t>、</a:t>
            </a:r>
            <a:r>
              <a:rPr lang="en-US" altLang="zh-TW" dirty="0"/>
              <a:t>HSYNC</a:t>
            </a:r>
            <a:r>
              <a:rPr lang="zh-TW" altLang="en-US" dirty="0"/>
              <a:t>、</a:t>
            </a:r>
            <a:r>
              <a:rPr lang="en-US" altLang="zh-TW" dirty="0"/>
              <a:t>VSYNC)</a:t>
            </a:r>
          </a:p>
          <a:p>
            <a:pPr marL="0" indent="0"/>
            <a:r>
              <a:rPr lang="en-US" altLang="zh-TW" dirty="0"/>
              <a:t>FIFO</a:t>
            </a:r>
            <a:r>
              <a:rPr lang="zh-TW" altLang="en-US" dirty="0"/>
              <a:t>／</a:t>
            </a:r>
            <a:r>
              <a:rPr lang="en-US" altLang="zh-TW" dirty="0"/>
              <a:t>DDR Frame Buffer</a:t>
            </a:r>
            <a:r>
              <a:rPr lang="zh-TW" altLang="en-US" dirty="0"/>
              <a:t>：跨時脈、影像緩衝</a:t>
            </a:r>
            <a:endParaRPr lang="en-US" altLang="zh-TW" dirty="0"/>
          </a:p>
          <a:p>
            <a:pPr marL="0" indent="0"/>
            <a:r>
              <a:rPr lang="en-US" altLang="zh-TW" dirty="0"/>
              <a:t>PCIe Endpoint</a:t>
            </a:r>
            <a:r>
              <a:rPr lang="zh-TW" altLang="en-US" dirty="0"/>
              <a:t>：讓 </a:t>
            </a:r>
            <a:r>
              <a:rPr lang="en-US" altLang="zh-TW" dirty="0"/>
              <a:t>FPGA </a:t>
            </a:r>
            <a:r>
              <a:rPr lang="zh-TW" altLang="en-US" dirty="0"/>
              <a:t>成為 </a:t>
            </a:r>
            <a:r>
              <a:rPr lang="en-US" altLang="zh-TW" dirty="0"/>
              <a:t>PC </a:t>
            </a:r>
            <a:r>
              <a:rPr lang="zh-TW" altLang="en-US" dirty="0"/>
              <a:t>可以辨識與存取的 </a:t>
            </a:r>
            <a:r>
              <a:rPr lang="en-US" altLang="zh-TW" dirty="0"/>
              <a:t>PCIe </a:t>
            </a:r>
            <a:r>
              <a:rPr lang="zh-TW" altLang="en-US" dirty="0"/>
              <a:t>裝置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81AD260-1FA1-46D2-EEFC-6CE390861C0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000" b="0" i="0" u="none" strike="noStrike" cap="none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4</a:t>
            </a:fld>
            <a:endParaRPr lang="en-US" sz="20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27549043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851A70-D7FF-B69E-2F1F-5276D7F44C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4FB2E1DE-40DE-B1BA-7135-64BFFB1631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C4F8DB8E-F5F1-21EB-D41F-2C635FB715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81AD260-1FA1-46D2-EEFC-6CE390861C0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000" b="0" i="0" u="none" strike="noStrike" cap="none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5</a:t>
            </a:fld>
            <a:endParaRPr lang="en-US" sz="20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47369008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851A70-D7FF-B69E-2F1F-5276D7F44C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4FB2E1DE-40DE-B1BA-7135-64BFFB1631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C4F8DB8E-F5F1-21EB-D41F-2C635FB715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81AD260-1FA1-46D2-EEFC-6CE390861C0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000" b="0" i="0" u="none" strike="noStrike" cap="none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6</a:t>
            </a:fld>
            <a:endParaRPr lang="en-US" sz="20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96064560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851A70-D7FF-B69E-2F1F-5276D7F44C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4FB2E1DE-40DE-B1BA-7135-64BFFB1631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C4F8DB8E-F5F1-21EB-D41F-2C635FB715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FPGA </a:t>
            </a:r>
            <a:r>
              <a:rPr lang="zh-TW" altLang="en-US" dirty="0"/>
              <a:t>系統 </a:t>
            </a:r>
            <a:r>
              <a:rPr lang="en-US" altLang="zh-TW" dirty="0"/>
              <a:t>framework</a:t>
            </a:r>
          </a:p>
          <a:p>
            <a:r>
              <a:rPr lang="zh-TW" altLang="en-US" dirty="0"/>
              <a:t>連接模組（系統整合）： 決定哪些模組要連接，以及如何組成完整系統。</a:t>
            </a:r>
          </a:p>
          <a:p>
            <a:r>
              <a:rPr lang="zh-TW" altLang="en-US" dirty="0"/>
              <a:t>連接介面（通訊規則）： 規定模組連接後，如何交換資料、位址、控制訊號，以及如何協調傳輸。</a:t>
            </a:r>
          </a:p>
          <a:p>
            <a:pPr marL="0" indent="0"/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81AD260-1FA1-46D2-EEFC-6CE390861C0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000" b="0" i="0" u="none" strike="noStrike" cap="none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7</a:t>
            </a:fld>
            <a:endParaRPr lang="en-US" sz="20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67370524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851A70-D7FF-B69E-2F1F-5276D7F44C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4FB2E1DE-40DE-B1BA-7135-64BFFB1631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C4F8DB8E-F5F1-21EB-D41F-2C635FB715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81AD260-1FA1-46D2-EEFC-6CE390861C0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000" b="0" i="0" u="none" strike="noStrike" cap="none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8</a:t>
            </a:fld>
            <a:endParaRPr lang="en-US" sz="20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02214949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851A70-D7FF-B69E-2F1F-5276D7F44C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4FB2E1DE-40DE-B1BA-7135-64BFFB1631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C4F8DB8E-F5F1-21EB-D41F-2C635FB715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81AD260-1FA1-46D2-EEFC-6CE390861C0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000" b="0" i="0" u="none" strike="noStrike" cap="none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9</a:t>
            </a:fld>
            <a:endParaRPr lang="en-US" sz="20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53077041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851A70-D7FF-B69E-2F1F-5276D7F44C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4FB2E1DE-40DE-B1BA-7135-64BFFB1631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C4F8DB8E-F5F1-21EB-D41F-2C635FB715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81AD260-1FA1-46D2-EEFC-6CE390861C0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000" b="0" i="0" u="none" strike="noStrike" cap="none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10</a:t>
            </a:fld>
            <a:endParaRPr lang="en-US" sz="20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76439262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851A70-D7FF-B69E-2F1F-5276D7F44C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4FB2E1DE-40DE-B1BA-7135-64BFFB1631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C4F8DB8E-F5F1-21EB-D41F-2C635FB715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81AD260-1FA1-46D2-EEFC-6CE390861C0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000" b="0" i="0" u="none" strike="noStrike" cap="none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11</a:t>
            </a:fld>
            <a:endParaRPr lang="en-US" sz="20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3115843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41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1048642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0">
              <a:buNone/>
            </a:pPr>
            <a:endParaRPr lang="en-US" altLang="zh-TW" dirty="0"/>
          </a:p>
        </p:txBody>
      </p:sp>
      <p:sp>
        <p:nvSpPr>
          <p:cNvPr id="1048643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5753A29-9D77-4C26-8BEC-432FE5D4B0A4}" type="slidenum">
              <a:rPr lang="en-US" altLang="zh-TW" smtClean="0"/>
              <a:t>12</a:t>
            </a:fld>
            <a:endParaRPr lang="en-US" altLang="zh-TW" dirty="0"/>
          </a:p>
        </p:txBody>
      </p:sp>
    </p:spTree>
    <p:extLst>
      <p:ext uri="{BB962C8B-B14F-4D97-AF65-F5344CB8AC3E}">
        <p14:creationId xmlns:p14="http://schemas.microsoft.com/office/powerpoint/2010/main" val="115414857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標題投影片" type="title">
  <p:cSld name="TITLE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36" name="Google Shape;21;p50"/>
          <p:cNvSpPr txBox="1">
            <a:spLocks noGrp="1"/>
          </p:cNvSpPr>
          <p:nvPr>
            <p:ph type="ctrTitle"/>
          </p:nvPr>
        </p:nvSpPr>
        <p:spPr>
          <a:xfrm>
            <a:off x="1238250" y="1122363"/>
            <a:ext cx="74295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4875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</a:lvl9pPr>
          </a:lstStyle>
          <a:p>
            <a:endParaRPr/>
          </a:p>
        </p:txBody>
      </p:sp>
      <p:sp>
        <p:nvSpPr>
          <p:cNvPr id="1048637" name="Google Shape;22;p50"/>
          <p:cNvSpPr txBox="1"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ctr">
              <a:spcBef>
                <a:spcPts val="390"/>
              </a:spcBef>
              <a:spcAft>
                <a:spcPts val="0"/>
              </a:spcAft>
              <a:buSzPts val="1950"/>
              <a:buNone/>
              <a:defRPr sz="1950"/>
            </a:lvl1pPr>
            <a:lvl2pPr lvl="1" algn="ctr">
              <a:spcBef>
                <a:spcPts val="325"/>
              </a:spcBef>
              <a:spcAft>
                <a:spcPts val="0"/>
              </a:spcAft>
              <a:buSzPts val="1625"/>
              <a:buNone/>
              <a:defRPr sz="1625"/>
            </a:lvl2pPr>
            <a:lvl3pPr lvl="2" algn="ctr">
              <a:spcBef>
                <a:spcPts val="293"/>
              </a:spcBef>
              <a:spcAft>
                <a:spcPts val="0"/>
              </a:spcAft>
              <a:buSzPts val="1463"/>
              <a:buFont typeface="Times New Roman"/>
              <a:buNone/>
              <a:defRPr sz="1463"/>
            </a:lvl3pPr>
            <a:lvl4pPr lvl="3" algn="ctr">
              <a:spcBef>
                <a:spcPts val="260"/>
              </a:spcBef>
              <a:spcAft>
                <a:spcPts val="0"/>
              </a:spcAft>
              <a:buSzPts val="1300"/>
              <a:buFont typeface="Times New Roman"/>
              <a:buNone/>
              <a:defRPr sz="1300"/>
            </a:lvl4pPr>
            <a:lvl5pPr lvl="4" algn="ctr">
              <a:spcBef>
                <a:spcPts val="260"/>
              </a:spcBef>
              <a:spcAft>
                <a:spcPts val="0"/>
              </a:spcAft>
              <a:buSzPts val="1300"/>
              <a:buFont typeface="Times New Roman"/>
              <a:buNone/>
              <a:defRPr sz="1300"/>
            </a:lvl5pPr>
            <a:lvl6pPr lvl="5" algn="ctr">
              <a:spcBef>
                <a:spcPts val="260"/>
              </a:spcBef>
              <a:spcAft>
                <a:spcPts val="0"/>
              </a:spcAft>
              <a:buSzPts val="1300"/>
              <a:buFont typeface="Times New Roman"/>
              <a:buNone/>
              <a:defRPr sz="1300"/>
            </a:lvl6pPr>
            <a:lvl7pPr lvl="6" algn="ctr">
              <a:spcBef>
                <a:spcPts val="260"/>
              </a:spcBef>
              <a:spcAft>
                <a:spcPts val="0"/>
              </a:spcAft>
              <a:buSzPts val="1300"/>
              <a:buFont typeface="Times New Roman"/>
              <a:buNone/>
              <a:defRPr sz="1300"/>
            </a:lvl7pPr>
            <a:lvl8pPr lvl="7" algn="ctr">
              <a:spcBef>
                <a:spcPts val="260"/>
              </a:spcBef>
              <a:spcAft>
                <a:spcPts val="0"/>
              </a:spcAft>
              <a:buSzPts val="1300"/>
              <a:buFont typeface="Times New Roman"/>
              <a:buNone/>
              <a:defRPr sz="1300"/>
            </a:lvl8pPr>
            <a:lvl9pPr lvl="8" algn="ctr">
              <a:spcBef>
                <a:spcPts val="260"/>
              </a:spcBef>
              <a:spcAft>
                <a:spcPts val="0"/>
              </a:spcAft>
              <a:buSzPts val="1300"/>
              <a:buFont typeface="Times New Roman"/>
              <a:buNone/>
              <a:defRPr sz="1300"/>
            </a:lvl9pPr>
          </a:lstStyle>
          <a:p>
            <a:endParaRPr/>
          </a:p>
        </p:txBody>
      </p:sp>
      <p:sp>
        <p:nvSpPr>
          <p:cNvPr id="1048638" name="Google Shape;23;p50"/>
          <p:cNvSpPr txBox="1">
            <a:spLocks noGrp="1"/>
          </p:cNvSpPr>
          <p:nvPr>
            <p:ph type="dt" idx="10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 dirty="0"/>
          </a:p>
        </p:txBody>
      </p:sp>
      <p:sp>
        <p:nvSpPr>
          <p:cNvPr id="1048639" name="Google Shape;24;p50"/>
          <p:cNvSpPr txBox="1">
            <a:spLocks noGrp="1"/>
          </p:cNvSpPr>
          <p:nvPr>
            <p:ph type="ftr" idx="1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 dirty="0"/>
          </a:p>
        </p:txBody>
      </p:sp>
      <p:sp>
        <p:nvSpPr>
          <p:cNvPr id="1048640" name="Google Shape;25;p50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0" marR="0" lvl="1" indent="0" algn="l" rtl="0"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0" marR="0" lvl="2" indent="0" algn="l" rtl="0"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0" marR="0" lvl="3" indent="0" algn="l" rtl="0"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0" marR="0" lvl="4" indent="0" algn="l" rtl="0"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0" marR="0" lvl="5" indent="0" algn="l" rtl="0"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0" marR="0" lvl="6" indent="0" algn="l" rtl="0"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0" marR="0" lvl="7" indent="0" algn="l" rtl="0"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0" marR="0" lvl="8" indent="0" algn="l" rtl="0"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46" name="Google Shape;37;p54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</a:lvl9pPr>
          </a:lstStyle>
          <a:p>
            <a:endParaRPr/>
          </a:p>
        </p:txBody>
      </p:sp>
      <p:sp>
        <p:nvSpPr>
          <p:cNvPr id="1048647" name="Google Shape;38;p54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SzPts val="1800"/>
              <a:buFont typeface="Times New Roman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9pPr>
          </a:lstStyle>
          <a:p>
            <a:endParaRPr/>
          </a:p>
        </p:txBody>
      </p:sp>
      <p:sp>
        <p:nvSpPr>
          <p:cNvPr id="1048648" name="Google Shape;39;p54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SzPts val="2400"/>
              <a:buChar char="❖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SzPts val="2000"/>
              <a:buChar char="▪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SzPts val="1800"/>
              <a:buFont typeface="Times New Roman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9pPr>
          </a:lstStyle>
          <a:p>
            <a:endParaRPr/>
          </a:p>
        </p:txBody>
      </p:sp>
      <p:sp>
        <p:nvSpPr>
          <p:cNvPr id="1048649" name="Google Shape;40;p54"/>
          <p:cNvSpPr txBox="1">
            <a:spLocks noGrp="1"/>
          </p:cNvSpPr>
          <p:nvPr>
            <p:ph type="body" idx="3"/>
          </p:nvPr>
        </p:nvSpPr>
        <p:spPr>
          <a:xfrm>
            <a:off x="4645027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SzPts val="1800"/>
              <a:buFont typeface="Times New Roman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9pPr>
          </a:lstStyle>
          <a:p>
            <a:endParaRPr/>
          </a:p>
        </p:txBody>
      </p:sp>
      <p:sp>
        <p:nvSpPr>
          <p:cNvPr id="1048650" name="Google Shape;41;p54"/>
          <p:cNvSpPr txBox="1">
            <a:spLocks noGrp="1"/>
          </p:cNvSpPr>
          <p:nvPr>
            <p:ph type="body" idx="4"/>
          </p:nvPr>
        </p:nvSpPr>
        <p:spPr>
          <a:xfrm>
            <a:off x="4645027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SzPts val="2400"/>
              <a:buChar char="❖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SzPts val="2000"/>
              <a:buChar char="▪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SzPts val="1800"/>
              <a:buFont typeface="Times New Roman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53" name="Google Shape;43;p55"/>
          <p:cNvSpPr txBox="1">
            <a:spLocks noGrp="1"/>
          </p:cNvSpPr>
          <p:nvPr>
            <p:ph type="title"/>
          </p:nvPr>
        </p:nvSpPr>
        <p:spPr>
          <a:xfrm>
            <a:off x="660400" y="609600"/>
            <a:ext cx="8750300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54" name="Google Shape;50;p58"/>
          <p:cNvSpPr txBox="1">
            <a:spLocks noGrp="1"/>
          </p:cNvSpPr>
          <p:nvPr>
            <p:ph type="title"/>
          </p:nvPr>
        </p:nvSpPr>
        <p:spPr>
          <a:xfrm>
            <a:off x="1792290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</a:lvl9pPr>
          </a:lstStyle>
          <a:p>
            <a:endParaRPr/>
          </a:p>
        </p:txBody>
      </p:sp>
      <p:sp>
        <p:nvSpPr>
          <p:cNvPr id="1048655" name="Google Shape;51;p58"/>
          <p:cNvSpPr>
            <a:spLocks noGrp="1"/>
          </p:cNvSpPr>
          <p:nvPr>
            <p:ph type="pic" idx="2"/>
          </p:nvPr>
        </p:nvSpPr>
        <p:spPr>
          <a:xfrm>
            <a:off x="1792290" y="612775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640"/>
              </a:spcBef>
              <a:spcAft>
                <a:spcPts val="0"/>
              </a:spcAft>
              <a:buClr>
                <a:schemeClr val="accent2"/>
              </a:buClr>
              <a:buSzPts val="3200"/>
              <a:buFont typeface="Noto Sans Symbols"/>
              <a:buNone/>
              <a:defRPr sz="3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spcBef>
                <a:spcPts val="560"/>
              </a:spcBef>
              <a:spcAft>
                <a:spcPts val="0"/>
              </a:spcAft>
              <a:buClr>
                <a:srgbClr val="FF5050"/>
              </a:buClr>
              <a:buSzPts val="2800"/>
              <a:buFont typeface="Noto Sans Symbols"/>
              <a:buNone/>
              <a:defRPr sz="2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R="0" lvl="2" algn="l" rtl="0">
              <a:spcBef>
                <a:spcPts val="480"/>
              </a:spcBef>
              <a:spcAft>
                <a:spcPts val="0"/>
              </a:spcAft>
              <a:buClr>
                <a:srgbClr val="6699FF"/>
              </a:buClr>
              <a:buSzPts val="2400"/>
              <a:buFont typeface="Times New Roman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R="0" lvl="3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None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R="0" lvl="4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None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R="0" lvl="5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None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R="0" lvl="6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None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R="0" lvl="7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None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R="0" lvl="8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None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 dirty="0"/>
          </a:p>
        </p:txBody>
      </p:sp>
      <p:sp>
        <p:nvSpPr>
          <p:cNvPr id="1048656" name="Google Shape;52;p58"/>
          <p:cNvSpPr txBox="1">
            <a:spLocks noGrp="1"/>
          </p:cNvSpPr>
          <p:nvPr>
            <p:ph type="body" idx="1"/>
          </p:nvPr>
        </p:nvSpPr>
        <p:spPr>
          <a:xfrm>
            <a:off x="1792290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SzPts val="1000"/>
              <a:buFont typeface="Times New Roman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SzPts val="900"/>
              <a:buFont typeface="Times New Roman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SzPts val="900"/>
              <a:buFont typeface="Times New Roman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SzPts val="900"/>
              <a:buFont typeface="Times New Roman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SzPts val="900"/>
              <a:buFont typeface="Times New Roman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SzPts val="900"/>
              <a:buFont typeface="Times New Roman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SzPts val="900"/>
              <a:buFont typeface="Times New Roman"/>
              <a:buNone/>
              <a:defRPr sz="9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44" name="Google Shape;54;p59"/>
          <p:cNvSpPr txBox="1">
            <a:spLocks noGrp="1"/>
          </p:cNvSpPr>
          <p:nvPr>
            <p:ph type="title"/>
          </p:nvPr>
        </p:nvSpPr>
        <p:spPr>
          <a:xfrm>
            <a:off x="660400" y="609600"/>
            <a:ext cx="8750300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</a:lvl9pPr>
          </a:lstStyle>
          <a:p>
            <a:endParaRPr/>
          </a:p>
        </p:txBody>
      </p:sp>
      <p:sp>
        <p:nvSpPr>
          <p:cNvPr id="1048645" name="Google Shape;55;p59"/>
          <p:cNvSpPr txBox="1">
            <a:spLocks noGrp="1"/>
          </p:cNvSpPr>
          <p:nvPr>
            <p:ph type="body" idx="1"/>
          </p:nvPr>
        </p:nvSpPr>
        <p:spPr>
          <a:xfrm rot="5400000">
            <a:off x="2593975" y="-485775"/>
            <a:ext cx="4800600" cy="8667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SzPts val="1800"/>
              <a:buChar char="❖"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SzPts val="1800"/>
              <a:buChar char="▪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SzPts val="1800"/>
              <a:buChar char="•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57" name="Google Shape;57;p60"/>
          <p:cNvSpPr txBox="1">
            <a:spLocks noGrp="1"/>
          </p:cNvSpPr>
          <p:nvPr>
            <p:ph type="title"/>
          </p:nvPr>
        </p:nvSpPr>
        <p:spPr>
          <a:xfrm rot="5400000">
            <a:off x="4857751" y="2419350"/>
            <a:ext cx="5638800" cy="201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</a:lvl9pPr>
          </a:lstStyle>
          <a:p>
            <a:endParaRPr/>
          </a:p>
        </p:txBody>
      </p:sp>
      <p:sp>
        <p:nvSpPr>
          <p:cNvPr id="1048658" name="Google Shape;58;p60"/>
          <p:cNvSpPr txBox="1">
            <a:spLocks noGrp="1"/>
          </p:cNvSpPr>
          <p:nvPr>
            <p:ph type="body" idx="1"/>
          </p:nvPr>
        </p:nvSpPr>
        <p:spPr>
          <a:xfrm rot="5400000">
            <a:off x="742951" y="476250"/>
            <a:ext cx="5638800" cy="590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SzPts val="1800"/>
              <a:buChar char="❖"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SzPts val="1800"/>
              <a:buChar char="▪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SzPts val="1800"/>
              <a:buChar char="•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chart">
  <p:cSld name="1_Title and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579" name="Title 1"/>
          <p:cNvSpPr>
            <a:spLocks noGrp="1"/>
          </p:cNvSpPr>
          <p:nvPr>
            <p:ph type="title"/>
          </p:nvPr>
        </p:nvSpPr>
        <p:spPr>
          <a:xfrm>
            <a:off x="609602" y="609600"/>
            <a:ext cx="8077200" cy="533400"/>
          </a:xfrm>
        </p:spPr>
        <p:txBody>
          <a:bodyPr/>
          <a:lstStyle/>
          <a:p>
            <a:r>
              <a:rPr lang="en-US" altLang="zh-TW" dirty="0"/>
              <a:t>Click to edit Master title style</a:t>
            </a:r>
            <a:endParaRPr lang="en-US" dirty="0"/>
          </a:p>
        </p:txBody>
      </p:sp>
      <p:sp>
        <p:nvSpPr>
          <p:cNvPr id="1048580" name="Chart Placeholder 2"/>
          <p:cNvSpPr>
            <a:spLocks noGrp="1"/>
          </p:cNvSpPr>
          <p:nvPr>
            <p:ph type="chart" idx="1"/>
          </p:nvPr>
        </p:nvSpPr>
        <p:spPr>
          <a:xfrm>
            <a:off x="609600" y="1447800"/>
            <a:ext cx="8001000" cy="4800600"/>
          </a:xfrm>
        </p:spPr>
        <p:txBody>
          <a:bodyPr/>
          <a:lstStyle/>
          <a:p>
            <a:pPr lvl="0"/>
            <a:endParaRPr lang="en-US" noProof="0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51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1048652" name="Title 1"/>
          <p:cNvSpPr>
            <a:spLocks noGrp="1"/>
          </p:cNvSpPr>
          <p:nvPr>
            <p:ph type="title"/>
          </p:nvPr>
        </p:nvSpPr>
        <p:spPr>
          <a:xfrm>
            <a:off x="660400" y="609600"/>
            <a:ext cx="8750300" cy="533400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 altLang="zh-TW" dirty="0"/>
              <a:t>Title of the Slide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1.jpeg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576" name="Google Shape;10;p48"/>
          <p:cNvSpPr txBox="1">
            <a:spLocks noGrp="1"/>
          </p:cNvSpPr>
          <p:nvPr>
            <p:ph type="title"/>
          </p:nvPr>
        </p:nvSpPr>
        <p:spPr>
          <a:xfrm>
            <a:off x="660400" y="609600"/>
            <a:ext cx="8750300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accent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accent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accent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accent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accent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200" b="0" i="0" u="none" strike="noStrike" cap="none">
                <a:solidFill>
                  <a:schemeClr val="accent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200" b="0" i="0" u="none" strike="noStrike" cap="none">
                <a:solidFill>
                  <a:schemeClr val="accent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200" b="0" i="0" u="none" strike="noStrike" cap="none">
                <a:solidFill>
                  <a:schemeClr val="accent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200" b="0" i="0" u="none" strike="noStrike" cap="none">
                <a:solidFill>
                  <a:schemeClr val="accent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/>
          </a:p>
        </p:txBody>
      </p:sp>
      <p:cxnSp>
        <p:nvCxnSpPr>
          <p:cNvPr id="3145728" name="Google Shape;11;p48"/>
          <p:cNvCxnSpPr>
            <a:cxnSpLocks/>
          </p:cNvCxnSpPr>
          <p:nvPr/>
        </p:nvCxnSpPr>
        <p:spPr>
          <a:xfrm>
            <a:off x="412750" y="533400"/>
            <a:ext cx="899795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145729" name="Google Shape;12;p48"/>
          <p:cNvCxnSpPr>
            <a:cxnSpLocks/>
          </p:cNvCxnSpPr>
          <p:nvPr/>
        </p:nvCxnSpPr>
        <p:spPr>
          <a:xfrm>
            <a:off x="577850" y="228600"/>
            <a:ext cx="0" cy="99060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145730" name="Google Shape;13;p48"/>
          <p:cNvCxnSpPr>
            <a:cxnSpLocks/>
          </p:cNvCxnSpPr>
          <p:nvPr/>
        </p:nvCxnSpPr>
        <p:spPr>
          <a:xfrm>
            <a:off x="495300" y="6400800"/>
            <a:ext cx="89154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048577" name="Google Shape;14;p48"/>
          <p:cNvSpPr txBox="1">
            <a:spLocks noGrp="1"/>
          </p:cNvSpPr>
          <p:nvPr>
            <p:ph type="body" idx="1"/>
          </p:nvPr>
        </p:nvSpPr>
        <p:spPr>
          <a:xfrm>
            <a:off x="660400" y="1447800"/>
            <a:ext cx="8667750" cy="48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406400" algn="l" rtl="0">
              <a:spcBef>
                <a:spcPts val="56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Noto Sans Symbols"/>
              <a:buChar char="❖"/>
              <a:defRPr sz="2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381000" algn="l" rtl="0">
              <a:spcBef>
                <a:spcPts val="480"/>
              </a:spcBef>
              <a:spcAft>
                <a:spcPts val="0"/>
              </a:spcAft>
              <a:buClr>
                <a:srgbClr val="FF5050"/>
              </a:buClr>
              <a:buSzPts val="2400"/>
              <a:buFont typeface="Noto Sans Symbols"/>
              <a:buChar char="▪"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355600" algn="l" rtl="0">
              <a:spcBef>
                <a:spcPts val="400"/>
              </a:spcBef>
              <a:spcAft>
                <a:spcPts val="0"/>
              </a:spcAft>
              <a:buClr>
                <a:srgbClr val="6699FF"/>
              </a:buClr>
              <a:buSzPts val="2000"/>
              <a:buFont typeface="Times New Roman"/>
              <a:buChar char="•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/>
          </a:p>
        </p:txBody>
      </p:sp>
      <p:sp>
        <p:nvSpPr>
          <p:cNvPr id="1048578" name="Google Shape;15;p48"/>
          <p:cNvSpPr txBox="1"/>
          <p:nvPr/>
        </p:nvSpPr>
        <p:spPr>
          <a:xfrm>
            <a:off x="8510587" y="6502400"/>
            <a:ext cx="817563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4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2097152" name="Google Shape;16;p48"/>
          <p:cNvPicPr preferRelativeResize="0">
            <a:picLocks/>
          </p:cNvPicPr>
          <p:nvPr/>
        </p:nvPicPr>
        <p:blipFill rotWithShape="1">
          <a:blip r:embed="rId11">
            <a:alphaModFix/>
          </a:blip>
          <a:srcRect/>
          <a:stretch>
            <a:fillRect/>
          </a:stretch>
        </p:blipFill>
        <p:spPr>
          <a:xfrm>
            <a:off x="57150" y="6446838"/>
            <a:ext cx="1827213" cy="360362"/>
          </a:xfrm>
          <a:prstGeom prst="rect">
            <a:avLst/>
          </a:prstGeom>
          <a:noFill/>
          <a:ln>
            <a:noFill/>
          </a:ln>
        </p:spPr>
      </p:pic>
    </p:spTree>
  </p:cSld>
  <p:clrMap bg1="lt1" tx1="dk1" bg2="dk2" tx2="lt2" accent1="accent1" accent2="accent2" accent3="accent3" accent4="accent4" accent5="accent5" accent6="accent6" hlink="hlink" folHlink="fol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8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linxalinx/AX7103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581" name="Rectangle 2"/>
          <p:cNvSpPr>
            <a:spLocks noGrp="1" noChangeArrowheads="1"/>
          </p:cNvSpPr>
          <p:nvPr>
            <p:ph type="title"/>
          </p:nvPr>
        </p:nvSpPr>
        <p:spPr>
          <a:xfrm>
            <a:off x="668908" y="1829704"/>
            <a:ext cx="8568183" cy="1728539"/>
          </a:xfrm>
        </p:spPr>
        <p:txBody>
          <a:bodyPr/>
          <a:lstStyle/>
          <a:p>
            <a:pPr algn="ctr" eaLnBrk="1" hangingPunct="1"/>
            <a:r>
              <a:rPr lang="en-US" altLang="zh-TW" sz="3200" b="1" dirty="0">
                <a:solidFill>
                  <a:srgbClr val="0057C0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Progress Report</a:t>
            </a:r>
          </a:p>
        </p:txBody>
      </p:sp>
      <p:sp>
        <p:nvSpPr>
          <p:cNvPr id="1048582" name="Rectangle 2"/>
          <p:cNvSpPr txBox="1">
            <a:spLocks noChangeArrowheads="1"/>
          </p:cNvSpPr>
          <p:nvPr/>
        </p:nvSpPr>
        <p:spPr bwMode="auto">
          <a:xfrm>
            <a:off x="907104" y="3362630"/>
            <a:ext cx="8568183" cy="172853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accent2"/>
                </a:solidFill>
                <a:latin typeface="+mn-lt"/>
                <a:ea typeface="+mj-ea"/>
                <a:cs typeface="+mj-cs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accent2"/>
                </a:solidFill>
                <a:latin typeface="Times New Roman" charset="0"/>
                <a:ea typeface="新細明體" charset="-120"/>
                <a:cs typeface="新細明體" charset="-120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accent2"/>
                </a:solidFill>
                <a:latin typeface="Times New Roman" charset="0"/>
                <a:ea typeface="新細明體" charset="-120"/>
                <a:cs typeface="新細明體" charset="-120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accent2"/>
                </a:solidFill>
                <a:latin typeface="Times New Roman" charset="0"/>
                <a:ea typeface="新細明體" charset="-120"/>
                <a:cs typeface="新細明體" charset="-120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accent2"/>
                </a:solidFill>
                <a:latin typeface="Times New Roman" charset="0"/>
                <a:ea typeface="新細明體" charset="-120"/>
                <a:cs typeface="新細明體" charset="-120"/>
              </a:defRPr>
            </a:lvl5pPr>
            <a:lvl6pPr marL="457200" algn="l" rtl="0" fontAlgn="base">
              <a:spcBef>
                <a:spcPct val="0"/>
              </a:spcBef>
              <a:spcAft>
                <a:spcPct val="0"/>
              </a:spcAft>
              <a:defRPr kumimoji="1" sz="3200">
                <a:solidFill>
                  <a:schemeClr val="accent2"/>
                </a:solidFill>
                <a:latin typeface="Times New Roman" charset="0"/>
                <a:ea typeface="新細明體" charset="-120"/>
                <a:cs typeface="新細明體" charset="-120"/>
              </a:defRPr>
            </a:lvl6pPr>
            <a:lvl7pPr marL="914400" algn="l" rtl="0" fontAlgn="base">
              <a:spcBef>
                <a:spcPct val="0"/>
              </a:spcBef>
              <a:spcAft>
                <a:spcPct val="0"/>
              </a:spcAft>
              <a:defRPr kumimoji="1" sz="3200">
                <a:solidFill>
                  <a:schemeClr val="accent2"/>
                </a:solidFill>
                <a:latin typeface="Times New Roman" charset="0"/>
                <a:ea typeface="新細明體" charset="-120"/>
                <a:cs typeface="新細明體" charset="-120"/>
              </a:defRPr>
            </a:lvl7pPr>
            <a:lvl8pPr marL="1371600" algn="l" rtl="0" fontAlgn="base">
              <a:spcBef>
                <a:spcPct val="0"/>
              </a:spcBef>
              <a:spcAft>
                <a:spcPct val="0"/>
              </a:spcAft>
              <a:defRPr kumimoji="1" sz="3200">
                <a:solidFill>
                  <a:schemeClr val="accent2"/>
                </a:solidFill>
                <a:latin typeface="Times New Roman" charset="0"/>
                <a:ea typeface="新細明體" charset="-120"/>
                <a:cs typeface="新細明體" charset="-120"/>
              </a:defRPr>
            </a:lvl8pPr>
            <a:lvl9pPr marL="1828800" algn="l" rtl="0" fontAlgn="base">
              <a:spcBef>
                <a:spcPct val="0"/>
              </a:spcBef>
              <a:spcAft>
                <a:spcPct val="0"/>
              </a:spcAft>
              <a:defRPr kumimoji="1" sz="3200">
                <a:solidFill>
                  <a:schemeClr val="accent2"/>
                </a:solidFill>
                <a:latin typeface="Times New Roman" charset="0"/>
                <a:ea typeface="新細明體" charset="-120"/>
                <a:cs typeface="新細明體" charset="-120"/>
              </a:defRPr>
            </a:lvl9pPr>
          </a:lstStyle>
          <a:p>
            <a:pPr algn="ctr" eaLnBrk="1" hangingPunct="1"/>
            <a:endParaRPr lang="en-US" altLang="zh-TW" kern="0" dirty="0">
              <a:solidFill>
                <a:schemeClr val="tx1"/>
              </a:solidFill>
            </a:endParaRPr>
          </a:p>
        </p:txBody>
      </p:sp>
      <p:sp>
        <p:nvSpPr>
          <p:cNvPr id="1048583" name="Text Box 4"/>
          <p:cNvSpPr txBox="1">
            <a:spLocks noChangeArrowheads="1"/>
          </p:cNvSpPr>
          <p:nvPr/>
        </p:nvSpPr>
        <p:spPr bwMode="auto">
          <a:xfrm>
            <a:off x="1100262" y="4484365"/>
            <a:ext cx="7705476" cy="707886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9pPr>
          </a:lstStyle>
          <a:p>
            <a:pPr algn="ctr"/>
            <a:r>
              <a:rPr lang="en-US" altLang="zh-TW" sz="2000" dirty="0">
                <a:cs typeface="Times New Roman" panose="02020603050405020304" pitchFamily="18" charset="0"/>
              </a:rPr>
              <a:t>Author : </a:t>
            </a:r>
          </a:p>
          <a:p>
            <a:pPr algn="ctr"/>
            <a:r>
              <a:rPr lang="en-US" altLang="zh-TW" sz="2000" dirty="0">
                <a:cs typeface="Times New Roman" panose="02020603050405020304" pitchFamily="18" charset="0"/>
              </a:rPr>
              <a:t>BO-CHENG</a:t>
            </a:r>
            <a:r>
              <a:rPr lang="zh-TW" altLang="en-US" sz="2000" dirty="0">
                <a:cs typeface="Times New Roman" panose="02020603050405020304" pitchFamily="18" charset="0"/>
              </a:rPr>
              <a:t>、</a:t>
            </a:r>
            <a:r>
              <a:rPr lang="en-US" altLang="zh-TW" sz="2000" dirty="0">
                <a:cs typeface="Times New Roman" panose="02020603050405020304" pitchFamily="18" charset="0"/>
              </a:rPr>
              <a:t>Cheng-Yuan</a:t>
            </a:r>
            <a:r>
              <a:rPr lang="zh-TW" altLang="en-US" sz="2000" dirty="0">
                <a:cs typeface="Times New Roman" panose="02020603050405020304" pitchFamily="18" charset="0"/>
              </a:rPr>
              <a:t>、</a:t>
            </a:r>
            <a:r>
              <a:rPr lang="en-US" altLang="zh-TW" sz="2000" dirty="0">
                <a:cs typeface="Times New Roman" panose="02020603050405020304" pitchFamily="18" charset="0"/>
              </a:rPr>
              <a:t>Sheng-Yao</a:t>
            </a:r>
          </a:p>
        </p:txBody>
      </p:sp>
      <p:sp>
        <p:nvSpPr>
          <p:cNvPr id="1048584" name="Text Box 4"/>
          <p:cNvSpPr txBox="1">
            <a:spLocks noChangeArrowheads="1"/>
          </p:cNvSpPr>
          <p:nvPr/>
        </p:nvSpPr>
        <p:spPr bwMode="auto">
          <a:xfrm>
            <a:off x="1100262" y="5673486"/>
            <a:ext cx="7705476" cy="461665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9pPr>
          </a:lstStyle>
          <a:p>
            <a:pPr algn="ctr"/>
            <a:r>
              <a:rPr lang="en-US" altLang="zh-TW" b="1" dirty="0">
                <a:solidFill>
                  <a:srgbClr val="0057C0"/>
                </a:solidFill>
              </a:rPr>
              <a:t>Embedded System Software Design</a:t>
            </a:r>
            <a:endParaRPr lang="en-US" altLang="zh-TW" sz="2000" b="1" dirty="0">
              <a:solidFill>
                <a:srgbClr val="0057C0"/>
              </a:solidFill>
              <a:latin typeface="+mn-lt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5E9AAA-7E36-1E17-83F9-FD3A18A28B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字版面配置區 6">
            <a:extLst>
              <a:ext uri="{FF2B5EF4-FFF2-40B4-BE49-F238E27FC236}">
                <a16:creationId xmlns:a16="http://schemas.microsoft.com/office/drawing/2014/main" id="{B361B4DF-3145-D829-F41F-4DFE4B01E588}"/>
              </a:ext>
            </a:extLst>
          </p:cNvPr>
          <p:cNvSpPr txBox="1"/>
          <p:nvPr/>
        </p:nvSpPr>
        <p:spPr>
          <a:xfrm>
            <a:off x="609602" y="935857"/>
            <a:ext cx="8686796" cy="47006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4064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Noto Sans Symbols"/>
              <a:buChar char="❖"/>
              <a:defRPr sz="2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FF5050"/>
              </a:buClr>
              <a:buSzPts val="2400"/>
              <a:buFont typeface="Noto Sans Symbols"/>
              <a:buChar char="▪"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6699FF"/>
              </a:buClr>
              <a:buSzPts val="2000"/>
              <a:buFont typeface="Times New Roman"/>
              <a:buChar char="•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>
              <a:lnSpc>
                <a:spcPct val="150000"/>
              </a:lnSpc>
            </a:pPr>
            <a:r>
              <a:rPr lang="en-US" altLang="zh-TW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ICC</a:t>
            </a:r>
            <a:r>
              <a:rPr lang="zh-TW" altLang="en-US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Profile </a:t>
            </a:r>
            <a:r>
              <a:rPr lang="zh-TW" altLang="en-US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色溫校正 </a:t>
            </a:r>
            <a:r>
              <a:rPr lang="en-US" altLang="zh-TW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(</a:t>
            </a:r>
            <a:r>
              <a:rPr lang="zh-TW" altLang="en-US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螢幕： </a:t>
            </a:r>
            <a:r>
              <a:rPr lang="en-US" altLang="zh-TW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DP</a:t>
            </a:r>
            <a:r>
              <a:rPr lang="zh-TW" altLang="en-US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1080P)</a:t>
            </a:r>
          </a:p>
          <a:p>
            <a:pPr lvl="1">
              <a:lnSpc>
                <a:spcPts val="3000"/>
              </a:lnSpc>
            </a:pP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在不同 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Gamma</a:t>
            </a: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與色溫下量測 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ICC</a:t>
            </a: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Profile </a:t>
            </a: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校正後的色溫與 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Gamma </a:t>
            </a:r>
          </a:p>
          <a:p>
            <a:pPr lvl="1">
              <a:lnSpc>
                <a:spcPts val="3000"/>
              </a:lnSpc>
            </a:pP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色溫誤差都在 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300K </a:t>
            </a: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以內，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Gamma </a:t>
            </a: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誤差都在 </a:t>
            </a:r>
            <a:r>
              <a:rPr lang="en-US" altLang="zh-TW" sz="1600" dirty="0">
                <a:solidFill>
                  <a:srgbClr val="333333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± 0.05 </a:t>
            </a: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，符合標準</a:t>
            </a:r>
            <a:endParaRPr lang="en-US" altLang="zh-TW" sz="16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15" name="標題 1">
            <a:extLst>
              <a:ext uri="{FF2B5EF4-FFF2-40B4-BE49-F238E27FC236}">
                <a16:creationId xmlns:a16="http://schemas.microsoft.com/office/drawing/2014/main" id="{142C8726-E890-9988-40FC-8984FDA21F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2" y="609600"/>
            <a:ext cx="8077200" cy="533400"/>
          </a:xfrm>
          <a:ln>
            <a:noFill/>
          </a:ln>
        </p:spPr>
        <p:txBody>
          <a:bodyPr/>
          <a:lstStyle/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上次進度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 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軟體校正結果</a:t>
            </a:r>
          </a:p>
        </p:txBody>
      </p:sp>
      <p:graphicFrame>
        <p:nvGraphicFramePr>
          <p:cNvPr id="2" name="表格 24">
            <a:extLst>
              <a:ext uri="{FF2B5EF4-FFF2-40B4-BE49-F238E27FC236}">
                <a16:creationId xmlns:a16="http://schemas.microsoft.com/office/drawing/2014/main" id="{E1D31DB3-F9C5-1A79-A106-241D304FB86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96227025"/>
              </p:ext>
            </p:extLst>
          </p:nvPr>
        </p:nvGraphicFramePr>
        <p:xfrm>
          <a:off x="2194168" y="2355145"/>
          <a:ext cx="4908067" cy="4020259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47265">
                  <a:extLst>
                    <a:ext uri="{9D8B030D-6E8A-4147-A177-3AD203B41FA5}">
                      <a16:colId xmlns:a16="http://schemas.microsoft.com/office/drawing/2014/main" val="58910734"/>
                    </a:ext>
                  </a:extLst>
                </a:gridCol>
                <a:gridCol w="886890">
                  <a:extLst>
                    <a:ext uri="{9D8B030D-6E8A-4147-A177-3AD203B41FA5}">
                      <a16:colId xmlns:a16="http://schemas.microsoft.com/office/drawing/2014/main" val="2217758771"/>
                    </a:ext>
                  </a:extLst>
                </a:gridCol>
                <a:gridCol w="1486956">
                  <a:extLst>
                    <a:ext uri="{9D8B030D-6E8A-4147-A177-3AD203B41FA5}">
                      <a16:colId xmlns:a16="http://schemas.microsoft.com/office/drawing/2014/main" val="3036497903"/>
                    </a:ext>
                  </a:extLst>
                </a:gridCol>
                <a:gridCol w="1486956">
                  <a:extLst>
                    <a:ext uri="{9D8B030D-6E8A-4147-A177-3AD203B41FA5}">
                      <a16:colId xmlns:a16="http://schemas.microsoft.com/office/drawing/2014/main" val="793740652"/>
                    </a:ext>
                  </a:extLst>
                </a:gridCol>
              </a:tblGrid>
              <a:tr h="310063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1600" b="0" kern="0" dirty="0"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Gamma</a:t>
                      </a:r>
                      <a:endParaRPr lang="zh-TW" sz="1600" b="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9050" marR="11905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zh-TW" sz="1600" b="0" kern="0" dirty="0"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色溫</a:t>
                      </a:r>
                      <a:endParaRPr lang="zh-TW" sz="1600" b="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9050" marR="11905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zh-TW" sz="1600" b="0" kern="0" dirty="0"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量測色溫</a:t>
                      </a:r>
                      <a:endParaRPr lang="zh-TW" sz="1600" b="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9050" marR="1190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zh-TW" sz="1600" b="0" i="0" u="none" strike="noStrike" dirty="0">
                          <a:solidFill>
                            <a:schemeClr val="bg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</a:rPr>
                        <a:t>256</a:t>
                      </a:r>
                      <a:r>
                        <a:rPr lang="zh-TW" altLang="en-US" sz="1600" b="0" i="0" u="none" strike="noStrike" dirty="0">
                          <a:solidFill>
                            <a:schemeClr val="bg1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階</a:t>
                      </a:r>
                    </a:p>
                  </a:txBody>
                  <a:tcPr marL="119050" marR="119050" marT="0" marB="0" anchor="ctr"/>
                </a:tc>
                <a:extLst>
                  <a:ext uri="{0D108BD9-81ED-4DB2-BD59-A6C34878D82A}">
                    <a16:rowId xmlns:a16="http://schemas.microsoft.com/office/drawing/2014/main" val="4047486063"/>
                  </a:ext>
                </a:extLst>
              </a:tr>
              <a:tr h="309183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1600" b="0" kern="0" dirty="0">
                          <a:solidFill>
                            <a:srgbClr val="FF0000"/>
                          </a:solidFill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1.8</a:t>
                      </a:r>
                      <a:endParaRPr lang="zh-TW" sz="1600" b="0" kern="100" dirty="0">
                        <a:solidFill>
                          <a:srgbClr val="FF0000"/>
                        </a:solidFill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9050" marR="11905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1600" b="0" kern="0" dirty="0"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5400</a:t>
                      </a:r>
                      <a:endParaRPr lang="zh-TW" sz="1600" b="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9050" marR="11905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1600" b="0" kern="0" dirty="0"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5352</a:t>
                      </a:r>
                      <a:endParaRPr lang="zh-TW" sz="1600" b="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9050" marR="119050" marT="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1.83</a:t>
                      </a: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100759405"/>
                  </a:ext>
                </a:extLst>
              </a:tr>
              <a:tr h="309183">
                <a:tc>
                  <a:txBody>
                    <a:bodyPr/>
                    <a:lstStyle/>
                    <a:p>
                      <a:pPr algn="ctr"/>
                      <a:endParaRPr lang="zh-TW" sz="1600" b="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9050" marR="11905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1600" b="0" kern="0" dirty="0"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6500</a:t>
                      </a:r>
                      <a:endParaRPr lang="zh-TW" sz="1600" b="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9050" marR="11905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1600" b="0" kern="0" dirty="0"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6419</a:t>
                      </a:r>
                      <a:endParaRPr lang="zh-TW" sz="1600" b="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9050" marR="119050" marT="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1.83</a:t>
                      </a: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4097251436"/>
                  </a:ext>
                </a:extLst>
              </a:tr>
              <a:tr h="309183">
                <a:tc>
                  <a:txBody>
                    <a:bodyPr/>
                    <a:lstStyle/>
                    <a:p>
                      <a:pPr algn="ctr"/>
                      <a:endParaRPr lang="zh-TW" sz="1600" b="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9050" marR="11905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1600" b="0" kern="0" dirty="0"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9300</a:t>
                      </a:r>
                      <a:endParaRPr lang="zh-TW" sz="1600" b="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9050" marR="11905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1600" b="0" kern="0" dirty="0"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9046</a:t>
                      </a:r>
                      <a:endParaRPr lang="zh-TW" sz="1600" b="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9050" marR="119050" marT="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1.85</a:t>
                      </a: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4244588434"/>
                  </a:ext>
                </a:extLst>
              </a:tr>
              <a:tr h="309183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1600" b="0" kern="0" dirty="0">
                          <a:solidFill>
                            <a:srgbClr val="FF0000"/>
                          </a:solidFill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2.0</a:t>
                      </a:r>
                      <a:r>
                        <a:rPr lang="en-US" sz="1600" b="0" kern="0" dirty="0"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 </a:t>
                      </a:r>
                      <a:endParaRPr lang="zh-TW" sz="1600" b="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9050" marR="11905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1600" b="0" kern="0" dirty="0"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5400</a:t>
                      </a:r>
                      <a:endParaRPr lang="zh-TW" sz="1600" b="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9050" marR="11905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1600" b="0" kern="0" dirty="0"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5351</a:t>
                      </a:r>
                      <a:endParaRPr lang="zh-TW" sz="1600" b="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9050" marR="119050" marT="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2.03</a:t>
                      </a: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4100677602"/>
                  </a:ext>
                </a:extLst>
              </a:tr>
              <a:tr h="309183">
                <a:tc>
                  <a:txBody>
                    <a:bodyPr/>
                    <a:lstStyle/>
                    <a:p>
                      <a:pPr algn="ctr"/>
                      <a:endParaRPr lang="zh-TW" sz="1600" b="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9050" marR="11905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1600" b="0" kern="0" dirty="0"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6500</a:t>
                      </a:r>
                      <a:endParaRPr lang="zh-TW" sz="1600" b="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9050" marR="11905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1600" b="0" kern="0" dirty="0"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6545</a:t>
                      </a:r>
                      <a:endParaRPr lang="zh-TW" sz="1600" b="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9050" marR="119050" marT="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2.02</a:t>
                      </a: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4090125723"/>
                  </a:ext>
                </a:extLst>
              </a:tr>
              <a:tr h="309183">
                <a:tc>
                  <a:txBody>
                    <a:bodyPr/>
                    <a:lstStyle/>
                    <a:p>
                      <a:pPr algn="ctr"/>
                      <a:endParaRPr lang="zh-TW" sz="1600" b="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9050" marR="11905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1600" b="0" kern="0" dirty="0"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9300</a:t>
                      </a:r>
                      <a:endParaRPr lang="zh-TW" sz="1600" b="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9050" marR="11905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1600" b="0" kern="0" dirty="0"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9045</a:t>
                      </a:r>
                      <a:endParaRPr lang="zh-TW" sz="1600" b="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9050" marR="119050" marT="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2.03</a:t>
                      </a: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189583938"/>
                  </a:ext>
                </a:extLst>
              </a:tr>
              <a:tr h="309183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1600" b="0" kern="0" dirty="0">
                          <a:solidFill>
                            <a:srgbClr val="FF0000"/>
                          </a:solidFill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2.2</a:t>
                      </a:r>
                      <a:endParaRPr lang="zh-TW" sz="1600" b="0" kern="100" dirty="0">
                        <a:solidFill>
                          <a:srgbClr val="FF0000"/>
                        </a:solidFill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9050" marR="11905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1600" b="0" kern="0" dirty="0"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5400</a:t>
                      </a:r>
                      <a:endParaRPr lang="zh-TW" sz="1600" b="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9050" marR="11905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1600" b="0" kern="0"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5314</a:t>
                      </a:r>
                      <a:endParaRPr lang="zh-TW" sz="1600" b="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9050" marR="119050" marT="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2.22</a:t>
                      </a: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1098664419"/>
                  </a:ext>
                </a:extLst>
              </a:tr>
              <a:tr h="309183">
                <a:tc>
                  <a:txBody>
                    <a:bodyPr/>
                    <a:lstStyle/>
                    <a:p>
                      <a:pPr algn="ctr"/>
                      <a:endParaRPr lang="zh-TW" sz="1600" b="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9050" marR="11905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1600" b="0" kern="0"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6500</a:t>
                      </a:r>
                      <a:endParaRPr lang="zh-TW" sz="1600" b="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9050" marR="11905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1600" b="0" kern="0" dirty="0"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6452</a:t>
                      </a:r>
                      <a:endParaRPr lang="zh-TW" sz="1600" b="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9050" marR="119050" marT="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2.22</a:t>
                      </a: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1683948243"/>
                  </a:ext>
                </a:extLst>
              </a:tr>
              <a:tr h="309183">
                <a:tc>
                  <a:txBody>
                    <a:bodyPr/>
                    <a:lstStyle/>
                    <a:p>
                      <a:pPr algn="ctr"/>
                      <a:endParaRPr lang="zh-TW" sz="1600" b="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9050" marR="11905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1600" b="0" kern="0"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9300</a:t>
                      </a:r>
                      <a:endParaRPr lang="zh-TW" sz="1600" b="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9050" marR="11905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1600" b="0" kern="0"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9047</a:t>
                      </a:r>
                      <a:endParaRPr lang="zh-TW" sz="1600" b="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9050" marR="119050" marT="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2.24</a:t>
                      </a: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785709647"/>
                  </a:ext>
                </a:extLst>
              </a:tr>
              <a:tr h="309183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1600" b="0" kern="0" dirty="0">
                          <a:solidFill>
                            <a:srgbClr val="FF0000"/>
                          </a:solidFill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2.6</a:t>
                      </a:r>
                      <a:endParaRPr lang="zh-TW" sz="1600" b="0" kern="100" dirty="0">
                        <a:solidFill>
                          <a:srgbClr val="FF0000"/>
                        </a:solidFill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9050" marR="11905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1600" b="0" kern="0"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5400</a:t>
                      </a:r>
                      <a:endParaRPr lang="zh-TW" sz="1600" b="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9050" marR="11905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1600" b="0" kern="0" dirty="0"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5404</a:t>
                      </a:r>
                      <a:endParaRPr lang="zh-TW" sz="1600" b="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9050" marR="119050" marT="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2.61</a:t>
                      </a: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559488585"/>
                  </a:ext>
                </a:extLst>
              </a:tr>
              <a:tr h="309183">
                <a:tc>
                  <a:txBody>
                    <a:bodyPr/>
                    <a:lstStyle/>
                    <a:p>
                      <a:pPr algn="ctr"/>
                      <a:endParaRPr lang="zh-TW" sz="1600" b="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9050" marR="11905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1600" b="0" kern="0" dirty="0"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6500</a:t>
                      </a:r>
                      <a:endParaRPr lang="zh-TW" sz="1600" b="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9050" marR="11905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1600" b="0" kern="0" dirty="0"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6544</a:t>
                      </a:r>
                      <a:endParaRPr lang="zh-TW" sz="1600" b="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9050" marR="119050" marT="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2.60</a:t>
                      </a: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3354390549"/>
                  </a:ext>
                </a:extLst>
              </a:tr>
              <a:tr h="309183">
                <a:tc>
                  <a:txBody>
                    <a:bodyPr/>
                    <a:lstStyle/>
                    <a:p>
                      <a:pPr algn="ctr"/>
                      <a:endParaRPr lang="zh-TW" sz="1600" b="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9050" marR="11905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1600" b="0" kern="0" dirty="0"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9300</a:t>
                      </a:r>
                      <a:endParaRPr lang="zh-TW" sz="1600" b="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9050" marR="11905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1600" b="0" kern="0" dirty="0"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9048</a:t>
                      </a:r>
                      <a:endParaRPr lang="zh-TW" sz="1600" b="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9050" marR="119050" marT="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2.62</a:t>
                      </a: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68233588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1660744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5E9AAA-7E36-1E17-83F9-FD3A18A28B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字版面配置區 6">
            <a:extLst>
              <a:ext uri="{FF2B5EF4-FFF2-40B4-BE49-F238E27FC236}">
                <a16:creationId xmlns:a16="http://schemas.microsoft.com/office/drawing/2014/main" id="{B361B4DF-3145-D829-F41F-4DFE4B01E588}"/>
              </a:ext>
            </a:extLst>
          </p:cNvPr>
          <p:cNvSpPr txBox="1"/>
          <p:nvPr/>
        </p:nvSpPr>
        <p:spPr>
          <a:xfrm>
            <a:off x="609602" y="935857"/>
            <a:ext cx="8686796" cy="47006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4064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Noto Sans Symbols"/>
              <a:buChar char="❖"/>
              <a:defRPr sz="2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FF5050"/>
              </a:buClr>
              <a:buSzPts val="2400"/>
              <a:buFont typeface="Noto Sans Symbols"/>
              <a:buChar char="▪"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6699FF"/>
              </a:buClr>
              <a:buSzPts val="2000"/>
              <a:buFont typeface="Times New Roman"/>
              <a:buChar char="•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>
              <a:lnSpc>
                <a:spcPct val="150000"/>
              </a:lnSpc>
            </a:pPr>
            <a:r>
              <a:rPr lang="en-US" altLang="zh-TW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ICC</a:t>
            </a:r>
            <a:r>
              <a:rPr lang="zh-TW" altLang="en-US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Profile </a:t>
            </a:r>
            <a:r>
              <a:rPr lang="zh-TW" altLang="en-US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色溫校正 </a:t>
            </a:r>
            <a:r>
              <a:rPr lang="en-US" altLang="zh-TW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(</a:t>
            </a:r>
            <a:r>
              <a:rPr lang="zh-TW" altLang="en-US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螢幕： </a:t>
            </a:r>
            <a:r>
              <a:rPr lang="en-US" altLang="zh-TW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CH7513A011)</a:t>
            </a:r>
          </a:p>
          <a:p>
            <a:pPr lvl="1">
              <a:lnSpc>
                <a:spcPts val="3000"/>
              </a:lnSpc>
            </a:pP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在不同 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Gamma</a:t>
            </a: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與色溫下量測 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ICC</a:t>
            </a: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Profile </a:t>
            </a: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校正後的色溫與 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Gamma </a:t>
            </a:r>
          </a:p>
          <a:p>
            <a:pPr lvl="1">
              <a:lnSpc>
                <a:spcPts val="3000"/>
              </a:lnSpc>
            </a:pP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色溫誤差都在 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300K </a:t>
            </a: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以內，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Gamma </a:t>
            </a: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誤差都在 </a:t>
            </a:r>
            <a:r>
              <a:rPr lang="en-US" altLang="zh-TW" sz="1600" dirty="0">
                <a:solidFill>
                  <a:srgbClr val="333333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± 0.05 </a:t>
            </a: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，符合標準</a:t>
            </a:r>
            <a:endParaRPr lang="en-US" altLang="zh-TW" sz="16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15" name="標題 1">
            <a:extLst>
              <a:ext uri="{FF2B5EF4-FFF2-40B4-BE49-F238E27FC236}">
                <a16:creationId xmlns:a16="http://schemas.microsoft.com/office/drawing/2014/main" id="{142C8726-E890-9988-40FC-8984FDA21F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2" y="609600"/>
            <a:ext cx="8077200" cy="533400"/>
          </a:xfrm>
          <a:ln>
            <a:noFill/>
          </a:ln>
        </p:spPr>
        <p:txBody>
          <a:bodyPr/>
          <a:lstStyle/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上次進度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 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軟體校正結果</a:t>
            </a:r>
          </a:p>
        </p:txBody>
      </p:sp>
      <p:graphicFrame>
        <p:nvGraphicFramePr>
          <p:cNvPr id="2" name="表格 24">
            <a:extLst>
              <a:ext uri="{FF2B5EF4-FFF2-40B4-BE49-F238E27FC236}">
                <a16:creationId xmlns:a16="http://schemas.microsoft.com/office/drawing/2014/main" id="{A35A7D0E-9FC1-7B36-C15E-0626CB37765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71005415"/>
              </p:ext>
            </p:extLst>
          </p:nvPr>
        </p:nvGraphicFramePr>
        <p:xfrm>
          <a:off x="2308861" y="2370676"/>
          <a:ext cx="5288277" cy="400309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890530">
                  <a:extLst>
                    <a:ext uri="{9D8B030D-6E8A-4147-A177-3AD203B41FA5}">
                      <a16:colId xmlns:a16="http://schemas.microsoft.com/office/drawing/2014/main" val="58910734"/>
                    </a:ext>
                  </a:extLst>
                </a:gridCol>
                <a:gridCol w="890530">
                  <a:extLst>
                    <a:ext uri="{9D8B030D-6E8A-4147-A177-3AD203B41FA5}">
                      <a16:colId xmlns:a16="http://schemas.microsoft.com/office/drawing/2014/main" val="1964622646"/>
                    </a:ext>
                  </a:extLst>
                </a:gridCol>
                <a:gridCol w="1024717">
                  <a:extLst>
                    <a:ext uri="{9D8B030D-6E8A-4147-A177-3AD203B41FA5}">
                      <a16:colId xmlns:a16="http://schemas.microsoft.com/office/drawing/2014/main" val="2217758771"/>
                    </a:ext>
                  </a:extLst>
                </a:gridCol>
                <a:gridCol w="1010079">
                  <a:extLst>
                    <a:ext uri="{9D8B030D-6E8A-4147-A177-3AD203B41FA5}">
                      <a16:colId xmlns:a16="http://schemas.microsoft.com/office/drawing/2014/main" val="3439045141"/>
                    </a:ext>
                  </a:extLst>
                </a:gridCol>
                <a:gridCol w="1472421">
                  <a:extLst>
                    <a:ext uri="{9D8B030D-6E8A-4147-A177-3AD203B41FA5}">
                      <a16:colId xmlns:a16="http://schemas.microsoft.com/office/drawing/2014/main" val="3036497903"/>
                    </a:ext>
                  </a:extLst>
                </a:gridCol>
              </a:tblGrid>
              <a:tr h="30793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600" b="0" i="0" u="none" strike="noStrike" dirty="0">
                          <a:solidFill>
                            <a:schemeClr val="bg1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Gamma</a:t>
                      </a: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zh-TW" altLang="en-US" sz="1600" b="0" i="0" u="none" strike="noStrike">
                          <a:solidFill>
                            <a:schemeClr val="bg1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色溫</a:t>
                      </a:r>
                      <a:endParaRPr lang="zh-TW" altLang="en-US" sz="1600" b="0" i="0" u="none" strike="noStrike">
                        <a:solidFill>
                          <a:schemeClr val="bg1"/>
                        </a:solidFill>
                        <a:effectLst/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zh-TW" altLang="en-US" sz="1600" b="0" i="0" u="none" strike="noStrike">
                          <a:solidFill>
                            <a:schemeClr val="bg1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量測色溫</a:t>
                      </a:r>
                      <a:endParaRPr lang="zh-TW" altLang="en-US" sz="1600" b="0" i="0" u="none" strike="noStrike">
                        <a:solidFill>
                          <a:schemeClr val="bg1"/>
                        </a:solidFill>
                        <a:effectLst/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 dirty="0">
                          <a:solidFill>
                            <a:schemeClr val="bg1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256</a:t>
                      </a:r>
                      <a:r>
                        <a:rPr lang="zh-TW" altLang="en-US" sz="1600" b="0" i="0" u="none" strike="noStrike" dirty="0">
                          <a:solidFill>
                            <a:schemeClr val="bg1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階</a:t>
                      </a:r>
                      <a:endParaRPr lang="zh-TW" altLang="en-US" sz="1600" b="0" i="0" u="none" strike="noStrike" dirty="0">
                        <a:solidFill>
                          <a:schemeClr val="bg1"/>
                        </a:solidFill>
                        <a:effectLst/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zh-TW" altLang="en-US" sz="1600" b="0" i="0" u="none" strike="noStrike" dirty="0">
                          <a:solidFill>
                            <a:schemeClr val="bg1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時間</a:t>
                      </a:r>
                      <a:endParaRPr lang="zh-TW" altLang="en-US" sz="1600" b="0" i="0" u="none" strike="noStrike" dirty="0">
                        <a:solidFill>
                          <a:schemeClr val="bg1"/>
                        </a:solidFill>
                        <a:effectLst/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7017" marR="7017" marT="7017" marB="0" anchor="ctr"/>
                </a:tc>
                <a:extLst>
                  <a:ext uri="{0D108BD9-81ED-4DB2-BD59-A6C34878D82A}">
                    <a16:rowId xmlns:a16="http://schemas.microsoft.com/office/drawing/2014/main" val="4047486063"/>
                  </a:ext>
                </a:extLst>
              </a:tr>
              <a:tr h="307930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 dirty="0">
                          <a:solidFill>
                            <a:srgbClr val="FF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1.8</a:t>
                      </a: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5400</a:t>
                      </a: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5346</a:t>
                      </a: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1.82 </a:t>
                      </a: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11:38</a:t>
                      </a: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100759405"/>
                  </a:ext>
                </a:extLst>
              </a:tr>
              <a:tr h="307930">
                <a:tc>
                  <a:txBody>
                    <a:bodyPr/>
                    <a:lstStyle/>
                    <a:p>
                      <a:pPr algn="ctr" fontAlgn="ctr"/>
                      <a:endParaRPr lang="zh-TW" altLang="en-US" sz="1600" b="0" i="0" u="none" strike="noStrike" dirty="0">
                        <a:solidFill>
                          <a:srgbClr val="FF0000"/>
                        </a:solidFill>
                        <a:effectLst/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6500</a:t>
                      </a: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6628</a:t>
                      </a: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1.83 </a:t>
                      </a: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10:31</a:t>
                      </a: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4097251436"/>
                  </a:ext>
                </a:extLst>
              </a:tr>
              <a:tr h="307930">
                <a:tc>
                  <a:txBody>
                    <a:bodyPr/>
                    <a:lstStyle/>
                    <a:p>
                      <a:pPr algn="ctr" fontAlgn="ctr"/>
                      <a:endParaRPr lang="zh-TW" altLang="en-US" sz="1600" b="0" i="0" u="none" strike="noStrike" dirty="0">
                        <a:solidFill>
                          <a:srgbClr val="FF0000"/>
                        </a:solidFill>
                        <a:effectLst/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9300</a:t>
                      </a: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9090</a:t>
                      </a: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1.82 </a:t>
                      </a: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10:57</a:t>
                      </a: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4244588434"/>
                  </a:ext>
                </a:extLst>
              </a:tr>
              <a:tr h="307930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FF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2.0 </a:t>
                      </a: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5400</a:t>
                      </a: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5374</a:t>
                      </a: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2.00 </a:t>
                      </a: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10:22</a:t>
                      </a: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4100677602"/>
                  </a:ext>
                </a:extLst>
              </a:tr>
              <a:tr h="307930">
                <a:tc>
                  <a:txBody>
                    <a:bodyPr/>
                    <a:lstStyle/>
                    <a:p>
                      <a:pPr algn="ctr" fontAlgn="ctr"/>
                      <a:endParaRPr lang="zh-TW" altLang="en-US" sz="1600" b="0" i="0" u="none" strike="noStrike" dirty="0">
                        <a:solidFill>
                          <a:srgbClr val="FF0000"/>
                        </a:solidFill>
                        <a:effectLst/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6500</a:t>
                      </a: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6587</a:t>
                      </a: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2.00 </a:t>
                      </a: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12:01</a:t>
                      </a: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4090125723"/>
                  </a:ext>
                </a:extLst>
              </a:tr>
              <a:tr h="307930">
                <a:tc>
                  <a:txBody>
                    <a:bodyPr/>
                    <a:lstStyle/>
                    <a:p>
                      <a:pPr algn="ctr" fontAlgn="ctr"/>
                      <a:endParaRPr lang="zh-TW" altLang="en-US" sz="1600" b="0" i="0" u="none" strike="noStrike" dirty="0">
                        <a:solidFill>
                          <a:srgbClr val="FF0000"/>
                        </a:solidFill>
                        <a:effectLst/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9300</a:t>
                      </a: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9094</a:t>
                      </a: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1.98 </a:t>
                      </a: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11:07</a:t>
                      </a: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189583938"/>
                  </a:ext>
                </a:extLst>
              </a:tr>
              <a:tr h="307930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FF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2.2</a:t>
                      </a: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5400</a:t>
                      </a: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5381</a:t>
                      </a: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2.24 </a:t>
                      </a: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12:37</a:t>
                      </a: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1098664419"/>
                  </a:ext>
                </a:extLst>
              </a:tr>
              <a:tr h="307930">
                <a:tc>
                  <a:txBody>
                    <a:bodyPr/>
                    <a:lstStyle/>
                    <a:p>
                      <a:pPr algn="ctr" fontAlgn="ctr"/>
                      <a:endParaRPr lang="zh-TW" altLang="en-US" sz="1600" b="0" i="0" u="none" strike="noStrike" dirty="0">
                        <a:solidFill>
                          <a:srgbClr val="FF0000"/>
                        </a:solidFill>
                        <a:effectLst/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6500</a:t>
                      </a: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6472</a:t>
                      </a: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2.19 </a:t>
                      </a: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11:01</a:t>
                      </a: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1683948243"/>
                  </a:ext>
                </a:extLst>
              </a:tr>
              <a:tr h="307930">
                <a:tc>
                  <a:txBody>
                    <a:bodyPr/>
                    <a:lstStyle/>
                    <a:p>
                      <a:pPr algn="ctr" fontAlgn="ctr"/>
                      <a:endParaRPr lang="zh-TW" altLang="en-US" sz="1600" b="0" i="0" u="none" strike="noStrike" dirty="0">
                        <a:solidFill>
                          <a:srgbClr val="FF0000"/>
                        </a:solidFill>
                        <a:effectLst/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9300</a:t>
                      </a: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9103</a:t>
                      </a: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2.19 </a:t>
                      </a: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11:08</a:t>
                      </a: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785709647"/>
                  </a:ext>
                </a:extLst>
              </a:tr>
              <a:tr h="307930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 dirty="0">
                          <a:solidFill>
                            <a:srgbClr val="FF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2.6</a:t>
                      </a: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5400</a:t>
                      </a: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5373</a:t>
                      </a: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2.57 </a:t>
                      </a: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15:07</a:t>
                      </a: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559488585"/>
                  </a:ext>
                </a:extLst>
              </a:tr>
              <a:tr h="307930">
                <a:tc>
                  <a:txBody>
                    <a:bodyPr/>
                    <a:lstStyle/>
                    <a:p>
                      <a:pPr algn="ctr" fontAlgn="ctr"/>
                      <a:endParaRPr lang="zh-TW" altLang="en-US" sz="1600" b="0" i="0" u="none" strike="noStrike" dirty="0">
                        <a:solidFill>
                          <a:srgbClr val="FF0000"/>
                        </a:solidFill>
                        <a:effectLst/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6500</a:t>
                      </a: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6608</a:t>
                      </a: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2.59 </a:t>
                      </a: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12:23</a:t>
                      </a: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3354390549"/>
                  </a:ext>
                </a:extLst>
              </a:tr>
              <a:tr h="307930">
                <a:tc>
                  <a:txBody>
                    <a:bodyPr/>
                    <a:lstStyle/>
                    <a:p>
                      <a:pPr algn="ctr" fontAlgn="ctr"/>
                      <a:endParaRPr lang="zh-TW" altLang="en-US" sz="1600" b="0" i="0" u="none" strike="noStrike" dirty="0">
                        <a:solidFill>
                          <a:srgbClr val="FF0000"/>
                        </a:solidFill>
                        <a:effectLst/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9300</a:t>
                      </a: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9103</a:t>
                      </a: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2.61 </a:t>
                      </a: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12:19</a:t>
                      </a: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68233588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7119446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5E9AAA-7E36-1E17-83F9-FD3A18A28B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標題 1">
            <a:extLst>
              <a:ext uri="{FF2B5EF4-FFF2-40B4-BE49-F238E27FC236}">
                <a16:creationId xmlns:a16="http://schemas.microsoft.com/office/drawing/2014/main" id="{142C8726-E890-9988-40FC-8984FDA21F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2" y="609600"/>
            <a:ext cx="8077200" cy="533400"/>
          </a:xfrm>
          <a:ln>
            <a:noFill/>
          </a:ln>
        </p:spPr>
        <p:txBody>
          <a:bodyPr/>
          <a:lstStyle/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本次進度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 </a:t>
            </a:r>
            <a:r>
              <a:rPr lang="en-US" altLang="zh-TW" dirty="0"/>
              <a:t>Video Capture Card</a:t>
            </a:r>
            <a:endParaRPr lang="zh-TW" altLang="en-US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2" name="文字版面配置區 6">
            <a:extLst>
              <a:ext uri="{FF2B5EF4-FFF2-40B4-BE49-F238E27FC236}">
                <a16:creationId xmlns:a16="http://schemas.microsoft.com/office/drawing/2014/main" id="{033F0CBC-B216-A52F-8C2C-837CAED2E514}"/>
              </a:ext>
            </a:extLst>
          </p:cNvPr>
          <p:cNvSpPr txBox="1"/>
          <p:nvPr/>
        </p:nvSpPr>
        <p:spPr>
          <a:xfrm>
            <a:off x="609602" y="935857"/>
            <a:ext cx="8686796" cy="47006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4064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Noto Sans Symbols"/>
              <a:buChar char="❖"/>
              <a:defRPr sz="2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FF5050"/>
              </a:buClr>
              <a:buSzPts val="2400"/>
              <a:buFont typeface="Noto Sans Symbols"/>
              <a:buChar char="▪"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6699FF"/>
              </a:buClr>
              <a:buSzPts val="2000"/>
              <a:buFont typeface="Times New Roman"/>
              <a:buChar char="•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>
              <a:lnSpc>
                <a:spcPct val="150000"/>
              </a:lnSpc>
            </a:pPr>
            <a:r>
              <a:rPr lang="zh-TW" altLang="en-US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研究目的</a:t>
            </a:r>
            <a:endParaRPr lang="en-US" altLang="zh-TW" sz="20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>
              <a:lnSpc>
                <a:spcPts val="3000"/>
              </a:lnSpc>
            </a:pP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尋找相關開源專案，了解現有技術與實作成果</a:t>
            </a:r>
            <a:endParaRPr lang="en-US" altLang="zh-TW" sz="16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>
              <a:lnSpc>
                <a:spcPts val="3000"/>
              </a:lnSpc>
            </a:pP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調查各專案使用的 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FPGA</a:t>
            </a: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、開發板、架構與 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IP</a:t>
            </a:r>
          </a:p>
          <a:p>
            <a:pPr lvl="1">
              <a:lnSpc>
                <a:spcPts val="3000"/>
              </a:lnSpc>
            </a:pP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比較不同開源專案，作為後續技術選型的依據</a:t>
            </a:r>
            <a:endParaRPr lang="en-US" altLang="zh-TW" sz="16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>
              <a:lnSpc>
                <a:spcPts val="3000"/>
              </a:lnSpc>
            </a:pPr>
            <a:r>
              <a:rPr lang="zh-TW" altLang="en-US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目標架構概念</a:t>
            </a:r>
            <a:endParaRPr lang="en-US" altLang="zh-TW" sz="20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pic>
        <p:nvPicPr>
          <p:cNvPr id="14" name="圖片 13">
            <a:extLst>
              <a:ext uri="{FF2B5EF4-FFF2-40B4-BE49-F238E27FC236}">
                <a16:creationId xmlns:a16="http://schemas.microsoft.com/office/drawing/2014/main" id="{803CDD84-5AF2-EE5D-D012-4A7CEED12A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610" y="3692363"/>
            <a:ext cx="9046779" cy="9857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765245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5E9AAA-7E36-1E17-83F9-FD3A18A28B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標題 1">
            <a:extLst>
              <a:ext uri="{FF2B5EF4-FFF2-40B4-BE49-F238E27FC236}">
                <a16:creationId xmlns:a16="http://schemas.microsoft.com/office/drawing/2014/main" id="{142C8726-E890-9988-40FC-8984FDA21F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2" y="609600"/>
            <a:ext cx="8077200" cy="533400"/>
          </a:xfrm>
          <a:ln>
            <a:noFill/>
          </a:ln>
        </p:spPr>
        <p:txBody>
          <a:bodyPr/>
          <a:lstStyle/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本次進度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 </a:t>
            </a:r>
            <a:r>
              <a:rPr lang="en-US" altLang="zh-TW" sz="2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NeTV2</a:t>
            </a:r>
            <a:r>
              <a:rPr lang="zh-TW" altLang="en-US" sz="2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2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- FPGA</a:t>
            </a:r>
            <a:endParaRPr lang="zh-TW" altLang="en-US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2" name="文字版面配置區 6">
            <a:extLst>
              <a:ext uri="{FF2B5EF4-FFF2-40B4-BE49-F238E27FC236}">
                <a16:creationId xmlns:a16="http://schemas.microsoft.com/office/drawing/2014/main" id="{D929304B-5341-8BBF-E71F-AF5F2FE7268A}"/>
              </a:ext>
            </a:extLst>
          </p:cNvPr>
          <p:cNvSpPr txBox="1"/>
          <p:nvPr/>
        </p:nvSpPr>
        <p:spPr>
          <a:xfrm>
            <a:off x="609602" y="935857"/>
            <a:ext cx="8808717" cy="54482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4064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Noto Sans Symbols"/>
              <a:buChar char="❖"/>
              <a:defRPr sz="2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FF5050"/>
              </a:buClr>
              <a:buSzPts val="2400"/>
              <a:buFont typeface="Noto Sans Symbols"/>
              <a:buChar char="▪"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6699FF"/>
              </a:buClr>
              <a:buSzPts val="2000"/>
              <a:buFont typeface="Times New Roman"/>
              <a:buChar char="•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>
              <a:lnSpc>
                <a:spcPts val="3000"/>
              </a:lnSpc>
            </a:pPr>
            <a:r>
              <a:rPr lang="zh-TW" altLang="en-US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定位</a:t>
            </a:r>
            <a:endParaRPr lang="en-US" altLang="zh-TW" sz="20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>
              <a:lnSpc>
                <a:spcPts val="3000"/>
              </a:lnSpc>
            </a:pP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以 </a:t>
            </a:r>
            <a:r>
              <a:rPr lang="en-US" altLang="zh-TW" sz="1600" dirty="0" err="1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LiteX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/ </a:t>
            </a:r>
            <a:r>
              <a:rPr lang="en-US" altLang="zh-TW" sz="1600" dirty="0" err="1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Migen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建構 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FPGA </a:t>
            </a: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硬體系統，實作 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HDMI </a:t>
            </a: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影像輸入、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DDR3 </a:t>
            </a: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緩衝、影像合成與 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HDMI </a:t>
            </a: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輸出</a:t>
            </a:r>
            <a:endParaRPr lang="en-US" altLang="zh-TW" sz="16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>
              <a:lnSpc>
                <a:spcPts val="3000"/>
              </a:lnSpc>
            </a:pPr>
            <a:r>
              <a:rPr lang="zh-TW" altLang="en-US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架構</a:t>
            </a:r>
            <a:endParaRPr lang="en-US" altLang="zh-TW" sz="20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>
              <a:lnSpc>
                <a:spcPts val="3000"/>
              </a:lnSpc>
            </a:pPr>
            <a:endParaRPr lang="en-US" altLang="zh-TW" sz="20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>
              <a:lnSpc>
                <a:spcPts val="3000"/>
              </a:lnSpc>
            </a:pPr>
            <a:endParaRPr lang="en-US" altLang="zh-TW" sz="20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>
              <a:lnSpc>
                <a:spcPts val="3000"/>
              </a:lnSpc>
            </a:pPr>
            <a:endParaRPr lang="en-US" altLang="zh-TW" sz="20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>
              <a:lnSpc>
                <a:spcPts val="3000"/>
              </a:lnSpc>
            </a:pPr>
            <a:r>
              <a:rPr lang="zh-TW" altLang="en-US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晶片與硬體型號</a:t>
            </a:r>
            <a:endParaRPr lang="en-US" altLang="zh-TW" sz="20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>
              <a:lnSpc>
                <a:spcPts val="3000"/>
              </a:lnSpc>
            </a:pP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FPGA 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開發版 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/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晶片：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NeTV2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/ Xilinx Artix-7</a:t>
            </a:r>
          </a:p>
          <a:p>
            <a:pPr lvl="1">
              <a:lnSpc>
                <a:spcPts val="3000"/>
              </a:lnSpc>
            </a:pP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開發框架：</a:t>
            </a:r>
            <a:r>
              <a:rPr lang="en-US" altLang="zh-TW" sz="1600" dirty="0" err="1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LiteX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、</a:t>
            </a:r>
            <a:r>
              <a:rPr lang="en-US" altLang="zh-TW" sz="1600" dirty="0" err="1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Migen</a:t>
            </a:r>
            <a:endParaRPr lang="en-US" altLang="zh-TW" sz="16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>
              <a:lnSpc>
                <a:spcPts val="3000"/>
              </a:lnSpc>
            </a:pP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軟處理器：</a:t>
            </a:r>
            <a:r>
              <a:rPr lang="en-US" altLang="zh-TW" sz="1600" dirty="0" err="1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VexRiscv</a:t>
            </a:r>
            <a:endParaRPr lang="en-US" altLang="zh-TW" sz="16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grpSp>
        <p:nvGrpSpPr>
          <p:cNvPr id="8" name="群組 7">
            <a:extLst>
              <a:ext uri="{FF2B5EF4-FFF2-40B4-BE49-F238E27FC236}">
                <a16:creationId xmlns:a16="http://schemas.microsoft.com/office/drawing/2014/main" id="{32C77ABA-12F8-A5D2-5620-8E0F1595DD0B}"/>
              </a:ext>
            </a:extLst>
          </p:cNvPr>
          <p:cNvGrpSpPr/>
          <p:nvPr/>
        </p:nvGrpSpPr>
        <p:grpSpPr>
          <a:xfrm>
            <a:off x="6588117" y="4448345"/>
            <a:ext cx="2342521" cy="1935727"/>
            <a:chOff x="7123226" y="4254922"/>
            <a:chExt cx="2342521" cy="1935727"/>
          </a:xfrm>
        </p:grpSpPr>
        <p:pic>
          <p:nvPicPr>
            <p:cNvPr id="4" name="圖片 3">
              <a:extLst>
                <a:ext uri="{FF2B5EF4-FFF2-40B4-BE49-F238E27FC236}">
                  <a16:creationId xmlns:a16="http://schemas.microsoft.com/office/drawing/2014/main" id="{DA2311F8-59E5-9BD1-61E4-EFD0C55B1DA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123226" y="4254922"/>
              <a:ext cx="2342521" cy="1597173"/>
            </a:xfrm>
            <a:prstGeom prst="rect">
              <a:avLst/>
            </a:prstGeom>
          </p:spPr>
        </p:pic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92B6339F-8DE4-9D14-F9FF-DF0F45E24E3B}"/>
                </a:ext>
              </a:extLst>
            </p:cNvPr>
            <p:cNvSpPr/>
            <p:nvPr/>
          </p:nvSpPr>
          <p:spPr>
            <a:xfrm>
              <a:off x="7758868" y="5852095"/>
              <a:ext cx="1372492" cy="338554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altLang="zh-TW" sz="1600" b="0" cap="none" spc="0" dirty="0">
                  <a:ln w="0"/>
                  <a:solidFill>
                    <a:schemeClr val="tx1"/>
                  </a:solidFill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NeTV2</a:t>
              </a:r>
              <a:r>
                <a:rPr lang="zh-TW" altLang="en-US" sz="1600" dirty="0">
                  <a:ln w="0"/>
                  <a:solidFill>
                    <a:schemeClr val="tx1"/>
                  </a:solidFill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 </a:t>
              </a:r>
              <a:r>
                <a:rPr lang="en-US" altLang="zh-TW" sz="1600" dirty="0">
                  <a:ln w="0"/>
                  <a:solidFill>
                    <a:schemeClr val="tx1"/>
                  </a:solidFill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FPGA</a:t>
              </a:r>
              <a:endParaRPr lang="zh-TW" altLang="en-US" sz="1600" b="0" cap="none" spc="0" dirty="0">
                <a:ln w="0"/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endParaRPr>
            </a:p>
          </p:txBody>
        </p:sp>
      </p:grpSp>
      <p:sp>
        <p:nvSpPr>
          <p:cNvPr id="10" name="文字方塊 9">
            <a:extLst>
              <a:ext uri="{FF2B5EF4-FFF2-40B4-BE49-F238E27FC236}">
                <a16:creationId xmlns:a16="http://schemas.microsoft.com/office/drawing/2014/main" id="{3EAFBC87-C885-2332-5B2E-C15A86786327}"/>
              </a:ext>
            </a:extLst>
          </p:cNvPr>
          <p:cNvSpPr txBox="1"/>
          <p:nvPr/>
        </p:nvSpPr>
        <p:spPr>
          <a:xfrm>
            <a:off x="1787236" y="6384072"/>
            <a:ext cx="580228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[1] </a:t>
            </a:r>
            <a:r>
              <a:rPr lang="zh-TW" altLang="en-US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https://github.com/AlphamaxMedia/netv2-fpga</a:t>
            </a:r>
          </a:p>
        </p:txBody>
      </p:sp>
      <p:pic>
        <p:nvPicPr>
          <p:cNvPr id="9" name="圖片 8">
            <a:extLst>
              <a:ext uri="{FF2B5EF4-FFF2-40B4-BE49-F238E27FC236}">
                <a16:creationId xmlns:a16="http://schemas.microsoft.com/office/drawing/2014/main" id="{58A7EEA3-7044-E8E1-71E3-49401B0B6FB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7137" y="2923907"/>
            <a:ext cx="9153646" cy="10101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296895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5E9AAA-7E36-1E17-83F9-FD3A18A28B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標題 1">
            <a:extLst>
              <a:ext uri="{FF2B5EF4-FFF2-40B4-BE49-F238E27FC236}">
                <a16:creationId xmlns:a16="http://schemas.microsoft.com/office/drawing/2014/main" id="{142C8726-E890-9988-40FC-8984FDA21F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2" y="609600"/>
            <a:ext cx="8077200" cy="533400"/>
          </a:xfrm>
          <a:ln>
            <a:noFill/>
          </a:ln>
        </p:spPr>
        <p:txBody>
          <a:bodyPr/>
          <a:lstStyle/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本次進度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 </a:t>
            </a:r>
            <a:r>
              <a:rPr lang="en-US" altLang="zh-TW" dirty="0" err="1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LitePCIe</a:t>
            </a:r>
            <a:endParaRPr lang="zh-TW" altLang="en-US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2" name="文字版面配置區 6">
            <a:extLst>
              <a:ext uri="{FF2B5EF4-FFF2-40B4-BE49-F238E27FC236}">
                <a16:creationId xmlns:a16="http://schemas.microsoft.com/office/drawing/2014/main" id="{D929304B-5341-8BBF-E71F-AF5F2FE7268A}"/>
              </a:ext>
            </a:extLst>
          </p:cNvPr>
          <p:cNvSpPr txBox="1"/>
          <p:nvPr/>
        </p:nvSpPr>
        <p:spPr>
          <a:xfrm>
            <a:off x="609602" y="935857"/>
            <a:ext cx="8686796" cy="47006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4064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Noto Sans Symbols"/>
              <a:buChar char="❖"/>
              <a:defRPr sz="2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FF5050"/>
              </a:buClr>
              <a:buSzPts val="2400"/>
              <a:buFont typeface="Noto Sans Symbols"/>
              <a:buChar char="▪"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6699FF"/>
              </a:buClr>
              <a:buSzPts val="2000"/>
              <a:buFont typeface="Times New Roman"/>
              <a:buChar char="•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>
              <a:lnSpc>
                <a:spcPct val="150000"/>
              </a:lnSpc>
            </a:pPr>
            <a:r>
              <a:rPr lang="zh-TW" altLang="en-US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功能</a:t>
            </a:r>
            <a:endParaRPr lang="en-US" altLang="zh-TW" sz="20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>
              <a:lnSpc>
                <a:spcPct val="150000"/>
              </a:lnSpc>
            </a:pP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透過 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DMA Writer 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將 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FPGA 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資料寫入 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PC 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主機記憶體</a:t>
            </a:r>
          </a:p>
          <a:p>
            <a:pPr lvl="1">
              <a:lnSpc>
                <a:spcPct val="150000"/>
              </a:lnSpc>
            </a:pP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PCIe Endpoint 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與傳輸架構</a:t>
            </a:r>
            <a:endParaRPr lang="en-US" altLang="zh-TW" sz="16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>
              <a:lnSpc>
                <a:spcPts val="3000"/>
              </a:lnSpc>
            </a:pP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提供 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PC 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端 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Linux Driver</a:t>
            </a:r>
          </a:p>
          <a:p>
            <a:pPr>
              <a:lnSpc>
                <a:spcPts val="3000"/>
              </a:lnSpc>
            </a:pPr>
            <a:r>
              <a:rPr lang="zh-TW" altLang="en-US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對 </a:t>
            </a:r>
            <a:r>
              <a:rPr lang="en-US" altLang="zh-TW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HDMI </a:t>
            </a:r>
            <a:r>
              <a:rPr lang="zh-TW" altLang="en-US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擷取卡的幫助</a:t>
            </a:r>
          </a:p>
          <a:p>
            <a:pPr lvl="1">
              <a:lnSpc>
                <a:spcPts val="3000"/>
              </a:lnSpc>
            </a:pP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可將研究重點集中在 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HDMI </a:t>
            </a: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影像串流與 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DMA </a:t>
            </a: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的整合</a:t>
            </a:r>
          </a:p>
          <a:p>
            <a:pPr lvl="1">
              <a:lnSpc>
                <a:spcPts val="3000"/>
              </a:lnSpc>
            </a:pP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可參考既有 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Linux Driver</a:t>
            </a: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，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有助於降低 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PC </a:t>
            </a: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端驅動程式的開發負擔</a:t>
            </a:r>
            <a:endParaRPr lang="en-US" altLang="zh-TW" sz="16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>
              <a:lnSpc>
                <a:spcPts val="3000"/>
              </a:lnSpc>
            </a:pPr>
            <a:endParaRPr lang="en-US" altLang="zh-TW" sz="20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>
              <a:lnSpc>
                <a:spcPts val="3000"/>
              </a:lnSpc>
            </a:pPr>
            <a:endParaRPr lang="en-US" altLang="zh-TW" sz="20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17EF7B95-B380-F6CA-F173-DA760D763252}"/>
              </a:ext>
            </a:extLst>
          </p:cNvPr>
          <p:cNvSpPr txBox="1"/>
          <p:nvPr/>
        </p:nvSpPr>
        <p:spPr>
          <a:xfrm>
            <a:off x="1787236" y="6384072"/>
            <a:ext cx="580228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[2] </a:t>
            </a:r>
            <a:r>
              <a:rPr lang="zh-TW" alt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https://github.com/enjoy-digital/litepcie</a:t>
            </a:r>
          </a:p>
        </p:txBody>
      </p:sp>
      <p:pic>
        <p:nvPicPr>
          <p:cNvPr id="22" name="圖片 21">
            <a:extLst>
              <a:ext uri="{FF2B5EF4-FFF2-40B4-BE49-F238E27FC236}">
                <a16:creationId xmlns:a16="http://schemas.microsoft.com/office/drawing/2014/main" id="{7C9DEB2B-F85F-1C98-F138-BF7DBF812B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2" y="4410680"/>
            <a:ext cx="8686796" cy="9621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628417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5E9AAA-7E36-1E17-83F9-FD3A18A28B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標題 1">
            <a:extLst>
              <a:ext uri="{FF2B5EF4-FFF2-40B4-BE49-F238E27FC236}">
                <a16:creationId xmlns:a16="http://schemas.microsoft.com/office/drawing/2014/main" id="{142C8726-E890-9988-40FC-8984FDA21F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2" y="609600"/>
            <a:ext cx="8077200" cy="533400"/>
          </a:xfrm>
          <a:ln>
            <a:noFill/>
          </a:ln>
        </p:spPr>
        <p:txBody>
          <a:bodyPr/>
          <a:lstStyle/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本次進度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 </a:t>
            </a:r>
            <a:r>
              <a:rPr lang="en-US" altLang="zh-TW" dirty="0" err="1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LiteX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endParaRPr lang="zh-TW" altLang="en-US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2" name="文字版面配置區 6">
            <a:extLst>
              <a:ext uri="{FF2B5EF4-FFF2-40B4-BE49-F238E27FC236}">
                <a16:creationId xmlns:a16="http://schemas.microsoft.com/office/drawing/2014/main" id="{D929304B-5341-8BBF-E71F-AF5F2FE7268A}"/>
              </a:ext>
            </a:extLst>
          </p:cNvPr>
          <p:cNvSpPr txBox="1"/>
          <p:nvPr/>
        </p:nvSpPr>
        <p:spPr>
          <a:xfrm>
            <a:off x="609602" y="935857"/>
            <a:ext cx="8686796" cy="47006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4064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Noto Sans Symbols"/>
              <a:buChar char="❖"/>
              <a:defRPr sz="2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FF5050"/>
              </a:buClr>
              <a:buSzPts val="2400"/>
              <a:buFont typeface="Noto Sans Symbols"/>
              <a:buChar char="▪"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6699FF"/>
              </a:buClr>
              <a:buSzPts val="2000"/>
              <a:buFont typeface="Times New Roman"/>
              <a:buChar char="•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>
              <a:lnSpc>
                <a:spcPct val="150000"/>
              </a:lnSpc>
            </a:pPr>
            <a:r>
              <a:rPr lang="zh-TW" altLang="en-US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定位</a:t>
            </a:r>
            <a:endParaRPr lang="en-US" altLang="zh-TW" sz="20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>
              <a:lnSpc>
                <a:spcPts val="3000"/>
              </a:lnSpc>
            </a:pP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透過 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Python 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描述與整合 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FPGA 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硬體模組，建立 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SoC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設計，並支援產生 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HDL 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與呼叫 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FPGA 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建置工具</a:t>
            </a:r>
          </a:p>
          <a:p>
            <a:pPr>
              <a:lnSpc>
                <a:spcPts val="3000"/>
              </a:lnSpc>
            </a:pPr>
            <a:r>
              <a:rPr lang="zh-TW" altLang="en-US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功能</a:t>
            </a:r>
          </a:p>
          <a:p>
            <a:pPr lvl="1">
              <a:lnSpc>
                <a:spcPts val="3000"/>
              </a:lnSpc>
            </a:pP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組合處理器、記憶體、匯流排及周邊模組</a:t>
            </a:r>
          </a:p>
          <a:p>
            <a:pPr lvl="1">
              <a:lnSpc>
                <a:spcPts val="3000"/>
              </a:lnSpc>
            </a:pP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提供 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Wishbone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、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AXI 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等互連機制，以及 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Streams</a:t>
            </a:r>
          </a:p>
          <a:p>
            <a:pPr lvl="1">
              <a:lnSpc>
                <a:spcPts val="3000"/>
              </a:lnSpc>
            </a:pP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可搭配 </a:t>
            </a:r>
            <a:r>
              <a:rPr lang="en-US" altLang="zh-TW" sz="1600" dirty="0" err="1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LiteDRAM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、</a:t>
            </a:r>
            <a:r>
              <a:rPr lang="en-US" altLang="zh-TW" sz="1600" dirty="0" err="1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LitePCIe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、</a:t>
            </a:r>
            <a:r>
              <a:rPr lang="en-US" altLang="zh-TW" sz="1600" dirty="0" err="1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LiteEth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等生態系模組</a:t>
            </a:r>
            <a:endParaRPr lang="en-US" altLang="zh-TW" sz="16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DB8BF237-AE2C-BCBD-03CB-07C643D7BB9F}"/>
              </a:ext>
            </a:extLst>
          </p:cNvPr>
          <p:cNvSpPr txBox="1"/>
          <p:nvPr/>
        </p:nvSpPr>
        <p:spPr>
          <a:xfrm>
            <a:off x="1787236" y="6384072"/>
            <a:ext cx="580228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[3] </a:t>
            </a:r>
            <a:r>
              <a:rPr lang="zh-TW" alt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https://github.com/enjoy-digital/litex?utm_source=chatgpt.com</a:t>
            </a:r>
          </a:p>
        </p:txBody>
      </p:sp>
    </p:spTree>
    <p:extLst>
      <p:ext uri="{BB962C8B-B14F-4D97-AF65-F5344CB8AC3E}">
        <p14:creationId xmlns:p14="http://schemas.microsoft.com/office/powerpoint/2010/main" val="307596122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5E9AAA-7E36-1E17-83F9-FD3A18A28B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標題 1">
            <a:extLst>
              <a:ext uri="{FF2B5EF4-FFF2-40B4-BE49-F238E27FC236}">
                <a16:creationId xmlns:a16="http://schemas.microsoft.com/office/drawing/2014/main" id="{142C8726-E890-9988-40FC-8984FDA21F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2" y="609600"/>
            <a:ext cx="8077200" cy="533400"/>
          </a:xfrm>
          <a:ln>
            <a:noFill/>
          </a:ln>
        </p:spPr>
        <p:txBody>
          <a:bodyPr/>
          <a:lstStyle/>
          <a:p>
            <a:pPr fontAlgn="t"/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本次進度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 Video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Example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Designs</a:t>
            </a:r>
            <a:endParaRPr lang="zh-TW" altLang="en-US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2" name="文字版面配置區 6">
            <a:extLst>
              <a:ext uri="{FF2B5EF4-FFF2-40B4-BE49-F238E27FC236}">
                <a16:creationId xmlns:a16="http://schemas.microsoft.com/office/drawing/2014/main" id="{D929304B-5341-8BBF-E71F-AF5F2FE7268A}"/>
              </a:ext>
            </a:extLst>
          </p:cNvPr>
          <p:cNvSpPr txBox="1"/>
          <p:nvPr/>
        </p:nvSpPr>
        <p:spPr>
          <a:xfrm>
            <a:off x="609602" y="935857"/>
            <a:ext cx="8686796" cy="47006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4064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Noto Sans Symbols"/>
              <a:buChar char="❖"/>
              <a:defRPr sz="2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FF5050"/>
              </a:buClr>
              <a:buSzPts val="2400"/>
              <a:buFont typeface="Noto Sans Symbols"/>
              <a:buChar char="▪"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6699FF"/>
              </a:buClr>
              <a:buSzPts val="2000"/>
              <a:buFont typeface="Times New Roman"/>
              <a:buChar char="•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>
              <a:lnSpc>
                <a:spcPct val="150000"/>
              </a:lnSpc>
            </a:pPr>
            <a:r>
              <a:rPr lang="zh-TW" altLang="en-US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定位</a:t>
            </a:r>
            <a:endParaRPr lang="en-US" altLang="zh-TW" sz="20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/>
            <a:r>
              <a:rPr lang="zh-TW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整合 HDMI 接收、FPGA 影像處理、多圖層合成及 HDMI 輸出</a:t>
            </a:r>
            <a:endParaRPr lang="en-US" altLang="zh-TW" sz="16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>
              <a:lnSpc>
                <a:spcPts val="3000"/>
              </a:lnSpc>
            </a:pPr>
            <a:r>
              <a:rPr lang="zh-TW" altLang="en-US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架構</a:t>
            </a:r>
            <a:endParaRPr lang="en-US" altLang="zh-TW" sz="20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>
              <a:lnSpc>
                <a:spcPts val="3000"/>
              </a:lnSpc>
            </a:pPr>
            <a:endParaRPr lang="en-US" altLang="zh-TW" sz="16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>
              <a:lnSpc>
                <a:spcPts val="3000"/>
              </a:lnSpc>
            </a:pPr>
            <a:endParaRPr lang="en-US" altLang="zh-TW" sz="16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endParaRPr lang="en-US" altLang="zh-TW" sz="20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endParaRPr lang="en-US" altLang="zh-TW" sz="20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r>
              <a:rPr lang="zh-TW" altLang="zh-TW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硬體與開發環境</a:t>
            </a:r>
            <a:endParaRPr lang="en-US" altLang="zh-TW" sz="20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>
              <a:lnSpc>
                <a:spcPts val="3000"/>
              </a:lnSpc>
            </a:pP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開發版：</a:t>
            </a:r>
            <a:r>
              <a:rPr lang="zh-TW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AMD Xilinx ZCU106</a:t>
            </a:r>
            <a:endParaRPr lang="en-US" altLang="zh-TW" sz="16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>
              <a:lnSpc>
                <a:spcPts val="3000"/>
              </a:lnSpc>
            </a:pPr>
            <a:r>
              <a:rPr lang="zh-TW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HDMI 擴充板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：</a:t>
            </a:r>
            <a:r>
              <a:rPr lang="zh-TW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TB-FMCH-VFMC-HDMI</a:t>
            </a:r>
            <a:endParaRPr lang="en-US" altLang="zh-TW" sz="16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>
              <a:lnSpc>
                <a:spcPts val="3000"/>
              </a:lnSpc>
            </a:pPr>
            <a:r>
              <a:rPr lang="zh-TW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控制軟體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：</a:t>
            </a:r>
            <a:r>
              <a:rPr lang="zh-TW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Vitis C 程式，使用 ARM A53 處理系統控制 IP</a:t>
            </a:r>
            <a:endParaRPr lang="en-US" altLang="zh-TW" sz="16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B17A7646-77F3-2568-68C1-545F7C189BE6}"/>
              </a:ext>
            </a:extLst>
          </p:cNvPr>
          <p:cNvSpPr txBox="1"/>
          <p:nvPr/>
        </p:nvSpPr>
        <p:spPr>
          <a:xfrm>
            <a:off x="1787236" y="6384072"/>
            <a:ext cx="580228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[4] https://github.com/Xilinx-Wiki-Projects/Video-Example-Designs</a:t>
            </a:r>
            <a:endParaRPr lang="zh-TW" altLang="en-US" sz="12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grpSp>
        <p:nvGrpSpPr>
          <p:cNvPr id="12" name="群組 11">
            <a:extLst>
              <a:ext uri="{FF2B5EF4-FFF2-40B4-BE49-F238E27FC236}">
                <a16:creationId xmlns:a16="http://schemas.microsoft.com/office/drawing/2014/main" id="{390F4142-C3C7-F585-A6E2-6A7697650EF6}"/>
              </a:ext>
            </a:extLst>
          </p:cNvPr>
          <p:cNvGrpSpPr/>
          <p:nvPr/>
        </p:nvGrpSpPr>
        <p:grpSpPr>
          <a:xfrm>
            <a:off x="7170646" y="4116268"/>
            <a:ext cx="2125752" cy="1894039"/>
            <a:chOff x="6986296" y="3782285"/>
            <a:chExt cx="2310101" cy="2058293"/>
          </a:xfrm>
        </p:grpSpPr>
        <p:pic>
          <p:nvPicPr>
            <p:cNvPr id="9" name="圖片 8">
              <a:extLst>
                <a:ext uri="{FF2B5EF4-FFF2-40B4-BE49-F238E27FC236}">
                  <a16:creationId xmlns:a16="http://schemas.microsoft.com/office/drawing/2014/main" id="{8F238F56-B6CF-6D88-8B04-5ED6E671C57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986296" y="3782285"/>
              <a:ext cx="2310101" cy="1722787"/>
            </a:xfrm>
            <a:prstGeom prst="rect">
              <a:avLst/>
            </a:prstGeom>
          </p:spPr>
        </p:pic>
        <p:sp>
          <p:nvSpPr>
            <p:cNvPr id="11" name="文字方塊 10">
              <a:extLst>
                <a:ext uri="{FF2B5EF4-FFF2-40B4-BE49-F238E27FC236}">
                  <a16:creationId xmlns:a16="http://schemas.microsoft.com/office/drawing/2014/main" id="{40F7D8C0-1202-F756-2DCE-B5919BFE4893}"/>
                </a:ext>
              </a:extLst>
            </p:cNvPr>
            <p:cNvSpPr txBox="1"/>
            <p:nvPr/>
          </p:nvSpPr>
          <p:spPr>
            <a:xfrm>
              <a:off x="7212168" y="5506110"/>
              <a:ext cx="1951555" cy="33446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lvl="1"/>
              <a:r>
                <a:rPr lang="zh-TW" altLang="zh-TW" dirty="0"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AMD Xilinx ZCU106</a:t>
              </a:r>
              <a:endPara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endParaRPr>
            </a:p>
          </p:txBody>
        </p:sp>
      </p:grpSp>
      <p:pic>
        <p:nvPicPr>
          <p:cNvPr id="5" name="圖片 4">
            <a:extLst>
              <a:ext uri="{FF2B5EF4-FFF2-40B4-BE49-F238E27FC236}">
                <a16:creationId xmlns:a16="http://schemas.microsoft.com/office/drawing/2014/main" id="{57736BDE-0E79-19BB-61BE-3993A547929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8263" y="2481680"/>
            <a:ext cx="9049473" cy="9809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578190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5E9AAA-7E36-1E17-83F9-FD3A18A28B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標題 1">
            <a:extLst>
              <a:ext uri="{FF2B5EF4-FFF2-40B4-BE49-F238E27FC236}">
                <a16:creationId xmlns:a16="http://schemas.microsoft.com/office/drawing/2014/main" id="{142C8726-E890-9988-40FC-8984FDA21F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2" y="609600"/>
            <a:ext cx="8077200" cy="533400"/>
          </a:xfrm>
          <a:ln>
            <a:noFill/>
          </a:ln>
        </p:spPr>
        <p:txBody>
          <a:bodyPr/>
          <a:lstStyle/>
          <a:p>
            <a:pPr fontAlgn="t"/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本次進度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 DMA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IP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Drivers</a:t>
            </a:r>
            <a:endParaRPr lang="zh-TW" altLang="en-US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2" name="文字版面配置區 6">
            <a:extLst>
              <a:ext uri="{FF2B5EF4-FFF2-40B4-BE49-F238E27FC236}">
                <a16:creationId xmlns:a16="http://schemas.microsoft.com/office/drawing/2014/main" id="{D929304B-5341-8BBF-E71F-AF5F2FE7268A}"/>
              </a:ext>
            </a:extLst>
          </p:cNvPr>
          <p:cNvSpPr txBox="1"/>
          <p:nvPr/>
        </p:nvSpPr>
        <p:spPr>
          <a:xfrm>
            <a:off x="609602" y="935857"/>
            <a:ext cx="8686796" cy="47006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4064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Noto Sans Symbols"/>
              <a:buChar char="❖"/>
              <a:defRPr sz="2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FF5050"/>
              </a:buClr>
              <a:buSzPts val="2400"/>
              <a:buFont typeface="Noto Sans Symbols"/>
              <a:buChar char="▪"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6699FF"/>
              </a:buClr>
              <a:buSzPts val="2000"/>
              <a:buFont typeface="Times New Roman"/>
              <a:buChar char="•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>
              <a:lnSpc>
                <a:spcPct val="150000"/>
              </a:lnSpc>
            </a:pPr>
            <a:r>
              <a:rPr lang="zh-TW" altLang="en-US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定位</a:t>
            </a:r>
            <a:endParaRPr lang="en-US" altLang="zh-TW" sz="20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>
              <a:lnSpc>
                <a:spcPts val="3000"/>
              </a:lnSpc>
            </a:pP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</a:p>
          <a:p>
            <a:pPr lvl="1">
              <a:lnSpc>
                <a:spcPts val="3000"/>
              </a:lnSpc>
            </a:pPr>
            <a:endParaRPr lang="en-US" altLang="zh-TW" sz="16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B17A7646-77F3-2568-68C1-545F7C189BE6}"/>
              </a:ext>
            </a:extLst>
          </p:cNvPr>
          <p:cNvSpPr txBox="1"/>
          <p:nvPr/>
        </p:nvSpPr>
        <p:spPr>
          <a:xfrm>
            <a:off x="1787236" y="6384072"/>
            <a:ext cx="580228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[5] https://github.com/Xilinx/dma_ip_drivers</a:t>
            </a:r>
            <a:endParaRPr lang="zh-TW" altLang="en-US" sz="12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0746293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5E9AAA-7E36-1E17-83F9-FD3A18A28B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標題 1">
            <a:extLst>
              <a:ext uri="{FF2B5EF4-FFF2-40B4-BE49-F238E27FC236}">
                <a16:creationId xmlns:a16="http://schemas.microsoft.com/office/drawing/2014/main" id="{142C8726-E890-9988-40FC-8984FDA21F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2" y="609600"/>
            <a:ext cx="8077200" cy="533400"/>
          </a:xfrm>
          <a:ln>
            <a:noFill/>
          </a:ln>
        </p:spPr>
        <p:txBody>
          <a:bodyPr/>
          <a:lstStyle/>
          <a:p>
            <a:pPr algn="l" fontAlgn="t"/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本次進度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HDMI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to FPGA to PCIE</a:t>
            </a:r>
            <a:endParaRPr lang="zh-TW" altLang="en-US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2" name="文字版面配置區 6">
            <a:extLst>
              <a:ext uri="{FF2B5EF4-FFF2-40B4-BE49-F238E27FC236}">
                <a16:creationId xmlns:a16="http://schemas.microsoft.com/office/drawing/2014/main" id="{D929304B-5341-8BBF-E71F-AF5F2FE7268A}"/>
              </a:ext>
            </a:extLst>
          </p:cNvPr>
          <p:cNvSpPr txBox="1"/>
          <p:nvPr/>
        </p:nvSpPr>
        <p:spPr>
          <a:xfrm>
            <a:off x="609602" y="935857"/>
            <a:ext cx="8686796" cy="47006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4064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Noto Sans Symbols"/>
              <a:buChar char="❖"/>
              <a:defRPr sz="2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FF5050"/>
              </a:buClr>
              <a:buSzPts val="2400"/>
              <a:buFont typeface="Noto Sans Symbols"/>
              <a:buChar char="▪"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6699FF"/>
              </a:buClr>
              <a:buSzPts val="2000"/>
              <a:buFont typeface="Times New Roman"/>
              <a:buChar char="•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r>
              <a:rPr lang="en-US" altLang="zh-TW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FPGA-Video-Capture</a:t>
            </a:r>
            <a:r>
              <a:rPr lang="zh-TW" altLang="en-US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2000" baseline="-25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[6]</a:t>
            </a:r>
            <a:endParaRPr lang="en-US" altLang="zh-TW" sz="20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/>
            <a:r>
              <a:rPr lang="zh-TW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整合 HDMI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zh-TW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影像輸入、DDR3 幀緩存、PCIe DMA 與 Ethernet UDP 傳輸，並搭配 PC 端影像辨識應用</a:t>
            </a:r>
            <a:endParaRPr lang="en-US" altLang="zh-TW" sz="20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</a:pPr>
            <a:endParaRPr lang="en-US" altLang="zh-TW" sz="20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50800" indent="0">
              <a:lnSpc>
                <a:spcPct val="150000"/>
              </a:lnSpc>
              <a:buNone/>
            </a:pPr>
            <a:endParaRPr lang="en-US" altLang="zh-TW" sz="20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50800" indent="0">
              <a:lnSpc>
                <a:spcPct val="150000"/>
              </a:lnSpc>
              <a:buNone/>
            </a:pPr>
            <a:endParaRPr lang="en-US" altLang="zh-TW" sz="20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</a:pPr>
            <a:r>
              <a:rPr lang="en-US" altLang="zh-TW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AX7103 — HDMI to PCIe</a:t>
            </a:r>
            <a:r>
              <a:rPr lang="zh-TW" altLang="en-US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2000" baseline="-25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[7]</a:t>
            </a:r>
            <a:endParaRPr lang="en-US" altLang="zh-TW" sz="20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>
              <a:lnSpc>
                <a:spcPts val="3000"/>
              </a:lnSpc>
            </a:pP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整合 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HDMI 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影像處理、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DDR3 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影格緩衝與 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PCIe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，並提供 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Windows 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端影格讀取程式</a:t>
            </a:r>
            <a:endParaRPr lang="en-US" altLang="zh-TW" sz="20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>
              <a:lnSpc>
                <a:spcPts val="3000"/>
              </a:lnSpc>
            </a:pPr>
            <a:endParaRPr lang="en-US" altLang="zh-TW" sz="20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50800" indent="0">
              <a:lnSpc>
                <a:spcPts val="3000"/>
              </a:lnSpc>
              <a:buNone/>
            </a:pPr>
            <a:endParaRPr lang="en-US" altLang="zh-TW" sz="20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50800" indent="0">
              <a:lnSpc>
                <a:spcPts val="3000"/>
              </a:lnSpc>
              <a:buNone/>
            </a:pPr>
            <a:endParaRPr lang="en-US" altLang="zh-TW" sz="20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50800" indent="0">
              <a:lnSpc>
                <a:spcPts val="3000"/>
              </a:lnSpc>
              <a:buNone/>
            </a:pPr>
            <a:endParaRPr lang="en-US" altLang="zh-TW" sz="20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>
              <a:lnSpc>
                <a:spcPts val="3000"/>
              </a:lnSpc>
            </a:pPr>
            <a:endParaRPr lang="en-US" altLang="zh-TW" sz="20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B17A7646-77F3-2568-68C1-545F7C189BE6}"/>
              </a:ext>
            </a:extLst>
          </p:cNvPr>
          <p:cNvSpPr txBox="1"/>
          <p:nvPr/>
        </p:nvSpPr>
        <p:spPr>
          <a:xfrm>
            <a:off x="1787236" y="6384072"/>
            <a:ext cx="580228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[6] https://github.com/flytt-away/FPGA-Video-Capture</a:t>
            </a:r>
          </a:p>
          <a:p>
            <a:r>
              <a:rPr lang="en-US" altLang="zh-TW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[7] </a:t>
            </a:r>
            <a:r>
              <a:rPr lang="en-US" altLang="zh-TW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  <a:hlinkClick r:id="rId3"/>
              </a:rPr>
              <a:t>https://github.com/alinxalinx/AX7103</a:t>
            </a:r>
            <a:endParaRPr lang="en-US" altLang="zh-TW" sz="12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id="{37496F10-EF4E-A817-4699-3B6A31EA63E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4685" y="4678478"/>
            <a:ext cx="8681713" cy="958064"/>
          </a:xfrm>
          <a:prstGeom prst="rect">
            <a:avLst/>
          </a:prstGeom>
        </p:spPr>
      </p:pic>
      <p:pic>
        <p:nvPicPr>
          <p:cNvPr id="12" name="圖片 11">
            <a:extLst>
              <a:ext uri="{FF2B5EF4-FFF2-40B4-BE49-F238E27FC236}">
                <a16:creationId xmlns:a16="http://schemas.microsoft.com/office/drawing/2014/main" id="{B12031A4-3488-593A-A784-3F5D3A5E54B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602" y="2041958"/>
            <a:ext cx="8681713" cy="10321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109747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5E9AAA-7E36-1E17-83F9-FD3A18A28B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標題 1">
            <a:extLst>
              <a:ext uri="{FF2B5EF4-FFF2-40B4-BE49-F238E27FC236}">
                <a16:creationId xmlns:a16="http://schemas.microsoft.com/office/drawing/2014/main" id="{142C8726-E890-9988-40FC-8984FDA21F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2" y="609600"/>
            <a:ext cx="8077200" cy="533400"/>
          </a:xfrm>
          <a:ln>
            <a:noFill/>
          </a:ln>
        </p:spPr>
        <p:txBody>
          <a:bodyPr/>
          <a:lstStyle/>
          <a:p>
            <a:pPr algn="l" fontAlgn="t"/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本次進度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 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整合比較</a:t>
            </a:r>
          </a:p>
        </p:txBody>
      </p:sp>
      <p:sp>
        <p:nvSpPr>
          <p:cNvPr id="2" name="文字版面配置區 6">
            <a:extLst>
              <a:ext uri="{FF2B5EF4-FFF2-40B4-BE49-F238E27FC236}">
                <a16:creationId xmlns:a16="http://schemas.microsoft.com/office/drawing/2014/main" id="{D929304B-5341-8BBF-E71F-AF5F2FE7268A}"/>
              </a:ext>
            </a:extLst>
          </p:cNvPr>
          <p:cNvSpPr txBox="1"/>
          <p:nvPr/>
        </p:nvSpPr>
        <p:spPr>
          <a:xfrm>
            <a:off x="609602" y="935857"/>
            <a:ext cx="8686796" cy="47006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4064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Noto Sans Symbols"/>
              <a:buChar char="❖"/>
              <a:defRPr sz="2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FF5050"/>
              </a:buClr>
              <a:buSzPts val="2400"/>
              <a:buFont typeface="Noto Sans Symbols"/>
              <a:buChar char="▪"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6699FF"/>
              </a:buClr>
              <a:buSzPts val="2000"/>
              <a:buFont typeface="Times New Roman"/>
              <a:buChar char="•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>
              <a:lnSpc>
                <a:spcPct val="150000"/>
              </a:lnSpc>
            </a:pPr>
            <a:r>
              <a:rPr lang="zh-TW" altLang="en-US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定位</a:t>
            </a:r>
            <a:endParaRPr lang="en-US" altLang="zh-TW" sz="20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>
              <a:lnSpc>
                <a:spcPts val="3000"/>
              </a:lnSpc>
            </a:pP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整合 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HDMI 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影像處理、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DDR3 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影格緩衝與 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PCIe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，並提供 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Windows 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端影格讀取程式</a:t>
            </a:r>
          </a:p>
          <a:p>
            <a:pPr lvl="1">
              <a:lnSpc>
                <a:spcPts val="3000"/>
              </a:lnSpc>
            </a:pPr>
            <a:endParaRPr lang="en-US" altLang="zh-TW" sz="16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7202274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97164" name="圖片 6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3357746" y="3004771"/>
            <a:ext cx="5556738" cy="848458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pic>
        <p:nvPicPr>
          <p:cNvPr id="2097165" name="Picture 2" descr="http://www.secretariat.ntust.edu.tw/ezfiles/20/1020/img/1688/09.png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964866" y="1628181"/>
            <a:ext cx="6260123" cy="1186962"/>
          </a:xfrm>
          <a:prstGeom prst="rect">
            <a:avLst/>
          </a:prstGeom>
          <a:noFill/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</p:pic>
      <p:pic>
        <p:nvPicPr>
          <p:cNvPr id="2097166" name="圖片 7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93650" y="4226628"/>
            <a:ext cx="4266522" cy="93056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template">
  <a:themeElements>
    <a:clrScheme name="template 2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325792</TotalTime>
  <Words>933</Words>
  <Application>Microsoft Office PowerPoint</Application>
  <PresentationFormat>A4 紙張 (210x297 公釐)</PresentationFormat>
  <Paragraphs>201</Paragraphs>
  <Slides>12</Slides>
  <Notes>12</Notes>
  <HiddenSlides>0</HiddenSlides>
  <MMClips>0</MMClips>
  <ScaleCrop>false</ScaleCrop>
  <HeadingPairs>
    <vt:vector size="6" baseType="variant">
      <vt:variant>
        <vt:lpstr>使用字型</vt:lpstr>
      </vt:variant>
      <vt:variant>
        <vt:i4>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12</vt:i4>
      </vt:variant>
    </vt:vector>
  </HeadingPairs>
  <TitlesOfParts>
    <vt:vector size="17" baseType="lpstr">
      <vt:lpstr>Noto Sans Symbols</vt:lpstr>
      <vt:lpstr>標楷體</vt:lpstr>
      <vt:lpstr>Arial</vt:lpstr>
      <vt:lpstr>Times New Roman</vt:lpstr>
      <vt:lpstr>template</vt:lpstr>
      <vt:lpstr>Progress Report</vt:lpstr>
      <vt:lpstr>上次進度: 軟體校正結果</vt:lpstr>
      <vt:lpstr>上次進度: 軟體校正結果</vt:lpstr>
      <vt:lpstr>本次進度: Video Capture Card</vt:lpstr>
      <vt:lpstr>本次進度: NeTV2 - FPGA</vt:lpstr>
      <vt:lpstr>本次進度: LitePCIe</vt:lpstr>
      <vt:lpstr>本次進度: LiteX </vt:lpstr>
      <vt:lpstr>本次進度: Video Example Designs</vt:lpstr>
      <vt:lpstr>本次進度: DMA IP Drivers</vt:lpstr>
      <vt:lpstr>本次進度: HDMI to FPGA to PCIE</vt:lpstr>
      <vt:lpstr>本次進度: 整合比較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Embedded CMOS Image Sensor System Design and Implementation</dc:title>
  <dc:creator>mblin</dc:creator>
  <cp:lastModifiedBy>sis ila</cp:lastModifiedBy>
  <cp:revision>3226</cp:revision>
  <dcterms:created xsi:type="dcterms:W3CDTF">2003-02-17T16:04:03Z</dcterms:created>
  <dcterms:modified xsi:type="dcterms:W3CDTF">2026-10-15T15:22:22Z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c323e086d3b141ca89c275423e00507f</vt:lpwstr>
  </property>
</Properties>
</file>