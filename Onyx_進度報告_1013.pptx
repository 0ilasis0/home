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14"/>
  </p:notesMasterIdLst>
  <p:sldIdLst>
    <p:sldId id="277" r:id="rId2"/>
    <p:sldId id="2022" r:id="rId3"/>
    <p:sldId id="2024" r:id="rId4"/>
    <p:sldId id="2025" r:id="rId5"/>
    <p:sldId id="2032" r:id="rId6"/>
    <p:sldId id="2034" r:id="rId7"/>
    <p:sldId id="2035" r:id="rId8"/>
    <p:sldId id="2037" r:id="rId9"/>
    <p:sldId id="2038" r:id="rId10"/>
    <p:sldId id="2039" r:id="rId11"/>
    <p:sldId id="286" r:id="rId12"/>
    <p:sldId id="2036" r:id="rId13"/>
  </p:sldIdLst>
  <p:sldSz cx="9906000" cy="6858000" type="A4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Head" id="{9114FBB3-8B00-422B-ACC9-030F49096E83}">
          <p14:sldIdLst>
            <p14:sldId id="277"/>
          </p14:sldIdLst>
        </p14:section>
        <p14:section name="上次進度" id="{7189DFBE-4EEB-4F74-853B-C02E818AF80E}">
          <p14:sldIdLst>
            <p14:sldId id="2022"/>
            <p14:sldId id="2024"/>
          </p14:sldIdLst>
        </p14:section>
        <p14:section name="Video Capture Card" id="{FA8538CB-EEBB-42F8-BEE8-82DA04CEC9C1}">
          <p14:sldIdLst>
            <p14:sldId id="2025"/>
            <p14:sldId id="2032"/>
            <p14:sldId id="2034"/>
            <p14:sldId id="2035"/>
            <p14:sldId id="2037"/>
            <p14:sldId id="2038"/>
            <p14:sldId id="2039"/>
          </p14:sldIdLst>
        </p14:section>
        <p14:section name="End" id="{33EEDC85-A799-4CB3-BF13-F4955B8630BE}">
          <p14:sldIdLst>
            <p14:sldId id="286"/>
            <p14:sldId id="203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902143" initials="m" lastIdx="1" clrIdx="0"/>
  <p:cmAuthor id="2" name="James Kuo" initials="JK" lastIdx="1" clrIdx="1"/>
  <p:cmAuthor id="3" name="昇鴻 李" initials="昇鴻" lastIdx="1" clrIdx="2">
    <p:extLst>
      <p:ext uri="{19B8F6BF-5375-455C-9EA6-DF929625EA0E}">
        <p15:presenceInfo xmlns:p15="http://schemas.microsoft.com/office/powerpoint/2012/main" userId="72a70edeaa250c2c" providerId="Windows Live"/>
      </p:ext>
    </p:extLst>
  </p:cmAuthor>
  <p:cmAuthor id="4" name="宏德 林" initials="宏林" lastIdx="2" clrIdx="3">
    <p:extLst>
      <p:ext uri="{19B8F6BF-5375-455C-9EA6-DF929625EA0E}">
        <p15:presenceInfo xmlns:p15="http://schemas.microsoft.com/office/powerpoint/2012/main" userId="933d0002216be5bd" providerId="Windows Live"/>
      </p:ext>
    </p:extLst>
  </p:cmAuthor>
  <p:cmAuthor id="5" name="LI CHIH HSIANG" initials="LCH" lastIdx="6" clrIdx="4">
    <p:extLst>
      <p:ext uri="{19B8F6BF-5375-455C-9EA6-DF929625EA0E}">
        <p15:presenceInfo xmlns:p15="http://schemas.microsoft.com/office/powerpoint/2012/main" userId="LI CHIH HSI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000000"/>
    <a:srgbClr val="00B050"/>
    <a:srgbClr val="0057C0"/>
    <a:srgbClr val="FFC000"/>
    <a:srgbClr val="FFFFFF"/>
    <a:srgbClr val="8958B1"/>
    <a:srgbClr val="C58DEF"/>
    <a:srgbClr val="993366"/>
    <a:srgbClr val="581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433FD4-3D7A-4217-8E80-1680D7E9CC69}" styleName="Table_0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rgbClr val="E6E6E6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E6E6E6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eCell>
    <a:sw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3E919B74-BC6B-4152-9BDB-477648A112FC}" styleName="Table_1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F6EF"/>
          </a:solidFill>
        </a:fill>
      </a:tcStyle>
    </a:wholeTbl>
    <a:band1H>
      <a:tcStyle>
        <a:tcBdr/>
        <a:fill>
          <a:solidFill>
            <a:srgbClr val="CAECDD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AECDD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7CE84F3-28C3-443E-9E96-99CF82512B78}" styleName="深色樣式 1 - 輔色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DCAF9ED-07DC-4A11-8D7F-57B35C25682E}" styleName="中等深淺樣式 1 - 輔色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6" autoAdjust="0"/>
    <p:restoredTop sz="84369" autoAdjust="0"/>
  </p:normalViewPr>
  <p:slideViewPr>
    <p:cSldViewPr snapToGrid="0">
      <p:cViewPr varScale="1">
        <p:scale>
          <a:sx n="81" d="100"/>
          <a:sy n="81" d="100"/>
        </p:scale>
        <p:origin x="1728" y="52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0" name="Google Shape;4;n"/>
          <p:cNvSpPr txBox="1">
            <a:spLocks noGrp="1"/>
          </p:cNvSpPr>
          <p:nvPr>
            <p:ph type="dt" idx="10"/>
          </p:nvPr>
        </p:nvSpPr>
        <p:spPr>
          <a:xfrm>
            <a:off x="4138613" y="0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1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062038" y="735013"/>
            <a:ext cx="5197475" cy="3598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48662" name="Google Shape;6;n"/>
          <p:cNvSpPr txBox="1">
            <a:spLocks noGrp="1"/>
          </p:cNvSpPr>
          <p:nvPr>
            <p:ph type="body" idx="1"/>
          </p:nvPr>
        </p:nvSpPr>
        <p:spPr>
          <a:xfrm>
            <a:off x="962025" y="4567238"/>
            <a:ext cx="5391150" cy="430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663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34475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4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38613" y="9134475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41020898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5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586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1048587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525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374330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749043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en-US" altLang="zh-TW" dirty="0"/>
              <a:t>FPGA HDMI RX</a:t>
            </a:r>
            <a:r>
              <a:rPr lang="zh-TW" altLang="en-US" dirty="0"/>
              <a:t>：</a:t>
            </a:r>
            <a:r>
              <a:rPr lang="en-US" altLang="zh-TW" dirty="0"/>
              <a:t>TMDS </a:t>
            </a:r>
            <a:r>
              <a:rPr lang="zh-TW" altLang="en-US" dirty="0"/>
              <a:t>解碼、辨識有效像素、輸出標準像素資料</a:t>
            </a:r>
            <a:r>
              <a:rPr lang="en-US" altLang="zh-TW" dirty="0"/>
              <a:t>(pixel data</a:t>
            </a:r>
            <a:r>
              <a:rPr lang="zh-TW" altLang="en-US" dirty="0"/>
              <a:t>、</a:t>
            </a:r>
            <a:r>
              <a:rPr lang="en-US" altLang="zh-TW" dirty="0"/>
              <a:t>HSYNC</a:t>
            </a:r>
            <a:r>
              <a:rPr lang="zh-TW" altLang="en-US" dirty="0"/>
              <a:t>、</a:t>
            </a:r>
            <a:r>
              <a:rPr lang="en-US" altLang="zh-TW" dirty="0"/>
              <a:t>VSYNC)</a:t>
            </a:r>
          </a:p>
          <a:p>
            <a:pPr marL="0" indent="0"/>
            <a:r>
              <a:rPr lang="en-US" altLang="zh-TW" dirty="0"/>
              <a:t>FIFO</a:t>
            </a:r>
            <a:r>
              <a:rPr lang="zh-TW" altLang="en-US" dirty="0"/>
              <a:t>／</a:t>
            </a:r>
            <a:r>
              <a:rPr lang="en-US" altLang="zh-TW" dirty="0"/>
              <a:t>DDR Frame Buffer</a:t>
            </a:r>
            <a:r>
              <a:rPr lang="zh-TW" altLang="en-US" dirty="0"/>
              <a:t>：跨時脈、影像緩衝</a:t>
            </a:r>
            <a:endParaRPr lang="en-US" altLang="zh-TW" dirty="0"/>
          </a:p>
          <a:p>
            <a:pPr marL="0" indent="0"/>
            <a:r>
              <a:rPr lang="en-US" altLang="zh-TW" dirty="0"/>
              <a:t>PCIe Endpoint</a:t>
            </a:r>
            <a:r>
              <a:rPr lang="zh-TW" altLang="en-US" dirty="0"/>
              <a:t>：讓 </a:t>
            </a:r>
            <a:r>
              <a:rPr lang="en-US" altLang="zh-TW" dirty="0"/>
              <a:t>FPGA </a:t>
            </a:r>
            <a:r>
              <a:rPr lang="zh-TW" altLang="en-US" dirty="0"/>
              <a:t>成為 </a:t>
            </a:r>
            <a:r>
              <a:rPr lang="en-US" altLang="zh-TW" dirty="0"/>
              <a:t>PC </a:t>
            </a:r>
            <a:r>
              <a:rPr lang="zh-TW" altLang="en-US" dirty="0"/>
              <a:t>可以辨識與存取的 </a:t>
            </a:r>
            <a:r>
              <a:rPr lang="en-US" altLang="zh-TW" dirty="0"/>
              <a:t>PCIe </a:t>
            </a:r>
            <a:r>
              <a:rPr lang="zh-TW" altLang="en-US" dirty="0"/>
              <a:t>裝置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2754904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736900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606456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FPGA </a:t>
            </a:r>
            <a:r>
              <a:rPr lang="zh-TW" altLang="en-US" dirty="0"/>
              <a:t>系統 </a:t>
            </a:r>
            <a:r>
              <a:rPr lang="en-US" altLang="zh-TW" dirty="0"/>
              <a:t>framework</a:t>
            </a:r>
          </a:p>
          <a:p>
            <a:r>
              <a:rPr lang="zh-TW" altLang="en-US" dirty="0"/>
              <a:t>連接模組（系統整合）： 決定哪些模組要連接，以及如何組成完整系統。</a:t>
            </a:r>
          </a:p>
          <a:p>
            <a:r>
              <a:rPr lang="zh-TW" altLang="en-US" dirty="0"/>
              <a:t>連接介面（通訊規則）： 規定模組連接後，如何交換資料、位址、控制訊號，以及如何協調傳輸。</a:t>
            </a:r>
          </a:p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7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737052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altLang="zh-TW" dirty="0"/>
              <a:t>HDMI </a:t>
            </a:r>
            <a:r>
              <a:rPr lang="zh-TW" altLang="en-US" dirty="0"/>
              <a:t>影格緩衝、</a:t>
            </a:r>
            <a:r>
              <a:rPr lang="en-US" altLang="zh-TW" dirty="0"/>
              <a:t>DDR3</a:t>
            </a:r>
            <a:r>
              <a:rPr lang="zh-TW" altLang="en-US" dirty="0"/>
              <a:t>／</a:t>
            </a:r>
            <a:r>
              <a:rPr lang="en-US" altLang="zh-TW" dirty="0"/>
              <a:t>AXI </a:t>
            </a:r>
            <a:r>
              <a:rPr lang="zh-TW" altLang="en-US" dirty="0"/>
              <a:t>記憶體整合、廠商 </a:t>
            </a:r>
            <a:r>
              <a:rPr lang="en-US" altLang="zh-TW" dirty="0"/>
              <a:t>PCIe IP </a:t>
            </a:r>
            <a:r>
              <a:rPr lang="zh-TW" altLang="en-US" dirty="0"/>
              <a:t>與 </a:t>
            </a:r>
            <a:r>
              <a:rPr lang="en-US" altLang="zh-TW" dirty="0"/>
              <a:t>PC </a:t>
            </a:r>
            <a:r>
              <a:rPr lang="zh-TW" altLang="en-US" dirty="0"/>
              <a:t>軟體介面的整體架構。</a:t>
            </a:r>
          </a:p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8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221494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altLang="zh-TW" dirty="0"/>
              <a:t>HDMI </a:t>
            </a:r>
            <a:r>
              <a:rPr lang="zh-TW" altLang="en-US" dirty="0"/>
              <a:t>影格緩衝、</a:t>
            </a:r>
            <a:r>
              <a:rPr lang="en-US" altLang="zh-TW" dirty="0"/>
              <a:t>DDR3</a:t>
            </a:r>
            <a:r>
              <a:rPr lang="zh-TW" altLang="en-US" dirty="0"/>
              <a:t>／</a:t>
            </a:r>
            <a:r>
              <a:rPr lang="en-US" altLang="zh-TW" dirty="0"/>
              <a:t>AXI </a:t>
            </a:r>
            <a:r>
              <a:rPr lang="zh-TW" altLang="en-US" dirty="0"/>
              <a:t>記憶體整合、廠商 </a:t>
            </a:r>
            <a:r>
              <a:rPr lang="en-US" altLang="zh-TW" dirty="0"/>
              <a:t>PCIe IP </a:t>
            </a:r>
            <a:r>
              <a:rPr lang="zh-TW" altLang="en-US" dirty="0"/>
              <a:t>與 </a:t>
            </a:r>
            <a:r>
              <a:rPr lang="en-US" altLang="zh-TW" dirty="0"/>
              <a:t>PC </a:t>
            </a:r>
            <a:r>
              <a:rPr lang="zh-TW" altLang="en-US" dirty="0"/>
              <a:t>軟體介面的整體架構。</a:t>
            </a:r>
          </a:p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9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307704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altLang="zh-TW" dirty="0"/>
              <a:t>HDMI </a:t>
            </a:r>
            <a:r>
              <a:rPr lang="zh-TW" altLang="en-US" dirty="0"/>
              <a:t>影格緩衝、</a:t>
            </a:r>
            <a:r>
              <a:rPr lang="en-US" altLang="zh-TW" dirty="0"/>
              <a:t>DDR3</a:t>
            </a:r>
            <a:r>
              <a:rPr lang="zh-TW" altLang="en-US" dirty="0"/>
              <a:t>／</a:t>
            </a:r>
            <a:r>
              <a:rPr lang="en-US" altLang="zh-TW" dirty="0"/>
              <a:t>AXI </a:t>
            </a:r>
            <a:r>
              <a:rPr lang="zh-TW" altLang="en-US" dirty="0"/>
              <a:t>記憶體整合、廠商 </a:t>
            </a:r>
            <a:r>
              <a:rPr lang="en-US" altLang="zh-TW" dirty="0"/>
              <a:t>PCIe IP </a:t>
            </a:r>
            <a:r>
              <a:rPr lang="zh-TW" altLang="en-US" dirty="0"/>
              <a:t>與 </a:t>
            </a:r>
            <a:r>
              <a:rPr lang="en-US" altLang="zh-TW" dirty="0"/>
              <a:t>PC </a:t>
            </a:r>
            <a:r>
              <a:rPr lang="zh-TW" altLang="en-US" dirty="0"/>
              <a:t>軟體介面的整體架構。</a:t>
            </a:r>
          </a:p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11584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1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2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0">
              <a:buNone/>
            </a:pPr>
            <a:endParaRPr lang="en-US" altLang="zh-TW" dirty="0"/>
          </a:p>
        </p:txBody>
      </p:sp>
      <p:sp>
        <p:nvSpPr>
          <p:cNvPr id="1048643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11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1541485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altLang="zh-TW" dirty="0"/>
              <a:t>HDMI </a:t>
            </a:r>
            <a:r>
              <a:rPr lang="zh-TW" altLang="en-US" dirty="0"/>
              <a:t>影格緩衝、</a:t>
            </a:r>
            <a:r>
              <a:rPr lang="en-US" altLang="zh-TW" dirty="0"/>
              <a:t>DDR3</a:t>
            </a:r>
            <a:r>
              <a:rPr lang="zh-TW" altLang="en-US" dirty="0"/>
              <a:t>／</a:t>
            </a:r>
            <a:r>
              <a:rPr lang="en-US" altLang="zh-TW" dirty="0"/>
              <a:t>AXI </a:t>
            </a:r>
            <a:r>
              <a:rPr lang="zh-TW" altLang="en-US" dirty="0"/>
              <a:t>記憶體整合、廠商 </a:t>
            </a:r>
            <a:r>
              <a:rPr lang="en-US" altLang="zh-TW" dirty="0"/>
              <a:t>PCIe IP </a:t>
            </a:r>
            <a:r>
              <a:rPr lang="zh-TW" altLang="en-US" dirty="0"/>
              <a:t>與 </a:t>
            </a:r>
            <a:r>
              <a:rPr lang="en-US" altLang="zh-TW" dirty="0"/>
              <a:t>PC </a:t>
            </a:r>
            <a:r>
              <a:rPr lang="zh-TW" altLang="en-US" dirty="0"/>
              <a:t>軟體介面的整體架構。</a:t>
            </a:r>
          </a:p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643926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type="title">
  <p:cSld name="TITL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6" name="Google Shape;21;p50"/>
          <p:cNvSpPr txBox="1"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875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37" name="Google Shape;22;p50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390"/>
              </a:spcBef>
              <a:spcAft>
                <a:spcPts val="0"/>
              </a:spcAft>
              <a:buSzPts val="1950"/>
              <a:buNone/>
              <a:defRPr sz="1950"/>
            </a:lvl1pPr>
            <a:lvl2pPr lvl="1" algn="ctr">
              <a:spcBef>
                <a:spcPts val="325"/>
              </a:spcBef>
              <a:spcAft>
                <a:spcPts val="0"/>
              </a:spcAft>
              <a:buSzPts val="1625"/>
              <a:buNone/>
              <a:defRPr sz="1625"/>
            </a:lvl2pPr>
            <a:lvl3pPr lvl="2" algn="ctr">
              <a:spcBef>
                <a:spcPts val="293"/>
              </a:spcBef>
              <a:spcAft>
                <a:spcPts val="0"/>
              </a:spcAft>
              <a:buSzPts val="1463"/>
              <a:buFont typeface="Times New Roman"/>
              <a:buNone/>
              <a:defRPr sz="1463"/>
            </a:lvl3pPr>
            <a:lvl4pPr lvl="3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4pPr>
            <a:lvl5pPr lvl="4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5pPr>
            <a:lvl6pPr lvl="5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6pPr>
            <a:lvl7pPr lvl="6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7pPr>
            <a:lvl8pPr lvl="7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8pPr>
            <a:lvl9pPr lvl="8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9pPr>
          </a:lstStyle>
          <a:p>
            <a:endParaRPr/>
          </a:p>
        </p:txBody>
      </p:sp>
      <p:sp>
        <p:nvSpPr>
          <p:cNvPr id="1048638" name="Google Shape;23;p50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39" name="Google Shape;24;p50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40" name="Google Shape;25;p50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6" name="Google Shape;37;p5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7" name="Google Shape;38;p5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48" name="Google Shape;39;p5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  <p:sp>
        <p:nvSpPr>
          <p:cNvPr id="1048649" name="Google Shape;40;p54"/>
          <p:cNvSpPr txBox="1">
            <a:spLocks noGrp="1"/>
          </p:cNvSpPr>
          <p:nvPr>
            <p:ph type="body" idx="3"/>
          </p:nvPr>
        </p:nvSpPr>
        <p:spPr>
          <a:xfrm>
            <a:off x="4645027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50" name="Google Shape;41;p54"/>
          <p:cNvSpPr txBox="1">
            <a:spLocks noGrp="1"/>
          </p:cNvSpPr>
          <p:nvPr>
            <p:ph type="body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3" name="Google Shape;43;p55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Google Shape;50;p58"/>
          <p:cNvSpPr txBox="1">
            <a:spLocks noGrp="1"/>
          </p:cNvSpPr>
          <p:nvPr>
            <p:ph type="title"/>
          </p:nvPr>
        </p:nvSpPr>
        <p:spPr>
          <a:xfrm>
            <a:off x="1792290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5" name="Google Shape;51;p58"/>
          <p:cNvSpPr>
            <a:spLocks noGrp="1"/>
          </p:cNvSpPr>
          <p:nvPr>
            <p:ph type="pic" idx="2"/>
          </p:nvPr>
        </p:nvSpPr>
        <p:spPr>
          <a:xfrm>
            <a:off x="1792290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rgbClr val="FF5050"/>
              </a:buClr>
              <a:buSzPts val="2800"/>
              <a:buFont typeface="Noto Sans Symbols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rgbClr val="6699FF"/>
              </a:buClr>
              <a:buSzPts val="2400"/>
              <a:buFont typeface="Times New Roman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56" name="Google Shape;52;p58"/>
          <p:cNvSpPr txBox="1">
            <a:spLocks noGrp="1"/>
          </p:cNvSpPr>
          <p:nvPr>
            <p:ph type="body" idx="1"/>
          </p:nvPr>
        </p:nvSpPr>
        <p:spPr>
          <a:xfrm>
            <a:off x="1792290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Font typeface="Times New Roman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Google Shape;54;p59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5" name="Google Shape;55;p59"/>
          <p:cNvSpPr txBox="1">
            <a:spLocks noGrp="1"/>
          </p:cNvSpPr>
          <p:nvPr>
            <p:ph type="body" idx="1"/>
          </p:nvPr>
        </p:nvSpPr>
        <p:spPr>
          <a:xfrm rot="5400000">
            <a:off x="2593975" y="-485775"/>
            <a:ext cx="4800600" cy="866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Google Shape;57;p60"/>
          <p:cNvSpPr txBox="1">
            <a:spLocks noGrp="1"/>
          </p:cNvSpPr>
          <p:nvPr>
            <p:ph type="title"/>
          </p:nvPr>
        </p:nvSpPr>
        <p:spPr>
          <a:xfrm rot="5400000">
            <a:off x="4857751" y="2419350"/>
            <a:ext cx="5638800" cy="20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8" name="Google Shape;58;p60"/>
          <p:cNvSpPr txBox="1">
            <a:spLocks noGrp="1"/>
          </p:cNvSpPr>
          <p:nvPr>
            <p:ph type="body" idx="1"/>
          </p:nvPr>
        </p:nvSpPr>
        <p:spPr>
          <a:xfrm rot="5400000">
            <a:off x="742951" y="476250"/>
            <a:ext cx="5638800" cy="59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1_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Title 1"/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1048580" name="Chart Placeholder 2"/>
          <p:cNvSpPr>
            <a:spLocks noGrp="1"/>
          </p:cNvSpPr>
          <p:nvPr>
            <p:ph type="chart" idx="1"/>
          </p:nvPr>
        </p:nvSpPr>
        <p:spPr>
          <a:xfrm>
            <a:off x="609600" y="1447800"/>
            <a:ext cx="8001000" cy="4800600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48652" name="Title 1"/>
          <p:cNvSpPr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altLang="zh-TW" dirty="0"/>
              <a:t>Title of the Slide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10;p48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cxnSp>
        <p:nvCxnSpPr>
          <p:cNvPr id="3145728" name="Google Shape;11;p48"/>
          <p:cNvCxnSpPr>
            <a:cxnSpLocks/>
          </p:cNvCxnSpPr>
          <p:nvPr/>
        </p:nvCxnSpPr>
        <p:spPr>
          <a:xfrm>
            <a:off x="412750" y="533400"/>
            <a:ext cx="899795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29" name="Google Shape;12;p48"/>
          <p:cNvCxnSpPr>
            <a:cxnSpLocks/>
          </p:cNvCxnSpPr>
          <p:nvPr/>
        </p:nvCxnSpPr>
        <p:spPr>
          <a:xfrm>
            <a:off x="577850" y="228600"/>
            <a:ext cx="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30" name="Google Shape;13;p48"/>
          <p:cNvCxnSpPr>
            <a:cxnSpLocks/>
          </p:cNvCxnSpPr>
          <p:nvPr/>
        </p:nvCxnSpPr>
        <p:spPr>
          <a:xfrm>
            <a:off x="495300" y="6400800"/>
            <a:ext cx="8915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8577" name="Google Shape;14;p48"/>
          <p:cNvSpPr txBox="1">
            <a:spLocks noGrp="1"/>
          </p:cNvSpPr>
          <p:nvPr>
            <p:ph type="body" idx="1"/>
          </p:nvPr>
        </p:nvSpPr>
        <p:spPr>
          <a:xfrm>
            <a:off x="660400" y="1447800"/>
            <a:ext cx="8667750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048578" name="Google Shape;15;p48"/>
          <p:cNvSpPr txBox="1"/>
          <p:nvPr/>
        </p:nvSpPr>
        <p:spPr>
          <a:xfrm>
            <a:off x="8510587" y="6502400"/>
            <a:ext cx="81756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2" name="Google Shape;16;p48"/>
          <p:cNvPicPr preferRelativeResize="0">
            <a:picLocks/>
          </p:cNvPicPr>
          <p:nvPr/>
        </p:nvPicPr>
        <p:blipFill rotWithShape="1">
          <a:blip r:embed="rId11">
            <a:alphaModFix/>
          </a:blip>
          <a:srcRect/>
          <a:stretch>
            <a:fillRect/>
          </a:stretch>
        </p:blipFill>
        <p:spPr>
          <a:xfrm>
            <a:off x="57150" y="6446838"/>
            <a:ext cx="1827213" cy="36036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Rectangle 2"/>
          <p:cNvSpPr>
            <a:spLocks noGrp="1" noChangeArrowheads="1"/>
          </p:cNvSpPr>
          <p:nvPr>
            <p:ph type="title"/>
          </p:nvPr>
        </p:nvSpPr>
        <p:spPr>
          <a:xfrm>
            <a:off x="668908" y="1829704"/>
            <a:ext cx="8568183" cy="1728539"/>
          </a:xfrm>
        </p:spPr>
        <p:txBody>
          <a:bodyPr/>
          <a:lstStyle/>
          <a:p>
            <a:pPr algn="ctr" eaLnBrk="1" hangingPunct="1"/>
            <a:r>
              <a:rPr lang="en-US" altLang="zh-TW" sz="3200" b="1" dirty="0">
                <a:solidFill>
                  <a:srgbClr val="0057C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Progress Report</a:t>
            </a:r>
          </a:p>
        </p:txBody>
      </p:sp>
      <p:sp>
        <p:nvSpPr>
          <p:cNvPr id="1048582" name="Rectangle 2"/>
          <p:cNvSpPr txBox="1">
            <a:spLocks noChangeArrowheads="1"/>
          </p:cNvSpPr>
          <p:nvPr/>
        </p:nvSpPr>
        <p:spPr bwMode="auto">
          <a:xfrm>
            <a:off x="907104" y="3362630"/>
            <a:ext cx="8568183" cy="172853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9pPr>
          </a:lstStyle>
          <a:p>
            <a:pPr algn="ctr" eaLnBrk="1" hangingPunct="1"/>
            <a:endParaRPr lang="en-US" altLang="zh-TW" kern="0" dirty="0">
              <a:solidFill>
                <a:schemeClr val="tx1"/>
              </a:solidFill>
            </a:endParaRPr>
          </a:p>
        </p:txBody>
      </p:sp>
      <p:sp>
        <p:nvSpPr>
          <p:cNvPr id="1048583" name="Text Box 4"/>
          <p:cNvSpPr txBox="1">
            <a:spLocks noChangeArrowheads="1"/>
          </p:cNvSpPr>
          <p:nvPr/>
        </p:nvSpPr>
        <p:spPr bwMode="auto">
          <a:xfrm>
            <a:off x="1100262" y="4484365"/>
            <a:ext cx="7705476" cy="70788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Author : </a:t>
            </a:r>
          </a:p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BO-CHENG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Cheng-Yuan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Sheng-Yao</a:t>
            </a:r>
          </a:p>
        </p:txBody>
      </p:sp>
      <p:sp>
        <p:nvSpPr>
          <p:cNvPr id="1048584" name="Text Box 4"/>
          <p:cNvSpPr txBox="1">
            <a:spLocks noChangeArrowheads="1"/>
          </p:cNvSpPr>
          <p:nvPr/>
        </p:nvSpPr>
        <p:spPr bwMode="auto">
          <a:xfrm>
            <a:off x="1100262" y="5673486"/>
            <a:ext cx="7705476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b="1" dirty="0">
                <a:solidFill>
                  <a:srgbClr val="0057C0"/>
                </a:solidFill>
              </a:rPr>
              <a:t>Embedded System Software Design</a:t>
            </a:r>
            <a:endParaRPr lang="en-US" altLang="zh-TW" sz="2000" b="1" dirty="0">
              <a:solidFill>
                <a:srgbClr val="0057C0"/>
              </a:solidFill>
              <a:latin typeface="+mn-lt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B361B4DF-3145-D829-F41F-4DFE4B01E588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色溫校正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螢幕：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DP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1080P)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在不同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與色溫下量測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校正後的色溫與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色溫誤差都在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300K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以內，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誤差都在 </a:t>
            </a:r>
            <a:r>
              <a:rPr lang="en-US" altLang="zh-TW" sz="16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± 0.05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，符合標準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軟體校正結果</a:t>
            </a:r>
          </a:p>
        </p:txBody>
      </p:sp>
      <p:graphicFrame>
        <p:nvGraphicFramePr>
          <p:cNvPr id="2" name="表格 24">
            <a:extLst>
              <a:ext uri="{FF2B5EF4-FFF2-40B4-BE49-F238E27FC236}">
                <a16:creationId xmlns:a16="http://schemas.microsoft.com/office/drawing/2014/main" id="{E1D31DB3-F9C5-1A79-A106-241D304FB8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6227025"/>
              </p:ext>
            </p:extLst>
          </p:nvPr>
        </p:nvGraphicFramePr>
        <p:xfrm>
          <a:off x="2194168" y="2355145"/>
          <a:ext cx="4908067" cy="402025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7265">
                  <a:extLst>
                    <a:ext uri="{9D8B030D-6E8A-4147-A177-3AD203B41FA5}">
                      <a16:colId xmlns:a16="http://schemas.microsoft.com/office/drawing/2014/main" val="58910734"/>
                    </a:ext>
                  </a:extLst>
                </a:gridCol>
                <a:gridCol w="886890">
                  <a:extLst>
                    <a:ext uri="{9D8B030D-6E8A-4147-A177-3AD203B41FA5}">
                      <a16:colId xmlns:a16="http://schemas.microsoft.com/office/drawing/2014/main" val="2217758771"/>
                    </a:ext>
                  </a:extLst>
                </a:gridCol>
                <a:gridCol w="1486956">
                  <a:extLst>
                    <a:ext uri="{9D8B030D-6E8A-4147-A177-3AD203B41FA5}">
                      <a16:colId xmlns:a16="http://schemas.microsoft.com/office/drawing/2014/main" val="3036497903"/>
                    </a:ext>
                  </a:extLst>
                </a:gridCol>
                <a:gridCol w="1486956">
                  <a:extLst>
                    <a:ext uri="{9D8B030D-6E8A-4147-A177-3AD203B41FA5}">
                      <a16:colId xmlns:a16="http://schemas.microsoft.com/office/drawing/2014/main" val="793740652"/>
                    </a:ext>
                  </a:extLst>
                </a:gridCol>
              </a:tblGrid>
              <a:tr h="310063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Gamma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zh-TW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色溫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zh-TW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量測色溫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</a:rPr>
                        <a:t>256</a:t>
                      </a:r>
                      <a:r>
                        <a:rPr lang="zh-TW" alt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階</a:t>
                      </a: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4047486063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1.8</a:t>
                      </a:r>
                      <a:endParaRPr lang="zh-TW" sz="1600" b="0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5352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0759405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/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6419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097251436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/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9046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1.85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244588434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2.0</a:t>
                      </a: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5351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2.03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100677602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/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6545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2.02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090125723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/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9045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2.03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89583938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2.2</a:t>
                      </a:r>
                      <a:endParaRPr lang="zh-TW" sz="1600" b="0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5314</a:t>
                      </a:r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2.22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98664419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/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6500</a:t>
                      </a:r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6452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2.22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683948243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/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9300</a:t>
                      </a:r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9047</a:t>
                      </a:r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2.24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785709647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2.6</a:t>
                      </a:r>
                      <a:endParaRPr lang="zh-TW" sz="1600" b="0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5400</a:t>
                      </a:r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5404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2.61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559488585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/>
                      <a:endParaRPr lang="zh-TW" sz="16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6544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2.60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354390549"/>
                  </a:ext>
                </a:extLst>
              </a:tr>
              <a:tr h="309183">
                <a:tc>
                  <a:txBody>
                    <a:bodyPr/>
                    <a:lstStyle/>
                    <a:p>
                      <a:pPr algn="ctr"/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9300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6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9048</a:t>
                      </a:r>
                      <a:endParaRPr lang="zh-TW" sz="16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2.62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682335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66074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B361B4DF-3145-D829-F41F-4DFE4B01E588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色溫校正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螢幕：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CH7513A011)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在不同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與色溫下量測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校正後的色溫與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色溫誤差都在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300K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以內，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誤差都在 </a:t>
            </a:r>
            <a:r>
              <a:rPr lang="en-US" altLang="zh-TW" sz="16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± 0.05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，符合標準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軟體校正結果</a:t>
            </a:r>
          </a:p>
        </p:txBody>
      </p:sp>
      <p:graphicFrame>
        <p:nvGraphicFramePr>
          <p:cNvPr id="2" name="表格 24">
            <a:extLst>
              <a:ext uri="{FF2B5EF4-FFF2-40B4-BE49-F238E27FC236}">
                <a16:creationId xmlns:a16="http://schemas.microsoft.com/office/drawing/2014/main" id="{A35A7D0E-9FC1-7B36-C15E-0626CB3776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1005415"/>
              </p:ext>
            </p:extLst>
          </p:nvPr>
        </p:nvGraphicFramePr>
        <p:xfrm>
          <a:off x="2308861" y="2370676"/>
          <a:ext cx="5288277" cy="400309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90530">
                  <a:extLst>
                    <a:ext uri="{9D8B030D-6E8A-4147-A177-3AD203B41FA5}">
                      <a16:colId xmlns:a16="http://schemas.microsoft.com/office/drawing/2014/main" val="58910734"/>
                    </a:ext>
                  </a:extLst>
                </a:gridCol>
                <a:gridCol w="890530">
                  <a:extLst>
                    <a:ext uri="{9D8B030D-6E8A-4147-A177-3AD203B41FA5}">
                      <a16:colId xmlns:a16="http://schemas.microsoft.com/office/drawing/2014/main" val="1964622646"/>
                    </a:ext>
                  </a:extLst>
                </a:gridCol>
                <a:gridCol w="1024717">
                  <a:extLst>
                    <a:ext uri="{9D8B030D-6E8A-4147-A177-3AD203B41FA5}">
                      <a16:colId xmlns:a16="http://schemas.microsoft.com/office/drawing/2014/main" val="2217758771"/>
                    </a:ext>
                  </a:extLst>
                </a:gridCol>
                <a:gridCol w="1010079">
                  <a:extLst>
                    <a:ext uri="{9D8B030D-6E8A-4147-A177-3AD203B41FA5}">
                      <a16:colId xmlns:a16="http://schemas.microsoft.com/office/drawing/2014/main" val="3439045141"/>
                    </a:ext>
                  </a:extLst>
                </a:gridCol>
                <a:gridCol w="1472421">
                  <a:extLst>
                    <a:ext uri="{9D8B030D-6E8A-4147-A177-3AD203B41FA5}">
                      <a16:colId xmlns:a16="http://schemas.microsoft.com/office/drawing/2014/main" val="3036497903"/>
                    </a:ext>
                  </a:extLst>
                </a:gridCol>
              </a:tblGrid>
              <a:tr h="30793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Gamma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色溫</a:t>
                      </a:r>
                      <a:endParaRPr lang="zh-TW" altLang="en-US" sz="1600" b="0" i="0" u="none" strike="noStrike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量測色溫</a:t>
                      </a:r>
                      <a:endParaRPr lang="zh-TW" altLang="en-US" sz="1600" b="0" i="0" u="none" strike="noStrike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256</a:t>
                      </a:r>
                      <a:r>
                        <a:rPr lang="zh-TW" alt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階</a:t>
                      </a:r>
                      <a:endParaRPr lang="zh-TW" altLang="en-US" sz="1600" b="0" i="0" u="none" strike="noStrike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時間</a:t>
                      </a:r>
                      <a:endParaRPr lang="zh-TW" altLang="en-US" sz="1600" b="0" i="0" u="none" strike="noStrike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extLst>
                  <a:ext uri="{0D108BD9-81ED-4DB2-BD59-A6C34878D82A}">
                    <a16:rowId xmlns:a16="http://schemas.microsoft.com/office/drawing/2014/main" val="4047486063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5400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5346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1.82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11:38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0759405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6500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6628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1.83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10:31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097251436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9300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9090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1.82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10:57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244588434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2.0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5400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5374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2.00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10:22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100677602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6500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6587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2.00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12:01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090125723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9300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9094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1.98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11:07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89583938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2.2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5400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5381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2.24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12:37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98664419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6500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6472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2.19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11:01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683948243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9300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9103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2.19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11:08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785709647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2.6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5400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5373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2.57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15:07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559488585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6500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6608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2.59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12:23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354390549"/>
                  </a:ext>
                </a:extLst>
              </a:tr>
              <a:tr h="307930">
                <a:tc>
                  <a:txBody>
                    <a:bodyPr/>
                    <a:lstStyle/>
                    <a:p>
                      <a:pPr algn="ctr" fontAlgn="ctr"/>
                      <a:endParaRPr lang="zh-TW" altLang="en-US" sz="1600" b="0" i="0" u="none" strike="noStrike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9300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9103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2.61 </a:t>
                      </a:r>
                    </a:p>
                  </a:txBody>
                  <a:tcPr marL="7017" marR="7017" marT="7017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12:19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682335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1194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dirty="0"/>
              <a:t>Video Capture Card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033F0CBC-B216-A52F-8C2C-837CAED2E514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研究目的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尋找相關開源專案，了解現有技術與實作成果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調查各專案使用的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、開發板、框架與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IP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比較不同開源生態，作為後續技術選型的依據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目標架構概念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803CDD84-5AF2-EE5D-D012-4A7CEED12A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610" y="3692363"/>
            <a:ext cx="9046779" cy="985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6524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NeTV2</a:t>
            </a:r>
            <a:r>
              <a:rPr lang="zh-TW" altLang="en-US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- FPGA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5857"/>
            <a:ext cx="8808717" cy="5448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定位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以 </a:t>
            </a:r>
            <a:r>
              <a:rPr lang="en-US" altLang="zh-TW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/ </a:t>
            </a:r>
            <a:r>
              <a:rPr lang="en-US" altLang="zh-TW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Migen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建構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硬體系統，實作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影像輸入、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DDR3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緩衝、影像合成與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輸出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晶片與硬體型號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開發版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晶片：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NeTV2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 Xilinx Artix-7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開發框架：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Migen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軟處理器：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VexRiscv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8" name="群組 7">
            <a:extLst>
              <a:ext uri="{FF2B5EF4-FFF2-40B4-BE49-F238E27FC236}">
                <a16:creationId xmlns:a16="http://schemas.microsoft.com/office/drawing/2014/main" id="{32C77ABA-12F8-A5D2-5620-8E0F1595DD0B}"/>
              </a:ext>
            </a:extLst>
          </p:cNvPr>
          <p:cNvGrpSpPr/>
          <p:nvPr/>
        </p:nvGrpSpPr>
        <p:grpSpPr>
          <a:xfrm>
            <a:off x="6588117" y="4448345"/>
            <a:ext cx="2342521" cy="1935727"/>
            <a:chOff x="7123226" y="4254922"/>
            <a:chExt cx="2342521" cy="1935727"/>
          </a:xfrm>
        </p:grpSpPr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DA2311F8-59E5-9BD1-61E4-EFD0C55B1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23226" y="4254922"/>
              <a:ext cx="2342521" cy="1597173"/>
            </a:xfrm>
            <a:prstGeom prst="rect">
              <a:avLst/>
            </a:prstGeom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92B6339F-8DE4-9D14-F9FF-DF0F45E24E3B}"/>
                </a:ext>
              </a:extLst>
            </p:cNvPr>
            <p:cNvSpPr/>
            <p:nvPr/>
          </p:nvSpPr>
          <p:spPr>
            <a:xfrm>
              <a:off x="7758868" y="5852095"/>
              <a:ext cx="1372492" cy="338554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altLang="zh-TW" sz="1600" b="0" cap="none" spc="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NeTV2</a:t>
              </a:r>
              <a:r>
                <a:rPr lang="zh-TW" altLang="en-US" sz="160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en-US" altLang="zh-TW" sz="160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FPGA</a:t>
              </a:r>
              <a:endParaRPr lang="zh-TW" altLang="en-US" sz="1600" b="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10" name="文字方塊 9">
            <a:extLst>
              <a:ext uri="{FF2B5EF4-FFF2-40B4-BE49-F238E27FC236}">
                <a16:creationId xmlns:a16="http://schemas.microsoft.com/office/drawing/2014/main" id="{3EAFBC87-C885-2332-5B2E-C15A86786327}"/>
              </a:ext>
            </a:extLst>
          </p:cNvPr>
          <p:cNvSpPr txBox="1"/>
          <p:nvPr/>
        </p:nvSpPr>
        <p:spPr>
          <a:xfrm>
            <a:off x="1787236" y="6384072"/>
            <a:ext cx="580228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[1] 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https://github.com/AlphamaxMedia/netv2-fpga</a:t>
            </a:r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5B7A07D7-CDAD-33A8-75F3-807976AADE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0003" y="2946227"/>
            <a:ext cx="7485993" cy="957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9689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LitePCIe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功能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透過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DMA Writer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將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資料寫入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主機記憶體</a:t>
            </a:r>
          </a:p>
          <a:p>
            <a:pPr lvl="1">
              <a:lnSpc>
                <a:spcPct val="150000"/>
              </a:lnSpc>
            </a:pP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PCIe Endpoint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與傳輸架構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提供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端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Linux Driver</a:t>
            </a:r>
          </a:p>
          <a:p>
            <a:pPr>
              <a:lnSpc>
                <a:spcPts val="3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對 </a:t>
            </a:r>
            <a:r>
              <a:rPr lang="en-US" altLang="zh-TW" sz="200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 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擷取卡的幫助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可將研究重點集中在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影像串流與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DMA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的整合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可參考既有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Linux Driver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有助於降低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端驅動程式的開發負擔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17EF7B95-B380-F6CA-F173-DA760D763252}"/>
              </a:ext>
            </a:extLst>
          </p:cNvPr>
          <p:cNvSpPr txBox="1"/>
          <p:nvPr/>
        </p:nvSpPr>
        <p:spPr>
          <a:xfrm>
            <a:off x="1787236" y="6384072"/>
            <a:ext cx="580228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zh-TW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https://github.com/enjoy-digital/litepcie</a:t>
            </a:r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7C9DEB2B-F85F-1C98-F138-BF7DBF812B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2" y="4410680"/>
            <a:ext cx="8686796" cy="962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2841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LiteX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定位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透過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Python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描述與整合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硬體模組，建立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SoC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設計，並支援產生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HDL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與呼叫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建置工具</a:t>
            </a:r>
          </a:p>
          <a:p>
            <a:pPr>
              <a:lnSpc>
                <a:spcPts val="3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功能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組合處理器、記憶體、匯流排及周邊模組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提供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Wishbone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AXI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等互連機制，以及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Streams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可搭配 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LiteDRAM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LitePCIe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LiteEth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等生態系模組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流程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B8BF237-AE2C-BCBD-03CB-07C643D7BB9F}"/>
              </a:ext>
            </a:extLst>
          </p:cNvPr>
          <p:cNvSpPr txBox="1"/>
          <p:nvPr/>
        </p:nvSpPr>
        <p:spPr>
          <a:xfrm>
            <a:off x="1787236" y="6384072"/>
            <a:ext cx="580228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[3] </a:t>
            </a:r>
            <a:r>
              <a:rPr lang="zh-TW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https://github.com/enjoy-digital/litex?utm_source=chatgpt.com</a:t>
            </a:r>
          </a:p>
        </p:txBody>
      </p:sp>
    </p:spTree>
    <p:extLst>
      <p:ext uri="{BB962C8B-B14F-4D97-AF65-F5344CB8AC3E}">
        <p14:creationId xmlns:p14="http://schemas.microsoft.com/office/powerpoint/2010/main" val="3075961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pPr algn="l" fontAlgn="t"/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Xilinx-FPGA-PCIe-XDMA-Tutorial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定位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整合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影像處理、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DDR3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影格緩衝與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PCIe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，並提供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Windows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端影格讀取程式</a:t>
            </a:r>
          </a:p>
          <a:p>
            <a:pPr lvl="1">
              <a:lnSpc>
                <a:spcPts val="3000"/>
              </a:lnSpc>
            </a:pP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B17A7646-77F3-2568-68C1-545F7C189BE6}"/>
              </a:ext>
            </a:extLst>
          </p:cNvPr>
          <p:cNvSpPr txBox="1"/>
          <p:nvPr/>
        </p:nvSpPr>
        <p:spPr>
          <a:xfrm>
            <a:off x="1787236" y="6384072"/>
            <a:ext cx="580228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[4] https://github.com/WangXuan95/Xilinx-FPGA-PCIe-XDMA-Tutorial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57819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pPr algn="l" fontAlgn="t"/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Artix-7-HDMI-processing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定位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整合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影像處理、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DDR3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影格緩衝與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PCIe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，並提供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Windows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端影格讀取程式</a:t>
            </a:r>
          </a:p>
          <a:p>
            <a:pPr lvl="1">
              <a:lnSpc>
                <a:spcPts val="3000"/>
              </a:lnSpc>
            </a:pP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B17A7646-77F3-2568-68C1-545F7C189BE6}"/>
              </a:ext>
            </a:extLst>
          </p:cNvPr>
          <p:cNvSpPr txBox="1"/>
          <p:nvPr/>
        </p:nvSpPr>
        <p:spPr>
          <a:xfrm>
            <a:off x="1787236" y="6384072"/>
            <a:ext cx="580228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[5] https://github.com/hamsternz/Artix-7-HDMI-processing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74629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pPr algn="l" fontAlgn="t"/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AX7103 — HDMI to PCIe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定位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整合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影像處理、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DDR3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影格緩衝與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PCIe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，並提供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Windows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端影格讀取程式</a:t>
            </a:r>
          </a:p>
          <a:p>
            <a:pPr lvl="1">
              <a:lnSpc>
                <a:spcPts val="3000"/>
              </a:lnSpc>
            </a:pP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20227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4" name="圖片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57746" y="3004771"/>
            <a:ext cx="5556738" cy="84845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097165" name="Picture 2" descr="http://www.secretariat.ntust.edu.tw/ezfiles/20/1020/img/1688/09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64866" y="1628181"/>
            <a:ext cx="6260123" cy="118696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2097166" name="圖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3650" y="4226628"/>
            <a:ext cx="4266522" cy="93056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pPr algn="l" fontAlgn="t"/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AX7103 — HDMI to PCIe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D929304B-5341-8BBF-E71F-AF5F2FE7268A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定位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整合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HDMI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影像處理、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DDR3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影格緩衝與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PCIe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，並提供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Windows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端影格讀取程式</a:t>
            </a:r>
          </a:p>
          <a:p>
            <a:pPr>
              <a:lnSpc>
                <a:spcPts val="3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開發環境與硬體</a:t>
            </a:r>
          </a:p>
          <a:p>
            <a:pPr lvl="1">
              <a:lnSpc>
                <a:spcPts val="3000"/>
              </a:lnSpc>
            </a:pP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FPGA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Artix-7 XC7A100T-2FGG484</a:t>
            </a: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工具：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Vivado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2017.2</a:t>
            </a:r>
          </a:p>
          <a:p>
            <a:pPr lvl="1">
              <a:lnSpc>
                <a:spcPts val="3000"/>
              </a:lnSpc>
            </a:pP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IP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Xilinx XDMA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7-Series MIG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AXI interconnect</a:t>
            </a:r>
            <a:endParaRPr lang="zh-TW" altLang="en-US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B17A7646-77F3-2568-68C1-545F7C189BE6}"/>
              </a:ext>
            </a:extLst>
          </p:cNvPr>
          <p:cNvSpPr txBox="1"/>
          <p:nvPr/>
        </p:nvSpPr>
        <p:spPr>
          <a:xfrm>
            <a:off x="1787236" y="6384072"/>
            <a:ext cx="580228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[4] https://github.com/alinxalinx/AX7103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8EBB8F2-B13C-7F8E-D58E-480C51DE98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469" y="2584935"/>
            <a:ext cx="8445062" cy="1030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097472"/>
      </p:ext>
    </p:extLst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325623</TotalTime>
  <Words>945</Words>
  <Application>Microsoft Office PowerPoint</Application>
  <PresentationFormat>A4 紙張 (210x297 公釐)</PresentationFormat>
  <Paragraphs>195</Paragraphs>
  <Slides>12</Slides>
  <Notes>12</Notes>
  <HiddenSlides>1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7" baseType="lpstr">
      <vt:lpstr>Noto Sans Symbols</vt:lpstr>
      <vt:lpstr>標楷體</vt:lpstr>
      <vt:lpstr>Arial</vt:lpstr>
      <vt:lpstr>Times New Roman</vt:lpstr>
      <vt:lpstr>template</vt:lpstr>
      <vt:lpstr>Progress Report</vt:lpstr>
      <vt:lpstr>上次進度: 軟體校正結果</vt:lpstr>
      <vt:lpstr>上次進度: 軟體校正結果</vt:lpstr>
      <vt:lpstr>本次進度: Video Capture Card</vt:lpstr>
      <vt:lpstr>本次進度: NeTV2 - FPGA</vt:lpstr>
      <vt:lpstr>本次進度: LitePCIe</vt:lpstr>
      <vt:lpstr>本次進度: LiteX </vt:lpstr>
      <vt:lpstr>本次進度: Xilinx-FPGA-PCIe-XDMA-Tutorial</vt:lpstr>
      <vt:lpstr>本次進度: Artix-7-HDMI-processing</vt:lpstr>
      <vt:lpstr>本次進度: AX7103 — HDMI to PCIe</vt:lpstr>
      <vt:lpstr>PowerPoint 簡報</vt:lpstr>
      <vt:lpstr>本次進度: AX7103 — HDMI to PCIe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Embedded CMOS Image Sensor System Design and Implementation</dc:title>
  <dc:creator>mblin</dc:creator>
  <cp:lastModifiedBy>user</cp:lastModifiedBy>
  <cp:revision>3200</cp:revision>
  <dcterms:created xsi:type="dcterms:W3CDTF">2003-02-17T16:04:03Z</dcterms:created>
  <dcterms:modified xsi:type="dcterms:W3CDTF">2026-10-16T07:48:58Z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c323e086d3b141ca89c275423e00507f</vt:lpwstr>
  </property>
</Properties>
</file>