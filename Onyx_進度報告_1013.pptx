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4"/>
  </p:notesMasterIdLst>
  <p:sldIdLst>
    <p:sldId id="277" r:id="rId2"/>
    <p:sldId id="2022" r:id="rId3"/>
    <p:sldId id="2024" r:id="rId4"/>
    <p:sldId id="2025" r:id="rId5"/>
    <p:sldId id="2032" r:id="rId6"/>
    <p:sldId id="2034" r:id="rId7"/>
    <p:sldId id="2035" r:id="rId8"/>
    <p:sldId id="2037" r:id="rId9"/>
    <p:sldId id="2038" r:id="rId10"/>
    <p:sldId id="2039" r:id="rId11"/>
    <p:sldId id="286" r:id="rId12"/>
    <p:sldId id="2036" r:id="rId13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22"/>
            <p14:sldId id="2024"/>
          </p14:sldIdLst>
        </p14:section>
        <p14:section name="Video Capture Card" id="{FA8538CB-EEBB-42F8-BEE8-82DA04CEC9C1}">
          <p14:sldIdLst>
            <p14:sldId id="2025"/>
            <p14:sldId id="2032"/>
            <p14:sldId id="2034"/>
            <p14:sldId id="2035"/>
            <p14:sldId id="2037"/>
            <p14:sldId id="2038"/>
            <p14:sldId id="2039"/>
          </p14:sldIdLst>
        </p14:section>
        <p14:section name="End" id="{33EEDC85-A799-4CB3-BF13-F4955B8630BE}">
          <p14:sldIdLst>
            <p14:sldId id="286"/>
            <p14:sldId id="20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369" autoAdjust="0"/>
  </p:normalViewPr>
  <p:slideViewPr>
    <p:cSldViewPr snapToGrid="0">
      <p:cViewPr varScale="1">
        <p:scale>
          <a:sx n="81" d="100"/>
          <a:sy n="81" d="100"/>
        </p:scale>
        <p:origin x="1728" y="5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4330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49043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/>
              <a:t>FPGA HDMI RX</a:t>
            </a:r>
            <a:r>
              <a:rPr lang="zh-TW" altLang="en-US" dirty="0"/>
              <a:t>：</a:t>
            </a:r>
            <a:r>
              <a:rPr lang="en-US" altLang="zh-TW" dirty="0"/>
              <a:t>TMDS </a:t>
            </a:r>
            <a:r>
              <a:rPr lang="zh-TW" altLang="en-US" dirty="0"/>
              <a:t>解碼、辨識有效像素、輸出標準像素資料</a:t>
            </a:r>
            <a:r>
              <a:rPr lang="en-US" altLang="zh-TW" dirty="0"/>
              <a:t>(pixel data</a:t>
            </a:r>
            <a:r>
              <a:rPr lang="zh-TW" altLang="en-US" dirty="0"/>
              <a:t>、</a:t>
            </a:r>
            <a:r>
              <a:rPr lang="en-US" altLang="zh-TW" dirty="0"/>
              <a:t>HSYNC</a:t>
            </a:r>
            <a:r>
              <a:rPr lang="zh-TW" altLang="en-US" dirty="0"/>
              <a:t>、</a:t>
            </a:r>
            <a:r>
              <a:rPr lang="en-US" altLang="zh-TW" dirty="0"/>
              <a:t>VSYNC)</a:t>
            </a:r>
          </a:p>
          <a:p>
            <a:pPr marL="0" indent="0"/>
            <a:r>
              <a:rPr lang="en-US" altLang="zh-TW" dirty="0"/>
              <a:t>FIFO</a:t>
            </a:r>
            <a:r>
              <a:rPr lang="zh-TW" altLang="en-US" dirty="0"/>
              <a:t>／</a:t>
            </a:r>
            <a:r>
              <a:rPr lang="en-US" altLang="zh-TW" dirty="0"/>
              <a:t>DDR Frame Buffer</a:t>
            </a:r>
            <a:r>
              <a:rPr lang="zh-TW" altLang="en-US" dirty="0"/>
              <a:t>：跨時脈、影像緩衝</a:t>
            </a:r>
            <a:endParaRPr lang="en-US" altLang="zh-TW" dirty="0"/>
          </a:p>
          <a:p>
            <a:pPr marL="0" indent="0"/>
            <a:r>
              <a:rPr lang="en-US" altLang="zh-TW" dirty="0"/>
              <a:t>PCIe Endpoint</a:t>
            </a:r>
            <a:r>
              <a:rPr lang="zh-TW" altLang="en-US" dirty="0"/>
              <a:t>：讓 </a:t>
            </a:r>
            <a:r>
              <a:rPr lang="en-US" altLang="zh-TW" dirty="0"/>
              <a:t>FPGA </a:t>
            </a:r>
            <a:r>
              <a:rPr lang="zh-TW" altLang="en-US" dirty="0"/>
              <a:t>成為 </a:t>
            </a:r>
            <a:r>
              <a:rPr lang="en-US" altLang="zh-TW" dirty="0"/>
              <a:t>PC </a:t>
            </a:r>
            <a:r>
              <a:rPr lang="zh-TW" altLang="en-US" dirty="0"/>
              <a:t>可以辨識與存取的 </a:t>
            </a:r>
            <a:r>
              <a:rPr lang="en-US" altLang="zh-TW" dirty="0"/>
              <a:t>PCIe </a:t>
            </a:r>
            <a:r>
              <a:rPr lang="zh-TW" altLang="en-US" dirty="0"/>
              <a:t>裝置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54904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736900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06456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FPGA </a:t>
            </a:r>
            <a:r>
              <a:rPr lang="zh-TW" altLang="en-US" dirty="0"/>
              <a:t>系統 </a:t>
            </a:r>
            <a:r>
              <a:rPr lang="en-US" altLang="zh-TW" dirty="0"/>
              <a:t>framework</a:t>
            </a:r>
          </a:p>
          <a:p>
            <a:r>
              <a:rPr lang="zh-TW" altLang="en-US" dirty="0"/>
              <a:t>連接模組（系統整合）： 決定哪些模組要連接，以及如何組成完整系統。</a:t>
            </a:r>
          </a:p>
          <a:p>
            <a:r>
              <a:rPr lang="zh-TW" altLang="en-US" dirty="0"/>
              <a:t>連接介面（通訊規則）： 規定模組連接後，如何交換資料、位址、控制訊號，以及如何協調傳輸。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3705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altLang="zh-TW" dirty="0"/>
              <a:t>HDMI </a:t>
            </a:r>
            <a:r>
              <a:rPr lang="zh-TW" altLang="en-US" dirty="0"/>
              <a:t>影格緩衝、</a:t>
            </a:r>
            <a:r>
              <a:rPr lang="en-US" altLang="zh-TW" dirty="0"/>
              <a:t>DDR3</a:t>
            </a:r>
            <a:r>
              <a:rPr lang="zh-TW" altLang="en-US" dirty="0"/>
              <a:t>／</a:t>
            </a:r>
            <a:r>
              <a:rPr lang="en-US" altLang="zh-TW" dirty="0"/>
              <a:t>AXI </a:t>
            </a:r>
            <a:r>
              <a:rPr lang="zh-TW" altLang="en-US" dirty="0"/>
              <a:t>記憶體整合、廠商 </a:t>
            </a:r>
            <a:r>
              <a:rPr lang="en-US" altLang="zh-TW" dirty="0"/>
              <a:t>PCIe IP </a:t>
            </a:r>
            <a:r>
              <a:rPr lang="zh-TW" altLang="en-US" dirty="0"/>
              <a:t>與 </a:t>
            </a:r>
            <a:r>
              <a:rPr lang="en-US" altLang="zh-TW" dirty="0"/>
              <a:t>PC </a:t>
            </a:r>
            <a:r>
              <a:rPr lang="zh-TW" altLang="en-US" dirty="0"/>
              <a:t>軟體介面的整體架構。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22149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altLang="zh-TW" dirty="0"/>
              <a:t>HDMI </a:t>
            </a:r>
            <a:r>
              <a:rPr lang="zh-TW" altLang="en-US" dirty="0"/>
              <a:t>影格緩衝、</a:t>
            </a:r>
            <a:r>
              <a:rPr lang="en-US" altLang="zh-TW" dirty="0"/>
              <a:t>DDR3</a:t>
            </a:r>
            <a:r>
              <a:rPr lang="zh-TW" altLang="en-US" dirty="0"/>
              <a:t>／</a:t>
            </a:r>
            <a:r>
              <a:rPr lang="en-US" altLang="zh-TW" dirty="0"/>
              <a:t>AXI </a:t>
            </a:r>
            <a:r>
              <a:rPr lang="zh-TW" altLang="en-US" dirty="0"/>
              <a:t>記憶體整合、廠商 </a:t>
            </a:r>
            <a:r>
              <a:rPr lang="en-US" altLang="zh-TW" dirty="0"/>
              <a:t>PCIe IP </a:t>
            </a:r>
            <a:r>
              <a:rPr lang="zh-TW" altLang="en-US" dirty="0"/>
              <a:t>與 </a:t>
            </a:r>
            <a:r>
              <a:rPr lang="en-US" altLang="zh-TW" dirty="0"/>
              <a:t>PC </a:t>
            </a:r>
            <a:r>
              <a:rPr lang="zh-TW" altLang="en-US" dirty="0"/>
              <a:t>軟體介面的整體架構。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07704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altLang="zh-TW" dirty="0"/>
              <a:t>HDMI </a:t>
            </a:r>
            <a:r>
              <a:rPr lang="zh-TW" altLang="en-US" dirty="0"/>
              <a:t>影格緩衝、</a:t>
            </a:r>
            <a:r>
              <a:rPr lang="en-US" altLang="zh-TW" dirty="0"/>
              <a:t>DDR3</a:t>
            </a:r>
            <a:r>
              <a:rPr lang="zh-TW" altLang="en-US" dirty="0"/>
              <a:t>／</a:t>
            </a:r>
            <a:r>
              <a:rPr lang="en-US" altLang="zh-TW" dirty="0"/>
              <a:t>AXI </a:t>
            </a:r>
            <a:r>
              <a:rPr lang="zh-TW" altLang="en-US" dirty="0"/>
              <a:t>記憶體整合、廠商 </a:t>
            </a:r>
            <a:r>
              <a:rPr lang="en-US" altLang="zh-TW" dirty="0"/>
              <a:t>PCIe IP </a:t>
            </a:r>
            <a:r>
              <a:rPr lang="zh-TW" altLang="en-US" dirty="0"/>
              <a:t>與 </a:t>
            </a:r>
            <a:r>
              <a:rPr lang="en-US" altLang="zh-TW" dirty="0"/>
              <a:t>PC </a:t>
            </a:r>
            <a:r>
              <a:rPr lang="zh-TW" altLang="en-US" dirty="0"/>
              <a:t>軟體介面的整體架構。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1584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altLang="zh-TW" dirty="0"/>
              <a:t>HDMI </a:t>
            </a:r>
            <a:r>
              <a:rPr lang="zh-TW" altLang="en-US" dirty="0"/>
              <a:t>影格緩衝、</a:t>
            </a:r>
            <a:r>
              <a:rPr lang="en-US" altLang="zh-TW" dirty="0"/>
              <a:t>DDR3</a:t>
            </a:r>
            <a:r>
              <a:rPr lang="zh-TW" altLang="en-US" dirty="0"/>
              <a:t>／</a:t>
            </a:r>
            <a:r>
              <a:rPr lang="en-US" altLang="zh-TW" dirty="0"/>
              <a:t>AXI </a:t>
            </a:r>
            <a:r>
              <a:rPr lang="zh-TW" altLang="en-US" dirty="0"/>
              <a:t>記憶體整合、廠商 </a:t>
            </a:r>
            <a:r>
              <a:rPr lang="en-US" altLang="zh-TW" dirty="0"/>
              <a:t>PCIe IP </a:t>
            </a:r>
            <a:r>
              <a:rPr lang="zh-TW" altLang="en-US" dirty="0"/>
              <a:t>與 </a:t>
            </a:r>
            <a:r>
              <a:rPr lang="en-US" altLang="zh-TW" dirty="0"/>
              <a:t>PC </a:t>
            </a:r>
            <a:r>
              <a:rPr lang="zh-TW" altLang="en-US" dirty="0"/>
              <a:t>軟體介面的整體架構。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64392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螢幕：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DP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1080P)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E1D31DB3-F9C5-1A79-A106-241D304FB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227025"/>
              </p:ext>
            </p:extLst>
          </p:nvPr>
        </p:nvGraphicFramePr>
        <p:xfrm>
          <a:off x="2194168" y="2355145"/>
          <a:ext cx="4908067" cy="402025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7265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86890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486956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  <a:gridCol w="1486956">
                  <a:extLst>
                    <a:ext uri="{9D8B030D-6E8A-4147-A177-3AD203B41FA5}">
                      <a16:colId xmlns:a16="http://schemas.microsoft.com/office/drawing/2014/main" val="793740652"/>
                    </a:ext>
                  </a:extLst>
                </a:gridCol>
              </a:tblGrid>
              <a:tr h="31006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Gamma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色溫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量測色溫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</a:rPr>
                        <a:t>256</a:t>
                      </a:r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1.8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5352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6419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9046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2.0</a:t>
                      </a: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5351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6545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9045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2.2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5314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6452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9047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2.6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5404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6544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9048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607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螢幕：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CH7513A011)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A35A7D0E-9FC1-7B36-C15E-0626CB377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005415"/>
              </p:ext>
            </p:extLst>
          </p:nvPr>
        </p:nvGraphicFramePr>
        <p:xfrm>
          <a:off x="2308861" y="2370676"/>
          <a:ext cx="5288277" cy="40030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90530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90530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1024717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010079">
                  <a:extLst>
                    <a:ext uri="{9D8B030D-6E8A-4147-A177-3AD203B41FA5}">
                      <a16:colId xmlns:a16="http://schemas.microsoft.com/office/drawing/2014/main" val="3439045141"/>
                    </a:ext>
                  </a:extLst>
                </a:gridCol>
                <a:gridCol w="1472421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Gamma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量測色溫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256</a:t>
                      </a:r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時間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5346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6628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10:31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6587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1.98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5381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6472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2.57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6608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12:23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1194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/>
              <a:t>Video Capture Card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033F0CBC-B216-A52F-8C2C-837CAED2E514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研究目的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尋找相關開源專案，了解現有技術與實作成果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調查各專案使用的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、開發板、框架與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比較不同開源生態，作為後續技術選型的依據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目標架構概念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803CDD84-5AF2-EE5D-D012-4A7CEED12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10" y="3692363"/>
            <a:ext cx="9046779" cy="98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52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- FPGA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808717" cy="5448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Migen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建構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硬體系統，實作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影像輸入、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緩衝、影像合成與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晶片與硬體型號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晶片：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 Xilinx Artix-7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開發框架：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Migen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軟處理器：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VexRiscv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32C77ABA-12F8-A5D2-5620-8E0F1595DD0B}"/>
              </a:ext>
            </a:extLst>
          </p:cNvPr>
          <p:cNvGrpSpPr/>
          <p:nvPr/>
        </p:nvGrpSpPr>
        <p:grpSpPr>
          <a:xfrm>
            <a:off x="6588117" y="4448345"/>
            <a:ext cx="2342521" cy="1935727"/>
            <a:chOff x="7123226" y="4254922"/>
            <a:chExt cx="2342521" cy="1935727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DA2311F8-59E5-9BD1-61E4-EFD0C55B1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23226" y="4254922"/>
              <a:ext cx="2342521" cy="1597173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2B6339F-8DE4-9D14-F9FF-DF0F45E24E3B}"/>
                </a:ext>
              </a:extLst>
            </p:cNvPr>
            <p:cNvSpPr/>
            <p:nvPr/>
          </p:nvSpPr>
          <p:spPr>
            <a:xfrm>
              <a:off x="7758868" y="5852095"/>
              <a:ext cx="1372492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NeTV2</a:t>
              </a:r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FPGA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EAFBC87-C885-2332-5B2E-C15A86786327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https://github.com/AlphamaxMedia/netv2-fpga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5B7A07D7-CDAD-33A8-75F3-807976AADE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003" y="2946227"/>
            <a:ext cx="7485993" cy="95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968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功能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DMA Writer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資料寫入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主機記憶體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 Endpoint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與傳輸架構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Linux Driver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對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擷取卡的幫助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可將研究重點集中在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影像串流與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的整合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可參考既有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Linux Driver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有助於降低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端驅動程式的開發負擔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7EF7B95-B380-F6CA-F173-DA760D763252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https://github.com/enjoy-digital/litepcie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7C9DEB2B-F85F-1C98-F138-BF7DBF812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2" y="4410680"/>
            <a:ext cx="8686796" cy="96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84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Python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描述與整合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硬體模組，建立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設計，並支援產生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與呼叫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建置工具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功能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組合處理器、記憶體、匯流排及周邊模組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Wishbone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AXI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等互連機制，以及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Streams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可搭配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LiteEth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等生態系模組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流程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8BF237-AE2C-BCBD-03CB-07C643D7BB9F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https://github.com/enjoy-digital/litex?utm_source=chatgpt.com</a:t>
            </a:r>
          </a:p>
        </p:txBody>
      </p:sp>
    </p:spTree>
    <p:extLst>
      <p:ext uri="{BB962C8B-B14F-4D97-AF65-F5344CB8AC3E}">
        <p14:creationId xmlns:p14="http://schemas.microsoft.com/office/powerpoint/2010/main" val="3075961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Xilinx-FPGA-PCIe-XDMA-Tutorial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https://github.com/WangXuan95/Xilinx-FPGA-PCIe-XDMA-Tutorial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781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Artix-7-HDMI-processing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[5] https://github.com/hamsternz/Artix-7-HDMI-processing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62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AX7103 — HDMI to PCIe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022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AX7103 — HDMI to PCIe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開發環境與硬體</a:t>
            </a: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Artix-7 XC7A100T-2FGG484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工具：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Vivado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2017.2</a:t>
            </a: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XDMA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7-Series MIG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AXI interconnect</a:t>
            </a:r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https://github.com/alinxalinx/AX7103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8EBB8F2-B13C-7F8E-D58E-480C51DE9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69" y="2584935"/>
            <a:ext cx="8445062" cy="103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097472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325617</TotalTime>
  <Words>945</Words>
  <Application>Microsoft Office PowerPoint</Application>
  <PresentationFormat>A4 紙張 (210x297 公釐)</PresentationFormat>
  <Paragraphs>195</Paragraphs>
  <Slides>12</Slides>
  <Notes>12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Noto Sans Symbols</vt:lpstr>
      <vt:lpstr>標楷體</vt:lpstr>
      <vt:lpstr>Arial</vt:lpstr>
      <vt:lpstr>Times New Roman</vt:lpstr>
      <vt:lpstr>template</vt:lpstr>
      <vt:lpstr>Progress Report</vt:lpstr>
      <vt:lpstr>上次進度: 軟體校正結果</vt:lpstr>
      <vt:lpstr>上次進度: 軟體校正結果</vt:lpstr>
      <vt:lpstr>本次進度: Video Capture Card</vt:lpstr>
      <vt:lpstr>本次進度: NeTV2 - FPGA</vt:lpstr>
      <vt:lpstr>本次進度: LitePCIe</vt:lpstr>
      <vt:lpstr>本次進度: LiteX </vt:lpstr>
      <vt:lpstr>本次進度: Xilinx-FPGA-PCIe-XDMA-Tutorial</vt:lpstr>
      <vt:lpstr>本次進度: Artix-7-HDMI-processing</vt:lpstr>
      <vt:lpstr>本次進度: AX7103 — HDMI to PCIe</vt:lpstr>
      <vt:lpstr>PowerPoint 簡報</vt:lpstr>
      <vt:lpstr>本次進度: AX7103 — HDMI to PCIe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3199</cp:revision>
  <dcterms:created xsi:type="dcterms:W3CDTF">2003-02-17T16:04:03Z</dcterms:created>
  <dcterms:modified xsi:type="dcterms:W3CDTF">2026-10-15T10:53:29Z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