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1"/>
  </p:notesMasterIdLst>
  <p:sldIdLst>
    <p:sldId id="277" r:id="rId2"/>
    <p:sldId id="2048" r:id="rId3"/>
    <p:sldId id="2035" r:id="rId4"/>
    <p:sldId id="2043" r:id="rId5"/>
    <p:sldId id="2044" r:id="rId6"/>
    <p:sldId id="2045" r:id="rId7"/>
    <p:sldId id="2047" r:id="rId8"/>
    <p:sldId id="2046" r:id="rId9"/>
    <p:sldId id="286" r:id="rId10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上次進度" id="{7189DFBE-4EEB-4F74-853B-C02E818AF80E}">
          <p14:sldIdLst>
            <p14:sldId id="2048"/>
          </p14:sldIdLst>
        </p14:section>
        <p14:section name="Video Capture Card" id="{FA8538CB-EEBB-42F8-BEE8-82DA04CEC9C1}">
          <p14:sldIdLst>
            <p14:sldId id="2035"/>
            <p14:sldId id="2043"/>
            <p14:sldId id="2044"/>
            <p14:sldId id="2045"/>
            <p14:sldId id="2047"/>
            <p14:sldId id="2046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B050"/>
    <a:srgbClr val="0057C0"/>
    <a:srgbClr val="FFC000"/>
    <a:srgbClr val="FFFFFF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7CE84F3-28C3-443E-9E96-99CF82512B78}" styleName="深色樣式 1 - 輔色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6" autoAdjust="0"/>
    <p:restoredTop sz="84252" autoAdjust="0"/>
  </p:normalViewPr>
  <p:slideViewPr>
    <p:cSldViewPr snapToGrid="0">
      <p:cViewPr>
        <p:scale>
          <a:sx n="100" d="100"/>
          <a:sy n="100" d="100"/>
        </p:scale>
        <p:origin x="619" y="-1301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10208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25277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4694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並沒有找到開發版在支援</a:t>
            </a:r>
            <a:r>
              <a:rPr lang="en-US" altLang="zh-TW" dirty="0" err="1"/>
              <a:t>LiteX</a:t>
            </a:r>
            <a:r>
              <a:rPr lang="zh-TW" altLang="en-US" dirty="0"/>
              <a:t>的同時也支援</a:t>
            </a:r>
            <a:r>
              <a:rPr lang="en-US" altLang="zh-TW" dirty="0"/>
              <a:t>SDI</a:t>
            </a:r>
            <a:r>
              <a:rPr lang="zh-TW" altLang="en-US" dirty="0"/>
              <a:t> </a:t>
            </a:r>
            <a:r>
              <a:rPr lang="en-US" altLang="zh-TW" dirty="0"/>
              <a:t>HDMI</a:t>
            </a:r>
            <a:r>
              <a:rPr lang="zh-TW" altLang="en-US" dirty="0"/>
              <a:t> </a:t>
            </a:r>
            <a:r>
              <a:rPr lang="en-US" altLang="zh-TW" dirty="0"/>
              <a:t>PCIE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730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除了</a:t>
            </a:r>
            <a:r>
              <a:rPr lang="en-US" altLang="zh-TW" dirty="0"/>
              <a:t>HDMI</a:t>
            </a:r>
            <a:r>
              <a:rPr lang="zh-TW" altLang="en-US" dirty="0"/>
              <a:t> </a:t>
            </a:r>
            <a:r>
              <a:rPr lang="en-US" altLang="zh-TW" dirty="0"/>
              <a:t>PCIe</a:t>
            </a:r>
            <a:r>
              <a:rPr lang="zh-TW" altLang="en-US" dirty="0"/>
              <a:t>外，</a:t>
            </a:r>
            <a:r>
              <a:rPr lang="en-US" altLang="zh-TW" dirty="0"/>
              <a:t>NeTV2</a:t>
            </a:r>
            <a:r>
              <a:rPr lang="zh-TW" altLang="en-US" dirty="0"/>
              <a:t>能使用的外部介面如下，能使用的 </a:t>
            </a:r>
            <a:r>
              <a:rPr lang="en-US" altLang="zh-TW" dirty="0"/>
              <a:t>IO</a:t>
            </a:r>
            <a:r>
              <a:rPr lang="zh-TW" altLang="en-US" dirty="0"/>
              <a:t> 只剩下支援 </a:t>
            </a:r>
            <a:r>
              <a:rPr lang="zh-TW" altLang="zh-TW" sz="1200" dirty="0"/>
              <a:t>Raspberry Pi</a:t>
            </a:r>
            <a:r>
              <a:rPr lang="zh-TW" altLang="en-US" sz="1200" dirty="0"/>
              <a:t> 的 </a:t>
            </a:r>
            <a:r>
              <a:rPr lang="en-US" altLang="zh-TW" sz="1200" dirty="0"/>
              <a:t>20</a:t>
            </a:r>
            <a:r>
              <a:rPr lang="zh-TW" altLang="en-US" sz="1200" dirty="0"/>
              <a:t>個角位的</a:t>
            </a:r>
            <a:r>
              <a:rPr lang="zh-TW" altLang="en-US" dirty="0"/>
              <a:t> </a:t>
            </a:r>
            <a:r>
              <a:rPr lang="en-US" altLang="zh-TW" dirty="0"/>
              <a:t>JTAG</a:t>
            </a:r>
            <a:r>
              <a:rPr lang="zh-TW" altLang="en-US" dirty="0"/>
              <a:t> </a:t>
            </a:r>
            <a:r>
              <a:rPr lang="en-US" altLang="zh-TW" dirty="0"/>
              <a:t>UART</a:t>
            </a:r>
            <a:r>
              <a:rPr lang="zh-TW" altLang="en-US" dirty="0"/>
              <a:t> 等等，但這些腳位基本上無法接收 </a:t>
            </a:r>
            <a:r>
              <a:rPr lang="en-US" altLang="zh-TW" dirty="0"/>
              <a:t>SDI</a:t>
            </a:r>
            <a:r>
              <a:rPr lang="zh-TW" altLang="en-US" dirty="0"/>
              <a:t> 訊號，速度與腳位數量嚴重不足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1328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3640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E527B-4000-F206-6AFC-75F0676BC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6931088-1022-C7B4-813F-6A8020181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B6387F7-7876-4588-C9D5-16BE657D6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zh-TW" b="1" dirty="0"/>
              <a:t>HDMI 接口差分線根本沒有連到普通 I/O</a:t>
            </a:r>
            <a:r>
              <a:rPr lang="zh-TW" altLang="zh-TW" dirty="0"/>
              <a:t>，而是直接焊進了 UltraScale+ 的 </a:t>
            </a:r>
            <a:r>
              <a:rPr lang="zh-TW" altLang="zh-TW" b="1" dirty="0"/>
              <a:t>GTH 專用高速收發器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188A1F-349F-2C87-FF3E-E7B458B632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5958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04A74-706F-9409-1881-C76580330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2D93E6D-88B0-9A32-620E-1457EDADC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FD021DC-A751-D308-6E79-769C792F7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altLang="zh-TW" dirty="0"/>
              <a:t>RX</a:t>
            </a:r>
            <a:r>
              <a:rPr lang="zh-TW" altLang="en-US" dirty="0"/>
              <a:t> 前端硬體設計不做解碼，只做</a:t>
            </a:r>
            <a:r>
              <a:rPr lang="zh-TW" altLang="zh-TW" dirty="0"/>
              <a:t>訊號</a:t>
            </a:r>
            <a:r>
              <a:rPr lang="zh-TW" altLang="en-US" dirty="0"/>
              <a:t>整理</a:t>
            </a:r>
            <a:endParaRPr lang="en-US" altLang="zh-TW" dirty="0"/>
          </a:p>
          <a:p>
            <a:pPr marL="0" indent="0"/>
            <a:r>
              <a:rPr lang="zh-TW" altLang="zh-TW" dirty="0"/>
              <a:t>GT（Gigabit Transceiver）是 Xilinx FPGA 內部的高速收發器硬體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57B7D5-F5D6-5C3C-E662-21C60AA106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26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E527B-4000-F206-6AFC-75F0676BC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6931088-1022-C7B4-813F-6A8020181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B6387F7-7876-4588-C9D5-16BE657D6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188A1F-349F-2C87-FF3E-E7B458B632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6504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54148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BO-CHENG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algn="l"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vs Xilinx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4">
            <a:extLst>
              <a:ext uri="{FF2B5EF4-FFF2-40B4-BE49-F238E27FC236}">
                <a16:creationId xmlns:a16="http://schemas.microsoft.com/office/drawing/2014/main" id="{2F468073-8B22-0D86-8A37-A66504FC4DC7}"/>
              </a:ext>
            </a:extLst>
          </p:cNvPr>
          <p:cNvGraphicFramePr>
            <a:graphicFrameLocks noGrp="1"/>
          </p:cNvGraphicFramePr>
          <p:nvPr/>
        </p:nvGraphicFramePr>
        <p:xfrm>
          <a:off x="1074253" y="1334356"/>
          <a:ext cx="7757493" cy="46290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26254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2401086">
                  <a:extLst>
                    <a:ext uri="{9D8B030D-6E8A-4147-A177-3AD203B41FA5}">
                      <a16:colId xmlns:a16="http://schemas.microsoft.com/office/drawing/2014/main" val="1964622646"/>
                    </a:ext>
                  </a:extLst>
                </a:gridCol>
                <a:gridCol w="2830153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</a:tblGrid>
              <a:tr h="7015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流程階段</a:t>
                      </a:r>
                    </a:p>
                  </a:txBody>
                  <a:tcPr marL="135569" marR="135569" marT="67784" marB="677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LiteX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生態</a:t>
                      </a:r>
                    </a:p>
                  </a:txBody>
                  <a:tcPr marL="135569" marR="135569" marT="67784" marB="677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Xilinx </a:t>
                      </a:r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生態</a:t>
                      </a:r>
                    </a:p>
                  </a:txBody>
                  <a:tcPr marL="135569" marR="135569" marT="67784" marB="67784" anchor="ctr"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747566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系統需求與平台選擇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FPGA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開發板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IP</a:t>
                      </a: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FPGA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開發板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IP</a:t>
                      </a:r>
                    </a:p>
                  </a:txBody>
                  <a:tcPr marL="10404" marR="10404" marT="10404" marB="0" anchor="ctr"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93719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系統建構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LiteX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Python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RTL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IP Catalog</a:t>
                      </a:r>
                    </a:p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IP Integrate</a:t>
                      </a:r>
                    </a:p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RTL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7475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HDL 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生成</a:t>
                      </a:r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LiteX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Vivado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7475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Syn. / Imp.</a:t>
                      </a:r>
                      <a:endParaRPr lang="zh-TW" alt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60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LiteX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Vivado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extLst>
                  <a:ext uri="{0D108BD9-81ED-4DB2-BD59-A6C34878D82A}">
                    <a16:rowId xmlns:a16="http://schemas.microsoft.com/office/drawing/2014/main" val="4100677602"/>
                  </a:ext>
                </a:extLst>
              </a:tr>
              <a:tr h="747566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硬體驗證</a:t>
                      </a:r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Bitstream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FPGA 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實際測試</a:t>
                      </a: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Bitstream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FPGA 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實際測試</a:t>
                      </a:r>
                    </a:p>
                  </a:txBody>
                  <a:tcPr marL="10404" marR="10404" marT="10404" marB="0" anchor="ctr"/>
                </a:tc>
                <a:extLst>
                  <a:ext uri="{0D108BD9-81ED-4DB2-BD59-A6C34878D82A}">
                    <a16:rowId xmlns:a16="http://schemas.microsoft.com/office/drawing/2014/main" val="1817583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153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/ SDI 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2266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 to HDMI Converter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優點：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降低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高速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接收端的整合難度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缺點：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轉換器可能改變原始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資料或出現延遲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 Daughter Board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優點：能直接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控制資料格式及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內的影像處理流程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挑戰：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需要處理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Daughter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Board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的配置、時脈同步、資料打包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05EF1C4-9174-257C-33EF-3BA1680CC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176" y="2848183"/>
            <a:ext cx="8257250" cy="86885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4C28CC9-9244-AB58-A335-4D4EFA3A4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175" y="5492307"/>
            <a:ext cx="8257251" cy="86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23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NeTV2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zh-TW" sz="2000" dirty="0"/>
              <a:t>External Interfaces </a:t>
            </a:r>
            <a:endParaRPr lang="en-US" altLang="zh-TW" sz="2000" dirty="0"/>
          </a:p>
          <a:p>
            <a:pPr lvl="1">
              <a:lnSpc>
                <a:spcPts val="3000"/>
              </a:lnSpc>
            </a:pPr>
            <a:r>
              <a:rPr lang="zh-TW" altLang="zh-TW" sz="1600" dirty="0"/>
              <a:t>2 x HDMI type A inputs, 1 x HDMI type A output, 1 x HDMI type D output</a:t>
            </a:r>
            <a:endParaRPr lang="en-US" altLang="zh-TW" sz="1600" dirty="0"/>
          </a:p>
          <a:p>
            <a:pPr lvl="1">
              <a:lnSpc>
                <a:spcPts val="3000"/>
              </a:lnSpc>
            </a:pPr>
            <a:r>
              <a:rPr lang="zh-TW" altLang="zh-TW" sz="1600" dirty="0"/>
              <a:t>PCI-express 2.0 x4</a:t>
            </a:r>
            <a:endParaRPr lang="en-US" altLang="zh-TW" sz="1600" dirty="0"/>
          </a:p>
          <a:p>
            <a:pPr lvl="1">
              <a:lnSpc>
                <a:spcPts val="3000"/>
              </a:lnSpc>
            </a:pPr>
            <a:r>
              <a:rPr lang="zh-TW" altLang="zh-TW" sz="1600" dirty="0"/>
              <a:t>100 Mbps Ethernet</a:t>
            </a:r>
            <a:endParaRPr lang="en-US" altLang="zh-TW" sz="1600" dirty="0"/>
          </a:p>
          <a:p>
            <a:pPr lvl="1">
              <a:lnSpc>
                <a:spcPts val="3000"/>
              </a:lnSpc>
            </a:pPr>
            <a:r>
              <a:rPr lang="zh-TW" altLang="zh-TW" sz="1600" dirty="0"/>
              <a:t>Full-size microSD</a:t>
            </a:r>
            <a:r>
              <a:rPr lang="en-US" altLang="zh-TW" sz="1600" dirty="0"/>
              <a:t> </a:t>
            </a:r>
            <a:r>
              <a:rPr lang="zh-TW" altLang="zh-TW" sz="1600" dirty="0"/>
              <a:t>/</a:t>
            </a:r>
            <a:r>
              <a:rPr lang="en-US" altLang="zh-TW" sz="1600" dirty="0"/>
              <a:t> </a:t>
            </a:r>
            <a:r>
              <a:rPr lang="zh-TW" altLang="zh-TW" sz="1600" dirty="0"/>
              <a:t>SD card slot</a:t>
            </a:r>
            <a:endParaRPr lang="en-US" altLang="zh-TW" sz="1600" dirty="0"/>
          </a:p>
          <a:p>
            <a:pPr lvl="1">
              <a:lnSpc>
                <a:spcPts val="3000"/>
              </a:lnSpc>
            </a:pPr>
            <a:r>
              <a:rPr lang="zh-TW" altLang="zh-TW" sz="1600" dirty="0"/>
              <a:t>Raspberry Pi </a:t>
            </a:r>
            <a:r>
              <a:rPr lang="en-US" altLang="zh-TW" sz="1600" dirty="0"/>
              <a:t>2</a:t>
            </a:r>
            <a:r>
              <a:rPr lang="zh-TW" altLang="zh-TW" sz="1600" dirty="0"/>
              <a:t>0-pin GPIO Header</a:t>
            </a:r>
            <a:endParaRPr lang="en-US" altLang="zh-TW" sz="1600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04CB93EC-70F9-C156-B0D6-865566297A52}"/>
              </a:ext>
            </a:extLst>
          </p:cNvPr>
          <p:cNvGrpSpPr/>
          <p:nvPr/>
        </p:nvGrpSpPr>
        <p:grpSpPr>
          <a:xfrm>
            <a:off x="4786971" y="2118206"/>
            <a:ext cx="4355484" cy="3518336"/>
            <a:chOff x="4919051" y="2311490"/>
            <a:chExt cx="4355484" cy="3518336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D05EC9F3-3B1F-0804-ABB2-FED1F8682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5337625" y="1892916"/>
              <a:ext cx="3518336" cy="4355484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30A8529-FFAB-930A-5539-9FFE9096171A}"/>
                </a:ext>
              </a:extLst>
            </p:cNvPr>
            <p:cNvSpPr/>
            <p:nvPr/>
          </p:nvSpPr>
          <p:spPr>
            <a:xfrm>
              <a:off x="7073900" y="4549140"/>
              <a:ext cx="1046480" cy="381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5642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NeTV2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RX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作為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子卡輸入通道之可行性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 與 HDMI 的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影像總資料量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相近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RX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除常駐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3.3V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上拉電阻外並無經過其他模組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3.3 V 直流偏壓與輸出電壓不一致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阻抗不匹配與高頻訊號反射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76975124-E8E3-08DF-BBB4-363F9CD7646B}"/>
              </a:ext>
            </a:extLst>
          </p:cNvPr>
          <p:cNvGrpSpPr/>
          <p:nvPr/>
        </p:nvGrpSpPr>
        <p:grpSpPr>
          <a:xfrm>
            <a:off x="2381518" y="3673366"/>
            <a:ext cx="4014181" cy="2575034"/>
            <a:chOff x="2791462" y="3600175"/>
            <a:chExt cx="3713480" cy="2382139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17EB3549-39B2-8D39-F9FE-F239173F6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306" r="7217" b="8181"/>
            <a:stretch>
              <a:fillRect/>
            </a:stretch>
          </p:blipFill>
          <p:spPr>
            <a:xfrm>
              <a:off x="2791462" y="3600175"/>
              <a:ext cx="3713480" cy="2382139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96711C8-3760-FF99-F549-AE06B8734FE4}"/>
                </a:ext>
              </a:extLst>
            </p:cNvPr>
            <p:cNvSpPr/>
            <p:nvPr/>
          </p:nvSpPr>
          <p:spPr>
            <a:xfrm>
              <a:off x="4684705" y="4781994"/>
              <a:ext cx="485610" cy="22909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90913244-4751-3518-901A-D963712D6AE5}"/>
              </a:ext>
            </a:extLst>
          </p:cNvPr>
          <p:cNvGrpSpPr/>
          <p:nvPr/>
        </p:nvGrpSpPr>
        <p:grpSpPr>
          <a:xfrm>
            <a:off x="6398874" y="1143000"/>
            <a:ext cx="2706477" cy="5105400"/>
            <a:chOff x="6730979" y="1143000"/>
            <a:chExt cx="2565419" cy="4839314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2A146F38-59DE-6890-C656-6D1C3D184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30979" y="1143000"/>
              <a:ext cx="2565419" cy="4839314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2F990E7-7D23-D5CC-3EF0-83A44E289218}"/>
                </a:ext>
              </a:extLst>
            </p:cNvPr>
            <p:cNvSpPr/>
            <p:nvPr/>
          </p:nvSpPr>
          <p:spPr>
            <a:xfrm>
              <a:off x="8355330" y="3752256"/>
              <a:ext cx="571500" cy="1834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C878286-817A-B7C1-0121-35FDAFDFC499}"/>
              </a:ext>
            </a:extLst>
          </p:cNvPr>
          <p:cNvSpPr txBox="1"/>
          <p:nvPr/>
        </p:nvSpPr>
        <p:spPr>
          <a:xfrm>
            <a:off x="1724628" y="6476050"/>
            <a:ext cx="7882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[1] </a:t>
            </a:r>
            <a:r>
              <a:rPr lang="zh-TW" altLang="en-US" dirty="0"/>
              <a:t>https://github.com/AlphamaxMedia/netv2-mainboard/blob/master/netv2mvp-pvt1.pdf</a:t>
            </a:r>
          </a:p>
        </p:txBody>
      </p:sp>
    </p:spTree>
    <p:extLst>
      <p:ext uri="{BB962C8B-B14F-4D97-AF65-F5344CB8AC3E}">
        <p14:creationId xmlns:p14="http://schemas.microsoft.com/office/powerpoint/2010/main" val="4108471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8BDF0-8203-5101-5AD7-8123D67D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EC9E0606-7D9A-7A5E-BEE9-FE41BD691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/ 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Xilinx ZCU106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F11FE19D-395D-C6BE-38FF-AD4C02E0FA80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優勢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可利用 LiteX 建立 SoC 基礎架構，減少部分底層開發工作</a:t>
            </a: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LiteDRAM、LitePCIe 等開源模組具有可重用的基礎實作</a:t>
            </a: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具備 HDMI、SDI 硬體資源及 PCIe 介面</a:t>
            </a: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劣勢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ts val="3000"/>
              </a:lnSpc>
            </a:pP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RX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RX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需要使用其他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外部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不一定能與 </a:t>
            </a:r>
            <a:r>
              <a:rPr lang="en-US" altLang="zh-TW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直接整合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尚未找到已驗證的完整開源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專案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，多項功能需要驗證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zh-TW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390F4142-C3C7-F585-A6E2-6A7697650EF6}"/>
              </a:ext>
            </a:extLst>
          </p:cNvPr>
          <p:cNvGrpSpPr/>
          <p:nvPr/>
        </p:nvGrpSpPr>
        <p:grpSpPr>
          <a:xfrm>
            <a:off x="6840638" y="1469257"/>
            <a:ext cx="2455760" cy="2186973"/>
            <a:chOff x="6986296" y="3782285"/>
            <a:chExt cx="2310101" cy="2057255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8F238F56-B6CF-6D88-8B04-5ED6E671C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86296" y="3782285"/>
              <a:ext cx="2310101" cy="1722787"/>
            </a:xfrm>
            <a:prstGeom prst="rect">
              <a:avLst/>
            </a:prstGeom>
          </p:spPr>
        </p:pic>
        <p:sp>
          <p:nvSpPr>
            <p:cNvPr id="7" name="文字方塊 10">
              <a:extLst>
                <a:ext uri="{FF2B5EF4-FFF2-40B4-BE49-F238E27FC236}">
                  <a16:creationId xmlns:a16="http://schemas.microsoft.com/office/drawing/2014/main" id="{40F7D8C0-1202-F756-2DCE-B5919BFE4893}"/>
                </a:ext>
              </a:extLst>
            </p:cNvPr>
            <p:cNvSpPr txBox="1"/>
            <p:nvPr/>
          </p:nvSpPr>
          <p:spPr>
            <a:xfrm>
              <a:off x="7344842" y="5505072"/>
              <a:ext cx="1951555" cy="3344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1"/>
              <a:r>
                <a:rPr lang="zh-TW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AMD Xilinx ZCU106</a:t>
              </a:r>
              <a:endPara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7C4AD534-891A-C466-C499-BCEB2486D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519" y="4687212"/>
            <a:ext cx="5631084" cy="161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476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5B238-6305-8C1D-F131-1131B383D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6">
            <a:extLst>
              <a:ext uri="{FF2B5EF4-FFF2-40B4-BE49-F238E27FC236}">
                <a16:creationId xmlns:a16="http://schemas.microsoft.com/office/drawing/2014/main" id="{C5A39396-0FC0-F873-8983-773643CFCFD9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可行性評估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Video-Example-Designs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開源專案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 HDMI RX 架構參考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目前在 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 Catalog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中所查詢到的 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RX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需要授權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SDI / HDMI 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前端電路可能影響 FPGA RX 的 GT、時鐘配置與 IP 整合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67EBDB1E-821A-915C-2DD3-F7DD8CB9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Xilinx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 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Xilinx ZCU106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D42232-1292-CDC2-3408-3F971FD6A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083" y="3429000"/>
            <a:ext cx="7315834" cy="247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60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8BDF0-8203-5101-5AD7-8123D67D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EC9E0606-7D9A-7A5E-BEE9-FE41BD691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Summary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24">
            <a:extLst>
              <a:ext uri="{FF2B5EF4-FFF2-40B4-BE49-F238E27FC236}">
                <a16:creationId xmlns:a16="http://schemas.microsoft.com/office/drawing/2014/main" id="{2BADAE84-E4AE-F6C6-4C30-2941BAB41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411007"/>
              </p:ext>
            </p:extLst>
          </p:nvPr>
        </p:nvGraphicFramePr>
        <p:xfrm>
          <a:off x="953686" y="1161291"/>
          <a:ext cx="7998628" cy="508710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99657">
                  <a:extLst>
                    <a:ext uri="{9D8B030D-6E8A-4147-A177-3AD203B41FA5}">
                      <a16:colId xmlns:a16="http://schemas.microsoft.com/office/drawing/2014/main" val="2418638751"/>
                    </a:ext>
                  </a:extLst>
                </a:gridCol>
                <a:gridCol w="1999657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1999657">
                  <a:extLst>
                    <a:ext uri="{9D8B030D-6E8A-4147-A177-3AD203B41FA5}">
                      <a16:colId xmlns:a16="http://schemas.microsoft.com/office/drawing/2014/main" val="1964622646"/>
                    </a:ext>
                  </a:extLst>
                </a:gridCol>
                <a:gridCol w="1999657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</a:tblGrid>
              <a:tr h="771501">
                <a:tc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35569" marR="135569" marT="67784" marB="677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NeTV2</a:t>
                      </a:r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混合</a:t>
                      </a:r>
                      <a:endParaRPr lang="zh-TW" altLang="en-US" sz="16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35569" marR="135569" marT="67784" marB="677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ZCU106 混合</a:t>
                      </a:r>
                      <a:endParaRPr lang="zh-TW" altLang="en-US" sz="16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35569" marR="135569" marT="67784" marB="677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ZCU106</a:t>
                      </a:r>
                      <a:r>
                        <a:rPr lang="en-US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zh-TW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Xilinx</a:t>
                      </a:r>
                      <a:endParaRPr lang="zh-TW" altLang="en-US" sz="16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35569" marR="135569" marT="67784" marB="67784" anchor="ctr"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7715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硬體平台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生態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zh-TW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NeTV2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Xilinx and </a:t>
                      </a:r>
                      <a:r>
                        <a:rPr lang="en-US" altLang="zh-TW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LiteX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ZCU106</a:t>
                      </a:r>
                    </a:p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Xilinx and </a:t>
                      </a:r>
                      <a:r>
                        <a:rPr lang="en-US" altLang="zh-TW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LiteX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ZCU106</a:t>
                      </a: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Xilinx</a:t>
                      </a:r>
                    </a:p>
                  </a:txBody>
                  <a:tcPr marL="10404" marR="10404" marT="10404" marB="0" anchor="ctr"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771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HDMI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RX</a:t>
                      </a: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LiteX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Xilinx IP</a:t>
                      </a: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Xilinx IP</a:t>
                      </a:r>
                    </a:p>
                  </a:txBody>
                  <a:tcPr marL="10404" marR="10404" marT="10404" marB="0" anchor="ctr"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771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SDI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RX</a:t>
                      </a:r>
                      <a:endParaRPr lang="zh-TW" alt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Xilinx IP</a:t>
                      </a: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lvl="0" indent="-285750" algn="l" fontAlgn="ctr">
                        <a:buClr>
                          <a:srgbClr val="000000"/>
                        </a:buClr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Xilinx IP</a:t>
                      </a: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Xilinx IP</a:t>
                      </a:r>
                    </a:p>
                  </a:txBody>
                  <a:tcPr marL="10404" marR="10404" marT="10404" marB="0" anchor="ctr"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771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DRAM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PCIe / Driver</a:t>
                      </a:r>
                      <a:endParaRPr lang="zh-TW" alt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LiteX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LiteX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Xilinx IP</a:t>
                      </a:r>
                    </a:p>
                  </a:txBody>
                  <a:tcPr marL="10404" marR="10404" marT="10404" marB="0" anchor="ctr"/>
                </a:tc>
                <a:extLst>
                  <a:ext uri="{0D108BD9-81ED-4DB2-BD59-A6C34878D82A}">
                    <a16:rowId xmlns:a16="http://schemas.microsoft.com/office/drawing/2014/main" val="4100677602"/>
                  </a:ext>
                </a:extLst>
              </a:tr>
              <a:tr h="77150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主要風險</a:t>
                      </a:r>
                      <a:endParaRPr lang="zh-TW" alt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zh-TW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SDI</a:t>
                      </a:r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硬體</a:t>
                      </a:r>
                      <a:r>
                        <a:rPr lang="zh-TW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不</a:t>
                      </a:r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直接支援</a:t>
                      </a:r>
                      <a:r>
                        <a:rPr lang="zh-TW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、需額外整合</a:t>
                      </a:r>
                      <a:endParaRPr lang="en-US" altLang="zh-TW" sz="16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SDI</a:t>
                      </a:r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缺乏硬體電路訊號可能不穩</a:t>
                      </a:r>
                      <a:endParaRPr lang="en-US" altLang="zh-TW" sz="16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不同生態界面</a:t>
                      </a:r>
                      <a:r>
                        <a:rPr lang="zh-TW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整合</a:t>
                      </a:r>
                      <a:endParaRPr lang="en-US" altLang="zh-TW" sz="16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lvl="0" indent="-285750" algn="l">
                        <a:buClr>
                          <a:srgbClr val="000000"/>
                        </a:buClr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部分 </a:t>
                      </a:r>
                      <a:r>
                        <a:rPr lang="zh-TW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IP 授權</a:t>
                      </a:r>
                      <a:endParaRPr lang="en-US" altLang="zh-TW" sz="16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與平台</a:t>
                      </a:r>
                      <a:r>
                        <a:rPr lang="zh-TW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相容性</a:t>
                      </a:r>
                      <a:endParaRPr lang="en-US" altLang="zh-TW" sz="16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不同生態界面</a:t>
                      </a:r>
                      <a:r>
                        <a:rPr lang="zh-TW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整合</a:t>
                      </a:r>
                      <a:endParaRPr lang="en-US" altLang="zh-TW" sz="16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部分 </a:t>
                      </a:r>
                      <a:r>
                        <a:rPr lang="zh-TW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IP 授權</a:t>
                      </a:r>
                      <a:endParaRPr lang="en-US" altLang="zh-TW" sz="16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與平台</a:t>
                      </a:r>
                      <a:r>
                        <a:rPr lang="zh-TW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相容性</a:t>
                      </a:r>
                      <a:endParaRPr lang="en-US" altLang="zh-TW" sz="16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zh-TW" altLang="zh-TW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系統整合</a:t>
                      </a:r>
                      <a:endParaRPr lang="en-US" altLang="zh-TW" sz="1600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extLst>
                  <a:ext uri="{0D108BD9-81ED-4DB2-BD59-A6C34878D82A}">
                    <a16:rowId xmlns:a16="http://schemas.microsoft.com/office/drawing/2014/main" val="1817583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715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329146</TotalTime>
  <Words>730</Words>
  <Application>Microsoft Office PowerPoint</Application>
  <PresentationFormat>A4 紙張 (210x297 公釐)</PresentationFormat>
  <Paragraphs>120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Noto Sans Symbols</vt:lpstr>
      <vt:lpstr>Arial</vt:lpstr>
      <vt:lpstr>Times New Roman</vt:lpstr>
      <vt:lpstr>Wingdings</vt:lpstr>
      <vt:lpstr>template</vt:lpstr>
      <vt:lpstr>Progress Report</vt:lpstr>
      <vt:lpstr>上次進度: LiteX vs Xilinx</vt:lpstr>
      <vt:lpstr>本次進度: LiteX / SDI </vt:lpstr>
      <vt:lpstr>本次進度: NeTV2</vt:lpstr>
      <vt:lpstr>本次進度: NeTV2</vt:lpstr>
      <vt:lpstr>本次進度: LiteX / Xilinx ZCU106</vt:lpstr>
      <vt:lpstr>本次進度: Xilinx / Xilinx ZCU106 </vt:lpstr>
      <vt:lpstr>本次進度: Summary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sis ila</cp:lastModifiedBy>
  <cp:revision>3472</cp:revision>
  <dcterms:created xsi:type="dcterms:W3CDTF">2003-02-17T16:04:03Z</dcterms:created>
  <dcterms:modified xsi:type="dcterms:W3CDTF">2026-10-23T08:44:39Z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