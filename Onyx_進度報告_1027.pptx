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8" r:id="rId1"/>
  </p:sldMasterIdLst>
  <p:notesMasterIdLst>
    <p:notesMasterId r:id="rId11"/>
  </p:notesMasterIdLst>
  <p:sldIdLst>
    <p:sldId id="277" r:id="rId2"/>
    <p:sldId id="2048" r:id="rId3"/>
    <p:sldId id="2035" r:id="rId4"/>
    <p:sldId id="2043" r:id="rId5"/>
    <p:sldId id="2044" r:id="rId6"/>
    <p:sldId id="2045" r:id="rId7"/>
    <p:sldId id="2047" r:id="rId8"/>
    <p:sldId id="2046" r:id="rId9"/>
    <p:sldId id="286" r:id="rId10"/>
  </p:sldIdLst>
  <p:sldSz cx="9906000" cy="6858000" type="A4"/>
  <p:notesSz cx="7315200" cy="96012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Head" id="{9114FBB3-8B00-422B-ACC9-030F49096E83}">
          <p14:sldIdLst>
            <p14:sldId id="277"/>
          </p14:sldIdLst>
        </p14:section>
        <p14:section name="上次進度" id="{7189DFBE-4EEB-4F74-853B-C02E818AF80E}">
          <p14:sldIdLst>
            <p14:sldId id="2048"/>
          </p14:sldIdLst>
        </p14:section>
        <p14:section name="Video Capture Card" id="{FA8538CB-EEBB-42F8-BEE8-82DA04CEC9C1}">
          <p14:sldIdLst>
            <p14:sldId id="2035"/>
            <p14:sldId id="2043"/>
            <p14:sldId id="2044"/>
            <p14:sldId id="2045"/>
            <p14:sldId id="2047"/>
            <p14:sldId id="2046"/>
          </p14:sldIdLst>
        </p14:section>
        <p14:section name="End" id="{33EEDC85-A799-4CB3-BF13-F4955B8630BE}">
          <p14:sldIdLst>
            <p14:sldId id="28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10902143" initials="m" lastIdx="1" clrIdx="0"/>
  <p:cmAuthor id="2" name="James Kuo" initials="JK" lastIdx="1" clrIdx="1"/>
  <p:cmAuthor id="3" name="昇鴻 李" initials="昇鴻" lastIdx="1" clrIdx="2">
    <p:extLst>
      <p:ext uri="{19B8F6BF-5375-455C-9EA6-DF929625EA0E}">
        <p15:presenceInfo xmlns:p15="http://schemas.microsoft.com/office/powerpoint/2012/main" userId="72a70edeaa250c2c" providerId="Windows Live"/>
      </p:ext>
    </p:extLst>
  </p:cmAuthor>
  <p:cmAuthor id="4" name="宏德 林" initials="宏林" lastIdx="2" clrIdx="3">
    <p:extLst>
      <p:ext uri="{19B8F6BF-5375-455C-9EA6-DF929625EA0E}">
        <p15:presenceInfo xmlns:p15="http://schemas.microsoft.com/office/powerpoint/2012/main" userId="933d0002216be5bd" providerId="Windows Live"/>
      </p:ext>
    </p:extLst>
  </p:cmAuthor>
  <p:cmAuthor id="5" name="LI CHIH HSIANG" initials="LCH" lastIdx="6" clrIdx="4">
    <p:extLst>
      <p:ext uri="{19B8F6BF-5375-455C-9EA6-DF929625EA0E}">
        <p15:presenceInfo xmlns:p15="http://schemas.microsoft.com/office/powerpoint/2012/main" userId="LI CHIH HSIANG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000000"/>
    <a:srgbClr val="00B050"/>
    <a:srgbClr val="0057C0"/>
    <a:srgbClr val="FFC000"/>
    <a:srgbClr val="FFFFFF"/>
    <a:srgbClr val="8958B1"/>
    <a:srgbClr val="C58DEF"/>
    <a:srgbClr val="993366"/>
    <a:srgbClr val="5814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D433FD4-3D7A-4217-8E80-1680D7E9CC69}" styleName="Table_0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rgbClr val="E6E6E6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E6E6E6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 i="off"/>
      <a:tcStyle>
        <a:tcBdr>
          <a:top>
            <a:ln w="508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lt1"/>
          </a:solidFill>
        </a:fill>
      </a:tcStyle>
    </a:lastRow>
    <a:se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eCell>
    <a:sw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2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3E919B74-BC6B-4152-9BDB-477648A112FC}" styleName="Table_1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F6EF"/>
          </a:solidFill>
        </a:fill>
      </a:tcStyle>
    </a:wholeTbl>
    <a:band1H>
      <a:tcStyle>
        <a:tcBdr/>
        <a:fill>
          <a:solidFill>
            <a:srgbClr val="CAECDD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AECDD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72833802-FEF1-4C79-8D5D-14CF1EAF98D9}" styleName="淺色樣式 2 - 輔色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75DCB02-9BB8-47FD-8907-85C794F793BA}" styleName="佈景主題樣式 1 - 輔色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佈景主題樣式 1 - 輔色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18603FDC-E32A-4AB5-989C-0864C3EAD2B8}" styleName="佈景主題樣式 2 - 輔色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E3FDE45-AF77-4B5C-9715-49D594BDF05E}" styleName="淺色樣式 1 - 輔色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中等深淺樣式 1 - 輔色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16DA210-FB5B-4158-B5E0-FEB733F419BA}" styleName="淺色樣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7CE84F3-28C3-443E-9E96-99CF82512B78}" styleName="深色樣式 1 - 輔色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9DCAF9ED-07DC-4A11-8D7F-57B35C25682E}" styleName="中等深淺樣式 1 - 輔色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36" autoAdjust="0"/>
    <p:restoredTop sz="84252" autoAdjust="0"/>
  </p:normalViewPr>
  <p:slideViewPr>
    <p:cSldViewPr snapToGrid="0">
      <p:cViewPr varScale="1">
        <p:scale>
          <a:sx n="66" d="100"/>
          <a:sy n="66" d="100"/>
        </p:scale>
        <p:origin x="1685" y="48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3024"/>
        <p:guide pos="230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9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0" name="Google Shape;4;n"/>
          <p:cNvSpPr txBox="1">
            <a:spLocks noGrp="1"/>
          </p:cNvSpPr>
          <p:nvPr>
            <p:ph type="dt" idx="10"/>
          </p:nvPr>
        </p:nvSpPr>
        <p:spPr>
          <a:xfrm>
            <a:off x="4138613" y="0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1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062038" y="735013"/>
            <a:ext cx="5197475" cy="359886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048662" name="Google Shape;6;n"/>
          <p:cNvSpPr txBox="1">
            <a:spLocks noGrp="1"/>
          </p:cNvSpPr>
          <p:nvPr>
            <p:ph type="body" idx="1"/>
          </p:nvPr>
        </p:nvSpPr>
        <p:spPr>
          <a:xfrm>
            <a:off x="962025" y="4567238"/>
            <a:ext cx="5391150" cy="43005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48663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134475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4" name="Google Shape;8;n"/>
          <p:cNvSpPr txBox="1">
            <a:spLocks noGrp="1"/>
          </p:cNvSpPr>
          <p:nvPr>
            <p:ph type="sldNum" idx="12"/>
          </p:nvPr>
        </p:nvSpPr>
        <p:spPr>
          <a:xfrm>
            <a:off x="4138613" y="9134475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41020898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5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586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1048587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753A29-9D77-4C26-8BEC-432FE5D4B0A4}" type="slidenum">
              <a:rPr lang="en-US" altLang="zh-TW" smtClean="0"/>
              <a:t>1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5252770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446949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en-US" dirty="0"/>
              <a:t>除了 </a:t>
            </a:r>
            <a:r>
              <a:rPr lang="en-US" altLang="zh-TW" dirty="0"/>
              <a:t>ZCU106</a:t>
            </a:r>
            <a:r>
              <a:rPr lang="zh-TW" altLang="en-US" dirty="0"/>
              <a:t> 外，並沒有找到合適的開發版在支援 </a:t>
            </a:r>
            <a:r>
              <a:rPr lang="en-US" altLang="zh-TW" dirty="0" err="1"/>
              <a:t>LiteX</a:t>
            </a:r>
            <a:r>
              <a:rPr lang="zh-TW" altLang="en-US" dirty="0"/>
              <a:t> 的同時硬體也支援 </a:t>
            </a:r>
            <a:r>
              <a:rPr lang="en-US" altLang="zh-TW" dirty="0"/>
              <a:t>SDI</a:t>
            </a:r>
            <a:r>
              <a:rPr lang="zh-TW" altLang="en-US" dirty="0"/>
              <a:t> </a:t>
            </a:r>
            <a:r>
              <a:rPr lang="en-US" altLang="zh-TW" dirty="0"/>
              <a:t>HDMI</a:t>
            </a:r>
            <a:r>
              <a:rPr lang="zh-TW" altLang="en-US" dirty="0"/>
              <a:t> </a:t>
            </a:r>
            <a:r>
              <a:rPr lang="en-US" altLang="zh-TW" dirty="0"/>
              <a:t>PCIE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37300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en-US" dirty="0"/>
              <a:t>除了</a:t>
            </a:r>
            <a:r>
              <a:rPr lang="en-US" altLang="zh-TW" dirty="0"/>
              <a:t>HDMI</a:t>
            </a:r>
            <a:r>
              <a:rPr lang="zh-TW" altLang="en-US" dirty="0"/>
              <a:t> </a:t>
            </a:r>
            <a:r>
              <a:rPr lang="en-US" altLang="zh-TW" dirty="0"/>
              <a:t>PCIe</a:t>
            </a:r>
            <a:r>
              <a:rPr lang="zh-TW" altLang="en-US" dirty="0"/>
              <a:t>外，</a:t>
            </a:r>
            <a:r>
              <a:rPr lang="en-US" altLang="zh-TW" dirty="0"/>
              <a:t>NeTV2</a:t>
            </a:r>
            <a:r>
              <a:rPr lang="zh-TW" altLang="en-US" dirty="0"/>
              <a:t>能使用的外部介面如下，能使用的 </a:t>
            </a:r>
            <a:r>
              <a:rPr lang="en-US" altLang="zh-TW" dirty="0"/>
              <a:t>IO</a:t>
            </a:r>
            <a:r>
              <a:rPr lang="zh-TW" altLang="en-US" dirty="0"/>
              <a:t> 只剩下支援 </a:t>
            </a:r>
            <a:r>
              <a:rPr lang="zh-TW" altLang="zh-TW" sz="1200" dirty="0"/>
              <a:t>Raspberry Pi</a:t>
            </a:r>
            <a:r>
              <a:rPr lang="zh-TW" altLang="en-US" sz="1200" dirty="0"/>
              <a:t> 的 </a:t>
            </a:r>
            <a:r>
              <a:rPr lang="en-US" altLang="zh-TW" sz="1200" dirty="0"/>
              <a:t>20</a:t>
            </a:r>
            <a:r>
              <a:rPr lang="zh-TW" altLang="en-US" sz="1200" dirty="0"/>
              <a:t>個角位的</a:t>
            </a:r>
            <a:r>
              <a:rPr lang="zh-TW" altLang="en-US" dirty="0"/>
              <a:t> </a:t>
            </a:r>
            <a:r>
              <a:rPr lang="en-US" altLang="zh-TW" dirty="0"/>
              <a:t>JTAG</a:t>
            </a:r>
            <a:r>
              <a:rPr lang="zh-TW" altLang="en-US" dirty="0"/>
              <a:t> </a:t>
            </a:r>
            <a:r>
              <a:rPr lang="en-US" altLang="zh-TW" dirty="0"/>
              <a:t>UART</a:t>
            </a:r>
            <a:r>
              <a:rPr lang="zh-TW" altLang="en-US" dirty="0"/>
              <a:t> 等等，但這些腳位基本上無法接收 </a:t>
            </a:r>
            <a:r>
              <a:rPr lang="en-US" altLang="zh-TW" dirty="0"/>
              <a:t>SDI</a:t>
            </a:r>
            <a:r>
              <a:rPr lang="zh-TW" altLang="en-US" dirty="0"/>
              <a:t> 訊號，速度與腳位數量嚴重不足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113286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236406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E527B-4000-F206-6AFC-75F0676B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6931088-1022-C7B4-813F-6A80201816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B6387F7-7876-4588-C9D5-16BE657D61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zh-TW" b="1" dirty="0"/>
              <a:t>HDMI 接口差分線根本沒有連到普通 I/O</a:t>
            </a:r>
            <a:r>
              <a:rPr lang="zh-TW" altLang="zh-TW" dirty="0"/>
              <a:t>，而是直接焊進了 UltraScale+ 的 </a:t>
            </a:r>
            <a:r>
              <a:rPr lang="zh-TW" altLang="zh-TW" b="1" dirty="0"/>
              <a:t>GTH 專用高速收發器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F188A1F-349F-2C87-FF3E-E7B458B6323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6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259582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04A74-706F-9409-1881-C76580330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2D93E6D-88B0-9A32-620E-1457EDADC7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FD021DC-A751-D308-6E79-769C792F75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en-US" altLang="zh-TW" dirty="0"/>
              <a:t>RX</a:t>
            </a:r>
            <a:r>
              <a:rPr lang="zh-TW" altLang="en-US" dirty="0"/>
              <a:t> 前端硬體設計不做解碼，只做</a:t>
            </a:r>
            <a:r>
              <a:rPr lang="zh-TW" altLang="zh-TW" dirty="0"/>
              <a:t>訊號</a:t>
            </a:r>
            <a:r>
              <a:rPr lang="zh-TW" altLang="en-US" dirty="0"/>
              <a:t>整理</a:t>
            </a:r>
            <a:endParaRPr lang="en-US" altLang="zh-TW" dirty="0"/>
          </a:p>
          <a:p>
            <a:pPr marL="0" indent="0"/>
            <a:r>
              <a:rPr lang="zh-TW" altLang="zh-TW" dirty="0"/>
              <a:t>GT（Gigabit Transceiver）是 Xilinx FPGA 內部的高速收發器硬體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757B7D5-F5D6-5C3C-E662-21C60AA106A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7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5266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E527B-4000-F206-6AFC-75F0676B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6931088-1022-C7B4-813F-6A80201816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B6387F7-7876-4588-C9D5-16BE657D61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F188A1F-349F-2C87-FF3E-E7B458B6323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8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365041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1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642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0">
              <a:buNone/>
            </a:pPr>
            <a:endParaRPr lang="en-US" altLang="zh-TW" dirty="0"/>
          </a:p>
        </p:txBody>
      </p:sp>
      <p:sp>
        <p:nvSpPr>
          <p:cNvPr id="1048643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53A29-9D77-4C26-8BEC-432FE5D4B0A4}" type="slidenum">
              <a:rPr lang="en-US" altLang="zh-TW" smtClean="0"/>
              <a:t>9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1541485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 type="title">
  <p:cSld name="TITLE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36" name="Google Shape;21;p50"/>
          <p:cNvSpPr txBox="1"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4875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37" name="Google Shape;22;p50"/>
          <p:cNvSpPr txBox="1"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390"/>
              </a:spcBef>
              <a:spcAft>
                <a:spcPts val="0"/>
              </a:spcAft>
              <a:buSzPts val="1950"/>
              <a:buNone/>
              <a:defRPr sz="1950"/>
            </a:lvl1pPr>
            <a:lvl2pPr lvl="1" algn="ctr">
              <a:spcBef>
                <a:spcPts val="325"/>
              </a:spcBef>
              <a:spcAft>
                <a:spcPts val="0"/>
              </a:spcAft>
              <a:buSzPts val="1625"/>
              <a:buNone/>
              <a:defRPr sz="1625"/>
            </a:lvl2pPr>
            <a:lvl3pPr lvl="2" algn="ctr">
              <a:spcBef>
                <a:spcPts val="293"/>
              </a:spcBef>
              <a:spcAft>
                <a:spcPts val="0"/>
              </a:spcAft>
              <a:buSzPts val="1463"/>
              <a:buFont typeface="Times New Roman"/>
              <a:buNone/>
              <a:defRPr sz="1463"/>
            </a:lvl3pPr>
            <a:lvl4pPr lvl="3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4pPr>
            <a:lvl5pPr lvl="4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5pPr>
            <a:lvl6pPr lvl="5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6pPr>
            <a:lvl7pPr lvl="6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7pPr>
            <a:lvl8pPr lvl="7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8pPr>
            <a:lvl9pPr lvl="8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9pPr>
          </a:lstStyle>
          <a:p>
            <a:endParaRPr/>
          </a:p>
        </p:txBody>
      </p:sp>
      <p:sp>
        <p:nvSpPr>
          <p:cNvPr id="1048638" name="Google Shape;23;p50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39" name="Google Shape;24;p50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40" name="Google Shape;25;p50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6" name="Google Shape;37;p5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7" name="Google Shape;38;p54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48" name="Google Shape;39;p54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  <p:sp>
        <p:nvSpPr>
          <p:cNvPr id="1048649" name="Google Shape;40;p54"/>
          <p:cNvSpPr txBox="1">
            <a:spLocks noGrp="1"/>
          </p:cNvSpPr>
          <p:nvPr>
            <p:ph type="body" idx="3"/>
          </p:nvPr>
        </p:nvSpPr>
        <p:spPr>
          <a:xfrm>
            <a:off x="4645027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50" name="Google Shape;41;p54"/>
          <p:cNvSpPr txBox="1">
            <a:spLocks noGrp="1"/>
          </p:cNvSpPr>
          <p:nvPr>
            <p:ph type="body" idx="4"/>
          </p:nvPr>
        </p:nvSpPr>
        <p:spPr>
          <a:xfrm>
            <a:off x="4645027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3" name="Google Shape;43;p55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4" name="Google Shape;50;p58"/>
          <p:cNvSpPr txBox="1">
            <a:spLocks noGrp="1"/>
          </p:cNvSpPr>
          <p:nvPr>
            <p:ph type="title"/>
          </p:nvPr>
        </p:nvSpPr>
        <p:spPr>
          <a:xfrm>
            <a:off x="1792290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5" name="Google Shape;51;p58"/>
          <p:cNvSpPr>
            <a:spLocks noGrp="1"/>
          </p:cNvSpPr>
          <p:nvPr>
            <p:ph type="pic" idx="2"/>
          </p:nvPr>
        </p:nvSpPr>
        <p:spPr>
          <a:xfrm>
            <a:off x="1792290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accent2"/>
              </a:buClr>
              <a:buSzPts val="3200"/>
              <a:buFont typeface="Noto Sans Symbols"/>
              <a:buNone/>
              <a:defRPr sz="3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rgbClr val="FF5050"/>
              </a:buClr>
              <a:buSzPts val="2800"/>
              <a:buFont typeface="Noto Sans Symbols"/>
              <a:buNone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rgbClr val="6699FF"/>
              </a:buClr>
              <a:buSzPts val="2400"/>
              <a:buFont typeface="Times New Roman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56" name="Google Shape;52;p58"/>
          <p:cNvSpPr txBox="1">
            <a:spLocks noGrp="1"/>
          </p:cNvSpPr>
          <p:nvPr>
            <p:ph type="body" idx="1"/>
          </p:nvPr>
        </p:nvSpPr>
        <p:spPr>
          <a:xfrm>
            <a:off x="1792290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SzPts val="1000"/>
              <a:buFont typeface="Times New Roman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4" name="Google Shape;54;p59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5" name="Google Shape;55;p59"/>
          <p:cNvSpPr txBox="1">
            <a:spLocks noGrp="1"/>
          </p:cNvSpPr>
          <p:nvPr>
            <p:ph type="body" idx="1"/>
          </p:nvPr>
        </p:nvSpPr>
        <p:spPr>
          <a:xfrm rot="5400000">
            <a:off x="2593975" y="-485775"/>
            <a:ext cx="4800600" cy="8667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7" name="Google Shape;57;p60"/>
          <p:cNvSpPr txBox="1">
            <a:spLocks noGrp="1"/>
          </p:cNvSpPr>
          <p:nvPr>
            <p:ph type="title"/>
          </p:nvPr>
        </p:nvSpPr>
        <p:spPr>
          <a:xfrm rot="5400000">
            <a:off x="4857751" y="2419350"/>
            <a:ext cx="5638800" cy="201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8" name="Google Shape;58;p60"/>
          <p:cNvSpPr txBox="1">
            <a:spLocks noGrp="1"/>
          </p:cNvSpPr>
          <p:nvPr>
            <p:ph type="body" idx="1"/>
          </p:nvPr>
        </p:nvSpPr>
        <p:spPr>
          <a:xfrm rot="5400000">
            <a:off x="742951" y="476250"/>
            <a:ext cx="5638800" cy="590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>
  <p:cSld name="1_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9" name="Title 1"/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en-US" dirty="0"/>
          </a:p>
        </p:txBody>
      </p:sp>
      <p:sp>
        <p:nvSpPr>
          <p:cNvPr id="1048580" name="Chart Placeholder 2"/>
          <p:cNvSpPr>
            <a:spLocks noGrp="1"/>
          </p:cNvSpPr>
          <p:nvPr>
            <p:ph type="chart" idx="1"/>
          </p:nvPr>
        </p:nvSpPr>
        <p:spPr>
          <a:xfrm>
            <a:off x="609600" y="1447800"/>
            <a:ext cx="8001000" cy="4800600"/>
          </a:xfrm>
        </p:spPr>
        <p:txBody>
          <a:bodyPr/>
          <a:lstStyle/>
          <a:p>
            <a:pPr lvl="0"/>
            <a:endParaRPr lang="en-US" noProof="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1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48652" name="Title 1"/>
          <p:cNvSpPr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altLang="zh-TW" dirty="0"/>
              <a:t>Title of the Slide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6" name="Google Shape;10;p48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cxnSp>
        <p:nvCxnSpPr>
          <p:cNvPr id="3145728" name="Google Shape;11;p48"/>
          <p:cNvCxnSpPr>
            <a:cxnSpLocks/>
          </p:cNvCxnSpPr>
          <p:nvPr/>
        </p:nvCxnSpPr>
        <p:spPr>
          <a:xfrm>
            <a:off x="412750" y="533400"/>
            <a:ext cx="899795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29" name="Google Shape;12;p48"/>
          <p:cNvCxnSpPr>
            <a:cxnSpLocks/>
          </p:cNvCxnSpPr>
          <p:nvPr/>
        </p:nvCxnSpPr>
        <p:spPr>
          <a:xfrm>
            <a:off x="577850" y="228600"/>
            <a:ext cx="0" cy="9906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30" name="Google Shape;13;p48"/>
          <p:cNvCxnSpPr>
            <a:cxnSpLocks/>
          </p:cNvCxnSpPr>
          <p:nvPr/>
        </p:nvCxnSpPr>
        <p:spPr>
          <a:xfrm>
            <a:off x="495300" y="6400800"/>
            <a:ext cx="8915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48577" name="Google Shape;14;p48"/>
          <p:cNvSpPr txBox="1">
            <a:spLocks noGrp="1"/>
          </p:cNvSpPr>
          <p:nvPr>
            <p:ph type="body" idx="1"/>
          </p:nvPr>
        </p:nvSpPr>
        <p:spPr>
          <a:xfrm>
            <a:off x="660400" y="1447800"/>
            <a:ext cx="8667750" cy="48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048578" name="Google Shape;15;p48"/>
          <p:cNvSpPr txBox="1"/>
          <p:nvPr/>
        </p:nvSpPr>
        <p:spPr>
          <a:xfrm>
            <a:off x="8510587" y="6502400"/>
            <a:ext cx="817563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097152" name="Google Shape;16;p48"/>
          <p:cNvPicPr preferRelativeResize="0">
            <a:picLocks/>
          </p:cNvPicPr>
          <p:nvPr/>
        </p:nvPicPr>
        <p:blipFill rotWithShape="1">
          <a:blip r:embed="rId11">
            <a:alphaModFix/>
          </a:blip>
          <a:srcRect/>
          <a:stretch>
            <a:fillRect/>
          </a:stretch>
        </p:blipFill>
        <p:spPr>
          <a:xfrm>
            <a:off x="57150" y="6446838"/>
            <a:ext cx="1827213" cy="360362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1" name="Rectangle 2"/>
          <p:cNvSpPr>
            <a:spLocks noGrp="1" noChangeArrowheads="1"/>
          </p:cNvSpPr>
          <p:nvPr>
            <p:ph type="title"/>
          </p:nvPr>
        </p:nvSpPr>
        <p:spPr>
          <a:xfrm>
            <a:off x="668908" y="1829704"/>
            <a:ext cx="8568183" cy="1728539"/>
          </a:xfrm>
        </p:spPr>
        <p:txBody>
          <a:bodyPr/>
          <a:lstStyle/>
          <a:p>
            <a:pPr algn="ctr" eaLnBrk="1" hangingPunct="1"/>
            <a:r>
              <a:rPr lang="en-US" altLang="zh-TW" sz="3200" b="1" dirty="0">
                <a:solidFill>
                  <a:srgbClr val="0057C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Progress Report</a:t>
            </a:r>
          </a:p>
        </p:txBody>
      </p:sp>
      <p:sp>
        <p:nvSpPr>
          <p:cNvPr id="1048582" name="Rectangle 2"/>
          <p:cNvSpPr txBox="1">
            <a:spLocks noChangeArrowheads="1"/>
          </p:cNvSpPr>
          <p:nvPr/>
        </p:nvSpPr>
        <p:spPr bwMode="auto">
          <a:xfrm>
            <a:off x="907104" y="3362630"/>
            <a:ext cx="8568183" cy="172853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+mn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9pPr>
          </a:lstStyle>
          <a:p>
            <a:pPr algn="ctr" eaLnBrk="1" hangingPunct="1"/>
            <a:endParaRPr lang="en-US" altLang="zh-TW" kern="0" dirty="0">
              <a:solidFill>
                <a:schemeClr val="tx1"/>
              </a:solidFill>
            </a:endParaRPr>
          </a:p>
        </p:txBody>
      </p:sp>
      <p:sp>
        <p:nvSpPr>
          <p:cNvPr id="1048583" name="Text Box 4"/>
          <p:cNvSpPr txBox="1">
            <a:spLocks noChangeArrowheads="1"/>
          </p:cNvSpPr>
          <p:nvPr/>
        </p:nvSpPr>
        <p:spPr bwMode="auto">
          <a:xfrm>
            <a:off x="1100262" y="4484365"/>
            <a:ext cx="7705476" cy="70788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en-US" altLang="zh-TW" sz="2000" dirty="0">
                <a:cs typeface="Times New Roman" panose="02020603050405020304" pitchFamily="18" charset="0"/>
              </a:rPr>
              <a:t>Author : </a:t>
            </a:r>
          </a:p>
          <a:p>
            <a:pPr algn="ctr"/>
            <a:r>
              <a:rPr lang="en-US" altLang="zh-TW" sz="2000" dirty="0">
                <a:cs typeface="Times New Roman" panose="02020603050405020304" pitchFamily="18" charset="0"/>
              </a:rPr>
              <a:t>BO-CHENG</a:t>
            </a:r>
            <a:r>
              <a:rPr lang="zh-TW" altLang="en-US" sz="2000" dirty="0">
                <a:cs typeface="Times New Roman" panose="02020603050405020304" pitchFamily="18" charset="0"/>
              </a:rPr>
              <a:t>、</a:t>
            </a:r>
            <a:r>
              <a:rPr lang="en-US" altLang="zh-TW" sz="2000" dirty="0">
                <a:cs typeface="Times New Roman" panose="02020603050405020304" pitchFamily="18" charset="0"/>
              </a:rPr>
              <a:t>Cheng-Yuan</a:t>
            </a:r>
            <a:r>
              <a:rPr lang="zh-TW" altLang="en-US" sz="2000" dirty="0">
                <a:cs typeface="Times New Roman" panose="02020603050405020304" pitchFamily="18" charset="0"/>
              </a:rPr>
              <a:t>、</a:t>
            </a:r>
            <a:r>
              <a:rPr lang="en-US" altLang="zh-TW" sz="2000" dirty="0">
                <a:cs typeface="Times New Roman" panose="02020603050405020304" pitchFamily="18" charset="0"/>
              </a:rPr>
              <a:t>Sheng-Yao</a:t>
            </a:r>
          </a:p>
        </p:txBody>
      </p:sp>
      <p:sp>
        <p:nvSpPr>
          <p:cNvPr id="1048584" name="Text Box 4"/>
          <p:cNvSpPr txBox="1">
            <a:spLocks noChangeArrowheads="1"/>
          </p:cNvSpPr>
          <p:nvPr/>
        </p:nvSpPr>
        <p:spPr bwMode="auto">
          <a:xfrm>
            <a:off x="1100262" y="5673486"/>
            <a:ext cx="7705476" cy="4616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en-US" altLang="zh-TW" b="1" dirty="0">
                <a:solidFill>
                  <a:srgbClr val="0057C0"/>
                </a:solidFill>
              </a:rPr>
              <a:t>Embedded System Software Design</a:t>
            </a:r>
            <a:endParaRPr lang="en-US" altLang="zh-TW" sz="2000" b="1" dirty="0">
              <a:solidFill>
                <a:srgbClr val="0057C0"/>
              </a:solidFill>
              <a:latin typeface="+mn-lt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pPr algn="l" fontAlgn="t"/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上次進度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LiteX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vs Xilinx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aphicFrame>
        <p:nvGraphicFramePr>
          <p:cNvPr id="3" name="表格 24">
            <a:extLst>
              <a:ext uri="{FF2B5EF4-FFF2-40B4-BE49-F238E27FC236}">
                <a16:creationId xmlns:a16="http://schemas.microsoft.com/office/drawing/2014/main" id="{2F468073-8B22-0D86-8A37-A66504FC4DC7}"/>
              </a:ext>
            </a:extLst>
          </p:cNvPr>
          <p:cNvGraphicFramePr>
            <a:graphicFrameLocks noGrp="1"/>
          </p:cNvGraphicFramePr>
          <p:nvPr/>
        </p:nvGraphicFramePr>
        <p:xfrm>
          <a:off x="1074253" y="1334356"/>
          <a:ext cx="7757493" cy="462900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526254">
                  <a:extLst>
                    <a:ext uri="{9D8B030D-6E8A-4147-A177-3AD203B41FA5}">
                      <a16:colId xmlns:a16="http://schemas.microsoft.com/office/drawing/2014/main" val="58910734"/>
                    </a:ext>
                  </a:extLst>
                </a:gridCol>
                <a:gridCol w="2401086">
                  <a:extLst>
                    <a:ext uri="{9D8B030D-6E8A-4147-A177-3AD203B41FA5}">
                      <a16:colId xmlns:a16="http://schemas.microsoft.com/office/drawing/2014/main" val="1964622646"/>
                    </a:ext>
                  </a:extLst>
                </a:gridCol>
                <a:gridCol w="2830153">
                  <a:extLst>
                    <a:ext uri="{9D8B030D-6E8A-4147-A177-3AD203B41FA5}">
                      <a16:colId xmlns:a16="http://schemas.microsoft.com/office/drawing/2014/main" val="2217758771"/>
                    </a:ext>
                  </a:extLst>
                </a:gridCol>
              </a:tblGrid>
              <a:tr h="701541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流程階段</a:t>
                      </a:r>
                    </a:p>
                  </a:txBody>
                  <a:tcPr marL="135569" marR="135569" marT="67784" marB="6778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dirty="0" err="1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LiteX</a:t>
                      </a:r>
                      <a:r>
                        <a:rPr lang="en-US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zh-TW" altLang="en-US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生態</a:t>
                      </a:r>
                    </a:p>
                  </a:txBody>
                  <a:tcPr marL="135569" marR="135569" marT="67784" marB="6778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Xilinx </a:t>
                      </a:r>
                      <a:r>
                        <a:rPr lang="zh-TW" altLang="en-US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生態</a:t>
                      </a:r>
                    </a:p>
                  </a:txBody>
                  <a:tcPr marL="135569" marR="135569" marT="67784" marB="67784" anchor="ctr"/>
                </a:tc>
                <a:extLst>
                  <a:ext uri="{0D108BD9-81ED-4DB2-BD59-A6C34878D82A}">
                    <a16:rowId xmlns:a16="http://schemas.microsoft.com/office/drawing/2014/main" val="4047486063"/>
                  </a:ext>
                </a:extLst>
              </a:tr>
              <a:tr h="747566"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6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系統需求與平台選擇</a:t>
                      </a:r>
                      <a:endParaRPr lang="en-US" altLang="zh-TW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0404" marR="10404" marT="10404" marB="0" anchor="ctr"/>
                </a:tc>
                <a:tc>
                  <a:txBody>
                    <a:bodyPr/>
                    <a:lstStyle/>
                    <a:p>
                      <a:pPr marL="285750" indent="-285750" algn="l" fontAlgn="ctr">
                        <a:buFont typeface="Wingdings" panose="05000000000000000000" pitchFamily="2" charset="2"/>
                        <a:buChar char="Ø"/>
                      </a:pPr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FPGA</a:t>
                      </a:r>
                      <a:r>
                        <a:rPr lang="zh-TW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zh-TW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zh-TW" altLang="en-US" sz="16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開發板</a:t>
                      </a:r>
                      <a:endParaRPr lang="en-US" altLang="zh-TW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marL="285750" indent="-285750" algn="l" fontAlgn="ctr">
                        <a:buFont typeface="Wingdings" panose="05000000000000000000" pitchFamily="2" charset="2"/>
                        <a:buChar char="Ø"/>
                      </a:pPr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IP</a:t>
                      </a:r>
                    </a:p>
                  </a:txBody>
                  <a:tcPr marL="10404" marR="10404" marT="10404" marB="0" anchor="ctr"/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FPGA</a:t>
                      </a:r>
                      <a:r>
                        <a:rPr lang="zh-TW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zh-TW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zh-TW" altLang="en-US" sz="16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開發板</a:t>
                      </a:r>
                      <a:endParaRPr lang="en-US" altLang="zh-TW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marL="285750" indent="-285750" algn="l" fontAlgn="ctr">
                        <a:buFont typeface="Wingdings" panose="05000000000000000000" pitchFamily="2" charset="2"/>
                        <a:buChar char="Ø"/>
                      </a:pPr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IP</a:t>
                      </a:r>
                    </a:p>
                  </a:txBody>
                  <a:tcPr marL="10404" marR="10404" marT="10404" marB="0" anchor="ctr"/>
                </a:tc>
                <a:extLst>
                  <a:ext uri="{0D108BD9-81ED-4DB2-BD59-A6C34878D82A}">
                    <a16:rowId xmlns:a16="http://schemas.microsoft.com/office/drawing/2014/main" val="100759405"/>
                  </a:ext>
                </a:extLst>
              </a:tr>
              <a:tr h="937199"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6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系統建構</a:t>
                      </a:r>
                      <a:endParaRPr lang="en-US" altLang="zh-TW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0404" marR="10404" marT="10404" marB="0" anchor="ctr"/>
                </a:tc>
                <a:tc>
                  <a:txBody>
                    <a:bodyPr/>
                    <a:lstStyle/>
                    <a:p>
                      <a:pPr marL="285750" indent="-285750" algn="l" fontAlgn="ctr">
                        <a:buFont typeface="Wingdings" panose="05000000000000000000" pitchFamily="2" charset="2"/>
                        <a:buChar char="Ø"/>
                      </a:pPr>
                      <a:r>
                        <a:rPr lang="en-US" altLang="zh-TW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LiteX</a:t>
                      </a:r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(</a:t>
                      </a:r>
                      <a:r>
                        <a:rPr lang="en-US" altLang="zh-TW" sz="16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Python</a:t>
                      </a:r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)</a:t>
                      </a:r>
                    </a:p>
                    <a:p>
                      <a:pPr marL="285750" indent="-285750" algn="l" fontAlgn="ctr">
                        <a:buFont typeface="Wingdings" panose="05000000000000000000" pitchFamily="2" charset="2"/>
                        <a:buChar char="Ø"/>
                      </a:pPr>
                      <a:r>
                        <a:rPr lang="en-US" altLang="zh-TW" sz="16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IP</a:t>
                      </a:r>
                      <a:r>
                        <a:rPr lang="zh-TW" altLang="en-US" sz="16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TW" sz="16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zh-TW" altLang="en-US" sz="16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TW" sz="16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RTL</a:t>
                      </a:r>
                      <a:endParaRPr lang="en-US" altLang="zh-TW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0404" marR="10404" marT="10404" marB="0" anchor="ctr"/>
                </a:tc>
                <a:tc>
                  <a:txBody>
                    <a:bodyPr/>
                    <a:lstStyle/>
                    <a:p>
                      <a:pPr marL="285750" indent="-285750" algn="l" fontAlgn="ctr">
                        <a:buFont typeface="Wingdings" panose="05000000000000000000" pitchFamily="2" charset="2"/>
                        <a:buChar char="Ø"/>
                      </a:pPr>
                      <a:r>
                        <a:rPr lang="en-US" altLang="zh-TW" sz="16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IP Catalog</a:t>
                      </a:r>
                    </a:p>
                    <a:p>
                      <a:pPr marL="285750" indent="-285750" algn="l" fontAlgn="ctr">
                        <a:buFont typeface="Wingdings" panose="05000000000000000000" pitchFamily="2" charset="2"/>
                        <a:buChar char="Ø"/>
                      </a:pPr>
                      <a:r>
                        <a:rPr lang="en-US" altLang="zh-TW" sz="16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IP Integrate</a:t>
                      </a:r>
                    </a:p>
                    <a:p>
                      <a:pPr marL="285750" indent="-285750" algn="l" fontAlgn="ctr">
                        <a:buFont typeface="Wingdings" panose="05000000000000000000" pitchFamily="2" charset="2"/>
                        <a:buChar char="Ø"/>
                      </a:pPr>
                      <a:r>
                        <a:rPr lang="en-US" altLang="zh-TW" sz="16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RTL</a:t>
                      </a:r>
                      <a:endParaRPr lang="en-US" altLang="zh-TW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0404" marR="10404" marT="10404" marB="0" anchor="ctr"/>
                </a:tc>
                <a:extLst>
                  <a:ext uri="{0D108BD9-81ED-4DB2-BD59-A6C34878D82A}">
                    <a16:rowId xmlns:a16="http://schemas.microsoft.com/office/drawing/2014/main" val="4097251436"/>
                  </a:ext>
                </a:extLst>
              </a:tr>
              <a:tr h="747566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HDL </a:t>
                      </a:r>
                      <a:r>
                        <a:rPr lang="zh-TW" altLang="en-US" sz="16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生成</a:t>
                      </a:r>
                      <a:endParaRPr lang="zh-TW" altLang="en-US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0404" marR="10404" marT="10404" marB="0" anchor="ctr"/>
                </a:tc>
                <a:tc>
                  <a:txBody>
                    <a:bodyPr/>
                    <a:lstStyle/>
                    <a:p>
                      <a:pPr marL="285750" indent="-285750" algn="l" fontAlgn="ctr">
                        <a:buFont typeface="Wingdings" panose="05000000000000000000" pitchFamily="2" charset="2"/>
                        <a:buChar char="Ø"/>
                      </a:pPr>
                      <a:r>
                        <a:rPr lang="en-US" altLang="zh-TW" sz="1600" dirty="0" err="1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LiteX</a:t>
                      </a:r>
                      <a:endParaRPr lang="en-US" altLang="zh-TW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0404" marR="10404" marT="10404" marB="0" anchor="ctr"/>
                </a:tc>
                <a:tc>
                  <a:txBody>
                    <a:bodyPr/>
                    <a:lstStyle/>
                    <a:p>
                      <a:pPr marL="285750" indent="-285750" algn="l" fontAlgn="ctr">
                        <a:buFont typeface="Wingdings" panose="05000000000000000000" pitchFamily="2" charset="2"/>
                        <a:buChar char="Ø"/>
                      </a:pPr>
                      <a:r>
                        <a:rPr lang="en-US" altLang="zh-TW" sz="1600" dirty="0" err="1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Vivado</a:t>
                      </a:r>
                      <a:endParaRPr lang="en-US" altLang="zh-TW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0404" marR="10404" marT="10404" marB="0" anchor="ctr"/>
                </a:tc>
                <a:extLst>
                  <a:ext uri="{0D108BD9-81ED-4DB2-BD59-A6C34878D82A}">
                    <a16:rowId xmlns:a16="http://schemas.microsoft.com/office/drawing/2014/main" val="4244588434"/>
                  </a:ext>
                </a:extLst>
              </a:tr>
              <a:tr h="747566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Syn. / Imp.</a:t>
                      </a:r>
                      <a:endParaRPr lang="zh-TW" altLang="en-US" sz="1600" b="0" i="0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0404" marR="10404" marT="10404" marB="0" anchor="ctr"/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lang="en-US" altLang="zh-TW" sz="1600" dirty="0" err="1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LiteX</a:t>
                      </a:r>
                      <a:endParaRPr lang="en-US" altLang="zh-TW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0404" marR="10404" marT="10404" marB="0" anchor="ctr"/>
                </a:tc>
                <a:tc>
                  <a:txBody>
                    <a:bodyPr/>
                    <a:lstStyle/>
                    <a:p>
                      <a:pPr marL="285750" indent="-285750" algn="l" fontAlgn="ctr">
                        <a:buFont typeface="Wingdings" panose="05000000000000000000" pitchFamily="2" charset="2"/>
                        <a:buChar char="Ø"/>
                      </a:pPr>
                      <a:r>
                        <a:rPr lang="en-US" altLang="zh-TW" sz="1600" dirty="0" err="1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Vivado</a:t>
                      </a:r>
                      <a:endParaRPr lang="en-US" altLang="zh-TW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0404" marR="10404" marT="10404" marB="0" anchor="ctr"/>
                </a:tc>
                <a:extLst>
                  <a:ext uri="{0D108BD9-81ED-4DB2-BD59-A6C34878D82A}">
                    <a16:rowId xmlns:a16="http://schemas.microsoft.com/office/drawing/2014/main" val="4100677602"/>
                  </a:ext>
                </a:extLst>
              </a:tr>
              <a:tr h="747566"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6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硬體驗證</a:t>
                      </a:r>
                      <a:endParaRPr lang="zh-TW" altLang="en-US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0404" marR="10404" marT="10404" marB="0" anchor="ctr"/>
                </a:tc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zh-TW" altLang="en-US" sz="16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產生 </a:t>
                      </a:r>
                      <a:r>
                        <a:rPr lang="en-US" altLang="zh-TW" sz="16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Bitstream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en-US" altLang="zh-TW" sz="16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FPGA </a:t>
                      </a:r>
                      <a:r>
                        <a:rPr lang="zh-TW" altLang="en-US" sz="16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實際測試</a:t>
                      </a:r>
                    </a:p>
                  </a:txBody>
                  <a:tcPr marL="10404" marR="10404" marT="10404" marB="0" anchor="ctr"/>
                </a:tc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zh-TW" altLang="en-US" sz="16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產生 </a:t>
                      </a:r>
                      <a:r>
                        <a:rPr lang="en-US" altLang="zh-TW" sz="16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Bitstream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en-US" altLang="zh-TW" sz="16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FPGA </a:t>
                      </a:r>
                      <a:r>
                        <a:rPr lang="zh-TW" altLang="en-US" sz="16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實際測試</a:t>
                      </a:r>
                    </a:p>
                  </a:txBody>
                  <a:tcPr marL="10404" marR="10404" marT="10404" marB="0" anchor="ctr"/>
                </a:tc>
                <a:extLst>
                  <a:ext uri="{0D108BD9-81ED-4DB2-BD59-A6C34878D82A}">
                    <a16:rowId xmlns:a16="http://schemas.microsoft.com/office/drawing/2014/main" val="18175838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001534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LiteX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/ SDI 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D929304B-5341-8BBF-E71F-AF5F2FE7268A}"/>
              </a:ext>
            </a:extLst>
          </p:cNvPr>
          <p:cNvSpPr txBox="1"/>
          <p:nvPr/>
        </p:nvSpPr>
        <p:spPr>
          <a:xfrm>
            <a:off x="609602" y="932266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ts val="3000"/>
              </a:lnSpc>
            </a:pP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SDI to HDMI Converter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優點：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降低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FPGA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高速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SDI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接收端的整合難度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缺點：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轉換器可能改變原始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SDI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資料或出現延遲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架構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SDI Daughter Board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優點：能直接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控制資料格式及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FPGA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內的影像處理流程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挑戰：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需要處理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Daughter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Board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的配置、時脈同步、資料打包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架構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005EF1C4-9174-257C-33EF-3BA1680CCA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176" y="2848183"/>
            <a:ext cx="8257250" cy="868850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04C28CC9-9244-AB58-A335-4D4EFA3A42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9175" y="5492307"/>
            <a:ext cx="8257251" cy="866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0238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NeTV2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D929304B-5341-8BBF-E71F-AF5F2FE7268A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ts val="3000"/>
              </a:lnSpc>
            </a:pPr>
            <a:r>
              <a:rPr lang="zh-TW" altLang="zh-TW" sz="2000" dirty="0"/>
              <a:t>External Interfaces </a:t>
            </a:r>
            <a:endParaRPr lang="en-US" altLang="zh-TW" sz="2000" dirty="0"/>
          </a:p>
          <a:p>
            <a:pPr lvl="1">
              <a:lnSpc>
                <a:spcPts val="3000"/>
              </a:lnSpc>
            </a:pPr>
            <a:r>
              <a:rPr lang="zh-TW" altLang="zh-TW" sz="1600" dirty="0"/>
              <a:t>2 x HDMI type A inputs, 1 x HDMI type A output, 1 x HDMI type D output</a:t>
            </a:r>
            <a:endParaRPr lang="en-US" altLang="zh-TW" sz="1600" dirty="0"/>
          </a:p>
          <a:p>
            <a:pPr lvl="1">
              <a:lnSpc>
                <a:spcPts val="3000"/>
              </a:lnSpc>
            </a:pPr>
            <a:r>
              <a:rPr lang="zh-TW" altLang="zh-TW" sz="1600" dirty="0"/>
              <a:t>PCI-express 2.0 x4</a:t>
            </a:r>
            <a:endParaRPr lang="en-US" altLang="zh-TW" sz="1600" dirty="0"/>
          </a:p>
          <a:p>
            <a:pPr lvl="1">
              <a:lnSpc>
                <a:spcPts val="3000"/>
              </a:lnSpc>
            </a:pPr>
            <a:r>
              <a:rPr lang="zh-TW" altLang="zh-TW" sz="1600" dirty="0"/>
              <a:t>100 Mbps Ethernet</a:t>
            </a:r>
            <a:endParaRPr lang="en-US" altLang="zh-TW" sz="1600" dirty="0"/>
          </a:p>
          <a:p>
            <a:pPr lvl="1">
              <a:lnSpc>
                <a:spcPts val="3000"/>
              </a:lnSpc>
            </a:pPr>
            <a:r>
              <a:rPr lang="zh-TW" altLang="zh-TW" sz="1600" dirty="0"/>
              <a:t>Full-size microSD</a:t>
            </a:r>
            <a:r>
              <a:rPr lang="en-US" altLang="zh-TW" sz="1600" dirty="0"/>
              <a:t> </a:t>
            </a:r>
            <a:r>
              <a:rPr lang="zh-TW" altLang="zh-TW" sz="1600" dirty="0"/>
              <a:t>/</a:t>
            </a:r>
            <a:r>
              <a:rPr lang="en-US" altLang="zh-TW" sz="1600" dirty="0"/>
              <a:t> </a:t>
            </a:r>
            <a:r>
              <a:rPr lang="zh-TW" altLang="zh-TW" sz="1600" dirty="0"/>
              <a:t>SD card slot</a:t>
            </a:r>
            <a:endParaRPr lang="en-US" altLang="zh-TW" sz="1600" dirty="0"/>
          </a:p>
          <a:p>
            <a:pPr lvl="1">
              <a:lnSpc>
                <a:spcPts val="3000"/>
              </a:lnSpc>
            </a:pPr>
            <a:r>
              <a:rPr lang="zh-TW" altLang="zh-TW" sz="1600" dirty="0"/>
              <a:t>Raspberry Pi </a:t>
            </a:r>
            <a:r>
              <a:rPr lang="en-US" altLang="zh-TW" sz="1600" dirty="0"/>
              <a:t>2</a:t>
            </a:r>
            <a:r>
              <a:rPr lang="zh-TW" altLang="zh-TW" sz="1600" dirty="0"/>
              <a:t>0-pin GPIO Header</a:t>
            </a:r>
            <a:endParaRPr lang="en-US" altLang="zh-TW" sz="1600" dirty="0"/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04CB93EC-70F9-C156-B0D6-865566297A52}"/>
              </a:ext>
            </a:extLst>
          </p:cNvPr>
          <p:cNvGrpSpPr/>
          <p:nvPr/>
        </p:nvGrpSpPr>
        <p:grpSpPr>
          <a:xfrm>
            <a:off x="4786971" y="2118206"/>
            <a:ext cx="4355484" cy="3518336"/>
            <a:chOff x="4919051" y="2311490"/>
            <a:chExt cx="4355484" cy="3518336"/>
          </a:xfrm>
        </p:grpSpPr>
        <p:pic>
          <p:nvPicPr>
            <p:cNvPr id="9" name="圖片 8">
              <a:extLst>
                <a:ext uri="{FF2B5EF4-FFF2-40B4-BE49-F238E27FC236}">
                  <a16:creationId xmlns:a16="http://schemas.microsoft.com/office/drawing/2014/main" id="{D05EC9F3-3B1F-0804-ABB2-FED1F868223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6200000">
              <a:off x="5337625" y="1892916"/>
              <a:ext cx="3518336" cy="4355484"/>
            </a:xfrm>
            <a:prstGeom prst="rect">
              <a:avLst/>
            </a:prstGeom>
          </p:spPr>
        </p:pic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F30A8529-FFAB-930A-5539-9FFE9096171A}"/>
                </a:ext>
              </a:extLst>
            </p:cNvPr>
            <p:cNvSpPr/>
            <p:nvPr/>
          </p:nvSpPr>
          <p:spPr>
            <a:xfrm>
              <a:off x="7073900" y="4549140"/>
              <a:ext cx="1046480" cy="38100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685642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NeTV2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D929304B-5341-8BBF-E71F-AF5F2FE7268A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ts val="3000"/>
              </a:lnSpc>
            </a:pP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HDMI RX 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作為 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SDI 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子卡輸入通道之可行性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SDI 與 HDMI 的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影像總資料量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相近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HDMI RX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除常駐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3.3V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上拉電阻外並無經過其他模組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風險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3.3 V 直流偏壓與輸出電壓不一致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阻抗不匹配與高頻訊號反射</a:t>
            </a:r>
          </a:p>
        </p:txBody>
      </p:sp>
      <p:grpSp>
        <p:nvGrpSpPr>
          <p:cNvPr id="9" name="群組 8">
            <a:extLst>
              <a:ext uri="{FF2B5EF4-FFF2-40B4-BE49-F238E27FC236}">
                <a16:creationId xmlns:a16="http://schemas.microsoft.com/office/drawing/2014/main" id="{76975124-E8E3-08DF-BBB4-363F9CD7646B}"/>
              </a:ext>
            </a:extLst>
          </p:cNvPr>
          <p:cNvGrpSpPr/>
          <p:nvPr/>
        </p:nvGrpSpPr>
        <p:grpSpPr>
          <a:xfrm>
            <a:off x="2381518" y="3673366"/>
            <a:ext cx="4014181" cy="2575034"/>
            <a:chOff x="2791462" y="3600175"/>
            <a:chExt cx="3713480" cy="2382139"/>
          </a:xfrm>
        </p:grpSpPr>
        <p:pic>
          <p:nvPicPr>
            <p:cNvPr id="4" name="圖片 3">
              <a:extLst>
                <a:ext uri="{FF2B5EF4-FFF2-40B4-BE49-F238E27FC236}">
                  <a16:creationId xmlns:a16="http://schemas.microsoft.com/office/drawing/2014/main" id="{17EB3549-39B2-8D39-F9FE-F239173F664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6306" r="7217" b="8181"/>
            <a:stretch>
              <a:fillRect/>
            </a:stretch>
          </p:blipFill>
          <p:spPr>
            <a:xfrm>
              <a:off x="2791462" y="3600175"/>
              <a:ext cx="3713480" cy="2382139"/>
            </a:xfrm>
            <a:prstGeom prst="rect">
              <a:avLst/>
            </a:prstGeom>
          </p:spPr>
        </p:pic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296711C8-3760-FF99-F549-AE06B8734FE4}"/>
                </a:ext>
              </a:extLst>
            </p:cNvPr>
            <p:cNvSpPr/>
            <p:nvPr/>
          </p:nvSpPr>
          <p:spPr>
            <a:xfrm>
              <a:off x="4684705" y="4781994"/>
              <a:ext cx="485610" cy="22909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8" name="群組 7">
            <a:extLst>
              <a:ext uri="{FF2B5EF4-FFF2-40B4-BE49-F238E27FC236}">
                <a16:creationId xmlns:a16="http://schemas.microsoft.com/office/drawing/2014/main" id="{90913244-4751-3518-901A-D963712D6AE5}"/>
              </a:ext>
            </a:extLst>
          </p:cNvPr>
          <p:cNvGrpSpPr/>
          <p:nvPr/>
        </p:nvGrpSpPr>
        <p:grpSpPr>
          <a:xfrm>
            <a:off x="6398874" y="1143000"/>
            <a:ext cx="2706477" cy="5105400"/>
            <a:chOff x="6730979" y="1143000"/>
            <a:chExt cx="2565419" cy="4839314"/>
          </a:xfrm>
        </p:grpSpPr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2A146F38-59DE-6890-C656-6D1C3D18464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730979" y="1143000"/>
              <a:ext cx="2565419" cy="4839314"/>
            </a:xfrm>
            <a:prstGeom prst="rect">
              <a:avLst/>
            </a:prstGeom>
          </p:spPr>
        </p:pic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12F990E7-7D23-D5CC-3EF0-83A44E289218}"/>
                </a:ext>
              </a:extLst>
            </p:cNvPr>
            <p:cNvSpPr/>
            <p:nvPr/>
          </p:nvSpPr>
          <p:spPr>
            <a:xfrm>
              <a:off x="8355330" y="3752256"/>
              <a:ext cx="571500" cy="18347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0" name="文字方塊 9">
            <a:extLst>
              <a:ext uri="{FF2B5EF4-FFF2-40B4-BE49-F238E27FC236}">
                <a16:creationId xmlns:a16="http://schemas.microsoft.com/office/drawing/2014/main" id="{DC878286-817A-B7C1-0121-35FDAFDFC499}"/>
              </a:ext>
            </a:extLst>
          </p:cNvPr>
          <p:cNvSpPr txBox="1"/>
          <p:nvPr/>
        </p:nvSpPr>
        <p:spPr>
          <a:xfrm>
            <a:off x="1724628" y="6476050"/>
            <a:ext cx="7882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[1] </a:t>
            </a:r>
            <a:r>
              <a:rPr lang="zh-TW" altLang="en-US" dirty="0"/>
              <a:t>https://github.com/AlphamaxMedia/netv2-mainboard/blob/master/netv2mvp-pvt1.pdf</a:t>
            </a:r>
          </a:p>
        </p:txBody>
      </p:sp>
    </p:spTree>
    <p:extLst>
      <p:ext uri="{BB962C8B-B14F-4D97-AF65-F5344CB8AC3E}">
        <p14:creationId xmlns:p14="http://schemas.microsoft.com/office/powerpoint/2010/main" val="41084710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8BDF0-8203-5101-5AD7-8123D67DB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EC9E0606-7D9A-7A5E-BEE9-FE41BD691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LiteX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/ 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Xilinx ZCU106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F11FE19D-395D-C6BE-38FF-AD4C02E0FA80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ts val="3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優勢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可利用 LiteX 建立 SoC 基礎架構，減少部分底層開發工作</a:t>
            </a:r>
          </a:p>
          <a:p>
            <a:pPr lvl="1">
              <a:lnSpc>
                <a:spcPts val="3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LiteDRAM、LitePCIe 等開源模組具有可重用的基礎實作</a:t>
            </a:r>
          </a:p>
          <a:p>
            <a:pPr lvl="1">
              <a:lnSpc>
                <a:spcPts val="3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具備 HDMI、SDI 硬體資源及 PCIe 介面</a:t>
            </a:r>
          </a:p>
          <a:p>
            <a:pPr>
              <a:lnSpc>
                <a:spcPts val="3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劣勢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</a:p>
          <a:p>
            <a:pPr lvl="1">
              <a:lnSpc>
                <a:spcPts val="30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SDI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RX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HDMI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RX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需要使用其他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IP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外部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IP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不一定能與 </a:t>
            </a:r>
            <a:r>
              <a:rPr lang="en-US" altLang="zh-TW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LiteX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直接整合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尚未找到已驗證的完整開源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專案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，多項功能需要驗證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架構</a:t>
            </a:r>
            <a:endParaRPr lang="zh-TW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390F4142-C3C7-F585-A6E2-6A7697650EF6}"/>
              </a:ext>
            </a:extLst>
          </p:cNvPr>
          <p:cNvGrpSpPr/>
          <p:nvPr/>
        </p:nvGrpSpPr>
        <p:grpSpPr>
          <a:xfrm>
            <a:off x="6840638" y="1469257"/>
            <a:ext cx="2455760" cy="2186973"/>
            <a:chOff x="6986296" y="3782285"/>
            <a:chExt cx="2310101" cy="2057255"/>
          </a:xfrm>
        </p:grpSpPr>
        <p:pic>
          <p:nvPicPr>
            <p:cNvPr id="6" name="圖片 5">
              <a:extLst>
                <a:ext uri="{FF2B5EF4-FFF2-40B4-BE49-F238E27FC236}">
                  <a16:creationId xmlns:a16="http://schemas.microsoft.com/office/drawing/2014/main" id="{8F238F56-B6CF-6D88-8B04-5ED6E671C57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986296" y="3782285"/>
              <a:ext cx="2310101" cy="1722787"/>
            </a:xfrm>
            <a:prstGeom prst="rect">
              <a:avLst/>
            </a:prstGeom>
          </p:spPr>
        </p:pic>
        <p:sp>
          <p:nvSpPr>
            <p:cNvPr id="7" name="文字方塊 10">
              <a:extLst>
                <a:ext uri="{FF2B5EF4-FFF2-40B4-BE49-F238E27FC236}">
                  <a16:creationId xmlns:a16="http://schemas.microsoft.com/office/drawing/2014/main" id="{40F7D8C0-1202-F756-2DCE-B5919BFE4893}"/>
                </a:ext>
              </a:extLst>
            </p:cNvPr>
            <p:cNvSpPr txBox="1"/>
            <p:nvPr/>
          </p:nvSpPr>
          <p:spPr>
            <a:xfrm>
              <a:off x="7344842" y="5505072"/>
              <a:ext cx="1951555" cy="33446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lvl="1"/>
              <a:r>
                <a:rPr lang="zh-TW" altLang="zh-TW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AMD Xilinx ZCU106</a:t>
              </a:r>
              <a:endPara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pic>
        <p:nvPicPr>
          <p:cNvPr id="4" name="圖片 3">
            <a:extLst>
              <a:ext uri="{FF2B5EF4-FFF2-40B4-BE49-F238E27FC236}">
                <a16:creationId xmlns:a16="http://schemas.microsoft.com/office/drawing/2014/main" id="{7C4AD534-891A-C466-C499-BCEB2486DF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7519" y="4687212"/>
            <a:ext cx="5631084" cy="1618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24762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5B238-6305-8C1D-F131-1131B383D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6">
            <a:extLst>
              <a:ext uri="{FF2B5EF4-FFF2-40B4-BE49-F238E27FC236}">
                <a16:creationId xmlns:a16="http://schemas.microsoft.com/office/drawing/2014/main" id="{C5A39396-0FC0-F873-8983-773643CFCFD9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ts val="3000"/>
              </a:lnSpc>
            </a:pP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可行性評估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與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風險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Video-Example-Designs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開源專案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提供 HDMI RX 架構參考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目前在 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IP Catalog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中所查詢到的 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HDMI RX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IP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需要授權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SDI / HDMI 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前端電路可能影響 FPGA RX 的 GT、時鐘配置與 IP 整合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架構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67EBDB1E-821A-915C-2DD3-F7DD8CB9D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Xilinx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 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Xilinx ZCU106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1D42232-1292-CDC2-3408-3F971FD6AD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5083" y="3429000"/>
            <a:ext cx="7315834" cy="2476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53602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8BDF0-8203-5101-5AD7-8123D67DB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EC9E0606-7D9A-7A5E-BEE9-FE41BD691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Summary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aphicFrame>
        <p:nvGraphicFramePr>
          <p:cNvPr id="7" name="表格 24">
            <a:extLst>
              <a:ext uri="{FF2B5EF4-FFF2-40B4-BE49-F238E27FC236}">
                <a16:creationId xmlns:a16="http://schemas.microsoft.com/office/drawing/2014/main" id="{2BADAE84-E4AE-F6C6-4C30-2941BAB41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5411007"/>
              </p:ext>
            </p:extLst>
          </p:nvPr>
        </p:nvGraphicFramePr>
        <p:xfrm>
          <a:off x="953686" y="1161291"/>
          <a:ext cx="7998628" cy="5087109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999657">
                  <a:extLst>
                    <a:ext uri="{9D8B030D-6E8A-4147-A177-3AD203B41FA5}">
                      <a16:colId xmlns:a16="http://schemas.microsoft.com/office/drawing/2014/main" val="2418638751"/>
                    </a:ext>
                  </a:extLst>
                </a:gridCol>
                <a:gridCol w="1999657">
                  <a:extLst>
                    <a:ext uri="{9D8B030D-6E8A-4147-A177-3AD203B41FA5}">
                      <a16:colId xmlns:a16="http://schemas.microsoft.com/office/drawing/2014/main" val="58910734"/>
                    </a:ext>
                  </a:extLst>
                </a:gridCol>
                <a:gridCol w="1999657">
                  <a:extLst>
                    <a:ext uri="{9D8B030D-6E8A-4147-A177-3AD203B41FA5}">
                      <a16:colId xmlns:a16="http://schemas.microsoft.com/office/drawing/2014/main" val="1964622646"/>
                    </a:ext>
                  </a:extLst>
                </a:gridCol>
                <a:gridCol w="1999657">
                  <a:extLst>
                    <a:ext uri="{9D8B030D-6E8A-4147-A177-3AD203B41FA5}">
                      <a16:colId xmlns:a16="http://schemas.microsoft.com/office/drawing/2014/main" val="2217758771"/>
                    </a:ext>
                  </a:extLst>
                </a:gridCol>
              </a:tblGrid>
              <a:tr h="771501">
                <a:tc>
                  <a:txBody>
                    <a:bodyPr/>
                    <a:lstStyle/>
                    <a:p>
                      <a:pPr algn="ctr"/>
                      <a:endParaRPr lang="zh-TW" altLang="en-US" sz="16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35569" marR="135569" marT="67784" marB="6778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zh-TW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NeTV2</a:t>
                      </a:r>
                      <a:r>
                        <a:rPr lang="zh-TW" altLang="en-US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zh-TW" altLang="zh-TW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混合</a:t>
                      </a:r>
                      <a:endParaRPr lang="zh-TW" altLang="en-US" sz="16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35569" marR="135569" marT="67784" marB="6778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zh-TW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ZCU106 混合</a:t>
                      </a:r>
                      <a:endParaRPr lang="zh-TW" altLang="en-US" sz="16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35569" marR="135569" marT="67784" marB="6778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zh-TW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ZCU106</a:t>
                      </a:r>
                      <a:r>
                        <a:rPr lang="en-US" altLang="zh-TW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/ </a:t>
                      </a:r>
                      <a:r>
                        <a:rPr lang="zh-TW" altLang="zh-TW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Xilinx</a:t>
                      </a:r>
                      <a:endParaRPr lang="zh-TW" altLang="en-US" sz="16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35569" marR="135569" marT="67784" marB="67784" anchor="ctr"/>
                </a:tc>
                <a:extLst>
                  <a:ext uri="{0D108BD9-81ED-4DB2-BD59-A6C34878D82A}">
                    <a16:rowId xmlns:a16="http://schemas.microsoft.com/office/drawing/2014/main" val="4047486063"/>
                  </a:ext>
                </a:extLst>
              </a:tr>
              <a:tr h="771501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zh-TW" altLang="zh-TW" sz="1600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硬體平台</a:t>
                      </a:r>
                      <a:r>
                        <a:rPr lang="zh-TW" altLang="en-US" sz="1600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TW" sz="1600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zh-TW" altLang="en-US" sz="1600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zh-TW" altLang="zh-TW" sz="1600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生態</a:t>
                      </a:r>
                      <a:endParaRPr lang="en-US" altLang="zh-TW" sz="1600" b="0" i="0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0404" marR="10404" marT="10404" marB="0" anchor="ctr"/>
                </a:tc>
                <a:tc>
                  <a:txBody>
                    <a:bodyPr/>
                    <a:lstStyle/>
                    <a:p>
                      <a:pPr marL="285750" indent="-285750" algn="l" fontAlgn="ctr">
                        <a:buFont typeface="Wingdings" panose="05000000000000000000" pitchFamily="2" charset="2"/>
                        <a:buChar char="Ø"/>
                      </a:pPr>
                      <a:r>
                        <a:rPr lang="zh-TW" altLang="zh-TW" sz="1600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NeTV2</a:t>
                      </a:r>
                      <a:endParaRPr lang="en-US" altLang="zh-TW" sz="16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marL="285750" marR="0" lvl="0" indent="-2857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lang="en-US" altLang="zh-TW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Xilinx and </a:t>
                      </a:r>
                      <a:r>
                        <a:rPr lang="en-US" altLang="zh-TW" sz="16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LiteX</a:t>
                      </a:r>
                      <a:endParaRPr lang="en-US" altLang="zh-TW" sz="1600" b="0" i="0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0404" marR="10404" marT="10404" marB="0" anchor="ctr"/>
                </a:tc>
                <a:tc>
                  <a:txBody>
                    <a:bodyPr/>
                    <a:lstStyle/>
                    <a:p>
                      <a:pPr marL="285750" indent="-285750" algn="l" fontAlgn="ctr">
                        <a:buFont typeface="Wingdings" panose="05000000000000000000" pitchFamily="2" charset="2"/>
                        <a:buChar char="Ø"/>
                      </a:pPr>
                      <a:r>
                        <a:rPr lang="en-US" altLang="zh-TW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ZCU106</a:t>
                      </a:r>
                    </a:p>
                    <a:p>
                      <a:pPr marL="285750" indent="-285750" algn="l" fontAlgn="ctr">
                        <a:buFont typeface="Wingdings" panose="05000000000000000000" pitchFamily="2" charset="2"/>
                        <a:buChar char="Ø"/>
                      </a:pPr>
                      <a:r>
                        <a:rPr lang="en-US" altLang="zh-TW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Xilinx and </a:t>
                      </a:r>
                      <a:r>
                        <a:rPr lang="en-US" altLang="zh-TW" sz="16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LiteX</a:t>
                      </a:r>
                      <a:endParaRPr lang="en-US" altLang="zh-TW" sz="1600" b="0" i="0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0404" marR="10404" marT="10404" marB="0" anchor="ctr"/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lang="en-US" altLang="zh-TW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ZCU106</a:t>
                      </a:r>
                    </a:p>
                    <a:p>
                      <a:pPr marL="285750" marR="0" lvl="0" indent="-2857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lang="en-US" altLang="zh-TW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Xilinx</a:t>
                      </a:r>
                    </a:p>
                  </a:txBody>
                  <a:tcPr marL="10404" marR="10404" marT="10404" marB="0" anchor="ctr"/>
                </a:tc>
                <a:extLst>
                  <a:ext uri="{0D108BD9-81ED-4DB2-BD59-A6C34878D82A}">
                    <a16:rowId xmlns:a16="http://schemas.microsoft.com/office/drawing/2014/main" val="100759405"/>
                  </a:ext>
                </a:extLst>
              </a:tr>
              <a:tr h="771501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HDMI</a:t>
                      </a:r>
                      <a:r>
                        <a:rPr lang="zh-TW" altLang="en-US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TW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RX</a:t>
                      </a:r>
                    </a:p>
                  </a:txBody>
                  <a:tcPr marL="10404" marR="10404" marT="10404" marB="0" anchor="ctr"/>
                </a:tc>
                <a:tc>
                  <a:txBody>
                    <a:bodyPr/>
                    <a:lstStyle/>
                    <a:p>
                      <a:pPr marL="285750" indent="-285750" algn="l" fontAlgn="ctr">
                        <a:buFont typeface="Wingdings" panose="05000000000000000000" pitchFamily="2" charset="2"/>
                        <a:buChar char="Ø"/>
                      </a:pPr>
                      <a:r>
                        <a:rPr lang="en-US" altLang="zh-TW" sz="16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LiteX</a:t>
                      </a:r>
                      <a:endParaRPr lang="en-US" altLang="zh-TW" sz="1600" b="0" i="0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0404" marR="10404" marT="10404" marB="0" anchor="ctr"/>
                </a:tc>
                <a:tc>
                  <a:txBody>
                    <a:bodyPr/>
                    <a:lstStyle/>
                    <a:p>
                      <a:pPr marL="285750" indent="-285750" algn="l" fontAlgn="ctr">
                        <a:buFont typeface="Wingdings" panose="05000000000000000000" pitchFamily="2" charset="2"/>
                        <a:buChar char="Ø"/>
                      </a:pPr>
                      <a:r>
                        <a:rPr lang="en-US" altLang="zh-TW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Xilinx IP</a:t>
                      </a:r>
                    </a:p>
                  </a:txBody>
                  <a:tcPr marL="10404" marR="10404" marT="10404" marB="0" anchor="ctr"/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lang="en-US" altLang="zh-TW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Xilinx IP</a:t>
                      </a:r>
                    </a:p>
                  </a:txBody>
                  <a:tcPr marL="10404" marR="10404" marT="10404" marB="0" anchor="ctr"/>
                </a:tc>
                <a:extLst>
                  <a:ext uri="{0D108BD9-81ED-4DB2-BD59-A6C34878D82A}">
                    <a16:rowId xmlns:a16="http://schemas.microsoft.com/office/drawing/2014/main" val="4097251436"/>
                  </a:ext>
                </a:extLst>
              </a:tr>
              <a:tr h="771501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SDI</a:t>
                      </a:r>
                      <a:r>
                        <a:rPr lang="zh-TW" altLang="en-US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TW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RX</a:t>
                      </a:r>
                      <a:endParaRPr lang="zh-TW" altLang="en-US" sz="1600" b="0" i="0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0404" marR="10404" marT="10404" marB="0" anchor="ctr"/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lang="en-US" altLang="zh-TW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Xilinx IP</a:t>
                      </a:r>
                    </a:p>
                  </a:txBody>
                  <a:tcPr marL="10404" marR="10404" marT="10404" marB="0" anchor="ctr"/>
                </a:tc>
                <a:tc>
                  <a:txBody>
                    <a:bodyPr/>
                    <a:lstStyle/>
                    <a:p>
                      <a:pPr marL="285750" lvl="0" indent="-285750" algn="l" fontAlgn="ctr">
                        <a:buClr>
                          <a:srgbClr val="000000"/>
                        </a:buClr>
                        <a:buFont typeface="Wingdings" panose="05000000000000000000" pitchFamily="2" charset="2"/>
                        <a:buChar char="Ø"/>
                      </a:pPr>
                      <a:r>
                        <a:rPr lang="en-US" altLang="zh-TW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Xilinx IP</a:t>
                      </a:r>
                    </a:p>
                  </a:txBody>
                  <a:tcPr marL="10404" marR="10404" marT="10404" marB="0" anchor="ctr"/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lang="en-US" altLang="zh-TW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Xilinx IP</a:t>
                      </a:r>
                    </a:p>
                  </a:txBody>
                  <a:tcPr marL="10404" marR="10404" marT="10404" marB="0" anchor="ctr"/>
                </a:tc>
                <a:extLst>
                  <a:ext uri="{0D108BD9-81ED-4DB2-BD59-A6C34878D82A}">
                    <a16:rowId xmlns:a16="http://schemas.microsoft.com/office/drawing/2014/main" val="4244588434"/>
                  </a:ext>
                </a:extLst>
              </a:tr>
              <a:tr h="771501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DRAM</a:t>
                      </a:r>
                      <a:r>
                        <a:rPr lang="zh-TW" altLang="en-US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TW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zh-TW" altLang="en-US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TW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PCIe / Driver</a:t>
                      </a:r>
                      <a:endParaRPr lang="zh-TW" altLang="en-US" sz="1600" b="0" i="0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0404" marR="10404" marT="10404" marB="0" anchor="ctr"/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lang="en-US" altLang="zh-TW" sz="16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LiteX</a:t>
                      </a:r>
                      <a:endParaRPr lang="en-US" altLang="zh-TW" sz="1600" b="0" i="0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0404" marR="10404" marT="10404" marB="0" anchor="ctr"/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lang="en-US" altLang="zh-TW" sz="16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LiteX</a:t>
                      </a:r>
                      <a:endParaRPr lang="en-US" altLang="zh-TW" sz="1600" b="0" i="0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0404" marR="10404" marT="10404" marB="0" anchor="ctr"/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lang="en-US" altLang="zh-TW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Xilinx IP</a:t>
                      </a:r>
                    </a:p>
                  </a:txBody>
                  <a:tcPr marL="10404" marR="10404" marT="10404" marB="0" anchor="ctr"/>
                </a:tc>
                <a:extLst>
                  <a:ext uri="{0D108BD9-81ED-4DB2-BD59-A6C34878D82A}">
                    <a16:rowId xmlns:a16="http://schemas.microsoft.com/office/drawing/2014/main" val="4100677602"/>
                  </a:ext>
                </a:extLst>
              </a:tr>
              <a:tr h="771501"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zh-TW" sz="1600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主要風險</a:t>
                      </a:r>
                      <a:endParaRPr lang="zh-TW" altLang="en-US" sz="1600" b="0" i="0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0404" marR="10404" marT="10404" marB="0" anchor="ctr"/>
                </a:tc>
                <a:tc>
                  <a:txBody>
                    <a:bodyPr/>
                    <a:lstStyle/>
                    <a:p>
                      <a:pPr marL="285750" indent="-285750" algn="l" fontAlgn="ctr">
                        <a:buFont typeface="Wingdings" panose="05000000000000000000" pitchFamily="2" charset="2"/>
                        <a:buChar char="Ø"/>
                      </a:pPr>
                      <a:r>
                        <a:rPr lang="zh-TW" altLang="zh-TW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SDI</a:t>
                      </a:r>
                      <a:r>
                        <a:rPr lang="zh-TW" altLang="en-US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硬體</a:t>
                      </a:r>
                      <a:r>
                        <a:rPr lang="zh-TW" altLang="zh-TW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不</a:t>
                      </a:r>
                      <a:r>
                        <a:rPr lang="zh-TW" altLang="en-US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直接支援</a:t>
                      </a:r>
                      <a:r>
                        <a:rPr lang="zh-TW" altLang="zh-TW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、需額外整合</a:t>
                      </a:r>
                      <a:endParaRPr lang="en-US" altLang="zh-TW" sz="16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marL="285750" indent="-285750" algn="l" fontAlgn="ctr">
                        <a:buFont typeface="Wingdings" panose="05000000000000000000" pitchFamily="2" charset="2"/>
                        <a:buChar char="Ø"/>
                      </a:pPr>
                      <a:r>
                        <a:rPr lang="en-US" altLang="zh-TW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SDI</a:t>
                      </a:r>
                      <a:r>
                        <a:rPr lang="zh-TW" altLang="en-US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缺乏硬體電路訊號可能不穩</a:t>
                      </a:r>
                      <a:endParaRPr lang="en-US" altLang="zh-TW" sz="16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marL="285750" marR="0" lvl="0" indent="-2857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lang="zh-TW" altLang="en-US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不同生態界面</a:t>
                      </a:r>
                      <a:r>
                        <a:rPr lang="zh-TW" altLang="zh-TW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整合</a:t>
                      </a:r>
                      <a:endParaRPr lang="en-US" altLang="zh-TW" sz="16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0404" marR="10404" marT="10404" marB="0" anchor="ctr"/>
                </a:tc>
                <a:tc>
                  <a:txBody>
                    <a:bodyPr/>
                    <a:lstStyle/>
                    <a:p>
                      <a:pPr marL="285750" lvl="0" indent="-285750" algn="l">
                        <a:buClr>
                          <a:srgbClr val="000000"/>
                        </a:buClr>
                        <a:buFont typeface="Wingdings" panose="05000000000000000000" pitchFamily="2" charset="2"/>
                        <a:buChar char="Ø"/>
                      </a:pPr>
                      <a:r>
                        <a:rPr lang="zh-TW" altLang="en-US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部分 </a:t>
                      </a:r>
                      <a:r>
                        <a:rPr lang="zh-TW" altLang="zh-TW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IP 授權</a:t>
                      </a:r>
                      <a:endParaRPr lang="en-US" altLang="zh-TW" sz="16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lang="en-US" altLang="zh-TW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IP</a:t>
                      </a:r>
                      <a:r>
                        <a:rPr lang="zh-TW" altLang="en-US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與平台</a:t>
                      </a:r>
                      <a:r>
                        <a:rPr lang="zh-TW" altLang="zh-TW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相容性</a:t>
                      </a:r>
                      <a:endParaRPr lang="en-US" altLang="zh-TW" sz="16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lang="zh-TW" altLang="en-US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不同生態界面</a:t>
                      </a:r>
                      <a:r>
                        <a:rPr lang="zh-TW" altLang="zh-TW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整合</a:t>
                      </a:r>
                      <a:endParaRPr lang="en-US" altLang="zh-TW" sz="16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0404" marR="10404" marT="10404" marB="0" anchor="ctr"/>
                </a:tc>
                <a:tc>
                  <a:txBody>
                    <a:bodyPr/>
                    <a:lstStyle/>
                    <a:p>
                      <a:pPr marL="285750" indent="-285750" algn="l">
                        <a:buFont typeface="Wingdings" panose="05000000000000000000" pitchFamily="2" charset="2"/>
                        <a:buChar char="Ø"/>
                      </a:pPr>
                      <a:r>
                        <a:rPr lang="zh-TW" altLang="en-US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部分 </a:t>
                      </a:r>
                      <a:r>
                        <a:rPr lang="zh-TW" altLang="zh-TW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IP 授權</a:t>
                      </a:r>
                      <a:endParaRPr lang="en-US" altLang="zh-TW" sz="16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marL="285750" indent="-285750" algn="l">
                        <a:buFont typeface="Wingdings" panose="05000000000000000000" pitchFamily="2" charset="2"/>
                        <a:buChar char="Ø"/>
                      </a:pPr>
                      <a:r>
                        <a:rPr lang="en-US" altLang="zh-TW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IP</a:t>
                      </a:r>
                      <a:r>
                        <a:rPr lang="zh-TW" altLang="en-US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與平台</a:t>
                      </a:r>
                      <a:r>
                        <a:rPr lang="zh-TW" altLang="zh-TW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相容性</a:t>
                      </a:r>
                      <a:endParaRPr lang="en-US" altLang="zh-TW" sz="16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marL="285750" indent="-285750" algn="l">
                        <a:buFont typeface="Wingdings" panose="05000000000000000000" pitchFamily="2" charset="2"/>
                        <a:buChar char="Ø"/>
                      </a:pPr>
                      <a:r>
                        <a:rPr lang="zh-TW" altLang="zh-TW" sz="16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系統整合</a:t>
                      </a:r>
                      <a:endParaRPr lang="en-US" altLang="zh-TW" sz="16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0404" marR="10404" marT="10404" marB="0" anchor="ctr"/>
                </a:tc>
                <a:extLst>
                  <a:ext uri="{0D108BD9-81ED-4DB2-BD59-A6C34878D82A}">
                    <a16:rowId xmlns:a16="http://schemas.microsoft.com/office/drawing/2014/main" val="18175838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27158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64" name="圖片 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357746" y="3004771"/>
            <a:ext cx="5556738" cy="848458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2097165" name="Picture 2" descr="http://www.secretariat.ntust.edu.tw/ezfiles/20/1020/img/1688/09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64866" y="1628181"/>
            <a:ext cx="6260123" cy="1186962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2097166" name="圖片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3650" y="4226628"/>
            <a:ext cx="4266522" cy="9305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plate">
  <a:themeElements>
    <a:clrScheme name="template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329429</TotalTime>
  <Words>737</Words>
  <Application>Microsoft Office PowerPoint</Application>
  <PresentationFormat>A4 紙張 (210x297 公釐)</PresentationFormat>
  <Paragraphs>120</Paragraphs>
  <Slides>9</Slides>
  <Notes>9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9</vt:i4>
      </vt:variant>
    </vt:vector>
  </HeadingPairs>
  <TitlesOfParts>
    <vt:vector size="14" baseType="lpstr">
      <vt:lpstr>Noto Sans Symbols</vt:lpstr>
      <vt:lpstr>Arial</vt:lpstr>
      <vt:lpstr>Times New Roman</vt:lpstr>
      <vt:lpstr>Wingdings</vt:lpstr>
      <vt:lpstr>template</vt:lpstr>
      <vt:lpstr>Progress Report</vt:lpstr>
      <vt:lpstr>上次進度: LiteX vs Xilinx</vt:lpstr>
      <vt:lpstr>本次進度: LiteX / SDI </vt:lpstr>
      <vt:lpstr>本次進度: NeTV2</vt:lpstr>
      <vt:lpstr>本次進度: NeTV2</vt:lpstr>
      <vt:lpstr>本次進度: LiteX / Xilinx ZCU106</vt:lpstr>
      <vt:lpstr>本次進度: Xilinx / Xilinx ZCU106 </vt:lpstr>
      <vt:lpstr>本次進度: Summary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Embedded CMOS Image Sensor System Design and Implementation</dc:title>
  <dc:creator>mblin</dc:creator>
  <cp:lastModifiedBy>sis ila</cp:lastModifiedBy>
  <cp:revision>3477</cp:revision>
  <dcterms:created xsi:type="dcterms:W3CDTF">2003-02-17T16:04:03Z</dcterms:created>
  <dcterms:modified xsi:type="dcterms:W3CDTF">2026-10-23T13:34:18Z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c323e086d3b141ca89c275423e00507f</vt:lpwstr>
  </property>
</Properties>
</file>