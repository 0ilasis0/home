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8"/>
  </p:notesMasterIdLst>
  <p:sldIdLst>
    <p:sldId id="277" r:id="rId2"/>
    <p:sldId id="1994" r:id="rId3"/>
    <p:sldId id="1937" r:id="rId4"/>
    <p:sldId id="1938" r:id="rId5"/>
    <p:sldId id="1997" r:id="rId6"/>
    <p:sldId id="1998" r:id="rId7"/>
    <p:sldId id="2001" r:id="rId8"/>
    <p:sldId id="2008" r:id="rId9"/>
    <p:sldId id="2013" r:id="rId10"/>
    <p:sldId id="2010" r:id="rId11"/>
    <p:sldId id="2015" r:id="rId12"/>
    <p:sldId id="2014" r:id="rId13"/>
    <p:sldId id="286" r:id="rId14"/>
    <p:sldId id="2002" r:id="rId15"/>
    <p:sldId id="2005" r:id="rId16"/>
    <p:sldId id="2006" r:id="rId17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94"/>
          </p14:sldIdLst>
        </p14:section>
        <p14:section name="PCS" id="{7189DFBE-4EEB-4F74-853B-C02E818AF80E}">
          <p14:sldIdLst>
            <p14:sldId id="1937"/>
            <p14:sldId id="1938"/>
            <p14:sldId id="1997"/>
          </p14:sldIdLst>
        </p14:section>
        <p14:section name="Display ICC Profile結構" id="{BB7C1619-F4F0-4ADE-9EBD-8F3795FF0CC6}">
          <p14:sldIdLst>
            <p14:sldId id="1998"/>
            <p14:sldId id="2001"/>
            <p14:sldId id="2008"/>
          </p14:sldIdLst>
        </p14:section>
        <p14:section name=" ICC Profile - 校正資料" id="{E65D862C-83D1-46B7-B7EA-AEC9D994F1E4}">
          <p14:sldIdLst>
            <p14:sldId id="2013"/>
            <p14:sldId id="2010"/>
            <p14:sldId id="2015"/>
          </p14:sldIdLst>
        </p14:section>
        <p14:section name="未來方向" id="{5971402B-6926-431D-89B8-CB51A2DAAEFC}">
          <p14:sldIdLst>
            <p14:sldId id="2014"/>
          </p14:sldIdLst>
        </p14:section>
        <p14:section name="End" id="{33EEDC85-A799-4CB3-BF13-F4955B8630BE}">
          <p14:sldIdLst>
            <p14:sldId id="286"/>
            <p14:sldId id="2002"/>
            <p14:sldId id="2005"/>
            <p14:sldId id="200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81675" autoAdjust="0"/>
  </p:normalViewPr>
  <p:slideViewPr>
    <p:cSldViewPr snapToGrid="0">
      <p:cViewPr varScale="1">
        <p:scale>
          <a:sx n="78" d="100"/>
          <a:sy n="78" d="100"/>
        </p:scale>
        <p:origin x="1808" y="3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不同裝置都有自己的色彩表示方式。</a:t>
            </a:r>
          </a:p>
          <a:p>
            <a:pPr marL="0" indent="0"/>
            <a:r>
              <a:rPr lang="zh-TW" altLang="en-US" dirty="0"/>
              <a:t>如果直接進行裝置對裝置的色彩轉換，當裝置種類增加時，就需要建立更多裝置之間的轉換關係。</a:t>
            </a:r>
          </a:p>
          <a:p>
            <a:pPr marL="0" indent="0"/>
            <a:r>
              <a:rPr lang="zh-TW" altLang="en-US" dirty="0"/>
              <a:t>例如，相機拍攝的影像如果要在印表機上重現相近的色彩，由於相機與印表機使用不同的色彩表示方式，因此需要進行色彩轉換。</a:t>
            </a:r>
          </a:p>
          <a:p>
            <a:pPr marL="0" indent="0"/>
            <a:r>
              <a:rPr lang="zh-TW" altLang="en-US" dirty="0"/>
              <a:t>當設備數量增加時，如果每一台設備之間都需要建立獨立的轉換關係，色彩管理就會變得非常複雜，形成所謂的 </a:t>
            </a:r>
            <a:r>
              <a:rPr lang="en-US" altLang="zh-TW" b="1" dirty="0"/>
              <a:t>Color Transform Jungle</a:t>
            </a:r>
            <a:r>
              <a:rPr lang="zh-TW" altLang="en-US" dirty="0"/>
              <a:t>，也就是圖中所看到的情況。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因此</a:t>
            </a:r>
            <a:r>
              <a:rPr lang="en-US" altLang="zh-TW" dirty="0"/>
              <a:t>ICC </a:t>
            </a:r>
            <a:r>
              <a:rPr lang="zh-TW" altLang="en-US" dirty="0"/>
              <a:t>的做法則是引入共同且無關裝置的色彩空間</a:t>
            </a:r>
            <a:r>
              <a:rPr lang="en-US" altLang="zh-TW" dirty="0"/>
              <a:t>PCS</a:t>
            </a:r>
            <a:r>
              <a:rPr lang="zh-TW" altLang="en-US" dirty="0"/>
              <a:t>，讓不同裝置的色彩資料可以透過這個共同空間進行轉換，而不需要為每一對裝置建立獨立的轉換關係</a:t>
            </a:r>
            <a:r>
              <a:rPr lang="zh-TW" altLang="zh-TW" dirty="0"/>
              <a:t>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實際的色彩轉換，是由裝置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RGB </a:t>
            </a:r>
            <a:r>
              <a:rPr lang="zh-TW" altLang="en-US" dirty="0"/>
              <a:t>資料，透過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ICC Profile </a:t>
            </a:r>
            <a:r>
              <a:rPr lang="zh-TW" altLang="en-US" dirty="0"/>
              <a:t>進行轉換，得到共同的裝置無關色彩空間，也就是 </a:t>
            </a:r>
            <a:r>
              <a:rPr lang="en-US" altLang="zh-TW" dirty="0"/>
              <a:t>PCS</a:t>
            </a:r>
            <a:r>
              <a:rPr lang="zh-TW" altLang="en-US" dirty="0"/>
              <a:t>，再由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B </a:t>
            </a:r>
            <a:r>
              <a:rPr lang="zh-TW" altLang="en-US" dirty="0"/>
              <a:t>的 </a:t>
            </a:r>
            <a:r>
              <a:rPr lang="en-US" altLang="zh-TW" dirty="0"/>
              <a:t>ICC Profile</a:t>
            </a:r>
            <a:r>
              <a:rPr lang="zh-TW" altLang="en-US" dirty="0"/>
              <a:t>，將 </a:t>
            </a:r>
            <a:r>
              <a:rPr lang="en-US" altLang="zh-TW" dirty="0"/>
              <a:t>PCS </a:t>
            </a:r>
            <a:r>
              <a:rPr lang="zh-TW" altLang="en-US" dirty="0"/>
              <a:t>的 </a:t>
            </a:r>
            <a:r>
              <a:rPr lang="en-US" altLang="zh-TW" dirty="0"/>
              <a:t>XYZ </a:t>
            </a:r>
            <a:r>
              <a:rPr lang="zh-TW" altLang="en-US" dirty="0"/>
              <a:t>轉換成裝置 </a:t>
            </a:r>
            <a:r>
              <a:rPr lang="en-US" altLang="zh-TW" dirty="0"/>
              <a:t>B </a:t>
            </a:r>
            <a:r>
              <a:rPr lang="zh-TW" altLang="en-US" dirty="0"/>
              <a:t>所需要的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6664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75CA-3512-5200-7DBF-85A4A62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0701003-F5AB-395E-1F05-C522252BF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A99BDB9-DB82-178B-856D-AEF12F8D8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VCGT</a:t>
            </a:r>
            <a:r>
              <a:rPr lang="en-US" altLang="zh-TW" dirty="0"/>
              <a:t> </a:t>
            </a:r>
            <a:r>
              <a:rPr lang="zh-TW" altLang="en-US" dirty="0"/>
              <a:t>主要儲存 </a:t>
            </a:r>
            <a:r>
              <a:rPr lang="en-US" altLang="zh-TW" dirty="0"/>
              <a:t>RGB </a:t>
            </a:r>
            <a:r>
              <a:rPr lang="zh-TW" altLang="en-US" dirty="0"/>
              <a:t>三組 </a:t>
            </a:r>
            <a:r>
              <a:rPr lang="en-US" altLang="zh-TW" dirty="0"/>
              <a:t>Gamma Ramp</a:t>
            </a:r>
            <a:r>
              <a:rPr lang="zh-TW" altLang="en-US" dirty="0"/>
              <a:t>，也就是 </a:t>
            </a:r>
            <a:r>
              <a:rPr lang="en-US" altLang="zh-TW" dirty="0"/>
              <a:t>1D LUT</a:t>
            </a:r>
            <a:r>
              <a:rPr lang="zh-TW" altLang="en-US" dirty="0"/>
              <a:t>，</a:t>
            </a:r>
            <a:r>
              <a:rPr lang="en-US" altLang="zh-TW" dirty="0"/>
              <a:t>Windows </a:t>
            </a:r>
            <a:r>
              <a:rPr lang="zh-TW" altLang="en-US" dirty="0"/>
              <a:t>可以利用它進行顯示校正。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MS00</a:t>
            </a:r>
            <a:r>
              <a:rPr lang="en-US" altLang="zh-TW" dirty="0"/>
              <a:t> </a:t>
            </a:r>
            <a:r>
              <a:rPr lang="zh-TW" altLang="en-US" dirty="0"/>
              <a:t>是 </a:t>
            </a:r>
            <a:r>
              <a:rPr lang="en-US" altLang="zh-TW" dirty="0"/>
              <a:t>Microsoft </a:t>
            </a:r>
            <a:r>
              <a:rPr lang="zh-TW" altLang="en-US" dirty="0"/>
              <a:t>的私有 </a:t>
            </a:r>
            <a:r>
              <a:rPr lang="en-US" altLang="zh-TW" dirty="0"/>
              <a:t>Tag</a:t>
            </a:r>
            <a:r>
              <a:rPr lang="zh-TW" altLang="en-US" dirty="0"/>
              <a:t>，同樣可以儲存 </a:t>
            </a:r>
            <a:r>
              <a:rPr lang="en-US" altLang="zh-TW" dirty="0"/>
              <a:t>Gamma Ramp </a:t>
            </a:r>
            <a:r>
              <a:rPr lang="zh-TW" altLang="en-US" dirty="0"/>
              <a:t>校正資料。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MHC2</a:t>
            </a:r>
            <a:r>
              <a:rPr lang="en-US" altLang="zh-TW" dirty="0"/>
              <a:t> </a:t>
            </a:r>
            <a:r>
              <a:rPr lang="zh-TW" altLang="en-US" dirty="0"/>
              <a:t>則是 </a:t>
            </a:r>
            <a:r>
              <a:rPr lang="en-US" altLang="zh-TW" dirty="0"/>
              <a:t>Windows 10 2004 </a:t>
            </a:r>
            <a:r>
              <a:rPr lang="zh-TW" altLang="en-US" dirty="0"/>
              <a:t>之後的新校正機制。除了 </a:t>
            </a:r>
            <a:r>
              <a:rPr lang="en-US" altLang="zh-TW" dirty="0"/>
              <a:t>1D LUT </a:t>
            </a:r>
            <a:r>
              <a:rPr lang="zh-TW" altLang="en-US" dirty="0"/>
              <a:t>之外，它還可以包含 </a:t>
            </a:r>
            <a:r>
              <a:rPr lang="en-US" altLang="zh-TW" dirty="0"/>
              <a:t>XYZ-to-XYZ </a:t>
            </a:r>
            <a:r>
              <a:rPr lang="zh-TW" altLang="en-US" dirty="0"/>
              <a:t>的校正矩陣，因此能處理比單純 </a:t>
            </a:r>
            <a:r>
              <a:rPr lang="en-US" altLang="zh-TW" dirty="0"/>
              <a:t>Gamma Ramp </a:t>
            </a:r>
            <a:r>
              <a:rPr lang="zh-TW" altLang="en-US" dirty="0"/>
              <a:t>更完整的顯示校正。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C5EF3-FCDA-CAE3-2B84-5FAC4A4AEC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75113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86EDD-7E59-3AB8-C679-CC30FFE7F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434257-F0DE-AEE9-04C9-D329750FF2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FC723B-B57F-C33D-0C03-279471C7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dirty="0"/>
              <a:t>Windows </a:t>
            </a:r>
            <a:r>
              <a:rPr lang="zh-TW" altLang="en-US" dirty="0"/>
              <a:t>目前存在兩條不同的顯示校正路徑：傳統的 </a:t>
            </a:r>
            <a:r>
              <a:rPr lang="en-US" altLang="zh-TW" b="1" dirty="0"/>
              <a:t>Gamma Ramp Pipeline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Windows 10 2004 </a:t>
            </a:r>
            <a:r>
              <a:rPr lang="zh-TW" altLang="en-US" dirty="0"/>
              <a:t>引入的 </a:t>
            </a:r>
            <a:r>
              <a:rPr lang="en-US" altLang="zh-TW" b="1" dirty="0"/>
              <a:t>GPU Color Transform </a:t>
            </a:r>
            <a:r>
              <a:rPr lang="en-US" altLang="zh-TW" b="1" dirty="0" err="1"/>
              <a:t>Pipelin</a:t>
            </a:r>
            <a:endParaRPr lang="en-US" altLang="zh-TW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dirty="0"/>
              <a:t>VCGT/MS00 </a:t>
            </a:r>
            <a:r>
              <a:rPr lang="zh-TW" altLang="en-US" dirty="0"/>
              <a:t>是傳統 </a:t>
            </a:r>
            <a:r>
              <a:rPr lang="en-US" altLang="zh-TW" dirty="0"/>
              <a:t>Gamma Ramp Pipeline </a:t>
            </a:r>
            <a:r>
              <a:rPr lang="zh-TW" altLang="en-US" dirty="0"/>
              <a:t>的校正資料，</a:t>
            </a:r>
            <a:r>
              <a:rPr lang="en-US" altLang="zh-TW" dirty="0"/>
              <a:t>Windows </a:t>
            </a:r>
            <a:r>
              <a:rPr lang="zh-TW" altLang="en-US" dirty="0"/>
              <a:t>載入後套用至 </a:t>
            </a:r>
            <a:r>
              <a:rPr lang="en-US" altLang="zh-TW" dirty="0"/>
              <a:t>Gamma Ramp</a:t>
            </a:r>
            <a:r>
              <a:rPr lang="zh-TW" altLang="en-US" dirty="0"/>
              <a:t>，對顯示進行 </a:t>
            </a:r>
            <a:r>
              <a:rPr lang="en-US" altLang="zh-TW" dirty="0"/>
              <a:t>RGB </a:t>
            </a:r>
            <a:r>
              <a:rPr lang="zh-TW" altLang="en-US" dirty="0"/>
              <a:t>通道的 </a:t>
            </a:r>
            <a:r>
              <a:rPr lang="en-US" altLang="zh-TW" dirty="0"/>
              <a:t>1D LUT </a:t>
            </a:r>
            <a:r>
              <a:rPr lang="zh-TW" altLang="en-US" dirty="0"/>
              <a:t>調整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dirty="0"/>
              <a:t>MHC2 </a:t>
            </a:r>
            <a:r>
              <a:rPr lang="zh-TW" altLang="en-US" dirty="0"/>
              <a:t>則提供兩類校正：首先將來源 </a:t>
            </a:r>
            <a:r>
              <a:rPr lang="en-US" altLang="zh-TW" dirty="0"/>
              <a:t>RGB </a:t>
            </a:r>
            <a:r>
              <a:rPr lang="zh-TW" altLang="en-US" dirty="0"/>
              <a:t>轉換至 </a:t>
            </a:r>
            <a:r>
              <a:rPr lang="en-US" altLang="zh-TW" dirty="0"/>
              <a:t>CIEXYZ</a:t>
            </a:r>
            <a:r>
              <a:rPr lang="zh-TW" altLang="en-US" dirty="0"/>
              <a:t>，在 </a:t>
            </a:r>
            <a:r>
              <a:rPr lang="en-US" altLang="zh-TW" dirty="0"/>
              <a:t>CIEXYZ </a:t>
            </a:r>
            <a:r>
              <a:rPr lang="zh-TW" altLang="en-US" dirty="0"/>
              <a:t>空間中使用 </a:t>
            </a:r>
            <a:r>
              <a:rPr lang="en-US" altLang="zh-TW" dirty="0"/>
              <a:t>3×3 adjustment </a:t>
            </a:r>
            <a:r>
              <a:rPr lang="zh-TW" altLang="en-US" dirty="0"/>
              <a:t>矩陣進行校正；接著在 </a:t>
            </a:r>
            <a:r>
              <a:rPr lang="en-US" altLang="zh-TW" dirty="0"/>
              <a:t>Target </a:t>
            </a:r>
            <a:r>
              <a:rPr lang="en-US" altLang="zh-TW" dirty="0" err="1"/>
              <a:t>ReGamma</a:t>
            </a:r>
            <a:r>
              <a:rPr lang="en-US" altLang="zh-TW" dirty="0"/>
              <a:t> </a:t>
            </a:r>
            <a:r>
              <a:rPr lang="zh-TW" altLang="en-US" dirty="0"/>
              <a:t>階段使用 </a:t>
            </a:r>
            <a:r>
              <a:rPr lang="en-US" altLang="zh-TW" dirty="0"/>
              <a:t>1D LUT </a:t>
            </a:r>
            <a:r>
              <a:rPr lang="zh-TW" altLang="en-US" dirty="0"/>
              <a:t>進行調整。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AE0FC2C-7562-289F-30A1-6202FD9A3C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532991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13</a:t>
            </a:fld>
            <a:endParaRPr lang="en-US" altLang="zh-TW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DCB87-D510-3E12-0B70-9F66CF2E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C2220D8-AB85-841B-EEFB-AA26789AE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zh-TW" dirty="0"/>
                  <a:t>此 </a:t>
                </a:r>
                <a14:m>
                  <m:oMath xmlns:m="http://schemas.openxmlformats.org/officeDocument/2006/math">
                    <m:r>
                      <a:rPr lang="zh-TW" altLang="en-US" sz="1200" b="0" i="1" u="none" strike="noStrike" cap="none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𝑌</m:t>
                    </m:r>
                    <m:r>
                      <a:rPr lang="en-US" altLang="zh-TW" sz="1200" b="0" i="0" u="none" strike="noStrike" cap="none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=1</m:t>
                    </m:r>
                  </m:oMath>
                </a14:m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</a:p>
            </p:txBody>
          </p:sp>
        </mc:Choice>
        <mc:Fallback xmlns="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zh-TW" dirty="0"/>
                  <a:t>此 </a:t>
                </a:r>
                <a:r>
                  <a:rPr lang="zh-TW" altLang="en-US" sz="12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𝑌</a:t>
                </a:r>
                <a:r>
                  <a:rPr lang="en-US" altLang="zh-TW" sz="12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=1</a:t>
                </a:r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E301C6-59CB-7CC2-23BD-00E11BDD5D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4529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72D9A-17ED-75CA-795D-509CF0D8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9CEF18-87E4-2E84-A1BF-D6C3FDCAD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6A84E15-D033-5994-8FD9-2EF38E9D9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接著我們將</a:t>
            </a:r>
            <a:r>
              <a:rPr lang="en-US" altLang="zh-TW" dirty="0"/>
              <a:t>RGB</a:t>
            </a:r>
            <a:r>
              <a:rPr lang="zh-TW" altLang="en-US" dirty="0"/>
              <a:t>合成為</a:t>
            </a:r>
            <a:r>
              <a:rPr lang="en-US" altLang="zh-TW" dirty="0"/>
              <a:t>3*3</a:t>
            </a:r>
            <a:r>
              <a:rPr lang="zh-TW" altLang="en-US" dirty="0"/>
              <a:t>矩陣</a:t>
            </a:r>
            <a:r>
              <a:rPr lang="en-US" altLang="zh-TW" dirty="0"/>
              <a:t>P</a:t>
            </a:r>
            <a:r>
              <a:rPr lang="zh-TW" altLang="en-US" dirty="0"/>
              <a:t>，此時</a:t>
            </a:r>
            <a:r>
              <a:rPr lang="en-US" altLang="zh-TW" dirty="0"/>
              <a:t>P</a:t>
            </a:r>
            <a:r>
              <a:rPr lang="zh-TW" altLang="en-US" dirty="0"/>
              <a:t>便代表</a:t>
            </a:r>
            <a:r>
              <a:rPr lang="zh-TW" altLang="zh-TW" dirty="0"/>
              <a:t>三原色各自的色度方向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3150AD-26DE-59A4-DABA-A8A92E906A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588796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A681A-88EB-5E43-27F0-EA34E562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C04ECA-D873-1236-C2C8-8A052C1F5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EBD2639-D696-3DD9-3C32-292A4F25C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最終結果得到縮放比例與</a:t>
            </a:r>
            <a:r>
              <a:rPr lang="en-US" altLang="zh-TW" dirty="0"/>
              <a:t>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C49B69-3433-A410-E980-5AC38B1577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226011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archive.color.org/specifications/ICC.1-2022-05.pdf?utm_source=chatgpt.co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wcs/display-calibration-mhc?utm_source=chatgpt.com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wcs/display-calibration-mhc?utm_source=chatgpt.com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lor.org/profiles/assessment/?utm_source=chatgpt.com" TargetMode="External"/><Relationship Id="rId3" Type="http://schemas.openxmlformats.org/officeDocument/2006/relationships/image" Target="../media/image70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0.png"/><Relationship Id="rId11" Type="http://schemas.openxmlformats.org/officeDocument/2006/relationships/image" Target="../media/image16.png"/><Relationship Id="rId5" Type="http://schemas.openxmlformats.org/officeDocument/2006/relationships/image" Target="../media/image90.png"/><Relationship Id="rId10" Type="http://schemas.openxmlformats.org/officeDocument/2006/relationships/image" Target="../media/image15.png"/><Relationship Id="rId4" Type="http://schemas.openxmlformats.org/officeDocument/2006/relationships/image" Target="../media/image80.png"/><Relationship Id="rId9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1007523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校正檔案，並與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是建立開放、廠商中立、跨平台的色彩管理系統架構與元件標準，是提供跨平台的 Device Profile 格式，使不同裝置之間的色彩資料可以進行轉換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  <a:r>
              <a:rPr lang="en-US" altLang="zh-TW" sz="1600" baseline="-25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74C124-A957-366F-6E34-2775A49BE3DE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International Color Consortium, “International Color Consortium,”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https://www.color.org/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6234153-2243-3AE6-50F0-5BF73B34C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7963" y="1382679"/>
            <a:ext cx="8250074" cy="4865721"/>
          </a:xfrm>
          <a:custGeom>
            <a:avLst/>
            <a:gdLst>
              <a:gd name="csX0" fmla="*/ 6192058 w 7476836"/>
              <a:gd name="csY0" fmla="*/ 3412858 h 4409681"/>
              <a:gd name="csX1" fmla="*/ 6192058 w 7476836"/>
              <a:gd name="csY1" fmla="*/ 4286618 h 4409681"/>
              <a:gd name="csX2" fmla="*/ 7390938 w 7476836"/>
              <a:gd name="csY2" fmla="*/ 4286618 h 4409681"/>
              <a:gd name="csX3" fmla="*/ 7390938 w 7476836"/>
              <a:gd name="csY3" fmla="*/ 3412858 h 4409681"/>
              <a:gd name="csX4" fmla="*/ 0 w 7476836"/>
              <a:gd name="csY4" fmla="*/ 0 h 4409681"/>
              <a:gd name="csX5" fmla="*/ 7476836 w 7476836"/>
              <a:gd name="csY5" fmla="*/ 0 h 4409681"/>
              <a:gd name="csX6" fmla="*/ 7476836 w 7476836"/>
              <a:gd name="csY6" fmla="*/ 4409681 h 4409681"/>
              <a:gd name="csX7" fmla="*/ 0 w 7476836"/>
              <a:gd name="csY7" fmla="*/ 4409681 h 44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476836" h="4409681">
                <a:moveTo>
                  <a:pt x="6192058" y="3412858"/>
                </a:moveTo>
                <a:lnTo>
                  <a:pt x="6192058" y="4286618"/>
                </a:lnTo>
                <a:lnTo>
                  <a:pt x="7390938" y="4286618"/>
                </a:lnTo>
                <a:lnTo>
                  <a:pt x="7390938" y="3412858"/>
                </a:lnTo>
                <a:close/>
                <a:moveTo>
                  <a:pt x="0" y="0"/>
                </a:moveTo>
                <a:lnTo>
                  <a:pt x="7476836" y="0"/>
                </a:lnTo>
                <a:lnTo>
                  <a:pt x="7476836" y="4409681"/>
                </a:lnTo>
                <a:lnTo>
                  <a:pt x="0" y="440968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22D6573-B360-5362-29E4-19065BAD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9137" y="1190964"/>
            <a:ext cx="8467726" cy="5057436"/>
          </a:xfrm>
          <a:custGeom>
            <a:avLst/>
            <a:gdLst>
              <a:gd name="csX0" fmla="*/ 6138143 w 7369006"/>
              <a:gd name="csY0" fmla="*/ 3412858 h 4401214"/>
              <a:gd name="csX1" fmla="*/ 6138143 w 7369006"/>
              <a:gd name="csY1" fmla="*/ 4286618 h 4401214"/>
              <a:gd name="csX2" fmla="*/ 7337023 w 7369006"/>
              <a:gd name="csY2" fmla="*/ 4286618 h 4401214"/>
              <a:gd name="csX3" fmla="*/ 7337023 w 7369006"/>
              <a:gd name="csY3" fmla="*/ 3412858 h 4401214"/>
              <a:gd name="csX4" fmla="*/ 0 w 7369006"/>
              <a:gd name="csY4" fmla="*/ 0 h 4401214"/>
              <a:gd name="csX5" fmla="*/ 7369006 w 7369006"/>
              <a:gd name="csY5" fmla="*/ 0 h 4401214"/>
              <a:gd name="csX6" fmla="*/ 7369006 w 7369006"/>
              <a:gd name="csY6" fmla="*/ 4401214 h 4401214"/>
              <a:gd name="csX7" fmla="*/ 0 w 7369006"/>
              <a:gd name="csY7" fmla="*/ 4401214 h 4401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369006" h="4401214">
                <a:moveTo>
                  <a:pt x="6138143" y="3412858"/>
                </a:moveTo>
                <a:lnTo>
                  <a:pt x="6138143" y="4286618"/>
                </a:lnTo>
                <a:lnTo>
                  <a:pt x="7337023" y="4286618"/>
                </a:lnTo>
                <a:lnTo>
                  <a:pt x="7337023" y="3412858"/>
                </a:lnTo>
                <a:close/>
                <a:moveTo>
                  <a:pt x="0" y="0"/>
                </a:moveTo>
                <a:lnTo>
                  <a:pt x="7369006" y="0"/>
                </a:lnTo>
                <a:lnTo>
                  <a:pt x="7369006" y="4401214"/>
                </a:lnTo>
                <a:lnTo>
                  <a:pt x="0" y="4401214"/>
                </a:lnTo>
                <a:close/>
              </a:path>
            </a:pathLst>
          </a:cu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2E62D90A-238F-15C1-A17C-8D898584815F}"/>
              </a:ext>
            </a:extLst>
          </p:cNvPr>
          <p:cNvSpPr txBox="1"/>
          <p:nvPr/>
        </p:nvSpPr>
        <p:spPr>
          <a:xfrm>
            <a:off x="520699" y="1369489"/>
            <a:ext cx="7669813" cy="440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406400">
              <a:lnSpc>
                <a:spcPts val="3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簡易的轉換流程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996691D-0E63-96A8-06C3-40BD92D16B49}"/>
              </a:ext>
            </a:extLst>
          </p:cNvPr>
          <p:cNvSpPr/>
          <p:nvPr/>
        </p:nvSpPr>
        <p:spPr>
          <a:xfrm>
            <a:off x="818867" y="215634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Device RGB</a:t>
            </a:r>
            <a:endParaRPr lang="zh-TW" altLang="en-US" sz="2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99A24E-5028-5D4A-D223-7433C160BC28}"/>
              </a:ext>
            </a:extLst>
          </p:cNvPr>
          <p:cNvSpPr/>
          <p:nvPr/>
        </p:nvSpPr>
        <p:spPr>
          <a:xfrm>
            <a:off x="4246730" y="215634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 + 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Device Profile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7FD048-9844-D5F5-79C1-78326AF84161}"/>
              </a:ext>
            </a:extLst>
          </p:cNvPr>
          <p:cNvSpPr/>
          <p:nvPr/>
        </p:nvSpPr>
        <p:spPr>
          <a:xfrm>
            <a:off x="818867" y="4481497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Device RGB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BAE6D19-C5AE-76A5-69B0-0B748849B999}"/>
              </a:ext>
            </a:extLst>
          </p:cNvPr>
          <p:cNvSpPr/>
          <p:nvPr/>
        </p:nvSpPr>
        <p:spPr>
          <a:xfrm>
            <a:off x="4246730" y="4481497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 + 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Device Profile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02BAEE-F1D2-BEA9-82BD-3CC9D2FBDA07}"/>
              </a:ext>
            </a:extLst>
          </p:cNvPr>
          <p:cNvSpPr/>
          <p:nvPr/>
        </p:nvSpPr>
        <p:spPr>
          <a:xfrm>
            <a:off x="7251512" y="335214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XYZ/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Lab 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BD354F0-AC29-3F7F-21BC-649A5C656B58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2981139" y="2722728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91C66148-B7CE-F63D-A1CA-8F52D14070C9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2981139" y="5047879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接點: 肘形 24">
            <a:extLst>
              <a:ext uri="{FF2B5EF4-FFF2-40B4-BE49-F238E27FC236}">
                <a16:creationId xmlns:a16="http://schemas.microsoft.com/office/drawing/2014/main" id="{A078D20F-E1A1-89E1-B06C-8361B263C03A}"/>
              </a:ext>
            </a:extLst>
          </p:cNvPr>
          <p:cNvCxnSpPr>
            <a:stCxn id="6" idx="3"/>
            <a:endCxn id="13" idx="0"/>
          </p:cNvCxnSpPr>
          <p:nvPr/>
        </p:nvCxnSpPr>
        <p:spPr>
          <a:xfrm>
            <a:off x="6409002" y="2722728"/>
            <a:ext cx="1923646" cy="629417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:a16="http://schemas.microsoft.com/office/drawing/2014/main" id="{84FB698F-C81D-C384-B862-92390427F862}"/>
              </a:ext>
            </a:extLst>
          </p:cNvPr>
          <p:cNvCxnSpPr>
            <a:stCxn id="13" idx="2"/>
            <a:endCxn id="11" idx="3"/>
          </p:cNvCxnSpPr>
          <p:nvPr/>
        </p:nvCxnSpPr>
        <p:spPr>
          <a:xfrm rot="5400000">
            <a:off x="7089340" y="3804571"/>
            <a:ext cx="562970" cy="1923646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281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912256C4-A35A-439C-D194-BE22EDF76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3713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7B3BC9D9-DB6E-B366-7FB4-7B64CF0727F4}"/>
              </a:ext>
            </a:extLst>
          </p:cNvPr>
          <p:cNvSpPr txBox="1"/>
          <p:nvPr/>
        </p:nvSpPr>
        <p:spPr>
          <a:xfrm>
            <a:off x="1152647" y="6396335"/>
            <a:ext cx="8489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International Color Consortium,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ICC.1:2022: Image technology colour management—Architecture, profile format, and data structure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Profile version 4.4.0.0, 2022.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https://archive.color.org/specifications/ICC.1-2022-05.pdf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7028A9-4CB7-C301-D86A-34E0D8BC2C6A}"/>
              </a:ext>
            </a:extLst>
          </p:cNvPr>
          <p:cNvSpPr/>
          <p:nvPr/>
        </p:nvSpPr>
        <p:spPr>
          <a:xfrm>
            <a:off x="979714" y="3135085"/>
            <a:ext cx="677636" cy="1632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19052" y="2000250"/>
            <a:ext cx="3123138" cy="38127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86150" cy="3400042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96193"/>
            <a:ext cx="2338793" cy="1347108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Y（luminance）關係相符的 linear RGB 表示。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R=0.5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=(R)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9DF41D-9E06-E236-CA43-60889F6EE310}"/>
                </a:ext>
              </a:extLst>
            </p:cNvPr>
            <p:cNvSpPr/>
            <p:nvPr/>
          </p:nvSpPr>
          <p:spPr>
            <a:xfrm>
              <a:off x="2847686" y="3847139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:a16="http://schemas.microsoft.com/office/drawing/2014/main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2DAC1A8A-F13A-5508-510D-5274EB3BC2A2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表示。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163" y="1502831"/>
            <a:ext cx="3868905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81EF-0373-3A33-6C0E-EC125ABA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53491AC-D58D-DD71-6BC3-A952ED83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-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校正資料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4B7FB8E3-5FB9-BA2C-1030-64042180558B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Video Card Gamma Tag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儲存顯示校正用的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可以利用它將校正資料載入到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pipeline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由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1D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RGB LUT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組成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使用的private ICC tag，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顯示校正所使用的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Hardware Calibration 2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Microsoft用來存放新的 GPU display color transform pipeline 所需要的校正資料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 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*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 是用來做色彩空間中的調整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DC6F0BF-9EA8-E6B2-A137-CCF611DB7467}"/>
              </a:ext>
            </a:extLst>
          </p:cNvPr>
          <p:cNvSpPr txBox="1"/>
          <p:nvPr/>
        </p:nvSpPr>
        <p:spPr>
          <a:xfrm>
            <a:off x="1734818" y="6361271"/>
            <a:ext cx="78092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Microsoft, “Windows hardware display color calibration pipeline,”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Learn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Aug. 28, 2024.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https://learn.microsoft.com/en-us/windows/win32/wcs/display-calibration-mhc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809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99D7F-E903-4B27-15E3-697CE8AD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6">
            <a:extLst>
              <a:ext uri="{FF2B5EF4-FFF2-40B4-BE49-F238E27FC236}">
                <a16:creationId xmlns:a16="http://schemas.microsoft.com/office/drawing/2014/main" id="{161D35D4-6F09-EBFD-1918-7D9D97D108CE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VCGT/MS00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流程圖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0800" lvl="1" indent="0">
              <a:spcBef>
                <a:spcPts val="560"/>
              </a:spcBef>
              <a:buClr>
                <a:schemeClr val="accent2"/>
              </a:buClr>
              <a:buSzPts val="2800"/>
              <a:buNone/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流程圖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19BC2AD8-2B49-2773-92DC-5F6F87671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-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校正資料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1FAD839-1E58-2001-020F-CFFD68E35C3C}"/>
              </a:ext>
            </a:extLst>
          </p:cNvPr>
          <p:cNvSpPr txBox="1"/>
          <p:nvPr/>
        </p:nvSpPr>
        <p:spPr>
          <a:xfrm>
            <a:off x="1734818" y="6361271"/>
            <a:ext cx="7744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Microsoft, “Windows hardware display color calibration pipeline,”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Learn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Aug. 28, 2024.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https://learn.microsoft.com/en-us/windows/win32/wcs/display-calibration-mhc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A6AB86EA-2ADD-01A2-6126-4C71201A67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553" y="3324539"/>
            <a:ext cx="8567075" cy="1192632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39AD4A49-7455-859B-60E7-1808BA856F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552" y="4709634"/>
            <a:ext cx="8567075" cy="13043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4642A86A-FC43-2EAF-96D1-1331549B29AC}"/>
              </a:ext>
            </a:extLst>
          </p:cNvPr>
          <p:cNvSpPr/>
          <p:nvPr/>
        </p:nvSpPr>
        <p:spPr>
          <a:xfrm>
            <a:off x="812552" y="1766263"/>
            <a:ext cx="1723436" cy="9068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or MS00</a:t>
            </a:r>
            <a:endParaRPr lang="zh-TW" alt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6536FC2-9F3A-F481-C2A6-72416A5FA411}"/>
              </a:ext>
            </a:extLst>
          </p:cNvPr>
          <p:cNvSpPr/>
          <p:nvPr/>
        </p:nvSpPr>
        <p:spPr>
          <a:xfrm>
            <a:off x="3026966" y="1766263"/>
            <a:ext cx="1723436" cy="9068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Display Calibration Loader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0DCE551-06B4-E071-C23C-EDE269E74CEA}"/>
              </a:ext>
            </a:extLst>
          </p:cNvPr>
          <p:cNvSpPr/>
          <p:nvPr/>
        </p:nvSpPr>
        <p:spPr>
          <a:xfrm>
            <a:off x="5329964" y="1766263"/>
            <a:ext cx="1723436" cy="9068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5D1CBB8-5BA9-F291-BAC3-50A74FEE2ED2}"/>
              </a:ext>
            </a:extLst>
          </p:cNvPr>
          <p:cNvSpPr/>
          <p:nvPr/>
        </p:nvSpPr>
        <p:spPr>
          <a:xfrm>
            <a:off x="7656192" y="1766263"/>
            <a:ext cx="1723436" cy="9068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9969ED2C-45EF-25F3-1394-5600F62400AE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2535988" y="2219667"/>
            <a:ext cx="490978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1AC56062-280E-C720-F432-3A262E194D70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4750401" y="2219667"/>
            <a:ext cx="579563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7F27D7D5-15AF-E272-3A29-2FA9F78EE03D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053400" y="2219667"/>
            <a:ext cx="602792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3395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B362863B-770E-5FA2-25CC-948566047750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直接生成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ICC 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感測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器量測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螢幕並產生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的各項數據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研究方向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中，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是否可被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calibration loader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 LUT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裡放了什麼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 data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 LUT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怎麼計算、什麼樣子、儲存哪裡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5615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E3098E80-3E93-5F92-3D39-A2E369A16F44}"/>
              </a:ext>
            </a:extLst>
          </p:cNvPr>
          <p:cNvGrpSpPr/>
          <p:nvPr/>
        </p:nvGrpSpPr>
        <p:grpSpPr>
          <a:xfrm>
            <a:off x="5913787" y="533660"/>
            <a:ext cx="2479101" cy="3040406"/>
            <a:chOff x="1734818" y="2990136"/>
            <a:chExt cx="2019300" cy="2476500"/>
          </a:xfrm>
        </p:grpSpPr>
        <p:pic>
          <p:nvPicPr>
            <p:cNvPr id="2" name="圖片 1">
              <a:extLst>
                <a:ext uri="{FF2B5EF4-FFF2-40B4-BE49-F238E27FC236}">
                  <a16:creationId xmlns:a16="http://schemas.microsoft.com/office/drawing/2014/main" id="{3894B2E3-3478-B7B9-3C2D-EBC37E245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34818" y="2990136"/>
              <a:ext cx="2019300" cy="2476500"/>
            </a:xfrm>
            <a:prstGeom prst="rect">
              <a:avLst/>
            </a:prstGeom>
          </p:spPr>
        </p:pic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4D6ADC0D-B06D-8D18-E21A-00B9010014EB}"/>
                </a:ext>
              </a:extLst>
            </p:cNvPr>
            <p:cNvSpPr txBox="1"/>
            <p:nvPr/>
          </p:nvSpPr>
          <p:spPr>
            <a:xfrm>
              <a:off x="2276345" y="5033593"/>
              <a:ext cx="1007693" cy="275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DisplayCAL</a:t>
              </a:r>
              <a:endPara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91FE357-957A-3182-12E7-90F219E15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61298DEC-0097-A431-0637-9C676556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Matrix-based Display 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E5B8F78-8A22-D5AF-CA79-EE55EA23B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160804"/>
              </p:ext>
            </p:extLst>
          </p:nvPr>
        </p:nvGraphicFramePr>
        <p:xfrm>
          <a:off x="721004" y="2041972"/>
          <a:ext cx="3142188" cy="1219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7396">
                  <a:extLst>
                    <a:ext uri="{9D8B030D-6E8A-4147-A177-3AD203B41FA5}">
                      <a16:colId xmlns:a16="http://schemas.microsoft.com/office/drawing/2014/main" val="3590102437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3666544339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455476819"/>
                    </a:ext>
                  </a:extLst>
                </a:gridCol>
              </a:tblGrid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原色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7724251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(255,0,0)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0.3300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1619666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G</a:t>
                      </a:r>
                      <a:r>
                        <a:rPr lang="en-US" altLang="zh-TW" dirty="0"/>
                        <a:t> (0,255,0)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0.6000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134920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B</a:t>
                      </a:r>
                      <a:r>
                        <a:rPr lang="en-US" altLang="zh-TW" dirty="0"/>
                        <a:t> (0,0,255)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0.1500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0.0600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15259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8BDB7050-E618-11BA-974C-7035CB7FA24D}"/>
              </a:ext>
            </a:extLst>
          </p:cNvPr>
          <p:cNvSpPr/>
          <p:nvPr/>
        </p:nvSpPr>
        <p:spPr>
          <a:xfrm>
            <a:off x="1566646" y="3261172"/>
            <a:ext cx="1210588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量測到的值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9BD8A25A-99B7-8869-62AF-2D36C98876FA}"/>
              </a:ext>
            </a:extLst>
          </p:cNvPr>
          <p:cNvGrpSpPr/>
          <p:nvPr/>
        </p:nvGrpSpPr>
        <p:grpSpPr>
          <a:xfrm>
            <a:off x="1566646" y="4235611"/>
            <a:ext cx="1481394" cy="1337705"/>
            <a:chOff x="4548850" y="2882096"/>
            <a:chExt cx="1481394" cy="1337705"/>
          </a:xfrm>
        </p:grpSpPr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786F443D-0782-D5C7-CFA3-08A5D4B6BFEC}"/>
                </a:ext>
              </a:extLst>
            </p:cNvPr>
            <p:cNvGrpSpPr/>
            <p:nvPr/>
          </p:nvGrpSpPr>
          <p:grpSpPr>
            <a:xfrm>
              <a:off x="4548850" y="2882096"/>
              <a:ext cx="1481394" cy="717630"/>
              <a:chOff x="4444678" y="2812648"/>
              <a:chExt cx="1481394" cy="717630"/>
            </a:xfrm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BB4D6CD5-7B46-9599-FFCA-74970E1E73B5}"/>
                  </a:ext>
                </a:extLst>
              </p:cNvPr>
              <p:cNvSpPr/>
              <p:nvPr/>
            </p:nvSpPr>
            <p:spPr>
              <a:xfrm>
                <a:off x="4444678" y="2812648"/>
                <a:ext cx="1348616" cy="7176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DA94BC5-0762-F6E2-2F57-D278DFAB1094}"/>
                  </a:ext>
                </a:extLst>
              </p:cNvPr>
              <p:cNvSpPr txBox="1"/>
              <p:nvPr/>
            </p:nvSpPr>
            <p:spPr>
              <a:xfrm>
                <a:off x="4577456" y="2905780"/>
                <a:ext cx="13486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​=0.3127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​=0.3290</a:t>
                </a:r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52E5AB-ED3F-D175-A499-49FB40687585}"/>
                </a:ext>
              </a:extLst>
            </p:cNvPr>
            <p:cNvSpPr/>
            <p:nvPr/>
          </p:nvSpPr>
          <p:spPr>
            <a:xfrm>
              <a:off x="4548850" y="3635026"/>
              <a:ext cx="1415772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目標白點色彩</a:t>
              </a:r>
              <a:endParaRPr lang="en-US" altLang="zh-TW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r>
                <a:rPr lang="zh-TW" altLang="en-US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假設為</a:t>
              </a:r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D65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C61E94B3-B7AA-6859-F38D-5DC8E5BB42A3}"/>
              </a:ext>
            </a:extLst>
          </p:cNvPr>
          <p:cNvSpPr/>
          <p:nvPr/>
        </p:nvSpPr>
        <p:spPr>
          <a:xfrm>
            <a:off x="4232736" y="3105182"/>
            <a:ext cx="1070987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設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</a:t>
            </a:r>
            <a:r>
              <a:rPr lang="en-US" altLang="zh-TW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=1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5C1D1929-1040-C36F-1520-FF917811D29B}"/>
              </a:ext>
            </a:extLst>
          </p:cNvPr>
          <p:cNvGrpSpPr/>
          <p:nvPr/>
        </p:nvGrpSpPr>
        <p:grpSpPr>
          <a:xfrm>
            <a:off x="7304856" y="694648"/>
            <a:ext cx="2222339" cy="2144316"/>
            <a:chOff x="5683170" y="1284685"/>
            <a:chExt cx="2222339" cy="2144316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C08775EE-8632-2A77-9314-B11558B9FB1E}"/>
                </a:ext>
              </a:extLst>
            </p:cNvPr>
            <p:cNvSpPr/>
            <p:nvPr/>
          </p:nvSpPr>
          <p:spPr>
            <a:xfrm>
              <a:off x="5683170" y="1284685"/>
              <a:ext cx="2222339" cy="21443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/>
                <p:nvPr/>
              </p:nvSpPr>
              <p:spPr>
                <a:xfrm>
                  <a:off x="6283125" y="1807132"/>
                  <a:ext cx="933140" cy="463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altLang="zh-TW" sz="16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l-PL" altLang="zh-TW" sz="1600" i="1" baseline="-2500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pl-PL" altLang="zh-TW" sz="1600" i="1">
                            <a:latin typeface="Cambria Math" panose="020405030504060302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pl-PL" altLang="zh-TW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l-PL" altLang="zh-TW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l-PL" altLang="zh-TW" sz="1600" i="1" baseline="-2500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num>
                          <m:den>
                            <m:r>
                              <a:rPr lang="pl-PL" altLang="zh-TW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l-PL" altLang="zh-TW" sz="1600" i="1" baseline="-2500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den>
                        </m:f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125" y="1807132"/>
                  <a:ext cx="933140" cy="463781"/>
                </a:xfrm>
                <a:prstGeom prst="rect">
                  <a:avLst/>
                </a:prstGeom>
                <a:blipFill>
                  <a:blip r:embed="rId3"/>
                  <a:stretch>
                    <a:fillRect l="-4575" r="-654" b="-1447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/>
                <p:nvPr/>
              </p:nvSpPr>
              <p:spPr>
                <a:xfrm>
                  <a:off x="6474362" y="2380012"/>
                  <a:ext cx="649216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i="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  <m:r>
                          <m:rPr>
                            <m:nor/>
                          </m:rPr>
                          <a:rPr lang="en-US" altLang="zh-TW" sz="1600" i="0" baseline="-250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W</m:t>
                        </m:r>
                        <m:r>
                          <m:rPr>
                            <m:nor/>
                          </m:rPr>
                          <a:rPr lang="en-US" altLang="zh-TW" sz="1600" i="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1</m:t>
                        </m:r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4362" y="2380012"/>
                  <a:ext cx="649216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5607" r="-6542" b="-17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/>
                <p:nvPr/>
              </p:nvSpPr>
              <p:spPr>
                <a:xfrm>
                  <a:off x="5935497" y="2735332"/>
                  <a:ext cx="1682064" cy="5094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i="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Z</m:t>
                        </m:r>
                        <m:r>
                          <m:rPr>
                            <m:nor/>
                          </m:rPr>
                          <a:rPr lang="en-US" altLang="zh-TW" sz="1600" i="0" baseline="-250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W</m:t>
                        </m:r>
                        <m:r>
                          <m:rPr>
                            <m:nor/>
                          </m:rPr>
                          <a:rPr lang="en-US" altLang="zh-TW" sz="1600" i="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(1 − </m:t>
                            </m:r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xW</m:t>
                            </m:r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yW</m:t>
                            </m:r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m:rPr>
                                <m:nor/>
                              </m:rPr>
                              <a:rPr lang="en-US" altLang="zh-TW" sz="1600" i="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y</m:t>
                            </m:r>
                            <m:r>
                              <m:rPr>
                                <m:nor/>
                              </m:rPr>
                              <a:rPr lang="en-US" altLang="zh-TW" sz="1600" i="0" baseline="-25000"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W</m:t>
                            </m:r>
                          </m:den>
                        </m:f>
                      </m:oMath>
                    </m:oMathPara>
                  </a14:m>
                  <a:endParaRPr lang="zh-TW" altLang="en-US" sz="1600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5497" y="2735332"/>
                  <a:ext cx="1682064" cy="50943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6BF5A0DF-A9B2-BC29-3795-95D86E8094B0}"/>
                </a:ext>
              </a:extLst>
            </p:cNvPr>
            <p:cNvSpPr/>
            <p:nvPr/>
          </p:nvSpPr>
          <p:spPr>
            <a:xfrm>
              <a:off x="5683170" y="1369257"/>
              <a:ext cx="2020105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CIE 定義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推導公式：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EFA1BA7D-6739-0930-E66B-C7B72485673A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0800" indent="0">
              <a:lnSpc>
                <a:spcPts val="3000"/>
              </a:lnSpc>
              <a:buNone/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4B4C5EF7-A217-7D9B-9BE7-58FAFE1E147F}"/>
              </a:ext>
            </a:extLst>
          </p:cNvPr>
          <p:cNvGrpSpPr/>
          <p:nvPr/>
        </p:nvGrpSpPr>
        <p:grpSpPr>
          <a:xfrm>
            <a:off x="5673267" y="4583479"/>
            <a:ext cx="3275636" cy="1155308"/>
            <a:chOff x="4820412" y="3246174"/>
            <a:chExt cx="3275636" cy="1155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/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zh-TW" altLang="en-US" i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0.3127</m:t>
                            </m:r>
                          </m:num>
                          <m:den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i="0">
                            <a:latin typeface="Cambria Math" panose="02040503050406030204" pitchFamily="18" charset="0"/>
                          </a:rPr>
                          <m:t>≈0.9505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blipFill>
                  <a:blip r:embed="rId6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/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zh-TW" altLang="en-US" i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1−0.3127−0.3290</m:t>
                            </m:r>
                          </m:num>
                          <m:den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i="0">
                            <a:latin typeface="Cambria Math" panose="02040503050406030204" pitchFamily="18" charset="0"/>
                          </a:rPr>
                          <m:t>≈1.0891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blipFill>
                  <a:blip r:embed="rId7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E4B264F9-CD99-DE3B-9D34-FBF5DBFB5CFE}"/>
              </a:ext>
            </a:extLst>
          </p:cNvPr>
          <p:cNvSpPr txBox="1"/>
          <p:nvPr/>
        </p:nvSpPr>
        <p:spPr>
          <a:xfrm>
            <a:off x="1203767" y="6396335"/>
            <a:ext cx="8323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International Color Consortium, “Goals for profile assessment,”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International Color Consortium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8"/>
              </a:rPr>
              <a:t>https://www.color.org/profiles/assessment/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88569DE1-553A-DC5D-D6E1-ABA71C776115}"/>
              </a:ext>
            </a:extLst>
          </p:cNvPr>
          <p:cNvGrpSpPr/>
          <p:nvPr/>
        </p:nvGrpSpPr>
        <p:grpSpPr>
          <a:xfrm>
            <a:off x="5495728" y="3581803"/>
            <a:ext cx="3829233" cy="891617"/>
            <a:chOff x="5498155" y="3493800"/>
            <a:chExt cx="3829233" cy="891617"/>
          </a:xfrm>
        </p:grpSpPr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3017A3D9-55B3-9FCF-78A7-8CFF7996C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498155" y="3493800"/>
              <a:ext cx="1409822" cy="891617"/>
            </a:xfrm>
            <a:prstGeom prst="rect">
              <a:avLst/>
            </a:prstGeom>
          </p:spPr>
        </p:pic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3523FE1B-0057-E640-2C60-7E3D7A192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759225" y="3534888"/>
              <a:ext cx="1234547" cy="8001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483ACC88-335C-E8C4-BBD8-7A9AC090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993772" y="3534888"/>
              <a:ext cx="1333616" cy="8077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9173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04A77E-DAFB-2807-84F7-D70F0859E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4EA0848-8E74-3D45-9380-8E7A88853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Matrix-based Display 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01B3812A-18EF-0958-6E4C-DFB4E9BFB112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33400" lvl="1" indent="0">
              <a:lnSpc>
                <a:spcPts val="3000"/>
              </a:lnSpc>
              <a:buNone/>
            </a:pPr>
            <a:endParaRPr lang="zh-TW" altLang="en-US" sz="18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426532A-89CE-A93C-23F1-069160B45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2" y="2961543"/>
            <a:ext cx="2720576" cy="899238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3457DF2-5D87-EFF2-CAC2-FF570835AA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07" y="4433734"/>
            <a:ext cx="3972901" cy="1086606"/>
          </a:xfrm>
          <a:prstGeom prst="rect">
            <a:avLst/>
          </a:prstGeom>
        </p:spPr>
      </p:pic>
      <p:grpSp>
        <p:nvGrpSpPr>
          <p:cNvPr id="32" name="群組 31">
            <a:extLst>
              <a:ext uri="{FF2B5EF4-FFF2-40B4-BE49-F238E27FC236}">
                <a16:creationId xmlns:a16="http://schemas.microsoft.com/office/drawing/2014/main" id="{F927EF4A-6F4D-F3E8-5B09-F22CB7E5C27B}"/>
              </a:ext>
            </a:extLst>
          </p:cNvPr>
          <p:cNvGrpSpPr/>
          <p:nvPr/>
        </p:nvGrpSpPr>
        <p:grpSpPr>
          <a:xfrm>
            <a:off x="6792573" y="876300"/>
            <a:ext cx="2615878" cy="2013090"/>
            <a:chOff x="6481823" y="1030147"/>
            <a:chExt cx="2615878" cy="2013090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42E2599-7117-6097-3D20-FAF97CB0624D}"/>
                </a:ext>
              </a:extLst>
            </p:cNvPr>
            <p:cNvSpPr/>
            <p:nvPr/>
          </p:nvSpPr>
          <p:spPr>
            <a:xfrm>
              <a:off x="6481823" y="1030147"/>
              <a:ext cx="2615878" cy="20130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761FC988-00F4-E730-3BAA-BD8AB2AF8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55758" y="1143000"/>
              <a:ext cx="2214621" cy="907910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3EDD9625-B064-7565-0FCA-7776D5E05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71182" y="2050909"/>
              <a:ext cx="1470787" cy="891617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8BD80D6C-1FF3-8AFD-5D78-6B1FDB097256}"/>
                </a:ext>
              </a:extLst>
            </p:cNvPr>
            <p:cNvSpPr/>
            <p:nvPr/>
          </p:nvSpPr>
          <p:spPr>
            <a:xfrm>
              <a:off x="6615185" y="1111723"/>
              <a:ext cx="319318" cy="138499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1.</a:t>
              </a: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TW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</a:t>
              </a:r>
              <a:endParaRPr lang="zh-TW" altLang="en-US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7" name="箭號: 向右 36">
            <a:extLst>
              <a:ext uri="{FF2B5EF4-FFF2-40B4-BE49-F238E27FC236}">
                <a16:creationId xmlns:a16="http://schemas.microsoft.com/office/drawing/2014/main" id="{FBFAB6F3-B4CD-9EFE-0CF6-B1B75CD89E10}"/>
              </a:ext>
            </a:extLst>
          </p:cNvPr>
          <p:cNvSpPr/>
          <p:nvPr/>
        </p:nvSpPr>
        <p:spPr>
          <a:xfrm>
            <a:off x="4314883" y="3687917"/>
            <a:ext cx="945429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D96EEAC-BDC2-1338-2C43-7781683DD0B3}"/>
              </a:ext>
            </a:extLst>
          </p:cNvPr>
          <p:cNvSpPr/>
          <p:nvPr/>
        </p:nvSpPr>
        <p:spPr>
          <a:xfrm>
            <a:off x="3639992" y="3042727"/>
            <a:ext cx="229521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(255,255,255)</a:t>
            </a:r>
            <a:r>
              <a: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RGB</a:t>
            </a:r>
            <a:r>
              <a:rPr lang="en-US" altLang="zh-TW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=(1,1,1)</a:t>
            </a:r>
            <a:endParaRPr lang="zh-TW" altLang="en-US" sz="1600" b="0" cap="none" spc="0" baseline="-25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5EA7A6F-A098-9803-7296-8B08DDAF03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3022" y="3525961"/>
            <a:ext cx="1994507" cy="1015385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F43B0717-E53C-A39B-A94E-7E1581B101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77620" y="4840844"/>
            <a:ext cx="4488573" cy="111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545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8B4C8B-F5C5-5CEC-943D-9D2F2D9B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B6A1EF1-530D-13DA-3A32-D805CBBDB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/>
              <a:t>Matrix-based Display 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E0D12B35-8850-5C02-7382-426F584C7533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  <a:p>
            <a:pPr marL="533400" lvl="1" indent="0">
              <a:lnSpc>
                <a:spcPts val="3000"/>
              </a:lnSpc>
              <a:buNone/>
            </a:pPr>
            <a:endParaRPr lang="zh-TW" altLang="en-US" sz="18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6A9D86D-B0E3-DDB0-9AAB-1EDB67723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770" y="2002315"/>
            <a:ext cx="2018460" cy="190110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D9106978-8618-368B-C714-E843DE9BBF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217" y="4093208"/>
            <a:ext cx="4406427" cy="148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291030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319020</TotalTime>
  <Words>1846</Words>
  <Application>Microsoft Office PowerPoint</Application>
  <PresentationFormat>A4 紙張 (210x297 公釐)</PresentationFormat>
  <Paragraphs>172</Paragraphs>
  <Slides>16</Slides>
  <Notes>16</Notes>
  <HiddenSlides>3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2" baseType="lpstr">
      <vt:lpstr>Noto Sans Symbols</vt:lpstr>
      <vt:lpstr>標楷體</vt:lpstr>
      <vt:lpstr>Arial</vt:lpstr>
      <vt:lpstr>Cambria Math</vt:lpstr>
      <vt:lpstr>Times New Roman</vt:lpstr>
      <vt:lpstr>template</vt:lpstr>
      <vt:lpstr>Progress Report</vt:lpstr>
      <vt:lpstr>本次進度: 研究目標與 ICC Profile</vt:lpstr>
      <vt:lpstr>本次進度: PCS (Profile Connection Space)</vt:lpstr>
      <vt:lpstr>本次進度: PCS (Profile Connection Space)</vt:lpstr>
      <vt:lpstr>本次進度: PCS (Profile Connection Space)</vt:lpstr>
      <vt:lpstr>本次進度: Display ICC Profile 結構</vt:lpstr>
      <vt:lpstr>本次進度: Display ICC Profile 結構</vt:lpstr>
      <vt:lpstr>本次進度: Display ICC Profile 結構</vt:lpstr>
      <vt:lpstr>本次進度: ICC Profile 架構</vt:lpstr>
      <vt:lpstr>本次進度: ICC Profile - 校正資料</vt:lpstr>
      <vt:lpstr>本次進度:  ICC Profile - 校正資料</vt:lpstr>
      <vt:lpstr>未來方向</vt:lpstr>
      <vt:lpstr>PowerPoint 簡報</vt:lpstr>
      <vt:lpstr>本次進度:Matrix-based Display Profile</vt:lpstr>
      <vt:lpstr>本次進度:Matrix-based Display Profile</vt:lpstr>
      <vt:lpstr>本次進度:Matrix-based Display Profile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2668</cp:revision>
  <dcterms:created xsi:type="dcterms:W3CDTF">2003-02-17T16:04:03Z</dcterms:created>
  <dcterms:modified xsi:type="dcterms:W3CDTF">2026-09-23T05:39:04Z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