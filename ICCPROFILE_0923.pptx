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18"/>
  </p:notesMasterIdLst>
  <p:sldIdLst>
    <p:sldId id="277" r:id="rId2"/>
    <p:sldId id="1994" r:id="rId3"/>
    <p:sldId id="1937" r:id="rId4"/>
    <p:sldId id="1938" r:id="rId5"/>
    <p:sldId id="1997" r:id="rId6"/>
    <p:sldId id="1998" r:id="rId7"/>
    <p:sldId id="2001" r:id="rId8"/>
    <p:sldId id="2002" r:id="rId9"/>
    <p:sldId id="2005" r:id="rId10"/>
    <p:sldId id="2006" r:id="rId11"/>
    <p:sldId id="2015" r:id="rId12"/>
    <p:sldId id="2008" r:id="rId13"/>
    <p:sldId id="2013" r:id="rId14"/>
    <p:sldId id="2010" r:id="rId15"/>
    <p:sldId id="2014" r:id="rId16"/>
    <p:sldId id="286" r:id="rId17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Head" id="{9114FBB3-8B00-422B-ACC9-030F49096E83}">
          <p14:sldIdLst>
            <p14:sldId id="277"/>
          </p14:sldIdLst>
        </p14:section>
        <p14:section name="ICC Profile" id="{7925A652-D02A-4F07-B4BA-109FEF573EC6}">
          <p14:sldIdLst>
            <p14:sldId id="1994"/>
          </p14:sldIdLst>
        </p14:section>
        <p14:section name="PCS" id="{7189DFBE-4EEB-4F74-853B-C02E818AF80E}">
          <p14:sldIdLst>
            <p14:sldId id="1937"/>
            <p14:sldId id="1938"/>
            <p14:sldId id="1997"/>
          </p14:sldIdLst>
        </p14:section>
        <p14:section name="Display ICC Profile結構" id="{BB7C1619-F4F0-4ADE-9EBD-8F3795FF0CC6}">
          <p14:sldIdLst>
            <p14:sldId id="1998"/>
            <p14:sldId id="2001"/>
            <p14:sldId id="2002"/>
            <p14:sldId id="2005"/>
            <p14:sldId id="2006"/>
            <p14:sldId id="2015"/>
            <p14:sldId id="2008"/>
          </p14:sldIdLst>
        </p14:section>
        <p14:section name=" ICC Profile - 校正資料" id="{E65D862C-83D1-46B7-B7EA-AEC9D994F1E4}">
          <p14:sldIdLst>
            <p14:sldId id="2013"/>
            <p14:sldId id="2010"/>
          </p14:sldIdLst>
        </p14:section>
        <p14:section name="未來方向" id="{5971402B-6926-431D-89B8-CB51A2DAAEFC}">
          <p14:sldIdLst>
            <p14:sldId id="2014"/>
          </p14:sldIdLst>
        </p14:section>
        <p14:section name="End" id="{33EEDC85-A799-4CB3-BF13-F4955B8630BE}">
          <p14:sldIdLst>
            <p14:sldId id="28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32" autoAdjust="0"/>
    <p:restoredTop sz="78908" autoAdjust="0"/>
  </p:normalViewPr>
  <p:slideViewPr>
    <p:cSldViewPr snapToGrid="0">
      <p:cViewPr varScale="1">
        <p:scale>
          <a:sx n="92" d="100"/>
          <a:sy n="92" d="100"/>
        </p:scale>
        <p:origin x="1908" y="72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4102089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5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586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1048587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5252770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EE110AC-F4A0-7D78-93B0-AF6E23C1C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xmlns="" id="{AD5172F1-B577-25A9-AA74-C6AF676616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xmlns="" id="{E9BD86B3-8EAB-902A-DCF6-698ADFDE9E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zh-TW" altLang="en-US" dirty="0"/>
              <a:t>我們的目標是在目前的 </a:t>
            </a:r>
            <a:r>
              <a:rPr lang="en-US" altLang="zh-TW" dirty="0"/>
              <a:t>Tool </a:t>
            </a:r>
            <a:r>
              <a:rPr lang="zh-TW" altLang="en-US" dirty="0"/>
              <a:t>中加入 </a:t>
            </a:r>
            <a:r>
              <a:rPr lang="en-US" altLang="zh-TW" dirty="0"/>
              <a:t>ICC Profile </a:t>
            </a:r>
            <a:r>
              <a:rPr lang="zh-TW" altLang="en-US" dirty="0"/>
              <a:t>的檢視與編輯功能，並根據顯示器量測資料產生對應色溫、</a:t>
            </a:r>
            <a:r>
              <a:rPr lang="en-US" altLang="zh-TW" dirty="0"/>
              <a:t>Gamma </a:t>
            </a:r>
            <a:r>
              <a:rPr lang="zh-TW" altLang="en-US" dirty="0"/>
              <a:t>及 </a:t>
            </a:r>
            <a:r>
              <a:rPr lang="en-US" altLang="zh-TW" dirty="0"/>
              <a:t>DICOM</a:t>
            </a:r>
            <a:r>
              <a:rPr lang="zh-TW" altLang="en-US" dirty="0"/>
              <a:t>目標的軟體校正資料，最後再與硬體校正的結果進行比較</a:t>
            </a:r>
            <a:endParaRPr lang="en-US" altLang="zh-TW" dirty="0"/>
          </a:p>
          <a:p>
            <a:pPr marL="171450" marR="0" lvl="0" indent="-17145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altLang="zh-TW" dirty="0"/>
              <a:t>ICC Profile </a:t>
            </a:r>
            <a:r>
              <a:rPr lang="zh-TW" altLang="en-US" dirty="0"/>
              <a:t>是一種跨平台的裝置色彩描述檔，用來描述裝置的色彩特性，並提供</a:t>
            </a:r>
            <a:r>
              <a:rPr lang="en-US" altLang="zh-TW" dirty="0"/>
              <a:t>CMS</a:t>
            </a:r>
            <a:r>
              <a:rPr lang="zh-TW" altLang="en-US" dirty="0"/>
              <a:t>進行不同裝置之間色彩轉換所需的資訊。</a:t>
            </a:r>
            <a:endParaRPr lang="en-US" altLang="zh-TW" sz="1200" b="0" dirty="0">
              <a:latin typeface="Arial" panose="020B0604020202020204" pitchFamily="34" charset="0"/>
              <a:ea typeface="標楷體" panose="03000509000000000000" pitchFamily="65" charset="-120"/>
              <a:cs typeface="Arial" panose="020B0604020202020204" pitchFamily="34" charset="0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xmlns="" id="{69A9F744-724B-AE5D-EE31-BDB2E094083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112163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xmlns="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xmlns="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不同裝置都有自己的色彩表示方式。</a:t>
            </a:r>
          </a:p>
          <a:p>
            <a:pPr marL="0" indent="0"/>
            <a:r>
              <a:rPr lang="zh-TW" altLang="en-US" dirty="0"/>
              <a:t>如果直接進行裝置對裝置的色彩轉換，當裝置種類增加時，就需要建立更多裝置之間的轉換關係。</a:t>
            </a:r>
          </a:p>
          <a:p>
            <a:pPr marL="0" indent="0"/>
            <a:r>
              <a:rPr lang="zh-TW" altLang="en-US" dirty="0"/>
              <a:t>例如，相機拍攝的影像如果要在印表機上重現相近的色彩，由於相機與印表機使用不同的色彩表示方式，因此需要進行色彩轉換。</a:t>
            </a:r>
          </a:p>
          <a:p>
            <a:pPr marL="0" indent="0"/>
            <a:r>
              <a:rPr lang="zh-TW" altLang="en-US" dirty="0"/>
              <a:t>當設備數量增加時，如果每一台設備之間都需要建立獨立的轉換關係，色彩管理就會變得非常複雜，形成所謂的 </a:t>
            </a:r>
            <a:r>
              <a:rPr lang="en-US" altLang="zh-TW" b="1" dirty="0"/>
              <a:t>Color Transform Jungle</a:t>
            </a:r>
            <a:r>
              <a:rPr lang="zh-TW" altLang="en-US" dirty="0"/>
              <a:t>，也就是圖中所看到的情況。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xmlns="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97072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xmlns="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xmlns="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因此</a:t>
            </a:r>
            <a:r>
              <a:rPr lang="en-US" altLang="zh-TW" dirty="0"/>
              <a:t>ICC </a:t>
            </a:r>
            <a:r>
              <a:rPr lang="zh-TW" altLang="en-US" dirty="0"/>
              <a:t>的做法則是引入共同且無關裝置的色彩空間</a:t>
            </a:r>
            <a:r>
              <a:rPr lang="en-US" altLang="zh-TW" dirty="0"/>
              <a:t>PCS</a:t>
            </a:r>
            <a:r>
              <a:rPr lang="zh-TW" altLang="en-US" dirty="0"/>
              <a:t>，讓不同裝置的色彩資料可以透過這個共同空間進行轉換，而不需要為每一對裝置建立獨立的轉換關係</a:t>
            </a:r>
            <a:r>
              <a:rPr lang="zh-TW" altLang="zh-TW" dirty="0"/>
              <a:t>。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xmlns="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507897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1F37CC5-12D8-16D3-9253-45D955F69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xmlns="" id="{34823088-0DD2-55CA-4BEE-63925050B0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xmlns="" id="{ABECB207-5F1A-F34F-8FA9-CF58582A56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實際的色彩轉換，是由裝置 </a:t>
            </a:r>
            <a:r>
              <a:rPr lang="en-US" altLang="zh-TW" dirty="0"/>
              <a:t>A </a:t>
            </a:r>
            <a:r>
              <a:rPr lang="zh-TW" altLang="en-US" dirty="0"/>
              <a:t>的 </a:t>
            </a:r>
            <a:r>
              <a:rPr lang="en-US" altLang="zh-TW" dirty="0"/>
              <a:t>RGB </a:t>
            </a:r>
            <a:r>
              <a:rPr lang="zh-TW" altLang="en-US" dirty="0"/>
              <a:t>資料，透過 </a:t>
            </a:r>
            <a:r>
              <a:rPr lang="en-US" altLang="zh-TW" dirty="0"/>
              <a:t>CMM </a:t>
            </a:r>
            <a:r>
              <a:rPr lang="zh-TW" altLang="en-US" dirty="0"/>
              <a:t>使用裝置 </a:t>
            </a:r>
            <a:r>
              <a:rPr lang="en-US" altLang="zh-TW" dirty="0"/>
              <a:t>A </a:t>
            </a:r>
            <a:r>
              <a:rPr lang="zh-TW" altLang="en-US" dirty="0"/>
              <a:t>的 </a:t>
            </a:r>
            <a:r>
              <a:rPr lang="en-US" altLang="zh-TW" dirty="0"/>
              <a:t>ICC Profile </a:t>
            </a:r>
            <a:r>
              <a:rPr lang="zh-TW" altLang="en-US" dirty="0"/>
              <a:t>進行轉換，得到共同的裝置無關色彩空間，也就是 </a:t>
            </a:r>
            <a:r>
              <a:rPr lang="en-US" altLang="zh-TW" dirty="0"/>
              <a:t>PCS</a:t>
            </a:r>
            <a:r>
              <a:rPr lang="zh-TW" altLang="en-US" dirty="0"/>
              <a:t>，再由 </a:t>
            </a:r>
            <a:r>
              <a:rPr lang="en-US" altLang="zh-TW" dirty="0"/>
              <a:t>CMM </a:t>
            </a:r>
            <a:r>
              <a:rPr lang="zh-TW" altLang="en-US" dirty="0"/>
              <a:t>使用裝置 </a:t>
            </a:r>
            <a:r>
              <a:rPr lang="en-US" altLang="zh-TW" dirty="0"/>
              <a:t>B </a:t>
            </a:r>
            <a:r>
              <a:rPr lang="zh-TW" altLang="en-US" dirty="0"/>
              <a:t>的 </a:t>
            </a:r>
            <a:r>
              <a:rPr lang="en-US" altLang="zh-TW" dirty="0"/>
              <a:t>ICC Profile</a:t>
            </a:r>
            <a:r>
              <a:rPr lang="zh-TW" altLang="en-US" dirty="0"/>
              <a:t>，將 </a:t>
            </a:r>
            <a:r>
              <a:rPr lang="en-US" altLang="zh-TW" dirty="0"/>
              <a:t>PCS </a:t>
            </a:r>
            <a:r>
              <a:rPr lang="zh-TW" altLang="en-US" dirty="0"/>
              <a:t>的 </a:t>
            </a:r>
            <a:r>
              <a:rPr lang="en-US" altLang="zh-TW" dirty="0"/>
              <a:t>XYZ </a:t>
            </a:r>
            <a:r>
              <a:rPr lang="zh-TW" altLang="en-US" dirty="0"/>
              <a:t>轉換成裝置 </a:t>
            </a:r>
            <a:r>
              <a:rPr lang="en-US" altLang="zh-TW" dirty="0"/>
              <a:t>B </a:t>
            </a:r>
            <a:r>
              <a:rPr lang="zh-TW" altLang="en-US" dirty="0"/>
              <a:t>所需要的 </a:t>
            </a:r>
            <a:r>
              <a:rPr lang="en-US" altLang="zh-TW" dirty="0"/>
              <a:t>RGB</a:t>
            </a:r>
            <a:r>
              <a:rPr lang="zh-TW" altLang="en-US" dirty="0"/>
              <a:t>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xmlns="" id="{25F3CA63-2998-B736-F517-4B82A1C74C4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766646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A851A70-D7FF-B69E-2F1F-5276D7F4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xmlns="" id="{4FB2E1DE-40DE-B1BA-7135-64BFFB1631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xmlns="" id="{C4F8DB8E-F5F1-21EB-D41F-2C635FB715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zh-TW" dirty="0"/>
              <a:t>ICC Profile 是一種具有固定資料結構的二進位 Profile 檔案。其主要結構由三部分組成：Profile Header、Profile Tag Table，以及 Profile Tagged Element Data。Header 告訴系統這個 Profile 的基本資訊；Tag Table 則像目錄，告訴系統 Profile 裡有哪些 Tag 以及資料在哪裡；真正的資料則放在 Tagged Element Data 裡。</a:t>
            </a:r>
            <a:endParaRPr lang="en-US" altLang="zh-TW" dirty="0"/>
          </a:p>
          <a:p>
            <a:pPr marL="0" indent="0">
              <a:lnSpc>
                <a:spcPct val="150000"/>
              </a:lnSpc>
            </a:pPr>
            <a:endParaRPr lang="en-US" altLang="zh-TW" baseline="0" dirty="0">
              <a:solidFill>
                <a:srgbClr val="000000"/>
              </a:solidFill>
              <a:ea typeface="標楷體" panose="03000509000000000000" pitchFamily="65" charset="-120"/>
            </a:endParaRPr>
          </a:p>
          <a:p>
            <a:pPr marL="0" indent="0"/>
            <a:r>
              <a:rPr lang="zh-TW" altLang="en-US" dirty="0"/>
              <a:t>範例的</a:t>
            </a:r>
            <a:r>
              <a:rPr lang="en-US" altLang="zh-TW" dirty="0"/>
              <a:t>ICC</a:t>
            </a:r>
            <a:r>
              <a:rPr lang="zh-TW" altLang="en-US" dirty="0"/>
              <a:t>是我使用</a:t>
            </a:r>
            <a:r>
              <a:rPr lang="en-US" altLang="zh-TW" dirty="0"/>
              <a:t>windows</a:t>
            </a:r>
            <a:r>
              <a:rPr lang="zh-TW" altLang="en-US" dirty="0"/>
              <a:t>校正後產生的</a:t>
            </a:r>
            <a:r>
              <a:rPr lang="en-US" altLang="zh-TW" dirty="0"/>
              <a:t>ICC</a:t>
            </a:r>
            <a:r>
              <a:rPr lang="zh-TW" altLang="en-US" dirty="0"/>
              <a:t>檔案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xmlns="" id="{A81AD260-1FA1-46D2-EEFC-6CE390861C0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6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4948688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9BD7BE6-0C6A-24C7-EDCE-42FCC8CD5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xmlns="" id="{963FA2D6-6572-94E0-F6B6-6A5BA50192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xmlns="" id="{57639A5D-EDAF-4F81-B67C-950D2048D71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zh-TW" altLang="en-US" dirty="0"/>
              <a:t>描述 </a:t>
            </a:r>
            <a:r>
              <a:rPr lang="en-US" altLang="zh-TW" dirty="0"/>
              <a:t>RGB </a:t>
            </a:r>
            <a:r>
              <a:rPr lang="zh-TW" altLang="en-US" dirty="0"/>
              <a:t>輸入值與實際亮度響應之間的關係。它可以用 </a:t>
            </a:r>
            <a:r>
              <a:rPr lang="en-US" altLang="zh-TW" dirty="0"/>
              <a:t>Gamma </a:t>
            </a:r>
            <a:r>
              <a:rPr lang="zh-TW" altLang="en-US" dirty="0"/>
              <a:t>函數表示，也可以用 </a:t>
            </a:r>
            <a:r>
              <a:rPr lang="en-US" altLang="zh-TW" dirty="0"/>
              <a:t>LUT </a:t>
            </a:r>
            <a:r>
              <a:rPr lang="zh-TW" altLang="en-US" dirty="0"/>
              <a:t>表示。簡單來說，在進行 </a:t>
            </a:r>
            <a:r>
              <a:rPr lang="en-US" altLang="zh-TW" dirty="0"/>
              <a:t>RGB </a:t>
            </a:r>
            <a:r>
              <a:rPr lang="zh-TW" altLang="en-US" dirty="0"/>
              <a:t>到 </a:t>
            </a:r>
            <a:r>
              <a:rPr lang="en-US" altLang="zh-TW" dirty="0"/>
              <a:t>XYZ </a:t>
            </a:r>
            <a:r>
              <a:rPr lang="zh-TW" altLang="en-US" dirty="0"/>
              <a:t>的轉換時，</a:t>
            </a:r>
            <a:r>
              <a:rPr lang="en-US" altLang="zh-TW" dirty="0"/>
              <a:t>TRC </a:t>
            </a:r>
            <a:r>
              <a:rPr lang="zh-TW" altLang="en-US" dirty="0"/>
              <a:t>可以用來將非線性的 </a:t>
            </a:r>
            <a:r>
              <a:rPr lang="en-US" altLang="zh-TW" dirty="0"/>
              <a:t>RGB </a:t>
            </a:r>
            <a:r>
              <a:rPr lang="zh-TW" altLang="en-US" dirty="0"/>
              <a:t>數值轉換成線性 </a:t>
            </a:r>
            <a:r>
              <a:rPr lang="en-US" altLang="zh-TW" dirty="0"/>
              <a:t>RGB</a:t>
            </a:r>
            <a:r>
              <a:rPr lang="zh-TW" altLang="en-US" dirty="0"/>
              <a:t>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zh-TW" altLang="en-US" dirty="0"/>
              <a:t>描述裝置線性 </a:t>
            </a:r>
            <a:r>
              <a:rPr lang="en-US" altLang="zh-TW" dirty="0"/>
              <a:t>RGB </a:t>
            </a:r>
            <a:r>
              <a:rPr lang="zh-TW" altLang="en-US" dirty="0"/>
              <a:t>與 </a:t>
            </a:r>
            <a:r>
              <a:rPr lang="en-US" altLang="zh-TW" dirty="0"/>
              <a:t>XYZ </a:t>
            </a:r>
            <a:r>
              <a:rPr lang="zh-TW" altLang="en-US" dirty="0"/>
              <a:t>之間的色彩關係，通常以 </a:t>
            </a:r>
            <a:r>
              <a:rPr lang="en-US" altLang="zh-TW" dirty="0"/>
              <a:t>3×3 </a:t>
            </a:r>
            <a:r>
              <a:rPr lang="zh-TW" altLang="en-US" dirty="0"/>
              <a:t>矩陣表示，用來描述 </a:t>
            </a:r>
            <a:r>
              <a:rPr lang="en-US" altLang="zh-TW" dirty="0"/>
              <a:t>RGB </a:t>
            </a:r>
            <a:r>
              <a:rPr lang="zh-TW" altLang="en-US" dirty="0"/>
              <a:t>三原色的色度特性。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xmlns="" id="{F8ED7604-660E-D030-99B4-A4E74D119DF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7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78062201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5BDCB87-D510-3E12-0B70-9F66CF2E4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xmlns="" id="{9C2220D8-AB85-841B-EEFB-AA26789AEC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備忘稿版面配置區 2">
                <a:extLst>
                  <a:ext uri="{FF2B5EF4-FFF2-40B4-BE49-F238E27FC236}">
                    <a16:creationId xmlns:a16="http://schemas.microsoft.com/office/drawing/2014/main" xmlns="" id="{7E014429-932D-C388-46B7-D1B69AE8937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indent="0"/>
                <a:r>
                  <a:rPr lang="zh-TW" altLang="en-US" dirty="0" smtClean="0"/>
                  <a:t>白點</a:t>
                </a:r>
                <a:r>
                  <a:rPr lang="zh-TW" altLang="en-US" dirty="0"/>
                  <a:t>在</a:t>
                </a:r>
                <a:r>
                  <a:rPr lang="en-US" altLang="zh-TW" dirty="0"/>
                  <a:t>ICC Profile v4</a:t>
                </a:r>
                <a:r>
                  <a:rPr lang="zh-TW" altLang="en-US" dirty="0"/>
                  <a:t>中視使用</a:t>
                </a:r>
                <a:r>
                  <a:rPr lang="en-US" altLang="zh-TW" dirty="0"/>
                  <a:t>D50</a:t>
                </a:r>
                <a:r>
                  <a:rPr lang="zh-TW" altLang="en-US" dirty="0"/>
                  <a:t>作為標準，白點要多少取決於你要求的標準，像是要</a:t>
                </a:r>
                <a:r>
                  <a:rPr lang="en-US" altLang="zh-TW" dirty="0"/>
                  <a:t>6500K+sRGB</a:t>
                </a:r>
                <a:r>
                  <a:rPr lang="zh-TW" altLang="en-US" dirty="0"/>
                  <a:t>標準那就會是</a:t>
                </a:r>
                <a:r>
                  <a:rPr lang="en-US" altLang="zh-TW" dirty="0"/>
                  <a:t>D65</a:t>
                </a:r>
              </a:p>
              <a:p>
                <a:pPr marL="0" indent="0"/>
                <a:r>
                  <a:rPr lang="en-US" altLang="zh-TW" dirty="0" smtClean="0"/>
                  <a:t>3*1</a:t>
                </a:r>
                <a:endParaRPr lang="zh-TW" altLang="en-US" dirty="0"/>
              </a:p>
            </p:txBody>
          </p:sp>
        </mc:Choice>
        <mc:Fallback xmlns="">
          <p:sp>
            <p:nvSpPr>
              <p:cNvPr id="3" name="備忘稿版面配置區 2">
                <a:extLst>
                  <a:ext uri="{FF2B5EF4-FFF2-40B4-BE49-F238E27FC236}">
                    <a16:creationId xmlns:a16="http://schemas.microsoft.com/office/drawing/2014/main" id="{7E014429-932D-C388-46B7-D1B69AE89375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pPr marL="0" indent="0"/>
                <a:r>
                  <a:rPr lang="zh-TW" altLang="zh-TW" dirty="0"/>
                  <a:t>此 </a:t>
                </a:r>
                <a:r>
                  <a:rPr lang="zh-TW" altLang="en-US" sz="1200" b="0" i="0" u="none" strike="noStrike" cap="none">
                    <a:solidFill>
                      <a:schemeClr val="dk1"/>
                    </a:solidFill>
                    <a:latin typeface="Cambria Math" panose="02040503050406030204" pitchFamily="18" charset="0"/>
                    <a:ea typeface="Times New Roman"/>
                    <a:cs typeface="Times New Roman"/>
                    <a:sym typeface="Times New Roman"/>
                  </a:rPr>
                  <a:t>𝑌</a:t>
                </a:r>
                <a:r>
                  <a:rPr lang="en-US" altLang="zh-TW" sz="1200" b="0" i="0" u="none" strike="noStrike" cap="none">
                    <a:solidFill>
                      <a:schemeClr val="dk1"/>
                    </a:solidFill>
                    <a:latin typeface="Cambria Math" panose="02040503050406030204" pitchFamily="18" charset="0"/>
                    <a:ea typeface="Times New Roman"/>
                    <a:cs typeface="Times New Roman"/>
                    <a:sym typeface="Times New Roman"/>
                  </a:rPr>
                  <a:t>=1</a:t>
                </a:r>
                <a:r>
                  <a:rPr lang="zh-TW" altLang="zh-TW" dirty="0"/>
                  <a:t>為相對正規化值，不代表顯示器實際</a:t>
                </a:r>
                <a:r>
                  <a:rPr lang="zh-TW" altLang="en-US" dirty="0"/>
                  <a:t>亮度</a:t>
                </a:r>
                <a:endParaRPr lang="en-US" altLang="zh-TW" dirty="0"/>
              </a:p>
              <a:p>
                <a:pPr marL="0" indent="0"/>
                <a:r>
                  <a:rPr lang="zh-TW" altLang="en-US" dirty="0"/>
                  <a:t>白點在</a:t>
                </a:r>
                <a:r>
                  <a:rPr lang="en-US" altLang="zh-TW" dirty="0"/>
                  <a:t>ICC Profile v4</a:t>
                </a:r>
                <a:r>
                  <a:rPr lang="zh-TW" altLang="en-US" dirty="0"/>
                  <a:t>中視使用</a:t>
                </a:r>
                <a:r>
                  <a:rPr lang="en-US" altLang="zh-TW" dirty="0"/>
                  <a:t>D50</a:t>
                </a:r>
                <a:r>
                  <a:rPr lang="zh-TW" altLang="en-US" dirty="0"/>
                  <a:t>作為標準，白點要多少取決於你要求的標準，像是要</a:t>
                </a:r>
                <a:r>
                  <a:rPr lang="en-US" altLang="zh-TW" dirty="0"/>
                  <a:t>6500K+sRGB</a:t>
                </a:r>
                <a:r>
                  <a:rPr lang="zh-TW" altLang="en-US" dirty="0"/>
                  <a:t>標準那就會是</a:t>
                </a:r>
                <a:r>
                  <a:rPr lang="en-US" altLang="zh-TW" dirty="0"/>
                  <a:t>D65</a:t>
                </a:r>
              </a:p>
              <a:p>
                <a:pPr marL="0" indent="0"/>
                <a:endParaRPr lang="zh-TW" altLang="en-US" dirty="0"/>
              </a:p>
            </p:txBody>
          </p:sp>
        </mc:Fallback>
      </mc:AlternateContent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xmlns="" id="{ECE301C6-59CB-7CC2-23BD-00E11BDD5D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8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645296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0A72D9A-17ED-75CA-795D-509CF0D87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xmlns="" id="{269CEF18-87E4-2E84-A1BF-D6C3FDCAD9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xmlns="" id="{F6A84E15-D033-5994-8FD9-2EF38E9D98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r>
              <a:rPr lang="zh-TW" altLang="en-US" dirty="0"/>
              <a:t>接著我們將</a:t>
            </a:r>
            <a:r>
              <a:rPr lang="en-US" altLang="zh-TW" dirty="0"/>
              <a:t>RGB</a:t>
            </a:r>
            <a:r>
              <a:rPr lang="zh-TW" altLang="en-US" dirty="0"/>
              <a:t>合成為</a:t>
            </a:r>
            <a:r>
              <a:rPr lang="en-US" altLang="zh-TW" dirty="0"/>
              <a:t>3*3</a:t>
            </a:r>
            <a:r>
              <a:rPr lang="zh-TW" altLang="en-US" dirty="0"/>
              <a:t>矩陣</a:t>
            </a:r>
            <a:r>
              <a:rPr lang="en-US" altLang="zh-TW" dirty="0"/>
              <a:t>P</a:t>
            </a:r>
            <a:r>
              <a:rPr lang="zh-TW" altLang="en-US" dirty="0"/>
              <a:t>，此時</a:t>
            </a:r>
            <a:r>
              <a:rPr lang="en-US" altLang="zh-TW" dirty="0"/>
              <a:t>P</a:t>
            </a:r>
            <a:r>
              <a:rPr lang="zh-TW" altLang="en-US" dirty="0"/>
              <a:t>便代表</a:t>
            </a:r>
            <a:r>
              <a:rPr lang="zh-TW" altLang="zh-TW" dirty="0"/>
              <a:t>三原色各自的色度方向</a:t>
            </a:r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xmlns="" id="{9C3150AD-26DE-59A4-DABA-A8A92E906A3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9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588796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AFA681A-88EB-5E43-27F0-EA34E562E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xmlns="" id="{26C04ECA-D873-1236-C2C8-8A052C1F5F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xmlns="" id="{BEBD2639-D696-3DD9-3C32-292A4F25C5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xmlns="" id="{D2C49B69-3433-A410-E980-5AC38B15777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10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226011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48C1817-9E04-5A55-E8CC-FD3FF3F82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xmlns="" id="{7299D6F9-1619-B844-57EE-48AA0121A2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xmlns="" id="{17B0488B-586D-2F37-7E25-09C139D9BB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xmlns="" id="{3341146E-6544-F922-461C-1EB94C558E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12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9053052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2EB7DC1-8982-FBBF-D79C-E8A85E11B3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xmlns="" id="{747EDAF3-B8EA-0C16-8FC2-00C5C1AACC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xmlns="" id="{2AFC5512-2ACA-40AC-FE98-A0E260C52E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/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xmlns="" id="{513566B9-8C8D-F476-4186-FD06F269D3E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13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561737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1A0C75CA-3512-5200-7DBF-85A4A6225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xmlns="" id="{E0701003-F5AB-395E-1F05-C522252BFC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xmlns="" id="{1A99BDB9-DB82-178B-856D-AEF12F8D82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b="1" dirty="0"/>
              <a:t>VCGT</a:t>
            </a:r>
            <a:r>
              <a:rPr lang="en-US" altLang="zh-TW" dirty="0"/>
              <a:t> </a:t>
            </a:r>
            <a:r>
              <a:rPr lang="zh-TW" altLang="en-US" dirty="0"/>
              <a:t>主要儲存 </a:t>
            </a:r>
            <a:r>
              <a:rPr lang="en-US" altLang="zh-TW" dirty="0"/>
              <a:t>RGB </a:t>
            </a:r>
            <a:r>
              <a:rPr lang="zh-TW" altLang="en-US" dirty="0"/>
              <a:t>三組 </a:t>
            </a:r>
            <a:r>
              <a:rPr lang="en-US" altLang="zh-TW" dirty="0"/>
              <a:t>Gamma Ramp</a:t>
            </a:r>
            <a:r>
              <a:rPr lang="zh-TW" altLang="en-US" dirty="0"/>
              <a:t>，也就是 </a:t>
            </a:r>
            <a:r>
              <a:rPr lang="en-US" altLang="zh-TW" dirty="0"/>
              <a:t>1D LUT</a:t>
            </a:r>
            <a:r>
              <a:rPr lang="zh-TW" altLang="en-US" dirty="0"/>
              <a:t>，</a:t>
            </a:r>
            <a:r>
              <a:rPr lang="en-US" altLang="zh-TW" dirty="0"/>
              <a:t>Windows </a:t>
            </a:r>
            <a:r>
              <a:rPr lang="zh-TW" altLang="en-US" dirty="0"/>
              <a:t>可以利用它進行顯示校正。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b="1" dirty="0"/>
              <a:t>MS00</a:t>
            </a:r>
            <a:r>
              <a:rPr lang="en-US" altLang="zh-TW" dirty="0"/>
              <a:t> </a:t>
            </a:r>
            <a:r>
              <a:rPr lang="zh-TW" altLang="en-US" dirty="0"/>
              <a:t>是 </a:t>
            </a:r>
            <a:r>
              <a:rPr lang="en-US" altLang="zh-TW" dirty="0"/>
              <a:t>Microsoft </a:t>
            </a:r>
            <a:r>
              <a:rPr lang="zh-TW" altLang="en-US" dirty="0"/>
              <a:t>的私有 </a:t>
            </a:r>
            <a:r>
              <a:rPr lang="en-US" altLang="zh-TW" dirty="0"/>
              <a:t>Tag</a:t>
            </a:r>
            <a:r>
              <a:rPr lang="zh-TW" altLang="en-US" dirty="0"/>
              <a:t>，同樣可以儲存 </a:t>
            </a:r>
            <a:r>
              <a:rPr lang="en-US" altLang="zh-TW" dirty="0"/>
              <a:t>Gamma Ramp </a:t>
            </a:r>
            <a:r>
              <a:rPr lang="zh-TW" altLang="en-US" dirty="0"/>
              <a:t>校正資料。</a:t>
            </a:r>
            <a:endParaRPr lang="en-US" altLang="zh-TW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zh-TW" b="1" dirty="0"/>
              <a:t>MHC2</a:t>
            </a:r>
            <a:r>
              <a:rPr lang="en-US" altLang="zh-TW" dirty="0"/>
              <a:t> </a:t>
            </a:r>
            <a:r>
              <a:rPr lang="zh-TW" altLang="en-US" dirty="0"/>
              <a:t>則是 </a:t>
            </a:r>
            <a:r>
              <a:rPr lang="en-US" altLang="zh-TW" dirty="0"/>
              <a:t>Windows 10 2004 </a:t>
            </a:r>
            <a:r>
              <a:rPr lang="zh-TW" altLang="en-US" dirty="0"/>
              <a:t>之後的新校正機制。除了 </a:t>
            </a:r>
            <a:r>
              <a:rPr lang="en-US" altLang="zh-TW" dirty="0"/>
              <a:t>1D LUT </a:t>
            </a:r>
            <a:r>
              <a:rPr lang="zh-TW" altLang="en-US" dirty="0"/>
              <a:t>之外，它還可以包含 </a:t>
            </a:r>
            <a:r>
              <a:rPr lang="en-US" altLang="zh-TW" dirty="0"/>
              <a:t>XYZ-to-XYZ </a:t>
            </a:r>
            <a:r>
              <a:rPr lang="zh-TW" altLang="en-US" dirty="0"/>
              <a:t>的校正矩陣，因此能處理比單純 </a:t>
            </a:r>
            <a:r>
              <a:rPr lang="en-US" altLang="zh-TW" dirty="0"/>
              <a:t>Gamma Ramp </a:t>
            </a:r>
            <a:r>
              <a:rPr lang="zh-TW" altLang="en-US" dirty="0"/>
              <a:t>更完整的顯示校正。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xmlns="" id="{AC1C5EF3-FCDA-CAE3-2B84-5FAC4A4AEC5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14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07511350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EAAB6D5-993E-26F5-9C44-C5D525DA7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xmlns="" id="{1B5F2A66-F24A-A462-6F12-218184B02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xmlns="" id="{26FDBCF0-B4E1-DC68-FF31-D0F8D4C04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xmlns="" id="{9B8DA5A3-1BB6-F49D-76B7-392A3D01E5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15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3928084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1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1048642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0">
              <a:buNone/>
            </a:pPr>
            <a:endParaRPr lang="en-US" altLang="zh-TW" dirty="0"/>
          </a:p>
        </p:txBody>
      </p:sp>
      <p:sp>
        <p:nvSpPr>
          <p:cNvPr id="1048643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5753A29-9D77-4C26-8BEC-432FE5D4B0A4}" type="slidenum">
              <a:rPr lang="en-US" altLang="zh-TW" smtClean="0"/>
              <a:t>16</a:t>
            </a:fld>
            <a:endParaRPr lang="en-US" altLang="zh-TW" dirty="0"/>
          </a:p>
        </p:txBody>
      </p:sp>
    </p:spTree>
    <p:extLst>
      <p:ext uri="{BB962C8B-B14F-4D97-AF65-F5344CB8AC3E}">
        <p14:creationId xmlns:p14="http://schemas.microsoft.com/office/powerpoint/2010/main" val="1154148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 type="title">
  <p:cSld name="TITLE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36" name="Google Shape;21;p50"/>
          <p:cNvSpPr txBox="1">
            <a:spLocks noGrp="1"/>
          </p:cNvSpPr>
          <p:nvPr>
            <p:ph type="ctrTitle"/>
          </p:nvPr>
        </p:nvSpPr>
        <p:spPr>
          <a:xfrm>
            <a:off x="1238250" y="1122363"/>
            <a:ext cx="74295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4875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37" name="Google Shape;22;p50"/>
          <p:cNvSpPr txBox="1"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390"/>
              </a:spcBef>
              <a:spcAft>
                <a:spcPts val="0"/>
              </a:spcAft>
              <a:buSzPts val="1950"/>
              <a:buNone/>
              <a:defRPr sz="1950"/>
            </a:lvl1pPr>
            <a:lvl2pPr lvl="1" algn="ctr">
              <a:spcBef>
                <a:spcPts val="325"/>
              </a:spcBef>
              <a:spcAft>
                <a:spcPts val="0"/>
              </a:spcAft>
              <a:buSzPts val="1625"/>
              <a:buNone/>
              <a:defRPr sz="1625"/>
            </a:lvl2pPr>
            <a:lvl3pPr lvl="2" algn="ctr">
              <a:spcBef>
                <a:spcPts val="293"/>
              </a:spcBef>
              <a:spcAft>
                <a:spcPts val="0"/>
              </a:spcAft>
              <a:buSzPts val="1463"/>
              <a:buFont typeface="Times New Roman"/>
              <a:buNone/>
              <a:defRPr sz="1463"/>
            </a:lvl3pPr>
            <a:lvl4pPr lvl="3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4pPr>
            <a:lvl5pPr lvl="4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5pPr>
            <a:lvl6pPr lvl="5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6pPr>
            <a:lvl7pPr lvl="6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7pPr>
            <a:lvl8pPr lvl="7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8pPr>
            <a:lvl9pPr lvl="8" algn="ctr">
              <a:spcBef>
                <a:spcPts val="260"/>
              </a:spcBef>
              <a:spcAft>
                <a:spcPts val="0"/>
              </a:spcAft>
              <a:buSzPts val="1300"/>
              <a:buFont typeface="Times New Roman"/>
              <a:buNone/>
              <a:defRPr sz="1300"/>
            </a:lvl9pPr>
          </a:lstStyle>
          <a:p>
            <a:endParaRPr/>
          </a:p>
        </p:txBody>
      </p:sp>
      <p:sp>
        <p:nvSpPr>
          <p:cNvPr id="1048638" name="Google Shape;23;p50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39" name="Google Shape;24;p50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40" name="Google Shape;25;p50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0" marR="0" lvl="0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l" rtl="0"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1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.org/?utm_source=chatgpt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archive.color.org/specifications/ICC.1-2022-05.pdf?utm_source=chatgpt.com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w3.org/Graphics/Color/srgb.pdf" TargetMode="External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Relationship Id="rId9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png"/><Relationship Id="rId7" Type="http://schemas.openxmlformats.org/officeDocument/2006/relationships/image" Target="../media/image26.png"/><Relationship Id="rId2" Type="http://schemas.openxmlformats.org/officeDocument/2006/relationships/hyperlink" Target="https://www.color.org/chadtag/?utm_source=chatgpt.com" TargetMode="Externa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2.png"/><Relationship Id="rId9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windows/win32/wcs/display-calibration-mhc?utm_source=chatgpt.com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oyilmaz/displaycal-py3?utm_source=chatgpt.com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Rectangle 2"/>
          <p:cNvSpPr>
            <a:spLocks noGrp="1" noChangeArrowheads="1"/>
          </p:cNvSpPr>
          <p:nvPr>
            <p:ph type="title"/>
          </p:nvPr>
        </p:nvSpPr>
        <p:spPr>
          <a:xfrm>
            <a:off x="668908" y="1829704"/>
            <a:ext cx="8568183" cy="1728539"/>
          </a:xfrm>
        </p:spPr>
        <p:txBody>
          <a:bodyPr/>
          <a:lstStyle/>
          <a:p>
            <a:pPr algn="ctr" eaLnBrk="1" hangingPunct="1"/>
            <a:r>
              <a:rPr lang="en-US" altLang="zh-TW" sz="3200" b="1" dirty="0">
                <a:solidFill>
                  <a:srgbClr val="0057C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Progress Report</a:t>
            </a:r>
          </a:p>
        </p:txBody>
      </p:sp>
      <p:sp>
        <p:nvSpPr>
          <p:cNvPr id="1048582" name="Rectangle 2"/>
          <p:cNvSpPr txBox="1">
            <a:spLocks noChangeArrowheads="1"/>
          </p:cNvSpPr>
          <p:nvPr/>
        </p:nvSpPr>
        <p:spPr bwMode="auto">
          <a:xfrm>
            <a:off x="907104" y="3362630"/>
            <a:ext cx="8568183" cy="172853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+mn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5pPr>
            <a:lvl6pPr marL="4572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6pPr>
            <a:lvl7pPr marL="9144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7pPr>
            <a:lvl8pPr marL="13716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8pPr>
            <a:lvl9pPr marL="1828800" algn="l" rtl="0" fontAlgn="base">
              <a:spcBef>
                <a:spcPct val="0"/>
              </a:spcBef>
              <a:spcAft>
                <a:spcPct val="0"/>
              </a:spcAft>
              <a:defRPr kumimoji="1" sz="3200">
                <a:solidFill>
                  <a:schemeClr val="accent2"/>
                </a:solidFill>
                <a:latin typeface="Times New Roman" charset="0"/>
                <a:ea typeface="新細明體" charset="-120"/>
                <a:cs typeface="新細明體" charset="-120"/>
              </a:defRPr>
            </a:lvl9pPr>
          </a:lstStyle>
          <a:p>
            <a:pPr algn="ctr" eaLnBrk="1" hangingPunct="1"/>
            <a:endParaRPr lang="en-US" altLang="zh-TW" kern="0" dirty="0">
              <a:solidFill>
                <a:schemeClr val="tx1"/>
              </a:solidFill>
            </a:endParaRPr>
          </a:p>
        </p:txBody>
      </p:sp>
      <p:sp>
        <p:nvSpPr>
          <p:cNvPr id="1048583" name="Text Box 4"/>
          <p:cNvSpPr txBox="1">
            <a:spLocks noChangeArrowheads="1"/>
          </p:cNvSpPr>
          <p:nvPr/>
        </p:nvSpPr>
        <p:spPr bwMode="auto">
          <a:xfrm>
            <a:off x="1100262" y="4484365"/>
            <a:ext cx="7705476" cy="707886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Author : </a:t>
            </a:r>
          </a:p>
          <a:p>
            <a:pPr algn="ctr"/>
            <a:r>
              <a:rPr lang="en-US" altLang="zh-TW" sz="2000" dirty="0">
                <a:cs typeface="Times New Roman" panose="02020603050405020304" pitchFamily="18" charset="0"/>
              </a:rPr>
              <a:t>BO-CHENG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Cheng-Yuan</a:t>
            </a:r>
            <a:r>
              <a:rPr lang="zh-TW" altLang="en-US" sz="2000" dirty="0">
                <a:cs typeface="Times New Roman" panose="02020603050405020304" pitchFamily="18" charset="0"/>
              </a:rPr>
              <a:t>、</a:t>
            </a:r>
            <a:r>
              <a:rPr lang="en-US" altLang="zh-TW" sz="2000" dirty="0">
                <a:cs typeface="Times New Roman" panose="02020603050405020304" pitchFamily="18" charset="0"/>
              </a:rPr>
              <a:t>Sheng-Yao</a:t>
            </a:r>
          </a:p>
        </p:txBody>
      </p:sp>
      <p:sp>
        <p:nvSpPr>
          <p:cNvPr id="1048584" name="Text Box 4"/>
          <p:cNvSpPr txBox="1">
            <a:spLocks noChangeArrowheads="1"/>
          </p:cNvSpPr>
          <p:nvPr/>
        </p:nvSpPr>
        <p:spPr bwMode="auto">
          <a:xfrm>
            <a:off x="1100262" y="5673486"/>
            <a:ext cx="7705476" cy="46166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新細明體" panose="02020500000000000000" pitchFamily="18" charset="-120"/>
              </a:defRPr>
            </a:lvl9pPr>
          </a:lstStyle>
          <a:p>
            <a:pPr algn="ctr"/>
            <a:r>
              <a:rPr lang="en-US" altLang="zh-TW" b="1" dirty="0">
                <a:solidFill>
                  <a:srgbClr val="0057C0"/>
                </a:solidFill>
              </a:rPr>
              <a:t>Embedded System Software Design</a:t>
            </a:r>
            <a:endParaRPr lang="en-US" altLang="zh-TW" sz="2000" b="1" dirty="0">
              <a:solidFill>
                <a:srgbClr val="0057C0"/>
              </a:solidFill>
              <a:latin typeface="+mn-lt"/>
              <a:cs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F0396C1-EA64-DABF-AB1E-DAC8812CE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版面配置區 6">
            <a:extLst>
              <a:ext uri="{FF2B5EF4-FFF2-40B4-BE49-F238E27FC236}">
                <a16:creationId xmlns:a16="http://schemas.microsoft.com/office/drawing/2014/main" xmlns="" id="{CA232325-2F30-826A-0F33-B3038ABB7C4A}"/>
              </a:ext>
            </a:extLst>
          </p:cNvPr>
          <p:cNvSpPr txBox="1"/>
          <p:nvPr/>
        </p:nvSpPr>
        <p:spPr>
          <a:xfrm>
            <a:off x="609602" y="991195"/>
            <a:ext cx="8402051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ts val="3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研究目標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ts val="3000"/>
              </a:lnSpc>
            </a:pP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於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ONYX Factory Tool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中加入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.</a:t>
            </a:r>
            <a:r>
              <a:rPr lang="en-US" altLang="zh-TW" sz="1800" kern="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/.</a:t>
            </a:r>
            <a:r>
              <a:rPr lang="en-US" altLang="zh-TW" sz="1800" kern="0" dirty="0" err="1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icm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檢視與編輯功能，產出色溫、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、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DICOM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校正檔案，並與</a:t>
            </a:r>
            <a:r>
              <a:rPr lang="en-US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AD board </a:t>
            </a:r>
            <a:r>
              <a:rPr lang="zh-TW" altLang="zh-TW" sz="1800" kern="0" dirty="0">
                <a:effectLst/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硬體校正結果進行比較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</a:t>
            </a:r>
          </a:p>
          <a:p>
            <a:pPr lvl="1">
              <a:lnSpc>
                <a:spcPts val="3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是建立開放、廠商中立、跨平台的色彩管理系統架構與元件標準</a:t>
            </a:r>
            <a:r>
              <a:rPr lang="zh-TW" altLang="zh-TW" sz="16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能</a:t>
            </a:r>
            <a:r>
              <a:rPr lang="zh-TW" altLang="zh-TW" sz="16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提供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跨平台的 Device Profile </a:t>
            </a:r>
            <a:r>
              <a:rPr lang="zh-TW" altLang="zh-TW" sz="16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格式</a:t>
            </a:r>
            <a:r>
              <a:rPr lang="zh-TW" altLang="en-US" sz="16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的色彩描述檔案</a:t>
            </a:r>
            <a:r>
              <a:rPr lang="zh-TW" altLang="zh-TW" sz="16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使不同裝置之間的色彩資料可以進行轉換</a:t>
            </a:r>
            <a:r>
              <a:rPr lang="en-US" altLang="zh-TW" sz="1600" baseline="-25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[1]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ts val="3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xmlns="" id="{DB74C124-A957-366F-6E34-2775A49BE3DE}"/>
              </a:ext>
            </a:extLst>
          </p:cNvPr>
          <p:cNvSpPr txBox="1"/>
          <p:nvPr/>
        </p:nvSpPr>
        <p:spPr>
          <a:xfrm>
            <a:off x="1677388" y="6339820"/>
            <a:ext cx="81584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[1] International Color Consortium, “International Color Consortium,” </a:t>
            </a:r>
            <a:r>
              <a:rPr lang="zh-TW" altLang="zh-TW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[Online]. Available: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https://www.color.org/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標題 7">
            <a:extLst>
              <a:ext uri="{FF2B5EF4-FFF2-40B4-BE49-F238E27FC236}">
                <a16:creationId xmlns:a16="http://schemas.microsoft.com/office/drawing/2014/main" xmlns="" id="{2ECA5CFA-64BC-E5E3-8FED-52AADBD2AC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研究目標與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3920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xmlns="" id="{79BD5A1B-DBE5-5CC6-2DE0-BBB353DB6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xmlns="" id="{E6234153-2243-3AE6-50F0-5BF73B34C54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27963" y="1382679"/>
            <a:ext cx="8250074" cy="4865721"/>
          </a:xfrm>
          <a:custGeom>
            <a:avLst/>
            <a:gdLst>
              <a:gd name="csX0" fmla="*/ 6192058 w 7476836"/>
              <a:gd name="csY0" fmla="*/ 3412858 h 4409681"/>
              <a:gd name="csX1" fmla="*/ 6192058 w 7476836"/>
              <a:gd name="csY1" fmla="*/ 4286618 h 4409681"/>
              <a:gd name="csX2" fmla="*/ 7390938 w 7476836"/>
              <a:gd name="csY2" fmla="*/ 4286618 h 4409681"/>
              <a:gd name="csX3" fmla="*/ 7390938 w 7476836"/>
              <a:gd name="csY3" fmla="*/ 3412858 h 4409681"/>
              <a:gd name="csX4" fmla="*/ 0 w 7476836"/>
              <a:gd name="csY4" fmla="*/ 0 h 4409681"/>
              <a:gd name="csX5" fmla="*/ 7476836 w 7476836"/>
              <a:gd name="csY5" fmla="*/ 0 h 4409681"/>
              <a:gd name="csX6" fmla="*/ 7476836 w 7476836"/>
              <a:gd name="csY6" fmla="*/ 4409681 h 4409681"/>
              <a:gd name="csX7" fmla="*/ 0 w 7476836"/>
              <a:gd name="csY7" fmla="*/ 4409681 h 440968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476836" h="4409681">
                <a:moveTo>
                  <a:pt x="6192058" y="3412858"/>
                </a:moveTo>
                <a:lnTo>
                  <a:pt x="6192058" y="4286618"/>
                </a:lnTo>
                <a:lnTo>
                  <a:pt x="7390938" y="4286618"/>
                </a:lnTo>
                <a:lnTo>
                  <a:pt x="7390938" y="3412858"/>
                </a:lnTo>
                <a:close/>
                <a:moveTo>
                  <a:pt x="0" y="0"/>
                </a:moveTo>
                <a:lnTo>
                  <a:pt x="7476836" y="0"/>
                </a:lnTo>
                <a:lnTo>
                  <a:pt x="7476836" y="4409681"/>
                </a:lnTo>
                <a:lnTo>
                  <a:pt x="0" y="4409681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906919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圖片 4">
            <a:extLst>
              <a:ext uri="{FF2B5EF4-FFF2-40B4-BE49-F238E27FC236}">
                <a16:creationId xmlns:a16="http://schemas.microsoft.com/office/drawing/2014/main" xmlns="" id="{022D6573-B360-5362-29E4-19065BAD6A7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19137" y="1190964"/>
            <a:ext cx="8467726" cy="5057436"/>
          </a:xfrm>
          <a:custGeom>
            <a:avLst/>
            <a:gdLst>
              <a:gd name="csX0" fmla="*/ 6138143 w 7369006"/>
              <a:gd name="csY0" fmla="*/ 3412858 h 4401214"/>
              <a:gd name="csX1" fmla="*/ 6138143 w 7369006"/>
              <a:gd name="csY1" fmla="*/ 4286618 h 4401214"/>
              <a:gd name="csX2" fmla="*/ 7337023 w 7369006"/>
              <a:gd name="csY2" fmla="*/ 4286618 h 4401214"/>
              <a:gd name="csX3" fmla="*/ 7337023 w 7369006"/>
              <a:gd name="csY3" fmla="*/ 3412858 h 4401214"/>
              <a:gd name="csX4" fmla="*/ 0 w 7369006"/>
              <a:gd name="csY4" fmla="*/ 0 h 4401214"/>
              <a:gd name="csX5" fmla="*/ 7369006 w 7369006"/>
              <a:gd name="csY5" fmla="*/ 0 h 4401214"/>
              <a:gd name="csX6" fmla="*/ 7369006 w 7369006"/>
              <a:gd name="csY6" fmla="*/ 4401214 h 4401214"/>
              <a:gd name="csX7" fmla="*/ 0 w 7369006"/>
              <a:gd name="csY7" fmla="*/ 4401214 h 44012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369006" h="4401214">
                <a:moveTo>
                  <a:pt x="6138143" y="3412858"/>
                </a:moveTo>
                <a:lnTo>
                  <a:pt x="6138143" y="4286618"/>
                </a:lnTo>
                <a:lnTo>
                  <a:pt x="7337023" y="4286618"/>
                </a:lnTo>
                <a:lnTo>
                  <a:pt x="7337023" y="3412858"/>
                </a:lnTo>
                <a:close/>
                <a:moveTo>
                  <a:pt x="0" y="0"/>
                </a:moveTo>
                <a:lnTo>
                  <a:pt x="7369006" y="0"/>
                </a:lnTo>
                <a:lnTo>
                  <a:pt x="7369006" y="4401214"/>
                </a:lnTo>
                <a:lnTo>
                  <a:pt x="0" y="4401214"/>
                </a:lnTo>
                <a:close/>
              </a:path>
            </a:pathLst>
          </a:cu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xmlns="" id="{A46802AE-6441-4C36-D719-6F0C7C825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40397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D8453AC-EB70-4A67-F417-8BC6D8250D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xmlns="" id="{A46802AE-6441-4C36-D719-6F0C7C8257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(Profile Connection Space)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xmlns="" id="{8996691D-0E63-96A8-06C3-40BD92D16B49}"/>
              </a:ext>
            </a:extLst>
          </p:cNvPr>
          <p:cNvSpPr/>
          <p:nvPr/>
        </p:nvSpPr>
        <p:spPr>
          <a:xfrm>
            <a:off x="827031" y="2001225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2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 Device RGB</a:t>
            </a:r>
            <a:endParaRPr lang="zh-TW" altLang="en-US" sz="200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xmlns="" id="{4799A24E-5028-5D4A-D223-7433C160BC28}"/>
              </a:ext>
            </a:extLst>
          </p:cNvPr>
          <p:cNvSpPr/>
          <p:nvPr/>
        </p:nvSpPr>
        <p:spPr>
          <a:xfrm>
            <a:off x="4254894" y="2001225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 Management Module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(CMM)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xmlns="" id="{0C7FD048-9844-D5F5-79C1-78326AF84161}"/>
              </a:ext>
            </a:extLst>
          </p:cNvPr>
          <p:cNvSpPr/>
          <p:nvPr/>
        </p:nvSpPr>
        <p:spPr>
          <a:xfrm>
            <a:off x="827031" y="4326376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 Device RGB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xmlns="" id="{CBAE6D19-C5AE-76A5-69B0-0B748849B999}"/>
              </a:ext>
            </a:extLst>
          </p:cNvPr>
          <p:cNvSpPr/>
          <p:nvPr/>
        </p:nvSpPr>
        <p:spPr>
          <a:xfrm>
            <a:off x="4254894" y="4326376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 Management Module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(CMM)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xmlns="" id="{2502BAEE-F1D2-BEA9-82BD-3CC9D2FBDA07}"/>
              </a:ext>
            </a:extLst>
          </p:cNvPr>
          <p:cNvSpPr/>
          <p:nvPr/>
        </p:nvSpPr>
        <p:spPr>
          <a:xfrm>
            <a:off x="7259676" y="3197024"/>
            <a:ext cx="2162272" cy="11327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PCS 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CIE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XYZ/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CIE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Lab </a:t>
            </a:r>
            <a:endParaRPr lang="zh-TW" altLang="en-US" sz="20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xmlns="" id="{2BD354F0-AC29-3F7F-21BC-649A5C656B58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2989303" y="2567607"/>
            <a:ext cx="1265591" cy="0"/>
          </a:xfrm>
          <a:prstGeom prst="straightConnector1">
            <a:avLst/>
          </a:prstGeom>
          <a:ln w="444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xmlns="" id="{91C66148-B7CE-F63D-A1CA-8F52D14070C9}"/>
              </a:ext>
            </a:extLst>
          </p:cNvPr>
          <p:cNvCxnSpPr>
            <a:cxnSpLocks/>
            <a:stCxn id="11" idx="1"/>
            <a:endCxn id="9" idx="3"/>
          </p:cNvCxnSpPr>
          <p:nvPr/>
        </p:nvCxnSpPr>
        <p:spPr>
          <a:xfrm flipH="1">
            <a:off x="2989303" y="4892758"/>
            <a:ext cx="1265591" cy="0"/>
          </a:xfrm>
          <a:prstGeom prst="straightConnector1">
            <a:avLst/>
          </a:prstGeom>
          <a:ln w="44450" cap="flat" cmpd="sng" algn="ctr">
            <a:solidFill>
              <a:schemeClr val="accent4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5" name="接點: 肘形 24">
            <a:extLst>
              <a:ext uri="{FF2B5EF4-FFF2-40B4-BE49-F238E27FC236}">
                <a16:creationId xmlns:a16="http://schemas.microsoft.com/office/drawing/2014/main" xmlns="" id="{A078D20F-E1A1-89E1-B06C-8361B263C03A}"/>
              </a:ext>
            </a:extLst>
          </p:cNvPr>
          <p:cNvCxnSpPr>
            <a:stCxn id="6" idx="3"/>
            <a:endCxn id="13" idx="0"/>
          </p:cNvCxnSpPr>
          <p:nvPr/>
        </p:nvCxnSpPr>
        <p:spPr>
          <a:xfrm>
            <a:off x="6417166" y="2567607"/>
            <a:ext cx="1923646" cy="629417"/>
          </a:xfrm>
          <a:prstGeom prst="bentConnector2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接點: 肘形 26">
            <a:extLst>
              <a:ext uri="{FF2B5EF4-FFF2-40B4-BE49-F238E27FC236}">
                <a16:creationId xmlns:a16="http://schemas.microsoft.com/office/drawing/2014/main" xmlns="" id="{84FB698F-C81D-C384-B862-92390427F862}"/>
              </a:ext>
            </a:extLst>
          </p:cNvPr>
          <p:cNvCxnSpPr>
            <a:stCxn id="13" idx="2"/>
            <a:endCxn id="11" idx="3"/>
          </p:cNvCxnSpPr>
          <p:nvPr/>
        </p:nvCxnSpPr>
        <p:spPr>
          <a:xfrm rot="5400000">
            <a:off x="7097504" y="3649450"/>
            <a:ext cx="562970" cy="1923646"/>
          </a:xfrm>
          <a:prstGeom prst="bentConnector2">
            <a:avLst/>
          </a:prstGeom>
          <a:ln w="444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矩形 1">
            <a:extLst>
              <a:ext uri="{FF2B5EF4-FFF2-40B4-BE49-F238E27FC236}">
                <a16:creationId xmlns:a16="http://schemas.microsoft.com/office/drawing/2014/main" xmlns="" id="{040CC765-0ACB-3526-012D-9BE339051FC6}"/>
              </a:ext>
            </a:extLst>
          </p:cNvPr>
          <p:cNvSpPr/>
          <p:nvPr/>
        </p:nvSpPr>
        <p:spPr>
          <a:xfrm>
            <a:off x="4524751" y="1401060"/>
            <a:ext cx="1622560" cy="4001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</a:t>
            </a:r>
            <a:r>
              <a:rPr lang="zh-TW" altLang="en-US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sz="2000" cap="none" spc="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xmlns="" id="{5F9AF93F-DB5D-01F9-5B21-8E5AB3B7689B}"/>
              </a:ext>
            </a:extLst>
          </p:cNvPr>
          <p:cNvSpPr/>
          <p:nvPr/>
        </p:nvSpPr>
        <p:spPr>
          <a:xfrm>
            <a:off x="4531964" y="3763406"/>
            <a:ext cx="1608133" cy="40011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TW" sz="2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</a:t>
            </a:r>
            <a:r>
              <a:rPr lang="zh-TW" altLang="en-US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zh-TW" altLang="en-US" sz="2000" cap="none" spc="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xmlns="" id="{B5327E90-1DBD-C854-9C91-B358AEF2228B}"/>
              </a:ext>
            </a:extLst>
          </p:cNvPr>
          <p:cNvCxnSpPr>
            <a:cxnSpLocks/>
            <a:stCxn id="2" idx="2"/>
            <a:endCxn id="6" idx="0"/>
          </p:cNvCxnSpPr>
          <p:nvPr/>
        </p:nvCxnSpPr>
        <p:spPr>
          <a:xfrm flipH="1">
            <a:off x="5336030" y="1801170"/>
            <a:ext cx="1" cy="200055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直線單箭頭接點 11">
            <a:extLst>
              <a:ext uri="{FF2B5EF4-FFF2-40B4-BE49-F238E27FC236}">
                <a16:creationId xmlns:a16="http://schemas.microsoft.com/office/drawing/2014/main" xmlns="" id="{5E215614-39B3-08CA-860A-53F71A1C84ED}"/>
              </a:ext>
            </a:extLst>
          </p:cNvPr>
          <p:cNvCxnSpPr>
            <a:cxnSpLocks/>
            <a:stCxn id="4" idx="2"/>
            <a:endCxn id="11" idx="0"/>
          </p:cNvCxnSpPr>
          <p:nvPr/>
        </p:nvCxnSpPr>
        <p:spPr>
          <a:xfrm flipH="1">
            <a:off x="5336030" y="4163516"/>
            <a:ext cx="1" cy="16286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62817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25E9AAA-7E36-1E17-83F9-FD3A18A28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xmlns="" id="{912256C4-A35A-439C-D194-BE22EDF765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3713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xmlns="" id="{2639EB24-C1BB-C0D1-86B0-82E9D70940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6894" y="1307939"/>
            <a:ext cx="6744810" cy="4922073"/>
          </a:xfrm>
          <a:prstGeom prst="rect">
            <a:avLst/>
          </a:prstGeom>
        </p:spPr>
      </p:pic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xmlns="" id="{309845EE-BEFD-0830-6F6A-014C6C3720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0429702"/>
              </p:ext>
            </p:extLst>
          </p:nvPr>
        </p:nvGraphicFramePr>
        <p:xfrm>
          <a:off x="7239884" y="1307939"/>
          <a:ext cx="2338794" cy="4842674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2338794">
                  <a:extLst>
                    <a:ext uri="{9D8B030D-6E8A-4147-A177-3AD203B41FA5}">
                      <a16:colId xmlns:a16="http://schemas.microsoft.com/office/drawing/2014/main" xmlns="" val="3358617967"/>
                    </a:ext>
                  </a:extLst>
                </a:gridCol>
              </a:tblGrid>
              <a:tr h="846997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Profile Header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128 bytes</a:t>
                      </a:r>
                      <a:endParaRPr lang="zh-TW" altLang="en-US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xmlns="" val="1724688990"/>
                  </a:ext>
                </a:extLst>
              </a:tr>
              <a:tr h="1378125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 Table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wtpt → offset / size 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rXYZ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rTRC → offset / size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xmlns="" val="3735960893"/>
                  </a:ext>
                </a:extLst>
              </a:tr>
              <a:tr h="2604129">
                <a:tc>
                  <a:txBody>
                    <a:bodyPr/>
                    <a:lstStyle/>
                    <a:p>
                      <a:pPr algn="ctr"/>
                      <a:r>
                        <a:rPr lang="zh-TW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Tagged Element Data</a:t>
                      </a:r>
                      <a:endParaRPr lang="en-US" altLang="zh-TW" sz="1700" dirty="0">
                        <a:latin typeface="Times New Roman" panose="02020603050405020304" pitchFamily="18" charset="0"/>
                        <a:ea typeface="標楷體" panose="03000509000000000000" pitchFamily="65" charset="-120"/>
                        <a:cs typeface="Times New Roman" panose="02020603050405020304" pitchFamily="18" charset="0"/>
                      </a:endParaRPr>
                    </a:p>
                    <a:p>
                      <a:pPr algn="ctr"/>
                      <a:r>
                        <a:rPr lang="en-US" altLang="zh-TW" sz="1700" dirty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a:t>…...</a:t>
                      </a:r>
                    </a:p>
                  </a:txBody>
                  <a:tcPr marL="96148" marR="96148" marT="48074" marB="48074"/>
                </a:tc>
                <a:extLst>
                  <a:ext uri="{0D108BD9-81ED-4DB2-BD59-A6C34878D82A}">
                    <a16:rowId xmlns:a16="http://schemas.microsoft.com/office/drawing/2014/main" xmlns="" val="29441199"/>
                  </a:ext>
                </a:extLst>
              </a:tr>
            </a:tbl>
          </a:graphicData>
        </a:graphic>
      </p:graphicFrame>
      <p:sp>
        <p:nvSpPr>
          <p:cNvPr id="7" name="文字方塊 6">
            <a:extLst>
              <a:ext uri="{FF2B5EF4-FFF2-40B4-BE49-F238E27FC236}">
                <a16:creationId xmlns:a16="http://schemas.microsoft.com/office/drawing/2014/main" xmlns="" id="{7B3BC9D9-DB6E-B366-7FB4-7B64CF0727F4}"/>
              </a:ext>
            </a:extLst>
          </p:cNvPr>
          <p:cNvSpPr txBox="1"/>
          <p:nvPr/>
        </p:nvSpPr>
        <p:spPr>
          <a:xfrm>
            <a:off x="1569026" y="6367421"/>
            <a:ext cx="84890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International Color Consortium,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ICC.1:2022: Image technology colour management—Architecture, profile format, and data structure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Profile version 4.4.0.0, 2022.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4"/>
              </a:rPr>
              <a:t>https://archive.color.org/specifications/ICC.1-2022-05.pdf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xmlns="" id="{A829EB0E-AACB-4717-2AF1-1A80075824B3}"/>
              </a:ext>
            </a:extLst>
          </p:cNvPr>
          <p:cNvSpPr/>
          <p:nvPr/>
        </p:nvSpPr>
        <p:spPr>
          <a:xfrm>
            <a:off x="419052" y="2000250"/>
            <a:ext cx="3123138" cy="3812721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xmlns="" id="{DBA4A946-AB83-D442-73C2-419DF0200B4A}"/>
              </a:ext>
            </a:extLst>
          </p:cNvPr>
          <p:cNvSpPr/>
          <p:nvPr/>
        </p:nvSpPr>
        <p:spPr>
          <a:xfrm>
            <a:off x="7239883" y="1307940"/>
            <a:ext cx="2338793" cy="831103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xmlns="" id="{D557AD61-57FE-CB79-79F2-D22419EF9C7B}"/>
              </a:ext>
            </a:extLst>
          </p:cNvPr>
          <p:cNvSpPr/>
          <p:nvPr/>
        </p:nvSpPr>
        <p:spPr>
          <a:xfrm>
            <a:off x="3567793" y="2000250"/>
            <a:ext cx="3486150" cy="3400042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xmlns="" id="{98949FE3-DF1E-452A-732C-5B0AB66B81F0}"/>
              </a:ext>
            </a:extLst>
          </p:cNvPr>
          <p:cNvSpPr/>
          <p:nvPr/>
        </p:nvSpPr>
        <p:spPr>
          <a:xfrm>
            <a:off x="7239883" y="2196193"/>
            <a:ext cx="2338793" cy="1347108"/>
          </a:xfrm>
          <a:prstGeom prst="rect">
            <a:avLst/>
          </a:prstGeom>
          <a:noFill/>
          <a:ln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91189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C07BEAB9-4E35-7AB7-EE54-74E82B959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文字版面配置區 6">
            <a:extLst>
              <a:ext uri="{FF2B5EF4-FFF2-40B4-BE49-F238E27FC236}">
                <a16:creationId xmlns:a16="http://schemas.microsoft.com/office/drawing/2014/main" xmlns="" id="{8CC25041-484B-028D-E365-35F32AD88DA6}"/>
              </a:ext>
            </a:extLst>
          </p:cNvPr>
          <p:cNvSpPr txBox="1"/>
          <p:nvPr/>
        </p:nvSpPr>
        <p:spPr>
          <a:xfrm>
            <a:off x="508002" y="1307665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 algn="just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TRC</a:t>
            </a:r>
            <a:r>
              <a:rPr lang="zh-TW" altLang="en-US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(Tone Response Curve)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>
              <a:lnSpc>
                <a:spcPct val="150000"/>
              </a:lnSpc>
            </a:pP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把顯示器實際使用的非線性 RGB code value，轉換成與 PCS</a:t>
            </a: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XYZ 的 Y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luminance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關係相符的 linear RGB 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例如：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just"/>
            <a:r>
              <a:rPr lang="zh-TW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Matrix</a:t>
            </a:r>
            <a:endParaRPr lang="en-US" altLang="zh-TW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 algn="just"/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</a:p>
          <a:p>
            <a:pPr marL="533400" lvl="1" indent="0">
              <a:lnSpc>
                <a:spcPct val="150000"/>
              </a:lnSpc>
              <a:buNone/>
            </a:pPr>
            <a:endParaRPr lang="zh-TW" altLang="en-US" sz="18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xmlns="" id="{C0E10B67-4895-DEEA-0A4E-8D187E08F60B}"/>
              </a:ext>
            </a:extLst>
          </p:cNvPr>
          <p:cNvGrpSpPr/>
          <p:nvPr/>
        </p:nvGrpSpPr>
        <p:grpSpPr>
          <a:xfrm>
            <a:off x="2198589" y="2789905"/>
            <a:ext cx="6996210" cy="826938"/>
            <a:chOff x="1208421" y="3799390"/>
            <a:chExt cx="7344475" cy="868102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xmlns="" id="{3EAD8FDE-BAC0-876F-4587-8CBAB5D895F9}"/>
                </a:ext>
              </a:extLst>
            </p:cNvPr>
            <p:cNvSpPr/>
            <p:nvPr/>
          </p:nvSpPr>
          <p:spPr>
            <a:xfrm>
              <a:off x="1208421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R=0.5</a:t>
              </a:r>
              <a:r>
                <a:rPr lang="zh-TW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(127/255)</a:t>
              </a:r>
              <a:endPara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xmlns="" id="{F211FECE-805D-4DE7-5329-317233CD1CB4}"/>
                </a:ext>
              </a:extLst>
            </p:cNvPr>
            <p:cNvSpPr/>
            <p:nvPr/>
          </p:nvSpPr>
          <p:spPr>
            <a:xfrm>
              <a:off x="4302917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L 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=(R)</a:t>
              </a:r>
              <a:r>
                <a:rPr lang="en-US" altLang="zh-TW" baseline="30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2.2</a:t>
              </a:r>
            </a:p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0.218 ≈ 0.5</a:t>
              </a:r>
              <a:r>
                <a:rPr lang="zh-TW" altLang="zh-TW" baseline="30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2.2</a:t>
              </a:r>
              <a:endParaRPr lang="zh-TW" altLang="en-US" baseline="30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xmlns="" id="{0DFB61CE-E671-9B90-DDBA-64DE2605725B}"/>
                </a:ext>
              </a:extLst>
            </p:cNvPr>
            <p:cNvSpPr/>
            <p:nvPr/>
          </p:nvSpPr>
          <p:spPr>
            <a:xfrm>
              <a:off x="6990314" y="3799390"/>
              <a:ext cx="1562582" cy="86810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R</a:t>
              </a:r>
              <a:r>
                <a:rPr lang="en-US" altLang="zh-TW" baseline="-250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L</a:t>
              </a:r>
              <a:r>
                <a:rPr lang="zh-TW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=0</a:t>
              </a:r>
              <a:r>
                <a:rPr lang="en-US" altLang="zh-TW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.218</a:t>
              </a:r>
              <a:endPara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cxnSp>
          <p:nvCxnSpPr>
            <p:cNvPr id="13" name="直線單箭頭接點 12">
              <a:extLst>
                <a:ext uri="{FF2B5EF4-FFF2-40B4-BE49-F238E27FC236}">
                  <a16:creationId xmlns:a16="http://schemas.microsoft.com/office/drawing/2014/main" xmlns="" id="{8755CBCD-89A6-A4CF-B535-C3D84BCDE39D}"/>
                </a:ext>
              </a:extLst>
            </p:cNvPr>
            <p:cNvCxnSpPr>
              <a:stCxn id="4" idx="3"/>
              <a:endCxn id="6" idx="1"/>
            </p:cNvCxnSpPr>
            <p:nvPr/>
          </p:nvCxnSpPr>
          <p:spPr>
            <a:xfrm>
              <a:off x="2771003" y="4233441"/>
              <a:ext cx="1531914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4" name="直線單箭頭接點 13">
              <a:extLst>
                <a:ext uri="{FF2B5EF4-FFF2-40B4-BE49-F238E27FC236}">
                  <a16:creationId xmlns:a16="http://schemas.microsoft.com/office/drawing/2014/main" xmlns="" id="{43C321DC-EFCF-71ED-6AA0-C27F2B92914D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5865499" y="4233441"/>
              <a:ext cx="1124815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22" name="矩形 21">
              <a:extLst>
                <a:ext uri="{FF2B5EF4-FFF2-40B4-BE49-F238E27FC236}">
                  <a16:creationId xmlns:a16="http://schemas.microsoft.com/office/drawing/2014/main" xmlns="" id="{9A9DF41D-9E06-E236-CA43-60889F6EE310}"/>
                </a:ext>
              </a:extLst>
            </p:cNvPr>
            <p:cNvSpPr/>
            <p:nvPr/>
          </p:nvSpPr>
          <p:spPr>
            <a:xfrm>
              <a:off x="2847685" y="3838713"/>
              <a:ext cx="1378549" cy="355407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Gamma = 2.2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33" name="標題 1">
            <a:extLst>
              <a:ext uri="{FF2B5EF4-FFF2-40B4-BE49-F238E27FC236}">
                <a16:creationId xmlns:a16="http://schemas.microsoft.com/office/drawing/2014/main" xmlns="" id="{FE6A0969-18CA-A43C-E3E0-A72CA997A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xmlns="" id="{D006D859-0957-02BC-0A72-AE413C4596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816" y="4625280"/>
            <a:ext cx="5674449" cy="110748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xmlns="" id="{FAEA6F4D-5E5A-9C8D-AC25-FD4659BC3AF6}"/>
                  </a:ext>
                </a:extLst>
              </p:cNvPr>
              <p:cNvSpPr txBox="1"/>
              <p:nvPr/>
            </p:nvSpPr>
            <p:spPr>
              <a:xfrm>
                <a:off x="1471966" y="4133340"/>
                <a:ext cx="1995739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XYZ</m:t>
                      </m:r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zh-TW" altLang="en-US" sz="200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MRGB</m:t>
                      </m:r>
                      <m:r>
                        <m:rPr>
                          <m:nor/>
                        </m:rPr>
                        <a:rPr lang="en-US" altLang="zh-TW" sz="2000" i="0" baseline="-25000" smtClean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linear</m:t>
                      </m:r>
                      <m:r>
                        <m:rPr>
                          <m:nor/>
                        </m:rPr>
                        <a:rPr lang="en-US" altLang="zh-TW" sz="2000" i="0"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​</m:t>
                      </m:r>
                    </m:oMath>
                  </m:oMathPara>
                </a14:m>
                <a:endParaRPr lang="zh-TW" altLang="en-US" sz="20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FAEA6F4D-5E5A-9C8D-AC25-FD4659BC3A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71966" y="4133340"/>
                <a:ext cx="1995739" cy="307777"/>
              </a:xfrm>
              <a:prstGeom prst="rect">
                <a:avLst/>
              </a:prstGeom>
              <a:blipFill>
                <a:blip r:embed="rId4"/>
                <a:stretch>
                  <a:fillRect l="-2134" r="-915" b="-17647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411014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91FE357-957A-3182-12E7-90F219E15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xmlns="" id="{61298DEC-0097-A431-0637-9C6765567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xmlns="" id="{CE5B8F78-8A22-D5AF-CA79-EE55EA23B1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0904427"/>
              </p:ext>
            </p:extLst>
          </p:nvPr>
        </p:nvGraphicFramePr>
        <p:xfrm>
          <a:off x="721004" y="2041972"/>
          <a:ext cx="3142188" cy="121920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47396">
                  <a:extLst>
                    <a:ext uri="{9D8B030D-6E8A-4147-A177-3AD203B41FA5}">
                      <a16:colId xmlns:a16="http://schemas.microsoft.com/office/drawing/2014/main" xmlns="" val="3590102437"/>
                    </a:ext>
                  </a:extLst>
                </a:gridCol>
                <a:gridCol w="1047396">
                  <a:extLst>
                    <a:ext uri="{9D8B030D-6E8A-4147-A177-3AD203B41FA5}">
                      <a16:colId xmlns:a16="http://schemas.microsoft.com/office/drawing/2014/main" xmlns="" val="3666544339"/>
                    </a:ext>
                  </a:extLst>
                </a:gridCol>
                <a:gridCol w="1047396">
                  <a:extLst>
                    <a:ext uri="{9D8B030D-6E8A-4147-A177-3AD203B41FA5}">
                      <a16:colId xmlns:a16="http://schemas.microsoft.com/office/drawing/2014/main" xmlns="" val="455476819"/>
                    </a:ext>
                  </a:extLst>
                </a:gridCol>
              </a:tblGrid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原色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x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4117724251"/>
                  </a:ext>
                </a:extLst>
              </a:tr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R</a:t>
                      </a:r>
                      <a:r>
                        <a:rPr lang="zh-TW" altLang="en-US" dirty="0"/>
                        <a:t> </a:t>
                      </a:r>
                      <a:r>
                        <a:rPr lang="en-US" altLang="zh-TW" dirty="0"/>
                        <a:t>(255,0,0)</a:t>
                      </a:r>
                      <a:endParaRPr 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0.6400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0.3300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2141619666"/>
                  </a:ext>
                </a:extLst>
              </a:tr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G</a:t>
                      </a:r>
                      <a:r>
                        <a:rPr lang="en-US" altLang="zh-TW" dirty="0"/>
                        <a:t> (0,255,0)</a:t>
                      </a:r>
                      <a:endParaRPr 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0.3000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0.6000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3809134920"/>
                  </a:ext>
                </a:extLst>
              </a:tr>
              <a:tr h="298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dirty="0"/>
                        <a:t>B</a:t>
                      </a:r>
                      <a:r>
                        <a:rPr lang="en-US" altLang="zh-TW" dirty="0"/>
                        <a:t> (0,0,255)</a:t>
                      </a:r>
                      <a:endParaRPr lang="zh-TW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/>
                        <a:t>0.1500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zh-TW" dirty="0"/>
                        <a:t>0.0600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xmlns="" val="1932515259"/>
                  </a:ext>
                </a:extLst>
              </a:tr>
            </a:tbl>
          </a:graphicData>
        </a:graphic>
      </p:graphicFrame>
      <p:sp>
        <p:nvSpPr>
          <p:cNvPr id="9" name="矩形 8">
            <a:extLst>
              <a:ext uri="{FF2B5EF4-FFF2-40B4-BE49-F238E27FC236}">
                <a16:creationId xmlns:a16="http://schemas.microsoft.com/office/drawing/2014/main" xmlns="" id="{8BDB7050-E618-11BA-974C-7035CB7FA24D}"/>
              </a:ext>
            </a:extLst>
          </p:cNvPr>
          <p:cNvSpPr/>
          <p:nvPr/>
        </p:nvSpPr>
        <p:spPr>
          <a:xfrm>
            <a:off x="1566646" y="3261172"/>
            <a:ext cx="1210588" cy="338554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zh-TW" altLang="en-US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量測到的值</a:t>
            </a:r>
          </a:p>
        </p:txBody>
      </p:sp>
      <p:grpSp>
        <p:nvGrpSpPr>
          <p:cNvPr id="15" name="群組 14">
            <a:extLst>
              <a:ext uri="{FF2B5EF4-FFF2-40B4-BE49-F238E27FC236}">
                <a16:creationId xmlns:a16="http://schemas.microsoft.com/office/drawing/2014/main" xmlns="" id="{9BD8A25A-99B7-8869-62AF-2D36C98876FA}"/>
              </a:ext>
            </a:extLst>
          </p:cNvPr>
          <p:cNvGrpSpPr/>
          <p:nvPr/>
        </p:nvGrpSpPr>
        <p:grpSpPr>
          <a:xfrm>
            <a:off x="943080" y="4235611"/>
            <a:ext cx="2662908" cy="1091484"/>
            <a:chOff x="3925284" y="2882096"/>
            <a:chExt cx="2662908" cy="1091484"/>
          </a:xfrm>
        </p:grpSpPr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xmlns="" id="{786F443D-0782-D5C7-CFA3-08A5D4B6BFEC}"/>
                </a:ext>
              </a:extLst>
            </p:cNvPr>
            <p:cNvGrpSpPr/>
            <p:nvPr/>
          </p:nvGrpSpPr>
          <p:grpSpPr>
            <a:xfrm>
              <a:off x="4548850" y="2882096"/>
              <a:ext cx="1481394" cy="717630"/>
              <a:chOff x="4444678" y="2812648"/>
              <a:chExt cx="1481394" cy="717630"/>
            </a:xfrm>
          </p:grpSpPr>
          <p:sp>
            <p:nvSpPr>
              <p:cNvPr id="7" name="矩形 6">
                <a:extLst>
                  <a:ext uri="{FF2B5EF4-FFF2-40B4-BE49-F238E27FC236}">
                    <a16:creationId xmlns:a16="http://schemas.microsoft.com/office/drawing/2014/main" xmlns="" id="{BB4D6CD5-7B46-9599-FFCA-74970E1E73B5}"/>
                  </a:ext>
                </a:extLst>
              </p:cNvPr>
              <p:cNvSpPr/>
              <p:nvPr/>
            </p:nvSpPr>
            <p:spPr>
              <a:xfrm>
                <a:off x="4444678" y="2812648"/>
                <a:ext cx="1348616" cy="71763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TW" altLang="en-US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  <p:sp>
            <p:nvSpPr>
              <p:cNvPr id="6" name="文字方塊 5">
                <a:extLst>
                  <a:ext uri="{FF2B5EF4-FFF2-40B4-BE49-F238E27FC236}">
                    <a16:creationId xmlns:a16="http://schemas.microsoft.com/office/drawing/2014/main" xmlns="" id="{0DA94BC5-0762-F6E2-2F57-D278DFAB1094}"/>
                  </a:ext>
                </a:extLst>
              </p:cNvPr>
              <p:cNvSpPr txBox="1"/>
              <p:nvPr/>
            </p:nvSpPr>
            <p:spPr>
              <a:xfrm>
                <a:off x="4577456" y="2905780"/>
                <a:ext cx="1348616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x</a:t>
                </a:r>
                <a:r>
                  <a:rPr lang="zh-TW" altLang="zh-TW" baseline="-25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W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​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=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0.3127</a:t>
                </a:r>
                <a:endParaRPr lang="en-US" altLang="zh-TW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  <a:p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y</a:t>
                </a:r>
                <a:r>
                  <a:rPr lang="zh-TW" altLang="zh-TW" baseline="-25000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W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​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=</a:t>
                </a:r>
                <a:r>
                  <a:rPr lang="en-US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 </a:t>
                </a:r>
                <a:r>
                  <a:rPr lang="zh-TW" altLang="zh-TW" dirty="0"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rPr>
                  <a:t>0.3290</a:t>
                </a:r>
                <a:endParaRPr lang="zh-TW" altLang="en-US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xmlns="" id="{2552E5AB-ED3F-D175-A499-49FB40687585}"/>
                </a:ext>
              </a:extLst>
            </p:cNvPr>
            <p:cNvSpPr/>
            <p:nvPr/>
          </p:nvSpPr>
          <p:spPr>
            <a:xfrm>
              <a:off x="3925284" y="3635026"/>
              <a:ext cx="2662908" cy="338554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en-US" sz="160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白點</a:t>
              </a:r>
              <a:r>
                <a:rPr lang="zh-TW" altLang="en-US" sz="1600" cap="none" spc="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假設為</a:t>
              </a:r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D65</a:t>
              </a:r>
              <a:r>
                <a:rPr lang="zh-TW" altLang="en-US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(sRGB</a:t>
              </a:r>
              <a:r>
                <a:rPr lang="zh-TW" altLang="en-US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標準</a:t>
              </a:r>
              <a:r>
                <a:rPr lang="en-US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)</a:t>
              </a:r>
              <a:endParaRPr lang="zh-TW" altLang="en-US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16" name="箭號: 向右 15">
            <a:extLst>
              <a:ext uri="{FF2B5EF4-FFF2-40B4-BE49-F238E27FC236}">
                <a16:creationId xmlns:a16="http://schemas.microsoft.com/office/drawing/2014/main" xmlns="" id="{C61E94B3-B7AA-6859-F38D-5DC8E5BB42A3}"/>
              </a:ext>
            </a:extLst>
          </p:cNvPr>
          <p:cNvSpPr/>
          <p:nvPr/>
        </p:nvSpPr>
        <p:spPr>
          <a:xfrm>
            <a:off x="4112708" y="3700191"/>
            <a:ext cx="1070987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設</a:t>
            </a:r>
            <a:r>
              <a:rPr lang="en-US" altLang="zh-TW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Y=1</a:t>
            </a:r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26" name="群組 25">
            <a:extLst>
              <a:ext uri="{FF2B5EF4-FFF2-40B4-BE49-F238E27FC236}">
                <a16:creationId xmlns:a16="http://schemas.microsoft.com/office/drawing/2014/main" xmlns="" id="{5C1D1929-1040-C36F-1520-FF917811D29B}"/>
              </a:ext>
            </a:extLst>
          </p:cNvPr>
          <p:cNvGrpSpPr/>
          <p:nvPr/>
        </p:nvGrpSpPr>
        <p:grpSpPr>
          <a:xfrm>
            <a:off x="6905550" y="810904"/>
            <a:ext cx="2191583" cy="2144316"/>
            <a:chOff x="5683170" y="1284685"/>
            <a:chExt cx="2191583" cy="2144316"/>
          </a:xfrm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xmlns="" id="{C08775EE-8632-2A77-9314-B11558B9FB1E}"/>
                </a:ext>
              </a:extLst>
            </p:cNvPr>
            <p:cNvSpPr/>
            <p:nvPr/>
          </p:nvSpPr>
          <p:spPr>
            <a:xfrm>
              <a:off x="5683170" y="1284685"/>
              <a:ext cx="2191583" cy="214431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xmlns="" id="{1DFAE7D7-31E8-E25C-5F8F-6DF2B5D3F32A}"/>
                    </a:ext>
                  </a:extLst>
                </p:cNvPr>
                <p:cNvSpPr txBox="1"/>
                <p:nvPr/>
              </p:nvSpPr>
              <p:spPr>
                <a:xfrm>
                  <a:off x="6283125" y="1807132"/>
                  <a:ext cx="1014700" cy="462306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pl-PL" altLang="zh-TW" sz="1600" b="0" i="0" smtClean="0">
                            <a:effectLst/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pl-PL" altLang="zh-TW" sz="1600" b="0" i="0" smtClean="0">
                            <a:effectLst/>
                            <a:latin typeface="Cambria Math" panose="02040503050406030204" pitchFamily="18" charset="0"/>
                          </a:rPr>
                          <m:t> = </m:t>
                        </m:r>
                        <m:f>
                          <m:fPr>
                            <m:ctrlPr>
                              <a:rPr lang="pl-PL" altLang="zh-TW" sz="1600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pl-PL" altLang="zh-TW" sz="1600" b="0" i="0" smtClean="0">
                                <a:effectLst/>
                                <a:latin typeface="Cambria Math" panose="02040503050406030204" pitchFamily="18" charset="0"/>
                              </a:rPr>
                              <m:t>x</m:t>
                            </m:r>
                          </m:num>
                          <m:den>
                            <m:r>
                              <m:rPr>
                                <m:sty m:val="p"/>
                              </m:rPr>
                              <a:rPr lang="pl-PL" altLang="zh-TW" sz="1600" b="0" i="0" smtClean="0">
                                <a:effectLst/>
                                <a:latin typeface="Cambria Math" panose="02040503050406030204" pitchFamily="18" charset="0"/>
                              </a:rPr>
                              <m:t>y</m:t>
                            </m:r>
                          </m:den>
                        </m:f>
                        <m:r>
                          <a:rPr lang="en-US" altLang="zh-TW" sz="16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  <m:t>×</m:t>
                        </m:r>
                        <m:r>
                          <m:rPr>
                            <m:nor/>
                          </m:rPr>
                          <a:rPr lang="en-US" altLang="zh-TW" sz="1600"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Y</m:t>
                        </m:r>
                      </m:oMath>
                    </m:oMathPara>
                  </a14:m>
                  <a:endParaRPr lang="zh-TW" altLang="en-US" sz="1600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1" name="文字方塊 20">
                  <a:extLst>
                    <a:ext uri="{FF2B5EF4-FFF2-40B4-BE49-F238E27FC236}">
                      <a16:creationId xmlns:a16="http://schemas.microsoft.com/office/drawing/2014/main" id="{1DFAE7D7-31E8-E25C-5F8F-6DF2B5D3F3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83125" y="1807132"/>
                  <a:ext cx="1014700" cy="462306"/>
                </a:xfrm>
                <a:prstGeom prst="rect">
                  <a:avLst/>
                </a:prstGeom>
                <a:blipFill>
                  <a:blip r:embed="rId3"/>
                  <a:stretch>
                    <a:fillRect l="-3593" r="-4192" b="-14474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xmlns="" id="{5B679D5F-03A6-7B84-437A-23900E5537E0}"/>
                    </a:ext>
                  </a:extLst>
                </p:cNvPr>
                <p:cNvSpPr txBox="1"/>
                <p:nvPr/>
              </p:nvSpPr>
              <p:spPr>
                <a:xfrm>
                  <a:off x="6538866" y="2375482"/>
                  <a:ext cx="564257" cy="246221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TW" sz="1600" smtClean="0">
                            <a:effectLst/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Y</m:t>
                        </m:r>
                        <m:r>
                          <m:rPr>
                            <m:nor/>
                          </m:rPr>
                          <a:rPr lang="en-US" altLang="zh-TW" sz="1600" smtClean="0">
                            <a:effectLst/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 = </m:t>
                        </m:r>
                        <m:r>
                          <m:rPr>
                            <m:nor/>
                          </m:rPr>
                          <a:rPr lang="en-US" altLang="zh-TW" sz="1600">
                            <a:latin typeface="Times New Roman" panose="02020603050405020304" pitchFamily="18" charset="0"/>
                            <a:ea typeface="標楷體" panose="03000509000000000000" pitchFamily="65" charset="-120"/>
                            <a:cs typeface="Times New Roman" panose="02020603050405020304" pitchFamily="18" charset="0"/>
                          </a:rPr>
                          <m:t>Y</m:t>
                        </m:r>
                      </m:oMath>
                    </m:oMathPara>
                  </a14:m>
                  <a:endParaRPr lang="zh-TW" altLang="en-US" sz="1600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>
            <p:sp>
              <p:nvSpPr>
                <p:cNvPr id="22" name="文字方塊 21">
                  <a:extLst>
                    <a:ext uri="{FF2B5EF4-FFF2-40B4-BE49-F238E27FC236}">
                      <a16:creationId xmlns:a16="http://schemas.microsoft.com/office/drawing/2014/main" xmlns:a14="http://schemas.microsoft.com/office/drawing/2010/main" xmlns="" id="{5B679D5F-03A6-7B84-437A-23900E5537E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8866" y="2375482"/>
                  <a:ext cx="564257" cy="246221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l="-6452" r="-7527" b="-750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xmlns="" id="{052D775A-A41D-88E5-3A9F-7B55914AD3A4}"/>
                    </a:ext>
                  </a:extLst>
                </p:cNvPr>
                <p:cNvSpPr txBox="1"/>
                <p:nvPr/>
              </p:nvSpPr>
              <p:spPr>
                <a:xfrm>
                  <a:off x="6115380" y="2755933"/>
                  <a:ext cx="1593834" cy="442493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altLang="zh-TW" sz="1600" smtClea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Z</m:t>
                      </m:r>
                      <m:r>
                        <a:rPr lang="zh-TW" altLang="en-US" sz="1600" b="0" i="0">
                          <a:effectLst/>
                          <a:latin typeface="Cambria Math" panose="020405030504060302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altLang="zh-TW" sz="1600" smtClean="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= </m:t>
                      </m:r>
                      <m:f>
                        <m:fPr>
                          <m:ctrlPr>
                            <a:rPr lang="en-US" altLang="zh-TW" sz="1600" i="1">
                              <a:effectLst/>
                              <a:latin typeface="Cambria Math" panose="020405030504060302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US" altLang="zh-TW" sz="1600">
                              <a:effectLst/>
                              <a:latin typeface="Times New Roman" panose="020206030504050203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m:t>(1 −</m:t>
                          </m:r>
                          <m:r>
                            <a:rPr lang="zh-TW" altLang="en-US" sz="1600" b="0" i="0">
                              <a:effectLst/>
                              <a:latin typeface="Cambria Math" panose="020405030504060302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l-PL" altLang="zh-TW" sz="1600" b="0" i="0">
                              <a:effectLst/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zh-TW" altLang="en-US" sz="1600" b="0" i="0" smtClean="0">
                              <a:effectLst/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effectLst/>
                              <a:latin typeface="Times New Roman" panose="020206030504050203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m:t>−</m:t>
                          </m:r>
                          <m:r>
                            <a:rPr lang="zh-TW" altLang="en-US" sz="1600" b="0" i="0">
                              <a:effectLst/>
                              <a:latin typeface="Cambria Math" panose="020405030504060302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pl-PL" altLang="zh-TW" sz="1600" b="0" i="0">
                              <a:effectLst/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m:rPr>
                              <m:nor/>
                            </m:rPr>
                            <a:rPr lang="en-US" altLang="zh-TW" sz="1600">
                              <a:effectLst/>
                              <a:latin typeface="Times New Roman" panose="020206030504050203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m:t>)</m:t>
                          </m:r>
                        </m:num>
                        <m:den>
                          <m:r>
                            <m:rPr>
                              <m:nor/>
                            </m:rPr>
                            <a:rPr lang="en-US" altLang="zh-TW" sz="1600">
                              <a:effectLst/>
                              <a:latin typeface="Times New Roman" panose="02020603050405020304" pitchFamily="18" charset="0"/>
                              <a:ea typeface="標楷體" panose="03000509000000000000" pitchFamily="65" charset="-120"/>
                              <a:cs typeface="Times New Roman" panose="02020603050405020304" pitchFamily="18" charset="0"/>
                            </a:rPr>
                            <m:t>y</m:t>
                          </m:r>
                        </m:den>
                      </m:f>
                    </m:oMath>
                  </a14:m>
                  <a:r>
                    <a:rPr lang="en-US" altLang="zh-TW" sz="1600" dirty="0">
                      <a:effectLst/>
                      <a:latin typeface="Times New Roman" panose="02020603050405020304" pitchFamily="18" charset="0"/>
                      <a:ea typeface="標楷體" panose="03000509000000000000" pitchFamily="65" charset="-120"/>
                      <a:cs typeface="Times New Roman" panose="020206030504050203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lang="en-US" altLang="zh-TW" sz="1600" b="0" i="0" smtClean="0">
                          <a:effectLst/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×</m:t>
                      </m:r>
                      <m:r>
                        <m:rPr>
                          <m:nor/>
                        </m:rPr>
                        <a:rPr lang="en-US" altLang="zh-TW" sz="1600">
                          <a:effectLst/>
                          <a:latin typeface="Times New Roman" panose="02020603050405020304" pitchFamily="18" charset="0"/>
                          <a:ea typeface="標楷體" panose="03000509000000000000" pitchFamily="65" charset="-120"/>
                          <a:cs typeface="Times New Roman" panose="02020603050405020304" pitchFamily="18" charset="0"/>
                        </a:rPr>
                        <m:t>Y</m:t>
                      </m:r>
                    </m:oMath>
                  </a14:m>
                  <a:endParaRPr lang="zh-TW" altLang="en-US" sz="1600" baseline="-25000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3" name="文字方塊 22">
                  <a:extLst>
                    <a:ext uri="{FF2B5EF4-FFF2-40B4-BE49-F238E27FC236}">
                      <a16:creationId xmlns:a16="http://schemas.microsoft.com/office/drawing/2014/main" id="{052D775A-A41D-88E5-3A9F-7B55914AD3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115380" y="2755933"/>
                  <a:ext cx="1593834" cy="442493"/>
                </a:xfrm>
                <a:prstGeom prst="rect">
                  <a:avLst/>
                </a:prstGeom>
                <a:blipFill>
                  <a:blip r:embed="rId5"/>
                  <a:stretch>
                    <a:fillRect l="-4598" r="-766" b="-15068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5" name="矩形 24">
              <a:extLst>
                <a:ext uri="{FF2B5EF4-FFF2-40B4-BE49-F238E27FC236}">
                  <a16:creationId xmlns:a16="http://schemas.microsoft.com/office/drawing/2014/main" xmlns="" id="{6BF5A0DF-A9B2-BC29-3795-95D86E8094B0}"/>
                </a:ext>
              </a:extLst>
            </p:cNvPr>
            <p:cNvSpPr/>
            <p:nvPr/>
          </p:nvSpPr>
          <p:spPr>
            <a:xfrm>
              <a:off x="5691987" y="1369257"/>
              <a:ext cx="2002471" cy="338554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CIE 定義</a:t>
              </a:r>
              <a:r>
                <a:rPr lang="zh-TW" altLang="en-US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公式推導：</a:t>
              </a:r>
              <a:endParaRPr lang="zh-TW" altLang="en-US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10" name="文字版面配置區 6">
            <a:extLst>
              <a:ext uri="{FF2B5EF4-FFF2-40B4-BE49-F238E27FC236}">
                <a16:creationId xmlns:a16="http://schemas.microsoft.com/office/drawing/2014/main" xmlns="" id="{EFA1BA7D-6739-0930-E66B-C7B72485673A}"/>
              </a:ext>
            </a:extLst>
          </p:cNvPr>
          <p:cNvSpPr txBox="1"/>
          <p:nvPr/>
        </p:nvSpPr>
        <p:spPr>
          <a:xfrm>
            <a:off x="497549" y="1284684"/>
            <a:ext cx="2550491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20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33" name="群組 32">
            <a:extLst>
              <a:ext uri="{FF2B5EF4-FFF2-40B4-BE49-F238E27FC236}">
                <a16:creationId xmlns:a16="http://schemas.microsoft.com/office/drawing/2014/main" xmlns="" id="{4B4C5EF7-A217-7D9B-9BE7-58FAFE1E147F}"/>
              </a:ext>
            </a:extLst>
          </p:cNvPr>
          <p:cNvGrpSpPr/>
          <p:nvPr/>
        </p:nvGrpSpPr>
        <p:grpSpPr>
          <a:xfrm>
            <a:off x="6023147" y="3599726"/>
            <a:ext cx="3275636" cy="1155308"/>
            <a:chOff x="4820412" y="3246174"/>
            <a:chExt cx="3275636" cy="115530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xmlns="" id="{94A8FAC7-8705-ABAD-F89E-DC9FE4497308}"/>
                    </a:ext>
                  </a:extLst>
                </p:cNvPr>
                <p:cNvSpPr txBox="1"/>
                <p:nvPr/>
              </p:nvSpPr>
              <p:spPr>
                <a:xfrm>
                  <a:off x="4826642" y="3246174"/>
                  <a:ext cx="2124316" cy="49705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W</m:t>
                            </m:r>
                          </m:sub>
                        </m:sSub>
                        <m:r>
                          <a:rPr lang="zh-TW" altLang="en-US" b="0" i="0" smtClean="0"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0.3127</m:t>
                            </m:r>
                          </m:num>
                          <m:den>
                            <m: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0.3290</m:t>
                            </m:r>
                          </m:den>
                        </m:f>
                        <m:r>
                          <a:rPr lang="zh-TW" altLang="en-US" b="0" i="0" smtClean="0">
                            <a:effectLst/>
                            <a:latin typeface="Cambria Math" panose="02040503050406030204" pitchFamily="18" charset="0"/>
                          </a:rPr>
                          <m:t>≈0.9505</m:t>
                        </m:r>
                      </m:oMath>
                    </m:oMathPara>
                  </a14:m>
                  <a:endParaRPr lang="zh-TW" altLang="en-US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8" name="文字方塊 27">
                  <a:extLst>
                    <a:ext uri="{FF2B5EF4-FFF2-40B4-BE49-F238E27FC236}">
                      <a16:creationId xmlns:a16="http://schemas.microsoft.com/office/drawing/2014/main" id="{94A8FAC7-8705-ABAD-F89E-DC9FE44973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6642" y="3246174"/>
                  <a:ext cx="2124316" cy="497059"/>
                </a:xfrm>
                <a:prstGeom prst="rect">
                  <a:avLst/>
                </a:prstGeom>
                <a:blipFill>
                  <a:blip r:embed="rId6"/>
                  <a:stretch>
                    <a:fillRect b="-122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xmlns="" id="{8E214F1A-6A78-67B8-1B7D-9F1E3A4DE70D}"/>
                    </a:ext>
                  </a:extLst>
                </p:cNvPr>
                <p:cNvSpPr txBox="1"/>
                <p:nvPr/>
              </p:nvSpPr>
              <p:spPr>
                <a:xfrm>
                  <a:off x="4820412" y="3904423"/>
                  <a:ext cx="3275636" cy="49705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TW" altLang="en-US" i="1" smtClean="0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Z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W</m:t>
                            </m:r>
                          </m:sub>
                        </m:sSub>
                        <m:r>
                          <a:rPr lang="zh-TW" altLang="en-US" b="0" i="0" smtClean="0">
                            <a:effectLst/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zh-TW" altLang="en-US" i="1">
                                <a:effectLst/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1−0.3127−0.3290</m:t>
                            </m:r>
                          </m:num>
                          <m:den>
                            <m:r>
                              <a:rPr lang="zh-TW" altLang="en-US" b="0" i="0" smtClean="0">
                                <a:effectLst/>
                                <a:latin typeface="Cambria Math" panose="02040503050406030204" pitchFamily="18" charset="0"/>
                              </a:rPr>
                              <m:t>0.3290</m:t>
                            </m:r>
                          </m:den>
                        </m:f>
                        <m:r>
                          <a:rPr lang="zh-TW" altLang="en-US" b="0" i="0" smtClean="0">
                            <a:effectLst/>
                            <a:latin typeface="Cambria Math" panose="02040503050406030204" pitchFamily="18" charset="0"/>
                          </a:rPr>
                          <m:t>≈1.0891</m:t>
                        </m:r>
                      </m:oMath>
                    </m:oMathPara>
                  </a14:m>
                  <a:endParaRPr lang="zh-TW" altLang="en-US" dirty="0">
                    <a:effectLst/>
                    <a:latin typeface="Times New Roman" panose="02020603050405020304" pitchFamily="18" charset="0"/>
                    <a:ea typeface="標楷體" panose="03000509000000000000" pitchFamily="65" charset="-12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0" name="文字方塊 29">
                  <a:extLst>
                    <a:ext uri="{FF2B5EF4-FFF2-40B4-BE49-F238E27FC236}">
                      <a16:creationId xmlns:a16="http://schemas.microsoft.com/office/drawing/2014/main" id="{8E214F1A-6A78-67B8-1B7D-9F1E3A4DE70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820412" y="3904423"/>
                  <a:ext cx="3275636" cy="497059"/>
                </a:xfrm>
                <a:prstGeom prst="rect">
                  <a:avLst/>
                </a:prstGeom>
                <a:blipFill>
                  <a:blip r:embed="rId7"/>
                  <a:stretch>
                    <a:fillRect b="-1220"/>
                  </a:stretch>
                </a:blipFill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" name="文字方塊 3">
            <a:extLst>
              <a:ext uri="{FF2B5EF4-FFF2-40B4-BE49-F238E27FC236}">
                <a16:creationId xmlns:a16="http://schemas.microsoft.com/office/drawing/2014/main" xmlns="" id="{F1E5835A-681C-C8A0-38AA-CD00A25D4B7C}"/>
              </a:ext>
            </a:extLst>
          </p:cNvPr>
          <p:cNvSpPr txBox="1"/>
          <p:nvPr/>
        </p:nvSpPr>
        <p:spPr>
          <a:xfrm>
            <a:off x="1718744" y="6416681"/>
            <a:ext cx="81491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[3] M. Stokes, M. Anderson, S. Chandrasekar, and R. Motta, “A standard default color space for the Internet—sRGB,” World Wide Web Consortium (W3C), ver. 1.10, Nov. 5, 1996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8"/>
              </a:rPr>
              <a:t>https://www.w3.org/Graphics/Color/srgb.pdf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27" name="圖片 2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26517" y="5038840"/>
            <a:ext cx="1375700" cy="800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173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D04A77E-DAFB-2807-84F7-D70F0859EF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xmlns="" id="{C4EA0848-8E74-3D45-9380-8E7A88853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xmlns="" id="{2426532A-89CE-A93C-23F1-069160B45F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416" y="4742617"/>
            <a:ext cx="2720576" cy="899238"/>
          </a:xfrm>
          <a:prstGeom prst="rect">
            <a:avLst/>
          </a:prstGeom>
        </p:spPr>
      </p:pic>
      <p:sp>
        <p:nvSpPr>
          <p:cNvPr id="37" name="箭號: 向右 36">
            <a:extLst>
              <a:ext uri="{FF2B5EF4-FFF2-40B4-BE49-F238E27FC236}">
                <a16:creationId xmlns:a16="http://schemas.microsoft.com/office/drawing/2014/main" xmlns="" id="{FBFAB6F3-B4CD-9EFE-0CF6-B1B75CD89E10}"/>
              </a:ext>
            </a:extLst>
          </p:cNvPr>
          <p:cNvSpPr/>
          <p:nvPr/>
        </p:nvSpPr>
        <p:spPr>
          <a:xfrm>
            <a:off x="4314883" y="3687917"/>
            <a:ext cx="945429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xmlns="" id="{4D96EEAC-BDC2-1338-2C43-7781683DD0B3}"/>
              </a:ext>
            </a:extLst>
          </p:cNvPr>
          <p:cNvSpPr/>
          <p:nvPr/>
        </p:nvSpPr>
        <p:spPr>
          <a:xfrm>
            <a:off x="3639992" y="3042727"/>
            <a:ext cx="2295210" cy="58477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zh-TW" altLang="en-US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在</a:t>
            </a:r>
            <a:r>
              <a:rPr lang="en-US" altLang="zh-TW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(255,255,255)</a:t>
            </a:r>
            <a:r>
              <a:rPr lang="zh-TW" altLang="en-US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中</a:t>
            </a:r>
            <a:endParaRPr lang="en-US" altLang="zh-TW" sz="1600" cap="none" spc="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r>
              <a:rPr lang="en-US" altLang="zh-TW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RGB</a:t>
            </a:r>
            <a:r>
              <a:rPr lang="en-US" altLang="zh-TW" sz="1600" baseline="-25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</a:t>
            </a:r>
            <a:r>
              <a:rPr lang="zh-TW" altLang="en-US" sz="1600" baseline="-2500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=</a:t>
            </a:r>
            <a:r>
              <a:rPr lang="zh-TW" altLang="en-US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(1,1,1)</a:t>
            </a:r>
            <a:endParaRPr lang="zh-TW" altLang="en-US" sz="1600" cap="none" spc="0" baseline="-2500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42" name="圖片 41">
            <a:extLst>
              <a:ext uri="{FF2B5EF4-FFF2-40B4-BE49-F238E27FC236}">
                <a16:creationId xmlns:a16="http://schemas.microsoft.com/office/drawing/2014/main" xmlns="" id="{F43B0717-E53C-A39B-A94E-7E1581B101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00678" y="4129089"/>
            <a:ext cx="4488573" cy="1115503"/>
          </a:xfrm>
          <a:prstGeom prst="rect">
            <a:avLst/>
          </a:prstGeom>
        </p:spPr>
      </p:pic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xmlns="" id="{6BC9469D-6E3E-1F0F-1445-28C4BA19CEBC}"/>
              </a:ext>
            </a:extLst>
          </p:cNvPr>
          <p:cNvSpPr txBox="1"/>
          <p:nvPr/>
        </p:nvSpPr>
        <p:spPr>
          <a:xfrm>
            <a:off x="497549" y="1284684"/>
            <a:ext cx="8686796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20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45" name="群組 44">
            <a:extLst>
              <a:ext uri="{FF2B5EF4-FFF2-40B4-BE49-F238E27FC236}">
                <a16:creationId xmlns:a16="http://schemas.microsoft.com/office/drawing/2014/main" xmlns="" id="{88569DE1-553A-DC5D-D6E1-ABA71C776115}"/>
              </a:ext>
            </a:extLst>
          </p:cNvPr>
          <p:cNvGrpSpPr/>
          <p:nvPr/>
        </p:nvGrpSpPr>
        <p:grpSpPr>
          <a:xfrm>
            <a:off x="256740" y="3687917"/>
            <a:ext cx="3829233" cy="891617"/>
            <a:chOff x="5498155" y="3493800"/>
            <a:chExt cx="3829233" cy="891617"/>
          </a:xfrm>
        </p:grpSpPr>
        <p:pic>
          <p:nvPicPr>
            <p:cNvPr id="7" name="圖片 6">
              <a:extLst>
                <a:ext uri="{FF2B5EF4-FFF2-40B4-BE49-F238E27FC236}">
                  <a16:creationId xmlns:a16="http://schemas.microsoft.com/office/drawing/2014/main" xmlns="" id="{3017A3D9-55B3-9FCF-78A7-8CFF7996C23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498155" y="3493800"/>
              <a:ext cx="1409822" cy="891617"/>
            </a:xfrm>
            <a:prstGeom prst="rect">
              <a:avLst/>
            </a:prstGeom>
          </p:spPr>
        </p:pic>
        <p:pic>
          <p:nvPicPr>
            <p:cNvPr id="8" name="圖片 7">
              <a:extLst>
                <a:ext uri="{FF2B5EF4-FFF2-40B4-BE49-F238E27FC236}">
                  <a16:creationId xmlns:a16="http://schemas.microsoft.com/office/drawing/2014/main" xmlns="" id="{3523FE1B-0057-E640-2C60-7E3D7A1927E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759225" y="3534888"/>
              <a:ext cx="1234547" cy="800169"/>
            </a:xfrm>
            <a:prstGeom prst="rect">
              <a:avLst/>
            </a:prstGeom>
          </p:spPr>
        </p:pic>
        <p:pic>
          <p:nvPicPr>
            <p:cNvPr id="44" name="圖片 43">
              <a:extLst>
                <a:ext uri="{FF2B5EF4-FFF2-40B4-BE49-F238E27FC236}">
                  <a16:creationId xmlns:a16="http://schemas.microsoft.com/office/drawing/2014/main" xmlns="" id="{483ACC88-335C-E8C4-BBD8-7A9AC090716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993772" y="3534888"/>
              <a:ext cx="1333616" cy="807790"/>
            </a:xfrm>
            <a:prstGeom prst="rect">
              <a:avLst/>
            </a:prstGeom>
          </p:spPr>
        </p:pic>
      </p:grpSp>
      <p:sp>
        <p:nvSpPr>
          <p:cNvPr id="28" name="矩形 27">
            <a:extLst>
              <a:ext uri="{FF2B5EF4-FFF2-40B4-BE49-F238E27FC236}">
                <a16:creationId xmlns="" xmlns:a16="http://schemas.microsoft.com/office/drawing/2014/main" id="{842E2599-7117-6097-3D20-FAF97CB0624D}"/>
              </a:ext>
            </a:extLst>
          </p:cNvPr>
          <p:cNvSpPr/>
          <p:nvPr/>
        </p:nvSpPr>
        <p:spPr>
          <a:xfrm>
            <a:off x="6792573" y="876300"/>
            <a:ext cx="2615878" cy="201309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30" name="圖片 29">
            <a:extLst>
              <a:ext uri="{FF2B5EF4-FFF2-40B4-BE49-F238E27FC236}">
                <a16:creationId xmlns="" xmlns:a16="http://schemas.microsoft.com/office/drawing/2014/main" id="{761FC988-00F4-E730-3BAA-BD8AB2AF873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66508" y="989153"/>
            <a:ext cx="2214621" cy="907910"/>
          </a:xfrm>
          <a:prstGeom prst="rect">
            <a:avLst/>
          </a:prstGeom>
        </p:spPr>
      </p:pic>
      <p:sp>
        <p:nvSpPr>
          <p:cNvPr id="33" name="矩形 32">
            <a:extLst>
              <a:ext uri="{FF2B5EF4-FFF2-40B4-BE49-F238E27FC236}">
                <a16:creationId xmlns="" xmlns:a16="http://schemas.microsoft.com/office/drawing/2014/main" id="{8BD80D6C-1FF3-8AFD-5D78-6B1FDB097256}"/>
              </a:ext>
            </a:extLst>
          </p:cNvPr>
          <p:cNvSpPr/>
          <p:nvPr/>
        </p:nvSpPr>
        <p:spPr>
          <a:xfrm>
            <a:off x="6925935" y="957876"/>
            <a:ext cx="319318" cy="138499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TW" cap="none" spc="0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1.</a:t>
            </a:r>
          </a:p>
          <a:p>
            <a:pPr algn="ctr"/>
            <a:endParaRPr lang="en-US" altLang="zh-TW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endParaRPr lang="en-US" altLang="zh-TW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endParaRPr lang="en-US" altLang="zh-TW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endParaRPr lang="en-US" altLang="zh-TW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r>
              <a:rPr lang="en-US" altLang="zh-TW" dirty="0">
                <a:ln w="0"/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2.</a:t>
            </a:r>
            <a:endParaRPr lang="zh-TW" altLang="en-US" cap="none" spc="0" dirty="0">
              <a:ln w="0"/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9" name="圖片 8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2865" y="1897063"/>
            <a:ext cx="1751480" cy="941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9545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18B4C8B-F5C5-5CEC-943D-9D2F2D9B6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xmlns="" id="{AB6A1EF1-530D-13DA-3A32-D805CBBDB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xmlns="" id="{96A9D86D-B0E3-DDB0-9AAB-1EDB677233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771" y="2853149"/>
            <a:ext cx="2018460" cy="1901107"/>
          </a:xfrm>
          <a:prstGeom prst="rect">
            <a:avLst/>
          </a:prstGeom>
        </p:spPr>
      </p:pic>
      <p:pic>
        <p:nvPicPr>
          <p:cNvPr id="20" name="圖片 19">
            <a:extLst>
              <a:ext uri="{FF2B5EF4-FFF2-40B4-BE49-F238E27FC236}">
                <a16:creationId xmlns:a16="http://schemas.microsoft.com/office/drawing/2014/main" xmlns="" id="{D9106978-8618-368B-C714-E843DE9BBF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0984" y="2226214"/>
            <a:ext cx="4406427" cy="1480108"/>
          </a:xfrm>
          <a:prstGeom prst="rect">
            <a:avLst/>
          </a:prstGeom>
        </p:spPr>
      </p:pic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xmlns="" id="{F5F7D37B-17ED-D781-882D-F5A5904761E7}"/>
              </a:ext>
            </a:extLst>
          </p:cNvPr>
          <p:cNvSpPr txBox="1"/>
          <p:nvPr/>
        </p:nvSpPr>
        <p:spPr>
          <a:xfrm>
            <a:off x="497549" y="1284684"/>
            <a:ext cx="8686796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20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xmlns="" id="{BD19C367-BE8F-B4C7-634F-0FC177DCF5A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0299" y="4084053"/>
            <a:ext cx="4267796" cy="77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82910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xmlns="" id="{E90C9C8B-5EB4-1217-C440-D175A3726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xmlns="" id="{760342CA-0DBD-1A82-964B-91EFD4A59366}"/>
              </a:ext>
            </a:extLst>
          </p:cNvPr>
          <p:cNvSpPr txBox="1"/>
          <p:nvPr/>
        </p:nvSpPr>
        <p:spPr>
          <a:xfrm>
            <a:off x="1642663" y="6396335"/>
            <a:ext cx="75416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[4] International Color Consortium, “ICC Technical Note 02-2003: </a:t>
            </a:r>
            <a:r>
              <a:rPr lang="en-US" altLang="zh-TW" sz="12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Chadtag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for conversion of D65 to D50 for use in profiles,” 2003. [Online]. Available: 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https://www.color.org/chadtag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xmlns="" val="tx"/>
                    </a:ext>
                  </a:extLst>
                </a:hlinkClick>
              </a:rPr>
              <a:t>/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[Accessed: Sep. 24, 2026].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34" name="群組 33">
            <a:extLst>
              <a:ext uri="{FF2B5EF4-FFF2-40B4-BE49-F238E27FC236}">
                <a16:creationId xmlns:a16="http://schemas.microsoft.com/office/drawing/2014/main" xmlns="" id="{559E75C4-3E10-1036-661A-A9CE73B5024F}"/>
              </a:ext>
            </a:extLst>
          </p:cNvPr>
          <p:cNvGrpSpPr/>
          <p:nvPr/>
        </p:nvGrpSpPr>
        <p:grpSpPr>
          <a:xfrm>
            <a:off x="5212069" y="1265851"/>
            <a:ext cx="4421307" cy="1281697"/>
            <a:chOff x="5245935" y="1134042"/>
            <a:chExt cx="4421307" cy="1281697"/>
          </a:xfrm>
        </p:grpSpPr>
        <p:pic>
          <p:nvPicPr>
            <p:cNvPr id="28" name="圖片 27">
              <a:extLst>
                <a:ext uri="{FF2B5EF4-FFF2-40B4-BE49-F238E27FC236}">
                  <a16:creationId xmlns:a16="http://schemas.microsoft.com/office/drawing/2014/main" xmlns="" id="{634B4B9F-1E2C-7276-D9F5-E79E878BC91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85827" y="1449088"/>
              <a:ext cx="4081415" cy="966651"/>
            </a:xfrm>
            <a:prstGeom prst="rect">
              <a:avLst/>
            </a:prstGeom>
          </p:spPr>
        </p:pic>
        <p:sp>
          <p:nvSpPr>
            <p:cNvPr id="30" name="矩形 29">
              <a:extLst>
                <a:ext uri="{FF2B5EF4-FFF2-40B4-BE49-F238E27FC236}">
                  <a16:creationId xmlns:a16="http://schemas.microsoft.com/office/drawing/2014/main" xmlns="" id="{8AFDBE67-1AB0-0B47-9D0E-863589F97A7A}"/>
                </a:ext>
              </a:extLst>
            </p:cNvPr>
            <p:cNvSpPr/>
            <p:nvPr/>
          </p:nvSpPr>
          <p:spPr>
            <a:xfrm>
              <a:off x="5274733" y="1134042"/>
              <a:ext cx="4392509" cy="122690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32" name="矩形 31">
              <a:extLst>
                <a:ext uri="{FF2B5EF4-FFF2-40B4-BE49-F238E27FC236}">
                  <a16:creationId xmlns:a16="http://schemas.microsoft.com/office/drawing/2014/main" xmlns="" id="{FB12353F-A6C5-3C6E-5EFF-1AE079019357}"/>
                </a:ext>
              </a:extLst>
            </p:cNvPr>
            <p:cNvSpPr/>
            <p:nvPr/>
          </p:nvSpPr>
          <p:spPr>
            <a:xfrm>
              <a:off x="5245935" y="1143000"/>
              <a:ext cx="2383986" cy="338554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altLang="zh-TW" sz="1600" cap="none" spc="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ICC</a:t>
              </a:r>
              <a:r>
                <a:rPr lang="zh-TW" altLang="en-US" sz="1600" cap="none" spc="0" dirty="0">
                  <a:ln w="0"/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提供的固定轉換矩陣</a:t>
              </a:r>
            </a:p>
          </p:txBody>
        </p:sp>
      </p:grpSp>
      <p:sp>
        <p:nvSpPr>
          <p:cNvPr id="47" name="箭號: 向右 46">
            <a:extLst>
              <a:ext uri="{FF2B5EF4-FFF2-40B4-BE49-F238E27FC236}">
                <a16:creationId xmlns:a16="http://schemas.microsoft.com/office/drawing/2014/main" xmlns="" id="{F6D006A1-E965-510F-8561-BA4CAB0357B9}"/>
              </a:ext>
            </a:extLst>
          </p:cNvPr>
          <p:cNvSpPr/>
          <p:nvPr/>
        </p:nvSpPr>
        <p:spPr>
          <a:xfrm>
            <a:off x="2005436" y="3397003"/>
            <a:ext cx="578850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8" name="箭號: 向右 47">
            <a:extLst>
              <a:ext uri="{FF2B5EF4-FFF2-40B4-BE49-F238E27FC236}">
                <a16:creationId xmlns:a16="http://schemas.microsoft.com/office/drawing/2014/main" xmlns="" id="{9C2E09C9-B2FB-4AC2-B678-D22FF41F87FB}"/>
              </a:ext>
            </a:extLst>
          </p:cNvPr>
          <p:cNvSpPr/>
          <p:nvPr/>
        </p:nvSpPr>
        <p:spPr>
          <a:xfrm>
            <a:off x="5681375" y="3446390"/>
            <a:ext cx="578850" cy="1808539"/>
          </a:xfrm>
          <a:prstGeom prst="rightArrow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51" name="圖片 50">
            <a:extLst>
              <a:ext uri="{FF2B5EF4-FFF2-40B4-BE49-F238E27FC236}">
                <a16:creationId xmlns:a16="http://schemas.microsoft.com/office/drawing/2014/main" xmlns="" id="{768BD875-7650-8E2E-BF05-D2A9055127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72837" y="5614487"/>
            <a:ext cx="2316828" cy="418891"/>
          </a:xfrm>
          <a:prstGeom prst="rect">
            <a:avLst/>
          </a:prstGeom>
        </p:spPr>
      </p:pic>
      <p:pic>
        <p:nvPicPr>
          <p:cNvPr id="53" name="圖片 52">
            <a:extLst>
              <a:ext uri="{FF2B5EF4-FFF2-40B4-BE49-F238E27FC236}">
                <a16:creationId xmlns:a16="http://schemas.microsoft.com/office/drawing/2014/main" xmlns="" id="{803B63B2-9F1A-7D9A-584F-93EE655F51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0225" y="4913981"/>
            <a:ext cx="3334676" cy="430100"/>
          </a:xfrm>
          <a:prstGeom prst="rect">
            <a:avLst/>
          </a:prstGeom>
        </p:spPr>
      </p:pic>
      <p:pic>
        <p:nvPicPr>
          <p:cNvPr id="55" name="圖片 54">
            <a:extLst>
              <a:ext uri="{FF2B5EF4-FFF2-40B4-BE49-F238E27FC236}">
                <a16:creationId xmlns:a16="http://schemas.microsoft.com/office/drawing/2014/main" xmlns="" id="{87D1C818-B490-2E90-9A46-3A24ACC931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2363" y="3108962"/>
            <a:ext cx="2830399" cy="1611065"/>
          </a:xfrm>
          <a:prstGeom prst="rect">
            <a:avLst/>
          </a:prstGeom>
        </p:spPr>
      </p:pic>
      <p:grpSp>
        <p:nvGrpSpPr>
          <p:cNvPr id="60" name="群組 59">
            <a:extLst>
              <a:ext uri="{FF2B5EF4-FFF2-40B4-BE49-F238E27FC236}">
                <a16:creationId xmlns:a16="http://schemas.microsoft.com/office/drawing/2014/main" xmlns="" id="{30231019-5D2A-FC74-902A-0DE0E738F875}"/>
              </a:ext>
            </a:extLst>
          </p:cNvPr>
          <p:cNvGrpSpPr/>
          <p:nvPr/>
        </p:nvGrpSpPr>
        <p:grpSpPr>
          <a:xfrm>
            <a:off x="2815063" y="3879096"/>
            <a:ext cx="2728476" cy="887672"/>
            <a:chOff x="2766707" y="3109868"/>
            <a:chExt cx="4429743" cy="1441156"/>
          </a:xfrm>
        </p:grpSpPr>
        <p:pic>
          <p:nvPicPr>
            <p:cNvPr id="57" name="圖片 56">
              <a:extLst>
                <a:ext uri="{FF2B5EF4-FFF2-40B4-BE49-F238E27FC236}">
                  <a16:creationId xmlns:a16="http://schemas.microsoft.com/office/drawing/2014/main" xmlns="" id="{BF72DFDE-46B5-B563-7643-AEC5DB0C4AE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766707" y="3109868"/>
              <a:ext cx="4372585" cy="638264"/>
            </a:xfrm>
            <a:prstGeom prst="rect">
              <a:avLst/>
            </a:prstGeom>
          </p:spPr>
        </p:pic>
        <p:pic>
          <p:nvPicPr>
            <p:cNvPr id="59" name="圖片 58">
              <a:extLst>
                <a:ext uri="{FF2B5EF4-FFF2-40B4-BE49-F238E27FC236}">
                  <a16:creationId xmlns:a16="http://schemas.microsoft.com/office/drawing/2014/main" xmlns="" id="{45F464C7-0F63-A907-3149-D3E1C341BB3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766707" y="3903234"/>
              <a:ext cx="4429743" cy="647790"/>
            </a:xfrm>
            <a:prstGeom prst="rect">
              <a:avLst/>
            </a:prstGeom>
          </p:spPr>
        </p:pic>
      </p:grpSp>
      <p:grpSp>
        <p:nvGrpSpPr>
          <p:cNvPr id="65" name="群組 64">
            <a:extLst>
              <a:ext uri="{FF2B5EF4-FFF2-40B4-BE49-F238E27FC236}">
                <a16:creationId xmlns:a16="http://schemas.microsoft.com/office/drawing/2014/main" xmlns="" id="{0019A0D0-D56F-9783-8FFE-E56546FBB97B}"/>
              </a:ext>
            </a:extLst>
          </p:cNvPr>
          <p:cNvGrpSpPr/>
          <p:nvPr/>
        </p:nvGrpSpPr>
        <p:grpSpPr>
          <a:xfrm>
            <a:off x="334850" y="3272768"/>
            <a:ext cx="1595795" cy="1856263"/>
            <a:chOff x="3485002" y="2619262"/>
            <a:chExt cx="2935052" cy="3414116"/>
          </a:xfrm>
        </p:grpSpPr>
        <p:pic>
          <p:nvPicPr>
            <p:cNvPr id="62" name="圖片 61">
              <a:extLst>
                <a:ext uri="{FF2B5EF4-FFF2-40B4-BE49-F238E27FC236}">
                  <a16:creationId xmlns:a16="http://schemas.microsoft.com/office/drawing/2014/main" xmlns="" id="{5DF01417-4A33-EFF6-37DE-839006B72D0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485945" y="2619262"/>
              <a:ext cx="2934109" cy="1619476"/>
            </a:xfrm>
            <a:prstGeom prst="rect">
              <a:avLst/>
            </a:prstGeom>
          </p:spPr>
        </p:pic>
        <p:pic>
          <p:nvPicPr>
            <p:cNvPr id="64" name="圖片 63">
              <a:extLst>
                <a:ext uri="{FF2B5EF4-FFF2-40B4-BE49-F238E27FC236}">
                  <a16:creationId xmlns:a16="http://schemas.microsoft.com/office/drawing/2014/main" xmlns="" id="{7929039C-2FA4-D0DA-3719-08555DD8302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3485002" y="4480586"/>
              <a:ext cx="2800741" cy="1552792"/>
            </a:xfrm>
            <a:prstGeom prst="rect">
              <a:avLst/>
            </a:prstGeom>
          </p:spPr>
        </p:pic>
      </p:grpSp>
      <p:sp>
        <p:nvSpPr>
          <p:cNvPr id="2" name="文字版面配置區 6">
            <a:extLst>
              <a:ext uri="{FF2B5EF4-FFF2-40B4-BE49-F238E27FC236}">
                <a16:creationId xmlns:a16="http://schemas.microsoft.com/office/drawing/2014/main" xmlns="" id="{FB39A942-B013-D404-F12B-67C00F2970E9}"/>
              </a:ext>
            </a:extLst>
          </p:cNvPr>
          <p:cNvSpPr txBox="1"/>
          <p:nvPr/>
        </p:nvSpPr>
        <p:spPr>
          <a:xfrm>
            <a:off x="497549" y="1284684"/>
            <a:ext cx="8686796" cy="7176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舉例：</a:t>
            </a:r>
            <a:endParaRPr lang="en-US" altLang="zh-TW" sz="2000" dirty="0">
              <a:solidFill>
                <a:srgbClr val="333333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30412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B55E878-4E26-12D7-EE94-7C8FB0653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xmlns="" id="{EDA0264E-FAAC-7F32-85AD-9B4946388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Display ICC Profile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結構</a:t>
            </a: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xmlns="" id="{2DAC1A8A-F13A-5508-510D-5274EB3BC2A2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esc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Description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描述這個 ICC Profile 的名稱或識別資訊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prt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Copyright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記錄這個 ICC Profile 的版權資訊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wtpt</a:t>
            </a: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edia WhitePoint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描述該 Profile 所代表媒體白點的 XYZ 色度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資訊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 err="1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lumi</a:t>
            </a:r>
            <a:r>
              <a:rPr lang="zh-TW" altLang="en-US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</a:t>
            </a: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uminance</a:t>
            </a:r>
            <a:r>
              <a:rPr lang="en-US" altLang="zh-TW" sz="2000" dirty="0">
                <a:solidFill>
                  <a:srgbClr val="333333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表示顯示器亮度資訊，通常以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cd/m² </a:t>
            </a:r>
            <a:r>
              <a:rPr lang="zh-TW" altLang="en-US" sz="16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單位表示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1" name="圖片 10">
            <a:extLst>
              <a:ext uri="{FF2B5EF4-FFF2-40B4-BE49-F238E27FC236}">
                <a16:creationId xmlns:a16="http://schemas.microsoft.com/office/drawing/2014/main" xmlns="" id="{AC18273A-6EC9-764F-CB84-A81D1E6A5E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9163" y="1502831"/>
            <a:ext cx="3868905" cy="385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61055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C524AA7-A8A7-A341-3AC3-0E3E342460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xmlns="" id="{70AA535C-35C8-9CAA-5BCE-9D60896E7559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xmlns="" id="{650C616D-3C14-C08D-8569-D9AD85C5DC81}"/>
              </a:ext>
            </a:extLst>
          </p:cNvPr>
          <p:cNvSpPr/>
          <p:nvPr/>
        </p:nvSpPr>
        <p:spPr>
          <a:xfrm>
            <a:off x="538481" y="328958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Profile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xmlns="" id="{ED4440B2-D934-67C7-39A3-FE56C3443B86}"/>
              </a:ext>
            </a:extLst>
          </p:cNvPr>
          <p:cNvSpPr/>
          <p:nvPr/>
        </p:nvSpPr>
        <p:spPr>
          <a:xfrm>
            <a:off x="342392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CMM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xmlns="" id="{F9DD2B38-5863-2279-1592-91EB1F252E2D}"/>
              </a:ext>
            </a:extLst>
          </p:cNvPr>
          <p:cNvSpPr/>
          <p:nvPr/>
        </p:nvSpPr>
        <p:spPr>
          <a:xfrm>
            <a:off x="342392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OS/GPU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xmlns="" id="{7CE50360-4991-7137-8AAB-9BACBD0D98BF}"/>
              </a:ext>
            </a:extLst>
          </p:cNvPr>
          <p:cNvSpPr/>
          <p:nvPr/>
        </p:nvSpPr>
        <p:spPr>
          <a:xfrm>
            <a:off x="7071361" y="2156174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xmlns="" id="{AE5CC085-F68F-A65E-FCB3-C00C72B7D390}"/>
              </a:ext>
            </a:extLst>
          </p:cNvPr>
          <p:cNvSpPr/>
          <p:nvPr/>
        </p:nvSpPr>
        <p:spPr>
          <a:xfrm>
            <a:off x="7071361" y="4338876"/>
            <a:ext cx="1747520" cy="91948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Corrected RGB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xmlns="" id="{A6668260-2771-F381-C71B-D54F678C8A36}"/>
              </a:ext>
            </a:extLst>
          </p:cNvPr>
          <p:cNvSpPr txBox="1"/>
          <p:nvPr/>
        </p:nvSpPr>
        <p:spPr>
          <a:xfrm>
            <a:off x="5639592" y="4884798"/>
            <a:ext cx="111120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Calibration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xmlns="" id="{378ECEDB-098A-A787-87A8-96D722F9D4AF}"/>
              </a:ext>
            </a:extLst>
          </p:cNvPr>
          <p:cNvSpPr txBox="1"/>
          <p:nvPr/>
        </p:nvSpPr>
        <p:spPr>
          <a:xfrm>
            <a:off x="5337372" y="2110033"/>
            <a:ext cx="165141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Color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Conversion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xmlns="" id="{20124EDF-B4FC-F6C1-EB1E-C16D8613D5B9}"/>
              </a:ext>
            </a:extLst>
          </p:cNvPr>
          <p:cNvSpPr txBox="1"/>
          <p:nvPr/>
        </p:nvSpPr>
        <p:spPr>
          <a:xfrm>
            <a:off x="1597480" y="2196636"/>
            <a:ext cx="19697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TRC / XYZ / wtpt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xmlns="" id="{004DC6C4-F258-3DB0-B9DD-DEC53EDBA4C2}"/>
              </a:ext>
            </a:extLst>
          </p:cNvPr>
          <p:cNvSpPr txBox="1"/>
          <p:nvPr/>
        </p:nvSpPr>
        <p:spPr>
          <a:xfrm>
            <a:off x="1118873" y="4919551"/>
            <a:ext cx="23374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MS00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MHC2</a:t>
            </a:r>
            <a:r>
              <a:rPr lang="en-US" altLang="zh-TW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…</a:t>
            </a:r>
            <a:endParaRPr lang="zh-TW" altLang="en-US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8" name="標題 1">
            <a:extLst>
              <a:ext uri="{FF2B5EF4-FFF2-40B4-BE49-F238E27FC236}">
                <a16:creationId xmlns:a16="http://schemas.microsoft.com/office/drawing/2014/main" xmlns="" id="{8D095D36-8CDE-8903-759D-B3DC69784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  <a:ln>
            <a:noFill/>
          </a:ln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架構</a:t>
            </a:r>
          </a:p>
        </p:txBody>
      </p:sp>
      <p:cxnSp>
        <p:nvCxnSpPr>
          <p:cNvPr id="6" name="直線接點 5">
            <a:extLst>
              <a:ext uri="{FF2B5EF4-FFF2-40B4-BE49-F238E27FC236}">
                <a16:creationId xmlns:a16="http://schemas.microsoft.com/office/drawing/2014/main" xmlns="" id="{6D20DBCA-6384-9E49-44A5-B651C92313FD}"/>
              </a:ext>
            </a:extLst>
          </p:cNvPr>
          <p:cNvCxnSpPr>
            <a:cxnSpLocks/>
            <a:stCxn id="5" idx="3"/>
            <a:endCxn id="13" idx="1"/>
          </p:cNvCxnSpPr>
          <p:nvPr/>
        </p:nvCxnSpPr>
        <p:spPr>
          <a:xfrm>
            <a:off x="5171441" y="4798616"/>
            <a:ext cx="189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7" name="直線接點 6">
            <a:extLst>
              <a:ext uri="{FF2B5EF4-FFF2-40B4-BE49-F238E27FC236}">
                <a16:creationId xmlns:a16="http://schemas.microsoft.com/office/drawing/2014/main" xmlns="" id="{07A16EC5-F29F-9583-72F5-FFE82D567074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>
            <a:off x="5171441" y="2615914"/>
            <a:ext cx="1899920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xmlns="" id="{CD68CE2B-EDE8-D826-AB19-B6FAE4FE733F}"/>
              </a:ext>
            </a:extLst>
          </p:cNvPr>
          <p:cNvCxnSpPr>
            <a:cxnSpLocks/>
            <a:stCxn id="3" idx="1"/>
            <a:endCxn id="12" idx="3"/>
          </p:cNvCxnSpPr>
          <p:nvPr/>
        </p:nvCxnSpPr>
        <p:spPr>
          <a:xfrm rot="10800000" flipV="1">
            <a:off x="2286001" y="2615914"/>
            <a:ext cx="1137920" cy="1133412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接點: 肘形 17">
            <a:extLst>
              <a:ext uri="{FF2B5EF4-FFF2-40B4-BE49-F238E27FC236}">
                <a16:creationId xmlns:a16="http://schemas.microsoft.com/office/drawing/2014/main" xmlns="" id="{834256DB-2ECB-B600-2909-4DADCB79564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>
            <a:off x="2286001" y="3749326"/>
            <a:ext cx="1137920" cy="1049290"/>
          </a:xfrm>
          <a:prstGeom prst="bentConnector3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49682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E2E81EF-0373-3A33-6C0E-EC125ABA4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xmlns="" id="{A53491AC-D58D-DD71-6BC3-A952ED839E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本次進度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: ICC</a:t>
            </a:r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- </a:t>
            </a:r>
            <a:r>
              <a:rPr lang="zh-TW" altLang="zh-TW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校正資料</a:t>
            </a:r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xmlns="" id="{4B7FB8E3-5FB9-BA2C-1030-64042180558B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(</a:t>
            </a:r>
            <a:r>
              <a:rPr lang="zh-TW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Video Card Gamma Tag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)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儲存顯示校正用的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Ramp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，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可以利用它將校正資料載入到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Ramp pipeline</a:t>
            </a:r>
            <a:endParaRPr lang="en-US" altLang="zh-TW" sz="1600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由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三組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1D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RGB LUT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數據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組成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MS00 / MHC2</a:t>
            </a:r>
          </a:p>
          <a:p>
            <a:pPr lvl="1">
              <a:lnSpc>
                <a:spcPct val="150000"/>
              </a:lnSpc>
            </a:pP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Microsoft 使用的private ICC tag，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儲存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顯示校正所使用的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Gamma Ramp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xmlns="" id="{DDC6F0BF-9EA8-E6B2-A137-CCF611DB7467}"/>
              </a:ext>
            </a:extLst>
          </p:cNvPr>
          <p:cNvSpPr txBox="1"/>
          <p:nvPr/>
        </p:nvSpPr>
        <p:spPr>
          <a:xfrm>
            <a:off x="1734818" y="6361271"/>
            <a:ext cx="780923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5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Microsoft, “Windows hardware display color calibration pipeline,”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Microsoft Learn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Aug. 28, 2024.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https://learn.microsoft.com/en-us/windows/win32/wcs/display-calibration-mhc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. 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2" name="群組 1">
            <a:extLst>
              <a:ext uri="{FF2B5EF4-FFF2-40B4-BE49-F238E27FC236}">
                <a16:creationId xmlns:a16="http://schemas.microsoft.com/office/drawing/2014/main" xmlns="" id="{CBE629BB-FCD4-6D57-6E16-842F0D9A490C}"/>
              </a:ext>
            </a:extLst>
          </p:cNvPr>
          <p:cNvGrpSpPr/>
          <p:nvPr/>
        </p:nvGrpSpPr>
        <p:grpSpPr>
          <a:xfrm>
            <a:off x="794636" y="3227670"/>
            <a:ext cx="8567076" cy="906808"/>
            <a:chOff x="812552" y="1766263"/>
            <a:chExt cx="8567076" cy="906808"/>
          </a:xfrm>
        </p:grpSpPr>
        <p:sp>
          <p:nvSpPr>
            <p:cNvPr id="3" name="矩形 2">
              <a:extLst>
                <a:ext uri="{FF2B5EF4-FFF2-40B4-BE49-F238E27FC236}">
                  <a16:creationId xmlns:a16="http://schemas.microsoft.com/office/drawing/2014/main" xmlns="" id="{BE4674CE-908A-A27A-1191-F85802A1820F}"/>
                </a:ext>
              </a:extLst>
            </p:cNvPr>
            <p:cNvSpPr/>
            <p:nvPr/>
          </p:nvSpPr>
          <p:spPr>
            <a:xfrm>
              <a:off x="812552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TW" sz="1600" b="0" cap="none" spc="0" dirty="0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VCGT</a:t>
              </a:r>
              <a:endParaRPr lang="zh-TW" altLang="en-US" sz="16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xmlns="" id="{7B79B8B2-24C1-7821-00C2-7247BC446D33}"/>
                </a:ext>
              </a:extLst>
            </p:cNvPr>
            <p:cNvSpPr/>
            <p:nvPr/>
          </p:nvSpPr>
          <p:spPr>
            <a:xfrm>
              <a:off x="3026966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Display Calibration Loader</a:t>
              </a:r>
              <a:endPara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6" name="矩形 5">
              <a:extLst>
                <a:ext uri="{FF2B5EF4-FFF2-40B4-BE49-F238E27FC236}">
                  <a16:creationId xmlns:a16="http://schemas.microsoft.com/office/drawing/2014/main" xmlns="" id="{F6A5DF9E-07F0-35C8-2A0C-380AC25ADCF4}"/>
                </a:ext>
              </a:extLst>
            </p:cNvPr>
            <p:cNvSpPr/>
            <p:nvPr/>
          </p:nvSpPr>
          <p:spPr>
            <a:xfrm>
              <a:off x="5329964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Gamma Ramp</a:t>
              </a:r>
              <a:endPara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7" name="矩形 6">
              <a:extLst>
                <a:ext uri="{FF2B5EF4-FFF2-40B4-BE49-F238E27FC236}">
                  <a16:creationId xmlns:a16="http://schemas.microsoft.com/office/drawing/2014/main" xmlns="" id="{C10CBAF7-08D8-D205-EB14-FFB6EB019E80}"/>
                </a:ext>
              </a:extLst>
            </p:cNvPr>
            <p:cNvSpPr/>
            <p:nvPr/>
          </p:nvSpPr>
          <p:spPr>
            <a:xfrm>
              <a:off x="7656192" y="1766263"/>
              <a:ext cx="1723436" cy="90680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Displa</a:t>
              </a:r>
              <a:r>
                <a:rPr lang="en-US" altLang="zh-TW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y</a:t>
              </a:r>
              <a:endParaRPr lang="zh-TW" altLang="en-US" sz="16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cxnSp>
          <p:nvCxnSpPr>
            <p:cNvPr id="9" name="直線單箭頭接點 8">
              <a:extLst>
                <a:ext uri="{FF2B5EF4-FFF2-40B4-BE49-F238E27FC236}">
                  <a16:creationId xmlns:a16="http://schemas.microsoft.com/office/drawing/2014/main" xmlns="" id="{9C846300-679D-F3FB-700C-5C6E297463B8}"/>
                </a:ext>
              </a:extLst>
            </p:cNvPr>
            <p:cNvCxnSpPr>
              <a:stCxn id="3" idx="3"/>
              <a:endCxn id="4" idx="1"/>
            </p:cNvCxnSpPr>
            <p:nvPr/>
          </p:nvCxnSpPr>
          <p:spPr>
            <a:xfrm>
              <a:off x="2535988" y="2219667"/>
              <a:ext cx="490978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0" name="直線單箭頭接點 9">
              <a:extLst>
                <a:ext uri="{FF2B5EF4-FFF2-40B4-BE49-F238E27FC236}">
                  <a16:creationId xmlns:a16="http://schemas.microsoft.com/office/drawing/2014/main" xmlns="" id="{8BA2B716-E7CB-879D-CB4E-107EA3BBFB26}"/>
                </a:ext>
              </a:extLst>
            </p:cNvPr>
            <p:cNvCxnSpPr>
              <a:cxnSpLocks/>
              <a:stCxn id="4" idx="3"/>
              <a:endCxn id="6" idx="1"/>
            </p:cNvCxnSpPr>
            <p:nvPr/>
          </p:nvCxnSpPr>
          <p:spPr>
            <a:xfrm>
              <a:off x="4750401" y="2219667"/>
              <a:ext cx="579563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xmlns="" id="{51E0C1C6-107D-2431-F5FE-37635E29DC01}"/>
                </a:ext>
              </a:extLst>
            </p:cNvPr>
            <p:cNvCxnSpPr>
              <a:cxnSpLocks/>
              <a:stCxn id="6" idx="3"/>
              <a:endCxn id="7" idx="1"/>
            </p:cNvCxnSpPr>
            <p:nvPr/>
          </p:nvCxnSpPr>
          <p:spPr>
            <a:xfrm>
              <a:off x="7053400" y="2219667"/>
              <a:ext cx="602792" cy="0"/>
            </a:xfrm>
            <a:prstGeom prst="straightConnector1">
              <a:avLst/>
            </a:prstGeom>
            <a:ln w="19050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68092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66960790-B8EB-5C9C-6F3D-DB91C8FE7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xmlns="" id="{469D4A17-091F-B9B9-0E15-4C16A04E1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未來方向</a:t>
            </a: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xmlns="" id="{B362863B-770E-5FA2-25CC-948566047750}"/>
              </a:ext>
            </a:extLst>
          </p:cNvPr>
          <p:cNvSpPr txBox="1"/>
          <p:nvPr/>
        </p:nvSpPr>
        <p:spPr>
          <a:xfrm>
            <a:off x="609602" y="1223724"/>
            <a:ext cx="5539219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457200" lvl="1" indent="-406400">
              <a:lnSpc>
                <a:spcPct val="150000"/>
              </a:lnSpc>
              <a:spcBef>
                <a:spcPts val="560"/>
              </a:spcBef>
              <a:buClr>
                <a:schemeClr val="accent2"/>
              </a:buClr>
              <a:buSzPts val="2800"/>
              <a:buFont typeface="Noto Sans Symbols"/>
              <a:buChar char="❖"/>
            </a:pPr>
            <a:r>
              <a:rPr lang="zh-TW" altLang="zh-TW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 </a:t>
            </a:r>
            <a:r>
              <a:rPr lang="en-US" altLang="zh-TW" sz="2000" dirty="0">
                <a:solidFill>
                  <a:schemeClr val="tx1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endParaRPr lang="en-US" altLang="zh-TW" dirty="0">
              <a:solidFill>
                <a:schemeClr val="tx1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直接生成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ICC Profile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感測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器量測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螢幕並</a:t>
            </a:r>
            <a:r>
              <a:rPr lang="zh-TW" altLang="en-US" sz="1600" dirty="0" smtClean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產生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查看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的各項數據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研究方向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確認 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的各項功能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驗證 </a:t>
            </a: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生成的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的校正能力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xmlns="" id="{95268582-08DF-7D9E-8ED6-18BC73EECF65}"/>
              </a:ext>
            </a:extLst>
          </p:cNvPr>
          <p:cNvSpPr txBox="1"/>
          <p:nvPr/>
        </p:nvSpPr>
        <p:spPr>
          <a:xfrm>
            <a:off x="1734818" y="6361271"/>
            <a:ext cx="79806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6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E. Ö. Yılmaz, “DisplayCAL Python 3 Project,”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GitHub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2026.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https://github.com/eoyilmaz/displaycal-py3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4" name="群組 3">
            <a:extLst>
              <a:ext uri="{FF2B5EF4-FFF2-40B4-BE49-F238E27FC236}">
                <a16:creationId xmlns:a16="http://schemas.microsoft.com/office/drawing/2014/main" xmlns="" id="{E3098E80-3E93-5F92-3D39-A2E369A16F44}"/>
              </a:ext>
            </a:extLst>
          </p:cNvPr>
          <p:cNvGrpSpPr/>
          <p:nvPr/>
        </p:nvGrpSpPr>
        <p:grpSpPr>
          <a:xfrm>
            <a:off x="6048394" y="1579862"/>
            <a:ext cx="2838341" cy="3480983"/>
            <a:chOff x="1734818" y="2990136"/>
            <a:chExt cx="2019300" cy="2476500"/>
          </a:xfrm>
        </p:grpSpPr>
        <p:pic>
          <p:nvPicPr>
            <p:cNvPr id="2" name="圖片 1">
              <a:extLst>
                <a:ext uri="{FF2B5EF4-FFF2-40B4-BE49-F238E27FC236}">
                  <a16:creationId xmlns:a16="http://schemas.microsoft.com/office/drawing/2014/main" xmlns="" id="{3894B2E3-3478-B7B9-3C2D-EBC37E24511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34818" y="2990136"/>
              <a:ext cx="2019300" cy="2476500"/>
            </a:xfrm>
            <a:prstGeom prst="rect">
              <a:avLst/>
            </a:prstGeom>
          </p:spPr>
        </p:pic>
        <p:sp>
          <p:nvSpPr>
            <p:cNvPr id="3" name="文字方塊 2">
              <a:extLst>
                <a:ext uri="{FF2B5EF4-FFF2-40B4-BE49-F238E27FC236}">
                  <a16:creationId xmlns:a16="http://schemas.microsoft.com/office/drawing/2014/main" xmlns="" id="{4D6ADC0D-B06D-8D18-E21A-00B9010014EB}"/>
                </a:ext>
              </a:extLst>
            </p:cNvPr>
            <p:cNvSpPr txBox="1"/>
            <p:nvPr/>
          </p:nvSpPr>
          <p:spPr>
            <a:xfrm>
              <a:off x="2276345" y="5033593"/>
              <a:ext cx="1007693" cy="27576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zh-TW" sz="16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DisplayCAL</a:t>
              </a:r>
              <a:endPara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148752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7164" name="圖片 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357746" y="3004771"/>
            <a:ext cx="5556738" cy="848458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2097165" name="Picture 2" descr="http://www.secretariat.ntust.edu.tw/ezfiles/20/1020/img/1688/09.pn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64866" y="1628181"/>
            <a:ext cx="6260123" cy="1186962"/>
          </a:xfrm>
          <a:prstGeom prst="rect">
            <a:avLst/>
          </a:prstGeom>
          <a:noFill/>
          <a:ln>
            <a:noFill/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  <p:pic>
        <p:nvPicPr>
          <p:cNvPr id="2097166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3650" y="4226628"/>
            <a:ext cx="4266522" cy="9305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320612</TotalTime>
  <Words>1642</Words>
  <Application>Microsoft Office PowerPoint</Application>
  <PresentationFormat>A4 紙張 (210x297 公釐)</PresentationFormat>
  <Paragraphs>165</Paragraphs>
  <Slides>16</Slides>
  <Notes>15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16</vt:i4>
      </vt:variant>
    </vt:vector>
  </HeadingPairs>
  <TitlesOfParts>
    <vt:vector size="23" baseType="lpstr">
      <vt:lpstr>Noto Sans Symbols</vt:lpstr>
      <vt:lpstr>新細明體</vt:lpstr>
      <vt:lpstr>標楷體</vt:lpstr>
      <vt:lpstr>Arial</vt:lpstr>
      <vt:lpstr>Cambria Math</vt:lpstr>
      <vt:lpstr>Times New Roman</vt:lpstr>
      <vt:lpstr>template</vt:lpstr>
      <vt:lpstr>Progress Report</vt:lpstr>
      <vt:lpstr>本次進度: 研究目標與 ICC Profile</vt:lpstr>
      <vt:lpstr>本次進度: PCS (Profile Connection Space)</vt:lpstr>
      <vt:lpstr>本次進度: PCS (Profile Connection Space)</vt:lpstr>
      <vt:lpstr>本次進度: PCS (Profile Connection Space)</vt:lpstr>
      <vt:lpstr>本次進度: Display ICC Profile 結構</vt:lpstr>
      <vt:lpstr>本次進度: Display ICC Profile 結構</vt:lpstr>
      <vt:lpstr>本次進度: Display ICC Profile 結構</vt:lpstr>
      <vt:lpstr>本次進度: Display ICC Profile 結構</vt:lpstr>
      <vt:lpstr>本次進度: Display ICC Profile 結構</vt:lpstr>
      <vt:lpstr>本次進度: Display ICC Profile 結構</vt:lpstr>
      <vt:lpstr>本次進度: Display ICC Profile 結構</vt:lpstr>
      <vt:lpstr>本次進度: ICC Profile 架構</vt:lpstr>
      <vt:lpstr>本次進度: ICC Profile - 校正資料</vt:lpstr>
      <vt:lpstr>未來方向</vt:lpstr>
      <vt:lpstr>PowerPoint 簡報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USER</cp:lastModifiedBy>
  <cp:revision>2778</cp:revision>
  <dcterms:created xsi:type="dcterms:W3CDTF">2003-02-17T16:04:03Z</dcterms:created>
  <dcterms:modified xsi:type="dcterms:W3CDTF">2026-09-25T07:58:36Z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