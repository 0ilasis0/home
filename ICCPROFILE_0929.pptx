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3"/>
  </p:notesMasterIdLst>
  <p:sldIdLst>
    <p:sldId id="277" r:id="rId2"/>
    <p:sldId id="1937" r:id="rId3"/>
    <p:sldId id="1938" r:id="rId4"/>
    <p:sldId id="1998" r:id="rId5"/>
    <p:sldId id="2013" r:id="rId6"/>
    <p:sldId id="2019" r:id="rId7"/>
    <p:sldId id="2016" r:id="rId8"/>
    <p:sldId id="2021" r:id="rId9"/>
    <p:sldId id="2022" r:id="rId10"/>
    <p:sldId id="2020" r:id="rId11"/>
    <p:sldId id="286" r:id="rId12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上次進度" id="{7189DFBE-4EEB-4F74-853B-C02E818AF80E}">
          <p14:sldIdLst>
            <p14:sldId id="1937"/>
            <p14:sldId id="1938"/>
            <p14:sldId id="1998"/>
            <p14:sldId id="2013"/>
          </p14:sldIdLst>
        </p14:section>
        <p14:section name="DisplayCAL" id="{FA8538CB-EEBB-42F8-BEE8-82DA04CEC9C1}">
          <p14:sldIdLst>
            <p14:sldId id="2019"/>
            <p14:sldId id="2016"/>
            <p14:sldId id="2021"/>
            <p14:sldId id="2022"/>
          </p14:sldIdLst>
        </p14:section>
        <p14:section name="下次進度" id="{5971402B-6926-431D-89B8-CB51A2DAAEFC}">
          <p14:sldIdLst>
            <p14:sldId id="2020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2" autoAdjust="0"/>
    <p:restoredTop sz="78908" autoAdjust="0"/>
  </p:normalViewPr>
  <p:slideViewPr>
    <p:cSldViewPr snapToGrid="0">
      <p:cViewPr varScale="1">
        <p:scale>
          <a:sx n="75" d="100"/>
          <a:sy n="75" d="100"/>
        </p:scale>
        <p:origin x="189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0208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2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7CC5-12D8-16D3-9253-45D955F69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823088-0DD2-55CA-4BEE-63925050B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BECB207-5F1A-F34F-8FA9-CF58582A5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不同裝置都有自己的色彩表示方式。</a:t>
            </a:r>
          </a:p>
          <a:p>
            <a:pPr marL="0" indent="0"/>
            <a:r>
              <a:rPr lang="zh-TW" altLang="en-US" dirty="0"/>
              <a:t>如果直接進行裝置對裝置的色彩轉換，當裝置種類增加時，就需要建立更多裝置之間的轉換關係。</a:t>
            </a:r>
          </a:p>
          <a:p>
            <a:pPr marL="0" indent="0"/>
            <a:r>
              <a:rPr lang="zh-TW" altLang="en-US" dirty="0"/>
              <a:t>例如，相機拍攝的影像如果要在印表機上重現相近的色彩，由於相機與印表機使用不同的色彩表示方式，因此需要進行色彩轉換。</a:t>
            </a:r>
          </a:p>
          <a:p>
            <a:pPr marL="0" indent="0"/>
            <a:r>
              <a:rPr lang="zh-TW" altLang="en-US" dirty="0"/>
              <a:t>當設備數量增加時，如果每一台設備之間都需要建立獨立的轉換關係，色彩管理就會變得非常複雜，形成所謂的 </a:t>
            </a:r>
            <a:r>
              <a:rPr lang="en-US" altLang="zh-TW" b="1" dirty="0"/>
              <a:t>Color Transform Jungle</a:t>
            </a:r>
            <a:r>
              <a:rPr lang="zh-TW" altLang="en-US" dirty="0"/>
              <a:t>，也就是圖中所看到的情況。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F3CA63-2998-B736-F517-4B82A1C74C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9707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7CC5-12D8-16D3-9253-45D955F69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823088-0DD2-55CA-4BEE-63925050B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BECB207-5F1A-F34F-8FA9-CF58582A5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因此</a:t>
            </a:r>
            <a:r>
              <a:rPr lang="en-US" altLang="zh-TW" dirty="0"/>
              <a:t>ICC </a:t>
            </a:r>
            <a:r>
              <a:rPr lang="zh-TW" altLang="en-US" dirty="0"/>
              <a:t>的做法則是引入共同且無關裝置的色彩空間</a:t>
            </a:r>
            <a:r>
              <a:rPr lang="en-US" altLang="zh-TW" dirty="0"/>
              <a:t>PCS</a:t>
            </a:r>
            <a:r>
              <a:rPr lang="zh-TW" altLang="en-US" dirty="0"/>
              <a:t>，讓不同裝置的色彩資料可以透過這個共同空間進行轉換，而不需要為每一對裝置建立獨立的轉換關係</a:t>
            </a:r>
            <a:r>
              <a:rPr lang="zh-TW" altLang="zh-TW" dirty="0"/>
              <a:t>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F3CA63-2998-B736-F517-4B82A1C74C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0789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zh-TW" dirty="0"/>
              <a:t>ICC Profile 是一種具有固定資料結構的二進位 Profile 檔案。其主要結構由三部分組成：Profile Header、Profile Tag Table，以及 Profile Tagged Element Data。Header 告訴系統這個 Profile 的基本資訊；Tag Table 則像目錄，告訴系統 Profile 裡有哪些 Tag 以及資料在哪裡；真正的資料則放在 Tagged Element Data 裡。</a:t>
            </a:r>
            <a:endParaRPr lang="en-US" altLang="zh-TW" dirty="0"/>
          </a:p>
          <a:p>
            <a:pPr marL="0" indent="0">
              <a:lnSpc>
                <a:spcPct val="150000"/>
              </a:lnSpc>
            </a:pPr>
            <a:endParaRPr lang="en-US" altLang="zh-TW" baseline="0" dirty="0">
              <a:solidFill>
                <a:srgbClr val="000000"/>
              </a:solidFill>
              <a:ea typeface="標楷體" panose="03000509000000000000" pitchFamily="65" charset="-120"/>
            </a:endParaRPr>
          </a:p>
          <a:p>
            <a:pPr marL="0" indent="0"/>
            <a:r>
              <a:rPr lang="zh-TW" altLang="en-US" dirty="0"/>
              <a:t>範例的</a:t>
            </a:r>
            <a:r>
              <a:rPr lang="en-US" altLang="zh-TW" dirty="0"/>
              <a:t>ICC</a:t>
            </a:r>
            <a:r>
              <a:rPr lang="zh-TW" altLang="en-US" dirty="0"/>
              <a:t>是我使用</a:t>
            </a:r>
            <a:r>
              <a:rPr lang="en-US" altLang="zh-TW" dirty="0"/>
              <a:t>windows</a:t>
            </a:r>
            <a:r>
              <a:rPr lang="zh-TW" altLang="en-US" dirty="0"/>
              <a:t>校正後產生的</a:t>
            </a:r>
            <a:r>
              <a:rPr lang="en-US" altLang="zh-TW" dirty="0"/>
              <a:t>ICC</a:t>
            </a:r>
            <a:r>
              <a:rPr lang="zh-TW" altLang="en-US" dirty="0"/>
              <a:t>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948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7DC1-8982-FBBF-D79C-E8A85E11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7EDAF3-B8EA-0C16-8FC2-00C5C1AAC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AFC5512-2ACA-40AC-FE98-A0E260C52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3566B9-8C8D-F476-4186-FD06F269D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5617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5177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7491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4068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7433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420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4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53AC-EB70-4A67-F417-8BC6D825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BD5A1B-DBE5-5CC6-2DE0-BBB353DB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(Profile Connection Space)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6234153-2243-3AE6-50F0-5BF73B34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7963" y="1382679"/>
            <a:ext cx="8250074" cy="4865721"/>
          </a:xfrm>
          <a:custGeom>
            <a:avLst/>
            <a:gdLst>
              <a:gd name="csX0" fmla="*/ 6192058 w 7476836"/>
              <a:gd name="csY0" fmla="*/ 3412858 h 4409681"/>
              <a:gd name="csX1" fmla="*/ 6192058 w 7476836"/>
              <a:gd name="csY1" fmla="*/ 4286618 h 4409681"/>
              <a:gd name="csX2" fmla="*/ 7390938 w 7476836"/>
              <a:gd name="csY2" fmla="*/ 4286618 h 4409681"/>
              <a:gd name="csX3" fmla="*/ 7390938 w 7476836"/>
              <a:gd name="csY3" fmla="*/ 3412858 h 4409681"/>
              <a:gd name="csX4" fmla="*/ 0 w 7476836"/>
              <a:gd name="csY4" fmla="*/ 0 h 4409681"/>
              <a:gd name="csX5" fmla="*/ 7476836 w 7476836"/>
              <a:gd name="csY5" fmla="*/ 0 h 4409681"/>
              <a:gd name="csX6" fmla="*/ 7476836 w 7476836"/>
              <a:gd name="csY6" fmla="*/ 4409681 h 4409681"/>
              <a:gd name="csX7" fmla="*/ 0 w 7476836"/>
              <a:gd name="csY7" fmla="*/ 4409681 h 4409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476836" h="4409681">
                <a:moveTo>
                  <a:pt x="6192058" y="3412858"/>
                </a:moveTo>
                <a:lnTo>
                  <a:pt x="6192058" y="4286618"/>
                </a:lnTo>
                <a:lnTo>
                  <a:pt x="7390938" y="4286618"/>
                </a:lnTo>
                <a:lnTo>
                  <a:pt x="7390938" y="3412858"/>
                </a:lnTo>
                <a:close/>
                <a:moveTo>
                  <a:pt x="0" y="0"/>
                </a:moveTo>
                <a:lnTo>
                  <a:pt x="7476836" y="0"/>
                </a:lnTo>
                <a:lnTo>
                  <a:pt x="7476836" y="4409681"/>
                </a:lnTo>
                <a:lnTo>
                  <a:pt x="0" y="440968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06919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53AC-EB70-4A67-F417-8BC6D825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22D6573-B360-5362-29E4-19065BAD6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9137" y="1190964"/>
            <a:ext cx="8467726" cy="5057436"/>
          </a:xfrm>
          <a:custGeom>
            <a:avLst/>
            <a:gdLst>
              <a:gd name="csX0" fmla="*/ 6138143 w 7369006"/>
              <a:gd name="csY0" fmla="*/ 3412858 h 4401214"/>
              <a:gd name="csX1" fmla="*/ 6138143 w 7369006"/>
              <a:gd name="csY1" fmla="*/ 4286618 h 4401214"/>
              <a:gd name="csX2" fmla="*/ 7337023 w 7369006"/>
              <a:gd name="csY2" fmla="*/ 4286618 h 4401214"/>
              <a:gd name="csX3" fmla="*/ 7337023 w 7369006"/>
              <a:gd name="csY3" fmla="*/ 3412858 h 4401214"/>
              <a:gd name="csX4" fmla="*/ 0 w 7369006"/>
              <a:gd name="csY4" fmla="*/ 0 h 4401214"/>
              <a:gd name="csX5" fmla="*/ 7369006 w 7369006"/>
              <a:gd name="csY5" fmla="*/ 0 h 4401214"/>
              <a:gd name="csX6" fmla="*/ 7369006 w 7369006"/>
              <a:gd name="csY6" fmla="*/ 4401214 h 4401214"/>
              <a:gd name="csX7" fmla="*/ 0 w 7369006"/>
              <a:gd name="csY7" fmla="*/ 4401214 h 4401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369006" h="4401214">
                <a:moveTo>
                  <a:pt x="6138143" y="3412858"/>
                </a:moveTo>
                <a:lnTo>
                  <a:pt x="6138143" y="4286618"/>
                </a:lnTo>
                <a:lnTo>
                  <a:pt x="7337023" y="4286618"/>
                </a:lnTo>
                <a:lnTo>
                  <a:pt x="7337023" y="3412858"/>
                </a:lnTo>
                <a:close/>
                <a:moveTo>
                  <a:pt x="0" y="0"/>
                </a:moveTo>
                <a:lnTo>
                  <a:pt x="7369006" y="0"/>
                </a:lnTo>
                <a:lnTo>
                  <a:pt x="7369006" y="4401214"/>
                </a:lnTo>
                <a:lnTo>
                  <a:pt x="0" y="4401214"/>
                </a:lnTo>
                <a:close/>
              </a:path>
            </a:pathLst>
          </a:cu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A46802AE-6441-4C36-D719-6F0C7C82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(Profile Connection Space)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039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639EB24-C1BB-C0D1-86B0-82E9D7094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94" y="1307939"/>
            <a:ext cx="6744810" cy="4922073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09845EE-BEFD-0830-6F6A-014C6C372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429702"/>
              </p:ext>
            </p:extLst>
          </p:nvPr>
        </p:nvGraphicFramePr>
        <p:xfrm>
          <a:off x="7239884" y="1307939"/>
          <a:ext cx="2338794" cy="484267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38794">
                  <a:extLst>
                    <a:ext uri="{9D8B030D-6E8A-4147-A177-3AD203B41FA5}">
                      <a16:colId xmlns:a16="http://schemas.microsoft.com/office/drawing/2014/main" val="3358617967"/>
                    </a:ext>
                  </a:extLst>
                </a:gridCol>
              </a:tblGrid>
              <a:tr h="846997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Profile Header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128 bytes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1724688990"/>
                  </a:ext>
                </a:extLst>
              </a:tr>
              <a:tr h="137812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 Table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wtpt → offset / size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rXYZ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rTRC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3735960893"/>
                  </a:ext>
                </a:extLst>
              </a:tr>
              <a:tr h="2604129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Tagged Element Data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29441199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829EB0E-AACB-4717-2AF1-1A80075824B3}"/>
              </a:ext>
            </a:extLst>
          </p:cNvPr>
          <p:cNvSpPr/>
          <p:nvPr/>
        </p:nvSpPr>
        <p:spPr>
          <a:xfrm>
            <a:off x="419052" y="2000250"/>
            <a:ext cx="3123138" cy="381272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A4A946-AB83-D442-73C2-419DF0200B4A}"/>
              </a:ext>
            </a:extLst>
          </p:cNvPr>
          <p:cNvSpPr/>
          <p:nvPr/>
        </p:nvSpPr>
        <p:spPr>
          <a:xfrm>
            <a:off x="7239883" y="1307940"/>
            <a:ext cx="2338793" cy="83110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57AD61-57FE-CB79-79F2-D22419EF9C7B}"/>
              </a:ext>
            </a:extLst>
          </p:cNvPr>
          <p:cNvSpPr/>
          <p:nvPr/>
        </p:nvSpPr>
        <p:spPr>
          <a:xfrm>
            <a:off x="3567793" y="2000250"/>
            <a:ext cx="3486150" cy="3400042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949FE3-DF1E-452A-732C-5B0AB66B81F0}"/>
              </a:ext>
            </a:extLst>
          </p:cNvPr>
          <p:cNvSpPr/>
          <p:nvPr/>
        </p:nvSpPr>
        <p:spPr>
          <a:xfrm>
            <a:off x="7239883" y="2196193"/>
            <a:ext cx="2338793" cy="1347108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Display ICC Profile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結構</a:t>
            </a:r>
          </a:p>
        </p:txBody>
      </p:sp>
    </p:spTree>
    <p:extLst>
      <p:ext uri="{BB962C8B-B14F-4D97-AF65-F5344CB8AC3E}">
        <p14:creationId xmlns:p14="http://schemas.microsoft.com/office/powerpoint/2010/main" val="3369118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4AA7-A8A7-A341-3AC3-0E3E3424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70AA535C-35C8-9CAA-5BCE-9D60896E7559}"/>
              </a:ext>
            </a:extLst>
          </p:cNvPr>
          <p:cNvSpPr txBox="1"/>
          <p:nvPr/>
        </p:nvSpPr>
        <p:spPr>
          <a:xfrm>
            <a:off x="609602" y="1223724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0C616D-3C14-C08D-8569-D9AD85C5DC81}"/>
              </a:ext>
            </a:extLst>
          </p:cNvPr>
          <p:cNvSpPr/>
          <p:nvPr/>
        </p:nvSpPr>
        <p:spPr>
          <a:xfrm>
            <a:off x="538481" y="328958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4440B2-D934-67C7-39A3-FE56C3443B86}"/>
              </a:ext>
            </a:extLst>
          </p:cNvPr>
          <p:cNvSpPr/>
          <p:nvPr/>
        </p:nvSpPr>
        <p:spPr>
          <a:xfrm>
            <a:off x="342392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CMM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DD2B38-5863-2279-1592-91EB1F252E2D}"/>
              </a:ext>
            </a:extLst>
          </p:cNvPr>
          <p:cNvSpPr/>
          <p:nvPr/>
        </p:nvSpPr>
        <p:spPr>
          <a:xfrm>
            <a:off x="342392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OS/GPU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E50360-4991-7137-8AAB-9BACBD0D98BF}"/>
              </a:ext>
            </a:extLst>
          </p:cNvPr>
          <p:cNvSpPr/>
          <p:nvPr/>
        </p:nvSpPr>
        <p:spPr>
          <a:xfrm>
            <a:off x="707136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5CC085-F68F-A65E-FCB3-C00C72B7D390}"/>
              </a:ext>
            </a:extLst>
          </p:cNvPr>
          <p:cNvSpPr/>
          <p:nvPr/>
        </p:nvSpPr>
        <p:spPr>
          <a:xfrm>
            <a:off x="707136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Corrected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6668260-2771-F381-C71B-D54F678C8A36}"/>
              </a:ext>
            </a:extLst>
          </p:cNvPr>
          <p:cNvSpPr txBox="1"/>
          <p:nvPr/>
        </p:nvSpPr>
        <p:spPr>
          <a:xfrm>
            <a:off x="5639592" y="4884798"/>
            <a:ext cx="1111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8ECEDB-098A-A787-87A8-96D722F9D4AF}"/>
              </a:ext>
            </a:extLst>
          </p:cNvPr>
          <p:cNvSpPr txBox="1"/>
          <p:nvPr/>
        </p:nvSpPr>
        <p:spPr>
          <a:xfrm>
            <a:off x="5337372" y="2110033"/>
            <a:ext cx="1651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Conversion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0124EDF-B4FC-F6C1-EB1E-C16D8613D5B9}"/>
              </a:ext>
            </a:extLst>
          </p:cNvPr>
          <p:cNvSpPr txBox="1"/>
          <p:nvPr/>
        </p:nvSpPr>
        <p:spPr>
          <a:xfrm>
            <a:off x="1597480" y="2196636"/>
            <a:ext cx="1969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 / XYZ / wtpt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04DC6C4-F258-3DB0-B9DD-DEC53EDBA4C2}"/>
              </a:ext>
            </a:extLst>
          </p:cNvPr>
          <p:cNvSpPr txBox="1"/>
          <p:nvPr/>
        </p:nvSpPr>
        <p:spPr>
          <a:xfrm>
            <a:off x="1118873" y="4919551"/>
            <a:ext cx="2337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VCGT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MS00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MHC2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標題 1">
            <a:extLst>
              <a:ext uri="{FF2B5EF4-FFF2-40B4-BE49-F238E27FC236}">
                <a16:creationId xmlns:a16="http://schemas.microsoft.com/office/drawing/2014/main" id="{8D095D36-8CDE-8903-759D-B3DC6978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D20DBCA-6384-9E49-44A5-B651C92313FD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5171441" y="4798616"/>
            <a:ext cx="189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7A16EC5-F29F-9583-72F5-FFE82D56707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5171441" y="2615914"/>
            <a:ext cx="189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CD68CE2B-EDE8-D826-AB19-B6FAE4FE733F}"/>
              </a:ext>
            </a:extLst>
          </p:cNvPr>
          <p:cNvCxnSpPr>
            <a:cxnSpLocks/>
            <a:stCxn id="3" idx="1"/>
            <a:endCxn id="12" idx="3"/>
          </p:cNvCxnSpPr>
          <p:nvPr/>
        </p:nvCxnSpPr>
        <p:spPr>
          <a:xfrm rot="10800000" flipV="1">
            <a:off x="2286001" y="2615914"/>
            <a:ext cx="1137920" cy="1133412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834256DB-2ECB-B600-2909-4DADCB795645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rot="10800000">
            <a:off x="2286001" y="3749326"/>
            <a:ext cx="1137920" cy="1049290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968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F40E0A-D220-62E9-2407-BDEBBBC48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12" y="1717678"/>
            <a:ext cx="7064890" cy="4985915"/>
          </a:xfrm>
          <a:prstGeom prst="rect">
            <a:avLst/>
          </a:prstGeom>
        </p:spPr>
      </p:pic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FEDFB633-2563-4B81-6A49-DCC452247D25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軟體校正流程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58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38617A3-BEC8-75FF-D84E-E2B6A66A6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138" y="1625404"/>
            <a:ext cx="3193796" cy="422810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CF60E74-4101-FA8D-693A-DF8294D7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067" y="2582333"/>
            <a:ext cx="3725332" cy="2793999"/>
          </a:xfrm>
          <a:prstGeom prst="rect">
            <a:avLst/>
          </a:prstGeom>
        </p:spPr>
      </p:pic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04762C2E-A366-4946-68C1-E6D802A969F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軟體校正流程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73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8AC69FA-5C57-F0EF-7AE0-AE2A3188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2" y="1735666"/>
            <a:ext cx="5316217" cy="415625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8823F74-5748-23F9-AC33-67798B568E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92"/>
          <a:stretch/>
        </p:blipFill>
        <p:spPr>
          <a:xfrm>
            <a:off x="5811083" y="1837267"/>
            <a:ext cx="3874074" cy="4054650"/>
          </a:xfrm>
          <a:prstGeom prst="rect">
            <a:avLst/>
          </a:prstGeom>
        </p:spPr>
      </p:pic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4826348D-7537-F592-05B2-0DD97B1B3C79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軟體校正流程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472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測試這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個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的色溫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測試項目：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1.8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2.0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2.6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，搭配三組色溫進行測試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量測標準：色溫誤差為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± 1000k</a:t>
            </a:r>
          </a:p>
          <a:p>
            <a:pPr lvl="1">
              <a:lnSpc>
                <a:spcPct val="150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7007B64-5068-9DCF-2AF2-9BFF81565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23639"/>
              </p:ext>
            </p:extLst>
          </p:nvPr>
        </p:nvGraphicFramePr>
        <p:xfrm>
          <a:off x="2578179" y="2554587"/>
          <a:ext cx="4749641" cy="415287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915595">
                  <a:extLst>
                    <a:ext uri="{9D8B030D-6E8A-4147-A177-3AD203B41FA5}">
                      <a16:colId xmlns:a16="http://schemas.microsoft.com/office/drawing/2014/main" val="3290470944"/>
                    </a:ext>
                  </a:extLst>
                </a:gridCol>
                <a:gridCol w="1258941">
                  <a:extLst>
                    <a:ext uri="{9D8B030D-6E8A-4147-A177-3AD203B41FA5}">
                      <a16:colId xmlns:a16="http://schemas.microsoft.com/office/drawing/2014/main" val="1708128821"/>
                    </a:ext>
                  </a:extLst>
                </a:gridCol>
                <a:gridCol w="1316164">
                  <a:extLst>
                    <a:ext uri="{9D8B030D-6E8A-4147-A177-3AD203B41FA5}">
                      <a16:colId xmlns:a16="http://schemas.microsoft.com/office/drawing/2014/main" val="881486529"/>
                    </a:ext>
                  </a:extLst>
                </a:gridCol>
                <a:gridCol w="1258941">
                  <a:extLst>
                    <a:ext uri="{9D8B030D-6E8A-4147-A177-3AD203B41FA5}">
                      <a16:colId xmlns:a16="http://schemas.microsoft.com/office/drawing/2014/main" val="1566819237"/>
                    </a:ext>
                  </a:extLst>
                </a:gridCol>
              </a:tblGrid>
              <a:tr h="6086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量測色溫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誤差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2915106299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7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5352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48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3578564214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/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6419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81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3794258469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/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9046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254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3965229014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2.0 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5351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49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1742282556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/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6545</a:t>
                      </a:r>
                      <a:endParaRPr lang="zh-TW" sz="17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-45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2034024837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/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9045</a:t>
                      </a:r>
                      <a:endParaRPr lang="zh-TW" sz="17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255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3803486922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5314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86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582280423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/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6452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48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2802978759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/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9047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253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295770251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2.6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5404</a:t>
                      </a:r>
                      <a:endParaRPr lang="zh-TW" sz="17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altLang="zh-TW" sz="17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-4</a:t>
                      </a:r>
                      <a:endParaRPr lang="zh-TW" sz="17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2490794649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/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6544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-44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148649462"/>
                  </a:ext>
                </a:extLst>
              </a:tr>
              <a:tr h="295350">
                <a:tc>
                  <a:txBody>
                    <a:bodyPr/>
                    <a:lstStyle/>
                    <a:p>
                      <a:pPr algn="ctr"/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9048</a:t>
                      </a:r>
                      <a:endParaRPr lang="zh-TW" sz="17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7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252</a:t>
                      </a:r>
                      <a:endParaRPr lang="zh-TW" sz="17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965" marR="110965" marT="0" marB="0" anchor="ctr"/>
                </a:tc>
                <a:extLst>
                  <a:ext uri="{0D108BD9-81ED-4DB2-BD59-A6C34878D82A}">
                    <a16:rowId xmlns:a16="http://schemas.microsoft.com/office/drawing/2014/main" val="140765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607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文字版面配置區 6">
            <a:extLst>
              <a:ext uri="{FF2B5EF4-FFF2-40B4-BE49-F238E27FC236}">
                <a16:creationId xmlns:a16="http://schemas.microsoft.com/office/drawing/2014/main" id="{ADB01919-7694-3665-C9C6-6D8F975ED431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Profiole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Gamma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與校正曲線量測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測試項目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1.8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2.0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2.6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，搭配三組色溫進行測試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量測標準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Target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誤差為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± 0.05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、色溫誤差為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± 1000k</a:t>
            </a:r>
          </a:p>
          <a:p>
            <a:pPr lvl="1">
              <a:lnSpc>
                <a:spcPct val="150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388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320974</TotalTime>
  <Words>533</Words>
  <Application>Microsoft Office PowerPoint</Application>
  <PresentationFormat>A4 紙張 (210x297 公釐)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Noto Sans Symbols</vt:lpstr>
      <vt:lpstr>標楷體</vt:lpstr>
      <vt:lpstr>Arial</vt:lpstr>
      <vt:lpstr>Times New Roman</vt:lpstr>
      <vt:lpstr>template</vt:lpstr>
      <vt:lpstr>Progress Report</vt:lpstr>
      <vt:lpstr>上次進度: PCS (Profile Connection Space)</vt:lpstr>
      <vt:lpstr>上次進度: PCS (Profile Connection Space)</vt:lpstr>
      <vt:lpstr>上次進度: Display ICC Profile 結構</vt:lpstr>
      <vt:lpstr>上次進度: ICC Profile 架構</vt:lpstr>
      <vt:lpstr>本次進度: DisplayCAL</vt:lpstr>
      <vt:lpstr>本次進度: DisplayCAL </vt:lpstr>
      <vt:lpstr>本次進度: DisplayCAL </vt:lpstr>
      <vt:lpstr>本次進度: DisplayCAL </vt:lpstr>
      <vt:lpstr>下次進度: 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2846</cp:revision>
  <dcterms:created xsi:type="dcterms:W3CDTF">2003-02-17T16:04:03Z</dcterms:created>
  <dcterms:modified xsi:type="dcterms:W3CDTF">2026-10-01T05:09:58Z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