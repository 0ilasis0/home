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0"/>
  </p:notesMasterIdLst>
  <p:sldIdLst>
    <p:sldId id="277" r:id="rId2"/>
    <p:sldId id="1994" r:id="rId3"/>
    <p:sldId id="1937" r:id="rId4"/>
    <p:sldId id="1938" r:id="rId5"/>
    <p:sldId id="1997" r:id="rId6"/>
    <p:sldId id="1995" r:id="rId7"/>
    <p:sldId id="1996" r:id="rId8"/>
    <p:sldId id="286" r:id="rId9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  <p14:sldId id="1937"/>
            <p14:sldId id="1938"/>
            <p14:sldId id="1997"/>
            <p14:sldId id="1995"/>
            <p14:sldId id="1996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99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72606" autoAdjust="0"/>
  </p:normalViewPr>
  <p:slideViewPr>
    <p:cSldViewPr snapToGrid="0">
      <p:cViewPr varScale="1">
        <p:scale>
          <a:sx n="69" d="100"/>
          <a:sy n="69" d="100"/>
        </p:scale>
        <p:origin x="2016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不同裝置使用不同的方式表示色彩。因此，</a:t>
            </a:r>
            <a:r>
              <a:rPr lang="en-US" altLang="zh-TW" dirty="0"/>
              <a:t>RGB </a:t>
            </a:r>
            <a:r>
              <a:rPr lang="zh-TW" altLang="en-US" dirty="0"/>
              <a:t>數值本身只是「裝置值（</a:t>
            </a:r>
            <a:r>
              <a:rPr lang="en-US" altLang="zh-TW" dirty="0"/>
              <a:t>device values</a:t>
            </a:r>
            <a:r>
              <a:rPr lang="zh-TW" altLang="en-US" dirty="0"/>
              <a:t>）」，並不直接等同於一個跨裝置通用的顏色。</a:t>
            </a:r>
            <a:endParaRPr lang="en-US" altLang="zh-TW" dirty="0"/>
          </a:p>
          <a:p>
            <a:r>
              <a:rPr lang="en-US" altLang="zh-TW" dirty="0"/>
              <a:t>ICC </a:t>
            </a:r>
            <a:r>
              <a:rPr lang="zh-TW" altLang="en-US" dirty="0"/>
              <a:t>將這類裝置原生使用的色彩表示方式稱為 </a:t>
            </a:r>
            <a:r>
              <a:rPr lang="en-US" altLang="zh-TW" b="1" dirty="0"/>
              <a:t>device color space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8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1007523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r>
              <a:rPr lang="zh-TW" altLang="en-US" sz="2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的目的</a:t>
            </a:r>
            <a:endParaRPr lang="en-US" altLang="zh-TW" sz="2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i1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顯示器量測資料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，在無法使用顯示器硬體 LUT 校正的條件下，建立軟體顯示校正資料，並將其封裝關聯至 ICC Profile，使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作業系統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顯示色彩管理管線能夠將修正後的 RGB 訊號送至顯示器。</a:t>
            </a:r>
            <a:endParaRPr lang="en-US" altLang="zh-TW" sz="16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17, 2026].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研究背景與目標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dirty="0"/>
              <a:t>PCS(Profile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03FE17D-B09D-9139-788E-94F7382115DA}"/>
              </a:ext>
            </a:extLst>
          </p:cNvPr>
          <p:cNvSpPr txBox="1"/>
          <p:nvPr/>
        </p:nvSpPr>
        <p:spPr>
          <a:xfrm>
            <a:off x="520699" y="1369489"/>
            <a:ext cx="7669813" cy="440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什麼是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Device Color Space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C1BDABE-FEA0-3ED5-4398-9390AE5CB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582" y="1799222"/>
            <a:ext cx="7476836" cy="440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646051B0-D8D4-340A-55DE-B64A86894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497" y="1799222"/>
            <a:ext cx="7369006" cy="4401214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2E62D90A-238F-15C1-A17C-8D898584815F}"/>
              </a:ext>
            </a:extLst>
          </p:cNvPr>
          <p:cNvSpPr txBox="1"/>
          <p:nvPr/>
        </p:nvSpPr>
        <p:spPr>
          <a:xfrm>
            <a:off x="520699" y="1369489"/>
            <a:ext cx="7669813" cy="440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什麼是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Device Color Space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dirty="0"/>
              <a:t>PCS(Profile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E62D90A-238F-15C1-A17C-8D898584815F}"/>
              </a:ext>
            </a:extLst>
          </p:cNvPr>
          <p:cNvSpPr txBox="1"/>
          <p:nvPr/>
        </p:nvSpPr>
        <p:spPr>
          <a:xfrm>
            <a:off x="520699" y="1369489"/>
            <a:ext cx="7669813" cy="440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什麼是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Device Color Space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dirty="0"/>
              <a:t>PCS(Profile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0278E-9DDB-1083-DE26-7377E5283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/>
          </a:p>
        </p:txBody>
      </p:sp>
      <p:sp>
        <p:nvSpPr>
          <p:cNvPr id="3" name="圖表版面配置區 2">
            <a:extLst>
              <a:ext uri="{FF2B5EF4-FFF2-40B4-BE49-F238E27FC236}">
                <a16:creationId xmlns:a16="http://schemas.microsoft.com/office/drawing/2014/main" id="{6F76EA7C-89FA-596C-B414-662A677616BF}"/>
              </a:ext>
            </a:extLst>
          </p:cNvPr>
          <p:cNvSpPr>
            <a:spLocks noGrp="1"/>
          </p:cNvSpPr>
          <p:nvPr>
            <p:ph type="chart" idx="1"/>
          </p:nvPr>
        </p:nvSpPr>
        <p:spPr/>
      </p:sp>
    </p:spTree>
    <p:extLst>
      <p:ext uri="{BB962C8B-B14F-4D97-AF65-F5344CB8AC3E}">
        <p14:creationId xmlns:p14="http://schemas.microsoft.com/office/powerpoint/2010/main" val="1903635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0278E-9DDB-1083-DE26-7377E5283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/>
          </a:p>
        </p:txBody>
      </p:sp>
      <p:sp>
        <p:nvSpPr>
          <p:cNvPr id="3" name="圖表版面配置區 2">
            <a:extLst>
              <a:ext uri="{FF2B5EF4-FFF2-40B4-BE49-F238E27FC236}">
                <a16:creationId xmlns:a16="http://schemas.microsoft.com/office/drawing/2014/main" id="{6F76EA7C-89FA-596C-B414-662A677616BF}"/>
              </a:ext>
            </a:extLst>
          </p:cNvPr>
          <p:cNvSpPr>
            <a:spLocks noGrp="1"/>
          </p:cNvSpPr>
          <p:nvPr>
            <p:ph type="chart" idx="1"/>
          </p:nvPr>
        </p:nvSpPr>
        <p:spPr/>
      </p:sp>
    </p:spTree>
    <p:extLst>
      <p:ext uri="{BB962C8B-B14F-4D97-AF65-F5344CB8AC3E}">
        <p14:creationId xmlns:p14="http://schemas.microsoft.com/office/powerpoint/2010/main" val="2538759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315570</TotalTime>
  <Words>268</Words>
  <Application>Microsoft Office PowerPoint</Application>
  <PresentationFormat>A4 紙張 (210x297 公釐)</PresentationFormat>
  <Paragraphs>26</Paragraphs>
  <Slides>8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Noto Sans Symbols</vt:lpstr>
      <vt:lpstr>Arial</vt:lpstr>
      <vt:lpstr>Times New Roman</vt:lpstr>
      <vt:lpstr>template</vt:lpstr>
      <vt:lpstr>Progress Report</vt:lpstr>
      <vt:lpstr>本次進度:研究背景與目標</vt:lpstr>
      <vt:lpstr>本次進度:PCS(Profile Connection Space)</vt:lpstr>
      <vt:lpstr>本次進度:PCS(Profile Connection Space)</vt:lpstr>
      <vt:lpstr>本次進度:PCS(Profile Connection Space)</vt:lpstr>
      <vt:lpstr>本次進度:</vt:lpstr>
      <vt:lpstr>本次進度: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2441</cp:revision>
  <dcterms:created xsi:type="dcterms:W3CDTF">2003-02-17T16:04:03Z</dcterms:created>
  <dcterms:modified xsi:type="dcterms:W3CDTF">2026-09-18T09:56:58Z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