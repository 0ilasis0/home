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13"/>
  </p:notesMasterIdLst>
  <p:sldIdLst>
    <p:sldId id="277" r:id="rId2"/>
    <p:sldId id="1994" r:id="rId3"/>
    <p:sldId id="1937" r:id="rId4"/>
    <p:sldId id="1938" r:id="rId5"/>
    <p:sldId id="1997" r:id="rId6"/>
    <p:sldId id="1998" r:id="rId7"/>
    <p:sldId id="1999" r:id="rId8"/>
    <p:sldId id="2001" r:id="rId9"/>
    <p:sldId id="2002" r:id="rId10"/>
    <p:sldId id="2003" r:id="rId11"/>
    <p:sldId id="286" r:id="rId12"/>
  </p:sldIdLst>
  <p:sldSz cx="9906000" cy="6858000" type="A4"/>
  <p:notesSz cx="7315200" cy="96012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Head" id="{9114FBB3-8B00-422B-ACC9-030F49096E83}">
          <p14:sldIdLst>
            <p14:sldId id="277"/>
          </p14:sldIdLst>
        </p14:section>
        <p14:section name="ICC Profile" id="{7925A652-D02A-4F07-B4BA-109FEF573EC6}">
          <p14:sldIdLst>
            <p14:sldId id="1994"/>
            <p14:sldId id="1937"/>
            <p14:sldId id="1938"/>
            <p14:sldId id="1997"/>
            <p14:sldId id="1998"/>
            <p14:sldId id="1999"/>
            <p14:sldId id="2001"/>
            <p14:sldId id="2002"/>
            <p14:sldId id="2003"/>
          </p14:sldIdLst>
        </p14:section>
        <p14:section name="End" id="{33EEDC85-A799-4CB3-BF13-F4955B8630BE}">
          <p14:sldIdLst>
            <p14:sldId id="286"/>
          </p14:sldIdLst>
        </p14:section>
      </p14:sectionLst>
    </p:ex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10902143" initials="m" lastIdx="1" clrIdx="0"/>
  <p:cmAuthor id="2" name="James Kuo" initials="JK" lastIdx="1" clrIdx="1"/>
  <p:cmAuthor id="3" name="昇鴻 李" initials="昇鴻" lastIdx="1" clrIdx="2">
    <p:extLst>
      <p:ext uri="{19B8F6BF-5375-455C-9EA6-DF929625EA0E}">
        <p15:presenceInfo xmlns:p15="http://schemas.microsoft.com/office/powerpoint/2012/main" userId="72a70edeaa250c2c" providerId="Windows Live"/>
      </p:ext>
    </p:extLst>
  </p:cmAuthor>
  <p:cmAuthor id="4" name="宏德 林" initials="宏林" lastIdx="2" clrIdx="3">
    <p:extLst>
      <p:ext uri="{19B8F6BF-5375-455C-9EA6-DF929625EA0E}">
        <p15:presenceInfo xmlns:p15="http://schemas.microsoft.com/office/powerpoint/2012/main" userId="933d0002216be5bd" providerId="Windows Live"/>
      </p:ext>
    </p:extLst>
  </p:cmAuthor>
  <p:cmAuthor id="5" name="LI CHIH HSIANG" initials="LCH" lastIdx="6" clrIdx="4">
    <p:extLst>
      <p:ext uri="{19B8F6BF-5375-455C-9EA6-DF929625EA0E}">
        <p15:presenceInfo xmlns:p15="http://schemas.microsoft.com/office/powerpoint/2012/main" userId="LI CHIH HSIA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9900"/>
    <a:srgbClr val="00B050"/>
    <a:srgbClr val="0057C0"/>
    <a:srgbClr val="FFC000"/>
    <a:srgbClr val="FFFFFF"/>
    <a:srgbClr val="8958B1"/>
    <a:srgbClr val="C58DEF"/>
    <a:srgbClr val="993366"/>
    <a:srgbClr val="5814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D433FD4-3D7A-4217-8E80-1680D7E9CC69}" styleName="Table_0">
    <a:wholeTbl>
      <a:tcTxStyle b="off" i="off">
        <a:font>
          <a:latin typeface="Times New Roman"/>
          <a:ea typeface="Times New Roman"/>
          <a:cs typeface="Times New Roman"/>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25400" cap="flat" cmpd="sng">
              <a:solidFill>
                <a:schemeClr val="dk1"/>
              </a:solidFill>
              <a:prstDash val="solid"/>
              <a:round/>
              <a:headEnd type="none" w="sm" len="sm"/>
              <a:tailEnd type="none" w="sm" len="sm"/>
            </a:ln>
          </a:top>
          <a:bottom>
            <a:ln w="25400" cap="flat" cmpd="sng">
              <a:solidFill>
                <a:schemeClr val="dk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lt1"/>
          </a:solidFill>
        </a:fill>
      </a:tcStyle>
    </a:wholeTbl>
    <a:band1H>
      <a:tcStyle>
        <a:tcBdr/>
        <a:fill>
          <a:solidFill>
            <a:srgbClr val="E6E6E6"/>
          </a:solidFill>
        </a:fill>
      </a:tcStyle>
    </a:band1H>
    <a:band2H>
      <a:tcStyle>
        <a:tcBdr/>
      </a:tcStyle>
    </a:band2H>
    <a:band1V>
      <a:tcStyle>
        <a:tcBdr/>
        <a:fill>
          <a:solidFill>
            <a:srgbClr val="E6E6E6"/>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2"/>
          </a:solidFill>
        </a:fill>
      </a:tcStyle>
    </a:lastCol>
    <a:firstCol>
      <a:tcTxStyle b="on" i="off">
        <a:font>
          <a:latin typeface="Times New Roman"/>
          <a:ea typeface="Times New Roman"/>
          <a:cs typeface="Times New Roman"/>
        </a:font>
        <a:schemeClr val="lt1"/>
      </a:tcTxStyle>
      <a:tcStyle>
        <a:tcBdr/>
        <a:fill>
          <a:solidFill>
            <a:schemeClr val="accent2"/>
          </a:solidFill>
        </a:fill>
      </a:tcStyle>
    </a:firstCol>
    <a:lastRow>
      <a:tcTxStyle b="on" i="off"/>
      <a:tcStyle>
        <a:tcBdr>
          <a:top>
            <a:ln w="50800" cap="flat" cmpd="sng">
              <a:solidFill>
                <a:schemeClr val="dk1"/>
              </a:solidFill>
              <a:prstDash val="solid"/>
              <a:round/>
              <a:headEnd type="none" w="sm" len="sm"/>
              <a:tailEnd type="none" w="sm" len="sm"/>
            </a:ln>
          </a:top>
        </a:tcBdr>
        <a:fill>
          <a:solidFill>
            <a:schemeClr val="lt1"/>
          </a:solidFill>
        </a:fill>
      </a:tcStyle>
    </a:lastRow>
    <a:seCell>
      <a:tcTxStyle b="on" i="off">
        <a:font>
          <a:latin typeface="Times New Roman"/>
          <a:ea typeface="Times New Roman"/>
          <a:cs typeface="Times New Roman"/>
        </a:font>
        <a:schemeClr val="dk1"/>
      </a:tcTxStyle>
      <a:tcStyle>
        <a:tcBdr/>
      </a:tcStyle>
    </a:seCell>
    <a:swCell>
      <a:tcTxStyle b="on" i="off">
        <a:font>
          <a:latin typeface="Times New Roman"/>
          <a:ea typeface="Times New Roman"/>
          <a:cs typeface="Times New Roman"/>
        </a:font>
        <a:schemeClr val="dk1"/>
      </a:tcTxStyle>
      <a:tcStyle>
        <a:tcBdr/>
      </a:tcStyle>
    </a:swCell>
    <a:firstRow>
      <a:tcTxStyle b="on" i="off">
        <a:font>
          <a:latin typeface="Times New Roman"/>
          <a:ea typeface="Times New Roman"/>
          <a:cs typeface="Times New Roman"/>
        </a:font>
        <a:schemeClr val="lt1"/>
      </a:tcTxStyle>
      <a:tcStyle>
        <a:tcBdr>
          <a:bottom>
            <a:ln w="25400" cap="flat" cmpd="sng">
              <a:solidFill>
                <a:schemeClr val="dk1"/>
              </a:solidFill>
              <a:prstDash val="solid"/>
              <a:round/>
              <a:headEnd type="none" w="sm" len="sm"/>
              <a:tailEnd type="none" w="sm" len="sm"/>
            </a:ln>
          </a:bottom>
        </a:tcBdr>
        <a:fill>
          <a:solidFill>
            <a:schemeClr val="accent2"/>
          </a:solidFill>
        </a:fill>
      </a:tcStyle>
    </a:firstRow>
    <a:neCell>
      <a:tcStyle>
        <a:tcBdr/>
      </a:tcStyle>
    </a:neCell>
    <a:nwCell>
      <a:tcStyle>
        <a:tcBdr/>
      </a:tcStyle>
    </a:nwCell>
  </a:tblStyle>
  <a:tblStyle styleId="{3E919B74-BC6B-4152-9BDB-477648A112FC}" styleName="Table_1">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F6EF"/>
          </a:solidFill>
        </a:fill>
      </a:tcStyle>
    </a:wholeTbl>
    <a:band1H>
      <a:tcStyle>
        <a:tcBdr/>
        <a:fill>
          <a:solidFill>
            <a:srgbClr val="CAECDD"/>
          </a:solidFill>
        </a:fill>
      </a:tcStyle>
    </a:band1H>
    <a:band2H>
      <a:tcStyle>
        <a:tcBdr/>
      </a:tcStyle>
    </a:band2H>
    <a:band1V>
      <a:tcStyle>
        <a:tcBdr/>
        <a:fill>
          <a:solidFill>
            <a:srgbClr val="CAECDD"/>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75DCB02-9BB8-47FD-8907-85C794F793BA}" styleName="佈景主題樣式 1 - 輔色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8603FDC-E32A-4AB5-989C-0864C3EAD2B8}" styleName="佈景主題樣式 2 - 輔色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淺色樣式 1 - 輔色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中等深淺樣式 1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16DA210-FB5B-4158-B5E0-FEB733F419BA}" styleName="淺色樣式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03" autoAdjust="0"/>
    <p:restoredTop sz="72606" autoAdjust="0"/>
  </p:normalViewPr>
  <p:slideViewPr>
    <p:cSldViewPr snapToGrid="0">
      <p:cViewPr>
        <p:scale>
          <a:sx n="66" d="100"/>
          <a:sy n="66" d="100"/>
        </p:scale>
        <p:origin x="1613" y="-235"/>
      </p:cViewPr>
      <p:guideLst>
        <p:guide orient="horz" pos="2160"/>
        <p:guide pos="3120"/>
      </p:guideLst>
    </p:cSldViewPr>
  </p:slideViewPr>
  <p:outlineViewPr>
    <p:cViewPr>
      <p:scale>
        <a:sx n="33" d="100"/>
        <a:sy n="33" d="100"/>
      </p:scale>
      <p:origin x="0" y="0"/>
    </p:cViewPr>
  </p:outlineViewPr>
  <p:notesTextViewPr>
    <p:cViewPr>
      <p:scale>
        <a:sx n="150" d="100"/>
        <a:sy n="150" d="100"/>
      </p:scale>
      <p:origin x="0" y="0"/>
    </p:cViewPr>
  </p:notesTextViewPr>
  <p:notesViewPr>
    <p:cSldViewPr snapToGrid="0">
      <p:cViewPr varScale="1">
        <p:scale>
          <a:sx n="100" d="100"/>
          <a:sy n="100" d="100"/>
        </p:scale>
        <p:origin x="0" y="0"/>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1048659" name="Google Shape;3;n"/>
          <p:cNvSpPr txBox="1">
            <a:spLocks noGrp="1"/>
          </p:cNvSpPr>
          <p:nvPr>
            <p:ph type="hdr" idx="2"/>
          </p:nvPr>
        </p:nvSpPr>
        <p:spPr>
          <a:xfrm>
            <a:off x="0" y="0"/>
            <a:ext cx="3176588" cy="466725"/>
          </a:xfrm>
          <a:prstGeom prst="rect">
            <a:avLst/>
          </a:prstGeom>
          <a:noFill/>
          <a:ln>
            <a:noFill/>
          </a:ln>
        </p:spPr>
        <p:txBody>
          <a:bodyPr spcFirstLastPara="1" wrap="square" lIns="102350" tIns="51175" rIns="102350" bIns="51175" anchor="t"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0" name="Google Shape;4;n"/>
          <p:cNvSpPr txBox="1">
            <a:spLocks noGrp="1"/>
          </p:cNvSpPr>
          <p:nvPr>
            <p:ph type="dt" idx="10"/>
          </p:nvPr>
        </p:nvSpPr>
        <p:spPr>
          <a:xfrm>
            <a:off x="4138613" y="0"/>
            <a:ext cx="3176587" cy="466725"/>
          </a:xfrm>
          <a:prstGeom prst="rect">
            <a:avLst/>
          </a:prstGeom>
          <a:noFill/>
          <a:ln>
            <a:noFill/>
          </a:ln>
        </p:spPr>
        <p:txBody>
          <a:bodyPr spcFirstLastPara="1" wrap="square" lIns="102350" tIns="51175" rIns="102350" bIns="51175" anchor="t" anchorCtr="0">
            <a:noAutofit/>
          </a:bodyPr>
          <a:lstStyle>
            <a:lvl1pPr marR="0" lvl="0" algn="r"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1" name="Google Shape;5;n"/>
          <p:cNvSpPr>
            <a:spLocks noGrp="1" noRot="1" noChangeAspect="1"/>
          </p:cNvSpPr>
          <p:nvPr>
            <p:ph type="sldImg" idx="3"/>
          </p:nvPr>
        </p:nvSpPr>
        <p:spPr>
          <a:xfrm>
            <a:off x="1062038" y="735013"/>
            <a:ext cx="5197475" cy="359886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48662" name="Google Shape;6;n"/>
          <p:cNvSpPr txBox="1">
            <a:spLocks noGrp="1"/>
          </p:cNvSpPr>
          <p:nvPr>
            <p:ph type="body" idx="1"/>
          </p:nvPr>
        </p:nvSpPr>
        <p:spPr>
          <a:xfrm>
            <a:off x="962025" y="4567238"/>
            <a:ext cx="5391150" cy="4300537"/>
          </a:xfrm>
          <a:prstGeom prst="rect">
            <a:avLst/>
          </a:prstGeom>
          <a:noFill/>
          <a:ln>
            <a:noFill/>
          </a:ln>
        </p:spPr>
        <p:txBody>
          <a:bodyPr spcFirstLastPara="1" wrap="square" lIns="102350" tIns="51175" rIns="102350" bIns="51175"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L="914400" marR="0" lvl="1"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2pPr>
            <a:lvl3pPr marL="1371600" marR="0" lvl="2"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3pPr>
            <a:lvl4pPr marL="1828800" marR="0" lvl="3"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4pPr>
            <a:lvl5pPr marL="2286000" marR="0" lvl="4"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1048663" name="Google Shape;7;n"/>
          <p:cNvSpPr txBox="1">
            <a:spLocks noGrp="1"/>
          </p:cNvSpPr>
          <p:nvPr>
            <p:ph type="ftr" idx="11"/>
          </p:nvPr>
        </p:nvSpPr>
        <p:spPr>
          <a:xfrm>
            <a:off x="0" y="9134475"/>
            <a:ext cx="3176588" cy="466725"/>
          </a:xfrm>
          <a:prstGeom prst="rect">
            <a:avLst/>
          </a:prstGeom>
          <a:noFill/>
          <a:ln>
            <a:noFill/>
          </a:ln>
        </p:spPr>
        <p:txBody>
          <a:bodyPr spcFirstLastPara="1" wrap="square" lIns="102350" tIns="51175" rIns="102350" bIns="51175" anchor="b"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4" name="Google Shape;8;n"/>
          <p:cNvSpPr txBox="1">
            <a:spLocks noGrp="1"/>
          </p:cNvSpPr>
          <p:nvPr>
            <p:ph type="sldNum" idx="12"/>
          </p:nvPr>
        </p:nvSpPr>
        <p:spPr>
          <a:xfrm>
            <a:off x="4138613" y="9134475"/>
            <a:ext cx="3176587" cy="466725"/>
          </a:xfrm>
          <a:prstGeom prst="rect">
            <a:avLst/>
          </a:prstGeom>
          <a:noFill/>
          <a:ln>
            <a:noFill/>
          </a:ln>
        </p:spPr>
        <p:txBody>
          <a:bodyPr spcFirstLastPara="1" wrap="square" lIns="102350" tIns="51175" rIns="102350" bIns="51175" anchor="b" anchorCtr="0">
            <a:noAutofit/>
          </a:bodyPr>
          <a:lstStyle/>
          <a:p>
            <a:pPr marL="0" marR="0" lvl="0" indent="0" algn="r" rtl="0">
              <a:spcBef>
                <a:spcPts val="0"/>
              </a:spcBef>
              <a:spcAft>
                <a:spcPts val="0"/>
              </a:spcAft>
              <a:buNone/>
            </a:pPr>
            <a:fld id="{00000000-1234-1234-1234-123412341234}" type="slidenum">
              <a:rPr lang="en-US" sz="2000" b="0" i="0" u="none" strike="noStrike" cap="none">
                <a:solidFill>
                  <a:schemeClr val="dk1"/>
                </a:solidFill>
                <a:latin typeface="Times New Roman"/>
                <a:ea typeface="Times New Roman"/>
                <a:cs typeface="Times New Roman"/>
                <a:sym typeface="Times New Roman"/>
              </a:rPr>
              <a:t>‹#›</a:t>
            </a:fld>
            <a:endParaRPr sz="2000" b="0" i="0" u="none" strike="noStrike" cap="none" dirty="0">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5" name="投影片圖像版面配置區 1"/>
          <p:cNvSpPr>
            <a:spLocks noGrp="1" noRot="1" noChangeAspect="1"/>
          </p:cNvSpPr>
          <p:nvPr>
            <p:ph type="sldImg"/>
          </p:nvPr>
        </p:nvSpPr>
        <p:spPr/>
      </p:sp>
      <p:sp>
        <p:nvSpPr>
          <p:cNvPr id="1048586" name="備忘稿版面配置區 2"/>
          <p:cNvSpPr>
            <a:spLocks noGrp="1"/>
          </p:cNvSpPr>
          <p:nvPr>
            <p:ph type="body" idx="1"/>
          </p:nvPr>
        </p:nvSpPr>
        <p:spPr/>
        <p:txBody>
          <a:bodyPr/>
          <a:lstStyle/>
          <a:p>
            <a:endParaRPr lang="zh-TW" altLang="en-US" dirty="0"/>
          </a:p>
        </p:txBody>
      </p:sp>
      <p:sp>
        <p:nvSpPr>
          <p:cNvPr id="1048587" name="投影片編號版面配置區 3"/>
          <p:cNvSpPr>
            <a:spLocks noGrp="1"/>
          </p:cNvSpPr>
          <p:nvPr>
            <p:ph type="sldNum" sz="quarter" idx="10"/>
          </p:nvPr>
        </p:nvSpPr>
        <p:spPr/>
        <p:txBody>
          <a:bodyPr/>
          <a:lstStyle/>
          <a:p>
            <a:fld id="{F5753A29-9D77-4C26-8BEC-432FE5D4B0A4}" type="slidenum">
              <a:rPr lang="en-US" altLang="zh-TW" smtClean="0"/>
              <a:t>1</a:t>
            </a:fld>
            <a:endParaRPr lang="en-US" altLang="zh-TW"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110AC-F4A0-7D78-93B0-AF6E23C1C86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D5172F1-B577-25A9-AA74-C6AF6766164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9BD86B3-8EAB-902A-DCF6-698ADFDE9E8A}"/>
              </a:ext>
            </a:extLst>
          </p:cNvPr>
          <p:cNvSpPr>
            <a:spLocks noGrp="1"/>
          </p:cNvSpPr>
          <p:nvPr>
            <p:ph type="body" idx="1"/>
          </p:nvPr>
        </p:nvSpPr>
        <p:spPr/>
        <p:txBody>
          <a:bodyPr/>
          <a:lstStyle/>
          <a:p>
            <a:pPr marL="171450" marR="0" lvl="0" indent="-171450" algn="l" defTabSz="914400" rtl="0" eaLnBrk="0" fontAlgn="base" latinLnBrk="0" hangingPunct="0">
              <a:lnSpc>
                <a:spcPct val="100000"/>
              </a:lnSpc>
              <a:spcBef>
                <a:spcPct val="30000"/>
              </a:spcBef>
              <a:spcAft>
                <a:spcPct val="0"/>
              </a:spcAft>
              <a:buClrTx/>
              <a:buSzTx/>
              <a:buFont typeface="Arial" panose="020B0604020202020204" pitchFamily="34" charset="0"/>
              <a:buChar char="•"/>
              <a:tabLst/>
              <a:defRPr/>
            </a:pPr>
            <a:endParaRPr lang="en-US" altLang="zh-TW" sz="1200" b="0" dirty="0">
              <a:latin typeface="Arial" panose="020B0604020202020204" pitchFamily="34" charset="0"/>
              <a:ea typeface="標楷體" panose="03000509000000000000" pitchFamily="65" charset="-120"/>
              <a:cs typeface="Arial" panose="020B0604020202020204" pitchFamily="34" charset="0"/>
            </a:endParaRPr>
          </a:p>
        </p:txBody>
      </p:sp>
      <p:sp>
        <p:nvSpPr>
          <p:cNvPr id="4" name="投影片編號版面配置區 3">
            <a:extLst>
              <a:ext uri="{FF2B5EF4-FFF2-40B4-BE49-F238E27FC236}">
                <a16:creationId xmlns:a16="http://schemas.microsoft.com/office/drawing/2014/main" id="{69A9F744-724B-AE5D-EE31-BDB2E09408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2</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1121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zh-TW" dirty="0"/>
              <a:t>不同裝置有自己的色彩表示方式。如果直接做裝置對裝置的轉換，裝置種類增加時，就需要考慮更多裝置間的對應關係。</a:t>
            </a:r>
            <a:endParaRPr lang="en-US" altLang="zh-TW" dirty="0"/>
          </a:p>
          <a:p>
            <a:r>
              <a:rPr lang="zh-TW" altLang="en-US" dirty="0"/>
              <a:t>例如：相機的照片想要在印表機上顯示相同畫面他們的色彩關係必然需要做轉換，如此一來設備數量變多時，每台設備間都要有獨立的轉換關係會讓色彩管理變得困難。</a:t>
            </a:r>
            <a:endParaRPr lang="en-US" altLang="zh-TW"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3</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669707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en-US" dirty="0"/>
              <a:t>因此</a:t>
            </a:r>
            <a:r>
              <a:rPr lang="en-US" altLang="zh-TW" dirty="0"/>
              <a:t>ICC</a:t>
            </a:r>
            <a:r>
              <a:rPr lang="zh-TW" altLang="en-US" dirty="0"/>
              <a:t>做了一件事，他訂了讓所有設備都能通用的標準，這樣不同設備間就能</a:t>
            </a:r>
            <a:r>
              <a:rPr lang="zh-TW" altLang="zh-TW" dirty="0"/>
              <a:t>將自己的 Device Color Space 與共同的 PCS 建立轉換關係，使不同設備的 Profile 可以透過同一個 PCS 互相連接。</a:t>
            </a:r>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4</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507897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5</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76664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51A70-D7FF-B69E-2F1F-5276D7F44C5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FB2E1DE-40DE-B1BA-7135-64BFFB1631B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4F8DB8E-F5F1-21EB-D41F-2C635FB715D5}"/>
              </a:ext>
            </a:extLst>
          </p:cNvPr>
          <p:cNvSpPr>
            <a:spLocks noGrp="1"/>
          </p:cNvSpPr>
          <p:nvPr>
            <p:ph type="body" idx="1"/>
          </p:nvPr>
        </p:nvSpPr>
        <p:spPr/>
        <p:txBody>
          <a:bodyPr/>
          <a:lstStyle/>
          <a:p>
            <a:r>
              <a:rPr lang="zh-TW" altLang="zh-TW" dirty="0"/>
              <a:t>ICC Profile 是一種具有固定資料結構的二進位 Profile 檔案。其主要結構由三部分組成：Profile Header、Profile Tag Table，以及 Profile Tagged Element Data。Header 告訴系統這個 Profile 的基本資訊；Tag Table 則像目錄，告訴系統 Profile 裡有哪些 Tag 以及資料在哪裡；真正的資料則放在 Tagged Element Data 裡。</a:t>
            </a:r>
            <a:endParaRPr lang="en-US" altLang="zh-TW" dirty="0"/>
          </a:p>
          <a:p>
            <a:endParaRPr lang="en-US" altLang="zh-TW" dirty="0"/>
          </a:p>
          <a:p>
            <a:r>
              <a:rPr lang="zh-TW" altLang="en-US" dirty="0"/>
              <a:t>範例的</a:t>
            </a:r>
            <a:r>
              <a:rPr lang="en-US" altLang="zh-TW" dirty="0"/>
              <a:t>ICC</a:t>
            </a:r>
            <a:r>
              <a:rPr lang="zh-TW" altLang="en-US" dirty="0"/>
              <a:t>是我使用</a:t>
            </a:r>
            <a:r>
              <a:rPr lang="en-US" altLang="zh-TW" dirty="0"/>
              <a:t>windows</a:t>
            </a:r>
            <a:r>
              <a:rPr lang="zh-TW" altLang="en-US" dirty="0"/>
              <a:t>校正自己產生的</a:t>
            </a:r>
            <a:r>
              <a:rPr lang="en-US" altLang="zh-TW" dirty="0"/>
              <a:t>ICC</a:t>
            </a:r>
            <a:r>
              <a:rPr lang="zh-TW" altLang="en-US" dirty="0"/>
              <a:t>檔案</a:t>
            </a:r>
          </a:p>
        </p:txBody>
      </p:sp>
      <p:sp>
        <p:nvSpPr>
          <p:cNvPr id="4" name="投影片編號版面配置區 3">
            <a:extLst>
              <a:ext uri="{FF2B5EF4-FFF2-40B4-BE49-F238E27FC236}">
                <a16:creationId xmlns:a16="http://schemas.microsoft.com/office/drawing/2014/main" id="{A81AD260-1FA1-46D2-EEFC-6CE390861C0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6</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4494868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234D3-9375-BB4A-497F-CAD6E52510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A9971EE-DFCF-DEF4-8444-9F59BC3FDB40}"/>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430228E-C839-67A5-540C-6AD6AE97E8D7}"/>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A952236C-32FD-79CC-D314-A1D3EDE40852}"/>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7</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569931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D7BE6-0C6A-24C7-EDCE-42FCC8CD50F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63FA2D6-6572-94E0-F6B6-6A5BA501922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7639A5D-EDAF-4F81-B67C-950D2048D712}"/>
              </a:ext>
            </a:extLst>
          </p:cNvPr>
          <p:cNvSpPr>
            <a:spLocks noGrp="1"/>
          </p:cNvSpPr>
          <p:nvPr>
            <p:ph type="body" idx="1"/>
          </p:nvPr>
        </p:nvSpPr>
        <p:spPr/>
        <p:txBody>
          <a:bodyPr/>
          <a:lstStyle/>
          <a:p>
            <a:r>
              <a:rPr lang="zh-TW" altLang="en-US" dirty="0"/>
              <a:t>例子中的</a:t>
            </a:r>
            <a:r>
              <a:rPr lang="en-US" altLang="zh-TW" dirty="0"/>
              <a:t>gamma2.2</a:t>
            </a:r>
            <a:r>
              <a:rPr lang="zh-TW" altLang="en-US" dirty="0"/>
              <a:t>做的事情就可以說是一種</a:t>
            </a:r>
            <a:r>
              <a:rPr lang="en-US" altLang="zh-TW" dirty="0"/>
              <a:t>TRC</a:t>
            </a:r>
            <a:r>
              <a:rPr lang="zh-TW" altLang="en-US" dirty="0"/>
              <a:t>，將原先非線性的</a:t>
            </a:r>
            <a:r>
              <a:rPr lang="en-US" altLang="zh-TW" dirty="0"/>
              <a:t>RGB</a:t>
            </a:r>
            <a:r>
              <a:rPr lang="zh-TW" altLang="en-US" dirty="0"/>
              <a:t>轉換為線性的</a:t>
            </a:r>
            <a:r>
              <a:rPr lang="en-US" altLang="zh-TW" dirty="0"/>
              <a:t>RGB</a:t>
            </a:r>
            <a:r>
              <a:rPr lang="zh-TW" altLang="en-US" dirty="0"/>
              <a:t>，這就是</a:t>
            </a:r>
            <a:r>
              <a:rPr lang="en-US" altLang="zh-TW" dirty="0"/>
              <a:t>TRC</a:t>
            </a:r>
            <a:r>
              <a:rPr lang="zh-TW" altLang="en-US" dirty="0"/>
              <a:t>的具體功能，當然</a:t>
            </a:r>
            <a:r>
              <a:rPr lang="en-US" altLang="zh-TW" dirty="0"/>
              <a:t>TRC</a:t>
            </a:r>
            <a:r>
              <a:rPr lang="zh-TW" altLang="en-US" dirty="0"/>
              <a:t>可以是</a:t>
            </a:r>
            <a:r>
              <a:rPr lang="en-US" altLang="zh-TW" dirty="0"/>
              <a:t>3</a:t>
            </a:r>
            <a:r>
              <a:rPr lang="zh-TW" altLang="en-US" dirty="0"/>
              <a:t>條獨立的</a:t>
            </a:r>
            <a:r>
              <a:rPr lang="en-US" altLang="zh-TW" dirty="0"/>
              <a:t>LUT</a:t>
            </a:r>
            <a:r>
              <a:rPr lang="zh-TW" altLang="en-US" dirty="0"/>
              <a:t>也可以是「</a:t>
            </a:r>
            <a:r>
              <a:rPr lang="zh-TW" altLang="zh-TW" b="1" dirty="0"/>
              <a:t>曲線資料</a:t>
            </a:r>
            <a:r>
              <a:rPr lang="zh-TW" altLang="zh-TW" dirty="0"/>
              <a:t>或</a:t>
            </a:r>
            <a:r>
              <a:rPr lang="zh-TW" altLang="zh-TW" b="1" dirty="0"/>
              <a:t>參數化函數</a:t>
            </a:r>
            <a:r>
              <a:rPr lang="zh-TW" altLang="en-US" b="1" dirty="0"/>
              <a:t>」甚至是簡單的</a:t>
            </a:r>
            <a:r>
              <a:rPr lang="en-US" altLang="zh-TW" b="1" dirty="0"/>
              <a:t>gamma</a:t>
            </a:r>
            <a:endParaRPr lang="zh-TW" altLang="en-US" dirty="0"/>
          </a:p>
        </p:txBody>
      </p:sp>
      <p:sp>
        <p:nvSpPr>
          <p:cNvPr id="4" name="投影片編號版面配置區 3">
            <a:extLst>
              <a:ext uri="{FF2B5EF4-FFF2-40B4-BE49-F238E27FC236}">
                <a16:creationId xmlns:a16="http://schemas.microsoft.com/office/drawing/2014/main" id="{F8ED7604-660E-D030-99B4-A4E74D119DF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8</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806220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DCB87-D510-3E12-0B70-9F66CF2E4F5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C2220D8-AB85-841B-EEFB-AA26789AEC0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7E014429-932D-C388-46B7-D1B69AE89375}"/>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ECE301C6-59CB-7CC2-23BD-00E11BDD5D3D}"/>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9</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964529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B1E6A-07EA-2C49-E94E-89150806B3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368E216-B8FB-E497-CE96-7A22127E477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7CFCF3B-751C-7B04-59E2-90C7F3AAC38C}"/>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74B9077-19CE-89B0-AB98-4BB2D2D042E5}"/>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10</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317126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41" name="投影片影像版面配置區 1"/>
          <p:cNvSpPr>
            <a:spLocks noGrp="1" noRot="1" noChangeAspect="1"/>
          </p:cNvSpPr>
          <p:nvPr>
            <p:ph type="sldImg"/>
          </p:nvPr>
        </p:nvSpPr>
        <p:spPr/>
      </p:sp>
      <p:sp>
        <p:nvSpPr>
          <p:cNvPr id="1048642" name="備忘稿版面配置區 2"/>
          <p:cNvSpPr>
            <a:spLocks noGrp="1"/>
          </p:cNvSpPr>
          <p:nvPr>
            <p:ph type="body" idx="1"/>
          </p:nvPr>
        </p:nvSpPr>
        <p:spPr/>
        <p:txBody>
          <a:bodyPr/>
          <a:lstStyle/>
          <a:p>
            <a:pPr marL="228600" indent="0">
              <a:buNone/>
            </a:pPr>
            <a:endParaRPr lang="en-US" altLang="zh-TW" dirty="0"/>
          </a:p>
        </p:txBody>
      </p:sp>
      <p:sp>
        <p:nvSpPr>
          <p:cNvPr id="1048643" name="投影片編號版面配置區 3"/>
          <p:cNvSpPr>
            <a:spLocks noGrp="1"/>
          </p:cNvSpPr>
          <p:nvPr>
            <p:ph type="sldNum" sz="quarter" idx="5"/>
          </p:nvPr>
        </p:nvSpPr>
        <p:spPr/>
        <p:txBody>
          <a:bodyPr/>
          <a:lstStyle/>
          <a:p>
            <a:fld id="{F5753A29-9D77-4C26-8BEC-432FE5D4B0A4}" type="slidenum">
              <a:rPr lang="en-US" altLang="zh-TW" smtClean="0"/>
              <a:t>11</a:t>
            </a:fld>
            <a:endParaRPr lang="en-US" altLang="zh-TW"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標題投影片" type="title">
  <p:cSld name="TITLE">
    <p:spTree>
      <p:nvGrpSpPr>
        <p:cNvPr id="1" name="Shape 20"/>
        <p:cNvGrpSpPr/>
        <p:nvPr/>
      </p:nvGrpSpPr>
      <p:grpSpPr>
        <a:xfrm>
          <a:off x="0" y="0"/>
          <a:ext cx="0" cy="0"/>
          <a:chOff x="0" y="0"/>
          <a:chExt cx="0" cy="0"/>
        </a:xfrm>
      </p:grpSpPr>
      <p:sp>
        <p:nvSpPr>
          <p:cNvPr id="1048636" name="Google Shape;21;p50"/>
          <p:cNvSpPr txBox="1">
            <a:spLocks noGrp="1"/>
          </p:cNvSpPr>
          <p:nvPr>
            <p:ph type="ctrTitle"/>
          </p:nvPr>
        </p:nvSpPr>
        <p:spPr>
          <a:xfrm>
            <a:off x="1238250" y="1122363"/>
            <a:ext cx="7429500" cy="2387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sz="4875"/>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37" name="Google Shape;22;p50"/>
          <p:cNvSpPr txBox="1">
            <a:spLocks noGrp="1"/>
          </p:cNvSpPr>
          <p:nvPr>
            <p:ph type="subTitle" idx="1"/>
          </p:nvPr>
        </p:nvSpPr>
        <p:spPr>
          <a:xfrm>
            <a:off x="1238250" y="3602038"/>
            <a:ext cx="7429500" cy="1655762"/>
          </a:xfrm>
          <a:prstGeom prst="rect">
            <a:avLst/>
          </a:prstGeom>
          <a:noFill/>
          <a:ln>
            <a:noFill/>
          </a:ln>
        </p:spPr>
        <p:txBody>
          <a:bodyPr spcFirstLastPara="1" wrap="square" lIns="91425" tIns="45700" rIns="91425" bIns="45700" anchor="t" anchorCtr="0">
            <a:noAutofit/>
          </a:bodyPr>
          <a:lstStyle>
            <a:lvl1pPr lvl="0" algn="ctr">
              <a:spcBef>
                <a:spcPts val="390"/>
              </a:spcBef>
              <a:spcAft>
                <a:spcPts val="0"/>
              </a:spcAft>
              <a:buSzPts val="1950"/>
              <a:buNone/>
              <a:defRPr sz="1950"/>
            </a:lvl1pPr>
            <a:lvl2pPr lvl="1" algn="ctr">
              <a:spcBef>
                <a:spcPts val="325"/>
              </a:spcBef>
              <a:spcAft>
                <a:spcPts val="0"/>
              </a:spcAft>
              <a:buSzPts val="1625"/>
              <a:buNone/>
              <a:defRPr sz="1625"/>
            </a:lvl2pPr>
            <a:lvl3pPr lvl="2" algn="ctr">
              <a:spcBef>
                <a:spcPts val="293"/>
              </a:spcBef>
              <a:spcAft>
                <a:spcPts val="0"/>
              </a:spcAft>
              <a:buSzPts val="1463"/>
              <a:buFont typeface="Times New Roman"/>
              <a:buNone/>
              <a:defRPr sz="1463"/>
            </a:lvl3pPr>
            <a:lvl4pPr lvl="3" algn="ctr">
              <a:spcBef>
                <a:spcPts val="260"/>
              </a:spcBef>
              <a:spcAft>
                <a:spcPts val="0"/>
              </a:spcAft>
              <a:buSzPts val="1300"/>
              <a:buFont typeface="Times New Roman"/>
              <a:buNone/>
              <a:defRPr sz="1300"/>
            </a:lvl4pPr>
            <a:lvl5pPr lvl="4" algn="ctr">
              <a:spcBef>
                <a:spcPts val="260"/>
              </a:spcBef>
              <a:spcAft>
                <a:spcPts val="0"/>
              </a:spcAft>
              <a:buSzPts val="1300"/>
              <a:buFont typeface="Times New Roman"/>
              <a:buNone/>
              <a:defRPr sz="1300"/>
            </a:lvl5pPr>
            <a:lvl6pPr lvl="5" algn="ctr">
              <a:spcBef>
                <a:spcPts val="260"/>
              </a:spcBef>
              <a:spcAft>
                <a:spcPts val="0"/>
              </a:spcAft>
              <a:buSzPts val="1300"/>
              <a:buFont typeface="Times New Roman"/>
              <a:buNone/>
              <a:defRPr sz="1300"/>
            </a:lvl6pPr>
            <a:lvl7pPr lvl="6" algn="ctr">
              <a:spcBef>
                <a:spcPts val="260"/>
              </a:spcBef>
              <a:spcAft>
                <a:spcPts val="0"/>
              </a:spcAft>
              <a:buSzPts val="1300"/>
              <a:buFont typeface="Times New Roman"/>
              <a:buNone/>
              <a:defRPr sz="1300"/>
            </a:lvl7pPr>
            <a:lvl8pPr lvl="7" algn="ctr">
              <a:spcBef>
                <a:spcPts val="260"/>
              </a:spcBef>
              <a:spcAft>
                <a:spcPts val="0"/>
              </a:spcAft>
              <a:buSzPts val="1300"/>
              <a:buFont typeface="Times New Roman"/>
              <a:buNone/>
              <a:defRPr sz="1300"/>
            </a:lvl8pPr>
            <a:lvl9pPr lvl="8" algn="ctr">
              <a:spcBef>
                <a:spcPts val="260"/>
              </a:spcBef>
              <a:spcAft>
                <a:spcPts val="0"/>
              </a:spcAft>
              <a:buSzPts val="1300"/>
              <a:buFont typeface="Times New Roman"/>
              <a:buNone/>
              <a:defRPr sz="1300"/>
            </a:lvl9pPr>
          </a:lstStyle>
          <a:p>
            <a:endParaRPr/>
          </a:p>
        </p:txBody>
      </p:sp>
      <p:sp>
        <p:nvSpPr>
          <p:cNvPr id="1048638" name="Google Shape;23;p50"/>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39" name="Google Shape;24;p50"/>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40" name="Google Shape;25;p50"/>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spcAft>
                <a:spcPts val="0"/>
              </a:spcAft>
              <a:buNone/>
              <a:defRPr sz="2400">
                <a:solidFill>
                  <a:schemeClr val="dk1"/>
                </a:solidFill>
                <a:latin typeface="Times New Roman"/>
                <a:ea typeface="Times New Roman"/>
                <a:cs typeface="Times New Roman"/>
                <a:sym typeface="Times New Roman"/>
              </a:defRPr>
            </a:lvl1pPr>
            <a:lvl2pPr marL="0" marR="0" lvl="1" indent="0" algn="l" rtl="0">
              <a:spcBef>
                <a:spcPts val="0"/>
              </a:spcBef>
              <a:spcAft>
                <a:spcPts val="0"/>
              </a:spcAft>
              <a:buNone/>
              <a:defRPr sz="2400">
                <a:solidFill>
                  <a:schemeClr val="dk1"/>
                </a:solidFill>
                <a:latin typeface="Times New Roman"/>
                <a:ea typeface="Times New Roman"/>
                <a:cs typeface="Times New Roman"/>
                <a:sym typeface="Times New Roman"/>
              </a:defRPr>
            </a:lvl2pPr>
            <a:lvl3pPr marL="0" marR="0" lvl="2" indent="0" algn="l" rtl="0">
              <a:spcBef>
                <a:spcPts val="0"/>
              </a:spcBef>
              <a:spcAft>
                <a:spcPts val="0"/>
              </a:spcAft>
              <a:buNone/>
              <a:defRPr sz="2400">
                <a:solidFill>
                  <a:schemeClr val="dk1"/>
                </a:solidFill>
                <a:latin typeface="Times New Roman"/>
                <a:ea typeface="Times New Roman"/>
                <a:cs typeface="Times New Roman"/>
                <a:sym typeface="Times New Roman"/>
              </a:defRPr>
            </a:lvl3pPr>
            <a:lvl4pPr marL="0" marR="0" lvl="3" indent="0" algn="l" rtl="0">
              <a:spcBef>
                <a:spcPts val="0"/>
              </a:spcBef>
              <a:spcAft>
                <a:spcPts val="0"/>
              </a:spcAft>
              <a:buNone/>
              <a:defRPr sz="2400">
                <a:solidFill>
                  <a:schemeClr val="dk1"/>
                </a:solidFill>
                <a:latin typeface="Times New Roman"/>
                <a:ea typeface="Times New Roman"/>
                <a:cs typeface="Times New Roman"/>
                <a:sym typeface="Times New Roman"/>
              </a:defRPr>
            </a:lvl4pPr>
            <a:lvl5pPr marL="0" marR="0" lvl="4" indent="0" algn="l" rtl="0">
              <a:spcBef>
                <a:spcPts val="0"/>
              </a:spcBef>
              <a:spcAft>
                <a:spcPts val="0"/>
              </a:spcAft>
              <a:buNone/>
              <a:defRPr sz="2400">
                <a:solidFill>
                  <a:schemeClr val="dk1"/>
                </a:solidFill>
                <a:latin typeface="Times New Roman"/>
                <a:ea typeface="Times New Roman"/>
                <a:cs typeface="Times New Roman"/>
                <a:sym typeface="Times New Roman"/>
              </a:defRPr>
            </a:lvl5pPr>
            <a:lvl6pPr marL="0" marR="0" lvl="5" indent="0" algn="l" rtl="0">
              <a:spcBef>
                <a:spcPts val="0"/>
              </a:spcBef>
              <a:spcAft>
                <a:spcPts val="0"/>
              </a:spcAft>
              <a:buNone/>
              <a:defRPr sz="2400">
                <a:solidFill>
                  <a:schemeClr val="dk1"/>
                </a:solidFill>
                <a:latin typeface="Times New Roman"/>
                <a:ea typeface="Times New Roman"/>
                <a:cs typeface="Times New Roman"/>
                <a:sym typeface="Times New Roman"/>
              </a:defRPr>
            </a:lvl6pPr>
            <a:lvl7pPr marL="0" marR="0" lvl="6" indent="0" algn="l" rtl="0">
              <a:spcBef>
                <a:spcPts val="0"/>
              </a:spcBef>
              <a:spcAft>
                <a:spcPts val="0"/>
              </a:spcAft>
              <a:buNone/>
              <a:defRPr sz="2400">
                <a:solidFill>
                  <a:schemeClr val="dk1"/>
                </a:solidFill>
                <a:latin typeface="Times New Roman"/>
                <a:ea typeface="Times New Roman"/>
                <a:cs typeface="Times New Roman"/>
                <a:sym typeface="Times New Roman"/>
              </a:defRPr>
            </a:lvl7pPr>
            <a:lvl8pPr marL="0" marR="0" lvl="7" indent="0" algn="l" rtl="0">
              <a:spcBef>
                <a:spcPts val="0"/>
              </a:spcBef>
              <a:spcAft>
                <a:spcPts val="0"/>
              </a:spcAft>
              <a:buNone/>
              <a:defRPr sz="2400">
                <a:solidFill>
                  <a:schemeClr val="dk1"/>
                </a:solidFill>
                <a:latin typeface="Times New Roman"/>
                <a:ea typeface="Times New Roman"/>
                <a:cs typeface="Times New Roman"/>
                <a:sym typeface="Times New Roman"/>
              </a:defRPr>
            </a:lvl8pPr>
            <a:lvl9pPr marL="0" marR="0" lvl="8" indent="0" algn="l" rtl="0">
              <a:spcBef>
                <a:spcPts val="0"/>
              </a:spcBef>
              <a:spcAft>
                <a:spcPts val="0"/>
              </a:spcAft>
              <a:buNone/>
              <a:defRPr sz="2400">
                <a:solidFill>
                  <a:schemeClr val="dk1"/>
                </a:solidFill>
                <a:latin typeface="Times New Roman"/>
                <a:ea typeface="Times New Roman"/>
                <a:cs typeface="Times New Roman"/>
                <a:sym typeface="Times New Roman"/>
              </a:defRPr>
            </a:lvl9pPr>
          </a:lstStyle>
          <a:p>
            <a:pPr marL="0" lvl="0" indent="0" algn="l"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1048646" name="Google Shape;37;p5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7" name="Google Shape;38;p5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48" name="Google Shape;39;p5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
        <p:nvSpPr>
          <p:cNvPr id="1048649" name="Google Shape;40;p54"/>
          <p:cNvSpPr txBox="1">
            <a:spLocks noGrp="1"/>
          </p:cNvSpPr>
          <p:nvPr>
            <p:ph type="body" idx="3"/>
          </p:nvPr>
        </p:nvSpPr>
        <p:spPr>
          <a:xfrm>
            <a:off x="4645027" y="1535113"/>
            <a:ext cx="4041775"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50" name="Google Shape;41;p54"/>
          <p:cNvSpPr txBox="1">
            <a:spLocks noGrp="1"/>
          </p:cNvSpPr>
          <p:nvPr>
            <p:ph type="body" idx="4"/>
          </p:nvPr>
        </p:nvSpPr>
        <p:spPr>
          <a:xfrm>
            <a:off x="4645027" y="2174875"/>
            <a:ext cx="4041775"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2"/>
        <p:cNvGrpSpPr/>
        <p:nvPr/>
      </p:nvGrpSpPr>
      <p:grpSpPr>
        <a:xfrm>
          <a:off x="0" y="0"/>
          <a:ext cx="0" cy="0"/>
          <a:chOff x="0" y="0"/>
          <a:chExt cx="0" cy="0"/>
        </a:xfrm>
      </p:grpSpPr>
      <p:sp>
        <p:nvSpPr>
          <p:cNvPr id="1048653" name="Google Shape;43;p55"/>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9"/>
        <p:cNvGrpSpPr/>
        <p:nvPr/>
      </p:nvGrpSpPr>
      <p:grpSpPr>
        <a:xfrm>
          <a:off x="0" y="0"/>
          <a:ext cx="0" cy="0"/>
          <a:chOff x="0" y="0"/>
          <a:chExt cx="0" cy="0"/>
        </a:xfrm>
      </p:grpSpPr>
      <p:sp>
        <p:nvSpPr>
          <p:cNvPr id="1048654" name="Google Shape;50;p58"/>
          <p:cNvSpPr txBox="1">
            <a:spLocks noGrp="1"/>
          </p:cNvSpPr>
          <p:nvPr>
            <p:ph type="title"/>
          </p:nvPr>
        </p:nvSpPr>
        <p:spPr>
          <a:xfrm>
            <a:off x="1792290" y="4800600"/>
            <a:ext cx="5486400" cy="5667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5" name="Google Shape;51;p58"/>
          <p:cNvSpPr>
            <a:spLocks noGrp="1"/>
          </p:cNvSpPr>
          <p:nvPr>
            <p:ph type="pic" idx="2"/>
          </p:nvPr>
        </p:nvSpPr>
        <p:spPr>
          <a:xfrm>
            <a:off x="1792290" y="612775"/>
            <a:ext cx="5486400" cy="41148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accent2"/>
              </a:buClr>
              <a:buSzPts val="3200"/>
              <a:buFont typeface="Noto Sans Symbols"/>
              <a:buNone/>
              <a:defRPr sz="3200" b="0" i="0" u="none" strike="noStrike" cap="none">
                <a:solidFill>
                  <a:schemeClr val="dk1"/>
                </a:solidFill>
                <a:latin typeface="Times New Roman"/>
                <a:ea typeface="Times New Roman"/>
                <a:cs typeface="Times New Roman"/>
                <a:sym typeface="Times New Roman"/>
              </a:defRPr>
            </a:lvl1pPr>
            <a:lvl2pPr marR="0" lvl="1" algn="l" rtl="0">
              <a:spcBef>
                <a:spcPts val="560"/>
              </a:spcBef>
              <a:spcAft>
                <a:spcPts val="0"/>
              </a:spcAft>
              <a:buClr>
                <a:srgbClr val="FF5050"/>
              </a:buClr>
              <a:buSzPts val="2800"/>
              <a:buFont typeface="Noto Sans Symbols"/>
              <a:buNone/>
              <a:defRPr sz="2800" b="0" i="0" u="none" strike="noStrike" cap="none">
                <a:solidFill>
                  <a:schemeClr val="dk1"/>
                </a:solidFill>
                <a:latin typeface="Times New Roman"/>
                <a:ea typeface="Times New Roman"/>
                <a:cs typeface="Times New Roman"/>
                <a:sym typeface="Times New Roman"/>
              </a:defRPr>
            </a:lvl2pPr>
            <a:lvl3pPr marR="0" lvl="2" algn="l" rtl="0">
              <a:spcBef>
                <a:spcPts val="480"/>
              </a:spcBef>
              <a:spcAft>
                <a:spcPts val="0"/>
              </a:spcAft>
              <a:buClr>
                <a:srgbClr val="6699FF"/>
              </a:buClr>
              <a:buSzPts val="2400"/>
              <a:buFont typeface="Times New Roman"/>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4pPr>
            <a:lvl5pPr marR="0" lvl="4"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5pPr>
            <a:lvl6pPr marR="0" lvl="5"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6pPr>
            <a:lvl7pPr marR="0" lvl="6"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7pPr>
            <a:lvl8pPr marR="0" lvl="7"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8pPr>
            <a:lvl9pPr marR="0" lvl="8"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56" name="Google Shape;52;p58"/>
          <p:cNvSpPr txBox="1">
            <a:spLocks noGrp="1"/>
          </p:cNvSpPr>
          <p:nvPr>
            <p:ph type="body" idx="1"/>
          </p:nvPr>
        </p:nvSpPr>
        <p:spPr>
          <a:xfrm>
            <a:off x="1792290" y="5367338"/>
            <a:ext cx="5486400" cy="804862"/>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SzPts val="1400"/>
              <a:buNone/>
              <a:defRPr sz="1400"/>
            </a:lvl1pPr>
            <a:lvl2pPr marL="914400" lvl="1" indent="-228600" algn="l">
              <a:spcBef>
                <a:spcPts val="240"/>
              </a:spcBef>
              <a:spcAft>
                <a:spcPts val="0"/>
              </a:spcAft>
              <a:buSzPts val="1200"/>
              <a:buNone/>
              <a:defRPr sz="1200"/>
            </a:lvl2pPr>
            <a:lvl3pPr marL="1371600" lvl="2" indent="-228600" algn="l">
              <a:spcBef>
                <a:spcPts val="200"/>
              </a:spcBef>
              <a:spcAft>
                <a:spcPts val="0"/>
              </a:spcAft>
              <a:buSzPts val="1000"/>
              <a:buFont typeface="Times New Roman"/>
              <a:buNone/>
              <a:defRPr sz="1000"/>
            </a:lvl3pPr>
            <a:lvl4pPr marL="1828800" lvl="3" indent="-228600" algn="l">
              <a:spcBef>
                <a:spcPts val="180"/>
              </a:spcBef>
              <a:spcAft>
                <a:spcPts val="0"/>
              </a:spcAft>
              <a:buSzPts val="900"/>
              <a:buFont typeface="Times New Roman"/>
              <a:buNone/>
              <a:defRPr sz="900"/>
            </a:lvl4pPr>
            <a:lvl5pPr marL="2286000" lvl="4" indent="-228600" algn="l">
              <a:spcBef>
                <a:spcPts val="180"/>
              </a:spcBef>
              <a:spcAft>
                <a:spcPts val="0"/>
              </a:spcAft>
              <a:buSzPts val="900"/>
              <a:buFont typeface="Times New Roman"/>
              <a:buNone/>
              <a:defRPr sz="900"/>
            </a:lvl5pPr>
            <a:lvl6pPr marL="2743200" lvl="5" indent="-228600" algn="l">
              <a:spcBef>
                <a:spcPts val="180"/>
              </a:spcBef>
              <a:spcAft>
                <a:spcPts val="0"/>
              </a:spcAft>
              <a:buSzPts val="900"/>
              <a:buFont typeface="Times New Roman"/>
              <a:buNone/>
              <a:defRPr sz="900"/>
            </a:lvl6pPr>
            <a:lvl7pPr marL="3200400" lvl="6" indent="-228600" algn="l">
              <a:spcBef>
                <a:spcPts val="180"/>
              </a:spcBef>
              <a:spcAft>
                <a:spcPts val="0"/>
              </a:spcAft>
              <a:buSzPts val="900"/>
              <a:buFont typeface="Times New Roman"/>
              <a:buNone/>
              <a:defRPr sz="900"/>
            </a:lvl7pPr>
            <a:lvl8pPr marL="3657600" lvl="7" indent="-228600" algn="l">
              <a:spcBef>
                <a:spcPts val="180"/>
              </a:spcBef>
              <a:spcAft>
                <a:spcPts val="0"/>
              </a:spcAft>
              <a:buSzPts val="900"/>
              <a:buFont typeface="Times New Roman"/>
              <a:buNone/>
              <a:defRPr sz="900"/>
            </a:lvl8pPr>
            <a:lvl9pPr marL="4114800" lvl="8" indent="-228600" algn="l">
              <a:spcBef>
                <a:spcPts val="180"/>
              </a:spcBef>
              <a:spcAft>
                <a:spcPts val="0"/>
              </a:spcAft>
              <a:buSzPts val="900"/>
              <a:buFont typeface="Times New Roman"/>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1048644" name="Google Shape;54;p59"/>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5" name="Google Shape;55;p59"/>
          <p:cNvSpPr txBox="1">
            <a:spLocks noGrp="1"/>
          </p:cNvSpPr>
          <p:nvPr>
            <p:ph type="body" idx="1"/>
          </p:nvPr>
        </p:nvSpPr>
        <p:spPr>
          <a:xfrm rot="5400000">
            <a:off x="2593975" y="-485775"/>
            <a:ext cx="4800600" cy="866775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56"/>
        <p:cNvGrpSpPr/>
        <p:nvPr/>
      </p:nvGrpSpPr>
      <p:grpSpPr>
        <a:xfrm>
          <a:off x="0" y="0"/>
          <a:ext cx="0" cy="0"/>
          <a:chOff x="0" y="0"/>
          <a:chExt cx="0" cy="0"/>
        </a:xfrm>
      </p:grpSpPr>
      <p:sp>
        <p:nvSpPr>
          <p:cNvPr id="1048657" name="Google Shape;57;p60"/>
          <p:cNvSpPr txBox="1">
            <a:spLocks noGrp="1"/>
          </p:cNvSpPr>
          <p:nvPr>
            <p:ph type="title"/>
          </p:nvPr>
        </p:nvSpPr>
        <p:spPr>
          <a:xfrm rot="5400000">
            <a:off x="4857751" y="2419350"/>
            <a:ext cx="5638800" cy="20193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8" name="Google Shape;58;p60"/>
          <p:cNvSpPr txBox="1">
            <a:spLocks noGrp="1"/>
          </p:cNvSpPr>
          <p:nvPr>
            <p:ph type="body" idx="1"/>
          </p:nvPr>
        </p:nvSpPr>
        <p:spPr>
          <a:xfrm rot="5400000">
            <a:off x="742951" y="476250"/>
            <a:ext cx="5638800" cy="59055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hart">
  <p:cSld name="1_Title and Chart">
    <p:spTree>
      <p:nvGrpSpPr>
        <p:cNvPr id="1" name=""/>
        <p:cNvGrpSpPr/>
        <p:nvPr/>
      </p:nvGrpSpPr>
      <p:grpSpPr>
        <a:xfrm>
          <a:off x="0" y="0"/>
          <a:ext cx="0" cy="0"/>
          <a:chOff x="0" y="0"/>
          <a:chExt cx="0" cy="0"/>
        </a:xfrm>
      </p:grpSpPr>
      <p:sp>
        <p:nvSpPr>
          <p:cNvPr id="1048579" name="Title 1"/>
          <p:cNvSpPr>
            <a:spLocks noGrp="1"/>
          </p:cNvSpPr>
          <p:nvPr>
            <p:ph type="title"/>
          </p:nvPr>
        </p:nvSpPr>
        <p:spPr>
          <a:xfrm>
            <a:off x="609602" y="609600"/>
            <a:ext cx="8077200" cy="533400"/>
          </a:xfrm>
        </p:spPr>
        <p:txBody>
          <a:bodyPr/>
          <a:lstStyle/>
          <a:p>
            <a:r>
              <a:rPr lang="en-US" altLang="zh-TW" dirty="0"/>
              <a:t>Click to edit Master title style</a:t>
            </a:r>
            <a:endParaRPr lang="en-US" dirty="0"/>
          </a:p>
        </p:txBody>
      </p:sp>
      <p:sp>
        <p:nvSpPr>
          <p:cNvPr id="1048580" name="Chart Placeholder 2"/>
          <p:cNvSpPr>
            <a:spLocks noGrp="1"/>
          </p:cNvSpPr>
          <p:nvPr>
            <p:ph type="chart" idx="1"/>
          </p:nvPr>
        </p:nvSpPr>
        <p:spPr>
          <a:xfrm>
            <a:off x="609600" y="1447800"/>
            <a:ext cx="8001000" cy="4800600"/>
          </a:xfrm>
        </p:spPr>
        <p:txBody>
          <a:bodyPr/>
          <a:lstStyle/>
          <a:p>
            <a:pPr lvl="0"/>
            <a:endParaRPr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48651" name="Content Placeholder 2"/>
          <p:cNvSpPr>
            <a:spLocks noGrp="1"/>
          </p:cNvSpPr>
          <p:nvPr>
            <p:ph idx="1"/>
          </p:nvPr>
        </p:nvSpPr>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en-US"/>
          </a:p>
        </p:txBody>
      </p:sp>
      <p:sp>
        <p:nvSpPr>
          <p:cNvPr id="1048652" name="Title 1"/>
          <p:cNvSpPr>
            <a:spLocks noGrp="1"/>
          </p:cNvSpPr>
          <p:nvPr>
            <p:ph type="title"/>
          </p:nvPr>
        </p:nvSpPr>
        <p:spPr>
          <a:xfrm>
            <a:off x="660400" y="609600"/>
            <a:ext cx="8750300" cy="533400"/>
          </a:xfrm>
        </p:spPr>
        <p:txBody>
          <a:bodyPr/>
          <a:lstStyle>
            <a:lvl1pPr>
              <a:defRPr sz="3200"/>
            </a:lvl1pPr>
          </a:lstStyle>
          <a:p>
            <a:r>
              <a:rPr lang="en-US" altLang="zh-TW" dirty="0"/>
              <a:t>Title of the Slide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e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48576" name="Google Shape;10;p48"/>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5pPr>
            <a:lvl6pPr marR="0" lvl="5"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6pPr>
            <a:lvl7pPr marR="0" lvl="6"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7pPr>
            <a:lvl8pPr marR="0" lvl="7"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8pPr>
            <a:lvl9pPr marR="0" lvl="8"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9pPr>
          </a:lstStyle>
          <a:p>
            <a:endParaRPr/>
          </a:p>
        </p:txBody>
      </p:sp>
      <p:cxnSp>
        <p:nvCxnSpPr>
          <p:cNvPr id="3145728" name="Google Shape;11;p48"/>
          <p:cNvCxnSpPr>
            <a:cxnSpLocks/>
          </p:cNvCxnSpPr>
          <p:nvPr/>
        </p:nvCxnSpPr>
        <p:spPr>
          <a:xfrm>
            <a:off x="412750" y="533400"/>
            <a:ext cx="8997950" cy="0"/>
          </a:xfrm>
          <a:prstGeom prst="straightConnector1">
            <a:avLst/>
          </a:prstGeom>
          <a:noFill/>
          <a:ln w="9525" cap="flat" cmpd="sng">
            <a:solidFill>
              <a:schemeClr val="dk1"/>
            </a:solidFill>
            <a:prstDash val="solid"/>
            <a:round/>
            <a:headEnd type="none" w="med" len="med"/>
            <a:tailEnd type="none" w="med" len="med"/>
          </a:ln>
        </p:spPr>
      </p:cxnSp>
      <p:cxnSp>
        <p:nvCxnSpPr>
          <p:cNvPr id="3145729" name="Google Shape;12;p48"/>
          <p:cNvCxnSpPr>
            <a:cxnSpLocks/>
          </p:cNvCxnSpPr>
          <p:nvPr/>
        </p:nvCxnSpPr>
        <p:spPr>
          <a:xfrm>
            <a:off x="577850" y="228600"/>
            <a:ext cx="0" cy="990600"/>
          </a:xfrm>
          <a:prstGeom prst="straightConnector1">
            <a:avLst/>
          </a:prstGeom>
          <a:noFill/>
          <a:ln w="9525" cap="flat" cmpd="sng">
            <a:solidFill>
              <a:schemeClr val="dk1"/>
            </a:solidFill>
            <a:prstDash val="solid"/>
            <a:round/>
            <a:headEnd type="none" w="med" len="med"/>
            <a:tailEnd type="none" w="med" len="med"/>
          </a:ln>
        </p:spPr>
      </p:cxnSp>
      <p:cxnSp>
        <p:nvCxnSpPr>
          <p:cNvPr id="3145730" name="Google Shape;13;p48"/>
          <p:cNvCxnSpPr>
            <a:cxnSpLocks/>
          </p:cNvCxnSpPr>
          <p:nvPr/>
        </p:nvCxnSpPr>
        <p:spPr>
          <a:xfrm>
            <a:off x="495300" y="6400800"/>
            <a:ext cx="8915400" cy="0"/>
          </a:xfrm>
          <a:prstGeom prst="straightConnector1">
            <a:avLst/>
          </a:prstGeom>
          <a:noFill/>
          <a:ln w="9525" cap="flat" cmpd="sng">
            <a:solidFill>
              <a:schemeClr val="dk1"/>
            </a:solidFill>
            <a:prstDash val="solid"/>
            <a:round/>
            <a:headEnd type="none" w="med" len="med"/>
            <a:tailEnd type="none" w="med" len="med"/>
          </a:ln>
        </p:spPr>
      </p:cxnSp>
      <p:sp>
        <p:nvSpPr>
          <p:cNvPr id="1048577" name="Google Shape;14;p48"/>
          <p:cNvSpPr txBox="1">
            <a:spLocks noGrp="1"/>
          </p:cNvSpPr>
          <p:nvPr>
            <p:ph type="body" idx="1"/>
          </p:nvPr>
        </p:nvSpPr>
        <p:spPr>
          <a:xfrm>
            <a:off x="660400" y="1447800"/>
            <a:ext cx="8667750" cy="4800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endParaRPr/>
          </a:p>
        </p:txBody>
      </p:sp>
      <p:sp>
        <p:nvSpPr>
          <p:cNvPr id="1048578" name="Google Shape;15;p48"/>
          <p:cNvSpPr txBox="1"/>
          <p:nvPr/>
        </p:nvSpPr>
        <p:spPr>
          <a:xfrm>
            <a:off x="8510587" y="6502400"/>
            <a:ext cx="817563" cy="304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a:t>
            </a:fld>
            <a:endParaRPr sz="1400" b="0" i="0" u="none" strike="noStrike" cap="none" dirty="0">
              <a:solidFill>
                <a:schemeClr val="dk1"/>
              </a:solidFill>
              <a:latin typeface="Times New Roman"/>
              <a:ea typeface="Times New Roman"/>
              <a:cs typeface="Times New Roman"/>
              <a:sym typeface="Times New Roman"/>
            </a:endParaRPr>
          </a:p>
        </p:txBody>
      </p:sp>
      <p:pic>
        <p:nvPicPr>
          <p:cNvPr id="2097152" name="Google Shape;16;p48"/>
          <p:cNvPicPr preferRelativeResize="0">
            <a:picLocks/>
          </p:cNvPicPr>
          <p:nvPr/>
        </p:nvPicPr>
        <p:blipFill rotWithShape="1">
          <a:blip r:embed="rId11">
            <a:alphaModFix/>
          </a:blip>
          <a:srcRect/>
          <a:stretch>
            <a:fillRect/>
          </a:stretch>
        </p:blipFill>
        <p:spPr>
          <a:xfrm>
            <a:off x="57150" y="6446838"/>
            <a:ext cx="1827213" cy="36036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hyperlink" Target="https://www.color.org/?utm_source=chatgpt.com"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hyperlink" Target="https://archive.color.org/specifications/ICC.1-2022-05.pdf?utm_source=chatgpt.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1" name="Rectangle 2"/>
          <p:cNvSpPr>
            <a:spLocks noGrp="1" noChangeArrowheads="1"/>
          </p:cNvSpPr>
          <p:nvPr>
            <p:ph type="title"/>
          </p:nvPr>
        </p:nvSpPr>
        <p:spPr>
          <a:xfrm>
            <a:off x="668908" y="1829704"/>
            <a:ext cx="8568183" cy="1728539"/>
          </a:xfrm>
        </p:spPr>
        <p:txBody>
          <a:bodyPr/>
          <a:lstStyle/>
          <a:p>
            <a:pPr algn="ctr" eaLnBrk="1" hangingPunct="1"/>
            <a:r>
              <a:rPr lang="en-US" altLang="zh-TW" sz="3200" b="1" dirty="0">
                <a:solidFill>
                  <a:srgbClr val="0057C0"/>
                </a:solidFill>
                <a:latin typeface="Times New Roman" panose="02020603050405020304" pitchFamily="18" charset="0"/>
                <a:ea typeface="標楷體" panose="03000509000000000000" pitchFamily="65" charset="-120"/>
                <a:cs typeface="Times New Roman" panose="02020603050405020304" pitchFamily="18" charset="0"/>
              </a:rPr>
              <a:t>Progress Report</a:t>
            </a:r>
          </a:p>
        </p:txBody>
      </p:sp>
      <p:sp>
        <p:nvSpPr>
          <p:cNvPr id="1048582" name="Rectangle 2"/>
          <p:cNvSpPr txBox="1">
            <a:spLocks noChangeArrowheads="1"/>
          </p:cNvSpPr>
          <p:nvPr/>
        </p:nvSpPr>
        <p:spPr bwMode="auto">
          <a:xfrm>
            <a:off x="907104" y="3362630"/>
            <a:ext cx="8568183" cy="1728539"/>
          </a:xfrm>
          <a:prstGeom prst="rect">
            <a:avLst/>
          </a:prstGeom>
          <a:noFill/>
          <a:ln>
            <a:noFill/>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2400">
                <a:solidFill>
                  <a:schemeClr val="accent2"/>
                </a:solidFill>
                <a:latin typeface="+mn-lt"/>
                <a:ea typeface="+mj-ea"/>
                <a:cs typeface="+mj-cs"/>
              </a:defRPr>
            </a:lvl1pPr>
            <a:lvl2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2pPr>
            <a:lvl3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3pPr>
            <a:lvl4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4pPr>
            <a:lvl5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5pPr>
            <a:lvl6pPr marL="457200" algn="l" rtl="0" fontAlgn="base">
              <a:spcBef>
                <a:spcPct val="0"/>
              </a:spcBef>
              <a:spcAft>
                <a:spcPct val="0"/>
              </a:spcAft>
              <a:defRPr kumimoji="1" sz="3200">
                <a:solidFill>
                  <a:schemeClr val="accent2"/>
                </a:solidFill>
                <a:latin typeface="Times New Roman" charset="0"/>
                <a:ea typeface="新細明體" charset="-120"/>
                <a:cs typeface="新細明體" charset="-120"/>
              </a:defRPr>
            </a:lvl6pPr>
            <a:lvl7pPr marL="914400" algn="l" rtl="0" fontAlgn="base">
              <a:spcBef>
                <a:spcPct val="0"/>
              </a:spcBef>
              <a:spcAft>
                <a:spcPct val="0"/>
              </a:spcAft>
              <a:defRPr kumimoji="1" sz="3200">
                <a:solidFill>
                  <a:schemeClr val="accent2"/>
                </a:solidFill>
                <a:latin typeface="Times New Roman" charset="0"/>
                <a:ea typeface="新細明體" charset="-120"/>
                <a:cs typeface="新細明體" charset="-120"/>
              </a:defRPr>
            </a:lvl7pPr>
            <a:lvl8pPr marL="1371600" algn="l" rtl="0" fontAlgn="base">
              <a:spcBef>
                <a:spcPct val="0"/>
              </a:spcBef>
              <a:spcAft>
                <a:spcPct val="0"/>
              </a:spcAft>
              <a:defRPr kumimoji="1" sz="3200">
                <a:solidFill>
                  <a:schemeClr val="accent2"/>
                </a:solidFill>
                <a:latin typeface="Times New Roman" charset="0"/>
                <a:ea typeface="新細明體" charset="-120"/>
                <a:cs typeface="新細明體" charset="-120"/>
              </a:defRPr>
            </a:lvl8pPr>
            <a:lvl9pPr marL="1828800" algn="l" rtl="0" fontAlgn="base">
              <a:spcBef>
                <a:spcPct val="0"/>
              </a:spcBef>
              <a:spcAft>
                <a:spcPct val="0"/>
              </a:spcAft>
              <a:defRPr kumimoji="1" sz="3200">
                <a:solidFill>
                  <a:schemeClr val="accent2"/>
                </a:solidFill>
                <a:latin typeface="Times New Roman" charset="0"/>
                <a:ea typeface="新細明體" charset="-120"/>
                <a:cs typeface="新細明體" charset="-120"/>
              </a:defRPr>
            </a:lvl9pPr>
          </a:lstStyle>
          <a:p>
            <a:pPr algn="ctr" eaLnBrk="1" hangingPunct="1"/>
            <a:endParaRPr lang="en-US" altLang="zh-TW" kern="0" dirty="0">
              <a:solidFill>
                <a:schemeClr val="tx1"/>
              </a:solidFill>
            </a:endParaRPr>
          </a:p>
        </p:txBody>
      </p:sp>
      <p:sp>
        <p:nvSpPr>
          <p:cNvPr id="1048583" name="Text Box 4"/>
          <p:cNvSpPr txBox="1">
            <a:spLocks noChangeArrowheads="1"/>
          </p:cNvSpPr>
          <p:nvPr/>
        </p:nvSpPr>
        <p:spPr bwMode="auto">
          <a:xfrm>
            <a:off x="1100262" y="4484365"/>
            <a:ext cx="7705476" cy="707886"/>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sz="2000" dirty="0">
                <a:cs typeface="Times New Roman" panose="02020603050405020304" pitchFamily="18" charset="0"/>
              </a:rPr>
              <a:t>Author : </a:t>
            </a:r>
          </a:p>
          <a:p>
            <a:pPr algn="ctr"/>
            <a:r>
              <a:rPr lang="en-US" altLang="zh-TW" sz="2000" dirty="0">
                <a:cs typeface="Times New Roman" panose="02020603050405020304" pitchFamily="18" charset="0"/>
              </a:rPr>
              <a:t>BO-CHENG</a:t>
            </a:r>
            <a:r>
              <a:rPr lang="zh-TW" altLang="en-US" sz="2000" dirty="0">
                <a:cs typeface="Times New Roman" panose="02020603050405020304" pitchFamily="18" charset="0"/>
              </a:rPr>
              <a:t>、</a:t>
            </a:r>
            <a:r>
              <a:rPr lang="en-US" altLang="zh-TW" sz="2000" dirty="0">
                <a:cs typeface="Times New Roman" panose="02020603050405020304" pitchFamily="18" charset="0"/>
              </a:rPr>
              <a:t>Cheng-Yuan</a:t>
            </a:r>
            <a:r>
              <a:rPr lang="zh-TW" altLang="en-US" sz="2000" dirty="0">
                <a:cs typeface="Times New Roman" panose="02020603050405020304" pitchFamily="18" charset="0"/>
              </a:rPr>
              <a:t>、</a:t>
            </a:r>
            <a:r>
              <a:rPr lang="en-US" altLang="zh-TW" sz="2000" dirty="0">
                <a:cs typeface="Times New Roman" panose="02020603050405020304" pitchFamily="18" charset="0"/>
              </a:rPr>
              <a:t>Sheng-Yao</a:t>
            </a:r>
          </a:p>
        </p:txBody>
      </p:sp>
      <p:sp>
        <p:nvSpPr>
          <p:cNvPr id="1048584" name="Text Box 4"/>
          <p:cNvSpPr txBox="1">
            <a:spLocks noChangeArrowheads="1"/>
          </p:cNvSpPr>
          <p:nvPr/>
        </p:nvSpPr>
        <p:spPr bwMode="auto">
          <a:xfrm>
            <a:off x="1100262" y="5673486"/>
            <a:ext cx="7705476" cy="46166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b="1" dirty="0">
                <a:solidFill>
                  <a:srgbClr val="0057C0"/>
                </a:solidFill>
              </a:rPr>
              <a:t>Embedded System Software Design</a:t>
            </a:r>
            <a:endParaRPr lang="en-US" altLang="zh-TW" sz="2000" b="1" dirty="0">
              <a:solidFill>
                <a:srgbClr val="0057C0"/>
              </a:solidFill>
              <a:latin typeface="+mn-lt"/>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396C1-EA64-DABF-AB1E-DAC8812CEAFA}"/>
            </a:ext>
          </a:extLst>
        </p:cNvPr>
        <p:cNvGrpSpPr/>
        <p:nvPr/>
      </p:nvGrpSpPr>
      <p:grpSpPr>
        <a:xfrm>
          <a:off x="0" y="0"/>
          <a:ext cx="0" cy="0"/>
          <a:chOff x="0" y="0"/>
          <a:chExt cx="0" cy="0"/>
        </a:xfrm>
      </p:grpSpPr>
      <p:sp>
        <p:nvSpPr>
          <p:cNvPr id="7" name="文字版面配置區 6">
            <a:extLst>
              <a:ext uri="{FF2B5EF4-FFF2-40B4-BE49-F238E27FC236}">
                <a16:creationId xmlns:a16="http://schemas.microsoft.com/office/drawing/2014/main" id="{CA232325-2F30-826A-0F33-B3038ABB7C4A}"/>
              </a:ext>
            </a:extLst>
          </p:cNvPr>
          <p:cNvSpPr txBox="1"/>
          <p:nvPr/>
        </p:nvSpPr>
        <p:spPr>
          <a:xfrm>
            <a:off x="609602" y="1007523"/>
            <a:ext cx="8402051"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a:lnSpc>
                <a:spcPts val="3000"/>
              </a:lnSpc>
            </a:pPr>
            <a:r>
              <a:rPr lang="en-US" altLang="zh-TW" sz="2000" b="1" dirty="0">
                <a:latin typeface="Times New Roman" panose="02020603050405020304" pitchFamily="18" charset="0"/>
                <a:ea typeface="標楷體" panose="03000509000000000000" pitchFamily="65" charset="-120"/>
                <a:cs typeface="Times New Roman" panose="02020603050405020304" pitchFamily="18" charset="0"/>
              </a:rPr>
              <a:t> ICC Profile</a:t>
            </a:r>
            <a:r>
              <a:rPr lang="zh-TW" altLang="en-US" sz="2000" b="1" dirty="0">
                <a:latin typeface="Times New Roman" panose="02020603050405020304" pitchFamily="18" charset="0"/>
                <a:ea typeface="標楷體" panose="03000509000000000000" pitchFamily="65" charset="-120"/>
                <a:cs typeface="Times New Roman" panose="02020603050405020304" pitchFamily="18" charset="0"/>
              </a:rPr>
              <a:t>的目的</a:t>
            </a:r>
            <a:endParaRPr lang="en-US" altLang="zh-TW" sz="2000" b="1"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是建立開放、廠商中立、跨平台的色彩管理系統架構與元件標準，是提供跨平台的 Device Profile 格式，使不同裝置之間的色彩資料可以進行轉換</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r>
              <a:rPr lang="zh-TW" altLang="en-US" sz="2000" b="1" dirty="0">
                <a:latin typeface="Times New Roman" panose="02020603050405020304" pitchFamily="18" charset="0"/>
                <a:ea typeface="標楷體" panose="03000509000000000000" pitchFamily="65" charset="-120"/>
                <a:cs typeface="Times New Roman" panose="02020603050405020304" pitchFamily="18" charset="0"/>
              </a:rPr>
              <a:t>研究目標</a:t>
            </a:r>
            <a:endParaRPr lang="en-US" altLang="zh-TW" sz="2000" b="1"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利用 </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i1 </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顯示器量測資料</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，在無法使用顯示器硬體 LUT 校正的條件下，建立軟體顯示校正資料，並將其封裝關聯至 ICC Profile，使</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作業系統</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顯示色彩管理管線能夠將修正後的 RGB 訊號送至顯示器。</a:t>
            </a:r>
            <a:endParaRPr lang="en-US" altLang="zh-TW" sz="1600" b="1"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5" name="文字方塊 4">
            <a:extLst>
              <a:ext uri="{FF2B5EF4-FFF2-40B4-BE49-F238E27FC236}">
                <a16:creationId xmlns:a16="http://schemas.microsoft.com/office/drawing/2014/main" id="{DB74C124-A957-366F-6E34-2775A49BE3DE}"/>
              </a:ext>
            </a:extLst>
          </p:cNvPr>
          <p:cNvSpPr txBox="1"/>
          <p:nvPr/>
        </p:nvSpPr>
        <p:spPr>
          <a:xfrm>
            <a:off x="1677388" y="6339820"/>
            <a:ext cx="8158480" cy="523220"/>
          </a:xfrm>
          <a:prstGeom prst="rect">
            <a:avLst/>
          </a:prstGeom>
          <a:noFill/>
        </p:spPr>
        <p:txBody>
          <a:bodyPr wrap="square" rtlCol="0">
            <a:spAutoFit/>
          </a:bodyPr>
          <a:lstStyle/>
          <a:p>
            <a:r>
              <a:rPr lang="zh-TW" altLang="zh-TW" b="1" dirty="0">
                <a:latin typeface="Times New Roman" panose="02020603050405020304" pitchFamily="18" charset="0"/>
                <a:ea typeface="標楷體" panose="03000509000000000000" pitchFamily="65" charset="-120"/>
                <a:cs typeface="Times New Roman" panose="02020603050405020304" pitchFamily="18" charset="0"/>
              </a:rPr>
              <a:t>[1]</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International Color Consortium, “International Color Consortium,” </a:t>
            </a:r>
            <a:r>
              <a:rPr lang="zh-TW" altLang="zh-TW" i="1" dirty="0">
                <a:latin typeface="Times New Roman" panose="02020603050405020304" pitchFamily="18" charset="0"/>
                <a:ea typeface="標楷體" panose="03000509000000000000" pitchFamily="65" charset="-120"/>
                <a:cs typeface="Times New Roman" panose="02020603050405020304" pitchFamily="18" charset="0"/>
              </a:rPr>
              <a:t>ICC</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[Online]. Available: </a:t>
            </a:r>
            <a:r>
              <a:rPr lang="zh-TW" altLang="zh-TW" dirty="0">
                <a:latin typeface="Times New Roman" panose="02020603050405020304" pitchFamily="18" charset="0"/>
                <a:ea typeface="標楷體" panose="03000509000000000000" pitchFamily="65" charset="-120"/>
                <a:cs typeface="Times New Roman" panose="02020603050405020304" pitchFamily="18" charset="0"/>
                <a:hlinkClick r:id="rId3"/>
              </a:rPr>
              <a:t>https://www.color.org/</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[Accessed: Sep. 17, 2026].</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7">
            <a:extLst>
              <a:ext uri="{FF2B5EF4-FFF2-40B4-BE49-F238E27FC236}">
                <a16:creationId xmlns:a16="http://schemas.microsoft.com/office/drawing/2014/main" id="{2ECA5CFA-64BC-E5E3-8FED-52AADBD2AC01}"/>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研究背景與目標</a:t>
            </a:r>
            <a:endParaRPr lang="zh-TW" altLang="en-US" dirty="0"/>
          </a:p>
        </p:txBody>
      </p:sp>
    </p:spTree>
    <p:extLst>
      <p:ext uri="{BB962C8B-B14F-4D97-AF65-F5344CB8AC3E}">
        <p14:creationId xmlns:p14="http://schemas.microsoft.com/office/powerpoint/2010/main" val="3193920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BD5A1B-DBE5-5CC6-2DE0-BBB353DB67DB}"/>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 name="圖片 3">
            <a:extLst>
              <a:ext uri="{FF2B5EF4-FFF2-40B4-BE49-F238E27FC236}">
                <a16:creationId xmlns:a16="http://schemas.microsoft.com/office/drawing/2014/main" id="{E6234153-2243-3AE6-50F0-5BF73B34C545}"/>
              </a:ext>
            </a:extLst>
          </p:cNvPr>
          <p:cNvPicPr>
            <a:picLocks noChangeAspect="1"/>
          </p:cNvPicPr>
          <p:nvPr/>
        </p:nvPicPr>
        <p:blipFill>
          <a:blip r:embed="rId3"/>
          <a:srcRect/>
          <a:stretch>
            <a:fillRect/>
          </a:stretch>
        </p:blipFill>
        <p:spPr>
          <a:xfrm>
            <a:off x="827963" y="1382679"/>
            <a:ext cx="8250074" cy="4865721"/>
          </a:xfrm>
          <a:custGeom>
            <a:avLst/>
            <a:gdLst>
              <a:gd name="csX0" fmla="*/ 6192058 w 7476836"/>
              <a:gd name="csY0" fmla="*/ 3412858 h 4409681"/>
              <a:gd name="csX1" fmla="*/ 6192058 w 7476836"/>
              <a:gd name="csY1" fmla="*/ 4286618 h 4409681"/>
              <a:gd name="csX2" fmla="*/ 7390938 w 7476836"/>
              <a:gd name="csY2" fmla="*/ 4286618 h 4409681"/>
              <a:gd name="csX3" fmla="*/ 7390938 w 7476836"/>
              <a:gd name="csY3" fmla="*/ 3412858 h 4409681"/>
              <a:gd name="csX4" fmla="*/ 0 w 7476836"/>
              <a:gd name="csY4" fmla="*/ 0 h 4409681"/>
              <a:gd name="csX5" fmla="*/ 7476836 w 7476836"/>
              <a:gd name="csY5" fmla="*/ 0 h 4409681"/>
              <a:gd name="csX6" fmla="*/ 7476836 w 7476836"/>
              <a:gd name="csY6" fmla="*/ 4409681 h 4409681"/>
              <a:gd name="csX7" fmla="*/ 0 w 7476836"/>
              <a:gd name="csY7" fmla="*/ 4409681 h 4409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476836" h="4409681">
                <a:moveTo>
                  <a:pt x="6192058" y="3412858"/>
                </a:moveTo>
                <a:lnTo>
                  <a:pt x="6192058" y="4286618"/>
                </a:lnTo>
                <a:lnTo>
                  <a:pt x="7390938" y="4286618"/>
                </a:lnTo>
                <a:lnTo>
                  <a:pt x="7390938" y="3412858"/>
                </a:lnTo>
                <a:close/>
                <a:moveTo>
                  <a:pt x="0" y="0"/>
                </a:moveTo>
                <a:lnTo>
                  <a:pt x="7476836" y="0"/>
                </a:lnTo>
                <a:lnTo>
                  <a:pt x="7476836" y="4409681"/>
                </a:lnTo>
                <a:lnTo>
                  <a:pt x="0" y="4409681"/>
                </a:lnTo>
                <a:close/>
              </a:path>
            </a:pathLst>
          </a:custGeom>
        </p:spPr>
      </p:pic>
    </p:spTree>
    <p:extLst>
      <p:ext uri="{BB962C8B-B14F-4D97-AF65-F5344CB8AC3E}">
        <p14:creationId xmlns:p14="http://schemas.microsoft.com/office/powerpoint/2010/main" val="906919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22D6573-B360-5362-29E4-19065BAD6A7B}"/>
              </a:ext>
            </a:extLst>
          </p:cNvPr>
          <p:cNvPicPr>
            <a:picLocks noChangeAspect="1"/>
          </p:cNvPicPr>
          <p:nvPr/>
        </p:nvPicPr>
        <p:blipFill>
          <a:blip r:embed="rId3"/>
          <a:srcRect/>
          <a:stretch>
            <a:fillRect/>
          </a:stretch>
        </p:blipFill>
        <p:spPr>
          <a:xfrm>
            <a:off x="719137" y="1190964"/>
            <a:ext cx="8467726" cy="5057436"/>
          </a:xfrm>
          <a:custGeom>
            <a:avLst/>
            <a:gdLst>
              <a:gd name="csX0" fmla="*/ 6138143 w 7369006"/>
              <a:gd name="csY0" fmla="*/ 3412858 h 4401214"/>
              <a:gd name="csX1" fmla="*/ 6138143 w 7369006"/>
              <a:gd name="csY1" fmla="*/ 4286618 h 4401214"/>
              <a:gd name="csX2" fmla="*/ 7337023 w 7369006"/>
              <a:gd name="csY2" fmla="*/ 4286618 h 4401214"/>
              <a:gd name="csX3" fmla="*/ 7337023 w 7369006"/>
              <a:gd name="csY3" fmla="*/ 3412858 h 4401214"/>
              <a:gd name="csX4" fmla="*/ 0 w 7369006"/>
              <a:gd name="csY4" fmla="*/ 0 h 4401214"/>
              <a:gd name="csX5" fmla="*/ 7369006 w 7369006"/>
              <a:gd name="csY5" fmla="*/ 0 h 4401214"/>
              <a:gd name="csX6" fmla="*/ 7369006 w 7369006"/>
              <a:gd name="csY6" fmla="*/ 4401214 h 4401214"/>
              <a:gd name="csX7" fmla="*/ 0 w 7369006"/>
              <a:gd name="csY7" fmla="*/ 4401214 h 4401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69006" h="4401214">
                <a:moveTo>
                  <a:pt x="6138143" y="3412858"/>
                </a:moveTo>
                <a:lnTo>
                  <a:pt x="6138143" y="4286618"/>
                </a:lnTo>
                <a:lnTo>
                  <a:pt x="7337023" y="4286618"/>
                </a:lnTo>
                <a:lnTo>
                  <a:pt x="7337023" y="3412858"/>
                </a:lnTo>
                <a:close/>
                <a:moveTo>
                  <a:pt x="0" y="0"/>
                </a:moveTo>
                <a:lnTo>
                  <a:pt x="7369006" y="0"/>
                </a:lnTo>
                <a:lnTo>
                  <a:pt x="7369006" y="4401214"/>
                </a:lnTo>
                <a:lnTo>
                  <a:pt x="0" y="4401214"/>
                </a:lnTo>
                <a:close/>
              </a:path>
            </a:pathLst>
          </a:custGeom>
        </p:spPr>
      </p:pic>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134039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4" name="文字方塊 3">
            <a:extLst>
              <a:ext uri="{FF2B5EF4-FFF2-40B4-BE49-F238E27FC236}">
                <a16:creationId xmlns:a16="http://schemas.microsoft.com/office/drawing/2014/main" id="{2E62D90A-238F-15C1-A17C-8D898584815F}"/>
              </a:ext>
            </a:extLst>
          </p:cNvPr>
          <p:cNvSpPr txBox="1"/>
          <p:nvPr/>
        </p:nvSpPr>
        <p:spPr>
          <a:xfrm>
            <a:off x="520699" y="1369489"/>
            <a:ext cx="7669813" cy="440633"/>
          </a:xfrm>
          <a:prstGeom prst="rect">
            <a:avLst/>
          </a:prstGeom>
          <a:noFill/>
        </p:spPr>
        <p:txBody>
          <a:bodyPr wrap="square">
            <a:spAutoFit/>
          </a:bodyPr>
          <a:lstStyle/>
          <a:p>
            <a:pPr marL="457200" lvl="1" indent="-406400">
              <a:lnSpc>
                <a:spcPts val="3000"/>
              </a:lnSpc>
              <a:spcBef>
                <a:spcPts val="560"/>
              </a:spcBef>
              <a:buClr>
                <a:schemeClr val="accent2"/>
              </a:buClr>
              <a:buSzPts val="2800"/>
              <a:buFont typeface="Noto Sans Symbols"/>
              <a:buChar char="❖"/>
            </a:pP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實際轉換流程</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 name="矩形 2">
            <a:extLst>
              <a:ext uri="{FF2B5EF4-FFF2-40B4-BE49-F238E27FC236}">
                <a16:creationId xmlns:a16="http://schemas.microsoft.com/office/drawing/2014/main" id="{8996691D-0E63-96A8-06C3-40BD92D16B49}"/>
              </a:ext>
            </a:extLst>
          </p:cNvPr>
          <p:cNvSpPr/>
          <p:nvPr/>
        </p:nvSpPr>
        <p:spPr>
          <a:xfrm>
            <a:off x="818867"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RGB</a:t>
            </a:r>
            <a:endParaRPr lang="zh-TW" altLang="en-US"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矩形 5">
            <a:extLst>
              <a:ext uri="{FF2B5EF4-FFF2-40B4-BE49-F238E27FC236}">
                <a16:creationId xmlns:a16="http://schemas.microsoft.com/office/drawing/2014/main" id="{4799A24E-5028-5D4A-D223-7433C160BC28}"/>
              </a:ext>
            </a:extLst>
          </p:cNvPr>
          <p:cNvSpPr/>
          <p:nvPr/>
        </p:nvSpPr>
        <p:spPr>
          <a:xfrm>
            <a:off x="4246730"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0C7FD048-9844-D5F5-79C1-78326AF84161}"/>
              </a:ext>
            </a:extLst>
          </p:cNvPr>
          <p:cNvSpPr/>
          <p:nvPr/>
        </p:nvSpPr>
        <p:spPr>
          <a:xfrm>
            <a:off x="818867"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RGB</a:t>
            </a:r>
          </a:p>
        </p:txBody>
      </p:sp>
      <p:sp>
        <p:nvSpPr>
          <p:cNvPr id="11" name="矩形 10">
            <a:extLst>
              <a:ext uri="{FF2B5EF4-FFF2-40B4-BE49-F238E27FC236}">
                <a16:creationId xmlns:a16="http://schemas.microsoft.com/office/drawing/2014/main" id="{CBAE6D19-C5AE-76A5-69B0-0B748849B999}"/>
              </a:ext>
            </a:extLst>
          </p:cNvPr>
          <p:cNvSpPr/>
          <p:nvPr/>
        </p:nvSpPr>
        <p:spPr>
          <a:xfrm>
            <a:off x="4246730"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3" name="矩形 12">
            <a:extLst>
              <a:ext uri="{FF2B5EF4-FFF2-40B4-BE49-F238E27FC236}">
                <a16:creationId xmlns:a16="http://schemas.microsoft.com/office/drawing/2014/main" id="{2502BAEE-F1D2-BEA9-82BD-3CC9D2FBDA07}"/>
              </a:ext>
            </a:extLst>
          </p:cNvPr>
          <p:cNvSpPr/>
          <p:nvPr/>
        </p:nvSpPr>
        <p:spPr>
          <a:xfrm>
            <a:off x="7251512" y="3352145"/>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PCS </a:t>
            </a:r>
            <a:r>
              <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XYZ/Lab </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15" name="直線單箭頭接點 14">
            <a:extLst>
              <a:ext uri="{FF2B5EF4-FFF2-40B4-BE49-F238E27FC236}">
                <a16:creationId xmlns:a16="http://schemas.microsoft.com/office/drawing/2014/main" id="{2BD354F0-AC29-3F7F-21BC-649A5C656B58}"/>
              </a:ext>
            </a:extLst>
          </p:cNvPr>
          <p:cNvCxnSpPr>
            <a:cxnSpLocks/>
            <a:stCxn id="3" idx="3"/>
            <a:endCxn id="6" idx="1"/>
          </p:cNvCxnSpPr>
          <p:nvPr/>
        </p:nvCxnSpPr>
        <p:spPr>
          <a:xfrm>
            <a:off x="2981139" y="2722728"/>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直線單箭頭接點 16">
            <a:extLst>
              <a:ext uri="{FF2B5EF4-FFF2-40B4-BE49-F238E27FC236}">
                <a16:creationId xmlns:a16="http://schemas.microsoft.com/office/drawing/2014/main" id="{91C66148-B7CE-F63D-A1CA-8F52D14070C9}"/>
              </a:ext>
            </a:extLst>
          </p:cNvPr>
          <p:cNvCxnSpPr>
            <a:cxnSpLocks/>
            <a:stCxn id="11" idx="1"/>
            <a:endCxn id="9" idx="3"/>
          </p:cNvCxnSpPr>
          <p:nvPr/>
        </p:nvCxnSpPr>
        <p:spPr>
          <a:xfrm flipH="1">
            <a:off x="2981139" y="5047879"/>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接點: 肘形 24">
            <a:extLst>
              <a:ext uri="{FF2B5EF4-FFF2-40B4-BE49-F238E27FC236}">
                <a16:creationId xmlns:a16="http://schemas.microsoft.com/office/drawing/2014/main" id="{A078D20F-E1A1-89E1-B06C-8361B263C03A}"/>
              </a:ext>
            </a:extLst>
          </p:cNvPr>
          <p:cNvCxnSpPr>
            <a:stCxn id="6" idx="3"/>
            <a:endCxn id="13" idx="0"/>
          </p:cNvCxnSpPr>
          <p:nvPr/>
        </p:nvCxnSpPr>
        <p:spPr>
          <a:xfrm>
            <a:off x="6409002" y="2722728"/>
            <a:ext cx="1923646" cy="629417"/>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接點: 肘形 26">
            <a:extLst>
              <a:ext uri="{FF2B5EF4-FFF2-40B4-BE49-F238E27FC236}">
                <a16:creationId xmlns:a16="http://schemas.microsoft.com/office/drawing/2014/main" id="{84FB698F-C81D-C384-B862-92390427F862}"/>
              </a:ext>
            </a:extLst>
          </p:cNvPr>
          <p:cNvCxnSpPr>
            <a:stCxn id="13" idx="2"/>
            <a:endCxn id="11" idx="3"/>
          </p:cNvCxnSpPr>
          <p:nvPr/>
        </p:nvCxnSpPr>
        <p:spPr>
          <a:xfrm rot="5400000">
            <a:off x="7089340" y="3804571"/>
            <a:ext cx="562970" cy="1923646"/>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2817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E9AAA-7E36-1E17-83F9-FD3A18A28BE9}"/>
            </a:ext>
          </a:extLst>
        </p:cNvPr>
        <p:cNvGrpSpPr/>
        <p:nvPr/>
      </p:nvGrpSpPr>
      <p:grpSpPr>
        <a:xfrm>
          <a:off x="0" y="0"/>
          <a:ext cx="0" cy="0"/>
          <a:chOff x="0" y="0"/>
          <a:chExt cx="0" cy="0"/>
        </a:xfrm>
      </p:grpSpPr>
      <p:sp>
        <p:nvSpPr>
          <p:cNvPr id="8" name="標題 1">
            <a:extLst>
              <a:ext uri="{FF2B5EF4-FFF2-40B4-BE49-F238E27FC236}">
                <a16:creationId xmlns:a16="http://schemas.microsoft.com/office/drawing/2014/main" id="{912256C4-A35A-439C-D194-BE22EDF76531}"/>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Display ICC Profile</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結構</a:t>
            </a:r>
          </a:p>
        </p:txBody>
      </p:sp>
      <p:pic>
        <p:nvPicPr>
          <p:cNvPr id="3" name="圖片 2">
            <a:extLst>
              <a:ext uri="{FF2B5EF4-FFF2-40B4-BE49-F238E27FC236}">
                <a16:creationId xmlns:a16="http://schemas.microsoft.com/office/drawing/2014/main" id="{2639EB24-C1BB-C0D1-86B0-82E9D709404B}"/>
              </a:ext>
            </a:extLst>
          </p:cNvPr>
          <p:cNvPicPr>
            <a:picLocks noChangeAspect="1"/>
          </p:cNvPicPr>
          <p:nvPr/>
        </p:nvPicPr>
        <p:blipFill>
          <a:blip r:embed="rId3"/>
          <a:stretch>
            <a:fillRect/>
          </a:stretch>
        </p:blipFill>
        <p:spPr>
          <a:xfrm>
            <a:off x="609602" y="1461470"/>
            <a:ext cx="6274122" cy="4578585"/>
          </a:xfrm>
          <a:prstGeom prst="rect">
            <a:avLst/>
          </a:prstGeom>
        </p:spPr>
      </p:pic>
      <p:graphicFrame>
        <p:nvGraphicFramePr>
          <p:cNvPr id="5" name="表格 4">
            <a:extLst>
              <a:ext uri="{FF2B5EF4-FFF2-40B4-BE49-F238E27FC236}">
                <a16:creationId xmlns:a16="http://schemas.microsoft.com/office/drawing/2014/main" id="{309845EE-BEFD-0830-6F6A-014C6C37200E}"/>
              </a:ext>
            </a:extLst>
          </p:cNvPr>
          <p:cNvGraphicFramePr>
            <a:graphicFrameLocks noGrp="1"/>
          </p:cNvGraphicFramePr>
          <p:nvPr>
            <p:extLst>
              <p:ext uri="{D42A27DB-BD31-4B8C-83A1-F6EECF244321}">
                <p14:modId xmlns:p14="http://schemas.microsoft.com/office/powerpoint/2010/main" val="4108931637"/>
              </p:ext>
            </p:extLst>
          </p:nvPr>
        </p:nvGraphicFramePr>
        <p:xfrm>
          <a:off x="7072132" y="1544421"/>
          <a:ext cx="2224266" cy="4592769"/>
        </p:xfrm>
        <a:graphic>
          <a:graphicData uri="http://schemas.openxmlformats.org/drawingml/2006/table">
            <a:tbl>
              <a:tblPr firstRow="1" bandRow="1">
                <a:tableStyleId>{616DA210-FB5B-4158-B5E0-FEB733F419BA}</a:tableStyleId>
              </a:tblPr>
              <a:tblGrid>
                <a:gridCol w="2224266">
                  <a:extLst>
                    <a:ext uri="{9D8B030D-6E8A-4147-A177-3AD203B41FA5}">
                      <a16:colId xmlns:a16="http://schemas.microsoft.com/office/drawing/2014/main" val="3358617967"/>
                    </a:ext>
                  </a:extLst>
                </a:gridCol>
              </a:tblGrid>
              <a:tr h="805521">
                <a:tc>
                  <a:txBody>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Profile Header </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128 bytes</a:t>
                      </a:r>
                      <a:endParaRPr lang="zh-TW" altLang="en-US" sz="1600" dirty="0">
                        <a:latin typeface="Times New Roman" panose="02020603050405020304" pitchFamily="18" charset="0"/>
                        <a:ea typeface="標楷體" panose="03000509000000000000" pitchFamily="65" charset="-120"/>
                        <a:cs typeface="Times New Roman" panose="02020603050405020304" pitchFamily="18" charset="0"/>
                      </a:endParaRPr>
                    </a:p>
                  </a:txBody>
                  <a:tcPr/>
                </a:tc>
                <a:extLst>
                  <a:ext uri="{0D108BD9-81ED-4DB2-BD59-A6C34878D82A}">
                    <a16:rowId xmlns:a16="http://schemas.microsoft.com/office/drawing/2014/main" val="1724688990"/>
                  </a:ext>
                </a:extLst>
              </a:tr>
              <a:tr h="1213505">
                <a:tc>
                  <a:txBody>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Tag Table</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wtpt → offset / size </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rXYZ → offset / size</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rTRC → offset / size</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a:t>
                      </a:r>
                    </a:p>
                  </a:txBody>
                  <a:tcPr/>
                </a:tc>
                <a:extLst>
                  <a:ext uri="{0D108BD9-81ED-4DB2-BD59-A6C34878D82A}">
                    <a16:rowId xmlns:a16="http://schemas.microsoft.com/office/drawing/2014/main" val="3735960893"/>
                  </a:ext>
                </a:extLst>
              </a:tr>
              <a:tr h="2476608">
                <a:tc>
                  <a:txBody>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Tagged Element Data</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gn="ct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a:t>
                      </a:r>
                    </a:p>
                  </a:txBody>
                  <a:tcPr/>
                </a:tc>
                <a:extLst>
                  <a:ext uri="{0D108BD9-81ED-4DB2-BD59-A6C34878D82A}">
                    <a16:rowId xmlns:a16="http://schemas.microsoft.com/office/drawing/2014/main" val="29441199"/>
                  </a:ext>
                </a:extLst>
              </a:tr>
            </a:tbl>
          </a:graphicData>
        </a:graphic>
      </p:graphicFrame>
      <p:sp>
        <p:nvSpPr>
          <p:cNvPr id="7" name="文字方塊 6">
            <a:extLst>
              <a:ext uri="{FF2B5EF4-FFF2-40B4-BE49-F238E27FC236}">
                <a16:creationId xmlns:a16="http://schemas.microsoft.com/office/drawing/2014/main" id="{7B3BC9D9-DB6E-B366-7FB4-7B64CF0727F4}"/>
              </a:ext>
            </a:extLst>
          </p:cNvPr>
          <p:cNvSpPr txBox="1"/>
          <p:nvPr/>
        </p:nvSpPr>
        <p:spPr>
          <a:xfrm>
            <a:off x="1152647" y="6396335"/>
            <a:ext cx="8489064" cy="461665"/>
          </a:xfrm>
          <a:prstGeom prst="rect">
            <a:avLst/>
          </a:prstGeom>
          <a:noFill/>
        </p:spPr>
        <p:txBody>
          <a:bodyPr wrap="square">
            <a:spAutoFit/>
          </a:bodyPr>
          <a:lstStyle/>
          <a:p>
            <a:r>
              <a:rPr lang="zh-TW" altLang="zh-TW" sz="1200" b="1" dirty="0"/>
              <a:t>[</a:t>
            </a:r>
            <a:r>
              <a:rPr lang="en-US" altLang="zh-TW" sz="1200" b="1" dirty="0"/>
              <a:t>2</a:t>
            </a:r>
            <a:r>
              <a:rPr lang="zh-TW" altLang="zh-TW" sz="1200" b="1" dirty="0"/>
              <a:t>]</a:t>
            </a:r>
            <a:r>
              <a:rPr lang="zh-TW" altLang="zh-TW" sz="1200" dirty="0"/>
              <a:t> International Color Consortium, </a:t>
            </a:r>
            <a:r>
              <a:rPr lang="zh-TW" altLang="zh-TW" sz="1200" i="1" dirty="0"/>
              <a:t>ICC.1:2022: Image technology colour management—Architecture, profile format, and data structure</a:t>
            </a:r>
            <a:r>
              <a:rPr lang="zh-TW" altLang="zh-TW" sz="1200" dirty="0"/>
              <a:t>, Profile version 4.4.0.0, 2022. [Online]. Available: </a:t>
            </a:r>
            <a:r>
              <a:rPr lang="zh-TW" altLang="zh-TW" sz="1200" dirty="0">
                <a:hlinkClick r:id="rId4"/>
              </a:rPr>
              <a:t>https://archive.color.org/specifications/ICC.1-2022-05.pdf</a:t>
            </a:r>
            <a:endParaRPr lang="zh-TW" altLang="en-US" sz="1200" dirty="0"/>
          </a:p>
        </p:txBody>
      </p:sp>
    </p:spTree>
    <p:extLst>
      <p:ext uri="{BB962C8B-B14F-4D97-AF65-F5344CB8AC3E}">
        <p14:creationId xmlns:p14="http://schemas.microsoft.com/office/powerpoint/2010/main" val="3369118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AD5BA-9E96-F48B-0A28-E0050EC4AC1F}"/>
            </a:ext>
          </a:extLst>
        </p:cNvPr>
        <p:cNvGrpSpPr/>
        <p:nvPr/>
      </p:nvGrpSpPr>
      <p:grpSpPr>
        <a:xfrm>
          <a:off x="0" y="0"/>
          <a:ext cx="0" cy="0"/>
          <a:chOff x="0" y="0"/>
          <a:chExt cx="0" cy="0"/>
        </a:xfrm>
      </p:grpSpPr>
      <p:sp>
        <p:nvSpPr>
          <p:cNvPr id="6" name="矩形 5">
            <a:extLst>
              <a:ext uri="{FF2B5EF4-FFF2-40B4-BE49-F238E27FC236}">
                <a16:creationId xmlns:a16="http://schemas.microsoft.com/office/drawing/2014/main" id="{77C89BEF-0897-A7B6-B034-EB917728FF34}"/>
              </a:ext>
            </a:extLst>
          </p:cNvPr>
          <p:cNvSpPr/>
          <p:nvPr/>
        </p:nvSpPr>
        <p:spPr>
          <a:xfrm>
            <a:off x="740780" y="2268937"/>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Measurement Data</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C4FB4E8E-1BF4-6DE5-A5D7-1DDB774630A2}"/>
              </a:ext>
            </a:extLst>
          </p:cNvPr>
          <p:cNvSpPr/>
          <p:nvPr/>
        </p:nvSpPr>
        <p:spPr>
          <a:xfrm>
            <a:off x="3145588" y="2268937"/>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RGB </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1" name="矩形 10">
            <a:extLst>
              <a:ext uri="{FF2B5EF4-FFF2-40B4-BE49-F238E27FC236}">
                <a16:creationId xmlns:a16="http://schemas.microsoft.com/office/drawing/2014/main" id="{289588F8-4C08-50A8-946F-E07CFA1469C4}"/>
              </a:ext>
            </a:extLst>
          </p:cNvPr>
          <p:cNvSpPr/>
          <p:nvPr/>
        </p:nvSpPr>
        <p:spPr>
          <a:xfrm>
            <a:off x="740780" y="433086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ICC Profile Tags</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3" name="矩形 12">
            <a:extLst>
              <a:ext uri="{FF2B5EF4-FFF2-40B4-BE49-F238E27FC236}">
                <a16:creationId xmlns:a16="http://schemas.microsoft.com/office/drawing/2014/main" id="{26D269AB-B9C0-1F9A-2078-29ECB158CA0E}"/>
              </a:ext>
            </a:extLst>
          </p:cNvPr>
          <p:cNvSpPr/>
          <p:nvPr/>
        </p:nvSpPr>
        <p:spPr>
          <a:xfrm>
            <a:off x="3145588" y="433086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PCS XYZ</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5" name="矩形 14">
            <a:extLst>
              <a:ext uri="{FF2B5EF4-FFF2-40B4-BE49-F238E27FC236}">
                <a16:creationId xmlns:a16="http://schemas.microsoft.com/office/drawing/2014/main" id="{3D38E1AE-CC63-54BD-A425-9F7062CA1A48}"/>
              </a:ext>
            </a:extLst>
          </p:cNvPr>
          <p:cNvSpPr/>
          <p:nvPr/>
        </p:nvSpPr>
        <p:spPr>
          <a:xfrm>
            <a:off x="5550397" y="1996088"/>
            <a:ext cx="1562582" cy="143291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TRC</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White Point</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Black</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7" name="矩形 16">
            <a:extLst>
              <a:ext uri="{FF2B5EF4-FFF2-40B4-BE49-F238E27FC236}">
                <a16:creationId xmlns:a16="http://schemas.microsoft.com/office/drawing/2014/main" id="{6D51C1F6-02EC-2A58-7D37-AE0840FD35CB}"/>
              </a:ext>
            </a:extLst>
          </p:cNvPr>
          <p:cNvSpPr/>
          <p:nvPr/>
        </p:nvSpPr>
        <p:spPr>
          <a:xfrm>
            <a:off x="5550397" y="433086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3 × 3 Matrix</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9" name="矩形 18">
            <a:extLst>
              <a:ext uri="{FF2B5EF4-FFF2-40B4-BE49-F238E27FC236}">
                <a16:creationId xmlns:a16="http://schemas.microsoft.com/office/drawing/2014/main" id="{1E3D21E5-C807-CED2-AFFF-E4AD13E711D7}"/>
              </a:ext>
            </a:extLst>
          </p:cNvPr>
          <p:cNvSpPr/>
          <p:nvPr/>
        </p:nvSpPr>
        <p:spPr>
          <a:xfrm>
            <a:off x="7905511" y="3277863"/>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RGB Primary Data</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21" name="直線單箭頭接點 20">
            <a:extLst>
              <a:ext uri="{FF2B5EF4-FFF2-40B4-BE49-F238E27FC236}">
                <a16:creationId xmlns:a16="http://schemas.microsoft.com/office/drawing/2014/main" id="{04ED3558-6F36-B78D-E935-FEBB2A57D382}"/>
              </a:ext>
            </a:extLst>
          </p:cNvPr>
          <p:cNvCxnSpPr>
            <a:stCxn id="6" idx="3"/>
            <a:endCxn id="9" idx="1"/>
          </p:cNvCxnSpPr>
          <p:nvPr/>
        </p:nvCxnSpPr>
        <p:spPr>
          <a:xfrm>
            <a:off x="2303362" y="2702988"/>
            <a:ext cx="84222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2" name="直線單箭頭接點 21">
            <a:extLst>
              <a:ext uri="{FF2B5EF4-FFF2-40B4-BE49-F238E27FC236}">
                <a16:creationId xmlns:a16="http://schemas.microsoft.com/office/drawing/2014/main" id="{6AAF4E77-8E58-FBFA-184A-AA3A5E4AA293}"/>
              </a:ext>
            </a:extLst>
          </p:cNvPr>
          <p:cNvCxnSpPr>
            <a:cxnSpLocks/>
            <a:stCxn id="9" idx="3"/>
            <a:endCxn id="15" idx="1"/>
          </p:cNvCxnSpPr>
          <p:nvPr/>
        </p:nvCxnSpPr>
        <p:spPr>
          <a:xfrm>
            <a:off x="4708170" y="2702988"/>
            <a:ext cx="842227" cy="9556"/>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直線單箭頭接點 24">
            <a:extLst>
              <a:ext uri="{FF2B5EF4-FFF2-40B4-BE49-F238E27FC236}">
                <a16:creationId xmlns:a16="http://schemas.microsoft.com/office/drawing/2014/main" id="{6181477D-7548-5212-6EBC-4D318C471C2D}"/>
              </a:ext>
            </a:extLst>
          </p:cNvPr>
          <p:cNvCxnSpPr>
            <a:cxnSpLocks/>
            <a:stCxn id="17" idx="1"/>
            <a:endCxn id="13" idx="3"/>
          </p:cNvCxnSpPr>
          <p:nvPr/>
        </p:nvCxnSpPr>
        <p:spPr>
          <a:xfrm flipH="1">
            <a:off x="4708170" y="4764911"/>
            <a:ext cx="842227"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8" name="直線單箭頭接點 27">
            <a:extLst>
              <a:ext uri="{FF2B5EF4-FFF2-40B4-BE49-F238E27FC236}">
                <a16:creationId xmlns:a16="http://schemas.microsoft.com/office/drawing/2014/main" id="{CC9317CC-7BA9-6767-1089-AC753074E025}"/>
              </a:ext>
            </a:extLst>
          </p:cNvPr>
          <p:cNvCxnSpPr>
            <a:cxnSpLocks/>
            <a:stCxn id="13" idx="1"/>
            <a:endCxn id="11" idx="3"/>
          </p:cNvCxnSpPr>
          <p:nvPr/>
        </p:nvCxnSpPr>
        <p:spPr>
          <a:xfrm flipH="1">
            <a:off x="2303362" y="4764911"/>
            <a:ext cx="842226"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5" name="接點: 肘形 34">
            <a:extLst>
              <a:ext uri="{FF2B5EF4-FFF2-40B4-BE49-F238E27FC236}">
                <a16:creationId xmlns:a16="http://schemas.microsoft.com/office/drawing/2014/main" id="{2590B455-C495-4FE3-98E1-2D28C2EFBF3B}"/>
              </a:ext>
            </a:extLst>
          </p:cNvPr>
          <p:cNvCxnSpPr>
            <a:stCxn id="15" idx="3"/>
            <a:endCxn id="19" idx="0"/>
          </p:cNvCxnSpPr>
          <p:nvPr/>
        </p:nvCxnSpPr>
        <p:spPr>
          <a:xfrm>
            <a:off x="7112979" y="2712544"/>
            <a:ext cx="1573823" cy="565319"/>
          </a:xfrm>
          <a:prstGeom prst="bentConnector2">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7" name="接點: 肘形 36">
            <a:extLst>
              <a:ext uri="{FF2B5EF4-FFF2-40B4-BE49-F238E27FC236}">
                <a16:creationId xmlns:a16="http://schemas.microsoft.com/office/drawing/2014/main" id="{A78DFA20-69CC-D714-7014-55DF3DC477A5}"/>
              </a:ext>
            </a:extLst>
          </p:cNvPr>
          <p:cNvCxnSpPr>
            <a:stCxn id="19" idx="2"/>
            <a:endCxn id="17" idx="3"/>
          </p:cNvCxnSpPr>
          <p:nvPr/>
        </p:nvCxnSpPr>
        <p:spPr>
          <a:xfrm rot="5400000">
            <a:off x="7590418" y="3668527"/>
            <a:ext cx="618946" cy="1573823"/>
          </a:xfrm>
          <a:prstGeom prst="bentConnector2">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8" name="矩形 37">
            <a:extLst>
              <a:ext uri="{FF2B5EF4-FFF2-40B4-BE49-F238E27FC236}">
                <a16:creationId xmlns:a16="http://schemas.microsoft.com/office/drawing/2014/main" id="{4AFF936C-A0A9-8BA5-E8C7-9507E5CA2971}"/>
              </a:ext>
            </a:extLst>
          </p:cNvPr>
          <p:cNvSpPr/>
          <p:nvPr/>
        </p:nvSpPr>
        <p:spPr>
          <a:xfrm>
            <a:off x="393539" y="5773837"/>
            <a:ext cx="9167150" cy="584775"/>
          </a:xfrm>
          <a:prstGeom prst="rect">
            <a:avLst/>
          </a:prstGeom>
          <a:noFill/>
        </p:spPr>
        <p:txBody>
          <a:bodyPr wrap="square" lIns="91440" tIns="45720" rIns="91440" bIns="45720">
            <a:spAutoFit/>
          </a:bodyPr>
          <a:lstStyle/>
          <a:p>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ICC 規格定義 Profile 結構與 Matrix/TRC processing model，但不代表 ICC 指定唯一的 Profile-building 求解演算法。</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2" name="標題 1">
            <a:extLst>
              <a:ext uri="{FF2B5EF4-FFF2-40B4-BE49-F238E27FC236}">
                <a16:creationId xmlns:a16="http://schemas.microsoft.com/office/drawing/2014/main" id="{C83C19D6-9797-57FB-F191-2DE6E0F0A8FD}"/>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4" name="文字版面配置區 6">
            <a:extLst>
              <a:ext uri="{FF2B5EF4-FFF2-40B4-BE49-F238E27FC236}">
                <a16:creationId xmlns:a16="http://schemas.microsoft.com/office/drawing/2014/main" id="{8F934667-3617-262D-FBCC-C5AB7DADC727}"/>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zh-TW" altLang="en-US" sz="2000" dirty="0"/>
              <a:t> </a:t>
            </a: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76308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BEAB9-4E35-7AB7-EE54-74E82B9599A8}"/>
            </a:ext>
          </a:extLst>
        </p:cNvPr>
        <p:cNvGrpSpPr/>
        <p:nvPr/>
      </p:nvGrpSpPr>
      <p:grpSpPr>
        <a:xfrm>
          <a:off x="0" y="0"/>
          <a:ext cx="0" cy="0"/>
          <a:chOff x="0" y="0"/>
          <a:chExt cx="0" cy="0"/>
        </a:xfrm>
      </p:grpSpPr>
      <p:sp>
        <p:nvSpPr>
          <p:cNvPr id="10" name="文字版面配置區 6">
            <a:extLst>
              <a:ext uri="{FF2B5EF4-FFF2-40B4-BE49-F238E27FC236}">
                <a16:creationId xmlns:a16="http://schemas.microsoft.com/office/drawing/2014/main" id="{8CC25041-484B-028D-E365-35F32AD88DA6}"/>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lgn="just">
              <a:lnSpc>
                <a:spcPct val="150000"/>
              </a:lnSpc>
              <a:spcBef>
                <a:spcPts val="560"/>
              </a:spcBef>
              <a:buClr>
                <a:schemeClr val="accent2"/>
              </a:buClr>
              <a:buSzPts val="2800"/>
              <a:buFont typeface="Noto Sans Symbols"/>
              <a:buChar char="❖"/>
            </a:pPr>
            <a:r>
              <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TRC(Tone Response Curve)</a:t>
            </a:r>
            <a:endPar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gn="just">
              <a:lnSpc>
                <a:spcPct val="150000"/>
              </a:lnSpc>
            </a:pP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把顯示器實際使用的非線性 RGB code value，轉換成與 PCS</a:t>
            </a:r>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r>
              <a:rPr lang="zh-TW"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 的 Y（luminance）關係相符的 linear RGB 表示。</a:t>
            </a:r>
            <a:endParaRPr lang="en-US" altLang="zh-TW"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lvl="1" algn="just"/>
            <a:r>
              <a:rPr lang="zh-TW" altLang="en-US" sz="16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例如：</a:t>
            </a:r>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marL="533400" lvl="1" indent="0">
              <a:lnSpc>
                <a:spcPct val="150000"/>
              </a:lnSpc>
              <a:buNone/>
            </a:pPr>
            <a:endParaRPr lang="zh-TW" altLang="en-US" sz="18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grpSp>
        <p:nvGrpSpPr>
          <p:cNvPr id="34" name="群組 33">
            <a:extLst>
              <a:ext uri="{FF2B5EF4-FFF2-40B4-BE49-F238E27FC236}">
                <a16:creationId xmlns:a16="http://schemas.microsoft.com/office/drawing/2014/main" id="{C0E10B67-4895-DEEA-0A4E-8D187E08F60B}"/>
              </a:ext>
            </a:extLst>
          </p:cNvPr>
          <p:cNvGrpSpPr/>
          <p:nvPr/>
        </p:nvGrpSpPr>
        <p:grpSpPr>
          <a:xfrm>
            <a:off x="1208421" y="3799390"/>
            <a:ext cx="7344475" cy="868102"/>
            <a:chOff x="1208421" y="3799390"/>
            <a:chExt cx="7344475" cy="868102"/>
          </a:xfrm>
        </p:grpSpPr>
        <p:sp>
          <p:nvSpPr>
            <p:cNvPr id="4" name="矩形 3">
              <a:extLst>
                <a:ext uri="{FF2B5EF4-FFF2-40B4-BE49-F238E27FC236}">
                  <a16:creationId xmlns:a16="http://schemas.microsoft.com/office/drawing/2014/main" id="{3EAD8FDE-BAC0-876F-4587-8CBAB5D895F9}"/>
                </a:ext>
              </a:extLst>
            </p:cNvPr>
            <p:cNvSpPr/>
            <p:nvPr/>
          </p:nvSpPr>
          <p:spPr>
            <a:xfrm>
              <a:off x="1208421"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R′=0.5</a:t>
              </a:r>
              <a:r>
                <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(127/255)</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矩形 5">
              <a:extLst>
                <a:ext uri="{FF2B5EF4-FFF2-40B4-BE49-F238E27FC236}">
                  <a16:creationId xmlns:a16="http://schemas.microsoft.com/office/drawing/2014/main" id="{F211FECE-805D-4DE7-5329-317233CD1CB4}"/>
                </a:ext>
              </a:extLst>
            </p:cNvPr>
            <p:cNvSpPr/>
            <p:nvPr/>
          </p:nvSpPr>
          <p:spPr>
            <a:xfrm>
              <a:off x="4302917"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R=(R′)</a:t>
              </a:r>
              <a:r>
                <a:rPr lang="en-US" altLang="zh-TW"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2.2</a:t>
              </a:r>
            </a:p>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0.218 ≈ 0.5</a:t>
              </a:r>
              <a:r>
                <a:rPr lang="zh-TW" altLang="zh-TW"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2.2</a:t>
              </a:r>
              <a:endParaRPr lang="zh-TW" altLang="en-US" baseline="30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7" name="矩形 6">
              <a:extLst>
                <a:ext uri="{FF2B5EF4-FFF2-40B4-BE49-F238E27FC236}">
                  <a16:creationId xmlns:a16="http://schemas.microsoft.com/office/drawing/2014/main" id="{0DFB61CE-E671-9B90-DDBA-64DE2605725B}"/>
                </a:ext>
              </a:extLst>
            </p:cNvPr>
            <p:cNvSpPr/>
            <p:nvPr/>
          </p:nvSpPr>
          <p:spPr>
            <a:xfrm>
              <a:off x="6990314" y="3799390"/>
              <a:ext cx="1562582" cy="868102"/>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R=0</a:t>
              </a: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.218</a:t>
              </a:r>
              <a:endParaRPr lang="zh-TW" altLang="en-US"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13" name="直線單箭頭接點 12">
              <a:extLst>
                <a:ext uri="{FF2B5EF4-FFF2-40B4-BE49-F238E27FC236}">
                  <a16:creationId xmlns:a16="http://schemas.microsoft.com/office/drawing/2014/main" id="{8755CBCD-89A6-A4CF-B535-C3D84BCDE39D}"/>
                </a:ext>
              </a:extLst>
            </p:cNvPr>
            <p:cNvCxnSpPr>
              <a:stCxn id="4" idx="3"/>
              <a:endCxn id="6" idx="1"/>
            </p:cNvCxnSpPr>
            <p:nvPr/>
          </p:nvCxnSpPr>
          <p:spPr>
            <a:xfrm>
              <a:off x="2771003" y="4233441"/>
              <a:ext cx="1531914"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直線單箭頭接點 13">
              <a:extLst>
                <a:ext uri="{FF2B5EF4-FFF2-40B4-BE49-F238E27FC236}">
                  <a16:creationId xmlns:a16="http://schemas.microsoft.com/office/drawing/2014/main" id="{43C321DC-EFCF-71ED-6AA0-C27F2B92914D}"/>
                </a:ext>
              </a:extLst>
            </p:cNvPr>
            <p:cNvCxnSpPr>
              <a:cxnSpLocks/>
              <a:stCxn id="6" idx="3"/>
              <a:endCxn id="7" idx="1"/>
            </p:cNvCxnSpPr>
            <p:nvPr/>
          </p:nvCxnSpPr>
          <p:spPr>
            <a:xfrm>
              <a:off x="5865499" y="4233441"/>
              <a:ext cx="1124815"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矩形 21">
              <a:extLst>
                <a:ext uri="{FF2B5EF4-FFF2-40B4-BE49-F238E27FC236}">
                  <a16:creationId xmlns:a16="http://schemas.microsoft.com/office/drawing/2014/main" id="{9A9DF41D-9E06-E236-CA43-60889F6EE310}"/>
                </a:ext>
              </a:extLst>
            </p:cNvPr>
            <p:cNvSpPr/>
            <p:nvPr/>
          </p:nvSpPr>
          <p:spPr>
            <a:xfrm>
              <a:off x="2880370" y="3847139"/>
              <a:ext cx="1313180" cy="338554"/>
            </a:xfrm>
            <a:prstGeom prst="rect">
              <a:avLst/>
            </a:prstGeom>
            <a:noFill/>
          </p:spPr>
          <p:txBody>
            <a:bodyPr wrap="none" lIns="91440" tIns="45720" rIns="91440" bIns="45720">
              <a:spAutoFit/>
            </a:bodyPr>
            <a:lstStyle/>
            <a:p>
              <a:pPr algn="ct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Gamma = 2.2</a:t>
              </a:r>
              <a:endParaRPr lang="zh-TW" altLang="en-US" sz="1600" b="0" cap="none" spc="0" dirty="0">
                <a:ln w="0"/>
                <a:solidFill>
                  <a:schemeClr val="tx1"/>
                </a:solidFill>
                <a:effectLst>
                  <a:outerShdw blurRad="38100" dist="19050" dir="2700000" algn="tl" rotWithShape="0">
                    <a:schemeClr val="dk1">
                      <a:alpha val="40000"/>
                    </a:schemeClr>
                  </a:outerShdw>
                </a:effectLst>
                <a:latin typeface="Times New Roman" panose="02020603050405020304" pitchFamily="18" charset="0"/>
                <a:ea typeface="標楷體" panose="03000509000000000000" pitchFamily="65" charset="-120"/>
                <a:cs typeface="Times New Roman" panose="02020603050405020304" pitchFamily="18" charset="0"/>
              </a:endParaRPr>
            </a:p>
          </p:txBody>
        </p:sp>
      </p:grpSp>
      <p:sp>
        <p:nvSpPr>
          <p:cNvPr id="33" name="標題 1">
            <a:extLst>
              <a:ext uri="{FF2B5EF4-FFF2-40B4-BE49-F238E27FC236}">
                <a16:creationId xmlns:a16="http://schemas.microsoft.com/office/drawing/2014/main" id="{FE6A0969-18CA-A43C-E3E0-A72CA997A88D}"/>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64110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FE357-957A-3182-12E7-90F219E152E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61298DEC-0097-A431-0637-9C6765567C9F}"/>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文字版面配置區 6">
            <a:extLst>
              <a:ext uri="{FF2B5EF4-FFF2-40B4-BE49-F238E27FC236}">
                <a16:creationId xmlns:a16="http://schemas.microsoft.com/office/drawing/2014/main" id="{EFA1BA7D-6739-0930-E66B-C7B72485673A}"/>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en-US" altLang="zh-TW"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TRC(Tone Response Curve)</a:t>
            </a:r>
            <a:endParaRPr lang="en-US" altLang="zh-TW" dirty="0"/>
          </a:p>
          <a:p>
            <a:pPr lvl="1">
              <a:lnSpc>
                <a:spcPts val="3000"/>
              </a:lnSpc>
            </a:pPr>
            <a:r>
              <a:rPr lang="zh-TW" altLang="en-US"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舉例：</a:t>
            </a:r>
            <a:endPar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endParaRPr>
          </a:p>
          <a:p>
            <a:pPr marL="533400" lvl="1" indent="0">
              <a:lnSpc>
                <a:spcPts val="3000"/>
              </a:lnSpc>
              <a:buNone/>
            </a:pP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graphicFrame>
        <p:nvGraphicFramePr>
          <p:cNvPr id="2" name="表格 1">
            <a:extLst>
              <a:ext uri="{FF2B5EF4-FFF2-40B4-BE49-F238E27FC236}">
                <a16:creationId xmlns:a16="http://schemas.microsoft.com/office/drawing/2014/main" id="{CE5B8F78-8A22-D5AF-CA79-EE55EA23B193}"/>
              </a:ext>
            </a:extLst>
          </p:cNvPr>
          <p:cNvGraphicFramePr>
            <a:graphicFrameLocks noGrp="1"/>
          </p:cNvGraphicFramePr>
          <p:nvPr>
            <p:extLst>
              <p:ext uri="{D42A27DB-BD31-4B8C-83A1-F6EECF244321}">
                <p14:modId xmlns:p14="http://schemas.microsoft.com/office/powerpoint/2010/main" val="1328249219"/>
              </p:ext>
            </p:extLst>
          </p:nvPr>
        </p:nvGraphicFramePr>
        <p:xfrm>
          <a:off x="1114543" y="2567167"/>
          <a:ext cx="2901873" cy="1219200"/>
        </p:xfrm>
        <a:graphic>
          <a:graphicData uri="http://schemas.openxmlformats.org/drawingml/2006/table">
            <a:tbl>
              <a:tblPr>
                <a:tableStyleId>{5940675A-B579-460E-94D1-54222C63F5DA}</a:tableStyleId>
              </a:tblPr>
              <a:tblGrid>
                <a:gridCol w="967291">
                  <a:extLst>
                    <a:ext uri="{9D8B030D-6E8A-4147-A177-3AD203B41FA5}">
                      <a16:colId xmlns:a16="http://schemas.microsoft.com/office/drawing/2014/main" val="3590102437"/>
                    </a:ext>
                  </a:extLst>
                </a:gridCol>
                <a:gridCol w="967291">
                  <a:extLst>
                    <a:ext uri="{9D8B030D-6E8A-4147-A177-3AD203B41FA5}">
                      <a16:colId xmlns:a16="http://schemas.microsoft.com/office/drawing/2014/main" val="3666544339"/>
                    </a:ext>
                  </a:extLst>
                </a:gridCol>
                <a:gridCol w="967291">
                  <a:extLst>
                    <a:ext uri="{9D8B030D-6E8A-4147-A177-3AD203B41FA5}">
                      <a16:colId xmlns:a16="http://schemas.microsoft.com/office/drawing/2014/main" val="455476819"/>
                    </a:ext>
                  </a:extLst>
                </a:gridCol>
              </a:tblGrid>
              <a:tr h="298410">
                <a:tc>
                  <a:txBody>
                    <a:bodyPr/>
                    <a:lstStyle/>
                    <a:p>
                      <a:pPr>
                        <a:buNone/>
                      </a:pPr>
                      <a:r>
                        <a:rPr lang="zh-TW"/>
                        <a:t>原色</a:t>
                      </a:r>
                    </a:p>
                  </a:txBody>
                  <a:tcPr anchor="ctr"/>
                </a:tc>
                <a:tc>
                  <a:txBody>
                    <a:bodyPr/>
                    <a:lstStyle/>
                    <a:p>
                      <a:pPr algn="r">
                        <a:buNone/>
                      </a:pPr>
                      <a:r>
                        <a:rPr lang="zh-TW"/>
                        <a:t>x</a:t>
                      </a:r>
                    </a:p>
                  </a:txBody>
                  <a:tcPr anchor="ctr"/>
                </a:tc>
                <a:tc>
                  <a:txBody>
                    <a:bodyPr/>
                    <a:lstStyle/>
                    <a:p>
                      <a:pPr algn="r">
                        <a:buNone/>
                      </a:pPr>
                      <a:r>
                        <a:rPr lang="zh-TW"/>
                        <a:t>y</a:t>
                      </a:r>
                    </a:p>
                  </a:txBody>
                  <a:tcPr anchor="ctr"/>
                </a:tc>
                <a:extLst>
                  <a:ext uri="{0D108BD9-81ED-4DB2-BD59-A6C34878D82A}">
                    <a16:rowId xmlns:a16="http://schemas.microsoft.com/office/drawing/2014/main" val="4117724251"/>
                  </a:ext>
                </a:extLst>
              </a:tr>
              <a:tr h="298410">
                <a:tc>
                  <a:txBody>
                    <a:bodyPr/>
                    <a:lstStyle/>
                    <a:p>
                      <a:pPr>
                        <a:buNone/>
                      </a:pPr>
                      <a:r>
                        <a:rPr lang="zh-TW"/>
                        <a:t>R</a:t>
                      </a:r>
                    </a:p>
                  </a:txBody>
                  <a:tcPr anchor="ctr"/>
                </a:tc>
                <a:tc>
                  <a:txBody>
                    <a:bodyPr/>
                    <a:lstStyle/>
                    <a:p>
                      <a:pPr algn="r">
                        <a:buNone/>
                      </a:pPr>
                      <a:r>
                        <a:rPr lang="zh-TW"/>
                        <a:t>0.6400</a:t>
                      </a:r>
                    </a:p>
                  </a:txBody>
                  <a:tcPr anchor="ctr"/>
                </a:tc>
                <a:tc>
                  <a:txBody>
                    <a:bodyPr/>
                    <a:lstStyle/>
                    <a:p>
                      <a:pPr algn="r">
                        <a:buNone/>
                      </a:pPr>
                      <a:r>
                        <a:rPr lang="zh-TW"/>
                        <a:t>0.3300</a:t>
                      </a:r>
                    </a:p>
                  </a:txBody>
                  <a:tcPr anchor="ctr"/>
                </a:tc>
                <a:extLst>
                  <a:ext uri="{0D108BD9-81ED-4DB2-BD59-A6C34878D82A}">
                    <a16:rowId xmlns:a16="http://schemas.microsoft.com/office/drawing/2014/main" val="2141619666"/>
                  </a:ext>
                </a:extLst>
              </a:tr>
              <a:tr h="298410">
                <a:tc>
                  <a:txBody>
                    <a:bodyPr/>
                    <a:lstStyle/>
                    <a:p>
                      <a:pPr>
                        <a:buNone/>
                      </a:pPr>
                      <a:r>
                        <a:rPr lang="zh-TW"/>
                        <a:t>G</a:t>
                      </a:r>
                    </a:p>
                  </a:txBody>
                  <a:tcPr anchor="ctr"/>
                </a:tc>
                <a:tc>
                  <a:txBody>
                    <a:bodyPr/>
                    <a:lstStyle/>
                    <a:p>
                      <a:pPr algn="r">
                        <a:buNone/>
                      </a:pPr>
                      <a:r>
                        <a:rPr lang="zh-TW"/>
                        <a:t>0.3000</a:t>
                      </a:r>
                    </a:p>
                  </a:txBody>
                  <a:tcPr anchor="ctr"/>
                </a:tc>
                <a:tc>
                  <a:txBody>
                    <a:bodyPr/>
                    <a:lstStyle/>
                    <a:p>
                      <a:pPr algn="r">
                        <a:buNone/>
                      </a:pPr>
                      <a:r>
                        <a:rPr lang="zh-TW"/>
                        <a:t>0.6000</a:t>
                      </a:r>
                    </a:p>
                  </a:txBody>
                  <a:tcPr anchor="ctr"/>
                </a:tc>
                <a:extLst>
                  <a:ext uri="{0D108BD9-81ED-4DB2-BD59-A6C34878D82A}">
                    <a16:rowId xmlns:a16="http://schemas.microsoft.com/office/drawing/2014/main" val="3809134920"/>
                  </a:ext>
                </a:extLst>
              </a:tr>
              <a:tr h="298410">
                <a:tc>
                  <a:txBody>
                    <a:bodyPr/>
                    <a:lstStyle/>
                    <a:p>
                      <a:pPr>
                        <a:buNone/>
                      </a:pPr>
                      <a:r>
                        <a:rPr lang="zh-TW"/>
                        <a:t>B</a:t>
                      </a:r>
                    </a:p>
                  </a:txBody>
                  <a:tcPr anchor="ctr"/>
                </a:tc>
                <a:tc>
                  <a:txBody>
                    <a:bodyPr/>
                    <a:lstStyle/>
                    <a:p>
                      <a:pPr algn="r">
                        <a:buNone/>
                      </a:pPr>
                      <a:r>
                        <a:rPr lang="zh-TW"/>
                        <a:t>0.1500</a:t>
                      </a:r>
                    </a:p>
                  </a:txBody>
                  <a:tcPr anchor="ctr"/>
                </a:tc>
                <a:tc>
                  <a:txBody>
                    <a:bodyPr/>
                    <a:lstStyle/>
                    <a:p>
                      <a:pPr algn="r">
                        <a:buNone/>
                      </a:pPr>
                      <a:r>
                        <a:rPr lang="zh-TW" dirty="0"/>
                        <a:t>0.0600</a:t>
                      </a:r>
                    </a:p>
                  </a:txBody>
                  <a:tcPr anchor="ctr"/>
                </a:tc>
                <a:extLst>
                  <a:ext uri="{0D108BD9-81ED-4DB2-BD59-A6C34878D82A}">
                    <a16:rowId xmlns:a16="http://schemas.microsoft.com/office/drawing/2014/main" val="1932515259"/>
                  </a:ext>
                </a:extLst>
              </a:tr>
            </a:tbl>
          </a:graphicData>
        </a:graphic>
      </p:graphicFrame>
      <p:grpSp>
        <p:nvGrpSpPr>
          <p:cNvPr id="8" name="群組 7">
            <a:extLst>
              <a:ext uri="{FF2B5EF4-FFF2-40B4-BE49-F238E27FC236}">
                <a16:creationId xmlns:a16="http://schemas.microsoft.com/office/drawing/2014/main" id="{786F443D-0782-D5C7-CFA3-08A5D4B6BFEC}"/>
              </a:ext>
            </a:extLst>
          </p:cNvPr>
          <p:cNvGrpSpPr/>
          <p:nvPr/>
        </p:nvGrpSpPr>
        <p:grpSpPr>
          <a:xfrm>
            <a:off x="4548850" y="2882096"/>
            <a:ext cx="1481394" cy="717630"/>
            <a:chOff x="4444678" y="2812648"/>
            <a:chExt cx="1481394" cy="717630"/>
          </a:xfrm>
        </p:grpSpPr>
        <p:sp>
          <p:nvSpPr>
            <p:cNvPr id="7" name="矩形 6">
              <a:extLst>
                <a:ext uri="{FF2B5EF4-FFF2-40B4-BE49-F238E27FC236}">
                  <a16:creationId xmlns:a16="http://schemas.microsoft.com/office/drawing/2014/main" id="{BB4D6CD5-7B46-9599-FFCA-74970E1E73B5}"/>
                </a:ext>
              </a:extLst>
            </p:cNvPr>
            <p:cNvSpPr/>
            <p:nvPr/>
          </p:nvSpPr>
          <p:spPr>
            <a:xfrm>
              <a:off x="4444678" y="2812648"/>
              <a:ext cx="1348616" cy="71763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id="{0DA94BC5-0762-F6E2-2F57-D278DFAB1094}"/>
                </a:ext>
              </a:extLst>
            </p:cNvPr>
            <p:cNvSpPr txBox="1"/>
            <p:nvPr/>
          </p:nvSpPr>
          <p:spPr>
            <a:xfrm>
              <a:off x="4577456" y="2905780"/>
              <a:ext cx="1348616" cy="523220"/>
            </a:xfrm>
            <a:prstGeom prst="rect">
              <a:avLst/>
            </a:prstGeom>
            <a:noFill/>
          </p:spPr>
          <p:txBody>
            <a:bodyPr wrap="square">
              <a:spAutoFit/>
            </a:bodyPr>
            <a:lstStyle/>
            <a:p>
              <a:r>
                <a:rPr lang="zh-TW" altLang="zh-TW" dirty="0"/>
                <a:t>x</a:t>
              </a:r>
              <a:r>
                <a:rPr lang="zh-TW" altLang="zh-TW" baseline="-25000" dirty="0"/>
                <a:t>W</a:t>
              </a:r>
              <a:r>
                <a:rPr lang="zh-TW" altLang="zh-TW" dirty="0"/>
                <a:t>​=0.3127</a:t>
              </a:r>
              <a:endParaRPr lang="en-US" altLang="zh-TW" dirty="0"/>
            </a:p>
            <a:p>
              <a:r>
                <a:rPr lang="zh-TW" altLang="zh-TW" dirty="0"/>
                <a:t>y</a:t>
              </a:r>
              <a:r>
                <a:rPr lang="zh-TW" altLang="zh-TW" baseline="-25000" dirty="0"/>
                <a:t>W</a:t>
              </a:r>
              <a:r>
                <a:rPr lang="zh-TW" altLang="zh-TW" dirty="0"/>
                <a:t>​=0.3290</a:t>
              </a:r>
              <a:endParaRPr lang="zh-TW" altLang="en-US" dirty="0"/>
            </a:p>
          </p:txBody>
        </p:sp>
      </p:grpSp>
      <p:sp>
        <p:nvSpPr>
          <p:cNvPr id="9" name="矩形 8">
            <a:extLst>
              <a:ext uri="{FF2B5EF4-FFF2-40B4-BE49-F238E27FC236}">
                <a16:creationId xmlns:a16="http://schemas.microsoft.com/office/drawing/2014/main" id="{8BDB7050-E618-11BA-974C-7035CB7FA24D}"/>
              </a:ext>
            </a:extLst>
          </p:cNvPr>
          <p:cNvSpPr/>
          <p:nvPr/>
        </p:nvSpPr>
        <p:spPr>
          <a:xfrm>
            <a:off x="1960185" y="3786367"/>
            <a:ext cx="1210588" cy="338554"/>
          </a:xfrm>
          <a:prstGeom prst="rect">
            <a:avLst/>
          </a:prstGeom>
          <a:noFill/>
        </p:spPr>
        <p:txBody>
          <a:bodyPr wrap="none" lIns="91440" tIns="45720" rIns="91440" bIns="45720">
            <a:spAutoFit/>
          </a:bodyPr>
          <a:lstStyle/>
          <a:p>
            <a:pPr algn="ctr"/>
            <a:r>
              <a:rPr lang="zh-TW" altLang="en-US" sz="1600" b="0" cap="none" spc="0" dirty="0">
                <a:ln w="0"/>
                <a:solidFill>
                  <a:schemeClr val="tx1"/>
                </a:solidFill>
                <a:effectLst>
                  <a:outerShdw blurRad="38100" dist="19050" dir="2700000" algn="tl" rotWithShape="0">
                    <a:schemeClr val="dk1">
                      <a:alpha val="40000"/>
                    </a:schemeClr>
                  </a:outerShdw>
                </a:effectLst>
              </a:rPr>
              <a:t>量測到的值</a:t>
            </a:r>
          </a:p>
        </p:txBody>
      </p:sp>
      <p:sp>
        <p:nvSpPr>
          <p:cNvPr id="12" name="矩形 11">
            <a:extLst>
              <a:ext uri="{FF2B5EF4-FFF2-40B4-BE49-F238E27FC236}">
                <a16:creationId xmlns:a16="http://schemas.microsoft.com/office/drawing/2014/main" id="{2552E5AB-ED3F-D175-A499-49FB40687585}"/>
              </a:ext>
            </a:extLst>
          </p:cNvPr>
          <p:cNvSpPr/>
          <p:nvPr/>
        </p:nvSpPr>
        <p:spPr>
          <a:xfrm>
            <a:off x="4651442" y="3635026"/>
            <a:ext cx="1005403" cy="338554"/>
          </a:xfrm>
          <a:prstGeom prst="rect">
            <a:avLst/>
          </a:prstGeom>
          <a:noFill/>
        </p:spPr>
        <p:txBody>
          <a:bodyPr wrap="none" lIns="91440" tIns="45720" rIns="91440" bIns="45720">
            <a:spAutoFit/>
          </a:bodyPr>
          <a:lstStyle/>
          <a:p>
            <a:pPr algn="ctr"/>
            <a:r>
              <a:rPr lang="zh-TW" altLang="en-US" sz="1600" dirty="0">
                <a:ln w="0"/>
                <a:solidFill>
                  <a:schemeClr val="tx1"/>
                </a:solidFill>
                <a:effectLst>
                  <a:outerShdw blurRad="38100" dist="19050" dir="2700000" algn="tl" rotWithShape="0">
                    <a:schemeClr val="dk1">
                      <a:alpha val="40000"/>
                    </a:schemeClr>
                  </a:outerShdw>
                </a:effectLst>
              </a:rPr>
              <a:t>目標色彩</a:t>
            </a:r>
            <a:endParaRPr lang="zh-TW" altLang="en-US" sz="1600" b="0"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6991730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F1D18-D49B-24B7-7AE4-1C148C1CF218}"/>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09D26C7-0D1B-6B5F-78B0-58B9AB2272BC}"/>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t>Matrix-based Display Profile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0" name="文字版面配置區 6">
            <a:extLst>
              <a:ext uri="{FF2B5EF4-FFF2-40B4-BE49-F238E27FC236}">
                <a16:creationId xmlns:a16="http://schemas.microsoft.com/office/drawing/2014/main" id="{ED0EFAE0-FF23-F1C1-C216-8C274B22FF64}"/>
              </a:ext>
            </a:extLst>
          </p:cNvPr>
          <p:cNvSpPr txBox="1"/>
          <p:nvPr/>
        </p:nvSpPr>
        <p:spPr>
          <a:xfrm>
            <a:off x="497549" y="1284684"/>
            <a:ext cx="8686796"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marL="457200" lvl="1" indent="-406400">
              <a:spcBef>
                <a:spcPts val="560"/>
              </a:spcBef>
              <a:buClr>
                <a:schemeClr val="accent2"/>
              </a:buClr>
              <a:buSzPts val="2800"/>
              <a:buFont typeface="Noto Sans Symbols"/>
              <a:buChar char="❖"/>
            </a:pPr>
            <a:r>
              <a:rPr lang="en-US" altLang="zh-TW" sz="2000" dirty="0"/>
              <a:t>0</a:t>
            </a:r>
            <a:endParaRPr lang="en-US" altLang="zh-TW" dirty="0"/>
          </a:p>
          <a:p>
            <a:pPr lvl="1">
              <a:lnSpc>
                <a:spcPts val="3000"/>
              </a:lnSpc>
            </a:pPr>
            <a:r>
              <a:rPr lang="en-US" altLang="zh-TW" sz="16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rPr>
              <a:t>0</a:t>
            </a:r>
          </a:p>
          <a:p>
            <a:pPr>
              <a:lnSpc>
                <a:spcPts val="3000"/>
              </a:lnSpc>
            </a:pPr>
            <a:endParaRPr lang="en-US" altLang="zh-TW" sz="2000" dirty="0">
              <a:latin typeface="Times New Roman" panose="02020603050405020304" pitchFamily="18" charset="0"/>
              <a:ea typeface="標楷體" panose="03000509000000000000" pitchFamily="65" charset="-120"/>
            </a:endParaRPr>
          </a:p>
          <a:p>
            <a:pPr marL="533400" lvl="1" indent="0">
              <a:lnSpc>
                <a:spcPts val="3000"/>
              </a:lnSpc>
              <a:buNone/>
            </a:pPr>
            <a:endParaRPr lang="zh-TW" altLang="en-US" sz="18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3423728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97164" name="圖片 6"/>
          <p:cNvPicPr>
            <a:picLocks noChangeAspect="1"/>
          </p:cNvPicPr>
          <p:nvPr/>
        </p:nvPicPr>
        <p:blipFill>
          <a:blip r:embed="rId3"/>
          <a:srcRect/>
          <a:stretch>
            <a:fillRect/>
          </a:stretch>
        </p:blipFill>
        <p:spPr bwMode="auto">
          <a:xfrm>
            <a:off x="3357746" y="3004771"/>
            <a:ext cx="5556738" cy="848458"/>
          </a:xfrm>
          <a:prstGeom prst="rect">
            <a:avLst/>
          </a:prstGeom>
          <a:effectLst>
            <a:outerShdw blurRad="50800" dist="38100" dir="5400000" algn="t" rotWithShape="0">
              <a:prstClr val="black">
                <a:alpha val="40000"/>
              </a:prstClr>
            </a:outerShdw>
          </a:effectLst>
        </p:spPr>
      </p:pic>
      <p:pic>
        <p:nvPicPr>
          <p:cNvPr id="2097165" name="Picture 2" descr="http://www.secretariat.ntust.edu.tw/ezfiles/20/1020/img/1688/09.png"/>
          <p:cNvPicPr>
            <a:picLocks noChangeAspect="1" noChangeArrowheads="1"/>
          </p:cNvPicPr>
          <p:nvPr/>
        </p:nvPicPr>
        <p:blipFill>
          <a:blip r:embed="rId4" cstate="print"/>
          <a:srcRect/>
          <a:stretch>
            <a:fillRect/>
          </a:stretch>
        </p:blipFill>
        <p:spPr bwMode="auto">
          <a:xfrm>
            <a:off x="964866" y="1628181"/>
            <a:ext cx="6260123" cy="1186962"/>
          </a:xfrm>
          <a:prstGeom prst="rect">
            <a:avLst/>
          </a:prstGeom>
          <a:noFill/>
          <a:ln>
            <a:noFill/>
          </a:ln>
          <a:effectLst>
            <a:outerShdw blurRad="63500" sx="102000" sy="102000" algn="ctr" rotWithShape="0">
              <a:prstClr val="black">
                <a:alpha val="40000"/>
              </a:prstClr>
            </a:outerShdw>
          </a:effectLst>
        </p:spPr>
      </p:pic>
      <p:pic>
        <p:nvPicPr>
          <p:cNvPr id="2097166" name="圖片 7"/>
          <p:cNvPicPr>
            <a:picLocks noChangeAspect="1"/>
          </p:cNvPicPr>
          <p:nvPr/>
        </p:nvPicPr>
        <p:blipFill>
          <a:blip r:embed="rId5"/>
          <a:stretch>
            <a:fillRect/>
          </a:stretch>
        </p:blipFill>
        <p:spPr>
          <a:xfrm>
            <a:off x="2493650" y="4226628"/>
            <a:ext cx="4266522" cy="930565"/>
          </a:xfrm>
          <a:prstGeom prst="rect">
            <a:avLst/>
          </a:prstGeom>
        </p:spPr>
      </p:pic>
    </p:spTree>
  </p:cSld>
  <p:clrMapOvr>
    <a:masterClrMapping/>
  </p:clrMapOvr>
</p:sld>
</file>

<file path=ppt/theme/theme1.xml><?xml version="1.0" encoding="utf-8"?>
<a:theme xmlns:a="http://schemas.openxmlformats.org/drawingml/2006/main" name="template">
  <a:themeElements>
    <a:clrScheme name="template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316754</TotalTime>
  <Words>882</Words>
  <Application>Microsoft Office PowerPoint</Application>
  <PresentationFormat>A4 紙張 (210x297 公釐)</PresentationFormat>
  <Paragraphs>94</Paragraphs>
  <Slides>11</Slides>
  <Notes>11</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11</vt:i4>
      </vt:variant>
    </vt:vector>
  </HeadingPairs>
  <TitlesOfParts>
    <vt:vector size="15" baseType="lpstr">
      <vt:lpstr>Noto Sans Symbols</vt:lpstr>
      <vt:lpstr>Arial</vt:lpstr>
      <vt:lpstr>Times New Roman</vt:lpstr>
      <vt:lpstr>template</vt:lpstr>
      <vt:lpstr>Progress Report</vt:lpstr>
      <vt:lpstr>本次進度:研究背景與目標</vt:lpstr>
      <vt:lpstr>本次進度:PCS(Profile Connection Space)</vt:lpstr>
      <vt:lpstr>本次進度:PCS(Profile Connection Space)</vt:lpstr>
      <vt:lpstr>本次進度:PCS(Profile Connection Space)</vt:lpstr>
      <vt:lpstr>本次進度:Display ICC Profile結構</vt:lpstr>
      <vt:lpstr>本次進度:Matrix-based Display Profile</vt:lpstr>
      <vt:lpstr>本次進度:Matrix-based Display Profile</vt:lpstr>
      <vt:lpstr>本次進度:Matrix-based Display Profile</vt:lpstr>
      <vt:lpstr>本次進度:Matrix-based Display Profile</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Embedded CMOS Image Sensor System Design and Implementation</dc:title>
  <dc:creator>mblin</dc:creator>
  <cp:lastModifiedBy>sis ila</cp:lastModifiedBy>
  <cp:revision>2471</cp:revision>
  <dcterms:created xsi:type="dcterms:W3CDTF">2003-02-17T16:04:03Z</dcterms:created>
  <dcterms:modified xsi:type="dcterms:W3CDTF">2026-09-19T07:46:29Z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c323e086d3b141ca89c275423e00507f</vt:lpwstr>
  </property>
</Properties>
</file>