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1"/>
  </p:notesMasterIdLst>
  <p:sldIdLst>
    <p:sldId id="277" r:id="rId2"/>
    <p:sldId id="1994" r:id="rId3"/>
    <p:sldId id="1998" r:id="rId4"/>
    <p:sldId id="2001" r:id="rId5"/>
    <p:sldId id="2008" r:id="rId6"/>
    <p:sldId id="2013" r:id="rId7"/>
    <p:sldId id="2019" r:id="rId8"/>
    <p:sldId id="2022" r:id="rId9"/>
    <p:sldId id="286" r:id="rId10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上次進度" id="{7189DFBE-4EEB-4F74-853B-C02E818AF80E}">
          <p14:sldIdLst>
            <p14:sldId id="1994"/>
            <p14:sldId id="1998"/>
            <p14:sldId id="2001"/>
            <p14:sldId id="2008"/>
            <p14:sldId id="2013"/>
          </p14:sldIdLst>
        </p14:section>
        <p14:section name="DisplayCAL" id="{FA8538CB-EEBB-42F8-BEE8-82DA04CEC9C1}">
          <p14:sldIdLst>
            <p14:sldId id="2019"/>
            <p14:sldId id="2022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7CE84F3-28C3-443E-9E96-99CF82512B78}" styleName="深色樣式 1 - 輔色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78908" autoAdjust="0"/>
  </p:normalViewPr>
  <p:slideViewPr>
    <p:cSldViewPr snapToGrid="0">
      <p:cViewPr varScale="1">
        <p:scale>
          <a:sx n="75" d="100"/>
          <a:sy n="75" d="100"/>
        </p:scale>
        <p:origin x="1892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951778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altLang="zh-TW" dirty="0" err="1"/>
              <a:t>DisplayCAL</a:t>
            </a:r>
            <a:r>
              <a:rPr lang="en-US" altLang="zh-TW" dirty="0"/>
              <a:t> </a:t>
            </a:r>
            <a:r>
              <a:rPr lang="zh-TW" altLang="en-US" dirty="0"/>
              <a:t>無法量測 </a:t>
            </a:r>
            <a:r>
              <a:rPr lang="en-US" altLang="zh-TW" dirty="0"/>
              <a:t>DICOM</a:t>
            </a:r>
            <a:r>
              <a:rPr lang="zh-TW" altLang="en-US" dirty="0"/>
              <a:t> 所以並無數據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374330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9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image" Target="../media/image6.gi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991195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校正檔案，</a:t>
            </a:r>
            <a:r>
              <a:rPr lang="zh-TW" altLang="en-US" sz="1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最終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能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提供跨平台的 Device Profile 格式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的色彩描述檔案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，使不同裝置之間的色彩資料可以進行轉換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52120" y="2000250"/>
            <a:ext cx="3047912" cy="377401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42607" cy="3435350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79320"/>
            <a:ext cx="2338793" cy="1363981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Display ICC 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結構</a:t>
            </a:r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luminance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關係相符的 linear RGB 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9DF41D-9E06-E236-CA43-60889F6EE310}"/>
                </a:ext>
              </a:extLst>
            </p:cNvPr>
            <p:cNvSpPr/>
            <p:nvPr/>
          </p:nvSpPr>
          <p:spPr>
            <a:xfrm>
              <a:off x="2847685" y="3838713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:a16="http://schemas.microsoft.com/office/drawing/2014/main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2DAC1A8A-F13A-5508-510D-5274EB3BC2A2}"/>
              </a:ext>
            </a:extLst>
          </p:cNvPr>
          <p:cNvSpPr txBox="1"/>
          <p:nvPr/>
        </p:nvSpPr>
        <p:spPr>
          <a:xfrm>
            <a:off x="609602" y="14184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單位表示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26" r="12908"/>
          <a:stretch/>
        </p:blipFill>
        <p:spPr>
          <a:xfrm>
            <a:off x="5985932" y="1587206"/>
            <a:ext cx="3310466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上次進度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EDFB633-2563-4B81-6A49-DCC452247D25}"/>
              </a:ext>
            </a:extLst>
          </p:cNvPr>
          <p:cNvSpPr txBox="1"/>
          <p:nvPr/>
        </p:nvSpPr>
        <p:spPr>
          <a:xfrm>
            <a:off x="609602" y="935858"/>
            <a:ext cx="4004731" cy="6728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軟體校正流程</a:t>
            </a:r>
            <a:endParaRPr lang="en-US" altLang="zh-TW" sz="14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38617A3-BEC8-75FF-D84E-E2B6A66A65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951" b="14376"/>
          <a:stretch/>
        </p:blipFill>
        <p:spPr>
          <a:xfrm>
            <a:off x="6082787" y="1528525"/>
            <a:ext cx="2625434" cy="269966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CF60E74-4101-FA8D-693A-DF8294D7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291" y="4385734"/>
            <a:ext cx="2616913" cy="1962684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9C905F1E-947E-EBA9-7979-AEDA8750B391}"/>
              </a:ext>
            </a:extLst>
          </p:cNvPr>
          <p:cNvGrpSpPr/>
          <p:nvPr/>
        </p:nvGrpSpPr>
        <p:grpSpPr>
          <a:xfrm>
            <a:off x="1186542" y="1528525"/>
            <a:ext cx="4749803" cy="4819894"/>
            <a:chOff x="1117600" y="1469258"/>
            <a:chExt cx="4749803" cy="4819894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AEF40E0A-D220-62E9-2407-BDEBBBC48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t="78" r="30508"/>
            <a:stretch/>
          </p:blipFill>
          <p:spPr>
            <a:xfrm>
              <a:off x="1117600" y="1469258"/>
              <a:ext cx="4749803" cy="4819894"/>
            </a:xfrm>
            <a:prstGeom prst="rect">
              <a:avLst/>
            </a:prstGeom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5788B5EF-BE77-F6F5-9F48-EAFC0F8373A4}"/>
                </a:ext>
              </a:extLst>
            </p:cNvPr>
            <p:cNvSpPr/>
            <p:nvPr/>
          </p:nvSpPr>
          <p:spPr>
            <a:xfrm>
              <a:off x="1762702" y="4401699"/>
              <a:ext cx="1707120" cy="1656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767A744A-A8EF-C1C4-C99F-1658A76B416F}"/>
                </a:ext>
              </a:extLst>
            </p:cNvPr>
            <p:cNvSpPr/>
            <p:nvPr/>
          </p:nvSpPr>
          <p:spPr>
            <a:xfrm flipV="1">
              <a:off x="1210401" y="5154840"/>
              <a:ext cx="2907122" cy="1656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8158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B361B4DF-3145-D829-F41F-4DFE4B01E588}"/>
              </a:ext>
            </a:extLst>
          </p:cNvPr>
          <p:cNvSpPr txBox="1"/>
          <p:nvPr/>
        </p:nvSpPr>
        <p:spPr>
          <a:xfrm>
            <a:off x="609602" y="935857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色溫校正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在不同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與色溫下量測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校正後的色溫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色溫誤差都在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300K 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以內，符合標準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142C8726-E890-9988-40FC-8984FDA21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en-US" altLang="zh-TW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</p:txBody>
      </p:sp>
      <p:graphicFrame>
        <p:nvGraphicFramePr>
          <p:cNvPr id="2" name="表格 24">
            <a:extLst>
              <a:ext uri="{FF2B5EF4-FFF2-40B4-BE49-F238E27FC236}">
                <a16:creationId xmlns:a16="http://schemas.microsoft.com/office/drawing/2014/main" id="{E1D31DB3-F9C5-1A79-A106-241D304FB8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46943"/>
              </p:ext>
            </p:extLst>
          </p:nvPr>
        </p:nvGraphicFramePr>
        <p:xfrm>
          <a:off x="3010867" y="2389010"/>
          <a:ext cx="3884265" cy="397603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21072">
                  <a:extLst>
                    <a:ext uri="{9D8B030D-6E8A-4147-A177-3AD203B41FA5}">
                      <a16:colId xmlns:a16="http://schemas.microsoft.com/office/drawing/2014/main" val="58910734"/>
                    </a:ext>
                  </a:extLst>
                </a:gridCol>
                <a:gridCol w="1174931">
                  <a:extLst>
                    <a:ext uri="{9D8B030D-6E8A-4147-A177-3AD203B41FA5}">
                      <a16:colId xmlns:a16="http://schemas.microsoft.com/office/drawing/2014/main" val="2217758771"/>
                    </a:ext>
                  </a:extLst>
                </a:gridCol>
                <a:gridCol w="1688262">
                  <a:extLst>
                    <a:ext uri="{9D8B030D-6E8A-4147-A177-3AD203B41FA5}">
                      <a16:colId xmlns:a16="http://schemas.microsoft.com/office/drawing/2014/main" val="3036497903"/>
                    </a:ext>
                  </a:extLst>
                </a:gridCol>
              </a:tblGrid>
              <a:tr h="30665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Gamma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色溫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zh-TW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量測色溫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47486063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1.8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5352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00759405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6419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97251436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9046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244588434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2.0</a:t>
                      </a: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5351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100677602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6545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4090125723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9045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89583938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2.2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5314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098664419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6452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1683948243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9047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785709647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2.6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5400</a:t>
                      </a:r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5404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559488585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6544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3354390549"/>
                  </a:ext>
                </a:extLst>
              </a:tr>
              <a:tr h="305782">
                <a:tc>
                  <a:txBody>
                    <a:bodyPr/>
                    <a:lstStyle/>
                    <a:p>
                      <a:pPr algn="ctr"/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9300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1800" b="0" kern="0" dirty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9048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119050" marR="119050" marT="0" marB="0" anchor="ctr"/>
                </a:tc>
                <a:extLst>
                  <a:ext uri="{0D108BD9-81ED-4DB2-BD59-A6C34878D82A}">
                    <a16:rowId xmlns:a16="http://schemas.microsoft.com/office/drawing/2014/main" val="682335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6607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321052</TotalTime>
  <Words>676</Words>
  <Application>Microsoft Office PowerPoint</Application>
  <PresentationFormat>A4 紙張 (210x297 公釐)</PresentationFormat>
  <Paragraphs>106</Paragraphs>
  <Slides>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5" baseType="lpstr">
      <vt:lpstr>Noto Sans Symbols</vt:lpstr>
      <vt:lpstr>標楷體</vt:lpstr>
      <vt:lpstr>Arial</vt:lpstr>
      <vt:lpstr>Cambria Math</vt:lpstr>
      <vt:lpstr>Times New Roman</vt:lpstr>
      <vt:lpstr>template</vt:lpstr>
      <vt:lpstr>Progress Report</vt:lpstr>
      <vt:lpstr>上次進度: 研究目標與 ICC Profile</vt:lpstr>
      <vt:lpstr>上次進度: Display ICC Profile 結構</vt:lpstr>
      <vt:lpstr>上次進度: Display ICC Profile 結構</vt:lpstr>
      <vt:lpstr>上次進度: Display ICC Profile 結構</vt:lpstr>
      <vt:lpstr>上次進度: ICC Profile 架構</vt:lpstr>
      <vt:lpstr>本次進度: DisplayCAL</vt:lpstr>
      <vt:lpstr>本次進度: DisplayCAL 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2879</cp:revision>
  <dcterms:created xsi:type="dcterms:W3CDTF">2003-02-17T16:04:03Z</dcterms:created>
  <dcterms:modified xsi:type="dcterms:W3CDTF">2026-10-06T04:04:04Z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