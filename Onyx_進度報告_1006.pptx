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13"/>
  </p:notesMasterIdLst>
  <p:sldIdLst>
    <p:sldId id="277" r:id="rId2"/>
    <p:sldId id="1994" r:id="rId3"/>
    <p:sldId id="1998" r:id="rId4"/>
    <p:sldId id="2001" r:id="rId5"/>
    <p:sldId id="2008" r:id="rId6"/>
    <p:sldId id="2013" r:id="rId7"/>
    <p:sldId id="2019" r:id="rId8"/>
    <p:sldId id="2022" r:id="rId9"/>
    <p:sldId id="2024" r:id="rId10"/>
    <p:sldId id="2023" r:id="rId11"/>
    <p:sldId id="286" r:id="rId12"/>
  </p:sldIdLst>
  <p:sldSz cx="9906000" cy="6858000" type="A4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Head" id="{9114FBB3-8B00-422B-ACC9-030F49096E83}">
          <p14:sldIdLst>
            <p14:sldId id="277"/>
          </p14:sldIdLst>
        </p14:section>
        <p14:section name="上次進度" id="{7189DFBE-4EEB-4F74-853B-C02E818AF80E}">
          <p14:sldIdLst>
            <p14:sldId id="1994"/>
            <p14:sldId id="1998"/>
            <p14:sldId id="2001"/>
            <p14:sldId id="2008"/>
            <p14:sldId id="2013"/>
          </p14:sldIdLst>
        </p14:section>
        <p14:section name="DisplayCAL" id="{FA8538CB-EEBB-42F8-BEE8-82DA04CEC9C1}">
          <p14:sldIdLst>
            <p14:sldId id="2019"/>
            <p14:sldId id="2022"/>
            <p14:sldId id="2024"/>
            <p14:sldId id="2023"/>
          </p14:sldIdLst>
        </p14:section>
        <p14:section name="End" id="{33EEDC85-A799-4CB3-BF13-F4955B8630BE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10902143" initials="m" lastIdx="1" clrIdx="0"/>
  <p:cmAuthor id="2" name="James Kuo" initials="JK" lastIdx="1" clrIdx="1"/>
  <p:cmAuthor id="3" name="昇鴻 李" initials="昇鴻" lastIdx="1" clrIdx="2">
    <p:extLst>
      <p:ext uri="{19B8F6BF-5375-455C-9EA6-DF929625EA0E}">
        <p15:presenceInfo xmlns:p15="http://schemas.microsoft.com/office/powerpoint/2012/main" userId="72a70edeaa250c2c" providerId="Windows Live"/>
      </p:ext>
    </p:extLst>
  </p:cmAuthor>
  <p:cmAuthor id="4" name="宏德 林" initials="宏林" lastIdx="2" clrIdx="3">
    <p:extLst>
      <p:ext uri="{19B8F6BF-5375-455C-9EA6-DF929625EA0E}">
        <p15:presenceInfo xmlns:p15="http://schemas.microsoft.com/office/powerpoint/2012/main" userId="933d0002216be5bd" providerId="Windows Live"/>
      </p:ext>
    </p:extLst>
  </p:cmAuthor>
  <p:cmAuthor id="5" name="LI CHIH HSIANG" initials="LCH" lastIdx="6" clrIdx="4">
    <p:extLst>
      <p:ext uri="{19B8F6BF-5375-455C-9EA6-DF929625EA0E}">
        <p15:presenceInfo xmlns:p15="http://schemas.microsoft.com/office/powerpoint/2012/main" userId="LI CHIH HSI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000000"/>
    <a:srgbClr val="00B050"/>
    <a:srgbClr val="0057C0"/>
    <a:srgbClr val="FFC000"/>
    <a:srgbClr val="FFFFFF"/>
    <a:srgbClr val="8958B1"/>
    <a:srgbClr val="C58DEF"/>
    <a:srgbClr val="993366"/>
    <a:srgbClr val="581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433FD4-3D7A-4217-8E80-1680D7E9CC69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rgbClr val="E6E6E6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6E6E6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eCell>
    <a:sw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3E919B74-BC6B-4152-9BDB-477648A112FC}" styleName="Table_1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6EF"/>
          </a:solidFill>
        </a:fill>
      </a:tcStyle>
    </a:wholeTbl>
    <a:band1H>
      <a:tcStyle>
        <a:tcBdr/>
        <a:fill>
          <a:solidFill>
            <a:srgbClr val="CAECDD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AECDD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7CE84F3-28C3-443E-9E96-99CF82512B78}" styleName="深色樣式 1 - 輔色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CAF9ED-07DC-4A11-8D7F-57B35C25682E}" styleName="中等深淺樣式 1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32" autoAdjust="0"/>
    <p:restoredTop sz="78908" autoAdjust="0"/>
  </p:normalViewPr>
  <p:slideViewPr>
    <p:cSldViewPr snapToGrid="0">
      <p:cViewPr varScale="1">
        <p:scale>
          <a:sx n="75" d="100"/>
          <a:sy n="75" d="100"/>
        </p:scale>
        <p:origin x="1892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0" name="Google Shape;4;n"/>
          <p:cNvSpPr txBox="1">
            <a:spLocks noGrp="1"/>
          </p:cNvSpPr>
          <p:nvPr>
            <p:ph type="dt" idx="10"/>
          </p:nvPr>
        </p:nvSpPr>
        <p:spPr>
          <a:xfrm>
            <a:off x="4138613" y="0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1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62038" y="735013"/>
            <a:ext cx="5197475" cy="3598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62" name="Google Shape;6;n"/>
          <p:cNvSpPr txBox="1">
            <a:spLocks noGrp="1"/>
          </p:cNvSpPr>
          <p:nvPr>
            <p:ph type="body" idx="1"/>
          </p:nvPr>
        </p:nvSpPr>
        <p:spPr>
          <a:xfrm>
            <a:off x="962025" y="4567238"/>
            <a:ext cx="5391150" cy="430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3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34475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4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38613" y="9134475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102089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6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587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525277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dirty="0"/>
              <a:t>我們的目標是在目前的 </a:t>
            </a:r>
            <a:r>
              <a:rPr lang="en-US" altLang="zh-TW" dirty="0"/>
              <a:t>Tool </a:t>
            </a:r>
            <a:r>
              <a:rPr lang="zh-TW" altLang="en-US" dirty="0"/>
              <a:t>中加入 </a:t>
            </a:r>
            <a:r>
              <a:rPr lang="en-US" altLang="zh-TW" dirty="0"/>
              <a:t>ICC Profile </a:t>
            </a:r>
            <a:r>
              <a:rPr lang="zh-TW" altLang="en-US" dirty="0"/>
              <a:t>的檢視與編輯功能，並根據顯示器量測資料產生對應色溫、</a:t>
            </a:r>
            <a:r>
              <a:rPr lang="en-US" altLang="zh-TW" dirty="0"/>
              <a:t>Gamma </a:t>
            </a:r>
            <a:r>
              <a:rPr lang="zh-TW" altLang="en-US" dirty="0"/>
              <a:t>及 </a:t>
            </a:r>
            <a:r>
              <a:rPr lang="en-US" altLang="zh-TW" dirty="0"/>
              <a:t>DICOM</a:t>
            </a:r>
            <a:r>
              <a:rPr lang="zh-TW" altLang="en-US" dirty="0"/>
              <a:t>目標的軟體校正資料，最後再與硬體校正的結果進行比較</a:t>
            </a:r>
            <a:endParaRPr lang="en-US" altLang="zh-TW" dirty="0"/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ICC Profile </a:t>
            </a:r>
            <a:r>
              <a:rPr lang="zh-TW" altLang="en-US" dirty="0"/>
              <a:t>是一種跨平台的裝置色彩描述檔，用來描述裝置的色彩特性，並提供</a:t>
            </a:r>
            <a:r>
              <a:rPr lang="en-US" altLang="zh-TW" dirty="0"/>
              <a:t>CMS</a:t>
            </a:r>
            <a:r>
              <a:rPr lang="zh-TW" altLang="en-US" dirty="0"/>
              <a:t>進行不同裝置之間色彩轉換所需的資訊。</a:t>
            </a:r>
            <a:endParaRPr lang="en-US" altLang="zh-TW" sz="1200" b="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112163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zh-TW" altLang="zh-TW" dirty="0"/>
              <a:t>ICC Profile 是一種具有固定資料結構的二進位 Profile 檔案。其主要結構由三部分組成：Profile Header、Profile Tag Table，以及 Profile Tagged Element Data。Header 告訴系統這個 Profile 的基本資訊；Tag Table 則像目錄，告訴系統 Profile 裡有哪些 Tag 以及資料在哪裡；真正的資料則放在 Tagged Element Data 裡。</a:t>
            </a:r>
            <a:endParaRPr lang="en-US" altLang="zh-TW" dirty="0"/>
          </a:p>
          <a:p>
            <a:pPr marL="0" indent="0">
              <a:lnSpc>
                <a:spcPct val="150000"/>
              </a:lnSpc>
            </a:pPr>
            <a:endParaRPr lang="en-US" altLang="zh-TW" baseline="0" dirty="0">
              <a:solidFill>
                <a:srgbClr val="000000"/>
              </a:solidFill>
              <a:ea typeface="標楷體" panose="03000509000000000000" pitchFamily="65" charset="-120"/>
            </a:endParaRPr>
          </a:p>
          <a:p>
            <a:pPr marL="0" indent="0"/>
            <a:r>
              <a:rPr lang="zh-TW" altLang="en-US" dirty="0"/>
              <a:t>範例的</a:t>
            </a:r>
            <a:r>
              <a:rPr lang="en-US" altLang="zh-TW" dirty="0"/>
              <a:t>ICC</a:t>
            </a:r>
            <a:r>
              <a:rPr lang="zh-TW" altLang="en-US" dirty="0"/>
              <a:t>是我使用</a:t>
            </a:r>
            <a:r>
              <a:rPr lang="en-US" altLang="zh-TW" dirty="0"/>
              <a:t>windows</a:t>
            </a:r>
            <a:r>
              <a:rPr lang="zh-TW" altLang="en-US" dirty="0"/>
              <a:t>校正後產生的</a:t>
            </a:r>
            <a:r>
              <a:rPr lang="en-US" altLang="zh-TW" dirty="0"/>
              <a:t>ICC</a:t>
            </a:r>
            <a:r>
              <a:rPr lang="zh-TW" altLang="en-US" dirty="0"/>
              <a:t>檔案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494868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D7BE6-0C6A-24C7-EDCE-42FCC8CD5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63FA2D6-6572-94E0-F6B6-6A5BA50192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7639A5D-EDAF-4F81-B67C-950D2048D7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dirty="0"/>
              <a:t>描述 </a:t>
            </a:r>
            <a:r>
              <a:rPr lang="en-US" altLang="zh-TW" dirty="0"/>
              <a:t>RGB </a:t>
            </a:r>
            <a:r>
              <a:rPr lang="zh-TW" altLang="en-US" dirty="0"/>
              <a:t>輸入值與實際亮度響應之間的關係。它可以用 </a:t>
            </a:r>
            <a:r>
              <a:rPr lang="en-US" altLang="zh-TW" dirty="0"/>
              <a:t>Gamma </a:t>
            </a:r>
            <a:r>
              <a:rPr lang="zh-TW" altLang="en-US" dirty="0"/>
              <a:t>函數表示，也可以用 </a:t>
            </a:r>
            <a:r>
              <a:rPr lang="en-US" altLang="zh-TW" dirty="0"/>
              <a:t>LUT </a:t>
            </a:r>
            <a:r>
              <a:rPr lang="zh-TW" altLang="en-US" dirty="0"/>
              <a:t>表示。簡單來說，在進行 </a:t>
            </a:r>
            <a:r>
              <a:rPr lang="en-US" altLang="zh-TW" dirty="0"/>
              <a:t>RGB </a:t>
            </a:r>
            <a:r>
              <a:rPr lang="zh-TW" altLang="en-US" dirty="0"/>
              <a:t>到 </a:t>
            </a:r>
            <a:r>
              <a:rPr lang="en-US" altLang="zh-TW" dirty="0"/>
              <a:t>XYZ </a:t>
            </a:r>
            <a:r>
              <a:rPr lang="zh-TW" altLang="en-US" dirty="0"/>
              <a:t>的轉換時，</a:t>
            </a:r>
            <a:r>
              <a:rPr lang="en-US" altLang="zh-TW" dirty="0"/>
              <a:t>TRC </a:t>
            </a:r>
            <a:r>
              <a:rPr lang="zh-TW" altLang="en-US" dirty="0"/>
              <a:t>可以用來將非線性的 </a:t>
            </a:r>
            <a:r>
              <a:rPr lang="en-US" altLang="zh-TW" dirty="0"/>
              <a:t>RGB </a:t>
            </a:r>
            <a:r>
              <a:rPr lang="zh-TW" altLang="en-US" dirty="0"/>
              <a:t>數值轉換成線性 </a:t>
            </a:r>
            <a:r>
              <a:rPr lang="en-US" altLang="zh-TW" dirty="0"/>
              <a:t>RGB</a:t>
            </a:r>
            <a:r>
              <a:rPr lang="zh-TW" altLang="en-US" dirty="0"/>
              <a:t>。</a:t>
            </a:r>
            <a:endParaRPr lang="en-US" altLang="zh-TW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dirty="0"/>
              <a:t>描述裝置線性 </a:t>
            </a:r>
            <a:r>
              <a:rPr lang="en-US" altLang="zh-TW" dirty="0"/>
              <a:t>RGB </a:t>
            </a:r>
            <a:r>
              <a:rPr lang="zh-TW" altLang="en-US" dirty="0"/>
              <a:t>與 </a:t>
            </a:r>
            <a:r>
              <a:rPr lang="en-US" altLang="zh-TW" dirty="0"/>
              <a:t>XYZ </a:t>
            </a:r>
            <a:r>
              <a:rPr lang="zh-TW" altLang="en-US" dirty="0"/>
              <a:t>之間的色彩關係，通常以 </a:t>
            </a:r>
            <a:r>
              <a:rPr lang="en-US" altLang="zh-TW" dirty="0"/>
              <a:t>3×3 </a:t>
            </a:r>
            <a:r>
              <a:rPr lang="zh-TW" altLang="en-US" dirty="0"/>
              <a:t>矩陣表示，用來描述 </a:t>
            </a:r>
            <a:r>
              <a:rPr lang="en-US" altLang="zh-TW" dirty="0"/>
              <a:t>RGB </a:t>
            </a:r>
            <a:r>
              <a:rPr lang="zh-TW" altLang="en-US" dirty="0"/>
              <a:t>三原色的色度特性。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8ED7604-660E-D030-99B4-A4E74D119D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806220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C1817-9E04-5A55-E8CC-FD3FF3F82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299D6F9-1619-B844-57EE-48AA0121A2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7B0488B-586D-2F37-7E25-09C139D9BB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341146E-6544-F922-461C-1EB94C558E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905305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B7DC1-8982-FBBF-D79C-E8A85E11B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47EDAF3-B8EA-0C16-8FC2-00C5C1AACC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AFC5512-2ACA-40AC-FE98-A0E260C52E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13566B9-8C8D-F476-4186-FD06F269D3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456173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951778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en-US" altLang="zh-TW" dirty="0" err="1"/>
              <a:t>DisplayCAL</a:t>
            </a:r>
            <a:r>
              <a:rPr lang="en-US" altLang="zh-TW" dirty="0"/>
              <a:t> </a:t>
            </a:r>
            <a:r>
              <a:rPr lang="zh-TW" altLang="en-US" dirty="0"/>
              <a:t>無法量測 </a:t>
            </a:r>
            <a:r>
              <a:rPr lang="en-US" altLang="zh-TW" dirty="0"/>
              <a:t>DICOM</a:t>
            </a:r>
            <a:r>
              <a:rPr lang="zh-TW" altLang="en-US" dirty="0"/>
              <a:t> 所以並無數據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374330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en-US" altLang="zh-TW" dirty="0" err="1"/>
              <a:t>DisplayCAL</a:t>
            </a:r>
            <a:r>
              <a:rPr lang="en-US" altLang="zh-TW" dirty="0"/>
              <a:t> </a:t>
            </a:r>
            <a:r>
              <a:rPr lang="zh-TW" altLang="en-US" dirty="0"/>
              <a:t>無法量測 </a:t>
            </a:r>
            <a:r>
              <a:rPr lang="en-US" altLang="zh-TW" dirty="0"/>
              <a:t>DICOM</a:t>
            </a:r>
            <a:r>
              <a:rPr lang="zh-TW" altLang="en-US" dirty="0"/>
              <a:t> 所以並無數據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749043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en-US" altLang="zh-TW" dirty="0" err="1"/>
              <a:t>DisplayCAL</a:t>
            </a:r>
            <a:r>
              <a:rPr lang="en-US" altLang="zh-TW" dirty="0"/>
              <a:t> </a:t>
            </a:r>
            <a:r>
              <a:rPr lang="zh-TW" altLang="en-US" dirty="0"/>
              <a:t>無法量測 </a:t>
            </a:r>
            <a:r>
              <a:rPr lang="en-US" altLang="zh-TW" dirty="0"/>
              <a:t>DICOM</a:t>
            </a:r>
            <a:r>
              <a:rPr lang="zh-TW" altLang="en-US" dirty="0"/>
              <a:t> 所以並無數據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91976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2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n-US" altLang="zh-TW" dirty="0"/>
          </a:p>
        </p:txBody>
      </p:sp>
      <p:sp>
        <p:nvSpPr>
          <p:cNvPr id="1048643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11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154148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21;p50"/>
          <p:cNvSpPr txBox="1"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75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7" name="Google Shape;22;p50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90"/>
              </a:spcBef>
              <a:spcAft>
                <a:spcPts val="0"/>
              </a:spcAft>
              <a:buSzPts val="1950"/>
              <a:buNone/>
              <a:defRPr sz="1950"/>
            </a:lvl1pPr>
            <a:lvl2pPr lvl="1" algn="ctr">
              <a:spcBef>
                <a:spcPts val="325"/>
              </a:spcBef>
              <a:spcAft>
                <a:spcPts val="0"/>
              </a:spcAft>
              <a:buSzPts val="1625"/>
              <a:buNone/>
              <a:defRPr sz="1625"/>
            </a:lvl2pPr>
            <a:lvl3pPr lvl="2" algn="ctr">
              <a:spcBef>
                <a:spcPts val="293"/>
              </a:spcBef>
              <a:spcAft>
                <a:spcPts val="0"/>
              </a:spcAft>
              <a:buSzPts val="1463"/>
              <a:buFont typeface="Times New Roman"/>
              <a:buNone/>
              <a:defRPr sz="1463"/>
            </a:lvl3pPr>
            <a:lvl4pPr lvl="3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4pPr>
            <a:lvl5pPr lvl="4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5pPr>
            <a:lvl6pPr lvl="5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6pPr>
            <a:lvl7pPr lvl="6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7pPr>
            <a:lvl8pPr lvl="7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8pPr>
            <a:lvl9pPr lvl="8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9pPr>
          </a:lstStyle>
          <a:p>
            <a:endParaRPr/>
          </a:p>
        </p:txBody>
      </p:sp>
      <p:sp>
        <p:nvSpPr>
          <p:cNvPr id="1048638" name="Google Shape;23;p5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39" name="Google Shape;24;p5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40" name="Google Shape;25;p5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Google Shape;37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7" name="Google Shape;38;p5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48" name="Google Shape;39;p5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  <p:sp>
        <p:nvSpPr>
          <p:cNvPr id="1048649" name="Google Shape;40;p54"/>
          <p:cNvSpPr txBox="1">
            <a:spLocks noGrp="1"/>
          </p:cNvSpPr>
          <p:nvPr>
            <p:ph type="body" idx="3"/>
          </p:nvPr>
        </p:nvSpPr>
        <p:spPr>
          <a:xfrm>
            <a:off x="4645027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50" name="Google Shape;41;p54"/>
          <p:cNvSpPr txBox="1">
            <a:spLocks noGrp="1"/>
          </p:cNvSpPr>
          <p:nvPr>
            <p:ph type="body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Google Shape;43;p55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50;p58"/>
          <p:cNvSpPr txBox="1">
            <a:spLocks noGrp="1"/>
          </p:cNvSpPr>
          <p:nvPr>
            <p:ph type="title"/>
          </p:nvPr>
        </p:nvSpPr>
        <p:spPr>
          <a:xfrm>
            <a:off x="1792290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5" name="Google Shape;51;p58"/>
          <p:cNvSpPr>
            <a:spLocks noGrp="1"/>
          </p:cNvSpPr>
          <p:nvPr>
            <p:ph type="pic" idx="2"/>
          </p:nvPr>
        </p:nvSpPr>
        <p:spPr>
          <a:xfrm>
            <a:off x="1792290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rgbClr val="FF505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rgbClr val="6699FF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56" name="Google Shape;52;p58"/>
          <p:cNvSpPr txBox="1">
            <a:spLocks noGrp="1"/>
          </p:cNvSpPr>
          <p:nvPr>
            <p:ph type="body" idx="1"/>
          </p:nvPr>
        </p:nvSpPr>
        <p:spPr>
          <a:xfrm>
            <a:off x="1792290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Google Shape;54;p59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5" name="Google Shape;55;p59"/>
          <p:cNvSpPr txBox="1">
            <a:spLocks noGrp="1"/>
          </p:cNvSpPr>
          <p:nvPr>
            <p:ph type="body" idx="1"/>
          </p:nvPr>
        </p:nvSpPr>
        <p:spPr>
          <a:xfrm rot="5400000">
            <a:off x="2593975" y="-485775"/>
            <a:ext cx="4800600" cy="866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57;p60"/>
          <p:cNvSpPr txBox="1">
            <a:spLocks noGrp="1"/>
          </p:cNvSpPr>
          <p:nvPr>
            <p:ph type="title"/>
          </p:nvPr>
        </p:nvSpPr>
        <p:spPr>
          <a:xfrm rot="5400000">
            <a:off x="4857751" y="2419350"/>
            <a:ext cx="5638800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8" name="Google Shape;58;p60"/>
          <p:cNvSpPr txBox="1">
            <a:spLocks noGrp="1"/>
          </p:cNvSpPr>
          <p:nvPr>
            <p:ph type="body" idx="1"/>
          </p:nvPr>
        </p:nvSpPr>
        <p:spPr>
          <a:xfrm rot="5400000">
            <a:off x="742951" y="476250"/>
            <a:ext cx="5638800" cy="59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1_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Title 1"/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1048580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447800"/>
            <a:ext cx="8001000" cy="4800600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Title of the Slide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48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cxnSp>
        <p:nvCxnSpPr>
          <p:cNvPr id="3145728" name="Google Shape;11;p48"/>
          <p:cNvCxnSpPr>
            <a:cxnSpLocks/>
          </p:cNvCxnSpPr>
          <p:nvPr/>
        </p:nvCxnSpPr>
        <p:spPr>
          <a:xfrm>
            <a:off x="412750" y="533400"/>
            <a:ext cx="89979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29" name="Google Shape;12;p48"/>
          <p:cNvCxnSpPr>
            <a:cxnSpLocks/>
          </p:cNvCxnSpPr>
          <p:nvPr/>
        </p:nvCxnSpPr>
        <p:spPr>
          <a:xfrm>
            <a:off x="577850" y="228600"/>
            <a:ext cx="0" cy="99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30" name="Google Shape;13;p48"/>
          <p:cNvCxnSpPr>
            <a:cxnSpLocks/>
          </p:cNvCxnSpPr>
          <p:nvPr/>
        </p:nvCxnSpPr>
        <p:spPr>
          <a:xfrm>
            <a:off x="495300" y="6400800"/>
            <a:ext cx="8915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577" name="Google Shape;14;p48"/>
          <p:cNvSpPr txBox="1">
            <a:spLocks noGrp="1"/>
          </p:cNvSpPr>
          <p:nvPr>
            <p:ph type="body" idx="1"/>
          </p:nvPr>
        </p:nvSpPr>
        <p:spPr>
          <a:xfrm>
            <a:off x="660400" y="1447800"/>
            <a:ext cx="866775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8578" name="Google Shape;15;p48"/>
          <p:cNvSpPr txBox="1"/>
          <p:nvPr/>
        </p:nvSpPr>
        <p:spPr>
          <a:xfrm>
            <a:off x="8510587" y="6502400"/>
            <a:ext cx="81756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52" name="Google Shape;16;p48"/>
          <p:cNvPicPr preferRelativeResize="0">
            <a:picLocks/>
          </p:cNvPicPr>
          <p:nvPr/>
        </p:nvPicPr>
        <p:blipFill rotWithShape="1">
          <a:blip r:embed="rId11">
            <a:alphaModFix/>
          </a:blip>
          <a:srcRect/>
          <a:stretch>
            <a:fillRect/>
          </a:stretch>
        </p:blipFill>
        <p:spPr>
          <a:xfrm>
            <a:off x="57150" y="6446838"/>
            <a:ext cx="1827213" cy="3603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png"/><Relationship Id="rId4" Type="http://schemas.openxmlformats.org/officeDocument/2006/relationships/image" Target="../media/image6.gi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Rectangle 2"/>
          <p:cNvSpPr>
            <a:spLocks noGrp="1" noChangeArrowheads="1"/>
          </p:cNvSpPr>
          <p:nvPr>
            <p:ph type="title"/>
          </p:nvPr>
        </p:nvSpPr>
        <p:spPr>
          <a:xfrm>
            <a:off x="668908" y="1829704"/>
            <a:ext cx="8568183" cy="1728539"/>
          </a:xfrm>
        </p:spPr>
        <p:txBody>
          <a:bodyPr/>
          <a:lstStyle/>
          <a:p>
            <a:pPr algn="ctr" eaLnBrk="1" hangingPunct="1"/>
            <a:r>
              <a:rPr lang="en-US" altLang="zh-TW" sz="3200" b="1" dirty="0">
                <a:solidFill>
                  <a:srgbClr val="0057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Progress Report</a:t>
            </a:r>
          </a:p>
        </p:txBody>
      </p:sp>
      <p:sp>
        <p:nvSpPr>
          <p:cNvPr id="1048582" name="Rectangle 2"/>
          <p:cNvSpPr txBox="1">
            <a:spLocks noChangeArrowheads="1"/>
          </p:cNvSpPr>
          <p:nvPr/>
        </p:nvSpPr>
        <p:spPr bwMode="auto">
          <a:xfrm>
            <a:off x="907104" y="3362630"/>
            <a:ext cx="8568183" cy="17285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pPr algn="ctr" eaLnBrk="1" hangingPunct="1"/>
            <a:endParaRPr lang="en-US" altLang="zh-TW" kern="0" dirty="0">
              <a:solidFill>
                <a:schemeClr val="tx1"/>
              </a:solidFill>
            </a:endParaRPr>
          </a:p>
        </p:txBody>
      </p:sp>
      <p:sp>
        <p:nvSpPr>
          <p:cNvPr id="1048583" name="Text Box 4"/>
          <p:cNvSpPr txBox="1">
            <a:spLocks noChangeArrowheads="1"/>
          </p:cNvSpPr>
          <p:nvPr/>
        </p:nvSpPr>
        <p:spPr bwMode="auto">
          <a:xfrm>
            <a:off x="1100262" y="4484365"/>
            <a:ext cx="7705476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Author : </a:t>
            </a:r>
          </a:p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BO-CHENG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Cheng-Yuan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Sheng-Yao</a:t>
            </a:r>
          </a:p>
        </p:txBody>
      </p:sp>
      <p:sp>
        <p:nvSpPr>
          <p:cNvPr id="1048584" name="Text Box 4"/>
          <p:cNvSpPr txBox="1">
            <a:spLocks noChangeArrowheads="1"/>
          </p:cNvSpPr>
          <p:nvPr/>
        </p:nvSpPr>
        <p:spPr bwMode="auto">
          <a:xfrm>
            <a:off x="1100262" y="5673486"/>
            <a:ext cx="7705476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b="1" dirty="0">
                <a:solidFill>
                  <a:srgbClr val="0057C0"/>
                </a:solidFill>
              </a:rPr>
              <a:t>Embedded System Software Design</a:t>
            </a:r>
            <a:endParaRPr lang="en-US" altLang="zh-TW" sz="2000" b="1" dirty="0">
              <a:solidFill>
                <a:srgbClr val="0057C0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609602" y="991195"/>
            <a:ext cx="8402051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研究目標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於</a:t>
            </a:r>
            <a:r>
              <a:rPr lang="en-US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ONYX Factory Tool </a:t>
            </a:r>
            <a:r>
              <a:rPr lang="zh-TW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中加入</a:t>
            </a:r>
            <a:r>
              <a:rPr lang="en-US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.</a:t>
            </a:r>
            <a:r>
              <a:rPr lang="en-US" altLang="zh-TW" sz="1800" kern="0" dirty="0" err="1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icc</a:t>
            </a:r>
            <a:r>
              <a:rPr lang="en-US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/.</a:t>
            </a:r>
            <a:r>
              <a:rPr lang="en-US" altLang="zh-TW" sz="1800" kern="0" dirty="0" err="1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icm</a:t>
            </a:r>
            <a:r>
              <a:rPr lang="en-US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檢視與編輯功能，產出色溫、</a:t>
            </a:r>
            <a:r>
              <a:rPr lang="en-US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 </a:t>
            </a:r>
            <a:r>
              <a:rPr lang="zh-TW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校正檔案，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最終</a:t>
            </a:r>
            <a:r>
              <a:rPr lang="zh-TW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en-US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AD board </a:t>
            </a:r>
            <a:r>
              <a:rPr lang="zh-TW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硬體校正結果進行比較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ICC Profile</a:t>
            </a:r>
          </a:p>
          <a:p>
            <a:pPr lvl="1">
              <a:lnSpc>
                <a:spcPts val="3000"/>
              </a:lnSpc>
            </a:pP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是建立開放、廠商中立、跨平台的色彩管理系統架構與元件標準，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能</a:t>
            </a: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提供跨平台的 Device Profile 格式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的色彩描述檔案</a:t>
            </a: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，使不同裝置之間的色彩資料可以進行轉換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標題 7">
            <a:extLst>
              <a:ext uri="{FF2B5EF4-FFF2-40B4-BE49-F238E27FC236}">
                <a16:creationId xmlns:a16="http://schemas.microsoft.com/office/drawing/2014/main" id="{2ECA5CFA-64BC-E5E3-8FED-52AADBD2A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研究目標與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ICC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Profile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920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639EB24-C1BB-C0D1-86B0-82E9D7094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894" y="1307939"/>
            <a:ext cx="6744810" cy="4922073"/>
          </a:xfrm>
          <a:prstGeom prst="rect">
            <a:avLst/>
          </a:prstGeom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09845EE-BEFD-0830-6F6A-014C6C3720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429702"/>
              </p:ext>
            </p:extLst>
          </p:nvPr>
        </p:nvGraphicFramePr>
        <p:xfrm>
          <a:off x="7239884" y="1307939"/>
          <a:ext cx="2338794" cy="4842674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338794">
                  <a:extLst>
                    <a:ext uri="{9D8B030D-6E8A-4147-A177-3AD203B41FA5}">
                      <a16:colId xmlns:a16="http://schemas.microsoft.com/office/drawing/2014/main" val="3358617967"/>
                    </a:ext>
                  </a:extLst>
                </a:gridCol>
              </a:tblGrid>
              <a:tr h="846997"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Profile Header </a:t>
                      </a:r>
                      <a:endParaRPr lang="en-US" altLang="zh-TW" sz="17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128 bytes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6148" marR="96148" marT="48074" marB="48074"/>
                </a:tc>
                <a:extLst>
                  <a:ext uri="{0D108BD9-81ED-4DB2-BD59-A6C34878D82A}">
                    <a16:rowId xmlns:a16="http://schemas.microsoft.com/office/drawing/2014/main" val="1724688990"/>
                  </a:ext>
                </a:extLst>
              </a:tr>
              <a:tr h="1378125"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Tag Table</a:t>
                      </a:r>
                      <a:endParaRPr lang="en-US" altLang="zh-TW" sz="17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wtpt → offset / size </a:t>
                      </a:r>
                      <a:endParaRPr lang="en-US" altLang="zh-TW" sz="17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rXYZ → offset / size</a:t>
                      </a:r>
                      <a:endParaRPr lang="en-US" altLang="zh-TW" sz="17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rTRC → offset / size</a:t>
                      </a:r>
                      <a:endParaRPr lang="en-US" altLang="zh-TW" sz="17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…...</a:t>
                      </a:r>
                    </a:p>
                  </a:txBody>
                  <a:tcPr marL="96148" marR="96148" marT="48074" marB="48074"/>
                </a:tc>
                <a:extLst>
                  <a:ext uri="{0D108BD9-81ED-4DB2-BD59-A6C34878D82A}">
                    <a16:rowId xmlns:a16="http://schemas.microsoft.com/office/drawing/2014/main" val="3735960893"/>
                  </a:ext>
                </a:extLst>
              </a:tr>
              <a:tr h="2604129"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Tagged Element Data</a:t>
                      </a:r>
                      <a:endParaRPr lang="en-US" altLang="zh-TW" sz="17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…...</a:t>
                      </a:r>
                    </a:p>
                  </a:txBody>
                  <a:tcPr marL="96148" marR="96148" marT="48074" marB="48074"/>
                </a:tc>
                <a:extLst>
                  <a:ext uri="{0D108BD9-81ED-4DB2-BD59-A6C34878D82A}">
                    <a16:rowId xmlns:a16="http://schemas.microsoft.com/office/drawing/2014/main" val="29441199"/>
                  </a:ext>
                </a:extLst>
              </a:tr>
            </a:tbl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A829EB0E-AACB-4717-2AF1-1A80075824B3}"/>
              </a:ext>
            </a:extLst>
          </p:cNvPr>
          <p:cNvSpPr/>
          <p:nvPr/>
        </p:nvSpPr>
        <p:spPr>
          <a:xfrm>
            <a:off x="452120" y="2000250"/>
            <a:ext cx="3047912" cy="377401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A4A946-AB83-D442-73C2-419DF0200B4A}"/>
              </a:ext>
            </a:extLst>
          </p:cNvPr>
          <p:cNvSpPr/>
          <p:nvPr/>
        </p:nvSpPr>
        <p:spPr>
          <a:xfrm>
            <a:off x="7239883" y="1307940"/>
            <a:ext cx="2338793" cy="83110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557AD61-57FE-CB79-79F2-D22419EF9C7B}"/>
              </a:ext>
            </a:extLst>
          </p:cNvPr>
          <p:cNvSpPr/>
          <p:nvPr/>
        </p:nvSpPr>
        <p:spPr>
          <a:xfrm>
            <a:off x="3567793" y="2000250"/>
            <a:ext cx="3442607" cy="3435350"/>
          </a:xfrm>
          <a:prstGeom prst="rect">
            <a:avLst/>
          </a:prstGeom>
          <a:noFill/>
          <a:ln>
            <a:solidFill>
              <a:srgbClr val="FF9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8949FE3-DF1E-452A-732C-5B0AB66B81F0}"/>
              </a:ext>
            </a:extLst>
          </p:cNvPr>
          <p:cNvSpPr/>
          <p:nvPr/>
        </p:nvSpPr>
        <p:spPr>
          <a:xfrm>
            <a:off x="7239883" y="2179320"/>
            <a:ext cx="2338793" cy="1363981"/>
          </a:xfrm>
          <a:prstGeom prst="rect">
            <a:avLst/>
          </a:prstGeom>
          <a:noFill/>
          <a:ln>
            <a:solidFill>
              <a:srgbClr val="FF9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Display ICC Profile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結構</a:t>
            </a:r>
          </a:p>
        </p:txBody>
      </p:sp>
    </p:spTree>
    <p:extLst>
      <p:ext uri="{BB962C8B-B14F-4D97-AF65-F5344CB8AC3E}">
        <p14:creationId xmlns:p14="http://schemas.microsoft.com/office/powerpoint/2010/main" val="3369118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BEAB9-4E35-7AB7-EE54-74E82B959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版面配置區 6">
            <a:extLst>
              <a:ext uri="{FF2B5EF4-FFF2-40B4-BE49-F238E27FC236}">
                <a16:creationId xmlns:a16="http://schemas.microsoft.com/office/drawing/2014/main" id="{8CC25041-484B-028D-E365-35F32AD88DA6}"/>
              </a:ext>
            </a:extLst>
          </p:cNvPr>
          <p:cNvSpPr txBox="1"/>
          <p:nvPr/>
        </p:nvSpPr>
        <p:spPr>
          <a:xfrm>
            <a:off x="508002" y="1307665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457200" lvl="1" indent="-406400" algn="just">
              <a:lnSpc>
                <a:spcPct val="150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TRC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(Tone Response Curve)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把顯示器實際使用的非線性 RGB code value，轉換成與 PCS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XYZ 的 Y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luminance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關係相符的 linear RGB 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 algn="just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例如：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 algn="just"/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 algn="just"/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just"/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Matrix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 algn="just"/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</a:p>
          <a:p>
            <a:pPr marL="533400" lvl="1" indent="0">
              <a:lnSpc>
                <a:spcPct val="150000"/>
              </a:lnSpc>
              <a:buNone/>
            </a:pPr>
            <a:endParaRPr lang="zh-TW" altLang="en-US" sz="18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C0E10B67-4895-DEEA-0A4E-8D187E08F60B}"/>
              </a:ext>
            </a:extLst>
          </p:cNvPr>
          <p:cNvGrpSpPr/>
          <p:nvPr/>
        </p:nvGrpSpPr>
        <p:grpSpPr>
          <a:xfrm>
            <a:off x="2198589" y="2789905"/>
            <a:ext cx="6996210" cy="826938"/>
            <a:chOff x="1208421" y="3799390"/>
            <a:chExt cx="7344475" cy="868102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3EAD8FDE-BAC0-876F-4587-8CBAB5D895F9}"/>
                </a:ext>
              </a:extLst>
            </p:cNvPr>
            <p:cNvSpPr/>
            <p:nvPr/>
          </p:nvSpPr>
          <p:spPr>
            <a:xfrm>
              <a:off x="1208421" y="3799390"/>
              <a:ext cx="1562582" cy="8681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R</a:t>
              </a:r>
              <a:r>
                <a:rPr lang="zh-TW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</a:t>
              </a:r>
              <a:r>
                <a:rPr lang="zh-TW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=</a:t>
              </a:r>
              <a:r>
                <a:rPr lang="zh-TW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</a:t>
              </a:r>
              <a:r>
                <a:rPr lang="zh-TW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0.5</a:t>
              </a:r>
              <a:r>
                <a:rPr lang="zh-TW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</a:t>
              </a:r>
              <a:r>
                <a: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(127/255)</a:t>
              </a:r>
              <a:endPara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F211FECE-805D-4DE7-5329-317233CD1CB4}"/>
                </a:ext>
              </a:extLst>
            </p:cNvPr>
            <p:cNvSpPr/>
            <p:nvPr/>
          </p:nvSpPr>
          <p:spPr>
            <a:xfrm>
              <a:off x="4302917" y="3799390"/>
              <a:ext cx="1562582" cy="8681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R</a:t>
              </a:r>
              <a:r>
                <a:rPr lang="en-US" altLang="zh-TW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L </a:t>
              </a:r>
              <a:r>
                <a:rPr lang="zh-TW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=</a:t>
              </a:r>
              <a:r>
                <a:rPr lang="zh-TW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</a:t>
              </a:r>
              <a:r>
                <a:rPr lang="zh-TW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R</a:t>
              </a:r>
              <a:r>
                <a:rPr lang="en-US" altLang="zh-TW" baseline="30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2.2</a:t>
              </a:r>
            </a:p>
            <a:p>
              <a:pPr algn="ctr"/>
              <a:r>
                <a:rPr lang="zh-TW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0.218 ≈ 0.5</a:t>
              </a:r>
              <a:r>
                <a:rPr lang="zh-TW" altLang="zh-TW" baseline="30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2.2</a:t>
              </a:r>
              <a:endParaRPr lang="zh-TW" altLang="en-US" baseline="30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DFB61CE-E671-9B90-DDBA-64DE2605725B}"/>
                </a:ext>
              </a:extLst>
            </p:cNvPr>
            <p:cNvSpPr/>
            <p:nvPr/>
          </p:nvSpPr>
          <p:spPr>
            <a:xfrm>
              <a:off x="6990314" y="3799390"/>
              <a:ext cx="1562582" cy="8681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R</a:t>
              </a:r>
              <a:r>
                <a:rPr lang="en-US" altLang="zh-TW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L</a:t>
              </a:r>
              <a:r>
                <a:rPr lang="zh-TW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=</a:t>
              </a:r>
              <a:r>
                <a:rPr lang="zh-TW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</a:t>
              </a:r>
              <a:r>
                <a:rPr lang="zh-TW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0</a:t>
              </a:r>
              <a:r>
                <a: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.218</a:t>
              </a:r>
              <a:endPara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13" name="直線單箭頭接點 12">
              <a:extLst>
                <a:ext uri="{FF2B5EF4-FFF2-40B4-BE49-F238E27FC236}">
                  <a16:creationId xmlns:a16="http://schemas.microsoft.com/office/drawing/2014/main" id="{8755CBCD-89A6-A4CF-B535-C3D84BCDE39D}"/>
                </a:ext>
              </a:extLst>
            </p:cNvPr>
            <p:cNvCxnSpPr>
              <a:stCxn id="4" idx="3"/>
              <a:endCxn id="6" idx="1"/>
            </p:cNvCxnSpPr>
            <p:nvPr/>
          </p:nvCxnSpPr>
          <p:spPr>
            <a:xfrm>
              <a:off x="2771003" y="4233441"/>
              <a:ext cx="1531914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" name="直線單箭頭接點 13">
              <a:extLst>
                <a:ext uri="{FF2B5EF4-FFF2-40B4-BE49-F238E27FC236}">
                  <a16:creationId xmlns:a16="http://schemas.microsoft.com/office/drawing/2014/main" id="{43C321DC-EFCF-71ED-6AA0-C27F2B92914D}"/>
                </a:ext>
              </a:extLst>
            </p:cNvPr>
            <p:cNvCxnSpPr>
              <a:cxnSpLocks/>
              <a:stCxn id="6" idx="3"/>
              <a:endCxn id="7" idx="1"/>
            </p:cNvCxnSpPr>
            <p:nvPr/>
          </p:nvCxnSpPr>
          <p:spPr>
            <a:xfrm>
              <a:off x="5865499" y="4233441"/>
              <a:ext cx="1124815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A9DF41D-9E06-E236-CA43-60889F6EE310}"/>
                </a:ext>
              </a:extLst>
            </p:cNvPr>
            <p:cNvSpPr/>
            <p:nvPr/>
          </p:nvSpPr>
          <p:spPr>
            <a:xfrm>
              <a:off x="2847685" y="3838713"/>
              <a:ext cx="1378549" cy="35540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zh-TW" altLang="zh-TW" sz="16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Gamma = 2.2</a:t>
              </a:r>
              <a:endParaRPr lang="zh-TW" alt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33" name="標題 1">
            <a:extLst>
              <a:ext uri="{FF2B5EF4-FFF2-40B4-BE49-F238E27FC236}">
                <a16:creationId xmlns:a16="http://schemas.microsoft.com/office/drawing/2014/main" id="{FE6A0969-18CA-A43C-E3E0-A72CA997A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Display ICC Profile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結構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006D859-0957-02BC-0A72-AE413C459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816" y="4625280"/>
            <a:ext cx="5674449" cy="11074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FAEA6F4D-5E5A-9C8D-AC25-FD4659BC3AF6}"/>
                  </a:ext>
                </a:extLst>
              </p:cNvPr>
              <p:cNvSpPr txBox="1"/>
              <p:nvPr/>
            </p:nvSpPr>
            <p:spPr>
              <a:xfrm>
                <a:off x="1471966" y="4133340"/>
                <a:ext cx="199573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000" i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XYZ</m:t>
                      </m:r>
                      <m:r>
                        <a:rPr lang="zh-TW" altLang="en-US" sz="20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000" i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zh-TW" altLang="en-US" sz="20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000" i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MRGB</m:t>
                      </m:r>
                      <m:r>
                        <m:rPr>
                          <m:nor/>
                        </m:rPr>
                        <a:rPr lang="en-US" altLang="zh-TW" sz="2000" i="0" baseline="-2500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linear</m:t>
                      </m:r>
                      <m:r>
                        <m:rPr>
                          <m:nor/>
                        </m:rPr>
                        <a:rPr lang="en-US" altLang="zh-TW" sz="2000" i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​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FAEA6F4D-5E5A-9C8D-AC25-FD4659BC3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1966" y="4133340"/>
                <a:ext cx="1995739" cy="307777"/>
              </a:xfrm>
              <a:prstGeom prst="rect">
                <a:avLst/>
              </a:prstGeom>
              <a:blipFill>
                <a:blip r:embed="rId4"/>
                <a:stretch>
                  <a:fillRect l="-2134" r="-915" b="-176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110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5E878-4E26-12D7-EE94-7C8FB0653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EDA0264E-FAAC-7F32-85AD-9B4946388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Display ICC Profile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結構</a:t>
            </a:r>
          </a:p>
        </p:txBody>
      </p:sp>
      <p:sp>
        <p:nvSpPr>
          <p:cNvPr id="8" name="文字版面配置區 6">
            <a:extLst>
              <a:ext uri="{FF2B5EF4-FFF2-40B4-BE49-F238E27FC236}">
                <a16:creationId xmlns:a16="http://schemas.microsoft.com/office/drawing/2014/main" id="{2DAC1A8A-F13A-5508-510D-5274EB3BC2A2}"/>
              </a:ext>
            </a:extLst>
          </p:cNvPr>
          <p:cNvSpPr txBox="1"/>
          <p:nvPr/>
        </p:nvSpPr>
        <p:spPr>
          <a:xfrm>
            <a:off x="609602" y="1418457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esc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Profile Description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描述這個 ICC Profile 的名稱或識別資訊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prt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Copyright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記錄這個 ICC Profile 的版權資訊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wtpt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edia White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Point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描述該 Profile 所代表媒體白點的 XYZ 色度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資訊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lvl="1" indent="-406400">
              <a:lnSpc>
                <a:spcPct val="150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en-US" altLang="zh-TW" sz="2000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lumi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uminance</a:t>
            </a: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表示顯示器亮度資訊，通常以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cd/m²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單位表示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AC18273A-6EC9-764F-CB84-A81D1E6A5E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26" r="12908"/>
          <a:stretch/>
        </p:blipFill>
        <p:spPr>
          <a:xfrm>
            <a:off x="5985932" y="1587206"/>
            <a:ext cx="3310466" cy="38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105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24AA7-A8A7-A341-3AC3-0E3E34246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版面配置區 6">
            <a:extLst>
              <a:ext uri="{FF2B5EF4-FFF2-40B4-BE49-F238E27FC236}">
                <a16:creationId xmlns:a16="http://schemas.microsoft.com/office/drawing/2014/main" id="{70AA535C-35C8-9CAA-5BCE-9D60896E7559}"/>
              </a:ext>
            </a:extLst>
          </p:cNvPr>
          <p:cNvSpPr txBox="1"/>
          <p:nvPr/>
        </p:nvSpPr>
        <p:spPr>
          <a:xfrm>
            <a:off x="609602" y="1223724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457200" lvl="1" indent="-406400"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50C616D-3C14-C08D-8569-D9AD85C5DC81}"/>
              </a:ext>
            </a:extLst>
          </p:cNvPr>
          <p:cNvSpPr/>
          <p:nvPr/>
        </p:nvSpPr>
        <p:spPr>
          <a:xfrm>
            <a:off x="538481" y="3289586"/>
            <a:ext cx="1747520" cy="9194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ICC Profile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D4440B2-D934-67C7-39A3-FE56C3443B86}"/>
              </a:ext>
            </a:extLst>
          </p:cNvPr>
          <p:cNvSpPr/>
          <p:nvPr/>
        </p:nvSpPr>
        <p:spPr>
          <a:xfrm>
            <a:off x="3423921" y="2156174"/>
            <a:ext cx="1747520" cy="9194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Color Management Module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DD2B38-5863-2279-1592-91EB1F252E2D}"/>
              </a:ext>
            </a:extLst>
          </p:cNvPr>
          <p:cNvSpPr/>
          <p:nvPr/>
        </p:nvSpPr>
        <p:spPr>
          <a:xfrm>
            <a:off x="3423921" y="4338876"/>
            <a:ext cx="1747520" cy="91948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OS/GPU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CE50360-4991-7137-8AAB-9BACBD0D98BF}"/>
              </a:ext>
            </a:extLst>
          </p:cNvPr>
          <p:cNvSpPr/>
          <p:nvPr/>
        </p:nvSpPr>
        <p:spPr>
          <a:xfrm>
            <a:off x="7071361" y="2156174"/>
            <a:ext cx="1747520" cy="9194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Display RGB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E5CC085-F68F-A65E-FCB3-C00C72B7D390}"/>
              </a:ext>
            </a:extLst>
          </p:cNvPr>
          <p:cNvSpPr/>
          <p:nvPr/>
        </p:nvSpPr>
        <p:spPr>
          <a:xfrm>
            <a:off x="7071361" y="4338876"/>
            <a:ext cx="1747520" cy="91948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Corrected RGB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6668260-2771-F381-C71B-D54F678C8A36}"/>
              </a:ext>
            </a:extLst>
          </p:cNvPr>
          <p:cNvSpPr txBox="1"/>
          <p:nvPr/>
        </p:nvSpPr>
        <p:spPr>
          <a:xfrm>
            <a:off x="5639592" y="4884798"/>
            <a:ext cx="11112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Calibration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378ECEDB-098A-A787-87A8-96D722F9D4AF}"/>
              </a:ext>
            </a:extLst>
          </p:cNvPr>
          <p:cNvSpPr txBox="1"/>
          <p:nvPr/>
        </p:nvSpPr>
        <p:spPr>
          <a:xfrm>
            <a:off x="5337372" y="2110033"/>
            <a:ext cx="16514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Color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Conversion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20124EDF-B4FC-F6C1-EB1E-C16D8613D5B9}"/>
              </a:ext>
            </a:extLst>
          </p:cNvPr>
          <p:cNvSpPr txBox="1"/>
          <p:nvPr/>
        </p:nvSpPr>
        <p:spPr>
          <a:xfrm>
            <a:off x="1597480" y="2196636"/>
            <a:ext cx="19697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TRC / XYZ / wtpt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004DC6C4-F258-3DB0-B9DD-DEC53EDBA4C2}"/>
              </a:ext>
            </a:extLst>
          </p:cNvPr>
          <p:cNvSpPr txBox="1"/>
          <p:nvPr/>
        </p:nvSpPr>
        <p:spPr>
          <a:xfrm>
            <a:off x="1118873" y="4919551"/>
            <a:ext cx="23374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VCGT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MS00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MHC2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…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8" name="標題 1">
            <a:extLst>
              <a:ext uri="{FF2B5EF4-FFF2-40B4-BE49-F238E27FC236}">
                <a16:creationId xmlns:a16="http://schemas.microsoft.com/office/drawing/2014/main" id="{8D095D36-8CDE-8903-759D-B3DC69784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ICC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Profile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架構</a:t>
            </a: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6D20DBCA-6384-9E49-44A5-B651C92313FD}"/>
              </a:ext>
            </a:extLst>
          </p:cNvPr>
          <p:cNvCxnSpPr>
            <a:cxnSpLocks/>
            <a:stCxn id="5" idx="3"/>
            <a:endCxn id="13" idx="1"/>
          </p:cNvCxnSpPr>
          <p:nvPr/>
        </p:nvCxnSpPr>
        <p:spPr>
          <a:xfrm>
            <a:off x="5171441" y="4798616"/>
            <a:ext cx="189992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07A16EC5-F29F-9583-72F5-FFE82D567074}"/>
              </a:ext>
            </a:extLst>
          </p:cNvPr>
          <p:cNvCxnSpPr>
            <a:cxnSpLocks/>
            <a:stCxn id="3" idx="3"/>
            <a:endCxn id="9" idx="1"/>
          </p:cNvCxnSpPr>
          <p:nvPr/>
        </p:nvCxnSpPr>
        <p:spPr>
          <a:xfrm>
            <a:off x="5171441" y="2615914"/>
            <a:ext cx="18999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CD68CE2B-EDE8-D826-AB19-B6FAE4FE733F}"/>
              </a:ext>
            </a:extLst>
          </p:cNvPr>
          <p:cNvCxnSpPr>
            <a:cxnSpLocks/>
            <a:stCxn id="3" idx="1"/>
            <a:endCxn id="12" idx="3"/>
          </p:cNvCxnSpPr>
          <p:nvPr/>
        </p:nvCxnSpPr>
        <p:spPr>
          <a:xfrm rot="10800000" flipV="1">
            <a:off x="2286001" y="2615914"/>
            <a:ext cx="1137920" cy="1133412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接點: 肘形 17">
            <a:extLst>
              <a:ext uri="{FF2B5EF4-FFF2-40B4-BE49-F238E27FC236}">
                <a16:creationId xmlns:a16="http://schemas.microsoft.com/office/drawing/2014/main" id="{834256DB-2ECB-B600-2909-4DADCB795645}"/>
              </a:ext>
            </a:extLst>
          </p:cNvPr>
          <p:cNvCxnSpPr>
            <a:cxnSpLocks/>
            <a:stCxn id="5" idx="1"/>
            <a:endCxn id="12" idx="3"/>
          </p:cNvCxnSpPr>
          <p:nvPr/>
        </p:nvCxnSpPr>
        <p:spPr>
          <a:xfrm rot="10800000">
            <a:off x="2286001" y="3749326"/>
            <a:ext cx="1137920" cy="1049290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4968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DisplayCAL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文字版面配置區 6">
            <a:extLst>
              <a:ext uri="{FF2B5EF4-FFF2-40B4-BE49-F238E27FC236}">
                <a16:creationId xmlns:a16="http://schemas.microsoft.com/office/drawing/2014/main" id="{FEDFB633-2563-4B81-6A49-DCC452247D25}"/>
              </a:ext>
            </a:extLst>
          </p:cNvPr>
          <p:cNvSpPr txBox="1"/>
          <p:nvPr/>
        </p:nvSpPr>
        <p:spPr>
          <a:xfrm>
            <a:off x="609602" y="935858"/>
            <a:ext cx="4004731" cy="672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DisplayCAL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軟體校正流程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38617A3-BEC8-75FF-D84E-E2B6A66A65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951" b="14376"/>
          <a:stretch/>
        </p:blipFill>
        <p:spPr>
          <a:xfrm>
            <a:off x="6082787" y="1528525"/>
            <a:ext cx="2625434" cy="269966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CF60E74-4101-FA8D-693A-DF8294D762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291" y="4385734"/>
            <a:ext cx="2616913" cy="1962684"/>
          </a:xfrm>
          <a:prstGeom prst="rect">
            <a:avLst/>
          </a:prstGeom>
        </p:spPr>
      </p:pic>
      <p:grpSp>
        <p:nvGrpSpPr>
          <p:cNvPr id="11" name="群組 10">
            <a:extLst>
              <a:ext uri="{FF2B5EF4-FFF2-40B4-BE49-F238E27FC236}">
                <a16:creationId xmlns:a16="http://schemas.microsoft.com/office/drawing/2014/main" id="{9C905F1E-947E-EBA9-7979-AEDA8750B391}"/>
              </a:ext>
            </a:extLst>
          </p:cNvPr>
          <p:cNvGrpSpPr/>
          <p:nvPr/>
        </p:nvGrpSpPr>
        <p:grpSpPr>
          <a:xfrm>
            <a:off x="1186542" y="1528525"/>
            <a:ext cx="4749803" cy="4819894"/>
            <a:chOff x="1117600" y="1469258"/>
            <a:chExt cx="4749803" cy="4819894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AEF40E0A-D220-62E9-2407-BDEBBBC48F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78" r="30508"/>
            <a:stretch/>
          </p:blipFill>
          <p:spPr>
            <a:xfrm>
              <a:off x="1117600" y="1469258"/>
              <a:ext cx="4749803" cy="4819894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5788B5EF-BE77-F6F5-9F48-EAFC0F8373A4}"/>
                </a:ext>
              </a:extLst>
            </p:cNvPr>
            <p:cNvSpPr/>
            <p:nvPr/>
          </p:nvSpPr>
          <p:spPr>
            <a:xfrm>
              <a:off x="1762702" y="4401699"/>
              <a:ext cx="1707120" cy="16569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67A744A-A8EF-C1C4-C99F-1658A76B416F}"/>
                </a:ext>
              </a:extLst>
            </p:cNvPr>
            <p:cNvSpPr/>
            <p:nvPr/>
          </p:nvSpPr>
          <p:spPr>
            <a:xfrm flipV="1">
              <a:off x="1210401" y="5154840"/>
              <a:ext cx="2907122" cy="16569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88158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B361B4DF-3145-D829-F41F-4DFE4B01E588}"/>
              </a:ext>
            </a:extLst>
          </p:cNvPr>
          <p:cNvSpPr txBox="1"/>
          <p:nvPr/>
        </p:nvSpPr>
        <p:spPr>
          <a:xfrm>
            <a:off x="609602" y="935857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ICC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Profile 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色溫校正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在不同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與色溫下量測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ICC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Profile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校正後的色溫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色溫誤差都在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300K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以內，符合標準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軟體校正結果</a:t>
            </a:r>
          </a:p>
        </p:txBody>
      </p:sp>
      <p:graphicFrame>
        <p:nvGraphicFramePr>
          <p:cNvPr id="2" name="表格 24">
            <a:extLst>
              <a:ext uri="{FF2B5EF4-FFF2-40B4-BE49-F238E27FC236}">
                <a16:creationId xmlns:a16="http://schemas.microsoft.com/office/drawing/2014/main" id="{E1D31DB3-F9C5-1A79-A106-241D304FB8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46943"/>
              </p:ext>
            </p:extLst>
          </p:nvPr>
        </p:nvGraphicFramePr>
        <p:xfrm>
          <a:off x="3010867" y="2389010"/>
          <a:ext cx="3884265" cy="397603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21072">
                  <a:extLst>
                    <a:ext uri="{9D8B030D-6E8A-4147-A177-3AD203B41FA5}">
                      <a16:colId xmlns:a16="http://schemas.microsoft.com/office/drawing/2014/main" val="58910734"/>
                    </a:ext>
                  </a:extLst>
                </a:gridCol>
                <a:gridCol w="1174931">
                  <a:extLst>
                    <a:ext uri="{9D8B030D-6E8A-4147-A177-3AD203B41FA5}">
                      <a16:colId xmlns:a16="http://schemas.microsoft.com/office/drawing/2014/main" val="2217758771"/>
                    </a:ext>
                  </a:extLst>
                </a:gridCol>
                <a:gridCol w="1688262">
                  <a:extLst>
                    <a:ext uri="{9D8B030D-6E8A-4147-A177-3AD203B41FA5}">
                      <a16:colId xmlns:a16="http://schemas.microsoft.com/office/drawing/2014/main" val="3036497903"/>
                    </a:ext>
                  </a:extLst>
                </a:gridCol>
              </a:tblGrid>
              <a:tr h="30665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Gamma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TW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色溫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TW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量測色溫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extLst>
                  <a:ext uri="{0D108BD9-81ED-4DB2-BD59-A6C34878D82A}">
                    <a16:rowId xmlns:a16="http://schemas.microsoft.com/office/drawing/2014/main" val="4047486063"/>
                  </a:ext>
                </a:extLst>
              </a:tr>
              <a:tr h="30578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1.8</a:t>
                      </a:r>
                      <a:endParaRPr lang="zh-TW" sz="1800" b="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5400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5352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extLst>
                  <a:ext uri="{0D108BD9-81ED-4DB2-BD59-A6C34878D82A}">
                    <a16:rowId xmlns:a16="http://schemas.microsoft.com/office/drawing/2014/main" val="100759405"/>
                  </a:ext>
                </a:extLst>
              </a:tr>
              <a:tr h="305782">
                <a:tc>
                  <a:txBody>
                    <a:bodyPr/>
                    <a:lstStyle/>
                    <a:p>
                      <a:pPr algn="ctr"/>
                      <a:endParaRPr lang="zh-TW" sz="1800" b="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6500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6419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extLst>
                  <a:ext uri="{0D108BD9-81ED-4DB2-BD59-A6C34878D82A}">
                    <a16:rowId xmlns:a16="http://schemas.microsoft.com/office/drawing/2014/main" val="4097251436"/>
                  </a:ext>
                </a:extLst>
              </a:tr>
              <a:tr h="305782">
                <a:tc>
                  <a:txBody>
                    <a:bodyPr/>
                    <a:lstStyle/>
                    <a:p>
                      <a:pPr algn="ctr"/>
                      <a:endParaRPr lang="zh-TW" sz="1800" b="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9300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9046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extLst>
                  <a:ext uri="{0D108BD9-81ED-4DB2-BD59-A6C34878D82A}">
                    <a16:rowId xmlns:a16="http://schemas.microsoft.com/office/drawing/2014/main" val="4244588434"/>
                  </a:ext>
                </a:extLst>
              </a:tr>
              <a:tr h="30578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2.0</a:t>
                      </a: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5400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5351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extLst>
                  <a:ext uri="{0D108BD9-81ED-4DB2-BD59-A6C34878D82A}">
                    <a16:rowId xmlns:a16="http://schemas.microsoft.com/office/drawing/2014/main" val="4100677602"/>
                  </a:ext>
                </a:extLst>
              </a:tr>
              <a:tr h="305782">
                <a:tc>
                  <a:txBody>
                    <a:bodyPr/>
                    <a:lstStyle/>
                    <a:p>
                      <a:pPr algn="ctr"/>
                      <a:endParaRPr lang="zh-TW" sz="1800" b="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6500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6545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extLst>
                  <a:ext uri="{0D108BD9-81ED-4DB2-BD59-A6C34878D82A}">
                    <a16:rowId xmlns:a16="http://schemas.microsoft.com/office/drawing/2014/main" val="4090125723"/>
                  </a:ext>
                </a:extLst>
              </a:tr>
              <a:tr h="305782">
                <a:tc>
                  <a:txBody>
                    <a:bodyPr/>
                    <a:lstStyle/>
                    <a:p>
                      <a:pPr algn="ctr"/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9300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9045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extLst>
                  <a:ext uri="{0D108BD9-81ED-4DB2-BD59-A6C34878D82A}">
                    <a16:rowId xmlns:a16="http://schemas.microsoft.com/office/drawing/2014/main" val="189583938"/>
                  </a:ext>
                </a:extLst>
              </a:tr>
              <a:tr h="30578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2.2</a:t>
                      </a:r>
                      <a:endParaRPr lang="zh-TW" sz="1800" b="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5400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5314</a:t>
                      </a:r>
                      <a:endParaRPr lang="zh-TW" sz="1800" b="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extLst>
                  <a:ext uri="{0D108BD9-81ED-4DB2-BD59-A6C34878D82A}">
                    <a16:rowId xmlns:a16="http://schemas.microsoft.com/office/drawing/2014/main" val="1098664419"/>
                  </a:ext>
                </a:extLst>
              </a:tr>
              <a:tr h="305782">
                <a:tc>
                  <a:txBody>
                    <a:bodyPr/>
                    <a:lstStyle/>
                    <a:p>
                      <a:pPr algn="ctr"/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6500</a:t>
                      </a:r>
                      <a:endParaRPr lang="zh-TW" sz="1800" b="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6452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extLst>
                  <a:ext uri="{0D108BD9-81ED-4DB2-BD59-A6C34878D82A}">
                    <a16:rowId xmlns:a16="http://schemas.microsoft.com/office/drawing/2014/main" val="1683948243"/>
                  </a:ext>
                </a:extLst>
              </a:tr>
              <a:tr h="305782">
                <a:tc>
                  <a:txBody>
                    <a:bodyPr/>
                    <a:lstStyle/>
                    <a:p>
                      <a:pPr algn="ctr"/>
                      <a:endParaRPr lang="zh-TW" sz="1800" b="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9300</a:t>
                      </a:r>
                      <a:endParaRPr lang="zh-TW" sz="1800" b="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9047</a:t>
                      </a:r>
                      <a:endParaRPr lang="zh-TW" sz="1800" b="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extLst>
                  <a:ext uri="{0D108BD9-81ED-4DB2-BD59-A6C34878D82A}">
                    <a16:rowId xmlns:a16="http://schemas.microsoft.com/office/drawing/2014/main" val="785709647"/>
                  </a:ext>
                </a:extLst>
              </a:tr>
              <a:tr h="30578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2.6</a:t>
                      </a:r>
                      <a:endParaRPr lang="zh-TW" sz="1800" b="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5400</a:t>
                      </a:r>
                      <a:endParaRPr lang="zh-TW" sz="1800" b="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5404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extLst>
                  <a:ext uri="{0D108BD9-81ED-4DB2-BD59-A6C34878D82A}">
                    <a16:rowId xmlns:a16="http://schemas.microsoft.com/office/drawing/2014/main" val="559488585"/>
                  </a:ext>
                </a:extLst>
              </a:tr>
              <a:tr h="305782">
                <a:tc>
                  <a:txBody>
                    <a:bodyPr/>
                    <a:lstStyle/>
                    <a:p>
                      <a:pPr algn="ctr"/>
                      <a:endParaRPr lang="zh-TW" sz="1800" b="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6500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6544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extLst>
                  <a:ext uri="{0D108BD9-81ED-4DB2-BD59-A6C34878D82A}">
                    <a16:rowId xmlns:a16="http://schemas.microsoft.com/office/drawing/2014/main" val="3354390549"/>
                  </a:ext>
                </a:extLst>
              </a:tr>
              <a:tr h="305782">
                <a:tc>
                  <a:txBody>
                    <a:bodyPr/>
                    <a:lstStyle/>
                    <a:p>
                      <a:pPr algn="ctr"/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9300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9048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extLst>
                  <a:ext uri="{0D108BD9-81ED-4DB2-BD59-A6C34878D82A}">
                    <a16:rowId xmlns:a16="http://schemas.microsoft.com/office/drawing/2014/main" val="682335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6607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B361B4DF-3145-D829-F41F-4DFE4B01E588}"/>
              </a:ext>
            </a:extLst>
          </p:cNvPr>
          <p:cNvSpPr txBox="1"/>
          <p:nvPr/>
        </p:nvSpPr>
        <p:spPr>
          <a:xfrm>
            <a:off x="609602" y="935857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ICC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Profile 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色溫校正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軟體校正結果</a:t>
            </a:r>
          </a:p>
        </p:txBody>
      </p:sp>
    </p:spTree>
    <p:extLst>
      <p:ext uri="{BB962C8B-B14F-4D97-AF65-F5344CB8AC3E}">
        <p14:creationId xmlns:p14="http://schemas.microsoft.com/office/powerpoint/2010/main" val="1471194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VCGT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flow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chart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863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圖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746" y="3004771"/>
            <a:ext cx="5556738" cy="84845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097165" name="Picture 2" descr="http://www.secretariat.ntust.edu.tw/ezfiles/20/1020/img/1688/09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4866" y="1628181"/>
            <a:ext cx="6260123" cy="1186962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97166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650" y="4226628"/>
            <a:ext cx="4266522" cy="9305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321056</TotalTime>
  <Words>717</Words>
  <Application>Microsoft Office PowerPoint</Application>
  <PresentationFormat>A4 紙張 (210x297 公釐)</PresentationFormat>
  <Paragraphs>113</Paragraphs>
  <Slides>11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7" baseType="lpstr">
      <vt:lpstr>Noto Sans Symbols</vt:lpstr>
      <vt:lpstr>標楷體</vt:lpstr>
      <vt:lpstr>Arial</vt:lpstr>
      <vt:lpstr>Cambria Math</vt:lpstr>
      <vt:lpstr>Times New Roman</vt:lpstr>
      <vt:lpstr>template</vt:lpstr>
      <vt:lpstr>Progress Report</vt:lpstr>
      <vt:lpstr>上次進度: 研究目標與 ICC Profile</vt:lpstr>
      <vt:lpstr>上次進度: Display ICC Profile 結構</vt:lpstr>
      <vt:lpstr>上次進度: Display ICC Profile 結構</vt:lpstr>
      <vt:lpstr>上次進度: Display ICC Profile 結構</vt:lpstr>
      <vt:lpstr>上次進度: ICC Profile 架構</vt:lpstr>
      <vt:lpstr>本次進度: DisplayCAL</vt:lpstr>
      <vt:lpstr>本次進度: 軟體校正結果</vt:lpstr>
      <vt:lpstr>本次進度: 軟體校正結果</vt:lpstr>
      <vt:lpstr>本次進度: VCGT flow chart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Embedded CMOS Image Sensor System Design and Implementation</dc:title>
  <dc:creator>mblin</dc:creator>
  <cp:lastModifiedBy>user</cp:lastModifiedBy>
  <cp:revision>2883</cp:revision>
  <dcterms:created xsi:type="dcterms:W3CDTF">2003-02-17T16:04:03Z</dcterms:created>
  <dcterms:modified xsi:type="dcterms:W3CDTF">2026-10-07T09:36:22Z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c323e086d3b141ca89c275423e00507f</vt:lpwstr>
  </property>
</Properties>
</file>