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19"/>
  </p:notesMasterIdLst>
  <p:sldIdLst>
    <p:sldId id="277" r:id="rId2"/>
    <p:sldId id="1994" r:id="rId3"/>
    <p:sldId id="1937" r:id="rId4"/>
    <p:sldId id="1938" r:id="rId5"/>
    <p:sldId id="1997" r:id="rId6"/>
    <p:sldId id="1998" r:id="rId7"/>
    <p:sldId id="2001" r:id="rId8"/>
    <p:sldId id="2008" r:id="rId9"/>
    <p:sldId id="2013" r:id="rId10"/>
    <p:sldId id="2010" r:id="rId11"/>
    <p:sldId id="2015" r:id="rId12"/>
    <p:sldId id="2007" r:id="rId13"/>
    <p:sldId id="2014" r:id="rId14"/>
    <p:sldId id="286" r:id="rId15"/>
    <p:sldId id="2002" r:id="rId16"/>
    <p:sldId id="2005" r:id="rId17"/>
    <p:sldId id="2006" r:id="rId18"/>
  </p:sldIdLst>
  <p:sldSz cx="9906000" cy="6858000" type="A4"/>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Head" id="{9114FBB3-8B00-422B-ACC9-030F49096E83}">
          <p14:sldIdLst>
            <p14:sldId id="277"/>
          </p14:sldIdLst>
        </p14:section>
        <p14:section name="ICC Profile" id="{7925A652-D02A-4F07-B4BA-109FEF573EC6}">
          <p14:sldIdLst>
            <p14:sldId id="1994"/>
          </p14:sldIdLst>
        </p14:section>
        <p14:section name="PCS" id="{7189DFBE-4EEB-4F74-853B-C02E818AF80E}">
          <p14:sldIdLst>
            <p14:sldId id="1937"/>
            <p14:sldId id="1938"/>
            <p14:sldId id="1997"/>
          </p14:sldIdLst>
        </p14:section>
        <p14:section name="Display ICC Profile結構" id="{BB7C1619-F4F0-4ADE-9EBD-8F3795FF0CC6}">
          <p14:sldIdLst>
            <p14:sldId id="1998"/>
            <p14:sldId id="2001"/>
            <p14:sldId id="2008"/>
          </p14:sldIdLst>
        </p14:section>
        <p14:section name="ICC與校正資料" id="{E65D862C-83D1-46B7-B7EA-AEC9D994F1E4}">
          <p14:sldIdLst>
            <p14:sldId id="2013"/>
            <p14:sldId id="2010"/>
            <p14:sldId id="2015"/>
            <p14:sldId id="2007"/>
          </p14:sldIdLst>
        </p14:section>
        <p14:section name="未來方向" id="{5971402B-6926-431D-89B8-CB51A2DAAEFC}">
          <p14:sldIdLst>
            <p14:sldId id="2014"/>
          </p14:sldIdLst>
        </p14:section>
        <p14:section name="End" id="{33EEDC85-A799-4CB3-BF13-F4955B8630BE}">
          <p14:sldIdLst>
            <p14:sldId id="286"/>
            <p14:sldId id="2002"/>
            <p14:sldId id="2005"/>
            <p14:sldId id="2006"/>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10902143" initials="m" lastIdx="1" clrIdx="0"/>
  <p:cmAuthor id="2" name="James Kuo" initials="JK" lastIdx="1" clrIdx="1"/>
  <p:cmAuthor id="3" name="昇鴻 李" initials="昇鴻" lastIdx="1" clrIdx="2">
    <p:extLst>
      <p:ext uri="{19B8F6BF-5375-455C-9EA6-DF929625EA0E}">
        <p15:presenceInfo xmlns:p15="http://schemas.microsoft.com/office/powerpoint/2012/main" userId="72a70edeaa250c2c" providerId="Windows Live"/>
      </p:ext>
    </p:extLst>
  </p:cmAuthor>
  <p:cmAuthor id="4" name="宏德 林" initials="宏林" lastIdx="2" clrIdx="3">
    <p:extLst>
      <p:ext uri="{19B8F6BF-5375-455C-9EA6-DF929625EA0E}">
        <p15:presenceInfo xmlns:p15="http://schemas.microsoft.com/office/powerpoint/2012/main" userId="933d0002216be5bd" providerId="Windows Live"/>
      </p:ext>
    </p:extLst>
  </p:cmAuthor>
  <p:cmAuthor id="5" name="LI CHIH HSIANG" initials="LCH" lastIdx="6" clrIdx="4">
    <p:extLst>
      <p:ext uri="{19B8F6BF-5375-455C-9EA6-DF929625EA0E}">
        <p15:presenceInfo xmlns:p15="http://schemas.microsoft.com/office/powerpoint/2012/main" userId="LI CHIH HSIA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9900"/>
    <a:srgbClr val="00B050"/>
    <a:srgbClr val="0057C0"/>
    <a:srgbClr val="FFC000"/>
    <a:srgbClr val="FFFFFF"/>
    <a:srgbClr val="8958B1"/>
    <a:srgbClr val="C58DEF"/>
    <a:srgbClr val="993366"/>
    <a:srgbClr val="5814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D433FD4-3D7A-4217-8E80-1680D7E9CC69}" styleName="Table_0">
    <a:wholeTbl>
      <a:tcTxStyle b="off" i="off">
        <a:font>
          <a:latin typeface="Times New Roman"/>
          <a:ea typeface="Times New Roman"/>
          <a:cs typeface="Times New Roman"/>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Style>
        <a:tcBdr/>
        <a:fill>
          <a:solidFill>
            <a:srgbClr val="E6E6E6"/>
          </a:solidFill>
        </a:fill>
      </a:tcStyle>
    </a:band1H>
    <a:band2H>
      <a:tcStyle>
        <a:tcBdr/>
      </a:tcStyle>
    </a:band2H>
    <a:band1V>
      <a:tcStyle>
        <a:tcBdr/>
        <a:fill>
          <a:solidFill>
            <a:srgbClr val="E6E6E6"/>
          </a:solidFill>
        </a:fill>
      </a:tcStyle>
    </a:band1V>
    <a:band2V>
      <a:tcStyle>
        <a:tcBdr/>
      </a:tcStyle>
    </a:band2V>
    <a:lastCol>
      <a:tcTxStyle b="on" i="off">
        <a:font>
          <a:latin typeface="Times New Roman"/>
          <a:ea typeface="Times New Roman"/>
          <a:cs typeface="Times New Roman"/>
        </a:font>
        <a:schemeClr val="lt1"/>
      </a:tcTxStyle>
      <a:tcStyle>
        <a:tcBdr/>
        <a:fill>
          <a:solidFill>
            <a:schemeClr val="accent2"/>
          </a:solidFill>
        </a:fill>
      </a:tcStyle>
    </a:lastCol>
    <a:firstCol>
      <a:tcTxStyle b="on" i="off">
        <a:font>
          <a:latin typeface="Times New Roman"/>
          <a:ea typeface="Times New Roman"/>
          <a:cs typeface="Times New Roman"/>
        </a:font>
        <a:schemeClr val="lt1"/>
      </a:tcTxStyle>
      <a:tcStyle>
        <a:tcBdr/>
        <a:fill>
          <a:solidFill>
            <a:schemeClr val="accent2"/>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Times New Roman"/>
          <a:ea typeface="Times New Roman"/>
          <a:cs typeface="Times New Roman"/>
        </a:font>
        <a:schemeClr val="dk1"/>
      </a:tcTxStyle>
      <a:tcStyle>
        <a:tcBdr/>
      </a:tcStyle>
    </a:seCell>
    <a:swCell>
      <a:tcTxStyle b="on" i="off">
        <a:font>
          <a:latin typeface="Times New Roman"/>
          <a:ea typeface="Times New Roman"/>
          <a:cs typeface="Times New Roman"/>
        </a:font>
        <a:schemeClr val="dk1"/>
      </a:tcTxStyle>
      <a:tcStyle>
        <a:tcBdr/>
      </a:tcStyle>
    </a:swCell>
    <a:firstRow>
      <a:tcTxStyle b="on" i="off">
        <a:font>
          <a:latin typeface="Times New Roman"/>
          <a:ea typeface="Times New Roman"/>
          <a:cs typeface="Times New Roman"/>
        </a:font>
        <a:schemeClr val="lt1"/>
      </a:tcTxStyle>
      <a:tcStyle>
        <a:tcBdr>
          <a:bottom>
            <a:ln w="25400" cap="flat" cmpd="sng">
              <a:solidFill>
                <a:schemeClr val="dk1"/>
              </a:solidFill>
              <a:prstDash val="solid"/>
              <a:round/>
              <a:headEnd type="none" w="sm" len="sm"/>
              <a:tailEnd type="none" w="sm" len="sm"/>
            </a:ln>
          </a:bottom>
        </a:tcBdr>
        <a:fill>
          <a:solidFill>
            <a:schemeClr val="accent2"/>
          </a:solidFill>
        </a:fill>
      </a:tcStyle>
    </a:firstRow>
    <a:neCell>
      <a:tcStyle>
        <a:tcBdr/>
      </a:tcStyle>
    </a:neCell>
    <a:nwCell>
      <a:tcStyle>
        <a:tcBdr/>
      </a:tcStyle>
    </a:nwCell>
  </a:tblStyle>
  <a:tblStyle styleId="{3E919B74-BC6B-4152-9BDB-477648A112FC}" styleName="Table_1">
    <a:wholeTbl>
      <a:tcTxStyle b="off" i="off">
        <a:font>
          <a:latin typeface="Times New Roman"/>
          <a:ea typeface="Times New Roman"/>
          <a:cs typeface="Times New Roman"/>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F6EF"/>
          </a:solidFill>
        </a:fill>
      </a:tcStyle>
    </a:wholeTbl>
    <a:band1H>
      <a:tcStyle>
        <a:tcBdr/>
        <a:fill>
          <a:solidFill>
            <a:srgbClr val="CAECDD"/>
          </a:solidFill>
        </a:fill>
      </a:tcStyle>
    </a:band1H>
    <a:band2H>
      <a:tcStyle>
        <a:tcBdr/>
      </a:tcStyle>
    </a:band2H>
    <a:band1V>
      <a:tcStyle>
        <a:tcBdr/>
        <a:fill>
          <a:solidFill>
            <a:srgbClr val="CAECDD"/>
          </a:solidFill>
        </a:fill>
      </a:tcStyle>
    </a:band1V>
    <a:band2V>
      <a:tcStyle>
        <a:tcBdr/>
      </a:tcStyle>
    </a:band2V>
    <a:lastCol>
      <a:tcTxStyle b="on" i="off">
        <a:font>
          <a:latin typeface="Times New Roman"/>
          <a:ea typeface="Times New Roman"/>
          <a:cs typeface="Times New Roman"/>
        </a:font>
        <a:schemeClr val="lt1"/>
      </a:tcTxStyle>
      <a:tcStyle>
        <a:tcBdr/>
        <a:fill>
          <a:solidFill>
            <a:schemeClr val="accent1"/>
          </a:solidFill>
        </a:fill>
      </a:tcStyle>
    </a:lastCol>
    <a:firstCol>
      <a:tcTxStyle b="on" i="off">
        <a:font>
          <a:latin typeface="Times New Roman"/>
          <a:ea typeface="Times New Roman"/>
          <a:cs typeface="Times New Roman"/>
        </a:font>
        <a:schemeClr val="lt1"/>
      </a:tcTxStyle>
      <a:tcStyle>
        <a:tcBdr/>
        <a:fill>
          <a:solidFill>
            <a:schemeClr val="accent1"/>
          </a:solidFill>
        </a:fill>
      </a:tcStyle>
    </a:firstCol>
    <a:lastRow>
      <a:tcTxStyle b="on" i="off">
        <a:font>
          <a:latin typeface="Times New Roman"/>
          <a:ea typeface="Times New Roman"/>
          <a:cs typeface="Times New Roman"/>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i="off">
        <a:font>
          <a:latin typeface="Times New Roman"/>
          <a:ea typeface="Times New Roman"/>
          <a:cs typeface="Times New Roman"/>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03" autoAdjust="0"/>
    <p:restoredTop sz="81675" autoAdjust="0"/>
  </p:normalViewPr>
  <p:slideViewPr>
    <p:cSldViewPr snapToGrid="0">
      <p:cViewPr>
        <p:scale>
          <a:sx n="75" d="100"/>
          <a:sy n="75" d="100"/>
        </p:scale>
        <p:origin x="1325" y="-101"/>
      </p:cViewPr>
      <p:guideLst>
        <p:guide orient="horz" pos="2160"/>
        <p:guide pos="3120"/>
      </p:guideLst>
    </p:cSldViewPr>
  </p:slideViewPr>
  <p:outlineViewPr>
    <p:cViewPr>
      <p:scale>
        <a:sx n="33" d="100"/>
        <a:sy n="33" d="100"/>
      </p:scale>
      <p:origin x="0" y="0"/>
    </p:cViewPr>
  </p:outlineViewPr>
  <p:notesTextViewPr>
    <p:cViewPr>
      <p:scale>
        <a:sx n="150" d="100"/>
        <a:sy n="150" d="100"/>
      </p:scale>
      <p:origin x="0" y="0"/>
    </p:cViewPr>
  </p:notesTextViewPr>
  <p:notesViewPr>
    <p:cSldViewPr snapToGrid="0">
      <p:cViewPr varScale="1">
        <p:scale>
          <a:sx n="100" d="100"/>
          <a:sy n="100"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659" name="Google Shape;3;n"/>
          <p:cNvSpPr txBox="1">
            <a:spLocks noGrp="1"/>
          </p:cNvSpPr>
          <p:nvPr>
            <p:ph type="hdr" idx="2"/>
          </p:nvPr>
        </p:nvSpPr>
        <p:spPr>
          <a:xfrm>
            <a:off x="0" y="0"/>
            <a:ext cx="3176588" cy="466725"/>
          </a:xfrm>
          <a:prstGeom prst="rect">
            <a:avLst/>
          </a:prstGeom>
          <a:noFill/>
          <a:ln>
            <a:noFill/>
          </a:ln>
        </p:spPr>
        <p:txBody>
          <a:bodyPr spcFirstLastPara="1" wrap="square" lIns="102350" tIns="51175" rIns="102350" bIns="51175" anchor="t" anchorCtr="0">
            <a:noAutofit/>
          </a:bodyPr>
          <a:lstStyle>
            <a:lvl1pPr marR="0" lvl="0" algn="l"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0" name="Google Shape;4;n"/>
          <p:cNvSpPr txBox="1">
            <a:spLocks noGrp="1"/>
          </p:cNvSpPr>
          <p:nvPr>
            <p:ph type="dt" idx="10"/>
          </p:nvPr>
        </p:nvSpPr>
        <p:spPr>
          <a:xfrm>
            <a:off x="4138613" y="0"/>
            <a:ext cx="3176587" cy="466725"/>
          </a:xfrm>
          <a:prstGeom prst="rect">
            <a:avLst/>
          </a:prstGeom>
          <a:noFill/>
          <a:ln>
            <a:noFill/>
          </a:ln>
        </p:spPr>
        <p:txBody>
          <a:bodyPr spcFirstLastPara="1" wrap="square" lIns="102350" tIns="51175" rIns="102350" bIns="51175" anchor="t" anchorCtr="0">
            <a:noAutofit/>
          </a:bodyPr>
          <a:lstStyle>
            <a:lvl1pPr marR="0" lvl="0" algn="r"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1" name="Google Shape;5;n"/>
          <p:cNvSpPr>
            <a:spLocks noGrp="1" noRot="1" noChangeAspect="1"/>
          </p:cNvSpPr>
          <p:nvPr>
            <p:ph type="sldImg" idx="3"/>
          </p:nvPr>
        </p:nvSpPr>
        <p:spPr>
          <a:xfrm>
            <a:off x="1062038" y="735013"/>
            <a:ext cx="5197475" cy="35988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48662" name="Google Shape;6;n"/>
          <p:cNvSpPr txBox="1">
            <a:spLocks noGrp="1"/>
          </p:cNvSpPr>
          <p:nvPr>
            <p:ph type="body" idx="1"/>
          </p:nvPr>
        </p:nvSpPr>
        <p:spPr>
          <a:xfrm>
            <a:off x="962025" y="4567238"/>
            <a:ext cx="5391150" cy="4300537"/>
          </a:xfrm>
          <a:prstGeom prst="rect">
            <a:avLst/>
          </a:prstGeom>
          <a:noFill/>
          <a:ln>
            <a:noFill/>
          </a:ln>
        </p:spPr>
        <p:txBody>
          <a:bodyPr spcFirstLastPara="1" wrap="square" lIns="102350" tIns="51175" rIns="102350" bIns="511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48663" name="Google Shape;7;n"/>
          <p:cNvSpPr txBox="1">
            <a:spLocks noGrp="1"/>
          </p:cNvSpPr>
          <p:nvPr>
            <p:ph type="ftr" idx="11"/>
          </p:nvPr>
        </p:nvSpPr>
        <p:spPr>
          <a:xfrm>
            <a:off x="0" y="9134475"/>
            <a:ext cx="3176588" cy="466725"/>
          </a:xfrm>
          <a:prstGeom prst="rect">
            <a:avLst/>
          </a:prstGeom>
          <a:noFill/>
          <a:ln>
            <a:noFill/>
          </a:ln>
        </p:spPr>
        <p:txBody>
          <a:bodyPr spcFirstLastPara="1" wrap="square" lIns="102350" tIns="51175" rIns="102350" bIns="51175" anchor="b" anchorCtr="0">
            <a:noAutofit/>
          </a:bodyPr>
          <a:lstStyle>
            <a:lvl1pPr marR="0" lvl="0" algn="l"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4" name="Google Shape;8;n"/>
          <p:cNvSpPr txBox="1">
            <a:spLocks noGrp="1"/>
          </p:cNvSpPr>
          <p:nvPr>
            <p:ph type="sldNum" idx="12"/>
          </p:nvPr>
        </p:nvSpPr>
        <p:spPr>
          <a:xfrm>
            <a:off x="4138613" y="9134475"/>
            <a:ext cx="3176587" cy="466725"/>
          </a:xfrm>
          <a:prstGeom prst="rect">
            <a:avLst/>
          </a:prstGeom>
          <a:noFill/>
          <a:ln>
            <a:noFill/>
          </a:ln>
        </p:spPr>
        <p:txBody>
          <a:bodyPr spcFirstLastPara="1" wrap="square" lIns="102350" tIns="51175" rIns="102350" bIns="51175" anchor="b" anchorCtr="0">
            <a:noAutofit/>
          </a:bodyPr>
          <a:lstStyle/>
          <a:p>
            <a:pPr marL="0" marR="0" lvl="0" indent="0" algn="r" rtl="0">
              <a:spcBef>
                <a:spcPts val="0"/>
              </a:spcBef>
              <a:spcAft>
                <a:spcPts val="0"/>
              </a:spcAft>
              <a:buNone/>
            </a:pPr>
            <a:fld id="{00000000-1234-1234-1234-123412341234}" type="slidenum">
              <a:rPr lang="en-US" sz="2000" b="0" i="0" u="none" strike="noStrike" cap="none">
                <a:solidFill>
                  <a:schemeClr val="dk1"/>
                </a:solidFill>
                <a:latin typeface="Times New Roman"/>
                <a:ea typeface="Times New Roman"/>
                <a:cs typeface="Times New Roman"/>
                <a:sym typeface="Times New Roman"/>
              </a:rPr>
              <a:t>‹#›</a:t>
            </a:fld>
            <a:endParaRPr sz="2000" b="0" i="0" u="none" strike="noStrike" cap="none" dirty="0">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投影片圖像版面配置區 1"/>
          <p:cNvSpPr>
            <a:spLocks noGrp="1" noRot="1" noChangeAspect="1"/>
          </p:cNvSpPr>
          <p:nvPr>
            <p:ph type="sldImg"/>
          </p:nvPr>
        </p:nvSpPr>
        <p:spPr/>
      </p:sp>
      <p:sp>
        <p:nvSpPr>
          <p:cNvPr id="1048586" name="備忘稿版面配置區 2"/>
          <p:cNvSpPr>
            <a:spLocks noGrp="1"/>
          </p:cNvSpPr>
          <p:nvPr>
            <p:ph type="body" idx="1"/>
          </p:nvPr>
        </p:nvSpPr>
        <p:spPr/>
        <p:txBody>
          <a:bodyPr/>
          <a:lstStyle/>
          <a:p>
            <a:endParaRPr lang="zh-TW" altLang="en-US" dirty="0"/>
          </a:p>
        </p:txBody>
      </p:sp>
      <p:sp>
        <p:nvSpPr>
          <p:cNvPr id="1048587" name="投影片編號版面配置區 3"/>
          <p:cNvSpPr>
            <a:spLocks noGrp="1"/>
          </p:cNvSpPr>
          <p:nvPr>
            <p:ph type="sldNum" sz="quarter" idx="10"/>
          </p:nvPr>
        </p:nvSpPr>
        <p:spPr/>
        <p:txBody>
          <a:bodyPr/>
          <a:lstStyle/>
          <a:p>
            <a:fld id="{F5753A29-9D77-4C26-8BEC-432FE5D4B0A4}" type="slidenum">
              <a:rPr lang="en-US" altLang="zh-TW" smtClean="0"/>
              <a:t>1</a:t>
            </a:fld>
            <a:endParaRPr lang="en-US"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110AC-F4A0-7D78-93B0-AF6E23C1C86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D5172F1-B577-25A9-AA74-C6AF6766164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9BD86B3-8EAB-902A-DCF6-698ADFDE9E8A}"/>
              </a:ext>
            </a:extLst>
          </p:cNvPr>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US" altLang="zh-TW" sz="1200" b="0" dirty="0">
              <a:latin typeface="Arial" panose="020B0604020202020204" pitchFamily="34" charset="0"/>
              <a:ea typeface="標楷體" panose="03000509000000000000" pitchFamily="65" charset="-120"/>
              <a:cs typeface="Arial" panose="020B0604020202020204" pitchFamily="34" charset="0"/>
            </a:endParaRPr>
          </a:p>
        </p:txBody>
      </p:sp>
      <p:sp>
        <p:nvSpPr>
          <p:cNvPr id="4" name="投影片編號版面配置區 3">
            <a:extLst>
              <a:ext uri="{FF2B5EF4-FFF2-40B4-BE49-F238E27FC236}">
                <a16:creationId xmlns:a16="http://schemas.microsoft.com/office/drawing/2014/main" id="{69A9F744-724B-AE5D-EE31-BDB2E094083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2</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11216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7CC5-12D8-16D3-9253-45D955F691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823088-0DD2-55CA-4BEE-63925050B0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CB207-5F1A-F34F-8FA9-CF58582A5670}"/>
              </a:ext>
            </a:extLst>
          </p:cNvPr>
          <p:cNvSpPr>
            <a:spLocks noGrp="1"/>
          </p:cNvSpPr>
          <p:nvPr>
            <p:ph type="body" idx="1"/>
          </p:nvPr>
        </p:nvSpPr>
        <p:spPr/>
        <p:txBody>
          <a:bodyPr/>
          <a:lstStyle/>
          <a:p>
            <a:r>
              <a:rPr lang="zh-TW" altLang="zh-TW" dirty="0"/>
              <a:t>不同裝置有自己的色彩表示方式。如果直接做裝置對裝置的轉換，裝置種類增加時，就需要考慮更多裝置間的對應關係。</a:t>
            </a:r>
            <a:endParaRPr lang="en-US" altLang="zh-TW" dirty="0"/>
          </a:p>
          <a:p>
            <a:r>
              <a:rPr lang="zh-TW" altLang="en-US" dirty="0"/>
              <a:t>例如：相機的照片想要在印表機上顯示相同畫面他們的色彩關係必然需要做轉換，如此一來設備數量變多時，每台設備間都要有獨立的轉換關係會讓色彩管理變得困難。</a:t>
            </a:r>
            <a:endParaRPr lang="en-US" altLang="zh-TW" dirty="0"/>
          </a:p>
        </p:txBody>
      </p:sp>
      <p:sp>
        <p:nvSpPr>
          <p:cNvPr id="4" name="投影片編號版面配置區 3">
            <a:extLst>
              <a:ext uri="{FF2B5EF4-FFF2-40B4-BE49-F238E27FC236}">
                <a16:creationId xmlns:a16="http://schemas.microsoft.com/office/drawing/2014/main" id="{25F3CA63-2998-B736-F517-4B82A1C74C4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3</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69707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7CC5-12D8-16D3-9253-45D955F691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823088-0DD2-55CA-4BEE-63925050B0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CB207-5F1A-F34F-8FA9-CF58582A5670}"/>
              </a:ext>
            </a:extLst>
          </p:cNvPr>
          <p:cNvSpPr>
            <a:spLocks noGrp="1"/>
          </p:cNvSpPr>
          <p:nvPr>
            <p:ph type="body" idx="1"/>
          </p:nvPr>
        </p:nvSpPr>
        <p:spPr/>
        <p:txBody>
          <a:bodyPr/>
          <a:lstStyle/>
          <a:p>
            <a:r>
              <a:rPr lang="zh-TW" altLang="en-US" dirty="0"/>
              <a:t>因此</a:t>
            </a:r>
            <a:r>
              <a:rPr lang="en-US" altLang="zh-TW" dirty="0"/>
              <a:t>ICC</a:t>
            </a:r>
            <a:r>
              <a:rPr lang="zh-TW" altLang="en-US" dirty="0"/>
              <a:t>做了一件事，他訂了讓所有設備都能通用的標準，這樣不同設備間就能</a:t>
            </a:r>
            <a:r>
              <a:rPr lang="zh-TW" altLang="zh-TW" dirty="0"/>
              <a:t>將自己的 Device Color Space 與共同的 PCS 建立轉換關係，使不同設備的 Profile 可以透過同一個 PCS 互相連接。</a:t>
            </a:r>
            <a:endParaRPr lang="zh-TW" altLang="en-US" dirty="0"/>
          </a:p>
        </p:txBody>
      </p:sp>
      <p:sp>
        <p:nvSpPr>
          <p:cNvPr id="4" name="投影片編號版面配置區 3">
            <a:extLst>
              <a:ext uri="{FF2B5EF4-FFF2-40B4-BE49-F238E27FC236}">
                <a16:creationId xmlns:a16="http://schemas.microsoft.com/office/drawing/2014/main" id="{25F3CA63-2998-B736-F517-4B82A1C74C4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4</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50789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7CC5-12D8-16D3-9253-45D955F691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823088-0DD2-55CA-4BEE-63925050B0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CB207-5F1A-F34F-8FA9-CF58582A567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5F3CA63-2998-B736-F517-4B82A1C74C4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5</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76664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51A70-D7FF-B69E-2F1F-5276D7F44C5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B2E1DE-40DE-B1BA-7135-64BFFB1631B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4F8DB8E-F5F1-21EB-D41F-2C635FB715D5}"/>
              </a:ext>
            </a:extLst>
          </p:cNvPr>
          <p:cNvSpPr>
            <a:spLocks noGrp="1"/>
          </p:cNvSpPr>
          <p:nvPr>
            <p:ph type="body" idx="1"/>
          </p:nvPr>
        </p:nvSpPr>
        <p:spPr/>
        <p:txBody>
          <a:bodyPr/>
          <a:lstStyle/>
          <a:p>
            <a:r>
              <a:rPr lang="zh-TW" altLang="zh-TW" dirty="0"/>
              <a:t>ICC Profile 是一種具有固定資料結構的二進位 Profile 檔案。其主要結構由三部分組成：Profile Header、Profile Tag Table，以及 Profile Tagged Element Data。Header 告訴系統這個 Profile 的基本資訊；Tag Table 則像目錄，告訴系統 Profile 裡有哪些 Tag 以及資料在哪裡；真正的資料則放在 Tagged Element Data 裡。</a:t>
            </a:r>
            <a:endParaRPr lang="en-US" altLang="zh-TW" dirty="0"/>
          </a:p>
          <a:p>
            <a:endParaRPr lang="en-US" altLang="zh-TW" dirty="0"/>
          </a:p>
          <a:p>
            <a:r>
              <a:rPr lang="zh-TW" altLang="en-US" dirty="0"/>
              <a:t>範例的</a:t>
            </a:r>
            <a:r>
              <a:rPr lang="en-US" altLang="zh-TW" dirty="0"/>
              <a:t>ICC</a:t>
            </a:r>
            <a:r>
              <a:rPr lang="zh-TW" altLang="en-US" dirty="0"/>
              <a:t>是我使用</a:t>
            </a:r>
            <a:r>
              <a:rPr lang="en-US" altLang="zh-TW" dirty="0"/>
              <a:t>windows</a:t>
            </a:r>
            <a:r>
              <a:rPr lang="zh-TW" altLang="en-US" dirty="0"/>
              <a:t>校正自己產生的</a:t>
            </a:r>
            <a:r>
              <a:rPr lang="en-US" altLang="zh-TW" dirty="0"/>
              <a:t>ICC</a:t>
            </a:r>
            <a:r>
              <a:rPr lang="zh-TW" altLang="en-US" dirty="0"/>
              <a:t>檔案</a:t>
            </a:r>
          </a:p>
        </p:txBody>
      </p:sp>
      <p:sp>
        <p:nvSpPr>
          <p:cNvPr id="4" name="投影片編號版面配置區 3">
            <a:extLst>
              <a:ext uri="{FF2B5EF4-FFF2-40B4-BE49-F238E27FC236}">
                <a16:creationId xmlns:a16="http://schemas.microsoft.com/office/drawing/2014/main" id="{A81AD260-1FA1-46D2-EEFC-6CE390861C0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6</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49486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D7BE6-0C6A-24C7-EDCE-42FCC8CD50F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63FA2D6-6572-94E0-F6B6-6A5BA501922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7639A5D-EDAF-4F81-B67C-950D2048D712}"/>
              </a:ext>
            </a:extLst>
          </p:cNvPr>
          <p:cNvSpPr>
            <a:spLocks noGrp="1"/>
          </p:cNvSpPr>
          <p:nvPr>
            <p:ph type="body" idx="1"/>
          </p:nvPr>
        </p:nvSpPr>
        <p:spPr/>
        <p:txBody>
          <a:bodyPr/>
          <a:lstStyle/>
          <a:p>
            <a:r>
              <a:rPr lang="zh-TW" altLang="en-US" dirty="0"/>
              <a:t>例子中的</a:t>
            </a:r>
            <a:r>
              <a:rPr lang="en-US" altLang="zh-TW" dirty="0"/>
              <a:t>gamma2.2</a:t>
            </a:r>
            <a:r>
              <a:rPr lang="zh-TW" altLang="en-US" dirty="0"/>
              <a:t>做的事情就可以說是一種</a:t>
            </a:r>
            <a:r>
              <a:rPr lang="en-US" altLang="zh-TW" dirty="0"/>
              <a:t>TRC</a:t>
            </a:r>
            <a:r>
              <a:rPr lang="zh-TW" altLang="en-US" dirty="0"/>
              <a:t>，將原先非線性的</a:t>
            </a:r>
            <a:r>
              <a:rPr lang="en-US" altLang="zh-TW" dirty="0"/>
              <a:t>RGB</a:t>
            </a:r>
            <a:r>
              <a:rPr lang="zh-TW" altLang="en-US" dirty="0"/>
              <a:t>轉換為線性的</a:t>
            </a:r>
            <a:r>
              <a:rPr lang="en-US" altLang="zh-TW" dirty="0"/>
              <a:t>RGB</a:t>
            </a:r>
            <a:r>
              <a:rPr lang="zh-TW" altLang="en-US" dirty="0"/>
              <a:t>，這就是</a:t>
            </a:r>
            <a:r>
              <a:rPr lang="en-US" altLang="zh-TW" dirty="0"/>
              <a:t>TRC</a:t>
            </a:r>
            <a:r>
              <a:rPr lang="zh-TW" altLang="en-US" dirty="0"/>
              <a:t>的具體功能，當然</a:t>
            </a:r>
            <a:r>
              <a:rPr lang="en-US" altLang="zh-TW" dirty="0"/>
              <a:t>TRC</a:t>
            </a:r>
            <a:r>
              <a:rPr lang="zh-TW" altLang="en-US" dirty="0"/>
              <a:t>可以是</a:t>
            </a:r>
            <a:r>
              <a:rPr lang="en-US" altLang="zh-TW" dirty="0"/>
              <a:t>3</a:t>
            </a:r>
            <a:r>
              <a:rPr lang="zh-TW" altLang="en-US" dirty="0"/>
              <a:t>條獨立的</a:t>
            </a:r>
            <a:r>
              <a:rPr lang="en-US" altLang="zh-TW" dirty="0"/>
              <a:t>LUT</a:t>
            </a:r>
            <a:r>
              <a:rPr lang="zh-TW" altLang="en-US" dirty="0"/>
              <a:t>也可以是「</a:t>
            </a:r>
            <a:r>
              <a:rPr lang="zh-TW" altLang="zh-TW" b="1" dirty="0"/>
              <a:t>曲線資料</a:t>
            </a:r>
            <a:r>
              <a:rPr lang="zh-TW" altLang="zh-TW" dirty="0"/>
              <a:t>或</a:t>
            </a:r>
            <a:r>
              <a:rPr lang="zh-TW" altLang="zh-TW" b="1" dirty="0"/>
              <a:t>參數化函數</a:t>
            </a:r>
            <a:r>
              <a:rPr lang="zh-TW" altLang="en-US" b="1" dirty="0"/>
              <a:t>」甚至是簡單的</a:t>
            </a:r>
            <a:r>
              <a:rPr lang="en-US" altLang="zh-TW" b="1" dirty="0"/>
              <a:t>gamma</a:t>
            </a:r>
            <a:endParaRPr lang="zh-TW" altLang="en-US" dirty="0"/>
          </a:p>
        </p:txBody>
      </p:sp>
      <p:sp>
        <p:nvSpPr>
          <p:cNvPr id="4" name="投影片編號版面配置區 3">
            <a:extLst>
              <a:ext uri="{FF2B5EF4-FFF2-40B4-BE49-F238E27FC236}">
                <a16:creationId xmlns:a16="http://schemas.microsoft.com/office/drawing/2014/main" id="{F8ED7604-660E-D030-99B4-A4E74D119DF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7</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80622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C1817-9E04-5A55-E8CC-FD3FF3F825B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299D6F9-1619-B844-57EE-48AA0121A27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7B0488B-586D-2F37-7E25-09C139D9BBC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341146E-6544-F922-461C-1EB94C558E3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8</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90530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B7DC1-8982-FBBF-D79C-E8A85E11B32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47EDAF3-B8EA-0C16-8FC2-00C5C1AACCA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AFC5512-2ACA-40AC-FE98-A0E260C52EA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13566B9-8C8D-F476-4186-FD06F269D3E2}"/>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9</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45617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C75CA-3512-5200-7DBF-85A4A62254F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0701003-F5AB-395E-1F05-C522252BFC2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A99BDB9-DB82-178B-856D-AEF12F8D8224}"/>
              </a:ext>
            </a:extLst>
          </p:cNvPr>
          <p:cNvSpPr>
            <a:spLocks noGrp="1"/>
          </p:cNvSpPr>
          <p:nvPr>
            <p:ph type="body" idx="1"/>
          </p:nvPr>
        </p:nvSpPr>
        <p:spPr/>
        <p:txBody>
          <a:bodyPr/>
          <a:lstStyle/>
          <a:p>
            <a:r>
              <a:rPr lang="en-US" altLang="zh-TW" sz="12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VCGT</a:t>
            </a:r>
            <a:r>
              <a:rPr lang="zh-TW" altLang="en-US" sz="12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並非</a:t>
            </a:r>
            <a:r>
              <a:rPr lang="en-US" altLang="zh-TW" sz="12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ICC</a:t>
            </a:r>
            <a:r>
              <a:rPr lang="zh-TW" altLang="en-US" sz="12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的必要標籤，</a:t>
            </a:r>
            <a:r>
              <a:rPr lang="zh-TW" altLang="zh-TW" dirty="0"/>
              <a:t>它可以儲存gamma-ram的校正資料</a:t>
            </a:r>
            <a:endParaRPr lang="zh-TW" altLang="en-US" dirty="0"/>
          </a:p>
        </p:txBody>
      </p:sp>
      <p:sp>
        <p:nvSpPr>
          <p:cNvPr id="4" name="投影片編號版面配置區 3">
            <a:extLst>
              <a:ext uri="{FF2B5EF4-FFF2-40B4-BE49-F238E27FC236}">
                <a16:creationId xmlns:a16="http://schemas.microsoft.com/office/drawing/2014/main" id="{AC1C5EF3-FCDA-CAE3-2B84-5FAC4A4AEC5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10</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751135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86EDD-7E59-3AB8-C679-CC30FFE7F48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A434257-F0DE-AEE9-04C9-D329750FF22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4FC723B-B57F-C33D-0C03-279471C75A8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AE0FC2C-7562-289F-30A1-6202FD9A3C3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11</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53299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C3F7-F131-3F7D-0332-B853C81F541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8E069C7-B926-F35E-EA2C-86335228DDD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5E942C1-E03C-D970-B419-17F1785ADDD6}"/>
              </a:ext>
            </a:extLst>
          </p:cNvPr>
          <p:cNvSpPr>
            <a:spLocks noGrp="1"/>
          </p:cNvSpPr>
          <p:nvPr>
            <p:ph type="body" idx="1"/>
          </p:nvPr>
        </p:nvSpPr>
        <p:spPr/>
        <p:txBody>
          <a:bodyPr/>
          <a:lstStyle/>
          <a:p>
            <a:r>
              <a:rPr lang="zh-TW" altLang="en-US" b="0" dirty="0"/>
              <a:t>簡單說就是</a:t>
            </a:r>
            <a:r>
              <a:rPr lang="zh-TW" altLang="zh-TW" b="0" dirty="0"/>
              <a:t>提供</a:t>
            </a:r>
            <a:r>
              <a:rPr lang="en-US" altLang="zh-TW" b="0" dirty="0"/>
              <a:t>CMS</a:t>
            </a:r>
            <a:r>
              <a:rPr lang="zh-TW" altLang="zh-TW" b="0" dirty="0"/>
              <a:t>所需的裝置色彩資訊，使裝置原生色彩空間與裝置無關色彩空間之間可以進行轉換。</a:t>
            </a:r>
            <a:endParaRPr lang="en-US" altLang="zh-TW" b="0" dirty="0"/>
          </a:p>
          <a:p>
            <a:r>
              <a:rPr lang="zh-TW" altLang="zh-TW" dirty="0"/>
              <a:t>ICC Profile 本身的核心功能是「描述」而不是「校正」；在典型的校正流程中，是先將 Display 校正至目標行為，再對校正後的 Display 進行 profiling，建立 ICC Profile。</a:t>
            </a:r>
            <a:endParaRPr lang="zh-TW" altLang="en-US" b="0" dirty="0"/>
          </a:p>
        </p:txBody>
      </p:sp>
      <p:sp>
        <p:nvSpPr>
          <p:cNvPr id="4" name="投影片編號版面配置區 3">
            <a:extLst>
              <a:ext uri="{FF2B5EF4-FFF2-40B4-BE49-F238E27FC236}">
                <a16:creationId xmlns:a16="http://schemas.microsoft.com/office/drawing/2014/main" id="{31B50614-590C-CC48-8F4F-397D496E53D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12</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29299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B6D5-993E-26F5-9C44-C5D525DA7DD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B5F2A66-F24A-A462-6F12-218184B02EB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6FDBCF0-B4E1-DC68-FF31-D0F8D4C04ACF}"/>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DisplayCAL </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能透過</a:t>
            </a:r>
            <a:r>
              <a:rPr lang="zh-TW" altLang="zh-TW" sz="1200" dirty="0"/>
              <a:t>ArgyllCMS</a:t>
            </a:r>
            <a:r>
              <a:rPr lang="zh-TW" altLang="en-US" sz="1200" dirty="0"/>
              <a:t>做到生成特定色溫與</a:t>
            </a:r>
            <a:r>
              <a:rPr lang="en-US" altLang="zh-TW" sz="1200" dirty="0"/>
              <a:t>gamma</a:t>
            </a:r>
            <a:r>
              <a:rPr lang="zh-TW" altLang="en-US" sz="1200" dirty="0"/>
              <a:t>的</a:t>
            </a:r>
            <a:r>
              <a:rPr lang="en-US" altLang="zh-TW" sz="1200" dirty="0"/>
              <a:t>ICC</a:t>
            </a:r>
            <a:r>
              <a:rPr lang="zh-TW" altLang="en-US" sz="1200" dirty="0"/>
              <a:t>，也能做到使用感測器生成具校正功能的</a:t>
            </a:r>
            <a:r>
              <a:rPr lang="en-US" altLang="zh-TW" sz="1200" dirty="0"/>
              <a:t>ICC</a:t>
            </a:r>
            <a:r>
              <a:rPr lang="zh-TW" altLang="en-US" sz="1200" dirty="0"/>
              <a:t>。並友直街觀看</a:t>
            </a:r>
            <a:r>
              <a:rPr lang="en-US" altLang="zh-TW" sz="1200" dirty="0"/>
              <a:t>ICC</a:t>
            </a:r>
            <a:r>
              <a:rPr lang="zh-TW" altLang="en-US" sz="1200" dirty="0"/>
              <a:t>內部參數的功能，主要使用</a:t>
            </a:r>
            <a:r>
              <a:rPr lang="en-US" altLang="zh-TW" sz="1200" dirty="0"/>
              <a:t>python</a:t>
            </a:r>
            <a:r>
              <a:rPr lang="zh-TW" altLang="en-US" sz="1200" dirty="0"/>
              <a:t>撰寫</a:t>
            </a:r>
            <a:endParaRPr lang="en-US" altLang="zh-TW" sz="1200" dirty="0"/>
          </a:p>
          <a:p>
            <a:pPr marL="457200" marR="0" lvl="0" indent="-22860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zh-TW" altLang="zh-TW" sz="1200" dirty="0"/>
              <a:t>ArgyllCMS</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主要由 </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C</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 撰寫，為</a:t>
            </a:r>
            <a:r>
              <a:rPr lang="zh-TW" altLang="zh-TW" dirty="0"/>
              <a:t>DisplayCAL </a:t>
            </a:r>
            <a:r>
              <a:rPr lang="zh-TW" altLang="en-US" dirty="0"/>
              <a:t>應用的核心工作器，是如何生成</a:t>
            </a:r>
            <a:r>
              <a:rPr lang="en-US" altLang="zh-TW" dirty="0"/>
              <a:t>ICC</a:t>
            </a:r>
            <a:r>
              <a:rPr lang="zh-TW" altLang="en-US" dirty="0"/>
              <a:t> </a:t>
            </a:r>
            <a:r>
              <a:rPr lang="en-US" altLang="zh-TW" dirty="0"/>
              <a:t>Profile</a:t>
            </a:r>
            <a:r>
              <a:rPr lang="zh-TW" altLang="en-US" dirty="0"/>
              <a:t>的關鍵</a:t>
            </a: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9B8DA5A3-1BB6-F49D-76B7-392A3D01E52A}"/>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13</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39280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投影片影像版面配置區 1"/>
          <p:cNvSpPr>
            <a:spLocks noGrp="1" noRot="1" noChangeAspect="1"/>
          </p:cNvSpPr>
          <p:nvPr>
            <p:ph type="sldImg"/>
          </p:nvPr>
        </p:nvSpPr>
        <p:spPr/>
      </p:sp>
      <p:sp>
        <p:nvSpPr>
          <p:cNvPr id="1048642" name="備忘稿版面配置區 2"/>
          <p:cNvSpPr>
            <a:spLocks noGrp="1"/>
          </p:cNvSpPr>
          <p:nvPr>
            <p:ph type="body" idx="1"/>
          </p:nvPr>
        </p:nvSpPr>
        <p:spPr/>
        <p:txBody>
          <a:bodyPr/>
          <a:lstStyle/>
          <a:p>
            <a:pPr marL="228600" indent="0">
              <a:buNone/>
            </a:pPr>
            <a:endParaRPr lang="en-US" altLang="zh-TW" dirty="0"/>
          </a:p>
        </p:txBody>
      </p:sp>
      <p:sp>
        <p:nvSpPr>
          <p:cNvPr id="1048643" name="投影片編號版面配置區 3"/>
          <p:cNvSpPr>
            <a:spLocks noGrp="1"/>
          </p:cNvSpPr>
          <p:nvPr>
            <p:ph type="sldNum" sz="quarter" idx="5"/>
          </p:nvPr>
        </p:nvSpPr>
        <p:spPr/>
        <p:txBody>
          <a:bodyPr/>
          <a:lstStyle/>
          <a:p>
            <a:fld id="{F5753A29-9D77-4C26-8BEC-432FE5D4B0A4}" type="slidenum">
              <a:rPr lang="en-US" altLang="zh-TW" smtClean="0"/>
              <a:t>14</a:t>
            </a:fld>
            <a:endParaRPr lang="en-US" altLang="zh-TW"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DCB87-D510-3E12-0B70-9F66CF2E4F5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C2220D8-AB85-841B-EEFB-AA26789AEC0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a:extLst>
                  <a:ext uri="{FF2B5EF4-FFF2-40B4-BE49-F238E27FC236}">
                    <a16:creationId xmlns:a16="http://schemas.microsoft.com/office/drawing/2014/main" id="{7E014429-932D-C388-46B7-D1B69AE89375}"/>
                  </a:ext>
                </a:extLst>
              </p:cNvPr>
              <p:cNvSpPr>
                <a:spLocks noGrp="1"/>
              </p:cNvSpPr>
              <p:nvPr>
                <p:ph type="body" idx="1"/>
              </p:nvPr>
            </p:nvSpPr>
            <p:spPr/>
            <p:txBody>
              <a:bodyPr/>
              <a:lstStyle/>
              <a:p>
                <a:r>
                  <a:rPr lang="zh-TW" altLang="zh-TW" dirty="0"/>
                  <a:t>此 </a:t>
                </a:r>
                <a14:m>
                  <m:oMath xmlns:m="http://schemas.openxmlformats.org/officeDocument/2006/math">
                    <m:r>
                      <a:rPr lang="zh-TW" altLang="en-US" sz="1200" b="0" i="1" u="none" strike="noStrike" cap="none">
                        <a:solidFill>
                          <a:schemeClr val="dk1"/>
                        </a:solidFill>
                        <a:latin typeface="Cambria Math" panose="02040503050406030204" pitchFamily="18" charset="0"/>
                        <a:ea typeface="Times New Roman"/>
                        <a:cs typeface="Times New Roman"/>
                        <a:sym typeface="Times New Roman"/>
                      </a:rPr>
                      <m:t>𝑌</m:t>
                    </m:r>
                    <m:r>
                      <a:rPr lang="en-US" altLang="zh-TW" sz="1200" b="0" i="0" u="none" strike="noStrike" cap="none">
                        <a:solidFill>
                          <a:schemeClr val="dk1"/>
                        </a:solidFill>
                        <a:latin typeface="Cambria Math" panose="02040503050406030204" pitchFamily="18" charset="0"/>
                        <a:ea typeface="Times New Roman"/>
                        <a:cs typeface="Times New Roman"/>
                        <a:sym typeface="Times New Roman"/>
                      </a:rPr>
                      <m:t>=1</m:t>
                    </m:r>
                  </m:oMath>
                </a14:m>
                <a:r>
                  <a:rPr lang="zh-TW" altLang="zh-TW" dirty="0"/>
                  <a:t>為相對正規化值，不代表顯示器實際</a:t>
                </a:r>
                <a:r>
                  <a:rPr lang="zh-TW" altLang="en-US" dirty="0"/>
                  <a:t>亮度</a:t>
                </a:r>
              </a:p>
            </p:txBody>
          </p:sp>
        </mc:Choice>
        <mc:Fallback xmlns="">
          <p:sp>
            <p:nvSpPr>
              <p:cNvPr id="3" name="備忘稿版面配置區 2">
                <a:extLst>
                  <a:ext uri="{FF2B5EF4-FFF2-40B4-BE49-F238E27FC236}">
                    <a16:creationId xmlns:a16="http://schemas.microsoft.com/office/drawing/2014/main" id="{7E014429-932D-C388-46B7-D1B69AE89375}"/>
                  </a:ext>
                </a:extLst>
              </p:cNvPr>
              <p:cNvSpPr>
                <a:spLocks noGrp="1"/>
              </p:cNvSpPr>
              <p:nvPr>
                <p:ph type="body" idx="1"/>
              </p:nvPr>
            </p:nvSpPr>
            <p:spPr/>
            <p:txBody>
              <a:bodyPr/>
              <a:lstStyle/>
              <a:p>
                <a:r>
                  <a:rPr lang="zh-TW" altLang="zh-TW" dirty="0"/>
                  <a:t>此 </a:t>
                </a:r>
                <a:r>
                  <a:rPr lang="zh-TW" altLang="en-US" sz="1200" b="0" i="0" u="none" strike="noStrike" cap="none">
                    <a:solidFill>
                      <a:schemeClr val="dk1"/>
                    </a:solidFill>
                    <a:latin typeface="Times New Roman"/>
                    <a:ea typeface="Times New Roman"/>
                    <a:cs typeface="Times New Roman"/>
                    <a:sym typeface="Times New Roman"/>
                  </a:rPr>
                  <a:t>𝑌</a:t>
                </a:r>
                <a:r>
                  <a:rPr lang="en-US" altLang="zh-TW" sz="1200" b="0" i="0" u="none" strike="noStrike" cap="none">
                    <a:solidFill>
                      <a:schemeClr val="dk1"/>
                    </a:solidFill>
                    <a:latin typeface="Times New Roman"/>
                    <a:ea typeface="Times New Roman"/>
                    <a:cs typeface="Times New Roman"/>
                    <a:sym typeface="Times New Roman"/>
                  </a:rPr>
                  <a:t>=1</a:t>
                </a:r>
                <a:r>
                  <a:rPr lang="zh-TW" altLang="zh-TW" dirty="0"/>
                  <a:t>為相對正規化值，不代表顯示器實際</a:t>
                </a:r>
                <a:r>
                  <a:rPr lang="zh-TW" altLang="en-US" dirty="0"/>
                  <a:t>亮度</a:t>
                </a:r>
              </a:p>
            </p:txBody>
          </p:sp>
        </mc:Fallback>
      </mc:AlternateContent>
      <p:sp>
        <p:nvSpPr>
          <p:cNvPr id="4" name="投影片編號版面配置區 3">
            <a:extLst>
              <a:ext uri="{FF2B5EF4-FFF2-40B4-BE49-F238E27FC236}">
                <a16:creationId xmlns:a16="http://schemas.microsoft.com/office/drawing/2014/main" id="{ECE301C6-59CB-7CC2-23BD-00E11BDD5D3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15</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64529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72D9A-17ED-75CA-795D-509CF0D875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69CEF18-87E4-2E84-A1BF-D6C3FDCAD95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6A84E15-D033-5994-8FD9-2EF38E9D985D}"/>
              </a:ext>
            </a:extLst>
          </p:cNvPr>
          <p:cNvSpPr>
            <a:spLocks noGrp="1"/>
          </p:cNvSpPr>
          <p:nvPr>
            <p:ph type="body" idx="1"/>
          </p:nvPr>
        </p:nvSpPr>
        <p:spPr/>
        <p:txBody>
          <a:bodyPr/>
          <a:lstStyle/>
          <a:p>
            <a:r>
              <a:rPr lang="zh-TW" altLang="en-US" dirty="0"/>
              <a:t>接著我們將</a:t>
            </a:r>
            <a:r>
              <a:rPr lang="en-US" altLang="zh-TW" dirty="0"/>
              <a:t>RGB</a:t>
            </a:r>
            <a:r>
              <a:rPr lang="zh-TW" altLang="en-US" dirty="0"/>
              <a:t>合成為</a:t>
            </a:r>
            <a:r>
              <a:rPr lang="en-US" altLang="zh-TW" dirty="0"/>
              <a:t>3*3</a:t>
            </a:r>
            <a:r>
              <a:rPr lang="zh-TW" altLang="en-US" dirty="0"/>
              <a:t>矩陣</a:t>
            </a:r>
            <a:r>
              <a:rPr lang="en-US" altLang="zh-TW" dirty="0"/>
              <a:t>P</a:t>
            </a:r>
            <a:r>
              <a:rPr lang="zh-TW" altLang="en-US" dirty="0"/>
              <a:t>，此時</a:t>
            </a:r>
            <a:r>
              <a:rPr lang="en-US" altLang="zh-TW" dirty="0"/>
              <a:t>P</a:t>
            </a:r>
            <a:r>
              <a:rPr lang="zh-TW" altLang="en-US" dirty="0"/>
              <a:t>便代表</a:t>
            </a:r>
            <a:r>
              <a:rPr lang="zh-TW" altLang="zh-TW" dirty="0"/>
              <a:t>三原色各自的色度方向</a:t>
            </a:r>
            <a:endParaRPr lang="zh-TW" altLang="en-US" dirty="0"/>
          </a:p>
        </p:txBody>
      </p:sp>
      <p:sp>
        <p:nvSpPr>
          <p:cNvPr id="4" name="投影片編號版面配置區 3">
            <a:extLst>
              <a:ext uri="{FF2B5EF4-FFF2-40B4-BE49-F238E27FC236}">
                <a16:creationId xmlns:a16="http://schemas.microsoft.com/office/drawing/2014/main" id="{9C3150AD-26DE-59A4-DABA-A8A92E906A3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16</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58879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A681A-88EB-5E43-27F0-EA34E562E0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6C04ECA-D873-1236-C2C8-8A052C1F5FC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EBD2639-D696-3DD9-3C32-292A4F25C5F9}"/>
              </a:ext>
            </a:extLst>
          </p:cNvPr>
          <p:cNvSpPr>
            <a:spLocks noGrp="1"/>
          </p:cNvSpPr>
          <p:nvPr>
            <p:ph type="body" idx="1"/>
          </p:nvPr>
        </p:nvSpPr>
        <p:spPr/>
        <p:txBody>
          <a:bodyPr/>
          <a:lstStyle/>
          <a:p>
            <a:r>
              <a:rPr lang="zh-TW" altLang="en-US" dirty="0"/>
              <a:t>最終結果得到縮放比例與</a:t>
            </a:r>
            <a:r>
              <a:rPr lang="en-US" altLang="zh-TW" dirty="0"/>
              <a:t>M</a:t>
            </a:r>
            <a:endParaRPr lang="zh-TW" altLang="en-US" dirty="0"/>
          </a:p>
        </p:txBody>
      </p:sp>
      <p:sp>
        <p:nvSpPr>
          <p:cNvPr id="4" name="投影片編號版面配置區 3">
            <a:extLst>
              <a:ext uri="{FF2B5EF4-FFF2-40B4-BE49-F238E27FC236}">
                <a16:creationId xmlns:a16="http://schemas.microsoft.com/office/drawing/2014/main" id="{D2C49B69-3433-A410-E980-5AC38B15777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17</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22601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20"/>
        <p:cNvGrpSpPr/>
        <p:nvPr/>
      </p:nvGrpSpPr>
      <p:grpSpPr>
        <a:xfrm>
          <a:off x="0" y="0"/>
          <a:ext cx="0" cy="0"/>
          <a:chOff x="0" y="0"/>
          <a:chExt cx="0" cy="0"/>
        </a:xfrm>
      </p:grpSpPr>
      <p:sp>
        <p:nvSpPr>
          <p:cNvPr id="1048636" name="Google Shape;21;p50"/>
          <p:cNvSpPr txBox="1">
            <a:spLocks noGrp="1"/>
          </p:cNvSpPr>
          <p:nvPr>
            <p:ph type="ctrTitle"/>
          </p:nvPr>
        </p:nvSpPr>
        <p:spPr>
          <a:xfrm>
            <a:off x="1238250" y="1122363"/>
            <a:ext cx="7429500" cy="2387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4875"/>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37" name="Google Shape;22;p50"/>
          <p:cNvSpPr txBox="1">
            <a:spLocks noGrp="1"/>
          </p:cNvSpPr>
          <p:nvPr>
            <p:ph type="subTitle" idx="1"/>
          </p:nvPr>
        </p:nvSpPr>
        <p:spPr>
          <a:xfrm>
            <a:off x="1238250" y="3602038"/>
            <a:ext cx="7429500" cy="1655762"/>
          </a:xfrm>
          <a:prstGeom prst="rect">
            <a:avLst/>
          </a:prstGeom>
          <a:noFill/>
          <a:ln>
            <a:noFill/>
          </a:ln>
        </p:spPr>
        <p:txBody>
          <a:bodyPr spcFirstLastPara="1" wrap="square" lIns="91425" tIns="45700" rIns="91425" bIns="45700" anchor="t" anchorCtr="0">
            <a:noAutofit/>
          </a:bodyPr>
          <a:lstStyle>
            <a:lvl1pPr lvl="0" algn="ctr">
              <a:spcBef>
                <a:spcPts val="390"/>
              </a:spcBef>
              <a:spcAft>
                <a:spcPts val="0"/>
              </a:spcAft>
              <a:buSzPts val="1950"/>
              <a:buNone/>
              <a:defRPr sz="1950"/>
            </a:lvl1pPr>
            <a:lvl2pPr lvl="1" algn="ctr">
              <a:spcBef>
                <a:spcPts val="325"/>
              </a:spcBef>
              <a:spcAft>
                <a:spcPts val="0"/>
              </a:spcAft>
              <a:buSzPts val="1625"/>
              <a:buNone/>
              <a:defRPr sz="1625"/>
            </a:lvl2pPr>
            <a:lvl3pPr lvl="2" algn="ctr">
              <a:spcBef>
                <a:spcPts val="293"/>
              </a:spcBef>
              <a:spcAft>
                <a:spcPts val="0"/>
              </a:spcAft>
              <a:buSzPts val="1463"/>
              <a:buFont typeface="Times New Roman"/>
              <a:buNone/>
              <a:defRPr sz="1463"/>
            </a:lvl3pPr>
            <a:lvl4pPr lvl="3" algn="ctr">
              <a:spcBef>
                <a:spcPts val="260"/>
              </a:spcBef>
              <a:spcAft>
                <a:spcPts val="0"/>
              </a:spcAft>
              <a:buSzPts val="1300"/>
              <a:buFont typeface="Times New Roman"/>
              <a:buNone/>
              <a:defRPr sz="1300"/>
            </a:lvl4pPr>
            <a:lvl5pPr lvl="4" algn="ctr">
              <a:spcBef>
                <a:spcPts val="260"/>
              </a:spcBef>
              <a:spcAft>
                <a:spcPts val="0"/>
              </a:spcAft>
              <a:buSzPts val="1300"/>
              <a:buFont typeface="Times New Roman"/>
              <a:buNone/>
              <a:defRPr sz="1300"/>
            </a:lvl5pPr>
            <a:lvl6pPr lvl="5" algn="ctr">
              <a:spcBef>
                <a:spcPts val="260"/>
              </a:spcBef>
              <a:spcAft>
                <a:spcPts val="0"/>
              </a:spcAft>
              <a:buSzPts val="1300"/>
              <a:buFont typeface="Times New Roman"/>
              <a:buNone/>
              <a:defRPr sz="1300"/>
            </a:lvl6pPr>
            <a:lvl7pPr lvl="6" algn="ctr">
              <a:spcBef>
                <a:spcPts val="260"/>
              </a:spcBef>
              <a:spcAft>
                <a:spcPts val="0"/>
              </a:spcAft>
              <a:buSzPts val="1300"/>
              <a:buFont typeface="Times New Roman"/>
              <a:buNone/>
              <a:defRPr sz="1300"/>
            </a:lvl7pPr>
            <a:lvl8pPr lvl="7" algn="ctr">
              <a:spcBef>
                <a:spcPts val="260"/>
              </a:spcBef>
              <a:spcAft>
                <a:spcPts val="0"/>
              </a:spcAft>
              <a:buSzPts val="1300"/>
              <a:buFont typeface="Times New Roman"/>
              <a:buNone/>
              <a:defRPr sz="1300"/>
            </a:lvl8pPr>
            <a:lvl9pPr lvl="8" algn="ctr">
              <a:spcBef>
                <a:spcPts val="260"/>
              </a:spcBef>
              <a:spcAft>
                <a:spcPts val="0"/>
              </a:spcAft>
              <a:buSzPts val="1300"/>
              <a:buFont typeface="Times New Roman"/>
              <a:buNone/>
              <a:defRPr sz="1300"/>
            </a:lvl9pPr>
          </a:lstStyle>
          <a:p>
            <a:endParaRPr/>
          </a:p>
        </p:txBody>
      </p:sp>
      <p:sp>
        <p:nvSpPr>
          <p:cNvPr id="1048638" name="Google Shape;23;p5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39" name="Google Shape;24;p50"/>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40" name="Google Shape;25;p5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2400">
                <a:solidFill>
                  <a:schemeClr val="dk1"/>
                </a:solidFill>
                <a:latin typeface="Times New Roman"/>
                <a:ea typeface="Times New Roman"/>
                <a:cs typeface="Times New Roman"/>
                <a:sym typeface="Times New Roman"/>
              </a:defRPr>
            </a:lvl1pPr>
            <a:lvl2pPr marL="0" marR="0" lvl="1" indent="0" algn="l" rtl="0">
              <a:spcBef>
                <a:spcPts val="0"/>
              </a:spcBef>
              <a:spcAft>
                <a:spcPts val="0"/>
              </a:spcAft>
              <a:buNone/>
              <a:defRPr sz="2400">
                <a:solidFill>
                  <a:schemeClr val="dk1"/>
                </a:solidFill>
                <a:latin typeface="Times New Roman"/>
                <a:ea typeface="Times New Roman"/>
                <a:cs typeface="Times New Roman"/>
                <a:sym typeface="Times New Roman"/>
              </a:defRPr>
            </a:lvl2pPr>
            <a:lvl3pPr marL="0" marR="0" lvl="2" indent="0" algn="l" rtl="0">
              <a:spcBef>
                <a:spcPts val="0"/>
              </a:spcBef>
              <a:spcAft>
                <a:spcPts val="0"/>
              </a:spcAft>
              <a:buNone/>
              <a:defRPr sz="2400">
                <a:solidFill>
                  <a:schemeClr val="dk1"/>
                </a:solidFill>
                <a:latin typeface="Times New Roman"/>
                <a:ea typeface="Times New Roman"/>
                <a:cs typeface="Times New Roman"/>
                <a:sym typeface="Times New Roman"/>
              </a:defRPr>
            </a:lvl3pPr>
            <a:lvl4pPr marL="0" marR="0" lvl="3" indent="0" algn="l" rtl="0">
              <a:spcBef>
                <a:spcPts val="0"/>
              </a:spcBef>
              <a:spcAft>
                <a:spcPts val="0"/>
              </a:spcAft>
              <a:buNone/>
              <a:defRPr sz="2400">
                <a:solidFill>
                  <a:schemeClr val="dk1"/>
                </a:solidFill>
                <a:latin typeface="Times New Roman"/>
                <a:ea typeface="Times New Roman"/>
                <a:cs typeface="Times New Roman"/>
                <a:sym typeface="Times New Roman"/>
              </a:defRPr>
            </a:lvl4pPr>
            <a:lvl5pPr marL="0" marR="0" lvl="4" indent="0" algn="l" rtl="0">
              <a:spcBef>
                <a:spcPts val="0"/>
              </a:spcBef>
              <a:spcAft>
                <a:spcPts val="0"/>
              </a:spcAft>
              <a:buNone/>
              <a:defRPr sz="2400">
                <a:solidFill>
                  <a:schemeClr val="dk1"/>
                </a:solidFill>
                <a:latin typeface="Times New Roman"/>
                <a:ea typeface="Times New Roman"/>
                <a:cs typeface="Times New Roman"/>
                <a:sym typeface="Times New Roman"/>
              </a:defRPr>
            </a:lvl5pPr>
            <a:lvl6pPr marL="0" marR="0" lvl="5" indent="0" algn="l" rtl="0">
              <a:spcBef>
                <a:spcPts val="0"/>
              </a:spcBef>
              <a:spcAft>
                <a:spcPts val="0"/>
              </a:spcAft>
              <a:buNone/>
              <a:defRPr sz="2400">
                <a:solidFill>
                  <a:schemeClr val="dk1"/>
                </a:solidFill>
                <a:latin typeface="Times New Roman"/>
                <a:ea typeface="Times New Roman"/>
                <a:cs typeface="Times New Roman"/>
                <a:sym typeface="Times New Roman"/>
              </a:defRPr>
            </a:lvl6pPr>
            <a:lvl7pPr marL="0" marR="0" lvl="6" indent="0" algn="l" rtl="0">
              <a:spcBef>
                <a:spcPts val="0"/>
              </a:spcBef>
              <a:spcAft>
                <a:spcPts val="0"/>
              </a:spcAft>
              <a:buNone/>
              <a:defRPr sz="2400">
                <a:solidFill>
                  <a:schemeClr val="dk1"/>
                </a:solidFill>
                <a:latin typeface="Times New Roman"/>
                <a:ea typeface="Times New Roman"/>
                <a:cs typeface="Times New Roman"/>
                <a:sym typeface="Times New Roman"/>
              </a:defRPr>
            </a:lvl7pPr>
            <a:lvl8pPr marL="0" marR="0" lvl="7" indent="0" algn="l" rtl="0">
              <a:spcBef>
                <a:spcPts val="0"/>
              </a:spcBef>
              <a:spcAft>
                <a:spcPts val="0"/>
              </a:spcAft>
              <a:buNone/>
              <a:defRPr sz="2400">
                <a:solidFill>
                  <a:schemeClr val="dk1"/>
                </a:solidFill>
                <a:latin typeface="Times New Roman"/>
                <a:ea typeface="Times New Roman"/>
                <a:cs typeface="Times New Roman"/>
                <a:sym typeface="Times New Roman"/>
              </a:defRPr>
            </a:lvl8pPr>
            <a:lvl9pPr marL="0" marR="0" lvl="8" indent="0" algn="l" rtl="0">
              <a:spcBef>
                <a:spcPts val="0"/>
              </a:spcBef>
              <a:spcAft>
                <a:spcPts val="0"/>
              </a:spcAft>
              <a:buNone/>
              <a:defRPr sz="2400">
                <a:solidFill>
                  <a:schemeClr val="dk1"/>
                </a:solidFill>
                <a:latin typeface="Times New Roman"/>
                <a:ea typeface="Times New Roman"/>
                <a:cs typeface="Times New Roman"/>
                <a:sym typeface="Times New Roman"/>
              </a:defRPr>
            </a:lvl9pPr>
          </a:lstStyle>
          <a:p>
            <a:pPr marL="0" lvl="0" indent="0" algn="l"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1048646" name="Google Shape;37;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47" name="Google Shape;38;p5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1048648" name="Google Shape;39;p5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o"/>
              <a:defRPr sz="1600"/>
            </a:lvl4pPr>
            <a:lvl5pPr marL="2286000" lvl="4" indent="-330200" algn="l">
              <a:spcBef>
                <a:spcPts val="320"/>
              </a:spcBef>
              <a:spcAft>
                <a:spcPts val="0"/>
              </a:spcAft>
              <a:buSzPts val="1600"/>
              <a:buFont typeface="Times New Roman"/>
              <a:buChar char="o"/>
              <a:defRPr sz="1600"/>
            </a:lvl5pPr>
            <a:lvl6pPr marL="2743200" lvl="5" indent="-330200" algn="l">
              <a:spcBef>
                <a:spcPts val="320"/>
              </a:spcBef>
              <a:spcAft>
                <a:spcPts val="0"/>
              </a:spcAft>
              <a:buSzPts val="1600"/>
              <a:buFont typeface="Times New Roman"/>
              <a:buChar char="o"/>
              <a:defRPr sz="1600"/>
            </a:lvl6pPr>
            <a:lvl7pPr marL="3200400" lvl="6" indent="-330200" algn="l">
              <a:spcBef>
                <a:spcPts val="320"/>
              </a:spcBef>
              <a:spcAft>
                <a:spcPts val="0"/>
              </a:spcAft>
              <a:buSzPts val="1600"/>
              <a:buFont typeface="Times New Roman"/>
              <a:buChar char="o"/>
              <a:defRPr sz="1600"/>
            </a:lvl7pPr>
            <a:lvl8pPr marL="3657600" lvl="7" indent="-330200" algn="l">
              <a:spcBef>
                <a:spcPts val="320"/>
              </a:spcBef>
              <a:spcAft>
                <a:spcPts val="0"/>
              </a:spcAft>
              <a:buSzPts val="1600"/>
              <a:buFont typeface="Times New Roman"/>
              <a:buChar char="o"/>
              <a:defRPr sz="1600"/>
            </a:lvl8pPr>
            <a:lvl9pPr marL="4114800" lvl="8" indent="-330200" algn="l">
              <a:spcBef>
                <a:spcPts val="320"/>
              </a:spcBef>
              <a:spcAft>
                <a:spcPts val="0"/>
              </a:spcAft>
              <a:buSzPts val="1600"/>
              <a:buFont typeface="Times New Roman"/>
              <a:buChar char="o"/>
              <a:defRPr sz="1600"/>
            </a:lvl9pPr>
          </a:lstStyle>
          <a:p>
            <a:endParaRPr/>
          </a:p>
        </p:txBody>
      </p:sp>
      <p:sp>
        <p:nvSpPr>
          <p:cNvPr id="1048649" name="Google Shape;40;p54"/>
          <p:cNvSpPr txBox="1">
            <a:spLocks noGrp="1"/>
          </p:cNvSpPr>
          <p:nvPr>
            <p:ph type="body" idx="3"/>
          </p:nvPr>
        </p:nvSpPr>
        <p:spPr>
          <a:xfrm>
            <a:off x="4645027"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1048650" name="Google Shape;41;p54"/>
          <p:cNvSpPr txBox="1">
            <a:spLocks noGrp="1"/>
          </p:cNvSpPr>
          <p:nvPr>
            <p:ph type="body" idx="4"/>
          </p:nvPr>
        </p:nvSpPr>
        <p:spPr>
          <a:xfrm>
            <a:off x="4645027"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o"/>
              <a:defRPr sz="1600"/>
            </a:lvl4pPr>
            <a:lvl5pPr marL="2286000" lvl="4" indent="-330200" algn="l">
              <a:spcBef>
                <a:spcPts val="320"/>
              </a:spcBef>
              <a:spcAft>
                <a:spcPts val="0"/>
              </a:spcAft>
              <a:buSzPts val="1600"/>
              <a:buFont typeface="Times New Roman"/>
              <a:buChar char="o"/>
              <a:defRPr sz="1600"/>
            </a:lvl5pPr>
            <a:lvl6pPr marL="2743200" lvl="5" indent="-330200" algn="l">
              <a:spcBef>
                <a:spcPts val="320"/>
              </a:spcBef>
              <a:spcAft>
                <a:spcPts val="0"/>
              </a:spcAft>
              <a:buSzPts val="1600"/>
              <a:buFont typeface="Times New Roman"/>
              <a:buChar char="o"/>
              <a:defRPr sz="1600"/>
            </a:lvl6pPr>
            <a:lvl7pPr marL="3200400" lvl="6" indent="-330200" algn="l">
              <a:spcBef>
                <a:spcPts val="320"/>
              </a:spcBef>
              <a:spcAft>
                <a:spcPts val="0"/>
              </a:spcAft>
              <a:buSzPts val="1600"/>
              <a:buFont typeface="Times New Roman"/>
              <a:buChar char="o"/>
              <a:defRPr sz="1600"/>
            </a:lvl7pPr>
            <a:lvl8pPr marL="3657600" lvl="7" indent="-330200" algn="l">
              <a:spcBef>
                <a:spcPts val="320"/>
              </a:spcBef>
              <a:spcAft>
                <a:spcPts val="0"/>
              </a:spcAft>
              <a:buSzPts val="1600"/>
              <a:buFont typeface="Times New Roman"/>
              <a:buChar char="o"/>
              <a:defRPr sz="1600"/>
            </a:lvl8pPr>
            <a:lvl9pPr marL="4114800" lvl="8" indent="-330200" algn="l">
              <a:spcBef>
                <a:spcPts val="320"/>
              </a:spcBef>
              <a:spcAft>
                <a:spcPts val="0"/>
              </a:spcAft>
              <a:buSzPts val="1600"/>
              <a:buFont typeface="Times New Roman"/>
              <a:buChar char="o"/>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1048653" name="Google Shape;43;p55"/>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1048654" name="Google Shape;50;p58"/>
          <p:cNvSpPr txBox="1">
            <a:spLocks noGrp="1"/>
          </p:cNvSpPr>
          <p:nvPr>
            <p:ph type="title"/>
          </p:nvPr>
        </p:nvSpPr>
        <p:spPr>
          <a:xfrm>
            <a:off x="1792290"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55" name="Google Shape;51;p58"/>
          <p:cNvSpPr>
            <a:spLocks noGrp="1"/>
          </p:cNvSpPr>
          <p:nvPr>
            <p:ph type="pic" idx="2"/>
          </p:nvPr>
        </p:nvSpPr>
        <p:spPr>
          <a:xfrm>
            <a:off x="1792290"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accent2"/>
              </a:buClr>
              <a:buSzPts val="3200"/>
              <a:buFont typeface="Noto Sans Symbols"/>
              <a:buNone/>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rgbClr val="FF5050"/>
              </a:buClr>
              <a:buSzPts val="2800"/>
              <a:buFont typeface="Noto Sans Symbols"/>
              <a:buNone/>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rgbClr val="6699FF"/>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56" name="Google Shape;52;p58"/>
          <p:cNvSpPr txBox="1">
            <a:spLocks noGrp="1"/>
          </p:cNvSpPr>
          <p:nvPr>
            <p:ph type="body" idx="1"/>
          </p:nvPr>
        </p:nvSpPr>
        <p:spPr>
          <a:xfrm>
            <a:off x="1792290"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Font typeface="Times New Roman"/>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1048644" name="Google Shape;54;p59"/>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45" name="Google Shape;55;p59"/>
          <p:cNvSpPr txBox="1">
            <a:spLocks noGrp="1"/>
          </p:cNvSpPr>
          <p:nvPr>
            <p:ph type="body" idx="1"/>
          </p:nvPr>
        </p:nvSpPr>
        <p:spPr>
          <a:xfrm rot="5400000">
            <a:off x="2593975" y="-485775"/>
            <a:ext cx="4800600" cy="86677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lvl1pPr>
            <a:lvl2pPr marL="914400" lvl="1" indent="-342900" algn="l">
              <a:spcBef>
                <a:spcPts val="360"/>
              </a:spcBef>
              <a:spcAft>
                <a:spcPts val="0"/>
              </a:spcAft>
              <a:buSzPts val="1800"/>
              <a:buChar char="▪"/>
            </a:lvl2pPr>
            <a:lvl3pPr marL="1371600" lvl="2" indent="-342900" algn="l">
              <a:spcBef>
                <a:spcPts val="360"/>
              </a:spcBef>
              <a:spcAft>
                <a:spcPts val="0"/>
              </a:spcAft>
              <a:buSzPts val="1800"/>
              <a:buChar char="•"/>
            </a:lvl3pPr>
            <a:lvl4pPr marL="1828800" lvl="3" indent="-342900" algn="l">
              <a:spcBef>
                <a:spcPts val="360"/>
              </a:spcBef>
              <a:spcAft>
                <a:spcPts val="0"/>
              </a:spcAft>
              <a:buSzPts val="1800"/>
              <a:buChar char="o"/>
            </a:lvl4pPr>
            <a:lvl5pPr marL="2286000" lvl="4" indent="-342900" algn="l">
              <a:spcBef>
                <a:spcPts val="360"/>
              </a:spcBef>
              <a:spcAft>
                <a:spcPts val="0"/>
              </a:spcAft>
              <a:buSzPts val="1800"/>
              <a:buChar char="o"/>
            </a:lvl5pPr>
            <a:lvl6pPr marL="2743200" lvl="5" indent="-342900" algn="l">
              <a:spcBef>
                <a:spcPts val="360"/>
              </a:spcBef>
              <a:spcAft>
                <a:spcPts val="0"/>
              </a:spcAft>
              <a:buSzPts val="1800"/>
              <a:buChar char="o"/>
            </a:lvl6pPr>
            <a:lvl7pPr marL="3200400" lvl="6" indent="-342900" algn="l">
              <a:spcBef>
                <a:spcPts val="360"/>
              </a:spcBef>
              <a:spcAft>
                <a:spcPts val="0"/>
              </a:spcAft>
              <a:buSzPts val="1800"/>
              <a:buChar char="o"/>
            </a:lvl7pPr>
            <a:lvl8pPr marL="3657600" lvl="7" indent="-342900" algn="l">
              <a:spcBef>
                <a:spcPts val="360"/>
              </a:spcBef>
              <a:spcAft>
                <a:spcPts val="0"/>
              </a:spcAft>
              <a:buSzPts val="1800"/>
              <a:buChar char="o"/>
            </a:lvl8pPr>
            <a:lvl9pPr marL="4114800" lvl="8" indent="-342900" algn="l">
              <a:spcBef>
                <a:spcPts val="360"/>
              </a:spcBef>
              <a:spcAft>
                <a:spcPts val="0"/>
              </a:spcAft>
              <a:buSzPts val="1800"/>
              <a:buChar char="o"/>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6"/>
        <p:cNvGrpSpPr/>
        <p:nvPr/>
      </p:nvGrpSpPr>
      <p:grpSpPr>
        <a:xfrm>
          <a:off x="0" y="0"/>
          <a:ext cx="0" cy="0"/>
          <a:chOff x="0" y="0"/>
          <a:chExt cx="0" cy="0"/>
        </a:xfrm>
      </p:grpSpPr>
      <p:sp>
        <p:nvSpPr>
          <p:cNvPr id="1048657" name="Google Shape;57;p60"/>
          <p:cNvSpPr txBox="1">
            <a:spLocks noGrp="1"/>
          </p:cNvSpPr>
          <p:nvPr>
            <p:ph type="title"/>
          </p:nvPr>
        </p:nvSpPr>
        <p:spPr>
          <a:xfrm rot="5400000">
            <a:off x="4857751" y="2419350"/>
            <a:ext cx="5638800" cy="20193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58" name="Google Shape;58;p60"/>
          <p:cNvSpPr txBox="1">
            <a:spLocks noGrp="1"/>
          </p:cNvSpPr>
          <p:nvPr>
            <p:ph type="body" idx="1"/>
          </p:nvPr>
        </p:nvSpPr>
        <p:spPr>
          <a:xfrm rot="5400000">
            <a:off x="742951" y="476250"/>
            <a:ext cx="5638800" cy="59055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lvl1pPr>
            <a:lvl2pPr marL="914400" lvl="1" indent="-342900" algn="l">
              <a:spcBef>
                <a:spcPts val="360"/>
              </a:spcBef>
              <a:spcAft>
                <a:spcPts val="0"/>
              </a:spcAft>
              <a:buSzPts val="1800"/>
              <a:buChar char="▪"/>
            </a:lvl2pPr>
            <a:lvl3pPr marL="1371600" lvl="2" indent="-342900" algn="l">
              <a:spcBef>
                <a:spcPts val="360"/>
              </a:spcBef>
              <a:spcAft>
                <a:spcPts val="0"/>
              </a:spcAft>
              <a:buSzPts val="1800"/>
              <a:buChar char="•"/>
            </a:lvl3pPr>
            <a:lvl4pPr marL="1828800" lvl="3" indent="-342900" algn="l">
              <a:spcBef>
                <a:spcPts val="360"/>
              </a:spcBef>
              <a:spcAft>
                <a:spcPts val="0"/>
              </a:spcAft>
              <a:buSzPts val="1800"/>
              <a:buChar char="o"/>
            </a:lvl4pPr>
            <a:lvl5pPr marL="2286000" lvl="4" indent="-342900" algn="l">
              <a:spcBef>
                <a:spcPts val="360"/>
              </a:spcBef>
              <a:spcAft>
                <a:spcPts val="0"/>
              </a:spcAft>
              <a:buSzPts val="1800"/>
              <a:buChar char="o"/>
            </a:lvl5pPr>
            <a:lvl6pPr marL="2743200" lvl="5" indent="-342900" algn="l">
              <a:spcBef>
                <a:spcPts val="360"/>
              </a:spcBef>
              <a:spcAft>
                <a:spcPts val="0"/>
              </a:spcAft>
              <a:buSzPts val="1800"/>
              <a:buChar char="o"/>
            </a:lvl6pPr>
            <a:lvl7pPr marL="3200400" lvl="6" indent="-342900" algn="l">
              <a:spcBef>
                <a:spcPts val="360"/>
              </a:spcBef>
              <a:spcAft>
                <a:spcPts val="0"/>
              </a:spcAft>
              <a:buSzPts val="1800"/>
              <a:buChar char="o"/>
            </a:lvl7pPr>
            <a:lvl8pPr marL="3657600" lvl="7" indent="-342900" algn="l">
              <a:spcBef>
                <a:spcPts val="360"/>
              </a:spcBef>
              <a:spcAft>
                <a:spcPts val="0"/>
              </a:spcAft>
              <a:buSzPts val="1800"/>
              <a:buChar char="o"/>
            </a:lvl8pPr>
            <a:lvl9pPr marL="4114800" lvl="8" indent="-342900" algn="l">
              <a:spcBef>
                <a:spcPts val="360"/>
              </a:spcBef>
              <a:spcAft>
                <a:spcPts val="0"/>
              </a:spcAft>
              <a:buSzPts val="1800"/>
              <a:buChar char="o"/>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hart">
  <p:cSld name="1_Title and Chart">
    <p:spTree>
      <p:nvGrpSpPr>
        <p:cNvPr id="1" name=""/>
        <p:cNvGrpSpPr/>
        <p:nvPr/>
      </p:nvGrpSpPr>
      <p:grpSpPr>
        <a:xfrm>
          <a:off x="0" y="0"/>
          <a:ext cx="0" cy="0"/>
          <a:chOff x="0" y="0"/>
          <a:chExt cx="0" cy="0"/>
        </a:xfrm>
      </p:grpSpPr>
      <p:sp>
        <p:nvSpPr>
          <p:cNvPr id="1048579" name="Title 1"/>
          <p:cNvSpPr>
            <a:spLocks noGrp="1"/>
          </p:cNvSpPr>
          <p:nvPr>
            <p:ph type="title"/>
          </p:nvPr>
        </p:nvSpPr>
        <p:spPr>
          <a:xfrm>
            <a:off x="609602" y="609600"/>
            <a:ext cx="8077200" cy="533400"/>
          </a:xfrm>
        </p:spPr>
        <p:txBody>
          <a:bodyPr/>
          <a:lstStyle/>
          <a:p>
            <a:r>
              <a:rPr lang="en-US" altLang="zh-TW" dirty="0"/>
              <a:t>Click to edit Master title style</a:t>
            </a:r>
            <a:endParaRPr lang="en-US" dirty="0"/>
          </a:p>
        </p:txBody>
      </p:sp>
      <p:sp>
        <p:nvSpPr>
          <p:cNvPr id="1048580" name="Chart Placeholder 2"/>
          <p:cNvSpPr>
            <a:spLocks noGrp="1"/>
          </p:cNvSpPr>
          <p:nvPr>
            <p:ph type="chart" idx="1"/>
          </p:nvPr>
        </p:nvSpPr>
        <p:spPr>
          <a:xfrm>
            <a:off x="609600" y="1447800"/>
            <a:ext cx="8001000" cy="4800600"/>
          </a:xfrm>
        </p:spPr>
        <p:txBody>
          <a:bodyPr/>
          <a:lstStyle/>
          <a:p>
            <a:pPr lvl="0"/>
            <a:endParaRPr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48651" name="Content Placeholder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1048652" name="Title 1"/>
          <p:cNvSpPr>
            <a:spLocks noGrp="1"/>
          </p:cNvSpPr>
          <p:nvPr>
            <p:ph type="title"/>
          </p:nvPr>
        </p:nvSpPr>
        <p:spPr>
          <a:xfrm>
            <a:off x="660400" y="609600"/>
            <a:ext cx="8750300" cy="533400"/>
          </a:xfrm>
        </p:spPr>
        <p:txBody>
          <a:bodyPr/>
          <a:lstStyle>
            <a:lvl1pPr>
              <a:defRPr sz="3200"/>
            </a:lvl1pPr>
          </a:lstStyle>
          <a:p>
            <a:r>
              <a:rPr lang="en-US" altLang="zh-TW" dirty="0"/>
              <a:t>Title of the Slide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48576" name="Google Shape;10;p48"/>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5pPr>
            <a:lvl6pPr marR="0" lvl="5"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6pPr>
            <a:lvl7pPr marR="0" lvl="6"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7pPr>
            <a:lvl8pPr marR="0" lvl="7"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8pPr>
            <a:lvl9pPr marR="0" lvl="8"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9pPr>
          </a:lstStyle>
          <a:p>
            <a:endParaRPr/>
          </a:p>
        </p:txBody>
      </p:sp>
      <p:cxnSp>
        <p:nvCxnSpPr>
          <p:cNvPr id="3145728" name="Google Shape;11;p48"/>
          <p:cNvCxnSpPr>
            <a:cxnSpLocks/>
          </p:cNvCxnSpPr>
          <p:nvPr/>
        </p:nvCxnSpPr>
        <p:spPr>
          <a:xfrm>
            <a:off x="412750" y="533400"/>
            <a:ext cx="8997950" cy="0"/>
          </a:xfrm>
          <a:prstGeom prst="straightConnector1">
            <a:avLst/>
          </a:prstGeom>
          <a:noFill/>
          <a:ln w="9525" cap="flat" cmpd="sng">
            <a:solidFill>
              <a:schemeClr val="dk1"/>
            </a:solidFill>
            <a:prstDash val="solid"/>
            <a:round/>
            <a:headEnd type="none" w="med" len="med"/>
            <a:tailEnd type="none" w="med" len="med"/>
          </a:ln>
        </p:spPr>
      </p:cxnSp>
      <p:cxnSp>
        <p:nvCxnSpPr>
          <p:cNvPr id="3145729" name="Google Shape;12;p48"/>
          <p:cNvCxnSpPr>
            <a:cxnSpLocks/>
          </p:cNvCxnSpPr>
          <p:nvPr/>
        </p:nvCxnSpPr>
        <p:spPr>
          <a:xfrm>
            <a:off x="577850" y="228600"/>
            <a:ext cx="0" cy="990600"/>
          </a:xfrm>
          <a:prstGeom prst="straightConnector1">
            <a:avLst/>
          </a:prstGeom>
          <a:noFill/>
          <a:ln w="9525" cap="flat" cmpd="sng">
            <a:solidFill>
              <a:schemeClr val="dk1"/>
            </a:solidFill>
            <a:prstDash val="solid"/>
            <a:round/>
            <a:headEnd type="none" w="med" len="med"/>
            <a:tailEnd type="none" w="med" len="med"/>
          </a:ln>
        </p:spPr>
      </p:cxnSp>
      <p:cxnSp>
        <p:nvCxnSpPr>
          <p:cNvPr id="3145730" name="Google Shape;13;p48"/>
          <p:cNvCxnSpPr>
            <a:cxnSpLocks/>
          </p:cNvCxnSpPr>
          <p:nvPr/>
        </p:nvCxnSpPr>
        <p:spPr>
          <a:xfrm>
            <a:off x="495300" y="6400800"/>
            <a:ext cx="8915400" cy="0"/>
          </a:xfrm>
          <a:prstGeom prst="straightConnector1">
            <a:avLst/>
          </a:prstGeom>
          <a:noFill/>
          <a:ln w="9525" cap="flat" cmpd="sng">
            <a:solidFill>
              <a:schemeClr val="dk1"/>
            </a:solidFill>
            <a:prstDash val="solid"/>
            <a:round/>
            <a:headEnd type="none" w="med" len="med"/>
            <a:tailEnd type="none" w="med" len="med"/>
          </a:ln>
        </p:spPr>
      </p:cxnSp>
      <p:sp>
        <p:nvSpPr>
          <p:cNvPr id="1048577" name="Google Shape;14;p48"/>
          <p:cNvSpPr txBox="1">
            <a:spLocks noGrp="1"/>
          </p:cNvSpPr>
          <p:nvPr>
            <p:ph type="body" idx="1"/>
          </p:nvPr>
        </p:nvSpPr>
        <p:spPr>
          <a:xfrm>
            <a:off x="660400" y="1447800"/>
            <a:ext cx="8667750" cy="4800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048578" name="Google Shape;15;p48"/>
          <p:cNvSpPr txBox="1"/>
          <p:nvPr/>
        </p:nvSpPr>
        <p:spPr>
          <a:xfrm>
            <a:off x="8510587" y="6502400"/>
            <a:ext cx="817563" cy="304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a:t>
            </a:fld>
            <a:endParaRPr sz="1400" b="0" i="0" u="none" strike="noStrike" cap="none" dirty="0">
              <a:solidFill>
                <a:schemeClr val="dk1"/>
              </a:solidFill>
              <a:latin typeface="Times New Roman"/>
              <a:ea typeface="Times New Roman"/>
              <a:cs typeface="Times New Roman"/>
              <a:sym typeface="Times New Roman"/>
            </a:endParaRPr>
          </a:p>
        </p:txBody>
      </p:sp>
      <p:pic>
        <p:nvPicPr>
          <p:cNvPr id="2097152" name="Google Shape;16;p48"/>
          <p:cNvPicPr preferRelativeResize="0">
            <a:picLocks/>
          </p:cNvPicPr>
          <p:nvPr/>
        </p:nvPicPr>
        <p:blipFill rotWithShape="1">
          <a:blip r:embed="rId11">
            <a:alphaModFix/>
          </a:blip>
          <a:srcRect/>
          <a:stretch>
            <a:fillRect/>
          </a:stretch>
        </p:blipFill>
        <p:spPr>
          <a:xfrm>
            <a:off x="57150" y="6446838"/>
            <a:ext cx="1827213" cy="3603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hyperlink" Target="https://www.color.org/?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hyperlink" Target="https://archive.color.org/specifications/ICC.1-2022-05.pdf?utm_source=chatgpt.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windows/win32/wcs/display-calibration-mhc?utm_source=chatgpt.com"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en-us/windows/win32/wcs/display-calibration-mhc?utm_source=chatgpt.com"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eoyilmaz/displaycal-py3?utm_source=chatgpt.com"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hyperlink" Target="https://www.color.org/profiles/assessment/?utm_source=chatgpt.com" TargetMode="External"/><Relationship Id="rId3" Type="http://schemas.openxmlformats.org/officeDocument/2006/relationships/image" Target="../media/image70.png"/><Relationship Id="rId7"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0.png"/><Relationship Id="rId11" Type="http://schemas.openxmlformats.org/officeDocument/2006/relationships/image" Target="../media/image16.png"/><Relationship Id="rId5" Type="http://schemas.openxmlformats.org/officeDocument/2006/relationships/image" Target="../media/image90.png"/><Relationship Id="rId10" Type="http://schemas.openxmlformats.org/officeDocument/2006/relationships/image" Target="../media/image15.png"/><Relationship Id="rId4" Type="http://schemas.openxmlformats.org/officeDocument/2006/relationships/image" Target="../media/image80.png"/><Relationship Id="rId9" Type="http://schemas.openxmlformats.org/officeDocument/2006/relationships/image" Target="../media/image14.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1" name="Rectangle 2"/>
          <p:cNvSpPr>
            <a:spLocks noGrp="1" noChangeArrowheads="1"/>
          </p:cNvSpPr>
          <p:nvPr>
            <p:ph type="title"/>
          </p:nvPr>
        </p:nvSpPr>
        <p:spPr>
          <a:xfrm>
            <a:off x="668908" y="1829704"/>
            <a:ext cx="8568183" cy="1728539"/>
          </a:xfrm>
        </p:spPr>
        <p:txBody>
          <a:bodyPr/>
          <a:lstStyle/>
          <a:p>
            <a:pPr algn="ctr" eaLnBrk="1" hangingPunct="1"/>
            <a:r>
              <a:rPr lang="en-US" altLang="zh-TW" sz="3200" b="1" dirty="0">
                <a:solidFill>
                  <a:srgbClr val="0057C0"/>
                </a:solidFill>
                <a:latin typeface="Times New Roman" panose="02020603050405020304" pitchFamily="18" charset="0"/>
                <a:ea typeface="標楷體" panose="03000509000000000000" pitchFamily="65" charset="-120"/>
                <a:cs typeface="Times New Roman" panose="02020603050405020304" pitchFamily="18" charset="0"/>
              </a:rPr>
              <a:t>Progress Report</a:t>
            </a:r>
          </a:p>
        </p:txBody>
      </p:sp>
      <p:sp>
        <p:nvSpPr>
          <p:cNvPr id="1048582" name="Rectangle 2"/>
          <p:cNvSpPr txBox="1">
            <a:spLocks noChangeArrowheads="1"/>
          </p:cNvSpPr>
          <p:nvPr/>
        </p:nvSpPr>
        <p:spPr bwMode="auto">
          <a:xfrm>
            <a:off x="907104" y="3362630"/>
            <a:ext cx="8568183" cy="1728539"/>
          </a:xfrm>
          <a:prstGeom prst="rect">
            <a:avLst/>
          </a:prstGeom>
          <a:noFill/>
          <a:ln>
            <a:noFill/>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chemeClr val="accent2"/>
                </a:solidFill>
                <a:latin typeface="+mn-lt"/>
                <a:ea typeface="+mj-ea"/>
                <a:cs typeface="+mj-cs"/>
              </a:defRPr>
            </a:lvl1pPr>
            <a:lvl2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2pPr>
            <a:lvl3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3pPr>
            <a:lvl4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4pPr>
            <a:lvl5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5pPr>
            <a:lvl6pPr marL="457200" algn="l" rtl="0" fontAlgn="base">
              <a:spcBef>
                <a:spcPct val="0"/>
              </a:spcBef>
              <a:spcAft>
                <a:spcPct val="0"/>
              </a:spcAft>
              <a:defRPr kumimoji="1" sz="3200">
                <a:solidFill>
                  <a:schemeClr val="accent2"/>
                </a:solidFill>
                <a:latin typeface="Times New Roman" charset="0"/>
                <a:ea typeface="新細明體" charset="-120"/>
                <a:cs typeface="新細明體" charset="-120"/>
              </a:defRPr>
            </a:lvl6pPr>
            <a:lvl7pPr marL="914400" algn="l" rtl="0" fontAlgn="base">
              <a:spcBef>
                <a:spcPct val="0"/>
              </a:spcBef>
              <a:spcAft>
                <a:spcPct val="0"/>
              </a:spcAft>
              <a:defRPr kumimoji="1" sz="3200">
                <a:solidFill>
                  <a:schemeClr val="accent2"/>
                </a:solidFill>
                <a:latin typeface="Times New Roman" charset="0"/>
                <a:ea typeface="新細明體" charset="-120"/>
                <a:cs typeface="新細明體" charset="-120"/>
              </a:defRPr>
            </a:lvl7pPr>
            <a:lvl8pPr marL="1371600" algn="l" rtl="0" fontAlgn="base">
              <a:spcBef>
                <a:spcPct val="0"/>
              </a:spcBef>
              <a:spcAft>
                <a:spcPct val="0"/>
              </a:spcAft>
              <a:defRPr kumimoji="1" sz="3200">
                <a:solidFill>
                  <a:schemeClr val="accent2"/>
                </a:solidFill>
                <a:latin typeface="Times New Roman" charset="0"/>
                <a:ea typeface="新細明體" charset="-120"/>
                <a:cs typeface="新細明體" charset="-120"/>
              </a:defRPr>
            </a:lvl8pPr>
            <a:lvl9pPr marL="1828800" algn="l" rtl="0" fontAlgn="base">
              <a:spcBef>
                <a:spcPct val="0"/>
              </a:spcBef>
              <a:spcAft>
                <a:spcPct val="0"/>
              </a:spcAft>
              <a:defRPr kumimoji="1" sz="3200">
                <a:solidFill>
                  <a:schemeClr val="accent2"/>
                </a:solidFill>
                <a:latin typeface="Times New Roman" charset="0"/>
                <a:ea typeface="新細明體" charset="-120"/>
                <a:cs typeface="新細明體" charset="-120"/>
              </a:defRPr>
            </a:lvl9pPr>
          </a:lstStyle>
          <a:p>
            <a:pPr algn="ctr" eaLnBrk="1" hangingPunct="1"/>
            <a:endParaRPr lang="en-US" altLang="zh-TW" kern="0" dirty="0">
              <a:solidFill>
                <a:schemeClr val="tx1"/>
              </a:solidFill>
            </a:endParaRPr>
          </a:p>
        </p:txBody>
      </p:sp>
      <p:sp>
        <p:nvSpPr>
          <p:cNvPr id="1048583" name="Text Box 4"/>
          <p:cNvSpPr txBox="1">
            <a:spLocks noChangeArrowheads="1"/>
          </p:cNvSpPr>
          <p:nvPr/>
        </p:nvSpPr>
        <p:spPr bwMode="auto">
          <a:xfrm>
            <a:off x="1100262" y="4484365"/>
            <a:ext cx="7705476" cy="707886"/>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gn="ctr"/>
            <a:r>
              <a:rPr lang="en-US" altLang="zh-TW" sz="2000" dirty="0">
                <a:cs typeface="Times New Roman" panose="02020603050405020304" pitchFamily="18" charset="0"/>
              </a:rPr>
              <a:t>Author : </a:t>
            </a:r>
          </a:p>
          <a:p>
            <a:pPr algn="ctr"/>
            <a:r>
              <a:rPr lang="en-US" altLang="zh-TW" sz="2000" dirty="0">
                <a:cs typeface="Times New Roman" panose="02020603050405020304" pitchFamily="18" charset="0"/>
              </a:rPr>
              <a:t>BO-CHENG</a:t>
            </a:r>
            <a:r>
              <a:rPr lang="zh-TW" altLang="en-US" sz="2000" dirty="0">
                <a:cs typeface="Times New Roman" panose="02020603050405020304" pitchFamily="18" charset="0"/>
              </a:rPr>
              <a:t>、</a:t>
            </a:r>
            <a:r>
              <a:rPr lang="en-US" altLang="zh-TW" sz="2000" dirty="0">
                <a:cs typeface="Times New Roman" panose="02020603050405020304" pitchFamily="18" charset="0"/>
              </a:rPr>
              <a:t>Cheng-Yuan</a:t>
            </a:r>
            <a:r>
              <a:rPr lang="zh-TW" altLang="en-US" sz="2000" dirty="0">
                <a:cs typeface="Times New Roman" panose="02020603050405020304" pitchFamily="18" charset="0"/>
              </a:rPr>
              <a:t>、</a:t>
            </a:r>
            <a:r>
              <a:rPr lang="en-US" altLang="zh-TW" sz="2000" dirty="0">
                <a:cs typeface="Times New Roman" panose="02020603050405020304" pitchFamily="18" charset="0"/>
              </a:rPr>
              <a:t>Sheng-Yao</a:t>
            </a:r>
          </a:p>
        </p:txBody>
      </p:sp>
      <p:sp>
        <p:nvSpPr>
          <p:cNvPr id="1048584" name="Text Box 4"/>
          <p:cNvSpPr txBox="1">
            <a:spLocks noChangeArrowheads="1"/>
          </p:cNvSpPr>
          <p:nvPr/>
        </p:nvSpPr>
        <p:spPr bwMode="auto">
          <a:xfrm>
            <a:off x="1100262" y="5673486"/>
            <a:ext cx="7705476" cy="461665"/>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gn="ctr"/>
            <a:r>
              <a:rPr lang="en-US" altLang="zh-TW" b="1" dirty="0">
                <a:solidFill>
                  <a:srgbClr val="0057C0"/>
                </a:solidFill>
              </a:rPr>
              <a:t>Embedded System Software Design</a:t>
            </a:r>
            <a:endParaRPr lang="en-US" altLang="zh-TW" sz="2000" b="1" dirty="0">
              <a:solidFill>
                <a:srgbClr val="0057C0"/>
              </a:solidFill>
              <a:latin typeface="+mn-lt"/>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396C1-EA64-DABF-AB1E-DAC8812CEAFA}"/>
            </a:ext>
          </a:extLst>
        </p:cNvPr>
        <p:cNvGrpSpPr/>
        <p:nvPr/>
      </p:nvGrpSpPr>
      <p:grpSpPr>
        <a:xfrm>
          <a:off x="0" y="0"/>
          <a:ext cx="0" cy="0"/>
          <a:chOff x="0" y="0"/>
          <a:chExt cx="0" cy="0"/>
        </a:xfrm>
      </p:grpSpPr>
      <p:sp>
        <p:nvSpPr>
          <p:cNvPr id="7" name="文字版面配置區 6">
            <a:extLst>
              <a:ext uri="{FF2B5EF4-FFF2-40B4-BE49-F238E27FC236}">
                <a16:creationId xmlns:a16="http://schemas.microsoft.com/office/drawing/2014/main" id="{CA232325-2F30-826A-0F33-B3038ABB7C4A}"/>
              </a:ext>
            </a:extLst>
          </p:cNvPr>
          <p:cNvSpPr txBox="1"/>
          <p:nvPr/>
        </p:nvSpPr>
        <p:spPr>
          <a:xfrm>
            <a:off x="609602" y="1007523"/>
            <a:ext cx="8402051"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a:lnSpc>
                <a:spcPts val="3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ICC Profile</a:t>
            </a:r>
          </a:p>
          <a:p>
            <a:pPr lvl="1">
              <a:lnSpc>
                <a:spcPts val="3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是建立開放、廠商中立、跨平台的色彩管理系統架構與元件標準，是提供跨平台的 Device Profile 格式，使不同裝置之間的色彩資料可以進行轉換</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600" baseline="-25000" dirty="0">
                <a:latin typeface="Times New Roman" panose="02020603050405020304" pitchFamily="18" charset="0"/>
                <a:ea typeface="標楷體" panose="03000509000000000000" pitchFamily="65" charset="-120"/>
                <a:cs typeface="Times New Roman" panose="02020603050405020304" pitchFamily="18" charset="0"/>
              </a:rPr>
              <a:t>[1]</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研究目標</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ts val="3000"/>
              </a:lnSpc>
            </a:pP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於</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 ONYX Factory Tool </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中加入</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kern="0" dirty="0" err="1">
                <a:effectLst/>
                <a:latin typeface="Times New Roman" panose="02020603050405020304" pitchFamily="18" charset="0"/>
                <a:ea typeface="標楷體" panose="03000509000000000000" pitchFamily="65" charset="-120"/>
                <a:cs typeface="Times New Roman" panose="02020603050405020304" pitchFamily="18" charset="0"/>
              </a:rPr>
              <a:t>icc</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kern="0" dirty="0" err="1">
                <a:effectLst/>
                <a:latin typeface="Times New Roman" panose="02020603050405020304" pitchFamily="18" charset="0"/>
                <a:ea typeface="標楷體" panose="03000509000000000000" pitchFamily="65" charset="-120"/>
                <a:cs typeface="Times New Roman" panose="02020603050405020304" pitchFamily="18" charset="0"/>
              </a:rPr>
              <a:t>icm</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檢視與編輯功能，產出色溫、</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Gamma</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DICOM </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校正檔案，並與</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 AD board </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硬體校正結果進行比較</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文字方塊 4">
            <a:extLst>
              <a:ext uri="{FF2B5EF4-FFF2-40B4-BE49-F238E27FC236}">
                <a16:creationId xmlns:a16="http://schemas.microsoft.com/office/drawing/2014/main" id="{DB74C124-A957-366F-6E34-2775A49BE3DE}"/>
              </a:ext>
            </a:extLst>
          </p:cNvPr>
          <p:cNvSpPr txBox="1"/>
          <p:nvPr/>
        </p:nvSpPr>
        <p:spPr>
          <a:xfrm>
            <a:off x="1677388" y="6339820"/>
            <a:ext cx="8158480" cy="523220"/>
          </a:xfrm>
          <a:prstGeom prst="rect">
            <a:avLst/>
          </a:prstGeom>
          <a:noFill/>
        </p:spPr>
        <p:txBody>
          <a:bodyPr wrap="square" rtlCol="0">
            <a:spAutoFit/>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[1] International Color Consortium, “International Color Consortium,” </a:t>
            </a:r>
            <a:r>
              <a:rPr lang="zh-TW" altLang="zh-TW" i="1" dirty="0">
                <a:latin typeface="Times New Roman" panose="02020603050405020304" pitchFamily="18" charset="0"/>
                <a:ea typeface="標楷體" panose="03000509000000000000" pitchFamily="65" charset="-120"/>
                <a:cs typeface="Times New Roman" panose="02020603050405020304" pitchFamily="18" charset="0"/>
              </a:rPr>
              <a:t>ICC</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[Online]. Available: </a:t>
            </a:r>
            <a:r>
              <a:rPr lang="zh-TW" altLang="zh-TW" dirty="0">
                <a:latin typeface="Times New Roman" panose="02020603050405020304" pitchFamily="18" charset="0"/>
                <a:ea typeface="標楷體" panose="03000509000000000000" pitchFamily="65" charset="-120"/>
                <a:cs typeface="Times New Roman" panose="02020603050405020304" pitchFamily="18" charset="0"/>
                <a:hlinkClick r:id="rId3"/>
              </a:rPr>
              <a:t>https://www.color.org/</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標題 7">
            <a:extLst>
              <a:ext uri="{FF2B5EF4-FFF2-40B4-BE49-F238E27FC236}">
                <a16:creationId xmlns:a16="http://schemas.microsoft.com/office/drawing/2014/main" id="{2ECA5CFA-64BC-E5E3-8FED-52AADBD2AC01}"/>
              </a:ext>
            </a:extLst>
          </p:cNvPr>
          <p:cNvSpPr>
            <a:spLocks noGrp="1"/>
          </p:cNvSpPr>
          <p:nvPr>
            <p:ph type="title"/>
          </p:nvPr>
        </p:nvSpPr>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研究背景與目標</a:t>
            </a:r>
          </a:p>
        </p:txBody>
      </p:sp>
    </p:spTree>
    <p:extLst>
      <p:ext uri="{BB962C8B-B14F-4D97-AF65-F5344CB8AC3E}">
        <p14:creationId xmlns:p14="http://schemas.microsoft.com/office/powerpoint/2010/main" val="3193920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53AC-EB70-4A67-F417-8BC6D8250D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9BD5A1B-DBE5-5CC6-2DE0-BBB353DB67DB}"/>
              </a:ext>
            </a:extLst>
          </p:cNvPr>
          <p:cNvSpPr>
            <a:spLocks noGrp="1"/>
          </p:cNvSpPr>
          <p:nvPr>
            <p:ph type="title"/>
          </p:nvPr>
        </p:nvSpPr>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t>PCS(Profile Connection Space)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E6234153-2243-3AE6-50F0-5BF73B34C545}"/>
              </a:ext>
            </a:extLst>
          </p:cNvPr>
          <p:cNvPicPr>
            <a:picLocks noChangeAspect="1"/>
          </p:cNvPicPr>
          <p:nvPr/>
        </p:nvPicPr>
        <p:blipFill>
          <a:blip r:embed="rId3"/>
          <a:srcRect/>
          <a:stretch>
            <a:fillRect/>
          </a:stretch>
        </p:blipFill>
        <p:spPr>
          <a:xfrm>
            <a:off x="827963" y="1382679"/>
            <a:ext cx="8250074" cy="4865721"/>
          </a:xfrm>
          <a:custGeom>
            <a:avLst/>
            <a:gdLst>
              <a:gd name="csX0" fmla="*/ 6192058 w 7476836"/>
              <a:gd name="csY0" fmla="*/ 3412858 h 4409681"/>
              <a:gd name="csX1" fmla="*/ 6192058 w 7476836"/>
              <a:gd name="csY1" fmla="*/ 4286618 h 4409681"/>
              <a:gd name="csX2" fmla="*/ 7390938 w 7476836"/>
              <a:gd name="csY2" fmla="*/ 4286618 h 4409681"/>
              <a:gd name="csX3" fmla="*/ 7390938 w 7476836"/>
              <a:gd name="csY3" fmla="*/ 3412858 h 4409681"/>
              <a:gd name="csX4" fmla="*/ 0 w 7476836"/>
              <a:gd name="csY4" fmla="*/ 0 h 4409681"/>
              <a:gd name="csX5" fmla="*/ 7476836 w 7476836"/>
              <a:gd name="csY5" fmla="*/ 0 h 4409681"/>
              <a:gd name="csX6" fmla="*/ 7476836 w 7476836"/>
              <a:gd name="csY6" fmla="*/ 4409681 h 4409681"/>
              <a:gd name="csX7" fmla="*/ 0 w 7476836"/>
              <a:gd name="csY7" fmla="*/ 4409681 h 4409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476836" h="4409681">
                <a:moveTo>
                  <a:pt x="6192058" y="3412858"/>
                </a:moveTo>
                <a:lnTo>
                  <a:pt x="6192058" y="4286618"/>
                </a:lnTo>
                <a:lnTo>
                  <a:pt x="7390938" y="4286618"/>
                </a:lnTo>
                <a:lnTo>
                  <a:pt x="7390938" y="3412858"/>
                </a:lnTo>
                <a:close/>
                <a:moveTo>
                  <a:pt x="0" y="0"/>
                </a:moveTo>
                <a:lnTo>
                  <a:pt x="7476836" y="0"/>
                </a:lnTo>
                <a:lnTo>
                  <a:pt x="7476836" y="4409681"/>
                </a:lnTo>
                <a:lnTo>
                  <a:pt x="0" y="4409681"/>
                </a:lnTo>
                <a:close/>
              </a:path>
            </a:pathLst>
          </a:custGeom>
        </p:spPr>
      </p:pic>
    </p:spTree>
    <p:extLst>
      <p:ext uri="{BB962C8B-B14F-4D97-AF65-F5344CB8AC3E}">
        <p14:creationId xmlns:p14="http://schemas.microsoft.com/office/powerpoint/2010/main" val="906919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53AC-EB70-4A67-F417-8BC6D8250DCE}"/>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022D6573-B360-5362-29E4-19065BAD6A7B}"/>
              </a:ext>
            </a:extLst>
          </p:cNvPr>
          <p:cNvPicPr>
            <a:picLocks noChangeAspect="1"/>
          </p:cNvPicPr>
          <p:nvPr/>
        </p:nvPicPr>
        <p:blipFill>
          <a:blip r:embed="rId3"/>
          <a:srcRect/>
          <a:stretch>
            <a:fillRect/>
          </a:stretch>
        </p:blipFill>
        <p:spPr>
          <a:xfrm>
            <a:off x="719137" y="1190964"/>
            <a:ext cx="8467726" cy="5057436"/>
          </a:xfrm>
          <a:custGeom>
            <a:avLst/>
            <a:gdLst>
              <a:gd name="csX0" fmla="*/ 6138143 w 7369006"/>
              <a:gd name="csY0" fmla="*/ 3412858 h 4401214"/>
              <a:gd name="csX1" fmla="*/ 6138143 w 7369006"/>
              <a:gd name="csY1" fmla="*/ 4286618 h 4401214"/>
              <a:gd name="csX2" fmla="*/ 7337023 w 7369006"/>
              <a:gd name="csY2" fmla="*/ 4286618 h 4401214"/>
              <a:gd name="csX3" fmla="*/ 7337023 w 7369006"/>
              <a:gd name="csY3" fmla="*/ 3412858 h 4401214"/>
              <a:gd name="csX4" fmla="*/ 0 w 7369006"/>
              <a:gd name="csY4" fmla="*/ 0 h 4401214"/>
              <a:gd name="csX5" fmla="*/ 7369006 w 7369006"/>
              <a:gd name="csY5" fmla="*/ 0 h 4401214"/>
              <a:gd name="csX6" fmla="*/ 7369006 w 7369006"/>
              <a:gd name="csY6" fmla="*/ 4401214 h 4401214"/>
              <a:gd name="csX7" fmla="*/ 0 w 7369006"/>
              <a:gd name="csY7" fmla="*/ 4401214 h 44012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369006" h="4401214">
                <a:moveTo>
                  <a:pt x="6138143" y="3412858"/>
                </a:moveTo>
                <a:lnTo>
                  <a:pt x="6138143" y="4286618"/>
                </a:lnTo>
                <a:lnTo>
                  <a:pt x="7337023" y="4286618"/>
                </a:lnTo>
                <a:lnTo>
                  <a:pt x="7337023" y="3412858"/>
                </a:lnTo>
                <a:close/>
                <a:moveTo>
                  <a:pt x="0" y="0"/>
                </a:moveTo>
                <a:lnTo>
                  <a:pt x="7369006" y="0"/>
                </a:lnTo>
                <a:lnTo>
                  <a:pt x="7369006" y="4401214"/>
                </a:lnTo>
                <a:lnTo>
                  <a:pt x="0" y="4401214"/>
                </a:lnTo>
                <a:close/>
              </a:path>
            </a:pathLst>
          </a:custGeom>
        </p:spPr>
      </p:pic>
      <p:sp>
        <p:nvSpPr>
          <p:cNvPr id="8" name="標題 1">
            <a:extLst>
              <a:ext uri="{FF2B5EF4-FFF2-40B4-BE49-F238E27FC236}">
                <a16:creationId xmlns:a16="http://schemas.microsoft.com/office/drawing/2014/main" id="{A46802AE-6441-4C36-D719-6F0C7C8257B9}"/>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t>PCS(Profile Connection Space)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134039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53AC-EB70-4A67-F417-8BC6D8250DCE}"/>
            </a:ext>
          </a:extLst>
        </p:cNvPr>
        <p:cNvGrpSpPr/>
        <p:nvPr/>
      </p:nvGrpSpPr>
      <p:grpSpPr>
        <a:xfrm>
          <a:off x="0" y="0"/>
          <a:ext cx="0" cy="0"/>
          <a:chOff x="0" y="0"/>
          <a:chExt cx="0" cy="0"/>
        </a:xfrm>
      </p:grpSpPr>
      <p:sp>
        <p:nvSpPr>
          <p:cNvPr id="4" name="文字方塊 3">
            <a:extLst>
              <a:ext uri="{FF2B5EF4-FFF2-40B4-BE49-F238E27FC236}">
                <a16:creationId xmlns:a16="http://schemas.microsoft.com/office/drawing/2014/main" id="{2E62D90A-238F-15C1-A17C-8D898584815F}"/>
              </a:ext>
            </a:extLst>
          </p:cNvPr>
          <p:cNvSpPr txBox="1"/>
          <p:nvPr/>
        </p:nvSpPr>
        <p:spPr>
          <a:xfrm>
            <a:off x="520699" y="1369489"/>
            <a:ext cx="7669813" cy="440633"/>
          </a:xfrm>
          <a:prstGeom prst="rect">
            <a:avLst/>
          </a:prstGeom>
          <a:noFill/>
        </p:spPr>
        <p:txBody>
          <a:bodyPr wrap="square">
            <a:spAutoFit/>
          </a:bodyPr>
          <a:lstStyle/>
          <a:p>
            <a:pPr marL="457200" lvl="1" indent="-406400">
              <a:lnSpc>
                <a:spcPts val="3000"/>
              </a:lnSpc>
              <a:spcBef>
                <a:spcPts val="560"/>
              </a:spcBef>
              <a:buClr>
                <a:schemeClr val="accent2"/>
              </a:buClr>
              <a:buSzPts val="2800"/>
              <a:buFont typeface="Noto Sans Symbols"/>
              <a:buChar char="❖"/>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實際轉換流程</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標題 1">
            <a:extLst>
              <a:ext uri="{FF2B5EF4-FFF2-40B4-BE49-F238E27FC236}">
                <a16:creationId xmlns:a16="http://schemas.microsoft.com/office/drawing/2014/main" id="{A46802AE-6441-4C36-D719-6F0C7C8257B9}"/>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t>PCS(Profile Connection Space)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矩形 2">
            <a:extLst>
              <a:ext uri="{FF2B5EF4-FFF2-40B4-BE49-F238E27FC236}">
                <a16:creationId xmlns:a16="http://schemas.microsoft.com/office/drawing/2014/main" id="{8996691D-0E63-96A8-06C3-40BD92D16B49}"/>
              </a:ext>
            </a:extLst>
          </p:cNvPr>
          <p:cNvSpPr/>
          <p:nvPr/>
        </p:nvSpPr>
        <p:spPr>
          <a:xfrm>
            <a:off x="818867" y="2156346"/>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 Device RGB</a:t>
            </a:r>
            <a:endParaRPr lang="zh-TW" altLang="en-US" sz="2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4799A24E-5028-5D4A-D223-7433C160BC28}"/>
              </a:ext>
            </a:extLst>
          </p:cNvPr>
          <p:cNvSpPr/>
          <p:nvPr/>
        </p:nvSpPr>
        <p:spPr>
          <a:xfrm>
            <a:off x="4246730" y="2156346"/>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 Device Profile</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extLst>
              <a:ext uri="{FF2B5EF4-FFF2-40B4-BE49-F238E27FC236}">
                <a16:creationId xmlns:a16="http://schemas.microsoft.com/office/drawing/2014/main" id="{0C7FD048-9844-D5F5-79C1-78326AF84161}"/>
              </a:ext>
            </a:extLst>
          </p:cNvPr>
          <p:cNvSpPr/>
          <p:nvPr/>
        </p:nvSpPr>
        <p:spPr>
          <a:xfrm>
            <a:off x="818867" y="4481497"/>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B Device RGB</a:t>
            </a:r>
          </a:p>
        </p:txBody>
      </p:sp>
      <p:sp>
        <p:nvSpPr>
          <p:cNvPr id="11" name="矩形 10">
            <a:extLst>
              <a:ext uri="{FF2B5EF4-FFF2-40B4-BE49-F238E27FC236}">
                <a16:creationId xmlns:a16="http://schemas.microsoft.com/office/drawing/2014/main" id="{CBAE6D19-C5AE-76A5-69B0-0B748849B999}"/>
              </a:ext>
            </a:extLst>
          </p:cNvPr>
          <p:cNvSpPr/>
          <p:nvPr/>
        </p:nvSpPr>
        <p:spPr>
          <a:xfrm>
            <a:off x="4246730" y="4481497"/>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B Device Profile</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矩形 12">
            <a:extLst>
              <a:ext uri="{FF2B5EF4-FFF2-40B4-BE49-F238E27FC236}">
                <a16:creationId xmlns:a16="http://schemas.microsoft.com/office/drawing/2014/main" id="{2502BAEE-F1D2-BEA9-82BD-3CC9D2FBDA07}"/>
              </a:ext>
            </a:extLst>
          </p:cNvPr>
          <p:cNvSpPr/>
          <p:nvPr/>
        </p:nvSpPr>
        <p:spPr>
          <a:xfrm>
            <a:off x="7251512" y="3352145"/>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PCS </a:t>
            </a:r>
            <a:r>
              <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XYZ/Lab </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5" name="直線單箭頭接點 14">
            <a:extLst>
              <a:ext uri="{FF2B5EF4-FFF2-40B4-BE49-F238E27FC236}">
                <a16:creationId xmlns:a16="http://schemas.microsoft.com/office/drawing/2014/main" id="{2BD354F0-AC29-3F7F-21BC-649A5C656B58}"/>
              </a:ext>
            </a:extLst>
          </p:cNvPr>
          <p:cNvCxnSpPr>
            <a:cxnSpLocks/>
            <a:stCxn id="3" idx="3"/>
            <a:endCxn id="6" idx="1"/>
          </p:cNvCxnSpPr>
          <p:nvPr/>
        </p:nvCxnSpPr>
        <p:spPr>
          <a:xfrm>
            <a:off x="2981139" y="2722728"/>
            <a:ext cx="1265591" cy="0"/>
          </a:xfrm>
          <a:prstGeom prst="straightConnector1">
            <a:avLst/>
          </a:prstGeom>
          <a:ln w="444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直線單箭頭接點 16">
            <a:extLst>
              <a:ext uri="{FF2B5EF4-FFF2-40B4-BE49-F238E27FC236}">
                <a16:creationId xmlns:a16="http://schemas.microsoft.com/office/drawing/2014/main" id="{91C66148-B7CE-F63D-A1CA-8F52D14070C9}"/>
              </a:ext>
            </a:extLst>
          </p:cNvPr>
          <p:cNvCxnSpPr>
            <a:cxnSpLocks/>
            <a:stCxn id="11" idx="1"/>
            <a:endCxn id="9" idx="3"/>
          </p:cNvCxnSpPr>
          <p:nvPr/>
        </p:nvCxnSpPr>
        <p:spPr>
          <a:xfrm flipH="1">
            <a:off x="2981139" y="5047879"/>
            <a:ext cx="1265591" cy="0"/>
          </a:xfrm>
          <a:prstGeom prst="straightConnector1">
            <a:avLst/>
          </a:prstGeom>
          <a:ln w="444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接點: 肘形 24">
            <a:extLst>
              <a:ext uri="{FF2B5EF4-FFF2-40B4-BE49-F238E27FC236}">
                <a16:creationId xmlns:a16="http://schemas.microsoft.com/office/drawing/2014/main" id="{A078D20F-E1A1-89E1-B06C-8361B263C03A}"/>
              </a:ext>
            </a:extLst>
          </p:cNvPr>
          <p:cNvCxnSpPr>
            <a:stCxn id="6" idx="3"/>
            <a:endCxn id="13" idx="0"/>
          </p:cNvCxnSpPr>
          <p:nvPr/>
        </p:nvCxnSpPr>
        <p:spPr>
          <a:xfrm>
            <a:off x="6409002" y="2722728"/>
            <a:ext cx="1923646" cy="629417"/>
          </a:xfrm>
          <a:prstGeom prst="bentConnector2">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接點: 肘形 26">
            <a:extLst>
              <a:ext uri="{FF2B5EF4-FFF2-40B4-BE49-F238E27FC236}">
                <a16:creationId xmlns:a16="http://schemas.microsoft.com/office/drawing/2014/main" id="{84FB698F-C81D-C384-B862-92390427F862}"/>
              </a:ext>
            </a:extLst>
          </p:cNvPr>
          <p:cNvCxnSpPr>
            <a:stCxn id="13" idx="2"/>
            <a:endCxn id="11" idx="3"/>
          </p:cNvCxnSpPr>
          <p:nvPr/>
        </p:nvCxnSpPr>
        <p:spPr>
          <a:xfrm rot="5400000">
            <a:off x="7089340" y="3804571"/>
            <a:ext cx="562970" cy="1923646"/>
          </a:xfrm>
          <a:prstGeom prst="bentConnector2">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28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E9AAA-7E36-1E17-83F9-FD3A18A28BE9}"/>
            </a:ext>
          </a:extLst>
        </p:cNvPr>
        <p:cNvGrpSpPr/>
        <p:nvPr/>
      </p:nvGrpSpPr>
      <p:grpSpPr>
        <a:xfrm>
          <a:off x="0" y="0"/>
          <a:ext cx="0" cy="0"/>
          <a:chOff x="0" y="0"/>
          <a:chExt cx="0" cy="0"/>
        </a:xfrm>
      </p:grpSpPr>
      <p:sp>
        <p:nvSpPr>
          <p:cNvPr id="8" name="標題 1">
            <a:extLst>
              <a:ext uri="{FF2B5EF4-FFF2-40B4-BE49-F238E27FC236}">
                <a16:creationId xmlns:a16="http://schemas.microsoft.com/office/drawing/2014/main" id="{912256C4-A35A-439C-D194-BE22EDF76531}"/>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Display ICC Profile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結構</a:t>
            </a:r>
          </a:p>
        </p:txBody>
      </p:sp>
      <p:pic>
        <p:nvPicPr>
          <p:cNvPr id="3" name="圖片 2">
            <a:extLst>
              <a:ext uri="{FF2B5EF4-FFF2-40B4-BE49-F238E27FC236}">
                <a16:creationId xmlns:a16="http://schemas.microsoft.com/office/drawing/2014/main" id="{2639EB24-C1BB-C0D1-86B0-82E9D709404B}"/>
              </a:ext>
            </a:extLst>
          </p:cNvPr>
          <p:cNvPicPr>
            <a:picLocks noChangeAspect="1"/>
          </p:cNvPicPr>
          <p:nvPr/>
        </p:nvPicPr>
        <p:blipFill>
          <a:blip r:embed="rId3"/>
          <a:stretch>
            <a:fillRect/>
          </a:stretch>
        </p:blipFill>
        <p:spPr>
          <a:xfrm>
            <a:off x="208364" y="1307939"/>
            <a:ext cx="6744810" cy="4922073"/>
          </a:xfrm>
          <a:prstGeom prst="rect">
            <a:avLst/>
          </a:prstGeom>
        </p:spPr>
      </p:pic>
      <p:graphicFrame>
        <p:nvGraphicFramePr>
          <p:cNvPr id="5" name="表格 4">
            <a:extLst>
              <a:ext uri="{FF2B5EF4-FFF2-40B4-BE49-F238E27FC236}">
                <a16:creationId xmlns:a16="http://schemas.microsoft.com/office/drawing/2014/main" id="{309845EE-BEFD-0830-6F6A-014C6C37200E}"/>
              </a:ext>
            </a:extLst>
          </p:cNvPr>
          <p:cNvGraphicFramePr>
            <a:graphicFrameLocks noGrp="1"/>
          </p:cNvGraphicFramePr>
          <p:nvPr>
            <p:extLst>
              <p:ext uri="{D42A27DB-BD31-4B8C-83A1-F6EECF244321}">
                <p14:modId xmlns:p14="http://schemas.microsoft.com/office/powerpoint/2010/main" val="1438902325"/>
              </p:ext>
            </p:extLst>
          </p:nvPr>
        </p:nvGraphicFramePr>
        <p:xfrm>
          <a:off x="7072132" y="1307939"/>
          <a:ext cx="2338794" cy="4842674"/>
        </p:xfrm>
        <a:graphic>
          <a:graphicData uri="http://schemas.openxmlformats.org/drawingml/2006/table">
            <a:tbl>
              <a:tblPr firstRow="1" bandRow="1">
                <a:tableStyleId>{616DA210-FB5B-4158-B5E0-FEB733F419BA}</a:tableStyleId>
              </a:tblPr>
              <a:tblGrid>
                <a:gridCol w="2338794">
                  <a:extLst>
                    <a:ext uri="{9D8B030D-6E8A-4147-A177-3AD203B41FA5}">
                      <a16:colId xmlns:a16="http://schemas.microsoft.com/office/drawing/2014/main" val="3358617967"/>
                    </a:ext>
                  </a:extLst>
                </a:gridCol>
              </a:tblGrid>
              <a:tr h="846997">
                <a:tc>
                  <a:txBody>
                    <a:bodyPr/>
                    <a:lstStyle/>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Profile Header </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128 bytes</a:t>
                      </a:r>
                      <a:endParaRPr lang="zh-TW" altLang="en-US" sz="1700" dirty="0">
                        <a:latin typeface="Times New Roman" panose="02020603050405020304" pitchFamily="18" charset="0"/>
                        <a:ea typeface="標楷體" panose="03000509000000000000" pitchFamily="65" charset="-120"/>
                        <a:cs typeface="Times New Roman" panose="02020603050405020304" pitchFamily="18" charset="0"/>
                      </a:endParaRPr>
                    </a:p>
                  </a:txBody>
                  <a:tcPr marL="96148" marR="96148" marT="48074" marB="48074"/>
                </a:tc>
                <a:extLst>
                  <a:ext uri="{0D108BD9-81ED-4DB2-BD59-A6C34878D82A}">
                    <a16:rowId xmlns:a16="http://schemas.microsoft.com/office/drawing/2014/main" val="1724688990"/>
                  </a:ext>
                </a:extLst>
              </a:tr>
              <a:tr h="1378125">
                <a:tc>
                  <a:txBody>
                    <a:bodyPr/>
                    <a:lstStyle/>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Tag Table</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wtpt → offset / size </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rXYZ → offset / size</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rTRC → offset / size</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700" dirty="0">
                          <a:latin typeface="Times New Roman" panose="02020603050405020304" pitchFamily="18" charset="0"/>
                          <a:ea typeface="標楷體" panose="03000509000000000000" pitchFamily="65" charset="-120"/>
                          <a:cs typeface="Times New Roman" panose="02020603050405020304" pitchFamily="18" charset="0"/>
                        </a:rPr>
                        <a:t>…...</a:t>
                      </a:r>
                    </a:p>
                  </a:txBody>
                  <a:tcPr marL="96148" marR="96148" marT="48074" marB="48074"/>
                </a:tc>
                <a:extLst>
                  <a:ext uri="{0D108BD9-81ED-4DB2-BD59-A6C34878D82A}">
                    <a16:rowId xmlns:a16="http://schemas.microsoft.com/office/drawing/2014/main" val="3735960893"/>
                  </a:ext>
                </a:extLst>
              </a:tr>
              <a:tr h="2604129">
                <a:tc>
                  <a:txBody>
                    <a:bodyPr/>
                    <a:lstStyle/>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Tagged Element Data</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1700" dirty="0">
                          <a:latin typeface="Times New Roman" panose="02020603050405020304" pitchFamily="18" charset="0"/>
                          <a:ea typeface="標楷體" panose="03000509000000000000" pitchFamily="65" charset="-120"/>
                          <a:cs typeface="Times New Roman" panose="02020603050405020304" pitchFamily="18" charset="0"/>
                        </a:rPr>
                        <a:t>…...</a:t>
                      </a:r>
                    </a:p>
                  </a:txBody>
                  <a:tcPr marL="96148" marR="96148" marT="48074" marB="48074"/>
                </a:tc>
                <a:extLst>
                  <a:ext uri="{0D108BD9-81ED-4DB2-BD59-A6C34878D82A}">
                    <a16:rowId xmlns:a16="http://schemas.microsoft.com/office/drawing/2014/main" val="29441199"/>
                  </a:ext>
                </a:extLst>
              </a:tr>
            </a:tbl>
          </a:graphicData>
        </a:graphic>
      </p:graphicFrame>
      <p:sp>
        <p:nvSpPr>
          <p:cNvPr id="7" name="文字方塊 6">
            <a:extLst>
              <a:ext uri="{FF2B5EF4-FFF2-40B4-BE49-F238E27FC236}">
                <a16:creationId xmlns:a16="http://schemas.microsoft.com/office/drawing/2014/main" id="{7B3BC9D9-DB6E-B366-7FB4-7B64CF0727F4}"/>
              </a:ext>
            </a:extLst>
          </p:cNvPr>
          <p:cNvSpPr txBox="1"/>
          <p:nvPr/>
        </p:nvSpPr>
        <p:spPr>
          <a:xfrm>
            <a:off x="1152647" y="6396335"/>
            <a:ext cx="8489064" cy="461665"/>
          </a:xfrm>
          <a:prstGeom prst="rect">
            <a:avLst/>
          </a:prstGeom>
          <a:noFill/>
        </p:spPr>
        <p:txBody>
          <a:bodyPr wrap="square">
            <a:spAutoFit/>
          </a:bodyPr>
          <a:lstStyle/>
          <a:p>
            <a:r>
              <a:rPr lang="zh-TW" altLang="zh-TW" sz="1200" dirty="0"/>
              <a:t>[</a:t>
            </a:r>
            <a:r>
              <a:rPr lang="en-US" altLang="zh-TW" sz="1200" dirty="0"/>
              <a:t>1</a:t>
            </a:r>
            <a:r>
              <a:rPr lang="zh-TW" altLang="zh-TW" sz="1200" dirty="0"/>
              <a:t>] International Color Consortium, </a:t>
            </a:r>
            <a:r>
              <a:rPr lang="zh-TW" altLang="zh-TW" sz="1200" i="1" dirty="0"/>
              <a:t>ICC.1:2022: Image technology colour management—Architecture, profile format, and data structure</a:t>
            </a:r>
            <a:r>
              <a:rPr lang="zh-TW" altLang="zh-TW" sz="1200" dirty="0"/>
              <a:t>, Profile version 4.4.0.0, 2022. [Online]. Available: </a:t>
            </a:r>
            <a:r>
              <a:rPr lang="zh-TW" altLang="zh-TW" sz="1200" dirty="0">
                <a:hlinkClick r:id="rId4"/>
              </a:rPr>
              <a:t>https://archive.color.org/specifications/ICC.1-2022-05.pdf</a:t>
            </a:r>
            <a:endParaRPr lang="zh-TW" altLang="en-US" sz="1200" dirty="0"/>
          </a:p>
        </p:txBody>
      </p:sp>
      <p:sp>
        <p:nvSpPr>
          <p:cNvPr id="4" name="矩形 3">
            <a:extLst>
              <a:ext uri="{FF2B5EF4-FFF2-40B4-BE49-F238E27FC236}">
                <a16:creationId xmlns:a16="http://schemas.microsoft.com/office/drawing/2014/main" id="{567028A9-4CB7-C301-D86A-34E0D8BC2C6A}"/>
              </a:ext>
            </a:extLst>
          </p:cNvPr>
          <p:cNvSpPr/>
          <p:nvPr/>
        </p:nvSpPr>
        <p:spPr>
          <a:xfrm>
            <a:off x="767443" y="3151414"/>
            <a:ext cx="677636" cy="163286"/>
          </a:xfrm>
          <a:prstGeom prst="rect">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69118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BEAB9-4E35-7AB7-EE54-74E82B9599A8}"/>
            </a:ext>
          </a:extLst>
        </p:cNvPr>
        <p:cNvGrpSpPr/>
        <p:nvPr/>
      </p:nvGrpSpPr>
      <p:grpSpPr>
        <a:xfrm>
          <a:off x="0" y="0"/>
          <a:ext cx="0" cy="0"/>
          <a:chOff x="0" y="0"/>
          <a:chExt cx="0" cy="0"/>
        </a:xfrm>
      </p:grpSpPr>
      <p:sp>
        <p:nvSpPr>
          <p:cNvPr id="10" name="文字版面配置區 6">
            <a:extLst>
              <a:ext uri="{FF2B5EF4-FFF2-40B4-BE49-F238E27FC236}">
                <a16:creationId xmlns:a16="http://schemas.microsoft.com/office/drawing/2014/main" id="{8CC25041-484B-028D-E365-35F32AD88DA6}"/>
              </a:ext>
            </a:extLst>
          </p:cNvPr>
          <p:cNvSpPr txBox="1"/>
          <p:nvPr/>
        </p:nvSpPr>
        <p:spPr>
          <a:xfrm>
            <a:off x="508002" y="1307665"/>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gn="just">
              <a:lnSpc>
                <a:spcPct val="150000"/>
              </a:lnSpc>
              <a:spcBef>
                <a:spcPts val="560"/>
              </a:spcBef>
              <a:buClr>
                <a:schemeClr val="accent2"/>
              </a:buClr>
              <a:buSzPts val="2800"/>
              <a:buFont typeface="Noto Sans Symbols"/>
              <a:buChar char="❖"/>
            </a:pP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TRC(Tone Response Curve)</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lnSpc>
                <a:spcPct val="150000"/>
              </a:lnSpc>
            </a:pP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把顯示器實際使用的非線性 RGB code value，轉換成與 PCS</a:t>
            </a:r>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XYZ 的 Y（luminance）關係相符的 linear RGB 表示。</a:t>
            </a:r>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例如：</a:t>
            </a:r>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just"/>
            <a:r>
              <a:rPr lang="zh-TW" altLang="zh-TW" sz="2400" dirty="0"/>
              <a:t>Matrix</a:t>
            </a:r>
            <a:endParaRPr lang="en-US" altLang="zh-TW" sz="2400" dirty="0"/>
          </a:p>
          <a:p>
            <a:pPr lvl="1" algn="just"/>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p>
          <a:p>
            <a:pPr marL="533400" lvl="1" indent="0">
              <a:lnSpc>
                <a:spcPct val="150000"/>
              </a:lnSpc>
              <a:buNone/>
            </a:pPr>
            <a:endParaRPr lang="zh-TW" altLang="en-US" sz="1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34" name="群組 33">
            <a:extLst>
              <a:ext uri="{FF2B5EF4-FFF2-40B4-BE49-F238E27FC236}">
                <a16:creationId xmlns:a16="http://schemas.microsoft.com/office/drawing/2014/main" id="{C0E10B67-4895-DEEA-0A4E-8D187E08F60B}"/>
              </a:ext>
            </a:extLst>
          </p:cNvPr>
          <p:cNvGrpSpPr/>
          <p:nvPr/>
        </p:nvGrpSpPr>
        <p:grpSpPr>
          <a:xfrm>
            <a:off x="2198589" y="2789905"/>
            <a:ext cx="6996210" cy="826938"/>
            <a:chOff x="1208421" y="3799390"/>
            <a:chExt cx="7344475" cy="868102"/>
          </a:xfrm>
        </p:grpSpPr>
        <p:sp>
          <p:nvSpPr>
            <p:cNvPr id="4" name="矩形 3">
              <a:extLst>
                <a:ext uri="{FF2B5EF4-FFF2-40B4-BE49-F238E27FC236}">
                  <a16:creationId xmlns:a16="http://schemas.microsoft.com/office/drawing/2014/main" id="{3EAD8FDE-BAC0-876F-4587-8CBAB5D895F9}"/>
                </a:ext>
              </a:extLst>
            </p:cNvPr>
            <p:cNvSpPr/>
            <p:nvPr/>
          </p:nvSpPr>
          <p:spPr>
            <a:xfrm>
              <a:off x="1208421" y="379939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R′=0.5</a:t>
              </a:r>
              <a:r>
                <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(127/255)</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F211FECE-805D-4DE7-5329-317233CD1CB4}"/>
                </a:ext>
              </a:extLst>
            </p:cNvPr>
            <p:cNvSpPr/>
            <p:nvPr/>
          </p:nvSpPr>
          <p:spPr>
            <a:xfrm>
              <a:off x="4302917" y="379939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R=(R′)</a:t>
              </a:r>
              <a:r>
                <a:rPr lang="en-US" altLang="zh-TW" baseline="30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p>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0.218 ≈ 0.5</a:t>
              </a:r>
              <a:r>
                <a:rPr lang="zh-TW" altLang="zh-TW" baseline="30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baseline="30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矩形 6">
              <a:extLst>
                <a:ext uri="{FF2B5EF4-FFF2-40B4-BE49-F238E27FC236}">
                  <a16:creationId xmlns:a16="http://schemas.microsoft.com/office/drawing/2014/main" id="{0DFB61CE-E671-9B90-DDBA-64DE2605725B}"/>
                </a:ext>
              </a:extLst>
            </p:cNvPr>
            <p:cNvSpPr/>
            <p:nvPr/>
          </p:nvSpPr>
          <p:spPr>
            <a:xfrm>
              <a:off x="6990314" y="379939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R=0</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.218</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3" name="直線單箭頭接點 12">
              <a:extLst>
                <a:ext uri="{FF2B5EF4-FFF2-40B4-BE49-F238E27FC236}">
                  <a16:creationId xmlns:a16="http://schemas.microsoft.com/office/drawing/2014/main" id="{8755CBCD-89A6-A4CF-B535-C3D84BCDE39D}"/>
                </a:ext>
              </a:extLst>
            </p:cNvPr>
            <p:cNvCxnSpPr>
              <a:stCxn id="4" idx="3"/>
              <a:endCxn id="6" idx="1"/>
            </p:cNvCxnSpPr>
            <p:nvPr/>
          </p:nvCxnSpPr>
          <p:spPr>
            <a:xfrm>
              <a:off x="2771003" y="4233441"/>
              <a:ext cx="1531914"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直線單箭頭接點 13">
              <a:extLst>
                <a:ext uri="{FF2B5EF4-FFF2-40B4-BE49-F238E27FC236}">
                  <a16:creationId xmlns:a16="http://schemas.microsoft.com/office/drawing/2014/main" id="{43C321DC-EFCF-71ED-6AA0-C27F2B92914D}"/>
                </a:ext>
              </a:extLst>
            </p:cNvPr>
            <p:cNvCxnSpPr>
              <a:cxnSpLocks/>
              <a:stCxn id="6" idx="3"/>
              <a:endCxn id="7" idx="1"/>
            </p:cNvCxnSpPr>
            <p:nvPr/>
          </p:nvCxnSpPr>
          <p:spPr>
            <a:xfrm>
              <a:off x="5865499" y="4233441"/>
              <a:ext cx="112481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矩形 21">
              <a:extLst>
                <a:ext uri="{FF2B5EF4-FFF2-40B4-BE49-F238E27FC236}">
                  <a16:creationId xmlns:a16="http://schemas.microsoft.com/office/drawing/2014/main" id="{9A9DF41D-9E06-E236-CA43-60889F6EE310}"/>
                </a:ext>
              </a:extLst>
            </p:cNvPr>
            <p:cNvSpPr/>
            <p:nvPr/>
          </p:nvSpPr>
          <p:spPr>
            <a:xfrm>
              <a:off x="2880370" y="3847139"/>
              <a:ext cx="1313180" cy="338554"/>
            </a:xfrm>
            <a:prstGeom prst="rect">
              <a:avLst/>
            </a:prstGeom>
            <a:noFill/>
          </p:spPr>
          <p:txBody>
            <a:bodyPr wrap="none" lIns="91440" tIns="45720" rIns="91440" bIns="45720">
              <a:spAutoFit/>
            </a:bodyPr>
            <a:lstStyle/>
            <a:p>
              <a:pPr algn="ct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Gamma = 2.2</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33" name="標題 1">
            <a:extLst>
              <a:ext uri="{FF2B5EF4-FFF2-40B4-BE49-F238E27FC236}">
                <a16:creationId xmlns:a16="http://schemas.microsoft.com/office/drawing/2014/main" id="{FE6A0969-18CA-A43C-E3E0-A72CA997A88D}"/>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Display ICC Profile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結構</a:t>
            </a:r>
          </a:p>
        </p:txBody>
      </p:sp>
      <p:pic>
        <p:nvPicPr>
          <p:cNvPr id="3" name="圖片 2">
            <a:extLst>
              <a:ext uri="{FF2B5EF4-FFF2-40B4-BE49-F238E27FC236}">
                <a16:creationId xmlns:a16="http://schemas.microsoft.com/office/drawing/2014/main" id="{D006D859-0957-02BC-0A72-AE413C4596E3}"/>
              </a:ext>
            </a:extLst>
          </p:cNvPr>
          <p:cNvPicPr>
            <a:picLocks noChangeAspect="1"/>
          </p:cNvPicPr>
          <p:nvPr/>
        </p:nvPicPr>
        <p:blipFill>
          <a:blip r:embed="rId3"/>
          <a:stretch>
            <a:fillRect/>
          </a:stretch>
        </p:blipFill>
        <p:spPr>
          <a:xfrm>
            <a:off x="1414816" y="4625280"/>
            <a:ext cx="5674449" cy="1107488"/>
          </a:xfrm>
          <a:prstGeom prst="rect">
            <a:avLst/>
          </a:prstGeom>
        </p:spPr>
      </p:pic>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FAEA6F4D-5E5A-9C8D-AC25-FD4659BC3AF6}"/>
                  </a:ext>
                </a:extLst>
              </p:cNvPr>
              <p:cNvSpPr txBox="1"/>
              <p:nvPr/>
            </p:nvSpPr>
            <p:spPr>
              <a:xfrm>
                <a:off x="1471966" y="4133340"/>
                <a:ext cx="2019784" cy="307777"/>
              </a:xfrm>
              <a:prstGeom prst="rect">
                <a:avLst/>
              </a:prstGeom>
              <a:noFill/>
            </p:spPr>
            <p:txBody>
              <a:bodyPr wrap="none" lIns="0" tIns="0" rIns="0" bIns="0" rtlCol="0">
                <a:spAutoFit/>
              </a:bodyPr>
              <a:lstStyle/>
              <a:p>
                <a:pPr/>
                <a14:m>
                  <m:oMathPara xmlns:m="http://schemas.openxmlformats.org/officeDocument/2006/math">
                    <m:oMath>
                      <m:r>
                        <m:rPr>
                          <m:nor/>
                        </m:rPr>
                        <a:rPr lang="en-US" altLang="zh-TW" sz="2000" i="0"/>
                        <m:t>XYZ</m:t>
                      </m:r>
                      <m:r>
                        <a:rPr lang="zh-TW" altLang="en-US" sz="2000" i="1" smtClean="0">
                          <a:latin typeface="Cambria Math" panose="02040503050406030204" pitchFamily="18" charset="0"/>
                        </a:rPr>
                        <m:t> </m:t>
                      </m:r>
                      <m:r>
                        <m:rPr>
                          <m:nor/>
                        </m:rPr>
                        <a:rPr lang="en-US" altLang="zh-TW" sz="2000" i="0"/>
                        <m:t>=</m:t>
                      </m:r>
                      <m:r>
                        <a:rPr lang="zh-TW" altLang="en-US" sz="2000" i="1" smtClean="0">
                          <a:latin typeface="Cambria Math" panose="02040503050406030204" pitchFamily="18" charset="0"/>
                        </a:rPr>
                        <m:t> </m:t>
                      </m:r>
                      <m:r>
                        <m:rPr>
                          <m:nor/>
                        </m:rPr>
                        <a:rPr lang="en-US" altLang="zh-TW" sz="2000" i="0"/>
                        <m:t>MRGB</m:t>
                      </m:r>
                      <m:r>
                        <m:rPr>
                          <m:nor/>
                        </m:rPr>
                        <a:rPr lang="en-US" altLang="zh-TW" sz="2000" i="0" baseline="-25000" smtClean="0"/>
                        <m:t>linear</m:t>
                      </m:r>
                      <m:r>
                        <m:rPr>
                          <m:nor/>
                        </m:rPr>
                        <a:rPr lang="en-US" altLang="zh-TW" sz="2000" i="0"/>
                        <m:t>​</m:t>
                      </m:r>
                    </m:oMath>
                  </m:oMathPara>
                </a14:m>
                <a:endParaRPr lang="zh-TW" altLang="en-US" sz="2000" dirty="0"/>
              </a:p>
            </p:txBody>
          </p:sp>
        </mc:Choice>
        <mc:Fallback xmlns="">
          <p:sp>
            <p:nvSpPr>
              <p:cNvPr id="5" name="文字方塊 4">
                <a:extLst>
                  <a:ext uri="{FF2B5EF4-FFF2-40B4-BE49-F238E27FC236}">
                    <a16:creationId xmlns:a16="http://schemas.microsoft.com/office/drawing/2014/main" id="{FAEA6F4D-5E5A-9C8D-AC25-FD4659BC3AF6}"/>
                  </a:ext>
                </a:extLst>
              </p:cNvPr>
              <p:cNvSpPr txBox="1">
                <a:spLocks noRot="1" noChangeAspect="1" noMove="1" noResize="1" noEditPoints="1" noAdjustHandles="1" noChangeArrowheads="1" noChangeShapeType="1" noTextEdit="1"/>
              </p:cNvSpPr>
              <p:nvPr/>
            </p:nvSpPr>
            <p:spPr>
              <a:xfrm>
                <a:off x="1471966" y="4133340"/>
                <a:ext cx="2019784" cy="307777"/>
              </a:xfrm>
              <a:prstGeom prst="rect">
                <a:avLst/>
              </a:prstGeom>
              <a:blipFill>
                <a:blip r:embed="rId4"/>
                <a:stretch>
                  <a:fillRect l="-2410" r="-904" b="-1960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4110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E878-4E26-12D7-EE94-7C8FB06533CC}"/>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EDA0264E-FAAC-7F32-85AD-9B494638827F}"/>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Display ICC Profile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結構</a:t>
            </a:r>
          </a:p>
        </p:txBody>
      </p:sp>
      <p:sp>
        <p:nvSpPr>
          <p:cNvPr id="8" name="文字版面配置區 6">
            <a:extLst>
              <a:ext uri="{FF2B5EF4-FFF2-40B4-BE49-F238E27FC236}">
                <a16:creationId xmlns:a16="http://schemas.microsoft.com/office/drawing/2014/main" id="{2DAC1A8A-F13A-5508-510D-5274EB3BC2A2}"/>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ct val="150000"/>
              </a:lnSpc>
              <a:spcBef>
                <a:spcPts val="560"/>
              </a:spcBef>
              <a:buClr>
                <a:schemeClr val="accent2"/>
              </a:buClr>
              <a:buSzPts val="2800"/>
              <a:buFont typeface="Noto Sans Symbols"/>
              <a:buChar char="❖"/>
            </a:pPr>
            <a:r>
              <a:rPr lang="en-US" altLang="zh-TW" sz="2000" dirty="0" err="1">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lumi</a:t>
            </a:r>
            <a:r>
              <a:rPr lang="en-US" altLang="zh-TW" sz="20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L</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uminance</a:t>
            </a:r>
            <a:r>
              <a:rPr lang="en-US" altLang="zh-TW" sz="20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這台螢幕量測到顯示白的亮度</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wtpt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edia WhitePoint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描述該 Profile 所代表媒體白點的 XYZ 色度基準</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esc</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000" dirty="0"/>
              <a:t>Profile Description</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描述這個 ICC Profile 的名稱或識別資訊</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c</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prt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000" dirty="0"/>
              <a:t>Copyright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記錄這個 ICC Profile 的版權資訊</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1" name="圖片 10">
            <a:extLst>
              <a:ext uri="{FF2B5EF4-FFF2-40B4-BE49-F238E27FC236}">
                <a16:creationId xmlns:a16="http://schemas.microsoft.com/office/drawing/2014/main" id="{AC18273A-6EC9-764F-CB84-A81D1E6A5E4B}"/>
              </a:ext>
            </a:extLst>
          </p:cNvPr>
          <p:cNvPicPr>
            <a:picLocks noChangeAspect="1"/>
          </p:cNvPicPr>
          <p:nvPr/>
        </p:nvPicPr>
        <p:blipFill>
          <a:blip r:embed="rId3"/>
          <a:stretch>
            <a:fillRect/>
          </a:stretch>
        </p:blipFill>
        <p:spPr>
          <a:xfrm>
            <a:off x="5859163" y="1502831"/>
            <a:ext cx="3868905" cy="3852337"/>
          </a:xfrm>
          <a:prstGeom prst="rect">
            <a:avLst/>
          </a:prstGeom>
        </p:spPr>
      </p:pic>
    </p:spTree>
    <p:extLst>
      <p:ext uri="{BB962C8B-B14F-4D97-AF65-F5344CB8AC3E}">
        <p14:creationId xmlns:p14="http://schemas.microsoft.com/office/powerpoint/2010/main" val="3746105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24AA7-A8A7-A341-3AC3-0E3E342460FB}"/>
            </a:ext>
          </a:extLst>
        </p:cNvPr>
        <p:cNvGrpSpPr/>
        <p:nvPr/>
      </p:nvGrpSpPr>
      <p:grpSpPr>
        <a:xfrm>
          <a:off x="0" y="0"/>
          <a:ext cx="0" cy="0"/>
          <a:chOff x="0" y="0"/>
          <a:chExt cx="0" cy="0"/>
        </a:xfrm>
      </p:grpSpPr>
      <p:sp>
        <p:nvSpPr>
          <p:cNvPr id="8" name="文字版面配置區 6">
            <a:extLst>
              <a:ext uri="{FF2B5EF4-FFF2-40B4-BE49-F238E27FC236}">
                <a16:creationId xmlns:a16="http://schemas.microsoft.com/office/drawing/2014/main" id="{70AA535C-35C8-9CAA-5BCE-9D60896E7559}"/>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矩形 11">
            <a:extLst>
              <a:ext uri="{FF2B5EF4-FFF2-40B4-BE49-F238E27FC236}">
                <a16:creationId xmlns:a16="http://schemas.microsoft.com/office/drawing/2014/main" id="{650C616D-3C14-C08D-8569-D9AD85C5DC81}"/>
              </a:ext>
            </a:extLst>
          </p:cNvPr>
          <p:cNvSpPr/>
          <p:nvPr/>
        </p:nvSpPr>
        <p:spPr>
          <a:xfrm>
            <a:off x="538481" y="3289586"/>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cs typeface="Times New Roman" panose="02020603050405020304" pitchFamily="18" charset="0"/>
              </a:rPr>
              <a:t>ICC Profile</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矩形 2">
            <a:extLst>
              <a:ext uri="{FF2B5EF4-FFF2-40B4-BE49-F238E27FC236}">
                <a16:creationId xmlns:a16="http://schemas.microsoft.com/office/drawing/2014/main" id="{ED4440B2-D934-67C7-39A3-FE56C3443B86}"/>
              </a:ext>
            </a:extLst>
          </p:cNvPr>
          <p:cNvSpPr/>
          <p:nvPr/>
        </p:nvSpPr>
        <p:spPr>
          <a:xfrm>
            <a:off x="3423921" y="2156174"/>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CMM</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a:extLst>
              <a:ext uri="{FF2B5EF4-FFF2-40B4-BE49-F238E27FC236}">
                <a16:creationId xmlns:a16="http://schemas.microsoft.com/office/drawing/2014/main" id="{F9DD2B38-5863-2279-1592-91EB1F252E2D}"/>
              </a:ext>
            </a:extLst>
          </p:cNvPr>
          <p:cNvSpPr/>
          <p:nvPr/>
        </p:nvSpPr>
        <p:spPr>
          <a:xfrm>
            <a:off x="3423921" y="4338876"/>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OS/GPU</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extLst>
              <a:ext uri="{FF2B5EF4-FFF2-40B4-BE49-F238E27FC236}">
                <a16:creationId xmlns:a16="http://schemas.microsoft.com/office/drawing/2014/main" id="{7CE50360-4991-7137-8AAB-9BACBD0D98BF}"/>
              </a:ext>
            </a:extLst>
          </p:cNvPr>
          <p:cNvSpPr/>
          <p:nvPr/>
        </p:nvSpPr>
        <p:spPr>
          <a:xfrm>
            <a:off x="7071361" y="2156174"/>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cs typeface="Times New Roman" panose="02020603050405020304" pitchFamily="18" charset="0"/>
              </a:rPr>
              <a:t>Display RGB</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矩形 12">
            <a:extLst>
              <a:ext uri="{FF2B5EF4-FFF2-40B4-BE49-F238E27FC236}">
                <a16:creationId xmlns:a16="http://schemas.microsoft.com/office/drawing/2014/main" id="{AE5CC085-F68F-A65E-FCB3-C00C72B7D390}"/>
              </a:ext>
            </a:extLst>
          </p:cNvPr>
          <p:cNvSpPr/>
          <p:nvPr/>
        </p:nvSpPr>
        <p:spPr>
          <a:xfrm>
            <a:off x="7071361" y="4338876"/>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cs typeface="Times New Roman" panose="02020603050405020304" pitchFamily="18" charset="0"/>
              </a:rPr>
              <a:t>Corrected RGB</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文字方塊 14">
            <a:extLst>
              <a:ext uri="{FF2B5EF4-FFF2-40B4-BE49-F238E27FC236}">
                <a16:creationId xmlns:a16="http://schemas.microsoft.com/office/drawing/2014/main" id="{A6668260-2771-F381-C71B-D54F678C8A36}"/>
              </a:ext>
            </a:extLst>
          </p:cNvPr>
          <p:cNvSpPr txBox="1"/>
          <p:nvPr/>
        </p:nvSpPr>
        <p:spPr>
          <a:xfrm>
            <a:off x="5639592" y="4884798"/>
            <a:ext cx="1111202" cy="338554"/>
          </a:xfrm>
          <a:prstGeom prst="rect">
            <a:avLst/>
          </a:prstGeom>
          <a:noFill/>
        </p:spPr>
        <p:txBody>
          <a:bodyPr wrap="none" rtlCol="0">
            <a:spAutoFit/>
          </a:bodyPr>
          <a:lstStyle/>
          <a:p>
            <a:r>
              <a:rPr lang="zh-TW" altLang="zh-TW" sz="1600" dirty="0">
                <a:solidFill>
                  <a:schemeClr val="tx1"/>
                </a:solidFill>
                <a:latin typeface="Times New Roman" panose="02020603050405020304" pitchFamily="18" charset="0"/>
                <a:cs typeface="Times New Roman" panose="02020603050405020304" pitchFamily="18" charset="0"/>
              </a:rPr>
              <a:t>Calibration</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378ECEDB-098A-A787-87A8-96D722F9D4AF}"/>
              </a:ext>
            </a:extLst>
          </p:cNvPr>
          <p:cNvSpPr txBox="1"/>
          <p:nvPr/>
        </p:nvSpPr>
        <p:spPr>
          <a:xfrm>
            <a:off x="5337372" y="2110033"/>
            <a:ext cx="1651414" cy="338554"/>
          </a:xfrm>
          <a:prstGeom prst="rect">
            <a:avLst/>
          </a:prstGeom>
          <a:noFill/>
        </p:spPr>
        <p:txBody>
          <a:bodyPr wrap="none" rtlCol="0">
            <a:spAutoFit/>
          </a:bodyPr>
          <a:lstStyle/>
          <a:p>
            <a:r>
              <a:rPr lang="zh-TW" altLang="zh-TW" sz="1600" dirty="0">
                <a:solidFill>
                  <a:schemeClr val="tx1"/>
                </a:solidFill>
                <a:latin typeface="Times New Roman" panose="02020603050405020304" pitchFamily="18" charset="0"/>
                <a:cs typeface="Times New Roman" panose="02020603050405020304" pitchFamily="18" charset="0"/>
              </a:rPr>
              <a:t>Color</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Conversion</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20124EDF-B4FC-F6C1-EB1E-C16D8613D5B9}"/>
              </a:ext>
            </a:extLst>
          </p:cNvPr>
          <p:cNvSpPr txBox="1"/>
          <p:nvPr/>
        </p:nvSpPr>
        <p:spPr>
          <a:xfrm>
            <a:off x="1799684" y="2115561"/>
            <a:ext cx="1725152" cy="338554"/>
          </a:xfrm>
          <a:prstGeom prst="rect">
            <a:avLst/>
          </a:prstGeom>
          <a:noFill/>
        </p:spPr>
        <p:txBody>
          <a:bodyPr wrap="none" rtlCol="0">
            <a:spAutoFit/>
          </a:bodyPr>
          <a:lstStyle/>
          <a:p>
            <a:r>
              <a:rPr lang="zh-TW" altLang="zh-TW" sz="1600" dirty="0">
                <a:solidFill>
                  <a:schemeClr val="tx1"/>
                </a:solidFill>
                <a:latin typeface="Times New Roman" panose="02020603050405020304" pitchFamily="18" charset="0"/>
                <a:cs typeface="Times New Roman" panose="02020603050405020304" pitchFamily="18" charset="0"/>
              </a:rPr>
              <a:t>TRC / XYZ / wtpt</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004DC6C4-F258-3DB0-B9DD-DEC53EDBA4C2}"/>
              </a:ext>
            </a:extLst>
          </p:cNvPr>
          <p:cNvSpPr txBox="1"/>
          <p:nvPr/>
        </p:nvSpPr>
        <p:spPr>
          <a:xfrm>
            <a:off x="1309165" y="4884798"/>
            <a:ext cx="2215671" cy="338554"/>
          </a:xfrm>
          <a:prstGeom prst="rect">
            <a:avLst/>
          </a:prstGeom>
          <a:noFill/>
        </p:spPr>
        <p:txBody>
          <a:bodyPr wrap="none" rtlCol="0">
            <a:spAutoFit/>
          </a:bodyPr>
          <a:lstStyle/>
          <a:p>
            <a:r>
              <a:rPr lang="zh-TW" altLang="zh-TW" sz="1600" dirty="0">
                <a:solidFill>
                  <a:schemeClr val="tx1"/>
                </a:solidFill>
                <a:latin typeface="Times New Roman" panose="02020603050405020304" pitchFamily="18" charset="0"/>
                <a:cs typeface="Times New Roman" panose="02020603050405020304" pitchFamily="18" charset="0"/>
              </a:rPr>
              <a:t>VCGT</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MS00</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MHC2</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sp>
        <p:nvSpPr>
          <p:cNvPr id="48" name="標題 1">
            <a:extLst>
              <a:ext uri="{FF2B5EF4-FFF2-40B4-BE49-F238E27FC236}">
                <a16:creationId xmlns:a16="http://schemas.microsoft.com/office/drawing/2014/main" id="{8D095D36-8CDE-8903-759D-B3DC6978455E}"/>
              </a:ext>
            </a:extLst>
          </p:cNvPr>
          <p:cNvSpPr>
            <a:spLocks noGrp="1"/>
          </p:cNvSpPr>
          <p:nvPr>
            <p:ph type="title"/>
          </p:nvPr>
        </p:nvSpPr>
        <p:spPr>
          <a:xfrm>
            <a:off x="609602" y="609600"/>
            <a:ext cx="8077200" cy="533400"/>
          </a:xfrm>
          <a:ln>
            <a:noFill/>
          </a:ln>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ICC</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與</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校正資料</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6" name="直線接點 5">
            <a:extLst>
              <a:ext uri="{FF2B5EF4-FFF2-40B4-BE49-F238E27FC236}">
                <a16:creationId xmlns:a16="http://schemas.microsoft.com/office/drawing/2014/main" id="{6D20DBCA-6384-9E49-44A5-B651C92313FD}"/>
              </a:ext>
            </a:extLst>
          </p:cNvPr>
          <p:cNvCxnSpPr>
            <a:cxnSpLocks/>
            <a:stCxn id="5" idx="3"/>
            <a:endCxn id="13" idx="1"/>
          </p:cNvCxnSpPr>
          <p:nvPr/>
        </p:nvCxnSpPr>
        <p:spPr>
          <a:xfrm>
            <a:off x="5171441" y="4798616"/>
            <a:ext cx="1899920" cy="0"/>
          </a:xfrm>
          <a:prstGeom prst="line">
            <a:avLst/>
          </a:prstGeom>
        </p:spPr>
        <p:style>
          <a:lnRef idx="2">
            <a:schemeClr val="dk1"/>
          </a:lnRef>
          <a:fillRef idx="0">
            <a:schemeClr val="dk1"/>
          </a:fillRef>
          <a:effectRef idx="1">
            <a:schemeClr val="dk1"/>
          </a:effectRef>
          <a:fontRef idx="minor">
            <a:schemeClr val="tx1"/>
          </a:fontRef>
        </p:style>
      </p:cxnSp>
      <p:cxnSp>
        <p:nvCxnSpPr>
          <p:cNvPr id="7" name="直線接點 6">
            <a:extLst>
              <a:ext uri="{FF2B5EF4-FFF2-40B4-BE49-F238E27FC236}">
                <a16:creationId xmlns:a16="http://schemas.microsoft.com/office/drawing/2014/main" id="{07A16EC5-F29F-9583-72F5-FFE82D567074}"/>
              </a:ext>
            </a:extLst>
          </p:cNvPr>
          <p:cNvCxnSpPr>
            <a:cxnSpLocks/>
            <a:stCxn id="3" idx="3"/>
            <a:endCxn id="9" idx="1"/>
          </p:cNvCxnSpPr>
          <p:nvPr/>
        </p:nvCxnSpPr>
        <p:spPr>
          <a:xfrm>
            <a:off x="5171441" y="2615914"/>
            <a:ext cx="1899920" cy="0"/>
          </a:xfrm>
          <a:prstGeom prst="line">
            <a:avLst/>
          </a:prstGeom>
        </p:spPr>
        <p:style>
          <a:lnRef idx="2">
            <a:schemeClr val="dk1"/>
          </a:lnRef>
          <a:fillRef idx="0">
            <a:schemeClr val="dk1"/>
          </a:fillRef>
          <a:effectRef idx="1">
            <a:schemeClr val="dk1"/>
          </a:effectRef>
          <a:fontRef idx="minor">
            <a:schemeClr val="tx1"/>
          </a:fontRef>
        </p:style>
      </p:cxnSp>
      <p:cxnSp>
        <p:nvCxnSpPr>
          <p:cNvPr id="16" name="接點: 肘形 15">
            <a:extLst>
              <a:ext uri="{FF2B5EF4-FFF2-40B4-BE49-F238E27FC236}">
                <a16:creationId xmlns:a16="http://schemas.microsoft.com/office/drawing/2014/main" id="{CD68CE2B-EDE8-D826-AB19-B6FAE4FE733F}"/>
              </a:ext>
            </a:extLst>
          </p:cNvPr>
          <p:cNvCxnSpPr>
            <a:cxnSpLocks/>
            <a:stCxn id="3" idx="1"/>
            <a:endCxn id="12" idx="3"/>
          </p:cNvCxnSpPr>
          <p:nvPr/>
        </p:nvCxnSpPr>
        <p:spPr>
          <a:xfrm rot="10800000" flipV="1">
            <a:off x="2286001" y="2615914"/>
            <a:ext cx="1137920" cy="1133412"/>
          </a:xfrm>
          <a:prstGeom prst="bentConnector3">
            <a:avLst/>
          </a:prstGeom>
        </p:spPr>
        <p:style>
          <a:lnRef idx="2">
            <a:schemeClr val="dk1"/>
          </a:lnRef>
          <a:fillRef idx="0">
            <a:schemeClr val="dk1"/>
          </a:fillRef>
          <a:effectRef idx="1">
            <a:schemeClr val="dk1"/>
          </a:effectRef>
          <a:fontRef idx="minor">
            <a:schemeClr val="tx1"/>
          </a:fontRef>
        </p:style>
      </p:cxnSp>
      <p:cxnSp>
        <p:nvCxnSpPr>
          <p:cNvPr id="18" name="接點: 肘形 17">
            <a:extLst>
              <a:ext uri="{FF2B5EF4-FFF2-40B4-BE49-F238E27FC236}">
                <a16:creationId xmlns:a16="http://schemas.microsoft.com/office/drawing/2014/main" id="{834256DB-2ECB-B600-2909-4DADCB795645}"/>
              </a:ext>
            </a:extLst>
          </p:cNvPr>
          <p:cNvCxnSpPr>
            <a:cxnSpLocks/>
            <a:stCxn id="5" idx="1"/>
            <a:endCxn id="12" idx="3"/>
          </p:cNvCxnSpPr>
          <p:nvPr/>
        </p:nvCxnSpPr>
        <p:spPr>
          <a:xfrm rot="10800000">
            <a:off x="2286001" y="3749326"/>
            <a:ext cx="1137920" cy="1049290"/>
          </a:xfrm>
          <a:prstGeom prst="bentConnector3">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24968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81EF-0373-3A33-6C0E-EC125ABA4754}"/>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A53491AC-D58D-DD71-6BC3-A952ED839EAE}"/>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ICC</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與</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校正資料</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文字版面配置區 6">
            <a:extLst>
              <a:ext uri="{FF2B5EF4-FFF2-40B4-BE49-F238E27FC236}">
                <a16:creationId xmlns:a16="http://schemas.microsoft.com/office/drawing/2014/main" id="{4B7FB8E3-5FB9-BA2C-1030-64042180558B}"/>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ct val="150000"/>
              </a:lnSpc>
              <a:spcBef>
                <a:spcPts val="560"/>
              </a:spcBef>
              <a:buClr>
                <a:schemeClr val="accent2"/>
              </a:buClr>
              <a:buSzPts val="2800"/>
              <a:buFont typeface="Noto Sans Symbols"/>
              <a:buChar char="❖"/>
            </a:pP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VCGT</a:t>
            </a: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（Video Card Gamma Tag）</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是 ICC Profile 中的 private tag，</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 Microsoft</a:t>
            </a: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用來攜帶顯示校正所需的 gamma-ramp 資料</a:t>
            </a:r>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由</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三組</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1D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RGB LUT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數據</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組成</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MS00</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Microsoft 使用的private ICC tag，可以儲存供 Windows gamma-ramp calibration loader 使用的校正資料。</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MHC2（Microsoft Hardware Calibration 2）</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Microsoft用來存放新的 GPU display color transform pipeline 所需要的校正資料</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MHC2 的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matrix 是用來做色彩空間中的調整</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文字方塊 36">
            <a:extLst>
              <a:ext uri="{FF2B5EF4-FFF2-40B4-BE49-F238E27FC236}">
                <a16:creationId xmlns:a16="http://schemas.microsoft.com/office/drawing/2014/main" id="{DDC6F0BF-9EA8-E6B2-A137-CCF611DB7467}"/>
              </a:ext>
            </a:extLst>
          </p:cNvPr>
          <p:cNvSpPr txBox="1"/>
          <p:nvPr/>
        </p:nvSpPr>
        <p:spPr>
          <a:xfrm>
            <a:off x="1734818" y="6361271"/>
            <a:ext cx="7561580" cy="523220"/>
          </a:xfrm>
          <a:prstGeom prst="rect">
            <a:avLst/>
          </a:prstGeom>
          <a:noFill/>
        </p:spPr>
        <p:txBody>
          <a:bodyPr wrap="square">
            <a:spAutoFit/>
          </a:bodyPr>
          <a:lstStyle/>
          <a:p>
            <a:r>
              <a:rPr lang="zh-TW"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2</a:t>
            </a:r>
            <a:r>
              <a:rPr lang="zh-TW" altLang="zh-TW" dirty="0">
                <a:latin typeface="Times New Roman" panose="02020603050405020304" pitchFamily="18" charset="0"/>
                <a:cs typeface="Times New Roman" panose="02020603050405020304" pitchFamily="18" charset="0"/>
              </a:rPr>
              <a:t>] Microsoft, “Windows hardware display color calibration pipeline,” </a:t>
            </a:r>
            <a:r>
              <a:rPr lang="zh-TW" altLang="zh-TW" i="1" dirty="0">
                <a:latin typeface="Times New Roman" panose="02020603050405020304" pitchFamily="18" charset="0"/>
                <a:cs typeface="Times New Roman" panose="02020603050405020304" pitchFamily="18" charset="0"/>
              </a:rPr>
              <a:t>Microsoft Learn</a:t>
            </a:r>
            <a:r>
              <a:rPr lang="zh-TW" altLang="zh-TW" dirty="0">
                <a:latin typeface="Times New Roman" panose="02020603050405020304" pitchFamily="18" charset="0"/>
                <a:cs typeface="Times New Roman" panose="02020603050405020304" pitchFamily="18" charset="0"/>
              </a:rPr>
              <a:t>, Aug. 28, 2024. [Online]. Available: </a:t>
            </a:r>
            <a:r>
              <a:rPr lang="zh-TW" altLang="zh-TW" dirty="0">
                <a:latin typeface="Times New Roman" panose="02020603050405020304" pitchFamily="18" charset="0"/>
                <a:cs typeface="Times New Roman" panose="02020603050405020304" pitchFamily="18" charset="0"/>
                <a:hlinkClick r:id="rId3"/>
              </a:rPr>
              <a:t>https://learn.microsoft.com/en-us/windows/win32/wcs/display-calibration-mhc</a:t>
            </a:r>
            <a:r>
              <a:rPr lang="zh-TW"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09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99D7F-E903-4B27-15E3-697CE8ADC96F}"/>
            </a:ext>
          </a:extLst>
        </p:cNvPr>
        <p:cNvGrpSpPr/>
        <p:nvPr/>
      </p:nvGrpSpPr>
      <p:grpSpPr>
        <a:xfrm>
          <a:off x="0" y="0"/>
          <a:ext cx="0" cy="0"/>
          <a:chOff x="0" y="0"/>
          <a:chExt cx="0" cy="0"/>
        </a:xfrm>
      </p:grpSpPr>
      <p:sp>
        <p:nvSpPr>
          <p:cNvPr id="3" name="文字版面配置區 6">
            <a:extLst>
              <a:ext uri="{FF2B5EF4-FFF2-40B4-BE49-F238E27FC236}">
                <a16:creationId xmlns:a16="http://schemas.microsoft.com/office/drawing/2014/main" id="{161D35D4-6F09-EBFD-1918-7D9D97D108CE}"/>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VCGT/MS00</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流程圖</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spcBef>
                <a:spcPts val="560"/>
              </a:spcBef>
              <a:buClr>
                <a:schemeClr val="accent2"/>
              </a:buClr>
              <a:buSzPts val="2800"/>
              <a:buFont typeface="Noto Sans Symbols"/>
              <a:buChar char="❖"/>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spcBef>
                <a:spcPts val="560"/>
              </a:spcBef>
              <a:buClr>
                <a:schemeClr val="accent2"/>
              </a:buClr>
              <a:buSzPts val="2800"/>
              <a:buFont typeface="Noto Sans Symbols"/>
              <a:buChar char="❖"/>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spcBef>
                <a:spcPts val="560"/>
              </a:spcBef>
              <a:buClr>
                <a:schemeClr val="accent2"/>
              </a:buClr>
              <a:buSzPts val="2800"/>
              <a:buFont typeface="Noto Sans Symbols"/>
              <a:buChar char="❖"/>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spcBef>
                <a:spcPts val="560"/>
              </a:spcBef>
              <a:buClr>
                <a:schemeClr val="accent2"/>
              </a:buClr>
              <a:buSzPts val="2800"/>
              <a:buFont typeface="Noto Sans Symbols"/>
              <a:buChar char="❖"/>
            </a:pPr>
            <a:endPar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spcBef>
                <a:spcPts val="560"/>
              </a:spcBef>
              <a:buClr>
                <a:schemeClr val="accent2"/>
              </a:buClr>
              <a:buSzPts val="2800"/>
              <a:buFont typeface="Noto Sans Symbols"/>
              <a:buChar char="❖"/>
            </a:pP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MHC2</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流程圖</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spcBef>
                <a:spcPts val="560"/>
              </a:spcBef>
              <a:buClr>
                <a:schemeClr val="accent2"/>
              </a:buClr>
              <a:buSzPts val="2800"/>
              <a:buFont typeface="Noto Sans Symbols"/>
              <a:buChar char="❖"/>
            </a:pPr>
            <a:endPar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標題 1">
            <a:extLst>
              <a:ext uri="{FF2B5EF4-FFF2-40B4-BE49-F238E27FC236}">
                <a16:creationId xmlns:a16="http://schemas.microsoft.com/office/drawing/2014/main" id="{19BC2AD8-2B49-2773-92DC-5F6F876713E0}"/>
              </a:ext>
            </a:extLst>
          </p:cNvPr>
          <p:cNvSpPr>
            <a:spLocks noGrp="1"/>
          </p:cNvSpPr>
          <p:nvPr>
            <p:ph type="title"/>
          </p:nvPr>
        </p:nvSpPr>
        <p:spPr>
          <a:xfrm>
            <a:off x="609602" y="609600"/>
            <a:ext cx="8077200" cy="533400"/>
          </a:xfrm>
          <a:ln>
            <a:noFill/>
          </a:ln>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ICC</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與</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校正資料</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文字方塊 3">
            <a:extLst>
              <a:ext uri="{FF2B5EF4-FFF2-40B4-BE49-F238E27FC236}">
                <a16:creationId xmlns:a16="http://schemas.microsoft.com/office/drawing/2014/main" id="{31FAD839-1E58-2001-020F-CFFD68E35C3C}"/>
              </a:ext>
            </a:extLst>
          </p:cNvPr>
          <p:cNvSpPr txBox="1"/>
          <p:nvPr/>
        </p:nvSpPr>
        <p:spPr>
          <a:xfrm>
            <a:off x="1734818" y="6361271"/>
            <a:ext cx="7744462" cy="523220"/>
          </a:xfrm>
          <a:prstGeom prst="rect">
            <a:avLst/>
          </a:prstGeom>
          <a:noFill/>
        </p:spPr>
        <p:txBody>
          <a:bodyPr wrap="square">
            <a:spAutoFit/>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2</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Microsoft, “Windows hardware display color calibration pipeline,” </a:t>
            </a:r>
            <a:r>
              <a:rPr lang="zh-TW" altLang="zh-TW" i="1" dirty="0">
                <a:latin typeface="Times New Roman" panose="02020603050405020304" pitchFamily="18" charset="0"/>
                <a:ea typeface="標楷體" panose="03000509000000000000" pitchFamily="65" charset="-120"/>
                <a:cs typeface="Times New Roman" panose="02020603050405020304" pitchFamily="18" charset="0"/>
              </a:rPr>
              <a:t>Microsoft Learn</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Aug. 28, 2024. [Online]. Available: </a:t>
            </a:r>
            <a:r>
              <a:rPr lang="zh-TW" altLang="zh-TW" dirty="0">
                <a:latin typeface="Times New Roman" panose="02020603050405020304" pitchFamily="18" charset="0"/>
                <a:ea typeface="標楷體" panose="03000509000000000000" pitchFamily="65" charset="-120"/>
                <a:cs typeface="Times New Roman" panose="02020603050405020304" pitchFamily="18" charset="0"/>
                <a:hlinkClick r:id="rId3"/>
              </a:rPr>
              <a:t>https://learn.microsoft.com/en-us/windows/win32/wcs/display-calibration-mhc</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30" name="圖片 29">
            <a:extLst>
              <a:ext uri="{FF2B5EF4-FFF2-40B4-BE49-F238E27FC236}">
                <a16:creationId xmlns:a16="http://schemas.microsoft.com/office/drawing/2014/main" id="{A6AB86EA-2ADD-01A2-6126-4C71201A6777}"/>
              </a:ext>
            </a:extLst>
          </p:cNvPr>
          <p:cNvPicPr>
            <a:picLocks noChangeAspect="1"/>
          </p:cNvPicPr>
          <p:nvPr/>
        </p:nvPicPr>
        <p:blipFill>
          <a:blip r:embed="rId4"/>
          <a:stretch>
            <a:fillRect/>
          </a:stretch>
        </p:blipFill>
        <p:spPr>
          <a:xfrm>
            <a:off x="812553" y="3638568"/>
            <a:ext cx="8567075" cy="1192632"/>
          </a:xfrm>
          <a:prstGeom prst="rect">
            <a:avLst/>
          </a:prstGeom>
        </p:spPr>
      </p:pic>
      <p:pic>
        <p:nvPicPr>
          <p:cNvPr id="33" name="圖片 32">
            <a:extLst>
              <a:ext uri="{FF2B5EF4-FFF2-40B4-BE49-F238E27FC236}">
                <a16:creationId xmlns:a16="http://schemas.microsoft.com/office/drawing/2014/main" id="{39AD4A49-7455-859B-60E7-1808BA856F7A}"/>
              </a:ext>
            </a:extLst>
          </p:cNvPr>
          <p:cNvPicPr>
            <a:picLocks noChangeAspect="1"/>
          </p:cNvPicPr>
          <p:nvPr/>
        </p:nvPicPr>
        <p:blipFill>
          <a:blip r:embed="rId5"/>
          <a:stretch>
            <a:fillRect/>
          </a:stretch>
        </p:blipFill>
        <p:spPr>
          <a:xfrm>
            <a:off x="812553" y="4944071"/>
            <a:ext cx="8567075" cy="1304329"/>
          </a:xfrm>
          <a:prstGeom prst="rect">
            <a:avLst/>
          </a:prstGeom>
        </p:spPr>
      </p:pic>
      <p:grpSp>
        <p:nvGrpSpPr>
          <p:cNvPr id="5" name="群組 4">
            <a:extLst>
              <a:ext uri="{FF2B5EF4-FFF2-40B4-BE49-F238E27FC236}">
                <a16:creationId xmlns:a16="http://schemas.microsoft.com/office/drawing/2014/main" id="{56A3B310-6A7B-3F10-03D3-D5F024F3CC49}"/>
              </a:ext>
            </a:extLst>
          </p:cNvPr>
          <p:cNvGrpSpPr/>
          <p:nvPr/>
        </p:nvGrpSpPr>
        <p:grpSpPr>
          <a:xfrm>
            <a:off x="812553" y="1808025"/>
            <a:ext cx="8567076" cy="1302785"/>
            <a:chOff x="609602" y="2042327"/>
            <a:chExt cx="8686797" cy="1320991"/>
          </a:xfrm>
        </p:grpSpPr>
        <p:sp>
          <p:nvSpPr>
            <p:cNvPr id="6" name="矩形 5">
              <a:extLst>
                <a:ext uri="{FF2B5EF4-FFF2-40B4-BE49-F238E27FC236}">
                  <a16:creationId xmlns:a16="http://schemas.microsoft.com/office/drawing/2014/main" id="{4642A86A-FC43-2EAF-96D1-1331549B29AC}"/>
                </a:ext>
              </a:extLst>
            </p:cNvPr>
            <p:cNvSpPr/>
            <p:nvPr/>
          </p:nvSpPr>
          <p:spPr>
            <a:xfrm>
              <a:off x="609602" y="2443838"/>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Windows Display Calibration Loader</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矩形 6">
              <a:extLst>
                <a:ext uri="{FF2B5EF4-FFF2-40B4-BE49-F238E27FC236}">
                  <a16:creationId xmlns:a16="http://schemas.microsoft.com/office/drawing/2014/main" id="{56536FC2-9F3A-F481-C2A6-72416A5FA411}"/>
                </a:ext>
              </a:extLst>
            </p:cNvPr>
            <p:cNvSpPr/>
            <p:nvPr/>
          </p:nvSpPr>
          <p:spPr>
            <a:xfrm>
              <a:off x="2854961" y="2443838"/>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Gamma Ramp</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矩形 7">
              <a:extLst>
                <a:ext uri="{FF2B5EF4-FFF2-40B4-BE49-F238E27FC236}">
                  <a16:creationId xmlns:a16="http://schemas.microsoft.com/office/drawing/2014/main" id="{40DCE551-06B4-E071-C23C-EDE269E74CEA}"/>
                </a:ext>
              </a:extLst>
            </p:cNvPr>
            <p:cNvSpPr/>
            <p:nvPr/>
          </p:nvSpPr>
          <p:spPr>
            <a:xfrm>
              <a:off x="5190143" y="2443838"/>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DAC</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extLst>
                <a:ext uri="{FF2B5EF4-FFF2-40B4-BE49-F238E27FC236}">
                  <a16:creationId xmlns:a16="http://schemas.microsoft.com/office/drawing/2014/main" id="{B5D1CBB8-5BA9-F291-BAC3-50A74FEE2ED2}"/>
                </a:ext>
              </a:extLst>
            </p:cNvPr>
            <p:cNvSpPr/>
            <p:nvPr/>
          </p:nvSpPr>
          <p:spPr>
            <a:xfrm>
              <a:off x="7548879" y="2443838"/>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Displa</a:t>
              </a: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y</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矩形 10">
              <a:extLst>
                <a:ext uri="{FF2B5EF4-FFF2-40B4-BE49-F238E27FC236}">
                  <a16:creationId xmlns:a16="http://schemas.microsoft.com/office/drawing/2014/main" id="{DCD17EEB-CD4E-69B7-71BB-6A428E5B4CD5}"/>
                </a:ext>
              </a:extLst>
            </p:cNvPr>
            <p:cNvSpPr/>
            <p:nvPr/>
          </p:nvSpPr>
          <p:spPr>
            <a:xfrm>
              <a:off x="1483362" y="2042327"/>
              <a:ext cx="1352674" cy="343285"/>
            </a:xfrm>
            <a:prstGeom prst="rect">
              <a:avLst/>
            </a:prstGeom>
            <a:noFill/>
          </p:spPr>
          <p:txBody>
            <a:bodyPr wrap="square" lIns="91440" tIns="45720" rIns="91440" bIns="45720">
              <a:spAutoFit/>
            </a:bodyPr>
            <a:lstStyle/>
            <a:p>
              <a:pPr algn="ctr"/>
              <a:r>
                <a:rPr lang="en-US" altLang="zh-TW"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VCGT/MS00</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2" name="直線單箭頭接點 11">
              <a:extLst>
                <a:ext uri="{FF2B5EF4-FFF2-40B4-BE49-F238E27FC236}">
                  <a16:creationId xmlns:a16="http://schemas.microsoft.com/office/drawing/2014/main" id="{9969ED2C-45EF-25F3-1394-5600F62400AE}"/>
                </a:ext>
              </a:extLst>
            </p:cNvPr>
            <p:cNvCxnSpPr>
              <a:stCxn id="6" idx="3"/>
              <a:endCxn id="7" idx="1"/>
            </p:cNvCxnSpPr>
            <p:nvPr/>
          </p:nvCxnSpPr>
          <p:spPr>
            <a:xfrm>
              <a:off x="2357122" y="2903578"/>
              <a:ext cx="49783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直線單箭頭接點 12">
              <a:extLst>
                <a:ext uri="{FF2B5EF4-FFF2-40B4-BE49-F238E27FC236}">
                  <a16:creationId xmlns:a16="http://schemas.microsoft.com/office/drawing/2014/main" id="{1AC56062-280E-C720-F432-3A262E194D70}"/>
                </a:ext>
              </a:extLst>
            </p:cNvPr>
            <p:cNvCxnSpPr>
              <a:cxnSpLocks/>
              <a:stCxn id="7" idx="3"/>
              <a:endCxn id="8" idx="1"/>
            </p:cNvCxnSpPr>
            <p:nvPr/>
          </p:nvCxnSpPr>
          <p:spPr>
            <a:xfrm>
              <a:off x="4602481" y="2903578"/>
              <a:ext cx="58766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直線單箭頭接點 13">
              <a:extLst>
                <a:ext uri="{FF2B5EF4-FFF2-40B4-BE49-F238E27FC236}">
                  <a16:creationId xmlns:a16="http://schemas.microsoft.com/office/drawing/2014/main" id="{0C105470-4C73-0E37-6049-70A2667DC6FD}"/>
                </a:ext>
              </a:extLst>
            </p:cNvPr>
            <p:cNvCxnSpPr>
              <a:cxnSpLocks/>
            </p:cNvCxnSpPr>
            <p:nvPr/>
          </p:nvCxnSpPr>
          <p:spPr>
            <a:xfrm>
              <a:off x="1483362" y="2085481"/>
              <a:ext cx="0" cy="35835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直線單箭頭接點 14">
              <a:extLst>
                <a:ext uri="{FF2B5EF4-FFF2-40B4-BE49-F238E27FC236}">
                  <a16:creationId xmlns:a16="http://schemas.microsoft.com/office/drawing/2014/main" id="{7F27D7D5-15AF-E272-3A29-2FA9F78EE03D}"/>
                </a:ext>
              </a:extLst>
            </p:cNvPr>
            <p:cNvCxnSpPr>
              <a:cxnSpLocks/>
              <a:stCxn id="8" idx="3"/>
              <a:endCxn id="9" idx="1"/>
            </p:cNvCxnSpPr>
            <p:nvPr/>
          </p:nvCxnSpPr>
          <p:spPr>
            <a:xfrm>
              <a:off x="6937663" y="2903578"/>
              <a:ext cx="61121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483395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0E3FA89-4E74-50B1-9E1F-3455B72FC7C8}"/>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5A496009-97E3-5EBF-303F-885B565890A2}"/>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ICC</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與</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校正資料</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文字版面配置區 6">
            <a:extLst>
              <a:ext uri="{FF2B5EF4-FFF2-40B4-BE49-F238E27FC236}">
                <a16:creationId xmlns:a16="http://schemas.microsoft.com/office/drawing/2014/main" id="{195C21E2-F9E7-4DB1-C25F-84B88D0BB972}"/>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ct val="150000"/>
              </a:lnSpc>
              <a:spcBef>
                <a:spcPts val="560"/>
              </a:spcBef>
              <a:buClr>
                <a:schemeClr val="accent2"/>
              </a:buClr>
              <a:buSzPts val="2800"/>
              <a:buFont typeface="Noto Sans Symbols"/>
              <a:buChar char="❖"/>
            </a:pP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ICC 官方對 Device Profile 的定義</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Device profiles provide color management systems with the information necessary to convert color data between native device color spaces and device independent color spaces.</a:t>
            </a:r>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extLst>
              <a:ext uri="{FF2B5EF4-FFF2-40B4-BE49-F238E27FC236}">
                <a16:creationId xmlns:a16="http://schemas.microsoft.com/office/drawing/2014/main" id="{48A74D8B-01C0-F984-0DEB-2EB41E60D81B}"/>
              </a:ext>
            </a:extLst>
          </p:cNvPr>
          <p:cNvSpPr/>
          <p:nvPr/>
        </p:nvSpPr>
        <p:spPr>
          <a:xfrm>
            <a:off x="609602" y="3800404"/>
            <a:ext cx="1910080" cy="98552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原始 Display</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矩形 11">
            <a:extLst>
              <a:ext uri="{FF2B5EF4-FFF2-40B4-BE49-F238E27FC236}">
                <a16:creationId xmlns:a16="http://schemas.microsoft.com/office/drawing/2014/main" id="{E64E068D-36E8-16DA-CE03-C31A60F79A4C}"/>
              </a:ext>
            </a:extLst>
          </p:cNvPr>
          <p:cNvSpPr/>
          <p:nvPr/>
        </p:nvSpPr>
        <p:spPr>
          <a:xfrm>
            <a:off x="3996692" y="3800404"/>
            <a:ext cx="1910080" cy="98552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校正後的 Display</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矩形 13">
            <a:extLst>
              <a:ext uri="{FF2B5EF4-FFF2-40B4-BE49-F238E27FC236}">
                <a16:creationId xmlns:a16="http://schemas.microsoft.com/office/drawing/2014/main" id="{8153D5B5-9C99-8FF4-3F82-CBB9E77B433E}"/>
              </a:ext>
            </a:extLst>
          </p:cNvPr>
          <p:cNvSpPr/>
          <p:nvPr/>
        </p:nvSpPr>
        <p:spPr>
          <a:xfrm>
            <a:off x="7193282" y="3800404"/>
            <a:ext cx="1910080" cy="98552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ICC Profile</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描述</a:t>
            </a: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校正後的 Display</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文字方塊 15">
            <a:extLst>
              <a:ext uri="{FF2B5EF4-FFF2-40B4-BE49-F238E27FC236}">
                <a16:creationId xmlns:a16="http://schemas.microsoft.com/office/drawing/2014/main" id="{97D640E0-2062-5E74-A18D-25594149EC78}"/>
              </a:ext>
            </a:extLst>
          </p:cNvPr>
          <p:cNvSpPr txBox="1"/>
          <p:nvPr/>
        </p:nvSpPr>
        <p:spPr>
          <a:xfrm>
            <a:off x="2675892" y="3787426"/>
            <a:ext cx="1130300" cy="307777"/>
          </a:xfrm>
          <a:prstGeom prst="rect">
            <a:avLst/>
          </a:prstGeom>
          <a:noFill/>
        </p:spPr>
        <p:txBody>
          <a:bodyPr wrap="square">
            <a:spAutoFit/>
          </a:bodyPr>
          <a:lstStyle/>
          <a:p>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Calibration</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文字方塊 17">
            <a:extLst>
              <a:ext uri="{FF2B5EF4-FFF2-40B4-BE49-F238E27FC236}">
                <a16:creationId xmlns:a16="http://schemas.microsoft.com/office/drawing/2014/main" id="{53FAAD05-5423-8425-D079-E87F7D7D0DF4}"/>
              </a:ext>
            </a:extLst>
          </p:cNvPr>
          <p:cNvSpPr txBox="1"/>
          <p:nvPr/>
        </p:nvSpPr>
        <p:spPr>
          <a:xfrm>
            <a:off x="6097272" y="3800968"/>
            <a:ext cx="977900" cy="307777"/>
          </a:xfrm>
          <a:prstGeom prst="rect">
            <a:avLst/>
          </a:prstGeom>
          <a:noFill/>
        </p:spPr>
        <p:txBody>
          <a:bodyPr wrap="square">
            <a:spAutoFit/>
          </a:bodyPr>
          <a:lstStyle/>
          <a:p>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Profiling</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20" name="直線單箭頭接點 19">
            <a:extLst>
              <a:ext uri="{FF2B5EF4-FFF2-40B4-BE49-F238E27FC236}">
                <a16:creationId xmlns:a16="http://schemas.microsoft.com/office/drawing/2014/main" id="{A28111C5-679B-4B99-F41B-CF93AF10E80A}"/>
              </a:ext>
            </a:extLst>
          </p:cNvPr>
          <p:cNvCxnSpPr>
            <a:stCxn id="9" idx="3"/>
            <a:endCxn id="12" idx="1"/>
          </p:cNvCxnSpPr>
          <p:nvPr/>
        </p:nvCxnSpPr>
        <p:spPr>
          <a:xfrm>
            <a:off x="2519682" y="4293164"/>
            <a:ext cx="147701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直線單箭頭接點 20">
            <a:extLst>
              <a:ext uri="{FF2B5EF4-FFF2-40B4-BE49-F238E27FC236}">
                <a16:creationId xmlns:a16="http://schemas.microsoft.com/office/drawing/2014/main" id="{83BD4C12-E585-313C-A3BF-2862C76AFCC5}"/>
              </a:ext>
            </a:extLst>
          </p:cNvPr>
          <p:cNvCxnSpPr>
            <a:cxnSpLocks/>
            <a:stCxn id="12" idx="3"/>
            <a:endCxn id="14" idx="1"/>
          </p:cNvCxnSpPr>
          <p:nvPr/>
        </p:nvCxnSpPr>
        <p:spPr>
          <a:xfrm>
            <a:off x="5906772" y="4293164"/>
            <a:ext cx="128651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297188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60790-B8EB-5C9C-6F3D-DB91C8FE7261}"/>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469D4A17-091F-B9B9-0E15-4C16A04E17C4}"/>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未來方向</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軟體分析</a:t>
            </a:r>
          </a:p>
        </p:txBody>
      </p:sp>
      <p:sp>
        <p:nvSpPr>
          <p:cNvPr id="8" name="文字版面配置區 6">
            <a:extLst>
              <a:ext uri="{FF2B5EF4-FFF2-40B4-BE49-F238E27FC236}">
                <a16:creationId xmlns:a16="http://schemas.microsoft.com/office/drawing/2014/main" id="{B362863B-770E-5FA2-25CC-948566047750}"/>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ct val="150000"/>
              </a:lnSpc>
              <a:spcBef>
                <a:spcPts val="560"/>
              </a:spcBef>
              <a:buClr>
                <a:schemeClr val="accent2"/>
              </a:buClr>
              <a:buSzPts val="2800"/>
              <a:buFont typeface="Noto Sans Symbols"/>
              <a:buChar char="❖"/>
            </a:pP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DisplayCAL </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直接生成</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 ICC Profile</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感測</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器量測</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螢幕並產生</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ICC</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Profile</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觀看</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ICC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Profile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的各項數據</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文字方塊 36">
            <a:extLst>
              <a:ext uri="{FF2B5EF4-FFF2-40B4-BE49-F238E27FC236}">
                <a16:creationId xmlns:a16="http://schemas.microsoft.com/office/drawing/2014/main" id="{95268582-08DF-7D9E-8ED6-18BC73EECF65}"/>
              </a:ext>
            </a:extLst>
          </p:cNvPr>
          <p:cNvSpPr txBox="1"/>
          <p:nvPr/>
        </p:nvSpPr>
        <p:spPr>
          <a:xfrm>
            <a:off x="1734818" y="6361271"/>
            <a:ext cx="7561580" cy="523220"/>
          </a:xfrm>
          <a:prstGeom prst="rect">
            <a:avLst/>
          </a:prstGeom>
          <a:noFill/>
        </p:spPr>
        <p:txBody>
          <a:bodyPr wrap="square">
            <a:spAutoFit/>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3</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E. Ö. Yılmaz, “DisplayCAL Python 3 Project,” </a:t>
            </a:r>
            <a:r>
              <a:rPr lang="zh-TW" altLang="zh-TW" i="1" dirty="0">
                <a:latin typeface="Times New Roman" panose="02020603050405020304" pitchFamily="18" charset="0"/>
                <a:ea typeface="標楷體" panose="03000509000000000000" pitchFamily="65" charset="-120"/>
                <a:cs typeface="Times New Roman" panose="02020603050405020304" pitchFamily="18" charset="0"/>
              </a:rPr>
              <a:t>GitHub</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2026. [Online]. Available: </a:t>
            </a:r>
            <a:r>
              <a:rPr lang="zh-TW" altLang="zh-TW" dirty="0">
                <a:latin typeface="Times New Roman" panose="02020603050405020304" pitchFamily="18" charset="0"/>
                <a:ea typeface="標楷體" panose="03000509000000000000" pitchFamily="65" charset="-120"/>
                <a:cs typeface="Times New Roman" panose="02020603050405020304" pitchFamily="18" charset="0"/>
                <a:hlinkClick r:id="rId3"/>
              </a:rPr>
              <a:t>https://github.com/eoyilmaz/displaycal-py3</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4" name="群組 3">
            <a:extLst>
              <a:ext uri="{FF2B5EF4-FFF2-40B4-BE49-F238E27FC236}">
                <a16:creationId xmlns:a16="http://schemas.microsoft.com/office/drawing/2014/main" id="{E3098E80-3E93-5F92-3D39-A2E369A16F44}"/>
              </a:ext>
            </a:extLst>
          </p:cNvPr>
          <p:cNvGrpSpPr/>
          <p:nvPr/>
        </p:nvGrpSpPr>
        <p:grpSpPr>
          <a:xfrm>
            <a:off x="5515608" y="2426163"/>
            <a:ext cx="2311398" cy="2834733"/>
            <a:chOff x="1734818" y="2990136"/>
            <a:chExt cx="2019300" cy="2476500"/>
          </a:xfrm>
        </p:grpSpPr>
        <p:pic>
          <p:nvPicPr>
            <p:cNvPr id="2" name="圖片 1">
              <a:extLst>
                <a:ext uri="{FF2B5EF4-FFF2-40B4-BE49-F238E27FC236}">
                  <a16:creationId xmlns:a16="http://schemas.microsoft.com/office/drawing/2014/main" id="{3894B2E3-3478-B7B9-3C2D-EBC37E245116}"/>
                </a:ext>
              </a:extLst>
            </p:cNvPr>
            <p:cNvPicPr>
              <a:picLocks noChangeAspect="1"/>
            </p:cNvPicPr>
            <p:nvPr/>
          </p:nvPicPr>
          <p:blipFill>
            <a:blip r:embed="rId4"/>
            <a:stretch>
              <a:fillRect/>
            </a:stretch>
          </p:blipFill>
          <p:spPr>
            <a:xfrm>
              <a:off x="1734818" y="2990136"/>
              <a:ext cx="2019300" cy="2476500"/>
            </a:xfrm>
            <a:prstGeom prst="rect">
              <a:avLst/>
            </a:prstGeom>
          </p:spPr>
        </p:pic>
        <p:sp>
          <p:nvSpPr>
            <p:cNvPr id="3" name="文字方塊 2">
              <a:extLst>
                <a:ext uri="{FF2B5EF4-FFF2-40B4-BE49-F238E27FC236}">
                  <a16:creationId xmlns:a16="http://schemas.microsoft.com/office/drawing/2014/main" id="{4D6ADC0D-B06D-8D18-E21A-00B9010014EB}"/>
                </a:ext>
              </a:extLst>
            </p:cNvPr>
            <p:cNvSpPr txBox="1"/>
            <p:nvPr/>
          </p:nvSpPr>
          <p:spPr>
            <a:xfrm>
              <a:off x="2269228" y="5083702"/>
              <a:ext cx="1077208" cy="295770"/>
            </a:xfrm>
            <a:prstGeom prst="rect">
              <a:avLst/>
            </a:prstGeom>
            <a:noFill/>
          </p:spPr>
          <p:txBody>
            <a:bodyPr wrap="none" rtlCol="0">
              <a:spAutoFit/>
            </a:bodyPr>
            <a:lstStyle/>
            <a:p>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DisplayCAL</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501487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4" name="圖片 6"/>
          <p:cNvPicPr>
            <a:picLocks noChangeAspect="1"/>
          </p:cNvPicPr>
          <p:nvPr/>
        </p:nvPicPr>
        <p:blipFill>
          <a:blip r:embed="rId3"/>
          <a:srcRect/>
          <a:stretch>
            <a:fillRect/>
          </a:stretch>
        </p:blipFill>
        <p:spPr bwMode="auto">
          <a:xfrm>
            <a:off x="3357746" y="3004771"/>
            <a:ext cx="5556738" cy="848458"/>
          </a:xfrm>
          <a:prstGeom prst="rect">
            <a:avLst/>
          </a:prstGeom>
          <a:effectLst>
            <a:outerShdw blurRad="50800" dist="38100" dir="5400000" algn="t" rotWithShape="0">
              <a:prstClr val="black">
                <a:alpha val="40000"/>
              </a:prstClr>
            </a:outerShdw>
          </a:effectLst>
        </p:spPr>
      </p:pic>
      <p:pic>
        <p:nvPicPr>
          <p:cNvPr id="2097165" name="Picture 2" descr="http://www.secretariat.ntust.edu.tw/ezfiles/20/1020/img/1688/09.png"/>
          <p:cNvPicPr>
            <a:picLocks noChangeAspect="1" noChangeArrowheads="1"/>
          </p:cNvPicPr>
          <p:nvPr/>
        </p:nvPicPr>
        <p:blipFill>
          <a:blip r:embed="rId4" cstate="print"/>
          <a:srcRect/>
          <a:stretch>
            <a:fillRect/>
          </a:stretch>
        </p:blipFill>
        <p:spPr bwMode="auto">
          <a:xfrm>
            <a:off x="964866" y="1628181"/>
            <a:ext cx="6260123" cy="1186962"/>
          </a:xfrm>
          <a:prstGeom prst="rect">
            <a:avLst/>
          </a:prstGeom>
          <a:noFill/>
          <a:ln>
            <a:noFill/>
          </a:ln>
          <a:effectLst>
            <a:outerShdw blurRad="63500" sx="102000" sy="102000" algn="ctr" rotWithShape="0">
              <a:prstClr val="black">
                <a:alpha val="40000"/>
              </a:prstClr>
            </a:outerShdw>
          </a:effectLst>
        </p:spPr>
      </p:pic>
      <p:pic>
        <p:nvPicPr>
          <p:cNvPr id="2097166" name="圖片 7"/>
          <p:cNvPicPr>
            <a:picLocks noChangeAspect="1"/>
          </p:cNvPicPr>
          <p:nvPr/>
        </p:nvPicPr>
        <p:blipFill>
          <a:blip r:embed="rId5"/>
          <a:stretch>
            <a:fillRect/>
          </a:stretch>
        </p:blipFill>
        <p:spPr>
          <a:xfrm>
            <a:off x="2493650" y="4226628"/>
            <a:ext cx="4266522" cy="9305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1FE357-957A-3182-12E7-90F219E152EF}"/>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61298DEC-0097-A431-0637-9C6765567C9F}"/>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CE5B8F78-8A22-D5AF-CA79-EE55EA23B193}"/>
              </a:ext>
            </a:extLst>
          </p:cNvPr>
          <p:cNvGraphicFramePr>
            <a:graphicFrameLocks noGrp="1"/>
          </p:cNvGraphicFramePr>
          <p:nvPr>
            <p:extLst>
              <p:ext uri="{D42A27DB-BD31-4B8C-83A1-F6EECF244321}">
                <p14:modId xmlns:p14="http://schemas.microsoft.com/office/powerpoint/2010/main" val="1008160804"/>
              </p:ext>
            </p:extLst>
          </p:nvPr>
        </p:nvGraphicFramePr>
        <p:xfrm>
          <a:off x="721004" y="2041972"/>
          <a:ext cx="3142188" cy="1219200"/>
        </p:xfrm>
        <a:graphic>
          <a:graphicData uri="http://schemas.openxmlformats.org/drawingml/2006/table">
            <a:tbl>
              <a:tblPr>
                <a:tableStyleId>{5940675A-B579-460E-94D1-54222C63F5DA}</a:tableStyleId>
              </a:tblPr>
              <a:tblGrid>
                <a:gridCol w="1047396">
                  <a:extLst>
                    <a:ext uri="{9D8B030D-6E8A-4147-A177-3AD203B41FA5}">
                      <a16:colId xmlns:a16="http://schemas.microsoft.com/office/drawing/2014/main" val="3590102437"/>
                    </a:ext>
                  </a:extLst>
                </a:gridCol>
                <a:gridCol w="1047396">
                  <a:extLst>
                    <a:ext uri="{9D8B030D-6E8A-4147-A177-3AD203B41FA5}">
                      <a16:colId xmlns:a16="http://schemas.microsoft.com/office/drawing/2014/main" val="3666544339"/>
                    </a:ext>
                  </a:extLst>
                </a:gridCol>
                <a:gridCol w="1047396">
                  <a:extLst>
                    <a:ext uri="{9D8B030D-6E8A-4147-A177-3AD203B41FA5}">
                      <a16:colId xmlns:a16="http://schemas.microsoft.com/office/drawing/2014/main" val="455476819"/>
                    </a:ext>
                  </a:extLst>
                </a:gridCol>
              </a:tblGrid>
              <a:tr h="298410">
                <a:tc>
                  <a:txBody>
                    <a:bodyPr/>
                    <a:lstStyle/>
                    <a:p>
                      <a:pPr>
                        <a:buNone/>
                      </a:pPr>
                      <a:r>
                        <a:rPr lang="zh-TW"/>
                        <a:t>原色</a:t>
                      </a:r>
                    </a:p>
                  </a:txBody>
                  <a:tcPr anchor="ctr"/>
                </a:tc>
                <a:tc>
                  <a:txBody>
                    <a:bodyPr/>
                    <a:lstStyle/>
                    <a:p>
                      <a:pPr algn="r">
                        <a:buNone/>
                      </a:pPr>
                      <a:r>
                        <a:rPr lang="zh-TW"/>
                        <a:t>x</a:t>
                      </a:r>
                    </a:p>
                  </a:txBody>
                  <a:tcPr anchor="ctr"/>
                </a:tc>
                <a:tc>
                  <a:txBody>
                    <a:bodyPr/>
                    <a:lstStyle/>
                    <a:p>
                      <a:pPr algn="r">
                        <a:buNone/>
                      </a:pPr>
                      <a:r>
                        <a:rPr lang="zh-TW"/>
                        <a:t>y</a:t>
                      </a:r>
                    </a:p>
                  </a:txBody>
                  <a:tcPr anchor="ctr"/>
                </a:tc>
                <a:extLst>
                  <a:ext uri="{0D108BD9-81ED-4DB2-BD59-A6C34878D82A}">
                    <a16:rowId xmlns:a16="http://schemas.microsoft.com/office/drawing/2014/main" val="4117724251"/>
                  </a:ext>
                </a:extLst>
              </a:tr>
              <a:tr h="298410">
                <a:tc>
                  <a:txBody>
                    <a:bodyPr/>
                    <a:lstStyle/>
                    <a:p>
                      <a:pPr>
                        <a:buNone/>
                      </a:pPr>
                      <a:r>
                        <a:rPr lang="zh-TW" dirty="0"/>
                        <a:t>R</a:t>
                      </a:r>
                      <a:r>
                        <a:rPr lang="zh-TW" altLang="en-US" dirty="0"/>
                        <a:t> </a:t>
                      </a:r>
                      <a:r>
                        <a:rPr lang="en-US" altLang="zh-TW" dirty="0"/>
                        <a:t>(255,0,0)</a:t>
                      </a:r>
                      <a:endParaRPr lang="zh-TW" dirty="0"/>
                    </a:p>
                  </a:txBody>
                  <a:tcPr anchor="ctr"/>
                </a:tc>
                <a:tc>
                  <a:txBody>
                    <a:bodyPr/>
                    <a:lstStyle/>
                    <a:p>
                      <a:pPr algn="r">
                        <a:buNone/>
                      </a:pPr>
                      <a:r>
                        <a:rPr lang="zh-TW" dirty="0"/>
                        <a:t>0.6400</a:t>
                      </a:r>
                    </a:p>
                  </a:txBody>
                  <a:tcPr anchor="ctr"/>
                </a:tc>
                <a:tc>
                  <a:txBody>
                    <a:bodyPr/>
                    <a:lstStyle/>
                    <a:p>
                      <a:pPr algn="r">
                        <a:buNone/>
                      </a:pPr>
                      <a:r>
                        <a:rPr lang="zh-TW"/>
                        <a:t>0.3300</a:t>
                      </a:r>
                    </a:p>
                  </a:txBody>
                  <a:tcPr anchor="ctr"/>
                </a:tc>
                <a:extLst>
                  <a:ext uri="{0D108BD9-81ED-4DB2-BD59-A6C34878D82A}">
                    <a16:rowId xmlns:a16="http://schemas.microsoft.com/office/drawing/2014/main" val="2141619666"/>
                  </a:ext>
                </a:extLst>
              </a:tr>
              <a:tr h="298410">
                <a:tc>
                  <a:txBody>
                    <a:bodyPr/>
                    <a:lstStyle/>
                    <a:p>
                      <a:pPr>
                        <a:buNone/>
                      </a:pPr>
                      <a:r>
                        <a:rPr lang="zh-TW" dirty="0"/>
                        <a:t>G</a:t>
                      </a:r>
                      <a:r>
                        <a:rPr lang="en-US" altLang="zh-TW" dirty="0"/>
                        <a:t> (0,255,0)</a:t>
                      </a:r>
                      <a:endParaRPr lang="zh-TW" dirty="0"/>
                    </a:p>
                  </a:txBody>
                  <a:tcPr anchor="ctr"/>
                </a:tc>
                <a:tc>
                  <a:txBody>
                    <a:bodyPr/>
                    <a:lstStyle/>
                    <a:p>
                      <a:pPr algn="r">
                        <a:buNone/>
                      </a:pPr>
                      <a:r>
                        <a:rPr lang="zh-TW"/>
                        <a:t>0.3000</a:t>
                      </a:r>
                    </a:p>
                  </a:txBody>
                  <a:tcPr anchor="ctr"/>
                </a:tc>
                <a:tc>
                  <a:txBody>
                    <a:bodyPr/>
                    <a:lstStyle/>
                    <a:p>
                      <a:pPr algn="r">
                        <a:buNone/>
                      </a:pPr>
                      <a:r>
                        <a:rPr lang="zh-TW"/>
                        <a:t>0.6000</a:t>
                      </a:r>
                    </a:p>
                  </a:txBody>
                  <a:tcPr anchor="ctr"/>
                </a:tc>
                <a:extLst>
                  <a:ext uri="{0D108BD9-81ED-4DB2-BD59-A6C34878D82A}">
                    <a16:rowId xmlns:a16="http://schemas.microsoft.com/office/drawing/2014/main" val="3809134920"/>
                  </a:ext>
                </a:extLst>
              </a:tr>
              <a:tr h="298410">
                <a:tc>
                  <a:txBody>
                    <a:bodyPr/>
                    <a:lstStyle/>
                    <a:p>
                      <a:pPr>
                        <a:buNone/>
                      </a:pPr>
                      <a:r>
                        <a:rPr lang="zh-TW" dirty="0"/>
                        <a:t>B</a:t>
                      </a:r>
                      <a:r>
                        <a:rPr lang="en-US" altLang="zh-TW" dirty="0"/>
                        <a:t> (0,0,255)</a:t>
                      </a:r>
                      <a:endParaRPr lang="zh-TW" dirty="0"/>
                    </a:p>
                  </a:txBody>
                  <a:tcPr anchor="ctr"/>
                </a:tc>
                <a:tc>
                  <a:txBody>
                    <a:bodyPr/>
                    <a:lstStyle/>
                    <a:p>
                      <a:pPr algn="r">
                        <a:buNone/>
                      </a:pPr>
                      <a:r>
                        <a:rPr lang="zh-TW"/>
                        <a:t>0.1500</a:t>
                      </a:r>
                    </a:p>
                  </a:txBody>
                  <a:tcPr anchor="ctr"/>
                </a:tc>
                <a:tc>
                  <a:txBody>
                    <a:bodyPr/>
                    <a:lstStyle/>
                    <a:p>
                      <a:pPr algn="r">
                        <a:buNone/>
                      </a:pPr>
                      <a:r>
                        <a:rPr lang="zh-TW" dirty="0"/>
                        <a:t>0.0600</a:t>
                      </a:r>
                    </a:p>
                  </a:txBody>
                  <a:tcPr anchor="ctr"/>
                </a:tc>
                <a:extLst>
                  <a:ext uri="{0D108BD9-81ED-4DB2-BD59-A6C34878D82A}">
                    <a16:rowId xmlns:a16="http://schemas.microsoft.com/office/drawing/2014/main" val="1932515259"/>
                  </a:ext>
                </a:extLst>
              </a:tr>
            </a:tbl>
          </a:graphicData>
        </a:graphic>
      </p:graphicFrame>
      <p:sp>
        <p:nvSpPr>
          <p:cNvPr id="9" name="矩形 8">
            <a:extLst>
              <a:ext uri="{FF2B5EF4-FFF2-40B4-BE49-F238E27FC236}">
                <a16:creationId xmlns:a16="http://schemas.microsoft.com/office/drawing/2014/main" id="{8BDB7050-E618-11BA-974C-7035CB7FA24D}"/>
              </a:ext>
            </a:extLst>
          </p:cNvPr>
          <p:cNvSpPr/>
          <p:nvPr/>
        </p:nvSpPr>
        <p:spPr>
          <a:xfrm>
            <a:off x="1566646" y="3261172"/>
            <a:ext cx="1210588" cy="338554"/>
          </a:xfrm>
          <a:prstGeom prst="rect">
            <a:avLst/>
          </a:prstGeom>
          <a:noFill/>
        </p:spPr>
        <p:txBody>
          <a:bodyPr wrap="none" lIns="91440" tIns="45720" rIns="91440" bIns="45720">
            <a:spAutoFit/>
          </a:bodyPr>
          <a:lstStyle/>
          <a:p>
            <a:pPr algn="ctr"/>
            <a:r>
              <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量測到的值</a:t>
            </a:r>
          </a:p>
        </p:txBody>
      </p:sp>
      <p:grpSp>
        <p:nvGrpSpPr>
          <p:cNvPr id="15" name="群組 14">
            <a:extLst>
              <a:ext uri="{FF2B5EF4-FFF2-40B4-BE49-F238E27FC236}">
                <a16:creationId xmlns:a16="http://schemas.microsoft.com/office/drawing/2014/main" id="{9BD8A25A-99B7-8869-62AF-2D36C98876FA}"/>
              </a:ext>
            </a:extLst>
          </p:cNvPr>
          <p:cNvGrpSpPr/>
          <p:nvPr/>
        </p:nvGrpSpPr>
        <p:grpSpPr>
          <a:xfrm>
            <a:off x="1566646" y="4235611"/>
            <a:ext cx="1481394" cy="1337705"/>
            <a:chOff x="4548850" y="2882096"/>
            <a:chExt cx="1481394" cy="1337705"/>
          </a:xfrm>
        </p:grpSpPr>
        <p:grpSp>
          <p:nvGrpSpPr>
            <p:cNvPr id="8" name="群組 7">
              <a:extLst>
                <a:ext uri="{FF2B5EF4-FFF2-40B4-BE49-F238E27FC236}">
                  <a16:creationId xmlns:a16="http://schemas.microsoft.com/office/drawing/2014/main" id="{786F443D-0782-D5C7-CFA3-08A5D4B6BFEC}"/>
                </a:ext>
              </a:extLst>
            </p:cNvPr>
            <p:cNvGrpSpPr/>
            <p:nvPr/>
          </p:nvGrpSpPr>
          <p:grpSpPr>
            <a:xfrm>
              <a:off x="4548850" y="2882096"/>
              <a:ext cx="1481394" cy="717630"/>
              <a:chOff x="4444678" y="2812648"/>
              <a:chExt cx="1481394" cy="717630"/>
            </a:xfrm>
          </p:grpSpPr>
          <p:sp>
            <p:nvSpPr>
              <p:cNvPr id="7" name="矩形 6">
                <a:extLst>
                  <a:ext uri="{FF2B5EF4-FFF2-40B4-BE49-F238E27FC236}">
                    <a16:creationId xmlns:a16="http://schemas.microsoft.com/office/drawing/2014/main" id="{BB4D6CD5-7B46-9599-FFCA-74970E1E73B5}"/>
                  </a:ext>
                </a:extLst>
              </p:cNvPr>
              <p:cNvSpPr/>
              <p:nvPr/>
            </p:nvSpPr>
            <p:spPr>
              <a:xfrm>
                <a:off x="4444678" y="2812648"/>
                <a:ext cx="1348616" cy="71763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文字方塊 5">
                <a:extLst>
                  <a:ext uri="{FF2B5EF4-FFF2-40B4-BE49-F238E27FC236}">
                    <a16:creationId xmlns:a16="http://schemas.microsoft.com/office/drawing/2014/main" id="{0DA94BC5-0762-F6E2-2F57-D278DFAB1094}"/>
                  </a:ext>
                </a:extLst>
              </p:cNvPr>
              <p:cNvSpPr txBox="1"/>
              <p:nvPr/>
            </p:nvSpPr>
            <p:spPr>
              <a:xfrm>
                <a:off x="4577456" y="2905780"/>
                <a:ext cx="1348616" cy="523220"/>
              </a:xfrm>
              <a:prstGeom prst="rect">
                <a:avLst/>
              </a:prstGeom>
              <a:noFill/>
            </p:spPr>
            <p:txBody>
              <a:bodyPr wrap="square">
                <a:spAutoFit/>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x</a:t>
                </a:r>
                <a:r>
                  <a:rPr lang="zh-TW" altLang="zh-TW" baseline="-25000" dirty="0">
                    <a:latin typeface="Times New Roman" panose="02020603050405020304" pitchFamily="18" charset="0"/>
                    <a:ea typeface="標楷體" panose="03000509000000000000" pitchFamily="65" charset="-120"/>
                    <a:cs typeface="Times New Roman" panose="02020603050405020304" pitchFamily="18" charset="0"/>
                  </a:rPr>
                  <a:t>W</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​=0.3127</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y</a:t>
                </a:r>
                <a:r>
                  <a:rPr lang="zh-TW" altLang="zh-TW" baseline="-25000" dirty="0">
                    <a:latin typeface="Times New Roman" panose="02020603050405020304" pitchFamily="18" charset="0"/>
                    <a:ea typeface="標楷體" panose="03000509000000000000" pitchFamily="65" charset="-120"/>
                    <a:cs typeface="Times New Roman" panose="02020603050405020304" pitchFamily="18" charset="0"/>
                  </a:rPr>
                  <a:t>W</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​=0.3290</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2" name="矩形 11">
              <a:extLst>
                <a:ext uri="{FF2B5EF4-FFF2-40B4-BE49-F238E27FC236}">
                  <a16:creationId xmlns:a16="http://schemas.microsoft.com/office/drawing/2014/main" id="{2552E5AB-ED3F-D175-A499-49FB40687585}"/>
                </a:ext>
              </a:extLst>
            </p:cNvPr>
            <p:cNvSpPr/>
            <p:nvPr/>
          </p:nvSpPr>
          <p:spPr>
            <a:xfrm>
              <a:off x="4548850" y="3635026"/>
              <a:ext cx="1415772" cy="584775"/>
            </a:xfrm>
            <a:prstGeom prst="rect">
              <a:avLst/>
            </a:prstGeom>
            <a:noFill/>
          </p:spPr>
          <p:txBody>
            <a:bodyPr wrap="none" lIns="91440" tIns="45720" rIns="91440" bIns="45720">
              <a:spAutoFit/>
            </a:bodyPr>
            <a:lstStyle/>
            <a:p>
              <a:pPr algn="ctr"/>
              <a:r>
                <a:rPr lang="zh-TW" altLang="en-US" sz="1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目標白點色彩</a:t>
              </a:r>
              <a:endParaRPr lang="en-US" altLang="zh-TW" sz="1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假設為</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D65</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6" name="箭號: 向右 15">
            <a:extLst>
              <a:ext uri="{FF2B5EF4-FFF2-40B4-BE49-F238E27FC236}">
                <a16:creationId xmlns:a16="http://schemas.microsoft.com/office/drawing/2014/main" id="{C61E94B3-B7AA-6859-F38D-5DC8E5BB42A3}"/>
              </a:ext>
            </a:extLst>
          </p:cNvPr>
          <p:cNvSpPr/>
          <p:nvPr/>
        </p:nvSpPr>
        <p:spPr>
          <a:xfrm>
            <a:off x="4232736" y="3105182"/>
            <a:ext cx="1070987" cy="1808539"/>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設</a:t>
            </a:r>
            <a:r>
              <a:rPr lang="en-US" altLang="zh-TW"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Y</a:t>
            </a:r>
            <a:r>
              <a:rPr lang="en-US" altLang="zh-TW" baseline="-2500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26" name="群組 25">
            <a:extLst>
              <a:ext uri="{FF2B5EF4-FFF2-40B4-BE49-F238E27FC236}">
                <a16:creationId xmlns:a16="http://schemas.microsoft.com/office/drawing/2014/main" id="{5C1D1929-1040-C36F-1520-FF917811D29B}"/>
              </a:ext>
            </a:extLst>
          </p:cNvPr>
          <p:cNvGrpSpPr/>
          <p:nvPr/>
        </p:nvGrpSpPr>
        <p:grpSpPr>
          <a:xfrm>
            <a:off x="7304856" y="694648"/>
            <a:ext cx="2222339" cy="2144316"/>
            <a:chOff x="5683170" y="1284685"/>
            <a:chExt cx="2222339" cy="2144316"/>
          </a:xfrm>
        </p:grpSpPr>
        <p:sp>
          <p:nvSpPr>
            <p:cNvPr id="24" name="矩形 23">
              <a:extLst>
                <a:ext uri="{FF2B5EF4-FFF2-40B4-BE49-F238E27FC236}">
                  <a16:creationId xmlns:a16="http://schemas.microsoft.com/office/drawing/2014/main" id="{C08775EE-8632-2A77-9314-B11558B9FB1E}"/>
                </a:ext>
              </a:extLst>
            </p:cNvPr>
            <p:cNvSpPr/>
            <p:nvPr/>
          </p:nvSpPr>
          <p:spPr>
            <a:xfrm>
              <a:off x="5683170" y="1284685"/>
              <a:ext cx="2222339" cy="214431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1DFAE7D7-31E8-E25C-5F8F-6DF2B5D3F32A}"/>
                    </a:ext>
                  </a:extLst>
                </p:cNvPr>
                <p:cNvSpPr txBox="1"/>
                <p:nvPr/>
              </p:nvSpPr>
              <p:spPr>
                <a:xfrm>
                  <a:off x="6283125" y="1807132"/>
                  <a:ext cx="933140" cy="463781"/>
                </a:xfrm>
                <a:prstGeom prst="rect">
                  <a:avLst/>
                </a:prstGeom>
                <a:noFill/>
              </p:spPr>
              <p:txBody>
                <a:bodyPr wrap="none" lIns="0" tIns="0" rIns="0" bIns="0" rtlCol="0">
                  <a:spAutoFit/>
                </a:bodyPr>
                <a:lstStyle/>
                <a:p>
                  <a:pPr/>
                  <a14:m>
                    <m:oMathPara xmlns:m="http://schemas.openxmlformats.org/officeDocument/2006/math">
                      <m:oMath>
                        <m:r>
                          <a:rPr lang="pl-PL" altLang="zh-TW" sz="1600" i="1">
                            <a:latin typeface="Cambria Math" panose="02040503050406030204" pitchFamily="18" charset="0"/>
                          </a:rPr>
                          <m:t>𝑋</m:t>
                        </m:r>
                        <m:r>
                          <a:rPr lang="pl-PL" altLang="zh-TW" sz="1600" i="1" baseline="-25000">
                            <a:latin typeface="Cambria Math" panose="02040503050406030204" pitchFamily="18" charset="0"/>
                          </a:rPr>
                          <m:t>𝑊</m:t>
                        </m:r>
                        <m:r>
                          <a:rPr lang="pl-PL" altLang="zh-TW" sz="1600" i="1">
                            <a:latin typeface="Cambria Math" panose="02040503050406030204" pitchFamily="18" charset="0"/>
                          </a:rPr>
                          <m:t> = </m:t>
                        </m:r>
                        <m:f>
                          <m:fPr>
                            <m:ctrlPr>
                              <a:rPr lang="pl-PL" altLang="zh-TW" sz="1600" i="1">
                                <a:latin typeface="Cambria Math" panose="02040503050406030204" pitchFamily="18" charset="0"/>
                              </a:rPr>
                            </m:ctrlPr>
                          </m:fPr>
                          <m:num>
                            <m:r>
                              <a:rPr lang="pl-PL" altLang="zh-TW" sz="1600" i="1">
                                <a:latin typeface="Cambria Math" panose="02040503050406030204" pitchFamily="18" charset="0"/>
                              </a:rPr>
                              <m:t>𝑥</m:t>
                            </m:r>
                            <m:r>
                              <a:rPr lang="pl-PL" altLang="zh-TW" sz="1600" i="1" baseline="-25000">
                                <a:latin typeface="Cambria Math" panose="02040503050406030204" pitchFamily="18" charset="0"/>
                              </a:rPr>
                              <m:t>𝑊</m:t>
                            </m:r>
                          </m:num>
                          <m:den>
                            <m:r>
                              <a:rPr lang="pl-PL" altLang="zh-TW" sz="1600" i="1">
                                <a:latin typeface="Cambria Math" panose="02040503050406030204" pitchFamily="18" charset="0"/>
                              </a:rPr>
                              <m:t>𝑦</m:t>
                            </m:r>
                            <m:r>
                              <a:rPr lang="pl-PL" altLang="zh-TW" sz="1600" i="1" baseline="-25000">
                                <a:latin typeface="Cambria Math" panose="02040503050406030204" pitchFamily="18" charset="0"/>
                              </a:rPr>
                              <m:t>𝑊</m:t>
                            </m:r>
                          </m:den>
                        </m:f>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1" name="文字方塊 20">
                  <a:extLst>
                    <a:ext uri="{FF2B5EF4-FFF2-40B4-BE49-F238E27FC236}">
                      <a16:creationId xmlns:a16="http://schemas.microsoft.com/office/drawing/2014/main" id="{1DFAE7D7-31E8-E25C-5F8F-6DF2B5D3F32A}"/>
                    </a:ext>
                  </a:extLst>
                </p:cNvPr>
                <p:cNvSpPr txBox="1">
                  <a:spLocks noRot="1" noChangeAspect="1" noMove="1" noResize="1" noEditPoints="1" noAdjustHandles="1" noChangeArrowheads="1" noChangeShapeType="1" noTextEdit="1"/>
                </p:cNvSpPr>
                <p:nvPr/>
              </p:nvSpPr>
              <p:spPr>
                <a:xfrm>
                  <a:off x="6283125" y="1807132"/>
                  <a:ext cx="933140" cy="463781"/>
                </a:xfrm>
                <a:prstGeom prst="rect">
                  <a:avLst/>
                </a:prstGeom>
                <a:blipFill>
                  <a:blip r:embed="rId3"/>
                  <a:stretch>
                    <a:fillRect l="-4575" r="-654" b="-144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5B679D5F-03A6-7B84-437A-23900E5537E0}"/>
                    </a:ext>
                  </a:extLst>
                </p:cNvPr>
                <p:cNvSpPr txBox="1"/>
                <p:nvPr/>
              </p:nvSpPr>
              <p:spPr>
                <a:xfrm>
                  <a:off x="6474362" y="2380012"/>
                  <a:ext cx="649216" cy="246221"/>
                </a:xfrm>
                <a:prstGeom prst="rect">
                  <a:avLst/>
                </a:prstGeom>
                <a:noFill/>
              </p:spPr>
              <p:txBody>
                <a:bodyPr wrap="none" lIns="0" tIns="0" rIns="0" bIns="0" rtlCol="0">
                  <a:spAutoFit/>
                </a:bodyPr>
                <a:lstStyle/>
                <a:p>
                  <a:pPr/>
                  <a14:m>
                    <m:oMathPara xmlns:m="http://schemas.openxmlformats.org/officeDocument/2006/math">
                      <m:oMath>
                        <m:r>
                          <m:rPr>
                            <m:nor/>
                          </m:rPr>
                          <a:rPr lang="en-US" altLang="zh-TW" sz="1600" i="0">
                            <a:latin typeface="Times New Roman" panose="02020603050405020304" pitchFamily="18" charset="0"/>
                            <a:ea typeface="標楷體" panose="03000509000000000000" pitchFamily="65" charset="-120"/>
                            <a:cs typeface="Times New Roman" panose="02020603050405020304" pitchFamily="18" charset="0"/>
                          </a:rPr>
                          <m:t>Y</m:t>
                        </m:r>
                        <m:r>
                          <m:rPr>
                            <m:nor/>
                          </m:rPr>
                          <a:rPr lang="en-US" altLang="zh-TW" sz="1600" i="0" baseline="-25000">
                            <a:latin typeface="Times New Roman" panose="02020603050405020304" pitchFamily="18" charset="0"/>
                            <a:ea typeface="標楷體" panose="03000509000000000000" pitchFamily="65" charset="-120"/>
                            <a:cs typeface="Times New Roman" panose="02020603050405020304" pitchFamily="18" charset="0"/>
                          </a:rPr>
                          <m:t>W</m:t>
                        </m:r>
                        <m:r>
                          <m:rPr>
                            <m:nor/>
                          </m:rPr>
                          <a:rPr lang="en-US" altLang="zh-TW" sz="1600" i="0">
                            <a:latin typeface="Times New Roman" panose="02020603050405020304" pitchFamily="18" charset="0"/>
                            <a:ea typeface="標楷體" panose="03000509000000000000" pitchFamily="65" charset="-120"/>
                            <a:cs typeface="Times New Roman" panose="02020603050405020304" pitchFamily="18" charset="0"/>
                          </a:rPr>
                          <m:t> = 1</m:t>
                        </m:r>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2" name="文字方塊 21">
                  <a:extLst>
                    <a:ext uri="{FF2B5EF4-FFF2-40B4-BE49-F238E27FC236}">
                      <a16:creationId xmlns:a16="http://schemas.microsoft.com/office/drawing/2014/main" id="{5B679D5F-03A6-7B84-437A-23900E5537E0}"/>
                    </a:ext>
                  </a:extLst>
                </p:cNvPr>
                <p:cNvSpPr txBox="1">
                  <a:spLocks noRot="1" noChangeAspect="1" noMove="1" noResize="1" noEditPoints="1" noAdjustHandles="1" noChangeArrowheads="1" noChangeShapeType="1" noTextEdit="1"/>
                </p:cNvSpPr>
                <p:nvPr/>
              </p:nvSpPr>
              <p:spPr>
                <a:xfrm>
                  <a:off x="6474362" y="2380012"/>
                  <a:ext cx="649216" cy="246221"/>
                </a:xfrm>
                <a:prstGeom prst="rect">
                  <a:avLst/>
                </a:prstGeom>
                <a:blipFill>
                  <a:blip r:embed="rId4"/>
                  <a:stretch>
                    <a:fillRect l="-5607" r="-6542"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052D775A-A41D-88E5-3A9F-7B55914AD3A4}"/>
                    </a:ext>
                  </a:extLst>
                </p:cNvPr>
                <p:cNvSpPr txBox="1"/>
                <p:nvPr/>
              </p:nvSpPr>
              <p:spPr>
                <a:xfrm>
                  <a:off x="5935497" y="2735332"/>
                  <a:ext cx="1682064" cy="509435"/>
                </a:xfrm>
                <a:prstGeom prst="rect">
                  <a:avLst/>
                </a:prstGeom>
                <a:noFill/>
              </p:spPr>
              <p:txBody>
                <a:bodyPr wrap="none" lIns="0" tIns="0" rIns="0" bIns="0" rtlCol="0">
                  <a:spAutoFit/>
                </a:bodyPr>
                <a:lstStyle/>
                <a:p>
                  <a:pPr/>
                  <a14:m>
                    <m:oMathPara xmlns:m="http://schemas.openxmlformats.org/officeDocument/2006/math">
                      <m:oMath>
                        <m:r>
                          <m:rPr>
                            <m:nor/>
                          </m:rPr>
                          <a:rPr lang="en-US" altLang="zh-TW" sz="1600" i="0">
                            <a:latin typeface="Times New Roman" panose="02020603050405020304" pitchFamily="18" charset="0"/>
                            <a:ea typeface="標楷體" panose="03000509000000000000" pitchFamily="65" charset="-120"/>
                            <a:cs typeface="Times New Roman" panose="02020603050405020304" pitchFamily="18" charset="0"/>
                          </a:rPr>
                          <m:t>Z</m:t>
                        </m:r>
                        <m:r>
                          <m:rPr>
                            <m:nor/>
                          </m:rPr>
                          <a:rPr lang="en-US" altLang="zh-TW" sz="1600" i="0" baseline="-25000">
                            <a:latin typeface="Times New Roman" panose="02020603050405020304" pitchFamily="18" charset="0"/>
                            <a:ea typeface="標楷體" panose="03000509000000000000" pitchFamily="65" charset="-120"/>
                            <a:cs typeface="Times New Roman" panose="02020603050405020304" pitchFamily="18" charset="0"/>
                          </a:rPr>
                          <m:t>W</m:t>
                        </m:r>
                        <m:r>
                          <m:rPr>
                            <m:nor/>
                          </m:rPr>
                          <a:rPr lang="en-US" altLang="zh-TW" sz="1600" i="0">
                            <a:latin typeface="Times New Roman" panose="02020603050405020304" pitchFamily="18" charset="0"/>
                            <a:ea typeface="標楷體" panose="03000509000000000000" pitchFamily="65" charset="-120"/>
                            <a:cs typeface="Times New Roman" panose="02020603050405020304" pitchFamily="18" charset="0"/>
                          </a:rPr>
                          <m:t> = </m:t>
                        </m:r>
                        <m:f>
                          <m:fPr>
                            <m:ctrlPr>
                              <a:rPr lang="en-US" altLang="zh-TW" sz="1600" i="0">
                                <a:latin typeface="Times New Roman" panose="02020603050405020304" pitchFamily="18" charset="0"/>
                                <a:ea typeface="標楷體" panose="03000509000000000000" pitchFamily="65" charset="-120"/>
                                <a:cs typeface="Times New Roman" panose="02020603050405020304" pitchFamily="18" charset="0"/>
                              </a:rPr>
                            </m:ctrlPr>
                          </m:fPr>
                          <m:num>
                            <m:r>
                              <m:rPr>
                                <m:nor/>
                              </m:rPr>
                              <a:rPr lang="en-US" altLang="zh-TW" sz="1600" i="0">
                                <a:latin typeface="Times New Roman" panose="02020603050405020304" pitchFamily="18" charset="0"/>
                                <a:ea typeface="標楷體" panose="03000509000000000000" pitchFamily="65" charset="-120"/>
                                <a:cs typeface="Times New Roman" panose="02020603050405020304" pitchFamily="18" charset="0"/>
                              </a:rPr>
                              <m:t>(1 − xW − yW)</m:t>
                            </m:r>
                          </m:num>
                          <m:den>
                            <m:r>
                              <m:rPr>
                                <m:nor/>
                              </m:rPr>
                              <a:rPr lang="en-US" altLang="zh-TW" sz="1600" i="0">
                                <a:latin typeface="Times New Roman" panose="02020603050405020304" pitchFamily="18" charset="0"/>
                                <a:ea typeface="標楷體" panose="03000509000000000000" pitchFamily="65" charset="-120"/>
                                <a:cs typeface="Times New Roman" panose="02020603050405020304" pitchFamily="18" charset="0"/>
                              </a:rPr>
                              <m:t>y</m:t>
                            </m:r>
                            <m:r>
                              <m:rPr>
                                <m:nor/>
                              </m:rPr>
                              <a:rPr lang="en-US" altLang="zh-TW" sz="1600" i="0" baseline="-25000">
                                <a:latin typeface="Times New Roman" panose="02020603050405020304" pitchFamily="18" charset="0"/>
                                <a:ea typeface="標楷體" panose="03000509000000000000" pitchFamily="65" charset="-120"/>
                                <a:cs typeface="Times New Roman" panose="02020603050405020304" pitchFamily="18" charset="0"/>
                              </a:rPr>
                              <m:t>W</m:t>
                            </m:r>
                          </m:den>
                        </m:f>
                      </m:oMath>
                    </m:oMathPara>
                  </a14:m>
                  <a:endParaRPr lang="zh-TW" altLang="en-US" sz="1600" baseline="-250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052D775A-A41D-88E5-3A9F-7B55914AD3A4}"/>
                    </a:ext>
                  </a:extLst>
                </p:cNvPr>
                <p:cNvSpPr txBox="1">
                  <a:spLocks noRot="1" noChangeAspect="1" noMove="1" noResize="1" noEditPoints="1" noAdjustHandles="1" noChangeArrowheads="1" noChangeShapeType="1" noTextEdit="1"/>
                </p:cNvSpPr>
                <p:nvPr/>
              </p:nvSpPr>
              <p:spPr>
                <a:xfrm>
                  <a:off x="5935497" y="2735332"/>
                  <a:ext cx="1682064" cy="509435"/>
                </a:xfrm>
                <a:prstGeom prst="rect">
                  <a:avLst/>
                </a:prstGeom>
                <a:blipFill>
                  <a:blip r:embed="rId5"/>
                  <a:stretch>
                    <a:fillRect/>
                  </a:stretch>
                </a:blipFill>
              </p:spPr>
              <p:txBody>
                <a:bodyPr/>
                <a:lstStyle/>
                <a:p>
                  <a:r>
                    <a:rPr lang="zh-TW" altLang="en-US">
                      <a:noFill/>
                    </a:rPr>
                    <a:t> </a:t>
                  </a:r>
                </a:p>
              </p:txBody>
            </p:sp>
          </mc:Fallback>
        </mc:AlternateContent>
        <p:sp>
          <p:nvSpPr>
            <p:cNvPr id="25" name="矩形 24">
              <a:extLst>
                <a:ext uri="{FF2B5EF4-FFF2-40B4-BE49-F238E27FC236}">
                  <a16:creationId xmlns:a16="http://schemas.microsoft.com/office/drawing/2014/main" id="{6BF5A0DF-A9B2-BC29-3795-95D86E8094B0}"/>
                </a:ext>
              </a:extLst>
            </p:cNvPr>
            <p:cNvSpPr/>
            <p:nvPr/>
          </p:nvSpPr>
          <p:spPr>
            <a:xfrm>
              <a:off x="5683170" y="1369257"/>
              <a:ext cx="2020105" cy="338554"/>
            </a:xfrm>
            <a:prstGeom prst="rect">
              <a:avLst/>
            </a:prstGeom>
            <a:noFill/>
          </p:spPr>
          <p:txBody>
            <a:bodyPr wrap="none" lIns="91440" tIns="45720" rIns="91440" bIns="45720">
              <a:spAutoFit/>
            </a:bodyPr>
            <a:lstStyle/>
            <a:p>
              <a:pPr algn="ct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CIE 定義</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推導公式：</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0" name="文字版面配置區 6">
            <a:extLst>
              <a:ext uri="{FF2B5EF4-FFF2-40B4-BE49-F238E27FC236}">
                <a16:creationId xmlns:a16="http://schemas.microsoft.com/office/drawing/2014/main" id="{EFA1BA7D-6739-0930-E66B-C7B72485673A}"/>
              </a:ext>
            </a:extLst>
          </p:cNvPr>
          <p:cNvSpPr txBox="1"/>
          <p:nvPr/>
        </p:nvSpPr>
        <p:spPr>
          <a:xfrm>
            <a:off x="497549" y="1284684"/>
            <a:ext cx="8686796" cy="7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舉例：</a:t>
            </a: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marL="50800" indent="0">
              <a:lnSpc>
                <a:spcPts val="3000"/>
              </a:lnSpc>
              <a:buNone/>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33" name="群組 32">
            <a:extLst>
              <a:ext uri="{FF2B5EF4-FFF2-40B4-BE49-F238E27FC236}">
                <a16:creationId xmlns:a16="http://schemas.microsoft.com/office/drawing/2014/main" id="{4B4C5EF7-A217-7D9B-9BE7-58FAFE1E147F}"/>
              </a:ext>
            </a:extLst>
          </p:cNvPr>
          <p:cNvGrpSpPr/>
          <p:nvPr/>
        </p:nvGrpSpPr>
        <p:grpSpPr>
          <a:xfrm>
            <a:off x="5673267" y="4583479"/>
            <a:ext cx="3275636" cy="1155308"/>
            <a:chOff x="4820412" y="3246174"/>
            <a:chExt cx="3275636" cy="1155308"/>
          </a:xfrm>
        </p:grpSpPr>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94A8FAC7-8705-ABAD-F89E-DC9FE4497308}"/>
                    </a:ext>
                  </a:extLst>
                </p:cNvPr>
                <p:cNvSpPr txBox="1"/>
                <p:nvPr/>
              </p:nvSpPr>
              <p:spPr>
                <a:xfrm>
                  <a:off x="4826642" y="3246174"/>
                  <a:ext cx="2124316" cy="497059"/>
                </a:xfrm>
                <a:prstGeom prst="rect">
                  <a:avLst/>
                </a:prstGeom>
                <a:noFill/>
              </p:spPr>
              <p:txBody>
                <a:bodyPr wrap="square">
                  <a:spAutoFit/>
                </a:bodyPr>
                <a:lstStyle/>
                <a:p>
                  <a:pPr/>
                  <a14:m>
                    <m:oMathPara xmlns:m="http://schemas.openxmlformats.org/officeDocument/2006/math">
                      <m:oMath>
                        <m:sSub>
                          <m:sSubPr>
                            <m:ctrlPr>
                              <a:rPr lang="zh-TW" altLang="en-US" i="1">
                                <a:latin typeface="Cambria Math" panose="02040503050406030204" pitchFamily="18" charset="0"/>
                              </a:rPr>
                            </m:ctrlPr>
                          </m:sSubPr>
                          <m:e>
                            <m:r>
                              <a:rPr lang="zh-TW" altLang="en-US" i="1">
                                <a:latin typeface="Cambria Math" panose="02040503050406030204" pitchFamily="18" charset="0"/>
                              </a:rPr>
                              <m:t>𝑋</m:t>
                            </m:r>
                          </m:e>
                          <m:sub>
                            <m:r>
                              <a:rPr lang="zh-TW" altLang="en-US" i="1">
                                <a:latin typeface="Cambria Math" panose="02040503050406030204" pitchFamily="18" charset="0"/>
                              </a:rPr>
                              <m:t>𝑊</m:t>
                            </m:r>
                          </m:sub>
                        </m:sSub>
                        <m:r>
                          <a:rPr lang="zh-TW" altLang="en-US" i="0">
                            <a:latin typeface="Cambria Math" panose="02040503050406030204" pitchFamily="18" charset="0"/>
                          </a:rPr>
                          <m:t>=</m:t>
                        </m:r>
                        <m:f>
                          <m:fPr>
                            <m:ctrlPr>
                              <a:rPr lang="zh-TW" altLang="en-US" i="0">
                                <a:latin typeface="Cambria Math" panose="02040503050406030204" pitchFamily="18" charset="0"/>
                              </a:rPr>
                            </m:ctrlPr>
                          </m:fPr>
                          <m:num>
                            <m:r>
                              <a:rPr lang="zh-TW" altLang="en-US" i="0">
                                <a:latin typeface="Cambria Math" panose="02040503050406030204" pitchFamily="18" charset="0"/>
                              </a:rPr>
                              <m:t>0.3127</m:t>
                            </m:r>
                          </m:num>
                          <m:den>
                            <m:r>
                              <a:rPr lang="zh-TW" altLang="en-US" i="0">
                                <a:latin typeface="Cambria Math" panose="02040503050406030204" pitchFamily="18" charset="0"/>
                              </a:rPr>
                              <m:t>0.3290</m:t>
                            </m:r>
                          </m:den>
                        </m:f>
                        <m:r>
                          <a:rPr lang="zh-TW" altLang="en-US" i="0">
                            <a:latin typeface="Cambria Math" panose="02040503050406030204" pitchFamily="18" charset="0"/>
                          </a:rPr>
                          <m:t>≈0.9505</m:t>
                        </m:r>
                      </m:oMath>
                    </m:oMathPara>
                  </a14:m>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94A8FAC7-8705-ABAD-F89E-DC9FE4497308}"/>
                    </a:ext>
                  </a:extLst>
                </p:cNvPr>
                <p:cNvSpPr txBox="1">
                  <a:spLocks noRot="1" noChangeAspect="1" noMove="1" noResize="1" noEditPoints="1" noAdjustHandles="1" noChangeArrowheads="1" noChangeShapeType="1" noTextEdit="1"/>
                </p:cNvSpPr>
                <p:nvPr/>
              </p:nvSpPr>
              <p:spPr>
                <a:xfrm>
                  <a:off x="4826642" y="3246174"/>
                  <a:ext cx="2124316" cy="497059"/>
                </a:xfrm>
                <a:prstGeom prst="rect">
                  <a:avLst/>
                </a:prstGeom>
                <a:blipFill>
                  <a:blip r:embed="rId6"/>
                  <a:stretch>
                    <a:fillRect b="-12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8E214F1A-6A78-67B8-1B7D-9F1E3A4DE70D}"/>
                    </a:ext>
                  </a:extLst>
                </p:cNvPr>
                <p:cNvSpPr txBox="1"/>
                <p:nvPr/>
              </p:nvSpPr>
              <p:spPr>
                <a:xfrm>
                  <a:off x="4820412" y="3904423"/>
                  <a:ext cx="3275636" cy="497059"/>
                </a:xfrm>
                <a:prstGeom prst="rect">
                  <a:avLst/>
                </a:prstGeom>
                <a:noFill/>
              </p:spPr>
              <p:txBody>
                <a:bodyPr wrap="square">
                  <a:spAutoFit/>
                </a:bodyPr>
                <a:lstStyle/>
                <a:p>
                  <a:pPr/>
                  <a14:m>
                    <m:oMathPara xmlns:m="http://schemas.openxmlformats.org/officeDocument/2006/math">
                      <m:oMath>
                        <m:sSub>
                          <m:sSubPr>
                            <m:ctrlPr>
                              <a:rPr lang="zh-TW" altLang="en-US" i="1">
                                <a:latin typeface="Cambria Math" panose="02040503050406030204" pitchFamily="18" charset="0"/>
                              </a:rPr>
                            </m:ctrlPr>
                          </m:sSubPr>
                          <m:e>
                            <m:r>
                              <a:rPr lang="zh-TW" altLang="en-US" i="1">
                                <a:latin typeface="Cambria Math" panose="02040503050406030204" pitchFamily="18" charset="0"/>
                              </a:rPr>
                              <m:t>𝑍</m:t>
                            </m:r>
                          </m:e>
                          <m:sub>
                            <m:r>
                              <a:rPr lang="zh-TW" altLang="en-US" i="1">
                                <a:latin typeface="Cambria Math" panose="02040503050406030204" pitchFamily="18" charset="0"/>
                              </a:rPr>
                              <m:t>𝑊</m:t>
                            </m:r>
                          </m:sub>
                        </m:sSub>
                        <m:r>
                          <a:rPr lang="zh-TW" altLang="en-US" i="0">
                            <a:latin typeface="Cambria Math" panose="02040503050406030204" pitchFamily="18" charset="0"/>
                          </a:rPr>
                          <m:t>=</m:t>
                        </m:r>
                        <m:f>
                          <m:fPr>
                            <m:ctrlPr>
                              <a:rPr lang="zh-TW" altLang="en-US" i="0">
                                <a:latin typeface="Cambria Math" panose="02040503050406030204" pitchFamily="18" charset="0"/>
                              </a:rPr>
                            </m:ctrlPr>
                          </m:fPr>
                          <m:num>
                            <m:r>
                              <a:rPr lang="zh-TW" altLang="en-US" i="0">
                                <a:latin typeface="Cambria Math" panose="02040503050406030204" pitchFamily="18" charset="0"/>
                              </a:rPr>
                              <m:t>1−0.3127−0.3290</m:t>
                            </m:r>
                          </m:num>
                          <m:den>
                            <m:r>
                              <a:rPr lang="zh-TW" altLang="en-US" i="0">
                                <a:latin typeface="Cambria Math" panose="02040503050406030204" pitchFamily="18" charset="0"/>
                              </a:rPr>
                              <m:t>0.3290</m:t>
                            </m:r>
                          </m:den>
                        </m:f>
                        <m:r>
                          <a:rPr lang="zh-TW" altLang="en-US" i="0">
                            <a:latin typeface="Cambria Math" panose="02040503050406030204" pitchFamily="18" charset="0"/>
                          </a:rPr>
                          <m:t>≈1.0891</m:t>
                        </m:r>
                      </m:oMath>
                    </m:oMathPara>
                  </a14:m>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30" name="文字方塊 29">
                  <a:extLst>
                    <a:ext uri="{FF2B5EF4-FFF2-40B4-BE49-F238E27FC236}">
                      <a16:creationId xmlns:a16="http://schemas.microsoft.com/office/drawing/2014/main" id="{8E214F1A-6A78-67B8-1B7D-9F1E3A4DE70D}"/>
                    </a:ext>
                  </a:extLst>
                </p:cNvPr>
                <p:cNvSpPr txBox="1">
                  <a:spLocks noRot="1" noChangeAspect="1" noMove="1" noResize="1" noEditPoints="1" noAdjustHandles="1" noChangeArrowheads="1" noChangeShapeType="1" noTextEdit="1"/>
                </p:cNvSpPr>
                <p:nvPr/>
              </p:nvSpPr>
              <p:spPr>
                <a:xfrm>
                  <a:off x="4820412" y="3904423"/>
                  <a:ext cx="3275636" cy="497059"/>
                </a:xfrm>
                <a:prstGeom prst="rect">
                  <a:avLst/>
                </a:prstGeom>
                <a:blipFill>
                  <a:blip r:embed="rId7"/>
                  <a:stretch>
                    <a:fillRect b="-1235"/>
                  </a:stretch>
                </a:blipFill>
              </p:spPr>
              <p:txBody>
                <a:bodyPr/>
                <a:lstStyle/>
                <a:p>
                  <a:r>
                    <a:rPr lang="zh-TW" altLang="en-US">
                      <a:noFill/>
                    </a:rPr>
                    <a:t> </a:t>
                  </a:r>
                </a:p>
              </p:txBody>
            </p:sp>
          </mc:Fallback>
        </mc:AlternateContent>
      </p:grpSp>
      <p:sp>
        <p:nvSpPr>
          <p:cNvPr id="35" name="文字方塊 34">
            <a:extLst>
              <a:ext uri="{FF2B5EF4-FFF2-40B4-BE49-F238E27FC236}">
                <a16:creationId xmlns:a16="http://schemas.microsoft.com/office/drawing/2014/main" id="{E4B264F9-CD99-DE3B-9D34-FBF5DBFB5CFE}"/>
              </a:ext>
            </a:extLst>
          </p:cNvPr>
          <p:cNvSpPr txBox="1"/>
          <p:nvPr/>
        </p:nvSpPr>
        <p:spPr>
          <a:xfrm>
            <a:off x="1203767" y="6396335"/>
            <a:ext cx="8323428" cy="461665"/>
          </a:xfrm>
          <a:prstGeom prst="rect">
            <a:avLst/>
          </a:prstGeom>
          <a:noFill/>
        </p:spPr>
        <p:txBody>
          <a:bodyPr wrap="square">
            <a:spAutoFit/>
          </a:bodyPr>
          <a:lstStyle/>
          <a:p>
            <a:r>
              <a:rPr lang="zh-TW" altLang="zh-TW" sz="1200" b="1"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200" b="1" dirty="0">
                <a:latin typeface="Times New Roman" panose="02020603050405020304" pitchFamily="18" charset="0"/>
                <a:ea typeface="標楷體" panose="03000509000000000000" pitchFamily="65" charset="-120"/>
                <a:cs typeface="Times New Roman" panose="02020603050405020304" pitchFamily="18" charset="0"/>
              </a:rPr>
              <a:t>4</a:t>
            </a:r>
            <a:r>
              <a:rPr lang="zh-TW" altLang="zh-TW" sz="1200" b="1"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 International Color Consortium, “Goals for profile assessment,” </a:t>
            </a:r>
            <a:r>
              <a:rPr lang="zh-TW" altLang="zh-TW" sz="1200" i="1" dirty="0">
                <a:latin typeface="Times New Roman" panose="02020603050405020304" pitchFamily="18" charset="0"/>
                <a:ea typeface="標楷體" panose="03000509000000000000" pitchFamily="65" charset="-120"/>
                <a:cs typeface="Times New Roman" panose="02020603050405020304" pitchFamily="18" charset="0"/>
              </a:rPr>
              <a:t>International Color Consortium</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 [Online]. Available: </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hlinkClick r:id="rId8"/>
              </a:rPr>
              <a:t>https://www.color.org/profiles/assessment/</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 </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45" name="群組 44">
            <a:extLst>
              <a:ext uri="{FF2B5EF4-FFF2-40B4-BE49-F238E27FC236}">
                <a16:creationId xmlns:a16="http://schemas.microsoft.com/office/drawing/2014/main" id="{88569DE1-553A-DC5D-D6E1-ABA71C776115}"/>
              </a:ext>
            </a:extLst>
          </p:cNvPr>
          <p:cNvGrpSpPr/>
          <p:nvPr/>
        </p:nvGrpSpPr>
        <p:grpSpPr>
          <a:xfrm>
            <a:off x="5495728" y="3581803"/>
            <a:ext cx="3829233" cy="891617"/>
            <a:chOff x="5498155" y="3493800"/>
            <a:chExt cx="3829233" cy="891617"/>
          </a:xfrm>
        </p:grpSpPr>
        <p:pic>
          <p:nvPicPr>
            <p:cNvPr id="40" name="圖片 39">
              <a:extLst>
                <a:ext uri="{FF2B5EF4-FFF2-40B4-BE49-F238E27FC236}">
                  <a16:creationId xmlns:a16="http://schemas.microsoft.com/office/drawing/2014/main" id="{3017A3D9-55B3-9FCF-78A7-8CFF7996C238}"/>
                </a:ext>
              </a:extLst>
            </p:cNvPr>
            <p:cNvPicPr>
              <a:picLocks noChangeAspect="1"/>
            </p:cNvPicPr>
            <p:nvPr/>
          </p:nvPicPr>
          <p:blipFill>
            <a:blip r:embed="rId9"/>
            <a:stretch>
              <a:fillRect/>
            </a:stretch>
          </p:blipFill>
          <p:spPr>
            <a:xfrm>
              <a:off x="5498155" y="3493800"/>
              <a:ext cx="1409822" cy="891617"/>
            </a:xfrm>
            <a:prstGeom prst="rect">
              <a:avLst/>
            </a:prstGeom>
          </p:spPr>
        </p:pic>
        <p:pic>
          <p:nvPicPr>
            <p:cNvPr id="42" name="圖片 41">
              <a:extLst>
                <a:ext uri="{FF2B5EF4-FFF2-40B4-BE49-F238E27FC236}">
                  <a16:creationId xmlns:a16="http://schemas.microsoft.com/office/drawing/2014/main" id="{3523FE1B-0057-E640-2C60-7E3D7A1927EA}"/>
                </a:ext>
              </a:extLst>
            </p:cNvPr>
            <p:cNvPicPr>
              <a:picLocks noChangeAspect="1"/>
            </p:cNvPicPr>
            <p:nvPr/>
          </p:nvPicPr>
          <p:blipFill>
            <a:blip r:embed="rId10"/>
            <a:stretch>
              <a:fillRect/>
            </a:stretch>
          </p:blipFill>
          <p:spPr>
            <a:xfrm>
              <a:off x="6759225" y="3534888"/>
              <a:ext cx="1234547" cy="800169"/>
            </a:xfrm>
            <a:prstGeom prst="rect">
              <a:avLst/>
            </a:prstGeom>
          </p:spPr>
        </p:pic>
        <p:pic>
          <p:nvPicPr>
            <p:cNvPr id="44" name="圖片 43">
              <a:extLst>
                <a:ext uri="{FF2B5EF4-FFF2-40B4-BE49-F238E27FC236}">
                  <a16:creationId xmlns:a16="http://schemas.microsoft.com/office/drawing/2014/main" id="{483ACC88-335C-E8C4-BBD8-7A9AC0907168}"/>
                </a:ext>
              </a:extLst>
            </p:cNvPr>
            <p:cNvPicPr>
              <a:picLocks noChangeAspect="1"/>
            </p:cNvPicPr>
            <p:nvPr/>
          </p:nvPicPr>
          <p:blipFill>
            <a:blip r:embed="rId11"/>
            <a:stretch>
              <a:fillRect/>
            </a:stretch>
          </p:blipFill>
          <p:spPr>
            <a:xfrm>
              <a:off x="7993772" y="3534888"/>
              <a:ext cx="1333616" cy="807790"/>
            </a:xfrm>
            <a:prstGeom prst="rect">
              <a:avLst/>
            </a:prstGeom>
          </p:spPr>
        </p:pic>
      </p:grpSp>
    </p:spTree>
    <p:extLst>
      <p:ext uri="{BB962C8B-B14F-4D97-AF65-F5344CB8AC3E}">
        <p14:creationId xmlns:p14="http://schemas.microsoft.com/office/powerpoint/2010/main" val="3699173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04A77E-DAFB-2807-84F7-D70F0859EFFD}"/>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C4EA0848-8E74-3D45-9380-8E7A88853D27}"/>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文字版面配置區 6">
            <a:extLst>
              <a:ext uri="{FF2B5EF4-FFF2-40B4-BE49-F238E27FC236}">
                <a16:creationId xmlns:a16="http://schemas.microsoft.com/office/drawing/2014/main" id="{01B3812A-18EF-0958-6E4C-DFB4E9BFB112}"/>
              </a:ext>
            </a:extLst>
          </p:cNvPr>
          <p:cNvSpPr txBox="1"/>
          <p:nvPr/>
        </p:nvSpPr>
        <p:spPr>
          <a:xfrm>
            <a:off x="497549" y="1284684"/>
            <a:ext cx="8686796" cy="7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舉例：</a:t>
            </a: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zh-TW" altLang="en-US" sz="18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2426532A-89CE-A93C-23F1-069160B45F6E}"/>
              </a:ext>
            </a:extLst>
          </p:cNvPr>
          <p:cNvPicPr>
            <a:picLocks noChangeAspect="1"/>
          </p:cNvPicPr>
          <p:nvPr/>
        </p:nvPicPr>
        <p:blipFill>
          <a:blip r:embed="rId3"/>
          <a:stretch>
            <a:fillRect/>
          </a:stretch>
        </p:blipFill>
        <p:spPr>
          <a:xfrm>
            <a:off x="609602" y="2961543"/>
            <a:ext cx="2720576" cy="899238"/>
          </a:xfrm>
          <a:prstGeom prst="rect">
            <a:avLst/>
          </a:prstGeom>
        </p:spPr>
      </p:pic>
      <p:pic>
        <p:nvPicPr>
          <p:cNvPr id="19" name="圖片 18">
            <a:extLst>
              <a:ext uri="{FF2B5EF4-FFF2-40B4-BE49-F238E27FC236}">
                <a16:creationId xmlns:a16="http://schemas.microsoft.com/office/drawing/2014/main" id="{53457DF2-5D87-EFF2-CAC2-FF570835AACC}"/>
              </a:ext>
            </a:extLst>
          </p:cNvPr>
          <p:cNvPicPr>
            <a:picLocks noChangeAspect="1"/>
          </p:cNvPicPr>
          <p:nvPr/>
        </p:nvPicPr>
        <p:blipFill>
          <a:blip r:embed="rId4"/>
          <a:stretch>
            <a:fillRect/>
          </a:stretch>
        </p:blipFill>
        <p:spPr>
          <a:xfrm>
            <a:off x="139807" y="4433734"/>
            <a:ext cx="3972901" cy="1086606"/>
          </a:xfrm>
          <a:prstGeom prst="rect">
            <a:avLst/>
          </a:prstGeom>
        </p:spPr>
      </p:pic>
      <p:grpSp>
        <p:nvGrpSpPr>
          <p:cNvPr id="32" name="群組 31">
            <a:extLst>
              <a:ext uri="{FF2B5EF4-FFF2-40B4-BE49-F238E27FC236}">
                <a16:creationId xmlns:a16="http://schemas.microsoft.com/office/drawing/2014/main" id="{F927EF4A-6F4D-F3E8-5B09-F22CB7E5C27B}"/>
              </a:ext>
            </a:extLst>
          </p:cNvPr>
          <p:cNvGrpSpPr/>
          <p:nvPr/>
        </p:nvGrpSpPr>
        <p:grpSpPr>
          <a:xfrm>
            <a:off x="6792573" y="876300"/>
            <a:ext cx="2615878" cy="2013090"/>
            <a:chOff x="6481823" y="1030147"/>
            <a:chExt cx="2615878" cy="2013090"/>
          </a:xfrm>
        </p:grpSpPr>
        <p:sp>
          <p:nvSpPr>
            <p:cNvPr id="31" name="矩形 30">
              <a:extLst>
                <a:ext uri="{FF2B5EF4-FFF2-40B4-BE49-F238E27FC236}">
                  <a16:creationId xmlns:a16="http://schemas.microsoft.com/office/drawing/2014/main" id="{842E2599-7117-6097-3D20-FAF97CB0624D}"/>
                </a:ext>
              </a:extLst>
            </p:cNvPr>
            <p:cNvSpPr/>
            <p:nvPr/>
          </p:nvSpPr>
          <p:spPr>
            <a:xfrm>
              <a:off x="6481823" y="1030147"/>
              <a:ext cx="2615878" cy="201309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7" name="圖片 16">
              <a:extLst>
                <a:ext uri="{FF2B5EF4-FFF2-40B4-BE49-F238E27FC236}">
                  <a16:creationId xmlns:a16="http://schemas.microsoft.com/office/drawing/2014/main" id="{761FC988-00F4-E730-3BAA-BD8AB2AF8736}"/>
                </a:ext>
              </a:extLst>
            </p:cNvPr>
            <p:cNvPicPr>
              <a:picLocks noChangeAspect="1"/>
            </p:cNvPicPr>
            <p:nvPr/>
          </p:nvPicPr>
          <p:blipFill>
            <a:blip r:embed="rId5"/>
            <a:stretch>
              <a:fillRect/>
            </a:stretch>
          </p:blipFill>
          <p:spPr>
            <a:xfrm>
              <a:off x="6755758" y="1143000"/>
              <a:ext cx="2214621" cy="907910"/>
            </a:xfrm>
            <a:prstGeom prst="rect">
              <a:avLst/>
            </a:prstGeom>
          </p:spPr>
        </p:pic>
        <p:pic>
          <p:nvPicPr>
            <p:cNvPr id="27" name="圖片 26">
              <a:extLst>
                <a:ext uri="{FF2B5EF4-FFF2-40B4-BE49-F238E27FC236}">
                  <a16:creationId xmlns:a16="http://schemas.microsoft.com/office/drawing/2014/main" id="{3EDD9625-B064-7565-0FCA-7776D5E05438}"/>
                </a:ext>
              </a:extLst>
            </p:cNvPr>
            <p:cNvPicPr>
              <a:picLocks noChangeAspect="1"/>
            </p:cNvPicPr>
            <p:nvPr/>
          </p:nvPicPr>
          <p:blipFill>
            <a:blip r:embed="rId6"/>
            <a:stretch>
              <a:fillRect/>
            </a:stretch>
          </p:blipFill>
          <p:spPr>
            <a:xfrm>
              <a:off x="6871182" y="2050909"/>
              <a:ext cx="1470787" cy="891617"/>
            </a:xfrm>
            <a:prstGeom prst="rect">
              <a:avLst/>
            </a:prstGeom>
          </p:spPr>
        </p:pic>
        <p:sp>
          <p:nvSpPr>
            <p:cNvPr id="29" name="矩形 28">
              <a:extLst>
                <a:ext uri="{FF2B5EF4-FFF2-40B4-BE49-F238E27FC236}">
                  <a16:creationId xmlns:a16="http://schemas.microsoft.com/office/drawing/2014/main" id="{8BD80D6C-1FF3-8AFD-5D78-6B1FDB097256}"/>
                </a:ext>
              </a:extLst>
            </p:cNvPr>
            <p:cNvSpPr/>
            <p:nvPr/>
          </p:nvSpPr>
          <p:spPr>
            <a:xfrm>
              <a:off x="6615185" y="1111723"/>
              <a:ext cx="319318" cy="1384995"/>
            </a:xfrm>
            <a:prstGeom prst="rect">
              <a:avLst/>
            </a:prstGeom>
            <a:noFill/>
          </p:spPr>
          <p:txBody>
            <a:bodyPr wrap="none" lIns="91440" tIns="45720" rIns="91440" bIns="45720">
              <a:spAutoFit/>
            </a:bodyPr>
            <a:lstStyle/>
            <a:p>
              <a:pPr algn="ctr"/>
              <a:r>
                <a:rPr lang="en-US" altLang="zh-TW"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1.</a:t>
              </a: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37" name="箭號: 向右 36">
            <a:extLst>
              <a:ext uri="{FF2B5EF4-FFF2-40B4-BE49-F238E27FC236}">
                <a16:creationId xmlns:a16="http://schemas.microsoft.com/office/drawing/2014/main" id="{FBFAB6F3-B4CD-9EFE-0CF6-B1B75CD89E10}"/>
              </a:ext>
            </a:extLst>
          </p:cNvPr>
          <p:cNvSpPr/>
          <p:nvPr/>
        </p:nvSpPr>
        <p:spPr>
          <a:xfrm>
            <a:off x="4314883" y="3687917"/>
            <a:ext cx="945429" cy="1808539"/>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8" name="矩形 37">
            <a:extLst>
              <a:ext uri="{FF2B5EF4-FFF2-40B4-BE49-F238E27FC236}">
                <a16:creationId xmlns:a16="http://schemas.microsoft.com/office/drawing/2014/main" id="{4D96EEAC-BDC2-1338-2C43-7781683DD0B3}"/>
              </a:ext>
            </a:extLst>
          </p:cNvPr>
          <p:cNvSpPr/>
          <p:nvPr/>
        </p:nvSpPr>
        <p:spPr>
          <a:xfrm>
            <a:off x="3639992" y="3042727"/>
            <a:ext cx="2295210" cy="584775"/>
          </a:xfrm>
          <a:prstGeom prst="rect">
            <a:avLst/>
          </a:prstGeom>
          <a:noFill/>
        </p:spPr>
        <p:txBody>
          <a:bodyPr wrap="square" lIns="91440" tIns="45720" rIns="91440" bIns="45720">
            <a:spAutoFit/>
          </a:bodyPr>
          <a:lstStyle/>
          <a:p>
            <a:pPr algn="ctr"/>
            <a:r>
              <a:rPr lang="zh-TW" altLang="en-US"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在</a:t>
            </a:r>
            <a:r>
              <a:rPr lang="en-US" altLang="zh-TW"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(255,255,255)</a:t>
            </a:r>
            <a:r>
              <a:rPr lang="zh-TW" altLang="en-US"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中</a:t>
            </a:r>
            <a:r>
              <a:rPr lang="en-US" altLang="zh-TW"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RGB</a:t>
            </a:r>
            <a:r>
              <a:rPr lang="en-US" altLang="zh-TW" sz="1600" baseline="-25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L</a:t>
            </a:r>
            <a:r>
              <a:rPr lang="en-US" altLang="zh-TW"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=(1,1,1)</a:t>
            </a:r>
            <a:endParaRPr lang="zh-TW" altLang="en-US" sz="1600" b="0" cap="none" spc="0" baseline="-25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0" name="圖片 39">
            <a:extLst>
              <a:ext uri="{FF2B5EF4-FFF2-40B4-BE49-F238E27FC236}">
                <a16:creationId xmlns:a16="http://schemas.microsoft.com/office/drawing/2014/main" id="{C5EA7A6F-A098-9803-7296-8B08DDAF0328}"/>
              </a:ext>
            </a:extLst>
          </p:cNvPr>
          <p:cNvPicPr>
            <a:picLocks noChangeAspect="1"/>
          </p:cNvPicPr>
          <p:nvPr/>
        </p:nvPicPr>
        <p:blipFill>
          <a:blip r:embed="rId7"/>
          <a:stretch>
            <a:fillRect/>
          </a:stretch>
        </p:blipFill>
        <p:spPr>
          <a:xfrm>
            <a:off x="6393022" y="3525961"/>
            <a:ext cx="1994507" cy="1015385"/>
          </a:xfrm>
          <a:prstGeom prst="rect">
            <a:avLst/>
          </a:prstGeom>
        </p:spPr>
      </p:pic>
      <p:pic>
        <p:nvPicPr>
          <p:cNvPr id="42" name="圖片 41">
            <a:extLst>
              <a:ext uri="{FF2B5EF4-FFF2-40B4-BE49-F238E27FC236}">
                <a16:creationId xmlns:a16="http://schemas.microsoft.com/office/drawing/2014/main" id="{F43B0717-E53C-A39B-A94E-7E1581B1010F}"/>
              </a:ext>
            </a:extLst>
          </p:cNvPr>
          <p:cNvPicPr>
            <a:picLocks noChangeAspect="1"/>
          </p:cNvPicPr>
          <p:nvPr/>
        </p:nvPicPr>
        <p:blipFill>
          <a:blip r:embed="rId8"/>
          <a:stretch>
            <a:fillRect/>
          </a:stretch>
        </p:blipFill>
        <p:spPr>
          <a:xfrm>
            <a:off x="5277620" y="4840844"/>
            <a:ext cx="4488573" cy="1115503"/>
          </a:xfrm>
          <a:prstGeom prst="rect">
            <a:avLst/>
          </a:prstGeom>
        </p:spPr>
      </p:pic>
    </p:spTree>
    <p:extLst>
      <p:ext uri="{BB962C8B-B14F-4D97-AF65-F5344CB8AC3E}">
        <p14:creationId xmlns:p14="http://schemas.microsoft.com/office/powerpoint/2010/main" val="135954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8B4C8B-F5C5-5CEC-943D-9D2F2D9B601F}"/>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AB6A1EF1-530D-13DA-3A32-D805CBBDBE9F}"/>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文字版面配置區 6">
            <a:extLst>
              <a:ext uri="{FF2B5EF4-FFF2-40B4-BE49-F238E27FC236}">
                <a16:creationId xmlns:a16="http://schemas.microsoft.com/office/drawing/2014/main" id="{E0D12B35-8850-5C02-7382-426F584C7533}"/>
              </a:ext>
            </a:extLst>
          </p:cNvPr>
          <p:cNvSpPr txBox="1"/>
          <p:nvPr/>
        </p:nvSpPr>
        <p:spPr>
          <a:xfrm>
            <a:off x="497549" y="1284684"/>
            <a:ext cx="8686796" cy="7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舉例：</a:t>
            </a: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endParaRPr>
          </a:p>
          <a:p>
            <a:pPr marL="533400" lvl="1" indent="0">
              <a:lnSpc>
                <a:spcPts val="3000"/>
              </a:lnSpc>
              <a:buNone/>
            </a:pPr>
            <a:endParaRPr lang="zh-TW" altLang="en-US" sz="18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96A9D86D-B0E3-DDB0-9AAB-1EDB677233C3}"/>
              </a:ext>
            </a:extLst>
          </p:cNvPr>
          <p:cNvPicPr>
            <a:picLocks noChangeAspect="1"/>
          </p:cNvPicPr>
          <p:nvPr/>
        </p:nvPicPr>
        <p:blipFill>
          <a:blip r:embed="rId3"/>
          <a:stretch>
            <a:fillRect/>
          </a:stretch>
        </p:blipFill>
        <p:spPr>
          <a:xfrm>
            <a:off x="3943770" y="2002315"/>
            <a:ext cx="2018460" cy="1901107"/>
          </a:xfrm>
          <a:prstGeom prst="rect">
            <a:avLst/>
          </a:prstGeom>
        </p:spPr>
      </p:pic>
      <p:pic>
        <p:nvPicPr>
          <p:cNvPr id="20" name="圖片 19">
            <a:extLst>
              <a:ext uri="{FF2B5EF4-FFF2-40B4-BE49-F238E27FC236}">
                <a16:creationId xmlns:a16="http://schemas.microsoft.com/office/drawing/2014/main" id="{D9106978-8618-368B-C714-E843DE9BBF2D}"/>
              </a:ext>
            </a:extLst>
          </p:cNvPr>
          <p:cNvPicPr>
            <a:picLocks noChangeAspect="1"/>
          </p:cNvPicPr>
          <p:nvPr/>
        </p:nvPicPr>
        <p:blipFill>
          <a:blip r:embed="rId4"/>
          <a:stretch>
            <a:fillRect/>
          </a:stretch>
        </p:blipFill>
        <p:spPr>
          <a:xfrm>
            <a:off x="2834217" y="4093208"/>
            <a:ext cx="4406427" cy="1480108"/>
          </a:xfrm>
          <a:prstGeom prst="rect">
            <a:avLst/>
          </a:prstGeom>
        </p:spPr>
      </p:pic>
    </p:spTree>
    <p:extLst>
      <p:ext uri="{BB962C8B-B14F-4D97-AF65-F5344CB8AC3E}">
        <p14:creationId xmlns:p14="http://schemas.microsoft.com/office/powerpoint/2010/main" val="1208291030"/>
      </p:ext>
    </p:extLst>
  </p:cSld>
  <p:clrMapOvr>
    <a:masterClrMapping/>
  </p:clrMapOvr>
</p:sld>
</file>

<file path=ppt/theme/theme1.xml><?xml version="1.0" encoding="utf-8"?>
<a:theme xmlns:a="http://schemas.openxmlformats.org/drawingml/2006/main" name="template">
  <a:themeElements>
    <a:clrScheme name="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318720</TotalTime>
  <Words>1745</Words>
  <Application>Microsoft Office PowerPoint</Application>
  <PresentationFormat>A4 紙張 (210x297 公釐)</PresentationFormat>
  <Paragraphs>173</Paragraphs>
  <Slides>17</Slides>
  <Notes>17</Notes>
  <HiddenSlides>4</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17</vt:i4>
      </vt:variant>
    </vt:vector>
  </HeadingPairs>
  <TitlesOfParts>
    <vt:vector size="22" baseType="lpstr">
      <vt:lpstr>Noto Sans Symbols</vt:lpstr>
      <vt:lpstr>Arial</vt:lpstr>
      <vt:lpstr>Cambria Math</vt:lpstr>
      <vt:lpstr>Times New Roman</vt:lpstr>
      <vt:lpstr>template</vt:lpstr>
      <vt:lpstr>Progress Report</vt:lpstr>
      <vt:lpstr>本次進度:研究背景與目標</vt:lpstr>
      <vt:lpstr>本次進度:PCS(Profile Connection Space)</vt:lpstr>
      <vt:lpstr>本次進度:PCS(Profile Connection Space)</vt:lpstr>
      <vt:lpstr>本次進度:PCS(Profile Connection Space)</vt:lpstr>
      <vt:lpstr>本次進度:Display ICC Profile結構</vt:lpstr>
      <vt:lpstr>本次進度: Display ICC Profile結構</vt:lpstr>
      <vt:lpstr>本次進度: Display ICC Profile結構</vt:lpstr>
      <vt:lpstr>本次進度: ICC與校正資料</vt:lpstr>
      <vt:lpstr>本次進度: ICC與校正資料</vt:lpstr>
      <vt:lpstr>本次進度: ICC與校正資料</vt:lpstr>
      <vt:lpstr>本次進度: ICC與校正資料</vt:lpstr>
      <vt:lpstr>未來方向-軟體分析</vt:lpstr>
      <vt:lpstr>PowerPoint 簡報</vt:lpstr>
      <vt:lpstr>本次進度:Matrix-based Display Profile</vt:lpstr>
      <vt:lpstr>本次進度:Matrix-based Display Profile</vt:lpstr>
      <vt:lpstr>本次進度:Matrix-based Display Profile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Embedded CMOS Image Sensor System Design and Implementation</dc:title>
  <dc:creator>mblin</dc:creator>
  <cp:lastModifiedBy>sis ila</cp:lastModifiedBy>
  <cp:revision>2587</cp:revision>
  <dcterms:created xsi:type="dcterms:W3CDTF">2003-02-17T16:04:03Z</dcterms:created>
  <dcterms:modified xsi:type="dcterms:W3CDTF">2026-09-22T02:19:11Z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c323e086d3b141ca89c275423e00507f</vt:lpwstr>
  </property>
</Properties>
</file>