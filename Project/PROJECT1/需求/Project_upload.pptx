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548" r:id="rId1"/>
  </p:sldMasterIdLst>
  <p:notesMasterIdLst>
    <p:notesMasterId r:id="rId12"/>
  </p:notesMasterIdLst>
  <p:handoutMasterIdLst>
    <p:handoutMasterId r:id="rId13"/>
  </p:handoutMasterIdLst>
  <p:sldIdLst>
    <p:sldId id="422" r:id="rId2"/>
    <p:sldId id="443" r:id="rId3"/>
    <p:sldId id="450" r:id="rId4"/>
    <p:sldId id="458" r:id="rId5"/>
    <p:sldId id="455" r:id="rId6"/>
    <p:sldId id="453" r:id="rId7"/>
    <p:sldId id="457" r:id="rId8"/>
    <p:sldId id="459" r:id="rId9"/>
    <p:sldId id="460" r:id="rId10"/>
    <p:sldId id="438" r:id="rId11"/>
  </p:sldIdLst>
  <p:sldSz cx="9906000" cy="6858000" type="A4"/>
  <p:notesSz cx="7099300" cy="10234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shen" initials="c" lastIdx="1" clrIdx="0">
    <p:extLst>
      <p:ext uri="{19B8F6BF-5375-455C-9EA6-DF929625EA0E}">
        <p15:presenceInfo xmlns:p15="http://schemas.microsoft.com/office/powerpoint/2012/main" userId="cash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3333FF"/>
    <a:srgbClr val="F7FE9A"/>
    <a:srgbClr val="E7E7F9"/>
    <a:srgbClr val="FF99F8"/>
    <a:srgbClr val="DDDDDD"/>
    <a:srgbClr val="C2C2F0"/>
    <a:srgbClr val="DAEFC3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2169" autoAdjust="0"/>
  </p:normalViewPr>
  <p:slideViewPr>
    <p:cSldViewPr>
      <p:cViewPr varScale="1">
        <p:scale>
          <a:sx n="117" d="100"/>
          <a:sy n="117" d="100"/>
        </p:scale>
        <p:origin x="1194" y="8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t" anchorCtr="0" compatLnSpc="1">
            <a:prstTxWarp prst="textNoShape">
              <a:avLst/>
            </a:prstTxWarp>
          </a:bodyPr>
          <a:lstStyle>
            <a:lvl1pPr defTabSz="1036638">
              <a:defRPr sz="2000">
                <a:latin typeface="Times New Roman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6375" y="0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t" anchorCtr="0" compatLnSpc="1">
            <a:prstTxWarp prst="textNoShape">
              <a:avLst/>
            </a:prstTxWarp>
          </a:bodyPr>
          <a:lstStyle>
            <a:lvl1pPr algn="r" defTabSz="1036638">
              <a:defRPr sz="2000">
                <a:latin typeface="Times New Roman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37725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b" anchorCtr="0" compatLnSpc="1">
            <a:prstTxWarp prst="textNoShape">
              <a:avLst/>
            </a:prstTxWarp>
          </a:bodyPr>
          <a:lstStyle>
            <a:lvl1pPr defTabSz="1036638">
              <a:defRPr sz="2000">
                <a:latin typeface="Times New Roman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6375" y="9737725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b" anchorCtr="0" compatLnSpc="1">
            <a:prstTxWarp prst="textNoShape">
              <a:avLst/>
            </a:prstTxWarp>
          </a:bodyPr>
          <a:lstStyle>
            <a:lvl1pPr algn="r" defTabSz="1036638">
              <a:defRPr sz="20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fld id="{E57AC0C5-028A-4FC1-8609-8A575617F48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117124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t" anchorCtr="0" compatLnSpc="1">
            <a:prstTxWarp prst="textNoShape">
              <a:avLst/>
            </a:prstTxWarp>
          </a:bodyPr>
          <a:lstStyle>
            <a:lvl1pPr defTabSz="1036638">
              <a:defRPr sz="2000">
                <a:latin typeface="Times New Roman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t" anchorCtr="0" compatLnSpc="1">
            <a:prstTxWarp prst="textNoShape">
              <a:avLst/>
            </a:prstTxWarp>
          </a:bodyPr>
          <a:lstStyle>
            <a:lvl1pPr algn="r" defTabSz="1036638">
              <a:defRPr sz="2000">
                <a:latin typeface="Times New Roman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84225" y="784225"/>
            <a:ext cx="5537200" cy="3835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868863"/>
            <a:ext cx="5232400" cy="458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  <a:endParaRPr lang="en-US" altLang="zh-TW" noProof="0"/>
          </a:p>
          <a:p>
            <a:pPr lvl="1"/>
            <a:r>
              <a:rPr lang="zh-TW" altLang="en-US" noProof="0"/>
              <a:t>第二層</a:t>
            </a:r>
            <a:endParaRPr lang="en-US" altLang="zh-TW" noProof="0"/>
          </a:p>
          <a:p>
            <a:pPr lvl="2"/>
            <a:r>
              <a:rPr lang="zh-TW" altLang="en-US" noProof="0"/>
              <a:t>第三層</a:t>
            </a:r>
            <a:endParaRPr lang="en-US" altLang="zh-TW" noProof="0"/>
          </a:p>
          <a:p>
            <a:pPr lvl="3"/>
            <a:r>
              <a:rPr lang="zh-TW" altLang="en-US" noProof="0"/>
              <a:t>第四層</a:t>
            </a:r>
            <a:endParaRPr lang="en-US" altLang="zh-TW" noProof="0"/>
          </a:p>
          <a:p>
            <a:pPr lvl="4"/>
            <a:r>
              <a:rPr lang="zh-TW" altLang="en-US" noProof="0"/>
              <a:t>第五層</a:t>
            </a:r>
            <a:endParaRPr lang="en-US" altLang="zh-TW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37725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b" anchorCtr="0" compatLnSpc="1">
            <a:prstTxWarp prst="textNoShape">
              <a:avLst/>
            </a:prstTxWarp>
          </a:bodyPr>
          <a:lstStyle>
            <a:lvl1pPr defTabSz="1036638">
              <a:defRPr sz="2000">
                <a:latin typeface="Times New Roman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9737725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b" anchorCtr="0" compatLnSpc="1">
            <a:prstTxWarp prst="textNoShape">
              <a:avLst/>
            </a:prstTxWarp>
          </a:bodyPr>
          <a:lstStyle>
            <a:lvl1pPr algn="r" defTabSz="1036638">
              <a:defRPr sz="20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fld id="{272301DA-55B0-479D-8116-E17EDB90670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706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charset="-120"/>
        <a:cs typeface="新細明體" charset="-12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charset="-120"/>
        <a:cs typeface="新細明體" charset="-12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charset="-120"/>
        <a:cs typeface="新細明體" charset="-12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charset="-120"/>
        <a:cs typeface="新細明體" charset="-12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charset="-120"/>
        <a:cs typeface="新細明體" charset="-12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46063" indent="-246063" eaLnBrk="1" hangingPunct="1">
              <a:spcBef>
                <a:spcPct val="0"/>
              </a:spcBef>
            </a:pPr>
            <a:r>
              <a:rPr lang="en-US" altLang="zh-TW">
                <a:latin typeface="Times New Roman" panose="02020603050405020304" pitchFamily="18" charset="0"/>
                <a:ea typeface="ＭＳ Ｐゴシック" panose="020B0600070205080204" pitchFamily="34" charset="-128"/>
              </a:rPr>
              <a:t>Time Table:</a:t>
            </a:r>
          </a:p>
          <a:p>
            <a:pPr marL="246063" indent="-246063" eaLnBrk="1" hangingPunct="1">
              <a:spcBef>
                <a:spcPct val="0"/>
              </a:spcBef>
            </a:pPr>
            <a:endParaRPr lang="en-US" altLang="zh-TW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marL="246063" indent="-246063" eaLnBrk="1" hangingPunct="1">
              <a:spcBef>
                <a:spcPct val="0"/>
              </a:spcBef>
              <a:buFontTx/>
              <a:buAutoNum type="arabicPeriod"/>
            </a:pPr>
            <a:r>
              <a:rPr lang="en-US" altLang="zh-TW">
                <a:latin typeface="Times New Roman" panose="02020603050405020304" pitchFamily="18" charset="0"/>
                <a:ea typeface="ＭＳ Ｐゴシック" panose="020B0600070205080204" pitchFamily="34" charset="-128"/>
              </a:rPr>
              <a:t>Slide 1 to 6 5min</a:t>
            </a:r>
          </a:p>
          <a:p>
            <a:pPr marL="246063" indent="-246063" eaLnBrk="1" hangingPunct="1">
              <a:spcBef>
                <a:spcPct val="0"/>
              </a:spcBef>
              <a:buFontTx/>
              <a:buAutoNum type="arabicPeriod"/>
            </a:pPr>
            <a:r>
              <a:rPr lang="en-US" altLang="zh-TW">
                <a:latin typeface="Times New Roman" panose="02020603050405020304" pitchFamily="18" charset="0"/>
                <a:ea typeface="ＭＳ Ｐゴシック" panose="020B0600070205080204" pitchFamily="34" charset="-128"/>
              </a:rPr>
              <a:t>Slide 7-9 4min</a:t>
            </a:r>
          </a:p>
          <a:p>
            <a:pPr marL="246063" indent="-246063" eaLnBrk="1" hangingPunct="1">
              <a:spcBef>
                <a:spcPct val="0"/>
              </a:spcBef>
              <a:buFontTx/>
              <a:buAutoNum type="arabicPeriod"/>
            </a:pPr>
            <a:r>
              <a:rPr lang="en-US" altLang="zh-TW">
                <a:latin typeface="Times New Roman" panose="02020603050405020304" pitchFamily="18" charset="0"/>
                <a:ea typeface="ＭＳ Ｐゴシック" panose="020B0600070205080204" pitchFamily="34" charset="-128"/>
              </a:rPr>
              <a:t>Slide 10-12 5min</a:t>
            </a:r>
          </a:p>
          <a:p>
            <a:pPr marL="246063" indent="-246063" eaLnBrk="1" hangingPunct="1">
              <a:spcBef>
                <a:spcPct val="0"/>
              </a:spcBef>
              <a:buFontTx/>
              <a:buAutoNum type="arabicPeriod"/>
            </a:pPr>
            <a:r>
              <a:rPr lang="en-US" altLang="zh-TW">
                <a:latin typeface="Times New Roman" panose="02020603050405020304" pitchFamily="18" charset="0"/>
                <a:ea typeface="ＭＳ Ｐゴシック" panose="020B0600070205080204" pitchFamily="34" charset="-128"/>
              </a:rPr>
              <a:t>Slide 13 1min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41086088" indent="-405923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E30281A-02FB-4AE7-89D2-78367A514CE1}" type="slidenum">
              <a:rPr lang="en-US" altLang="zh-TW" sz="1300" smtClean="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pPr>
                <a:spcBef>
                  <a:spcPct val="0"/>
                </a:spcBef>
              </a:pPr>
              <a:t>1</a:t>
            </a:fld>
            <a:endParaRPr lang="en-US" altLang="zh-TW" sz="130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93112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41086088" indent="-405923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5DDA088-1672-49C0-BA77-EB437F404150}" type="slidenum">
              <a:rPr lang="en-US" altLang="en-US" sz="1300" smtClean="0"/>
              <a:pPr>
                <a:spcBef>
                  <a:spcPct val="0"/>
                </a:spcBef>
              </a:pPr>
              <a:t>10</a:t>
            </a:fld>
            <a:endParaRPr lang="en-US" altLang="en-US" sz="1300"/>
          </a:p>
        </p:txBody>
      </p:sp>
      <p:sp>
        <p:nvSpPr>
          <p:cNvPr id="99331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9463" y="768350"/>
            <a:ext cx="5540375" cy="3836988"/>
          </a:xfrm>
          <a:ln/>
        </p:spPr>
      </p:sp>
      <p:sp>
        <p:nvSpPr>
          <p:cNvPr id="99332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ts val="488"/>
              </a:spcBef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</a:pP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05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3267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04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2" y="1447800"/>
            <a:ext cx="3924300" cy="4800600"/>
          </a:xfr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447800"/>
            <a:ext cx="3924300" cy="4800600"/>
          </a:xfr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08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/>
          <p:cNvSpPr>
            <a:spLocks noChangeArrowheads="1"/>
          </p:cNvSpPr>
          <p:nvPr/>
        </p:nvSpPr>
        <p:spPr bwMode="auto">
          <a:xfrm>
            <a:off x="660400" y="1219200"/>
            <a:ext cx="85852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8575" cap="flat" cmpd="sng">
            <a:solidFill>
              <a:srgbClr val="0000FF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TW" altLang="en-US" sz="2400"/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>
            <a:off x="2146301" y="3962400"/>
            <a:ext cx="705458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2400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1" y="1524000"/>
            <a:ext cx="8258440" cy="1752600"/>
          </a:xfrm>
        </p:spPr>
        <p:txBody>
          <a:bodyPr/>
          <a:lstStyle>
            <a:lvl1pPr>
              <a:defRPr sz="4050" b="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46300" y="4166684"/>
            <a:ext cx="70993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3384550" y="6243638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594600" y="6370638"/>
            <a:ext cx="23114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52C44808-516D-491F-8EAD-84D2F2B0C83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11586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074"/>
          <p:cNvSpPr>
            <a:spLocks noGrp="1" noChangeArrowheads="1"/>
          </p:cNvSpPr>
          <p:nvPr>
            <p:ph type="title"/>
          </p:nvPr>
        </p:nvSpPr>
        <p:spPr bwMode="auto"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7" name="Line 3075"/>
          <p:cNvSpPr>
            <a:spLocks noChangeShapeType="1"/>
          </p:cNvSpPr>
          <p:nvPr/>
        </p:nvSpPr>
        <p:spPr bwMode="auto">
          <a:xfrm>
            <a:off x="412750" y="533400"/>
            <a:ext cx="8997950" cy="0"/>
          </a:xfrm>
          <a:prstGeom prst="line">
            <a:avLst/>
          </a:prstGeom>
          <a:noFill/>
          <a:ln w="38100" cmpd="thickThin">
            <a:solidFill>
              <a:schemeClr val="accent4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TW" altLang="en-US" sz="2215"/>
          </a:p>
        </p:txBody>
      </p:sp>
      <p:sp>
        <p:nvSpPr>
          <p:cNvPr id="1028" name="Line 3076"/>
          <p:cNvSpPr>
            <a:spLocks noChangeShapeType="1"/>
          </p:cNvSpPr>
          <p:nvPr/>
        </p:nvSpPr>
        <p:spPr bwMode="auto">
          <a:xfrm flipH="1">
            <a:off x="577850" y="228600"/>
            <a:ext cx="0" cy="990600"/>
          </a:xfrm>
          <a:prstGeom prst="line">
            <a:avLst/>
          </a:prstGeom>
          <a:noFill/>
          <a:ln w="25400">
            <a:solidFill>
              <a:schemeClr val="accent4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TW" altLang="en-US" sz="2215"/>
          </a:p>
        </p:txBody>
      </p:sp>
      <p:sp>
        <p:nvSpPr>
          <p:cNvPr id="1029" name="Line 3077"/>
          <p:cNvSpPr>
            <a:spLocks noChangeShapeType="1"/>
          </p:cNvSpPr>
          <p:nvPr/>
        </p:nvSpPr>
        <p:spPr bwMode="auto">
          <a:xfrm flipV="1">
            <a:off x="495300" y="6400800"/>
            <a:ext cx="8915400" cy="0"/>
          </a:xfrm>
          <a:prstGeom prst="line">
            <a:avLst/>
          </a:prstGeom>
          <a:noFill/>
          <a:ln w="38100" cmpd="thickThin">
            <a:solidFill>
              <a:schemeClr val="accent4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TW" altLang="en-US" sz="2215"/>
          </a:p>
        </p:txBody>
      </p:sp>
      <p:sp>
        <p:nvSpPr>
          <p:cNvPr id="1030" name="Rectangle 308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  <a:endParaRPr lang="en-US" altLang="zh-TW"/>
          </a:p>
          <a:p>
            <a:pPr lvl="1"/>
            <a:r>
              <a:rPr lang="zh-TW" altLang="en-US"/>
              <a:t>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</p:txBody>
      </p:sp>
      <p:sp>
        <p:nvSpPr>
          <p:cNvPr id="1031" name="Text Box 10"/>
          <p:cNvSpPr txBox="1">
            <a:spLocks noChangeArrowheads="1"/>
          </p:cNvSpPr>
          <p:nvPr userDrawn="1"/>
        </p:nvSpPr>
        <p:spPr bwMode="auto">
          <a:xfrm>
            <a:off x="7159625" y="6508750"/>
            <a:ext cx="8175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r" eaLnBrk="1" hangingPunct="1"/>
            <a:fld id="{E7346DC2-7719-4AA5-A33E-51FE0027969F}" type="slidenum">
              <a:rPr lang="en-US" altLang="zh-TW" sz="1200"/>
              <a:pPr algn="r" eaLnBrk="1" hangingPunct="1"/>
              <a:t>‹#›</a:t>
            </a:fld>
            <a:endParaRPr lang="en-US" altLang="zh-TW" sz="1200"/>
          </a:p>
        </p:txBody>
      </p:sp>
      <p:pic>
        <p:nvPicPr>
          <p:cNvPr id="1033" name="圖片 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圖片 4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75" y="116465"/>
            <a:ext cx="733425" cy="3746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圖片 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6424613"/>
            <a:ext cx="1971675" cy="41116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8"/>
          <p:cNvSpPr txBox="1">
            <a:spLocks noChangeArrowheads="1"/>
          </p:cNvSpPr>
          <p:nvPr userDrawn="1"/>
        </p:nvSpPr>
        <p:spPr bwMode="auto">
          <a:xfrm>
            <a:off x="6105128" y="109091"/>
            <a:ext cx="3777060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1662" b="1" baseline="0" dirty="0">
                <a:solidFill>
                  <a:srgbClr val="3333FF"/>
                </a:solidFill>
                <a:latin typeface="Calibri" panose="020F0502020204030204" pitchFamily="34" charset="0"/>
              </a:rPr>
              <a:t>Digital Circuit Design and Analysis</a:t>
            </a:r>
            <a:r>
              <a:rPr lang="en-US" altLang="zh-TW" sz="1662" baseline="0" dirty="0">
                <a:solidFill>
                  <a:srgbClr val="3333FF"/>
                </a:solidFill>
                <a:latin typeface="Calibri" panose="020F0502020204030204" pitchFamily="34" charset="0"/>
              </a:rPr>
              <a:t> 115-1</a:t>
            </a:r>
            <a:endParaRPr lang="en-US" altLang="zh-TW" sz="1662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45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9" r:id="rId1"/>
    <p:sldLayoutId id="2147484550" r:id="rId2"/>
    <p:sldLayoutId id="2147484551" r:id="rId3"/>
    <p:sldLayoutId id="2147484552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200">
          <a:solidFill>
            <a:schemeClr val="accent2"/>
          </a:solidFill>
          <a:latin typeface="+mn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200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200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200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200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5pPr>
      <a:lvl6pPr marL="422041" algn="l" rtl="0" fontAlgn="base">
        <a:spcBef>
          <a:spcPct val="0"/>
        </a:spcBef>
        <a:spcAft>
          <a:spcPct val="0"/>
        </a:spcAft>
        <a:defRPr kumimoji="1" sz="2954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6pPr>
      <a:lvl7pPr marL="844083" algn="l" rtl="0" fontAlgn="base">
        <a:spcBef>
          <a:spcPct val="0"/>
        </a:spcBef>
        <a:spcAft>
          <a:spcPct val="0"/>
        </a:spcAft>
        <a:defRPr kumimoji="1" sz="2954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7pPr>
      <a:lvl8pPr marL="1266124" algn="l" rtl="0" fontAlgn="base">
        <a:spcBef>
          <a:spcPct val="0"/>
        </a:spcBef>
        <a:spcAft>
          <a:spcPct val="0"/>
        </a:spcAft>
        <a:defRPr kumimoji="1" sz="2954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8pPr>
      <a:lvl9pPr marL="1688165" algn="l" rtl="0" fontAlgn="base">
        <a:spcBef>
          <a:spcPct val="0"/>
        </a:spcBef>
        <a:spcAft>
          <a:spcPct val="0"/>
        </a:spcAft>
        <a:defRPr kumimoji="1" sz="2954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9pPr>
    </p:titleStyle>
    <p:bodyStyle>
      <a:lvl1pPr marL="315913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v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63525" algn="l" rtl="0" eaLnBrk="0" fontAlgn="base" hangingPunct="0">
        <a:spcBef>
          <a:spcPct val="20000"/>
        </a:spcBef>
        <a:spcAft>
          <a:spcPct val="0"/>
        </a:spcAft>
        <a:buClr>
          <a:srgbClr val="FF5050"/>
        </a:buClr>
        <a:buFont typeface="Wingdings" panose="05000000000000000000" pitchFamily="2" charset="2"/>
        <a:buChar char="§"/>
        <a:defRPr kumimoji="1" sz="2200">
          <a:solidFill>
            <a:schemeClr val="tx1"/>
          </a:solidFill>
          <a:latin typeface="+mn-lt"/>
          <a:ea typeface="+mn-ea"/>
          <a:cs typeface="+mn-cs"/>
        </a:defRPr>
      </a:lvl2pPr>
      <a:lvl3pPr marL="1054100" indent="-209550" algn="l" rtl="0" eaLnBrk="0" fontAlgn="base" hangingPunct="0">
        <a:spcBef>
          <a:spcPct val="20000"/>
        </a:spcBef>
        <a:spcAft>
          <a:spcPct val="0"/>
        </a:spcAft>
        <a:buClr>
          <a:srgbClr val="6699FF"/>
        </a:buClr>
        <a:buChar char="•"/>
        <a:defRPr kumimoji="1">
          <a:solidFill>
            <a:schemeClr val="tx1"/>
          </a:solidFill>
          <a:latin typeface="+mn-lt"/>
          <a:ea typeface="+mn-ea"/>
          <a:cs typeface="+mn-cs"/>
        </a:defRPr>
      </a:lvl3pPr>
      <a:lvl4pPr marL="1476375" indent="-209550" algn="l" rtl="0" eaLnBrk="0" fontAlgn="base" hangingPunct="0">
        <a:spcBef>
          <a:spcPct val="20000"/>
        </a:spcBef>
        <a:spcAft>
          <a:spcPct val="0"/>
        </a:spcAft>
        <a:buClr>
          <a:srgbClr val="FF5050"/>
        </a:buClr>
        <a:buChar char="o"/>
        <a:defRPr kumimoji="1">
          <a:solidFill>
            <a:schemeClr val="tx1"/>
          </a:solidFill>
          <a:latin typeface="+mn-lt"/>
          <a:ea typeface="+mn-ea"/>
          <a:cs typeface="+mn-cs"/>
        </a:defRPr>
      </a:lvl4pPr>
      <a:lvl5pPr marL="1898650" indent="-209550" algn="l" rtl="0" eaLnBrk="0" fontAlgn="base" hangingPunct="0">
        <a:spcBef>
          <a:spcPct val="20000"/>
        </a:spcBef>
        <a:spcAft>
          <a:spcPct val="0"/>
        </a:spcAft>
        <a:buClr>
          <a:srgbClr val="FF5050"/>
        </a:buClr>
        <a:buChar char="o"/>
        <a:defRPr kumimoji="1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rtl="0" fontAlgn="base">
        <a:spcBef>
          <a:spcPct val="20000"/>
        </a:spcBef>
        <a:spcAft>
          <a:spcPct val="0"/>
        </a:spcAft>
        <a:buClr>
          <a:srgbClr val="FF5050"/>
        </a:buClr>
        <a:buChar char="o"/>
        <a:defRPr kumimoji="1" sz="1846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rtl="0" fontAlgn="base">
        <a:spcBef>
          <a:spcPct val="20000"/>
        </a:spcBef>
        <a:spcAft>
          <a:spcPct val="0"/>
        </a:spcAft>
        <a:buClr>
          <a:srgbClr val="FF5050"/>
        </a:buClr>
        <a:buChar char="o"/>
        <a:defRPr kumimoji="1" sz="1846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rtl="0" fontAlgn="base">
        <a:spcBef>
          <a:spcPct val="20000"/>
        </a:spcBef>
        <a:spcAft>
          <a:spcPct val="0"/>
        </a:spcAft>
        <a:buClr>
          <a:srgbClr val="FF5050"/>
        </a:buClr>
        <a:buChar char="o"/>
        <a:defRPr kumimoji="1" sz="1846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rtl="0" fontAlgn="base">
        <a:spcBef>
          <a:spcPct val="20000"/>
        </a:spcBef>
        <a:spcAft>
          <a:spcPct val="0"/>
        </a:spcAft>
        <a:buClr>
          <a:srgbClr val="FF5050"/>
        </a:buClr>
        <a:buChar char="o"/>
        <a:defRPr kumimoji="1" sz="1846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M11302121@mail.ntust.edu.tw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140.118.115.82:5000/sharing/HAMG36f6m" TargetMode="External"/><Relationship Id="rId7" Type="http://schemas.openxmlformats.org/officeDocument/2006/relationships/image" Target="../media/image7.png"/><Relationship Id="rId2" Type="http://schemas.openxmlformats.org/officeDocument/2006/relationships/hyperlink" Target="https://mailntustedutw-my.sharepoint.com/:x:/g/personal/m11402117_ms_ntust_edu_tw/IQCk5QrsdX08SYFewuXM-VqhAZZMNjfsDvHYSI71CpTTnIk?e=MO7SJj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://140.118.115.82:5000/sharing/i5i37ifVB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ChangeArrowheads="1"/>
          </p:cNvSpPr>
          <p:nvPr/>
        </p:nvSpPr>
        <p:spPr bwMode="auto">
          <a:xfrm>
            <a:off x="776536" y="1628800"/>
            <a:ext cx="8856984" cy="1262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685800" indent="-263525">
              <a:spcBef>
                <a:spcPct val="20000"/>
              </a:spcBef>
              <a:buClr>
                <a:srgbClr val="FF5050"/>
              </a:buClr>
              <a:buFont typeface="Wingdings" panose="05000000000000000000" pitchFamily="2" charset="2"/>
              <a:buChar char="§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054100" indent="-209550">
              <a:spcBef>
                <a:spcPct val="20000"/>
              </a:spcBef>
              <a:buClr>
                <a:srgbClr val="6699FF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476375" indent="-209550">
              <a:spcBef>
                <a:spcPct val="20000"/>
              </a:spcBef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1898650" indent="-209550">
              <a:spcBef>
                <a:spcPct val="20000"/>
              </a:spcBef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3558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8130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2702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7274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50000"/>
              </a:lnSpc>
              <a:buNone/>
            </a:pPr>
            <a:r>
              <a:rPr lang="en-US" altLang="zh-TW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Digital</a:t>
            </a:r>
            <a:r>
              <a:rPr lang="zh-TW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US" altLang="zh-TW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Circuit Design and Analysis</a:t>
            </a:r>
          </a:p>
          <a:p>
            <a:pPr algn="ctr">
              <a:lnSpc>
                <a:spcPct val="150000"/>
              </a:lnSpc>
              <a:buNone/>
            </a:pPr>
            <a:r>
              <a:rPr lang="en-US" altLang="zh-TW" sz="2400" dirty="0">
                <a:latin typeface="Arial Black" panose="020B0A04020102020204" pitchFamily="34" charset="0"/>
                <a:ea typeface="華康中楷體" pitchFamily="49" charset="-120"/>
                <a:cs typeface="Calibri" pitchFamily="34" charset="0"/>
              </a:rPr>
              <a:t>115-1</a:t>
            </a:r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1892820" y="4509120"/>
            <a:ext cx="6859588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685800" indent="-263525">
              <a:spcBef>
                <a:spcPct val="20000"/>
              </a:spcBef>
              <a:buClr>
                <a:srgbClr val="FF5050"/>
              </a:buClr>
              <a:buFont typeface="Wingdings" panose="05000000000000000000" pitchFamily="2" charset="2"/>
              <a:buChar char="§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054100" indent="-209550">
              <a:spcBef>
                <a:spcPct val="20000"/>
              </a:spcBef>
              <a:buClr>
                <a:srgbClr val="6699FF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476375" indent="-209550">
              <a:spcBef>
                <a:spcPct val="20000"/>
              </a:spcBef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1898650" indent="-209550">
              <a:spcBef>
                <a:spcPct val="20000"/>
              </a:spcBef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3558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8130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2702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7274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latin typeface="Calibri" panose="020F0502020204030204" pitchFamily="34" charset="0"/>
                <a:ea typeface="華康中楷體" pitchFamily="49" charset="-120"/>
                <a:cs typeface="Calibri" panose="020F0502020204030204" pitchFamily="34" charset="0"/>
              </a:rPr>
              <a:t>Chung-An Shen(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Calibri" panose="020F0502020204030204" pitchFamily="34" charset="0"/>
              </a:rPr>
              <a:t>沈中安</a:t>
            </a:r>
            <a:r>
              <a:rPr lang="en-US" altLang="zh-TW" sz="2400" dirty="0">
                <a:latin typeface="Calibri" panose="020F0502020204030204" pitchFamily="34" charset="0"/>
                <a:ea typeface="華康中楷體" pitchFamily="49" charset="-120"/>
                <a:cs typeface="Calibri" panose="020F0502020204030204" pitchFamily="34" charset="0"/>
              </a:rPr>
              <a:t>)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3333FF"/>
                </a:solidFill>
                <a:latin typeface="Calibri" panose="020F0502020204030204" pitchFamily="34" charset="0"/>
                <a:ea typeface="華康中楷體" pitchFamily="49" charset="-120"/>
                <a:cs typeface="Calibri" panose="020F0502020204030204" pitchFamily="34" charset="0"/>
              </a:rPr>
              <a:t>Department of Electronic and Computer Engineering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3333FF"/>
                </a:solidFill>
                <a:latin typeface="Calibri" panose="020F0502020204030204" pitchFamily="34" charset="0"/>
                <a:ea typeface="華康中楷體" pitchFamily="49" charset="-120"/>
                <a:cs typeface="Calibri" panose="020F0502020204030204" pitchFamily="34" charset="0"/>
              </a:rPr>
              <a:t>National Taiwan University of Science and Technology</a:t>
            </a:r>
          </a:p>
        </p:txBody>
      </p:sp>
      <p:sp>
        <p:nvSpPr>
          <p:cNvPr id="3" name="矩形 2"/>
          <p:cNvSpPr/>
          <p:nvPr/>
        </p:nvSpPr>
        <p:spPr>
          <a:xfrm>
            <a:off x="4403366" y="3267475"/>
            <a:ext cx="16033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kern="0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新細明體"/>
              </a:rPr>
              <a:t>Syllabus</a:t>
            </a:r>
            <a:endParaRPr lang="zh-TW" altLang="en-US" dirty="0"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910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</a:rPr>
              <a:t>Course Administrations </a:t>
            </a:r>
            <a:endParaRPr lang="zh-TW" altLang="en-US" sz="28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560388" y="1341438"/>
            <a:ext cx="9072562" cy="4967287"/>
          </a:xfrm>
        </p:spPr>
        <p:txBody>
          <a:bodyPr/>
          <a:lstStyle/>
          <a:p>
            <a:pPr eaLnBrk="1" hangingPunct="1">
              <a:lnSpc>
                <a:spcPts val="2400"/>
              </a:lnSpc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Time/Venue:	Friday 1:20 AM – 4:20PM @ IB 602-2</a:t>
            </a:r>
          </a:p>
          <a:p>
            <a:pPr marL="422275" lvl="1" indent="0" eaLnBrk="1" hangingPunct="1">
              <a:lnSpc>
                <a:spcPts val="2400"/>
              </a:lnSpc>
              <a:buNone/>
            </a:pPr>
            <a:r>
              <a:rPr lang="en-US" altLang="zh-TW" sz="1300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</a:p>
          <a:p>
            <a:pPr eaLnBrk="1" hangingPunct="1">
              <a:lnSpc>
                <a:spcPts val="2400"/>
              </a:lnSpc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Instructor:	Chung-An Shen (</a:t>
            </a:r>
            <a:r>
              <a:rPr lang="zh-TW" altLang="en-US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沈中安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), Professor</a:t>
            </a:r>
          </a:p>
          <a:p>
            <a:pPr>
              <a:lnSpc>
                <a:spcPts val="2400"/>
              </a:lnSpc>
              <a:buFont typeface="Wingdings" panose="05000000000000000000" pitchFamily="2" charset="2"/>
              <a:buNone/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			Department of Electronic and Computer Engineering, NTUST	</a:t>
            </a:r>
          </a:p>
          <a:p>
            <a:pPr>
              <a:lnSpc>
                <a:spcPts val="2400"/>
              </a:lnSpc>
              <a:buFont typeface="Wingdings" panose="05000000000000000000" pitchFamily="2" charset="2"/>
              <a:buNone/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altLang="zh-TW" sz="1600" b="1" dirty="0"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TW" sz="1600" u="sng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cashen@mail.ntust.edu.tw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 ; </a:t>
            </a:r>
            <a:r>
              <a:rPr lang="en-US" altLang="zh-TW" sz="1600" b="1" dirty="0">
                <a:latin typeface="Arial" panose="020B0604020202020204" pitchFamily="34" charset="0"/>
                <a:cs typeface="Arial" panose="020B0604020202020204" pitchFamily="34" charset="0"/>
              </a:rPr>
              <a:t>office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: IB 714-1</a:t>
            </a:r>
          </a:p>
          <a:p>
            <a:pPr>
              <a:lnSpc>
                <a:spcPts val="2400"/>
              </a:lnSpc>
              <a:buFont typeface="Wingdings" panose="05000000000000000000" pitchFamily="2" charset="2"/>
              <a:buNone/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altLang="zh-TW" sz="1600" b="1" dirty="0">
                <a:latin typeface="Arial" panose="020B0604020202020204" pitchFamily="34" charset="0"/>
                <a:cs typeface="Arial" panose="020B0604020202020204" pitchFamily="34" charset="0"/>
              </a:rPr>
              <a:t>office hours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:  8:30AM-10:10AM, Tuesday or appoint via email</a:t>
            </a:r>
          </a:p>
          <a:p>
            <a:pPr marL="315913" marR="0" lvl="0" indent="-315913" algn="l" defTabSz="914400" rtl="0" eaLnBrk="1" fontAlgn="base" latinLnBrk="0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/>
                <a:cs typeface="Arial" panose="020B0604020202020204" pitchFamily="34" charset="0"/>
              </a:rPr>
              <a:t>TA:		</a:t>
            </a:r>
            <a:r>
              <a:rPr kumimoji="1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李威辳</a:t>
            </a:r>
            <a:r>
              <a:rPr kumimoji="1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/>
                <a:cs typeface="Arial" panose="020B0604020202020204" pitchFamily="34" charset="0"/>
              </a:rPr>
              <a:t> </a:t>
            </a:r>
            <a:r>
              <a:rPr kumimoji="1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新細明體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M11402117@mail.ntust.edu.tw</a:t>
            </a:r>
            <a:endParaRPr kumimoji="1" lang="en-US" altLang="zh-TW" sz="1600" b="1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Arial" panose="020B0604020202020204" pitchFamily="34" charset="0"/>
              <a:ea typeface="新細明體"/>
              <a:cs typeface="Arial" panose="020B0604020202020204" pitchFamily="34" charset="0"/>
            </a:endParaRPr>
          </a:p>
          <a:p>
            <a:pPr eaLnBrk="1" hangingPunct="1">
              <a:lnSpc>
                <a:spcPts val="2400"/>
              </a:lnSpc>
            </a:pPr>
            <a:endParaRPr lang="en-US" altLang="zh-TW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200000"/>
              </a:lnSpc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Grading :	Test</a:t>
            </a:r>
            <a:r>
              <a:rPr lang="zh-TW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TW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9/18/2026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TW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10%</a:t>
            </a:r>
          </a:p>
          <a:p>
            <a:pPr marL="0" indent="0" eaLnBrk="1" hangingPunct="1">
              <a:lnSpc>
                <a:spcPct val="200000"/>
              </a:lnSpc>
              <a:buNone/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		Project 1 (Due </a:t>
            </a:r>
            <a:r>
              <a:rPr lang="en-US" altLang="zh-TW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10/16/2026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): 	  	                                             25%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			Project 2 (Due </a:t>
            </a:r>
            <a:r>
              <a:rPr lang="en-US" altLang="zh-TW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11/20/2026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):			                             35%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Final Project (Due </a:t>
            </a:r>
            <a:r>
              <a:rPr lang="en-US" altLang="zh-TW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12/25/2026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):                                                            40%</a:t>
            </a:r>
          </a:p>
        </p:txBody>
      </p:sp>
    </p:spTree>
    <p:extLst>
      <p:ext uri="{BB962C8B-B14F-4D97-AF65-F5344CB8AC3E}">
        <p14:creationId xmlns:p14="http://schemas.microsoft.com/office/powerpoint/2010/main" val="3855481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lang="zh-TW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TW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</a:rPr>
              <a:t>and Project</a:t>
            </a:r>
            <a:r>
              <a:rPr lang="zh-TW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TW" altLang="en-US" sz="2800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488504" y="1196752"/>
            <a:ext cx="9345612" cy="5112568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Two Students per Group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The Contest of Digital IC Design and Implementation (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教育部積體電路設計競賽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You need to have the EDA environment setup to work on the projects.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sz="1800" b="1" dirty="0">
                <a:solidFill>
                  <a:srgbClr val="3333FF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Project 1</a:t>
            </a:r>
            <a:r>
              <a:rPr lang="en-US" altLang="zh-TW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: Post-synthesis results.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sz="1800" b="1" dirty="0">
                <a:solidFill>
                  <a:srgbClr val="3333FF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Project 2</a:t>
            </a:r>
            <a:r>
              <a:rPr lang="en-US" altLang="zh-TW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: Post-layout results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14473F9-0645-470C-9E3D-801D6DB67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941136"/>
              </p:ext>
            </p:extLst>
          </p:nvPr>
        </p:nvGraphicFramePr>
        <p:xfrm>
          <a:off x="931094" y="3861048"/>
          <a:ext cx="820891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5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2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Grading Policy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Score</a:t>
                      </a:r>
                      <a:r>
                        <a:rPr lang="en-US" altLang="zh-TW" baseline="0" dirty="0">
                          <a:solidFill>
                            <a:schemeClr val="tx1"/>
                          </a:solidFill>
                        </a:rPr>
                        <a:t> (out of 100)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Top 1</a:t>
                      </a:r>
                      <a:r>
                        <a:rPr lang="en-US" altLang="zh-TW" baseline="30000" dirty="0">
                          <a:solidFill>
                            <a:schemeClr val="tx1"/>
                          </a:solidFill>
                        </a:rPr>
                        <a:t>st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 place of Performance Metric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A+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22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Top 2</a:t>
                      </a:r>
                      <a:r>
                        <a:rPr lang="en-US" altLang="zh-TW" baseline="30000" dirty="0">
                          <a:solidFill>
                            <a:schemeClr val="tx1"/>
                          </a:solidFill>
                        </a:rPr>
                        <a:t>nd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 ~ 3</a:t>
                      </a:r>
                      <a:r>
                        <a:rPr lang="en-US" altLang="zh-TW" baseline="30000" dirty="0">
                          <a:solidFill>
                            <a:schemeClr val="tx1"/>
                          </a:solidFill>
                        </a:rPr>
                        <a:t>rd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 place of Performance Metric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22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22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Top 4</a:t>
                      </a:r>
                      <a:r>
                        <a:rPr lang="en-US" altLang="zh-TW" baseline="30000" dirty="0">
                          <a:solidFill>
                            <a:schemeClr val="tx1"/>
                          </a:solidFill>
                        </a:rPr>
                        <a:t>th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  ~ 5</a:t>
                      </a:r>
                      <a:r>
                        <a:rPr lang="en-US" altLang="zh-TW" baseline="30000" dirty="0">
                          <a:solidFill>
                            <a:schemeClr val="tx1"/>
                          </a:solidFill>
                        </a:rPr>
                        <a:t>th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 place of Performance Metric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22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A- (82)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22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Others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22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B+ (78)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or below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422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rgbClr val="FF0000"/>
                          </a:solidFill>
                        </a:rPr>
                        <a:t>Performance Metric = Time Complexity </a:t>
                      </a:r>
                      <a:r>
                        <a:rPr lang="en-US" altLang="zh-TW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 Area Complexity</a:t>
                      </a:r>
                      <a:r>
                        <a:rPr lang="en-US" altLang="zh-TW" sz="1800" dirty="0">
                          <a:solidFill>
                            <a:srgbClr val="FF0000"/>
                          </a:solidFill>
                        </a:rPr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422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033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</a:rPr>
              <a:t>Final Project</a:t>
            </a:r>
            <a:endParaRPr lang="zh-TW" altLang="en-US" sz="2800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488504" y="1196752"/>
            <a:ext cx="9345612" cy="5112568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Two Students per Group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Pick your own topic and performance target.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zh-TW" sz="20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High throughput, low latency, low complexity, low power, or others.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TW" sz="20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You need to design and implementation the circuit, as well as clearly illustrate the approaches you use to achieve your performance target.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TW" sz="20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Post-layout results </a:t>
            </a:r>
            <a:r>
              <a:rPr lang="en-US" altLang="zh-TW" sz="2000" dirty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+</a:t>
            </a:r>
            <a:r>
              <a:rPr lang="en-US" altLang="zh-TW" sz="20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“tape-out ready” </a:t>
            </a:r>
            <a:r>
              <a:rPr lang="en-US" altLang="zh-TW" sz="2000" dirty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+</a:t>
            </a:r>
            <a:r>
              <a:rPr lang="en-US" altLang="zh-TW" sz="20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Performance improvement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TW" sz="20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You need to have the EDA environment to work on the projects.</a:t>
            </a:r>
          </a:p>
        </p:txBody>
      </p:sp>
    </p:spTree>
    <p:extLst>
      <p:ext uri="{BB962C8B-B14F-4D97-AF65-F5344CB8AC3E}">
        <p14:creationId xmlns:p14="http://schemas.microsoft.com/office/powerpoint/2010/main" val="60438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</a:rPr>
              <a:t>Projects</a:t>
            </a:r>
            <a:r>
              <a:rPr lang="zh-TW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endParaRPr lang="zh-TW" altLang="en-US" sz="2800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488504" y="1196752"/>
            <a:ext cx="9345612" cy="5112568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TW" sz="18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TSRI </a:t>
            </a:r>
            <a:r>
              <a:rPr lang="en-US" altLang="zh-TW" sz="1800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(65 nm)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71EE365-B052-3720-040B-E14A88DBE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4698"/>
            <a:ext cx="9906000" cy="180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874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</a:rPr>
              <a:t>Upload File of Project I</a:t>
            </a:r>
            <a:endParaRPr lang="zh-TW" altLang="en-US" sz="2800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488504" y="1196752"/>
            <a:ext cx="9345612" cy="5112568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TW" sz="1800" b="1" dirty="0">
                <a:latin typeface="Arial" panose="020B0604020202020204" pitchFamily="34" charset="0"/>
                <a:cs typeface="Arial" panose="020B0604020202020204" pitchFamily="34" charset="0"/>
              </a:rPr>
              <a:t>Group list:          </a:t>
            </a:r>
            <a:r>
              <a:rPr lang="en-US" altLang="zh-TW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Group_list.xlsx</a:t>
            </a:r>
            <a:endParaRPr lang="en-US" altLang="zh-TW" sz="1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TW" sz="1800" b="1" dirty="0">
                <a:latin typeface="Arial" panose="020B0604020202020204" pitchFamily="34" charset="0"/>
                <a:cs typeface="Arial" panose="020B0604020202020204" pitchFamily="34" charset="0"/>
              </a:rPr>
              <a:t>Upload URL:      </a:t>
            </a:r>
            <a:r>
              <a:rPr lang="en-US" altLang="zh-TW" sz="18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Upload_your_design_Project1</a:t>
            </a:r>
            <a:endParaRPr lang="en-US" altLang="zh-TW" sz="1800" b="1" dirty="0">
              <a:solidFill>
                <a:srgbClr val="FF33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TW" sz="1800" b="1" dirty="0">
                <a:latin typeface="Arial" panose="020B0604020202020204" pitchFamily="34" charset="0"/>
                <a:cs typeface="Arial" panose="020B0604020202020204" pitchFamily="34" charset="0"/>
              </a:rPr>
              <a:t>Upload URL:      </a:t>
            </a:r>
            <a:r>
              <a:rPr lang="en-US" altLang="zh-TW" sz="18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Upload_your_design_Project2</a:t>
            </a:r>
            <a:endParaRPr lang="en-US" altLang="zh-TW" sz="1800" b="1" dirty="0">
              <a:solidFill>
                <a:srgbClr val="FF33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Upload</a:t>
            </a:r>
            <a:r>
              <a:rPr lang="zh-TW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file:          group_xx.tar or .tar.gz or .zip</a:t>
            </a:r>
          </a:p>
        </p:txBody>
      </p:sp>
      <p:sp>
        <p:nvSpPr>
          <p:cNvPr id="4" name="語音泡泡: 矩形 3">
            <a:extLst>
              <a:ext uri="{FF2B5EF4-FFF2-40B4-BE49-F238E27FC236}">
                <a16:creationId xmlns:a16="http://schemas.microsoft.com/office/drawing/2014/main" id="{7501D001-7EF0-0378-5238-855E1AD6FF5F}"/>
              </a:ext>
            </a:extLst>
          </p:cNvPr>
          <p:cNvSpPr/>
          <p:nvPr/>
        </p:nvSpPr>
        <p:spPr bwMode="auto">
          <a:xfrm>
            <a:off x="6681192" y="1734359"/>
            <a:ext cx="2952328" cy="301778"/>
          </a:xfrm>
          <a:prstGeom prst="wedgeRectCallout">
            <a:avLst>
              <a:gd name="adj1" fmla="val -72924"/>
              <a:gd name="adj2" fmla="val 29341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600" dirty="0">
                <a:solidFill>
                  <a:srgbClr val="FF0000"/>
                </a:solidFill>
                <a:latin typeface="Arial" panose="020B0604020202020204" pitchFamily="34" charset="0"/>
                <a:ea typeface="新細明體" charset="-120"/>
                <a:cs typeface="Arial" panose="020B0604020202020204" pitchFamily="34" charset="0"/>
              </a:rPr>
              <a:t>U</a:t>
            </a:r>
            <a:r>
              <a:rPr kumimoji="1" lang="en-US" altLang="zh-TW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新細明體" charset="-120"/>
                <a:cs typeface="Arial" panose="020B0604020202020204" pitchFamily="34" charset="0"/>
              </a:rPr>
              <a:t>pload your Project I !</a:t>
            </a:r>
            <a:r>
              <a:rPr kumimoji="1" lang="zh-TW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新細明體" charset="-12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74BA4C2-F652-54A2-B226-8FC58481E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488" y="3158162"/>
            <a:ext cx="3593727" cy="2937611"/>
          </a:xfrm>
          <a:prstGeom prst="rect">
            <a:avLst/>
          </a:prstGeom>
        </p:spPr>
      </p:pic>
      <p:sp>
        <p:nvSpPr>
          <p:cNvPr id="2" name="語音泡泡: 矩形 1">
            <a:extLst>
              <a:ext uri="{FF2B5EF4-FFF2-40B4-BE49-F238E27FC236}">
                <a16:creationId xmlns:a16="http://schemas.microsoft.com/office/drawing/2014/main" id="{DA66350B-FD46-6DA1-B498-593900FA28BD}"/>
              </a:ext>
            </a:extLst>
          </p:cNvPr>
          <p:cNvSpPr/>
          <p:nvPr/>
        </p:nvSpPr>
        <p:spPr bwMode="auto">
          <a:xfrm>
            <a:off x="5737248" y="1268760"/>
            <a:ext cx="2304256" cy="301778"/>
          </a:xfrm>
          <a:prstGeom prst="wedgeRectCallout">
            <a:avLst>
              <a:gd name="adj1" fmla="val -103958"/>
              <a:gd name="adj2" fmla="val 44612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600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先到共用表單登記組別</a:t>
            </a:r>
            <a:r>
              <a:rPr lang="en-US" altLang="zh-TW" sz="1600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!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590D317-9B9A-E8E7-2BC8-245F14B79F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2361" y="5195369"/>
            <a:ext cx="1428949" cy="781159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35196BD8-5FC2-CE48-DDE7-E860F2A1B5BF}"/>
              </a:ext>
            </a:extLst>
          </p:cNvPr>
          <p:cNvSpPr txBox="1"/>
          <p:nvPr/>
        </p:nvSpPr>
        <p:spPr>
          <a:xfrm>
            <a:off x="3733831" y="4797156"/>
            <a:ext cx="107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*DC .tcl</a:t>
            </a:r>
            <a:endParaRPr lang="zh-TW" altLang="en-US" sz="1800" dirty="0">
              <a:solidFill>
                <a:srgbClr val="FF0000"/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781DDB6-1F3D-8F0C-A37F-B738D82592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9064" y="2875522"/>
            <a:ext cx="3483051" cy="3223674"/>
          </a:xfrm>
          <a:prstGeom prst="rect">
            <a:avLst/>
          </a:prstGeom>
        </p:spPr>
      </p:pic>
      <p:sp>
        <p:nvSpPr>
          <p:cNvPr id="3" name="語音泡泡: 矩形 2">
            <a:extLst>
              <a:ext uri="{FF2B5EF4-FFF2-40B4-BE49-F238E27FC236}">
                <a16:creationId xmlns:a16="http://schemas.microsoft.com/office/drawing/2014/main" id="{C296EDE5-6C81-FC28-AED4-4B1F95797D83}"/>
              </a:ext>
            </a:extLst>
          </p:cNvPr>
          <p:cNvSpPr/>
          <p:nvPr/>
        </p:nvSpPr>
        <p:spPr bwMode="auto">
          <a:xfrm>
            <a:off x="6681192" y="2199958"/>
            <a:ext cx="2952328" cy="301778"/>
          </a:xfrm>
          <a:prstGeom prst="wedgeRectCallout">
            <a:avLst>
              <a:gd name="adj1" fmla="val -72924"/>
              <a:gd name="adj2" fmla="val 29341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600" dirty="0">
                <a:solidFill>
                  <a:srgbClr val="FF0000"/>
                </a:solidFill>
                <a:latin typeface="Arial" panose="020B0604020202020204" pitchFamily="34" charset="0"/>
                <a:ea typeface="新細明體" charset="-120"/>
                <a:cs typeface="Arial" panose="020B0604020202020204" pitchFamily="34" charset="0"/>
              </a:rPr>
              <a:t>U</a:t>
            </a:r>
            <a:r>
              <a:rPr kumimoji="1" lang="en-US" altLang="zh-TW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新細明體" charset="-120"/>
                <a:cs typeface="Arial" panose="020B0604020202020204" pitchFamily="34" charset="0"/>
              </a:rPr>
              <a:t>pload your Project II !</a:t>
            </a:r>
            <a:endParaRPr kumimoji="1" lang="zh-TW" altLang="en-US" sz="1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新細明體" charset="-120"/>
              <a:cs typeface="Arial" panose="020B060402020202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512EA99-1680-6DC7-CD02-6F3858BB01B4}"/>
              </a:ext>
            </a:extLst>
          </p:cNvPr>
          <p:cNvSpPr txBox="1"/>
          <p:nvPr/>
        </p:nvSpPr>
        <p:spPr>
          <a:xfrm>
            <a:off x="8204309" y="993167"/>
            <a:ext cx="1636823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800" dirty="0">
                <a:solidFill>
                  <a:srgbClr val="FF3300"/>
                </a:solidFill>
              </a:rPr>
              <a:t>上傳密碼</a:t>
            </a:r>
            <a:r>
              <a:rPr lang="en-US" altLang="zh-TW" sz="1800" dirty="0">
                <a:solidFill>
                  <a:srgbClr val="FF3300"/>
                </a:solidFill>
              </a:rPr>
              <a:t>:</a:t>
            </a:r>
          </a:p>
          <a:p>
            <a:pPr algn="ctr"/>
            <a:r>
              <a:rPr lang="en-US" altLang="zh-TW" sz="1800" dirty="0">
                <a:solidFill>
                  <a:srgbClr val="FF3300"/>
                </a:solidFill>
              </a:rPr>
              <a:t>DVLSI11501</a:t>
            </a:r>
            <a:endParaRPr lang="zh-TW" altLang="en-US" sz="1800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453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</a:rPr>
              <a:t>Design Report Form</a:t>
            </a:r>
            <a:endParaRPr lang="zh-TW" altLang="en-US" sz="28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1D85D65-8587-5B32-39AC-1AF2FC81D5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7" r="2505"/>
          <a:stretch/>
        </p:blipFill>
        <p:spPr>
          <a:xfrm>
            <a:off x="927522" y="1484784"/>
            <a:ext cx="8050956" cy="455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08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/>
              <a:t>Project 1</a:t>
            </a:r>
            <a:r>
              <a:rPr lang="zh-TW" altLang="en-US" sz="2800" dirty="0"/>
              <a:t> </a:t>
            </a:r>
            <a:r>
              <a:rPr lang="zh-TW" altLang="en-US" sz="2800" dirty="0">
                <a:latin typeface="DFKai-SB" panose="03000509000000000000" pitchFamily="65" charset="-120"/>
                <a:ea typeface="DFKai-SB" panose="03000509000000000000" pitchFamily="65" charset="-120"/>
              </a:rPr>
              <a:t>評分標準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0D706E9-8C5B-65B8-B06C-1FC1E80802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685"/>
          <a:stretch/>
        </p:blipFill>
        <p:spPr>
          <a:xfrm>
            <a:off x="184921" y="2478380"/>
            <a:ext cx="4696072" cy="267490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C333C06-2E21-9A9D-1FED-2C5798D603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437" r="50727"/>
          <a:stretch/>
        </p:blipFill>
        <p:spPr>
          <a:xfrm>
            <a:off x="5025008" y="2478380"/>
            <a:ext cx="4880992" cy="282282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8EB4DD0-80DA-730E-6670-5255F8409F66}"/>
              </a:ext>
            </a:extLst>
          </p:cNvPr>
          <p:cNvSpPr/>
          <p:nvPr/>
        </p:nvSpPr>
        <p:spPr bwMode="auto">
          <a:xfrm>
            <a:off x="128465" y="3558500"/>
            <a:ext cx="3600400" cy="1152128"/>
          </a:xfrm>
          <a:prstGeom prst="rect">
            <a:avLst/>
          </a:prstGeom>
          <a:noFill/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新細明體" charset="-120"/>
              <a:cs typeface="新細明體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10A0DB-3D80-D1F1-90EA-7191AB6D478F}"/>
              </a:ext>
            </a:extLst>
          </p:cNvPr>
          <p:cNvSpPr/>
          <p:nvPr/>
        </p:nvSpPr>
        <p:spPr bwMode="auto">
          <a:xfrm>
            <a:off x="128464" y="4782636"/>
            <a:ext cx="4536504" cy="216024"/>
          </a:xfrm>
          <a:prstGeom prst="rect">
            <a:avLst/>
          </a:prstGeom>
          <a:noFill/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新細明體" charset="-120"/>
              <a:cs typeface="新細明體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0B17B9-8613-51F9-1E8F-D1AB9FEAB6F9}"/>
              </a:ext>
            </a:extLst>
          </p:cNvPr>
          <p:cNvSpPr/>
          <p:nvPr/>
        </p:nvSpPr>
        <p:spPr bwMode="auto">
          <a:xfrm>
            <a:off x="4953000" y="4854644"/>
            <a:ext cx="2952328" cy="216024"/>
          </a:xfrm>
          <a:prstGeom prst="rect">
            <a:avLst/>
          </a:prstGeom>
          <a:noFill/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新細明體" charset="-120"/>
              <a:cs typeface="新細明體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D5AC860-6DF5-E42A-F93A-9AFA79B4D92A}"/>
              </a:ext>
            </a:extLst>
          </p:cNvPr>
          <p:cNvSpPr txBox="1"/>
          <p:nvPr/>
        </p:nvSpPr>
        <p:spPr>
          <a:xfrm>
            <a:off x="901518" y="1717330"/>
            <a:ext cx="79589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dirty="0">
                <a:solidFill>
                  <a:srgbClr val="FF0000"/>
                </a:solidFill>
              </a:rPr>
              <a:t>Performance Metric = Time Complexity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 Area Complexity</a:t>
            </a:r>
            <a:r>
              <a:rPr lang="en-US" altLang="zh-TW" sz="24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9806215-BE02-17B5-1B4A-63D0DBB2B26E}"/>
              </a:ext>
            </a:extLst>
          </p:cNvPr>
          <p:cNvSpPr txBox="1"/>
          <p:nvPr/>
        </p:nvSpPr>
        <p:spPr>
          <a:xfrm>
            <a:off x="877044" y="5245909"/>
            <a:ext cx="3039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dirty="0"/>
              <a:t>Time Complexity</a:t>
            </a:r>
            <a:r>
              <a:rPr lang="zh-TW" altLang="en-US" sz="2400" dirty="0">
                <a:latin typeface="DFKai-SB" panose="03000509000000000000" pitchFamily="65" charset="-120"/>
                <a:ea typeface="DFKai-SB" panose="03000509000000000000" pitchFamily="65" charset="-120"/>
              </a:rPr>
              <a:t>範例</a:t>
            </a:r>
            <a:r>
              <a:rPr lang="en-US" altLang="zh-TW" sz="2400" dirty="0"/>
              <a:t> 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F04FF36-B2C2-ED66-5F46-93C99FDBEE27}"/>
              </a:ext>
            </a:extLst>
          </p:cNvPr>
          <p:cNvSpPr txBox="1"/>
          <p:nvPr/>
        </p:nvSpPr>
        <p:spPr>
          <a:xfrm>
            <a:off x="5673080" y="5245909"/>
            <a:ext cx="29206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Complexity</a:t>
            </a:r>
            <a:r>
              <a:rPr lang="zh-TW" altLang="en-US" sz="2400" dirty="0"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範例</a:t>
            </a:r>
            <a:r>
              <a:rPr lang="en-US" altLang="zh-TW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8638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/>
              <a:t>Project 2</a:t>
            </a:r>
            <a:r>
              <a:rPr lang="zh-TW" altLang="en-US" sz="2800" dirty="0"/>
              <a:t> </a:t>
            </a:r>
            <a:r>
              <a:rPr lang="zh-TW" altLang="en-US" sz="2800" dirty="0">
                <a:latin typeface="DFKai-SB" panose="03000509000000000000" pitchFamily="65" charset="-120"/>
                <a:ea typeface="DFKai-SB" panose="03000509000000000000" pitchFamily="65" charset="-120"/>
              </a:rPr>
              <a:t>評分標準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D5AC860-6DF5-E42A-F93A-9AFA79B4D92A}"/>
              </a:ext>
            </a:extLst>
          </p:cNvPr>
          <p:cNvSpPr txBox="1"/>
          <p:nvPr/>
        </p:nvSpPr>
        <p:spPr>
          <a:xfrm>
            <a:off x="973525" y="1322621"/>
            <a:ext cx="79589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dirty="0">
                <a:solidFill>
                  <a:srgbClr val="FF0000"/>
                </a:solidFill>
              </a:rPr>
              <a:t>Performance Metric = Time Complexity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 Area Complexity</a:t>
            </a:r>
            <a:r>
              <a:rPr lang="en-US" altLang="zh-TW" sz="24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F04FF36-B2C2-ED66-5F46-93C99FDBEE27}"/>
              </a:ext>
            </a:extLst>
          </p:cNvPr>
          <p:cNvSpPr txBox="1"/>
          <p:nvPr/>
        </p:nvSpPr>
        <p:spPr>
          <a:xfrm>
            <a:off x="3492679" y="5703639"/>
            <a:ext cx="29206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</a:t>
            </a:r>
            <a:r>
              <a:rPr lang="zh-TW" altLang="en-US" sz="2400" dirty="0"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尺規量測圖</a:t>
            </a:r>
            <a:endParaRPr lang="en-US" altLang="zh-TW" sz="2400" dirty="0"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E8B0E4A-98CA-7A6E-E7C9-51F31FB19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258" y="1816923"/>
            <a:ext cx="6243484" cy="382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150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816" y="3356992"/>
            <a:ext cx="6019800" cy="91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07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28800"/>
            <a:ext cx="67818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53649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_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plate">
      <a:majorFont>
        <a:latin typeface="Times New Roman"/>
        <a:ea typeface="新細明體"/>
        <a:cs typeface="新細明體"/>
      </a:majorFont>
      <a:minorFont>
        <a:latin typeface="Times New Roman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新細明體" charset="-120"/>
            <a:cs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新細明體" charset="-120"/>
            <a:cs typeface="新細明體" charset="-120"/>
          </a:defRPr>
        </a:defPPr>
      </a:lstStyle>
    </a:lnDef>
  </a:objectDefaults>
  <a:extraClrSchemeLst>
    <a:extraClrScheme>
      <a:clrScheme name="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13294</TotalTime>
  <Words>484</Words>
  <Application>Microsoft Office PowerPoint</Application>
  <PresentationFormat>A4 紙張 (210x297 公釐)</PresentationFormat>
  <Paragraphs>72</Paragraphs>
  <Slides>10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9" baseType="lpstr">
      <vt:lpstr>Arial Unicode MS</vt:lpstr>
      <vt:lpstr>標楷體</vt:lpstr>
      <vt:lpstr>標楷體</vt:lpstr>
      <vt:lpstr>Arial</vt:lpstr>
      <vt:lpstr>Arial Black</vt:lpstr>
      <vt:lpstr>Calibri</vt:lpstr>
      <vt:lpstr>Times New Roman</vt:lpstr>
      <vt:lpstr>Wingdings</vt:lpstr>
      <vt:lpstr>2_template</vt:lpstr>
      <vt:lpstr>PowerPoint 簡報</vt:lpstr>
      <vt:lpstr>Course Administrations </vt:lpstr>
      <vt:lpstr>Project 1 and Project 2</vt:lpstr>
      <vt:lpstr>Final Project</vt:lpstr>
      <vt:lpstr>Projects Process</vt:lpstr>
      <vt:lpstr>Upload File of Project I</vt:lpstr>
      <vt:lpstr>Design Report Form</vt:lpstr>
      <vt:lpstr>Project 1 評分標準</vt:lpstr>
      <vt:lpstr>Project 2 評分標準</vt:lpstr>
      <vt:lpstr>PowerPoint 簡報</vt:lpstr>
    </vt:vector>
  </TitlesOfParts>
  <Company>ntust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mblin</dc:creator>
  <cp:lastModifiedBy>M11402117</cp:lastModifiedBy>
  <cp:revision>2423</cp:revision>
  <cp:lastPrinted>2015-12-21T09:32:07Z</cp:lastPrinted>
  <dcterms:created xsi:type="dcterms:W3CDTF">2003-02-18T08:04:03Z</dcterms:created>
  <dcterms:modified xsi:type="dcterms:W3CDTF">2026-09-18T03:14:12Z</dcterms:modified>
</cp:coreProperties>
</file>