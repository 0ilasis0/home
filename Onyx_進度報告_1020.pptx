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9"/>
  </p:notesMasterIdLst>
  <p:sldIdLst>
    <p:sldId id="277" r:id="rId2"/>
    <p:sldId id="2042" r:id="rId3"/>
    <p:sldId id="2035" r:id="rId4"/>
    <p:sldId id="2043" r:id="rId5"/>
    <p:sldId id="2044" r:id="rId6"/>
    <p:sldId id="2045" r:id="rId7"/>
    <p:sldId id="286" r:id="rId8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上次進度" id="{7189DFBE-4EEB-4F74-853B-C02E818AF80E}">
          <p14:sldIdLst>
            <p14:sldId id="2042"/>
          </p14:sldIdLst>
        </p14:section>
        <p14:section name="Video Capture Card" id="{FA8538CB-EEBB-42F8-BEE8-82DA04CEC9C1}">
          <p14:sldIdLst>
            <p14:sldId id="2035"/>
            <p14:sldId id="2043"/>
            <p14:sldId id="2044"/>
            <p14:sldId id="2045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B050"/>
    <a:srgbClr val="0057C0"/>
    <a:srgbClr val="FFC00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深色樣式 1 - 輔色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6" autoAdjust="0"/>
    <p:restoredTop sz="84369" autoAdjust="0"/>
  </p:normalViewPr>
  <p:slideViewPr>
    <p:cSldViewPr snapToGrid="0">
      <p:cViewPr varScale="1">
        <p:scale>
          <a:sx n="66" d="100"/>
          <a:sy n="66" d="100"/>
        </p:scale>
        <p:origin x="1685" y="53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10208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527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altLang="zh-TW" dirty="0" err="1"/>
              <a:t>LiteX</a:t>
            </a:r>
            <a:r>
              <a:rPr lang="zh-TW" altLang="en-US" dirty="0"/>
              <a:t>：可利用其提供的互連架構及匯流排機制，整合符合其介面規範的模組。可利用 </a:t>
            </a:r>
            <a:r>
              <a:rPr lang="en-US" altLang="zh-TW" dirty="0"/>
              <a:t>CSR</a:t>
            </a:r>
            <a:r>
              <a:rPr lang="zh-TW" altLang="en-US" dirty="0"/>
              <a:t> 等機制建立控制介面，並整合到系統中。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8389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並沒有找到開發版在支援</a:t>
            </a:r>
            <a:r>
              <a:rPr lang="en-US" altLang="zh-TW" dirty="0" err="1"/>
              <a:t>LiteX</a:t>
            </a:r>
            <a:r>
              <a:rPr lang="zh-TW" altLang="en-US" dirty="0"/>
              <a:t>的同時也支援</a:t>
            </a:r>
            <a:r>
              <a:rPr lang="en-US" altLang="zh-TW" dirty="0"/>
              <a:t>SDI</a:t>
            </a:r>
            <a:r>
              <a:rPr lang="zh-TW" altLang="en-US" dirty="0"/>
              <a:t> </a:t>
            </a:r>
            <a:r>
              <a:rPr lang="en-US" altLang="zh-TW" dirty="0"/>
              <a:t>HDMI</a:t>
            </a:r>
            <a:r>
              <a:rPr lang="zh-TW" altLang="en-US" dirty="0"/>
              <a:t> </a:t>
            </a:r>
            <a:r>
              <a:rPr lang="en-US" altLang="zh-TW" dirty="0"/>
              <a:t>PCIE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730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除了</a:t>
            </a:r>
            <a:r>
              <a:rPr lang="en-US" altLang="zh-TW" dirty="0"/>
              <a:t>HDMI</a:t>
            </a:r>
            <a:r>
              <a:rPr lang="zh-TW" altLang="en-US" dirty="0"/>
              <a:t> </a:t>
            </a:r>
            <a:r>
              <a:rPr lang="en-US" altLang="zh-TW" dirty="0"/>
              <a:t>PCIe</a:t>
            </a:r>
            <a:r>
              <a:rPr lang="zh-TW" altLang="en-US" dirty="0"/>
              <a:t>外，</a:t>
            </a:r>
            <a:r>
              <a:rPr lang="en-US" altLang="zh-TW" dirty="0"/>
              <a:t>NeTV2</a:t>
            </a:r>
            <a:r>
              <a:rPr lang="zh-TW" altLang="en-US" dirty="0"/>
              <a:t>能使用的外部介面如下，能使用的 </a:t>
            </a:r>
            <a:r>
              <a:rPr lang="en-US" altLang="zh-TW" dirty="0"/>
              <a:t>IO</a:t>
            </a:r>
            <a:r>
              <a:rPr lang="zh-TW" altLang="en-US" dirty="0"/>
              <a:t> 只剩下支援 </a:t>
            </a:r>
            <a:r>
              <a:rPr lang="zh-TW" altLang="zh-TW" sz="1200" dirty="0"/>
              <a:t>Raspberry Pi</a:t>
            </a:r>
            <a:r>
              <a:rPr lang="zh-TW" altLang="en-US" sz="1200" dirty="0"/>
              <a:t> 的 </a:t>
            </a:r>
            <a:r>
              <a:rPr lang="en-US" altLang="zh-TW" sz="1200" dirty="0"/>
              <a:t>20</a:t>
            </a:r>
            <a:r>
              <a:rPr lang="zh-TW" altLang="en-US" sz="1200" dirty="0"/>
              <a:t>個角位的</a:t>
            </a:r>
            <a:r>
              <a:rPr lang="zh-TW" altLang="en-US" dirty="0"/>
              <a:t> </a:t>
            </a:r>
            <a:r>
              <a:rPr lang="en-US" altLang="zh-TW" dirty="0"/>
              <a:t>JTAG</a:t>
            </a:r>
            <a:r>
              <a:rPr lang="zh-TW" altLang="en-US" dirty="0"/>
              <a:t> </a:t>
            </a:r>
            <a:r>
              <a:rPr lang="en-US" altLang="zh-TW" dirty="0"/>
              <a:t>UART</a:t>
            </a:r>
            <a:r>
              <a:rPr lang="zh-TW" altLang="en-US" dirty="0"/>
              <a:t> 等等，但這些腳位基本上無法接收 </a:t>
            </a:r>
            <a:r>
              <a:rPr lang="en-US" altLang="zh-TW" dirty="0"/>
              <a:t>SDI</a:t>
            </a:r>
            <a:r>
              <a:rPr lang="zh-TW" altLang="en-US" dirty="0"/>
              <a:t> 訊號，速度與腳位數量嚴重不足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1328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3640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E527B-4000-F206-6AFC-75F0676BC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6931088-1022-C7B4-813F-6A8020181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B6387F7-7876-4588-C9D5-16BE657D6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188A1F-349F-2C87-FF3E-E7B458B632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5958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5414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BO-CHENG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生態總結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521FBAA4-6E6B-1B82-9C1F-77D9FAD35C41}"/>
              </a:ext>
            </a:extLst>
          </p:cNvPr>
          <p:cNvSpPr txBox="1"/>
          <p:nvPr/>
        </p:nvSpPr>
        <p:spPr>
          <a:xfrm>
            <a:off x="609602" y="935857"/>
            <a:ext cx="8936419" cy="5488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優勢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既有框架及 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LiteVideo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LitePCIe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LiteDRAM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等模組可減少重複開發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的互連與建置功能，能夠快速整合系統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風險與待評估事項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須確認目標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介面、記憶體及工具鏈的支援情況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LiteVideo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可用性與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NeTV2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是否能提供可重用的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影像端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RTL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不一定能直接整合進其建置流程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EF02D21-BE81-6368-1D62-BFDA0EC8C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065" y="4695497"/>
            <a:ext cx="7695870" cy="146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99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/ SDI 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2266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 to HDMI converter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優點：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降低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高速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接收端的整合難度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缺點：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轉換器可能改變原始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資料或出現延遲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 daughter board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優點：能直接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控制資料格式及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內的影像處理流程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缺點：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需要處理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接收器的配置、時脈同步、資料打包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55C8227-4C2D-4909-A366-EE527F91B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44" y="2738417"/>
            <a:ext cx="8265098" cy="88496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B683808-EBB6-CB75-3915-CE3556387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844" y="5429379"/>
            <a:ext cx="8265098" cy="86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3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NeTV2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zh-TW" sz="2000" dirty="0"/>
              <a:t>External Interfaces </a:t>
            </a:r>
            <a:endParaRPr lang="en-US" altLang="zh-TW" sz="2000" dirty="0"/>
          </a:p>
          <a:p>
            <a:pPr lvl="1">
              <a:lnSpc>
                <a:spcPts val="3000"/>
              </a:lnSpc>
            </a:pPr>
            <a:r>
              <a:rPr lang="zh-TW" altLang="zh-TW" sz="1600" dirty="0"/>
              <a:t>2 x HDMI type A inputs, 1 x HDMI type A output, 1 x HDMI type D output</a:t>
            </a:r>
            <a:endParaRPr lang="en-US" altLang="zh-TW" sz="1600" dirty="0"/>
          </a:p>
          <a:p>
            <a:pPr lvl="1">
              <a:lnSpc>
                <a:spcPts val="3000"/>
              </a:lnSpc>
            </a:pPr>
            <a:r>
              <a:rPr lang="zh-TW" altLang="zh-TW" sz="1600" dirty="0"/>
              <a:t>PCI-express 2.0 x4</a:t>
            </a:r>
            <a:endParaRPr lang="en-US" altLang="zh-TW" sz="1600" dirty="0"/>
          </a:p>
          <a:p>
            <a:pPr lvl="1">
              <a:lnSpc>
                <a:spcPts val="3000"/>
              </a:lnSpc>
            </a:pPr>
            <a:r>
              <a:rPr lang="zh-TW" altLang="zh-TW" sz="1600" dirty="0"/>
              <a:t>100 Mbps Ethernet</a:t>
            </a:r>
            <a:endParaRPr lang="en-US" altLang="zh-TW" sz="1600" dirty="0"/>
          </a:p>
          <a:p>
            <a:pPr lvl="1">
              <a:lnSpc>
                <a:spcPts val="3000"/>
              </a:lnSpc>
            </a:pPr>
            <a:r>
              <a:rPr lang="zh-TW" altLang="zh-TW" sz="1600" dirty="0"/>
              <a:t>Full-size microSD</a:t>
            </a:r>
            <a:r>
              <a:rPr lang="en-US" altLang="zh-TW" sz="1600" dirty="0"/>
              <a:t> </a:t>
            </a:r>
            <a:r>
              <a:rPr lang="zh-TW" altLang="zh-TW" sz="1600" dirty="0"/>
              <a:t>/</a:t>
            </a:r>
            <a:r>
              <a:rPr lang="en-US" altLang="zh-TW" sz="1600" dirty="0"/>
              <a:t> </a:t>
            </a:r>
            <a:r>
              <a:rPr lang="zh-TW" altLang="zh-TW" sz="1600" dirty="0"/>
              <a:t>SD card slot</a:t>
            </a:r>
            <a:endParaRPr lang="en-US" altLang="zh-TW" sz="1600" dirty="0"/>
          </a:p>
          <a:p>
            <a:pPr lvl="1">
              <a:lnSpc>
                <a:spcPts val="3000"/>
              </a:lnSpc>
            </a:pPr>
            <a:r>
              <a:rPr lang="zh-TW" altLang="zh-TW" sz="1600" dirty="0"/>
              <a:t>Raspberry Pi </a:t>
            </a:r>
            <a:r>
              <a:rPr lang="en-US" altLang="zh-TW" sz="1600" dirty="0"/>
              <a:t>2</a:t>
            </a:r>
            <a:r>
              <a:rPr lang="zh-TW" altLang="zh-TW" sz="1600" dirty="0"/>
              <a:t>0-pin GPIO Header</a:t>
            </a:r>
            <a:endParaRPr lang="en-US" altLang="zh-TW" sz="1600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04CB93EC-70F9-C156-B0D6-865566297A52}"/>
              </a:ext>
            </a:extLst>
          </p:cNvPr>
          <p:cNvGrpSpPr/>
          <p:nvPr/>
        </p:nvGrpSpPr>
        <p:grpSpPr>
          <a:xfrm>
            <a:off x="4786971" y="2118206"/>
            <a:ext cx="4355484" cy="3518336"/>
            <a:chOff x="4919051" y="2311490"/>
            <a:chExt cx="4355484" cy="3518336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D05EC9F3-3B1F-0804-ABB2-FED1F8682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5337625" y="1892916"/>
              <a:ext cx="3518336" cy="4355484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30A8529-FFAB-930A-5539-9FFE9096171A}"/>
                </a:ext>
              </a:extLst>
            </p:cNvPr>
            <p:cNvSpPr/>
            <p:nvPr/>
          </p:nvSpPr>
          <p:spPr>
            <a:xfrm>
              <a:off x="7073900" y="4549140"/>
              <a:ext cx="1046480" cy="381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564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NeTV2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HDMI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作為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信號入口的可能性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 與 HDMI 的資料速率相近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硬體電路直通晶片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3.3 V 直流偏壓與輸出電壓不一致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阻抗不匹配與高頻訊號反射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76975124-E8E3-08DF-BBB4-363F9CD7646B}"/>
              </a:ext>
            </a:extLst>
          </p:cNvPr>
          <p:cNvGrpSpPr/>
          <p:nvPr/>
        </p:nvGrpSpPr>
        <p:grpSpPr>
          <a:xfrm>
            <a:off x="2456182" y="3866261"/>
            <a:ext cx="3713480" cy="2382139"/>
            <a:chOff x="2791462" y="3600175"/>
            <a:chExt cx="3713480" cy="2382139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17EB3549-39B2-8D39-F9FE-F239173F6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306" r="7217" b="8181"/>
            <a:stretch>
              <a:fillRect/>
            </a:stretch>
          </p:blipFill>
          <p:spPr>
            <a:xfrm>
              <a:off x="2791462" y="3600175"/>
              <a:ext cx="3713480" cy="2382139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96711C8-3760-FF99-F549-AE06B8734FE4}"/>
                </a:ext>
              </a:extLst>
            </p:cNvPr>
            <p:cNvSpPr/>
            <p:nvPr/>
          </p:nvSpPr>
          <p:spPr>
            <a:xfrm>
              <a:off x="4676140" y="4697074"/>
              <a:ext cx="500380" cy="1651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90913244-4751-3518-901A-D963712D6AE5}"/>
              </a:ext>
            </a:extLst>
          </p:cNvPr>
          <p:cNvGrpSpPr/>
          <p:nvPr/>
        </p:nvGrpSpPr>
        <p:grpSpPr>
          <a:xfrm>
            <a:off x="6395699" y="1409086"/>
            <a:ext cx="2565419" cy="4839314"/>
            <a:chOff x="6730979" y="1143000"/>
            <a:chExt cx="2565419" cy="4839314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2A146F38-59DE-6890-C656-6D1C3D184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30979" y="1143000"/>
              <a:ext cx="2565419" cy="4839314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2F990E7-7D23-D5CC-3EF0-83A44E289218}"/>
                </a:ext>
              </a:extLst>
            </p:cNvPr>
            <p:cNvSpPr/>
            <p:nvPr/>
          </p:nvSpPr>
          <p:spPr>
            <a:xfrm>
              <a:off x="8355330" y="3738224"/>
              <a:ext cx="571500" cy="1975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8471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8BDF0-8203-5101-5AD7-8123D67D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EC9E0606-7D9A-7A5E-BEE9-FE41BD69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NeTV2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F11FE19D-395D-C6BE-38FF-AD4C02E0FA80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HDMI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作為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信號入口的可能性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 與 HDMI 的資料速率相近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硬體電路直通晶片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3.3 V 直流偏壓與輸出電壓不一致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阻抗不匹配與高頻訊號反射</a:t>
            </a:r>
          </a:p>
        </p:txBody>
      </p:sp>
    </p:spTree>
    <p:extLst>
      <p:ext uri="{BB962C8B-B14F-4D97-AF65-F5344CB8AC3E}">
        <p14:creationId xmlns:p14="http://schemas.microsoft.com/office/powerpoint/2010/main" val="1762476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327969</TotalTime>
  <Words>409</Words>
  <Application>Microsoft Office PowerPoint</Application>
  <PresentationFormat>A4 紙張 (210x297 公釐)</PresentationFormat>
  <Paragraphs>55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Noto Sans Symbols</vt:lpstr>
      <vt:lpstr>Arial</vt:lpstr>
      <vt:lpstr>Times New Roman</vt:lpstr>
      <vt:lpstr>template</vt:lpstr>
      <vt:lpstr>Progress Report</vt:lpstr>
      <vt:lpstr>上次進度: LiteX 生態總結</vt:lpstr>
      <vt:lpstr>本次進度: LiteX / SDI </vt:lpstr>
      <vt:lpstr>本次進度: NeTV2</vt:lpstr>
      <vt:lpstr>本次進度: NeTV2</vt:lpstr>
      <vt:lpstr>本次進度: NeTV2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sis ila</cp:lastModifiedBy>
  <cp:revision>3383</cp:revision>
  <dcterms:created xsi:type="dcterms:W3CDTF">2003-02-17T16:04:03Z</dcterms:created>
  <dcterms:modified xsi:type="dcterms:W3CDTF">2026-10-21T14:02:07Z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